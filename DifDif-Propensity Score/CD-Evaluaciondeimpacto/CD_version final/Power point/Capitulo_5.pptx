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Default Extension="docx" ContentType="application/vnd.openxmlformats-officedocument.wordprocessingml.document"/>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commentAuthors.xml" ContentType="application/vnd.openxmlformats-officedocument.presentationml.commentAuthors+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emf" ContentType="image/x-emf"/>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6" r:id="rId2"/>
    <p:sldId id="257" r:id="rId3"/>
    <p:sldId id="286" r:id="rId4"/>
    <p:sldId id="287" r:id="rId5"/>
    <p:sldId id="288" r:id="rId6"/>
    <p:sldId id="289" r:id="rId7"/>
    <p:sldId id="258" r:id="rId8"/>
    <p:sldId id="259" r:id="rId9"/>
    <p:sldId id="260" r:id="rId10"/>
    <p:sldId id="294" r:id="rId11"/>
    <p:sldId id="261" r:id="rId12"/>
    <p:sldId id="263" r:id="rId13"/>
    <p:sldId id="264" r:id="rId14"/>
    <p:sldId id="265" r:id="rId15"/>
    <p:sldId id="267" r:id="rId16"/>
    <p:sldId id="268" r:id="rId17"/>
    <p:sldId id="295" r:id="rId18"/>
    <p:sldId id="296" r:id="rId19"/>
    <p:sldId id="269" r:id="rId20"/>
    <p:sldId id="270" r:id="rId21"/>
    <p:sldId id="271" r:id="rId22"/>
    <p:sldId id="272" r:id="rId23"/>
    <p:sldId id="273" r:id="rId24"/>
    <p:sldId id="276" r:id="rId25"/>
    <p:sldId id="275" r:id="rId26"/>
    <p:sldId id="277" r:id="rId27"/>
    <p:sldId id="290" r:id="rId28"/>
    <p:sldId id="291" r:id="rId29"/>
    <p:sldId id="278" r:id="rId30"/>
    <p:sldId id="279" r:id="rId31"/>
    <p:sldId id="280" r:id="rId32"/>
    <p:sldId id="281" r:id="rId33"/>
    <p:sldId id="282" r:id="rId34"/>
    <p:sldId id="283" r:id="rId35"/>
    <p:sldId id="284" r:id="rId36"/>
    <p:sldId id="285" r:id="rId37"/>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arcos Vera Hernandez" initials="MVH"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73" autoAdjust="0"/>
    <p:restoredTop sz="98889" autoAdjust="0"/>
  </p:normalViewPr>
  <p:slideViewPr>
    <p:cSldViewPr snapToGrid="0">
      <p:cViewPr>
        <p:scale>
          <a:sx n="80" d="100"/>
          <a:sy n="80" d="100"/>
        </p:scale>
        <p:origin x="-768" y="-78"/>
      </p:cViewPr>
      <p:guideLst>
        <p:guide orient="horz" pos="2160"/>
        <p:guide pos="2880"/>
      </p:guideLst>
    </p:cSldViewPr>
  </p:slideViewPr>
  <p:outlineViewPr>
    <p:cViewPr>
      <p:scale>
        <a:sx n="33" d="100"/>
        <a:sy n="33" d="100"/>
      </p:scale>
      <p:origin x="0" y="28362"/>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image" Target="../media/image10.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image" Target="../media/image13.emf"/><Relationship Id="rId4" Type="http://schemas.openxmlformats.org/officeDocument/2006/relationships/image" Target="../media/image16.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image" Target="../media/image17.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image" Target="../media/image24.emf"/><Relationship Id="rId4" Type="http://schemas.openxmlformats.org/officeDocument/2006/relationships/image" Target="../media/image27.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image" Target="../media/image34.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image" Target="../media/image36.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39.emf"/><Relationship Id="rId1" Type="http://schemas.openxmlformats.org/officeDocument/2006/relationships/image" Target="../media/image38.emf"/><Relationship Id="rId6" Type="http://schemas.openxmlformats.org/officeDocument/2006/relationships/image" Target="../media/image43.emf"/><Relationship Id="rId5" Type="http://schemas.openxmlformats.org/officeDocument/2006/relationships/image" Target="../media/image42.emf"/><Relationship Id="rId4" Type="http://schemas.openxmlformats.org/officeDocument/2006/relationships/image" Target="../media/image41.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image" Target="../media/image44.e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image" Target="../media/image47.emf"/><Relationship Id="rId1" Type="http://schemas.openxmlformats.org/officeDocument/2006/relationships/image" Target="../media/image46.e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image" Target="../media/image50.emf"/><Relationship Id="rId1" Type="http://schemas.openxmlformats.org/officeDocument/2006/relationships/image" Target="../media/image49.e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image" Target="../media/image53.emf"/><Relationship Id="rId1" Type="http://schemas.openxmlformats.org/officeDocument/2006/relationships/image" Target="../media/image52.e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image" Target="../media/image56.emf"/><Relationship Id="rId1" Type="http://schemas.openxmlformats.org/officeDocument/2006/relationships/image" Target="../media/image55.emf"/><Relationship Id="rId4" Type="http://schemas.openxmlformats.org/officeDocument/2006/relationships/image" Target="../media/image58.e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image" Target="../media/image60.emf"/><Relationship Id="rId1" Type="http://schemas.openxmlformats.org/officeDocument/2006/relationships/image" Target="../media/image59.e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image" Target="../media/image63.emf"/><Relationship Id="rId1" Type="http://schemas.openxmlformats.org/officeDocument/2006/relationships/image" Target="../media/image6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dirty="0"/>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E75BA04-4F7F-4EFB-85D3-F08CEAFBE66A}" type="datetimeFigureOut">
              <a:rPr lang="es-ES" smtClean="0"/>
              <a:pPr/>
              <a:t>10/04/2011</a:t>
            </a:fld>
            <a:endParaRPr lang="es-ES" dirty="0"/>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S" dirty="0"/>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dirty="0"/>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F535FC9-30FA-4D73-906E-D69E199EEFD2}" type="slidenum">
              <a:rPr lang="es-ES" smtClean="0"/>
              <a:pPr/>
              <a:t>‹Nº›</a:t>
            </a:fld>
            <a:endParaRPr lang="es-ES" dirty="0"/>
          </a:p>
        </p:txBody>
      </p:sp>
    </p:spTree>
    <p:extLst>
      <p:ext uri="{BB962C8B-B14F-4D97-AF65-F5344CB8AC3E}">
        <p14:creationId xmlns="" xmlns:p14="http://schemas.microsoft.com/office/powerpoint/2010/main" val="769285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FF535FC9-30FA-4D73-906E-D69E199EEFD2}" type="slidenum">
              <a:rPr lang="es-ES" smtClean="0"/>
              <a:pPr/>
              <a:t>4</a:t>
            </a:fld>
            <a:endParaRPr lang="es-E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CO" dirty="0" smtClean="0"/>
              <a:t>Las</a:t>
            </a:r>
            <a:r>
              <a:rPr lang="es-CO" baseline="0" dirty="0" smtClean="0"/>
              <a:t> diferencias entre el grupo de control y el de tratamiento en el periodo posterior estaría asociadas tanto al tratamiento en si como a diferencias que ya estaban presentes antes del experimento.</a:t>
            </a:r>
            <a:endParaRPr lang="es-ES" dirty="0"/>
          </a:p>
        </p:txBody>
      </p:sp>
      <p:sp>
        <p:nvSpPr>
          <p:cNvPr id="4" name="3 Marcador de número de diapositiva"/>
          <p:cNvSpPr>
            <a:spLocks noGrp="1"/>
          </p:cNvSpPr>
          <p:nvPr>
            <p:ph type="sldNum" sz="quarter" idx="10"/>
          </p:nvPr>
        </p:nvSpPr>
        <p:spPr/>
        <p:txBody>
          <a:bodyPr/>
          <a:lstStyle/>
          <a:p>
            <a:fld id="{FF535FC9-30FA-4D73-906E-D69E199EEFD2}" type="slidenum">
              <a:rPr lang="es-ES" smtClean="0"/>
              <a:pPr/>
              <a:t>9</a:t>
            </a:fld>
            <a:endParaRPr lang="es-E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ES" dirty="0" smtClean="0"/>
              <a:t>Dado que</a:t>
            </a:r>
            <a:r>
              <a:rPr lang="es-ES" baseline="0" dirty="0" smtClean="0"/>
              <a:t> requiere de observaciones antes y después de la implementación del tratamiento, es necesario contar con un panel de observaciones.</a:t>
            </a:r>
            <a:endParaRPr lang="es-AR" dirty="0"/>
          </a:p>
        </p:txBody>
      </p:sp>
      <p:sp>
        <p:nvSpPr>
          <p:cNvPr id="4" name="3 Marcador de número de diapositiva"/>
          <p:cNvSpPr>
            <a:spLocks noGrp="1"/>
          </p:cNvSpPr>
          <p:nvPr>
            <p:ph type="sldNum" sz="quarter" idx="10"/>
          </p:nvPr>
        </p:nvSpPr>
        <p:spPr/>
        <p:txBody>
          <a:bodyPr/>
          <a:lstStyle/>
          <a:p>
            <a:fld id="{FF535FC9-30FA-4D73-906E-D69E199EEFD2}" type="slidenum">
              <a:rPr lang="es-ES" smtClean="0"/>
              <a:pPr/>
              <a:t>11</a:t>
            </a:fld>
            <a:endParaRPr lang="es-E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FF535FC9-30FA-4D73-906E-D69E199EEFD2}" type="slidenum">
              <a:rPr lang="es-ES" smtClean="0"/>
              <a:pPr/>
              <a:t>16</a:t>
            </a:fld>
            <a:endParaRPr lang="es-E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a:p>
        </p:txBody>
      </p:sp>
      <p:sp>
        <p:nvSpPr>
          <p:cNvPr id="4" name="3 Marcador de número de diapositiva"/>
          <p:cNvSpPr>
            <a:spLocks noGrp="1"/>
          </p:cNvSpPr>
          <p:nvPr>
            <p:ph type="sldNum" sz="quarter" idx="10"/>
          </p:nvPr>
        </p:nvSpPr>
        <p:spPr/>
        <p:txBody>
          <a:bodyPr/>
          <a:lstStyle/>
          <a:p>
            <a:fld id="{FF535FC9-30FA-4D73-906E-D69E199EEFD2}" type="slidenum">
              <a:rPr lang="es-ES" smtClean="0"/>
              <a:pPr/>
              <a:t>19</a:t>
            </a:fld>
            <a:endParaRPr lang="es-E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FF535FC9-30FA-4D73-906E-D69E199EEFD2}" type="slidenum">
              <a:rPr lang="es-ES" smtClean="0"/>
              <a:pPr/>
              <a:t>29</a:t>
            </a:fld>
            <a:endParaRPr lang="es-E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ES" dirty="0" smtClean="0"/>
              <a:t>Y</a:t>
            </a:r>
            <a:r>
              <a:rPr lang="es-ES" baseline="0" dirty="0" smtClean="0"/>
              <a:t> = Salarios</a:t>
            </a:r>
          </a:p>
          <a:p>
            <a:r>
              <a:rPr lang="es-ES" baseline="0" dirty="0" smtClean="0"/>
              <a:t>D= Variable dicotómica: 1 si el individuo vive en Miami.</a:t>
            </a:r>
          </a:p>
          <a:p>
            <a:r>
              <a:rPr lang="es-ES" baseline="0" dirty="0" smtClean="0"/>
              <a:t>	                0 de lo contrario.</a:t>
            </a:r>
          </a:p>
          <a:p>
            <a:r>
              <a:rPr lang="es-ES" baseline="0" dirty="0" smtClean="0"/>
              <a:t>t=1 Línea Base.</a:t>
            </a:r>
          </a:p>
          <a:p>
            <a:r>
              <a:rPr lang="es-ES" baseline="0" dirty="0" smtClean="0"/>
              <a:t>t=2 seguimiento.</a:t>
            </a:r>
          </a:p>
          <a:p>
            <a:endParaRPr lang="es-AR" dirty="0"/>
          </a:p>
        </p:txBody>
      </p:sp>
      <p:sp>
        <p:nvSpPr>
          <p:cNvPr id="4" name="3 Marcador de número de diapositiva"/>
          <p:cNvSpPr>
            <a:spLocks noGrp="1"/>
          </p:cNvSpPr>
          <p:nvPr>
            <p:ph type="sldNum" sz="quarter" idx="10"/>
          </p:nvPr>
        </p:nvSpPr>
        <p:spPr/>
        <p:txBody>
          <a:bodyPr/>
          <a:lstStyle/>
          <a:p>
            <a:fld id="{FF535FC9-30FA-4D73-906E-D69E199EEFD2}" type="slidenum">
              <a:rPr lang="es-ES" smtClean="0"/>
              <a:pPr/>
              <a:t>33</a:t>
            </a:fld>
            <a:endParaRPr lang="es-E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ES" dirty="0" smtClean="0"/>
              <a:t>Columnas</a:t>
            </a:r>
            <a:r>
              <a:rPr lang="es-ES" baseline="0" dirty="0" smtClean="0"/>
              <a:t> 2 y 3: </a:t>
            </a:r>
          </a:p>
          <a:p>
            <a:r>
              <a:rPr lang="es-ES" baseline="0" dirty="0" smtClean="0"/>
              <a:t>Muestran el salario en Miami y otras ciudades. Las cifras muestran que aunque el salario de Miami era más bajo también era más estable que en otras ciudades. Esta evidencia parece mostrar que no hubo impacto negativo de la inmigración de los “marielitios” sobre los salarios en Miami.</a:t>
            </a:r>
          </a:p>
          <a:p>
            <a:endParaRPr lang="es-ES" baseline="0" dirty="0" smtClean="0"/>
          </a:p>
          <a:p>
            <a:r>
              <a:rPr lang="es-ES" baseline="0" dirty="0" smtClean="0"/>
              <a:t>En 1982 hay un cambio abrupto pero debido a la recesión económica del 82.</a:t>
            </a:r>
          </a:p>
          <a:p>
            <a:endParaRPr lang="es-ES" baseline="0" dirty="0" smtClean="0"/>
          </a:p>
          <a:p>
            <a:r>
              <a:rPr lang="es-ES" baseline="0" dirty="0" smtClean="0"/>
              <a:t>La 4 y 5 columna, muestran la diferencia salarial entre Miami y otras ciudades comparables, actual y ajustado por variables observadas de los trabajadores respectivamente.</a:t>
            </a:r>
          </a:p>
          <a:p>
            <a:endParaRPr lang="es-ES" baseline="0" dirty="0" smtClean="0"/>
          </a:p>
          <a:p>
            <a:r>
              <a:rPr lang="es-ES" baseline="0" dirty="0" smtClean="0"/>
              <a:t>Interpretación en la 4ta columna: los salarios en Miami eran 15% más bajos que en el resto de las ciudades.</a:t>
            </a:r>
          </a:p>
          <a:p>
            <a:endParaRPr lang="es-AR" dirty="0"/>
          </a:p>
        </p:txBody>
      </p:sp>
      <p:sp>
        <p:nvSpPr>
          <p:cNvPr id="4" name="3 Marcador de número de diapositiva"/>
          <p:cNvSpPr>
            <a:spLocks noGrp="1"/>
          </p:cNvSpPr>
          <p:nvPr>
            <p:ph type="sldNum" sz="quarter" idx="10"/>
          </p:nvPr>
        </p:nvSpPr>
        <p:spPr/>
        <p:txBody>
          <a:bodyPr/>
          <a:lstStyle/>
          <a:p>
            <a:fld id="{FF535FC9-30FA-4D73-906E-D69E199EEFD2}" type="slidenum">
              <a:rPr lang="es-ES" smtClean="0"/>
              <a:pPr/>
              <a:t>35</a:t>
            </a:fld>
            <a:endParaRPr lang="es-E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E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ES"/>
          </a:p>
        </p:txBody>
      </p:sp>
      <p:sp>
        <p:nvSpPr>
          <p:cNvPr id="4" name="3 Marcador de fecha"/>
          <p:cNvSpPr>
            <a:spLocks noGrp="1"/>
          </p:cNvSpPr>
          <p:nvPr>
            <p:ph type="dt" sz="half" idx="10"/>
          </p:nvPr>
        </p:nvSpPr>
        <p:spPr/>
        <p:txBody>
          <a:bodyPr/>
          <a:lstStyle/>
          <a:p>
            <a:fld id="{165FDD57-D239-444E-97C3-43DADC91D967}" type="datetimeFigureOut">
              <a:rPr lang="es-ES" smtClean="0"/>
              <a:pPr/>
              <a:t>10/04/2011</a:t>
            </a:fld>
            <a:endParaRPr lang="es-ES" dirty="0"/>
          </a:p>
        </p:txBody>
      </p:sp>
      <p:sp>
        <p:nvSpPr>
          <p:cNvPr id="5" name="4 Marcador de pie de página"/>
          <p:cNvSpPr>
            <a:spLocks noGrp="1"/>
          </p:cNvSpPr>
          <p:nvPr>
            <p:ph type="ftr" sz="quarter" idx="11"/>
          </p:nvPr>
        </p:nvSpPr>
        <p:spPr/>
        <p:txBody>
          <a:bodyPr/>
          <a:lstStyle/>
          <a:p>
            <a:endParaRPr lang="es-ES" dirty="0"/>
          </a:p>
        </p:txBody>
      </p:sp>
      <p:sp>
        <p:nvSpPr>
          <p:cNvPr id="6" name="5 Marcador de número de diapositiva"/>
          <p:cNvSpPr>
            <a:spLocks noGrp="1"/>
          </p:cNvSpPr>
          <p:nvPr>
            <p:ph type="sldNum" sz="quarter" idx="12"/>
          </p:nvPr>
        </p:nvSpPr>
        <p:spPr/>
        <p:txBody>
          <a:bodyPr/>
          <a:lstStyle/>
          <a:p>
            <a:fld id="{0611EEE5-37AD-4BF3-B743-7D22F97C1121}" type="slidenum">
              <a:rPr lang="es-ES" smtClean="0"/>
              <a:pPr/>
              <a:t>‹Nº›</a:t>
            </a:fld>
            <a:endParaRPr lang="es-E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165FDD57-D239-444E-97C3-43DADC91D967}" type="datetimeFigureOut">
              <a:rPr lang="es-ES" smtClean="0"/>
              <a:pPr/>
              <a:t>10/04/2011</a:t>
            </a:fld>
            <a:endParaRPr lang="es-ES" dirty="0"/>
          </a:p>
        </p:txBody>
      </p:sp>
      <p:sp>
        <p:nvSpPr>
          <p:cNvPr id="5" name="4 Marcador de pie de página"/>
          <p:cNvSpPr>
            <a:spLocks noGrp="1"/>
          </p:cNvSpPr>
          <p:nvPr>
            <p:ph type="ftr" sz="quarter" idx="11"/>
          </p:nvPr>
        </p:nvSpPr>
        <p:spPr/>
        <p:txBody>
          <a:bodyPr/>
          <a:lstStyle/>
          <a:p>
            <a:endParaRPr lang="es-ES" dirty="0"/>
          </a:p>
        </p:txBody>
      </p:sp>
      <p:sp>
        <p:nvSpPr>
          <p:cNvPr id="6" name="5 Marcador de número de diapositiva"/>
          <p:cNvSpPr>
            <a:spLocks noGrp="1"/>
          </p:cNvSpPr>
          <p:nvPr>
            <p:ph type="sldNum" sz="quarter" idx="12"/>
          </p:nvPr>
        </p:nvSpPr>
        <p:spPr/>
        <p:txBody>
          <a:bodyPr/>
          <a:lstStyle/>
          <a:p>
            <a:fld id="{0611EEE5-37AD-4BF3-B743-7D22F97C1121}" type="slidenum">
              <a:rPr lang="es-ES" smtClean="0"/>
              <a:pPr/>
              <a:t>‹Nº›</a:t>
            </a:fld>
            <a:endParaRPr lang="es-E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165FDD57-D239-444E-97C3-43DADC91D967}" type="datetimeFigureOut">
              <a:rPr lang="es-ES" smtClean="0"/>
              <a:pPr/>
              <a:t>10/04/2011</a:t>
            </a:fld>
            <a:endParaRPr lang="es-ES" dirty="0"/>
          </a:p>
        </p:txBody>
      </p:sp>
      <p:sp>
        <p:nvSpPr>
          <p:cNvPr id="5" name="4 Marcador de pie de página"/>
          <p:cNvSpPr>
            <a:spLocks noGrp="1"/>
          </p:cNvSpPr>
          <p:nvPr>
            <p:ph type="ftr" sz="quarter" idx="11"/>
          </p:nvPr>
        </p:nvSpPr>
        <p:spPr/>
        <p:txBody>
          <a:bodyPr/>
          <a:lstStyle/>
          <a:p>
            <a:endParaRPr lang="es-ES" dirty="0"/>
          </a:p>
        </p:txBody>
      </p:sp>
      <p:sp>
        <p:nvSpPr>
          <p:cNvPr id="6" name="5 Marcador de número de diapositiva"/>
          <p:cNvSpPr>
            <a:spLocks noGrp="1"/>
          </p:cNvSpPr>
          <p:nvPr>
            <p:ph type="sldNum" sz="quarter" idx="12"/>
          </p:nvPr>
        </p:nvSpPr>
        <p:spPr/>
        <p:txBody>
          <a:bodyPr/>
          <a:lstStyle/>
          <a:p>
            <a:fld id="{0611EEE5-37AD-4BF3-B743-7D22F97C1121}" type="slidenum">
              <a:rPr lang="es-ES" smtClean="0"/>
              <a:pPr/>
              <a:t>‹Nº›</a:t>
            </a:fld>
            <a:endParaRPr lang="es-E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fecha"/>
          <p:cNvSpPr>
            <a:spLocks noGrp="1"/>
          </p:cNvSpPr>
          <p:nvPr>
            <p:ph type="dt" sz="half" idx="10"/>
          </p:nvPr>
        </p:nvSpPr>
        <p:spPr/>
        <p:txBody>
          <a:bodyPr/>
          <a:lstStyle/>
          <a:p>
            <a:fld id="{165FDD57-D239-444E-97C3-43DADC91D967}" type="datetimeFigureOut">
              <a:rPr lang="es-ES" smtClean="0"/>
              <a:pPr/>
              <a:t>10/04/2011</a:t>
            </a:fld>
            <a:endParaRPr lang="es-ES" dirty="0"/>
          </a:p>
        </p:txBody>
      </p:sp>
      <p:sp>
        <p:nvSpPr>
          <p:cNvPr id="6" name="5 Marcador de pie de página"/>
          <p:cNvSpPr>
            <a:spLocks noGrp="1"/>
          </p:cNvSpPr>
          <p:nvPr>
            <p:ph type="ftr" sz="quarter" idx="11"/>
          </p:nvPr>
        </p:nvSpPr>
        <p:spPr/>
        <p:txBody>
          <a:bodyPr/>
          <a:lstStyle/>
          <a:p>
            <a:endParaRPr lang="es-ES" dirty="0"/>
          </a:p>
        </p:txBody>
      </p:sp>
      <p:sp>
        <p:nvSpPr>
          <p:cNvPr id="7" name="6 Marcador de número de diapositiva"/>
          <p:cNvSpPr>
            <a:spLocks noGrp="1"/>
          </p:cNvSpPr>
          <p:nvPr>
            <p:ph type="sldNum" sz="quarter" idx="12"/>
          </p:nvPr>
        </p:nvSpPr>
        <p:spPr/>
        <p:txBody>
          <a:bodyPr/>
          <a:lstStyle/>
          <a:p>
            <a:fld id="{0611EEE5-37AD-4BF3-B743-7D22F97C1121}" type="slidenum">
              <a:rPr lang="es-ES" smtClean="0"/>
              <a:pPr/>
              <a:t>‹Nº›</a:t>
            </a:fld>
            <a:endParaRPr lang="es-E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6 Marcador de fecha"/>
          <p:cNvSpPr>
            <a:spLocks noGrp="1"/>
          </p:cNvSpPr>
          <p:nvPr>
            <p:ph type="dt" sz="half" idx="10"/>
          </p:nvPr>
        </p:nvSpPr>
        <p:spPr/>
        <p:txBody>
          <a:bodyPr/>
          <a:lstStyle/>
          <a:p>
            <a:fld id="{165FDD57-D239-444E-97C3-43DADC91D967}" type="datetimeFigureOut">
              <a:rPr lang="es-ES" smtClean="0"/>
              <a:pPr/>
              <a:t>10/04/2011</a:t>
            </a:fld>
            <a:endParaRPr lang="es-ES" dirty="0"/>
          </a:p>
        </p:txBody>
      </p:sp>
      <p:sp>
        <p:nvSpPr>
          <p:cNvPr id="8" name="7 Marcador de pie de página"/>
          <p:cNvSpPr>
            <a:spLocks noGrp="1"/>
          </p:cNvSpPr>
          <p:nvPr>
            <p:ph type="ftr" sz="quarter" idx="11"/>
          </p:nvPr>
        </p:nvSpPr>
        <p:spPr/>
        <p:txBody>
          <a:bodyPr/>
          <a:lstStyle/>
          <a:p>
            <a:endParaRPr lang="es-ES" dirty="0"/>
          </a:p>
        </p:txBody>
      </p:sp>
      <p:sp>
        <p:nvSpPr>
          <p:cNvPr id="9" name="8 Marcador de número de diapositiva"/>
          <p:cNvSpPr>
            <a:spLocks noGrp="1"/>
          </p:cNvSpPr>
          <p:nvPr>
            <p:ph type="sldNum" sz="quarter" idx="12"/>
          </p:nvPr>
        </p:nvSpPr>
        <p:spPr/>
        <p:txBody>
          <a:bodyPr/>
          <a:lstStyle/>
          <a:p>
            <a:fld id="{0611EEE5-37AD-4BF3-B743-7D22F97C1121}" type="slidenum">
              <a:rPr lang="es-ES" smtClean="0"/>
              <a:pPr/>
              <a:t>‹Nº›</a:t>
            </a:fld>
            <a:endParaRPr lang="es-E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fecha"/>
          <p:cNvSpPr>
            <a:spLocks noGrp="1"/>
          </p:cNvSpPr>
          <p:nvPr>
            <p:ph type="dt" sz="half" idx="10"/>
          </p:nvPr>
        </p:nvSpPr>
        <p:spPr/>
        <p:txBody>
          <a:bodyPr/>
          <a:lstStyle/>
          <a:p>
            <a:fld id="{165FDD57-D239-444E-97C3-43DADC91D967}" type="datetimeFigureOut">
              <a:rPr lang="es-ES" smtClean="0"/>
              <a:pPr/>
              <a:t>10/04/2011</a:t>
            </a:fld>
            <a:endParaRPr lang="es-ES" dirty="0"/>
          </a:p>
        </p:txBody>
      </p:sp>
      <p:sp>
        <p:nvSpPr>
          <p:cNvPr id="4" name="3 Marcador de pie de página"/>
          <p:cNvSpPr>
            <a:spLocks noGrp="1"/>
          </p:cNvSpPr>
          <p:nvPr>
            <p:ph type="ftr" sz="quarter" idx="11"/>
          </p:nvPr>
        </p:nvSpPr>
        <p:spPr/>
        <p:txBody>
          <a:bodyPr/>
          <a:lstStyle/>
          <a:p>
            <a:endParaRPr lang="es-ES" dirty="0"/>
          </a:p>
        </p:txBody>
      </p:sp>
      <p:sp>
        <p:nvSpPr>
          <p:cNvPr id="5" name="4 Marcador de número de diapositiva"/>
          <p:cNvSpPr>
            <a:spLocks noGrp="1"/>
          </p:cNvSpPr>
          <p:nvPr>
            <p:ph type="sldNum" sz="quarter" idx="12"/>
          </p:nvPr>
        </p:nvSpPr>
        <p:spPr/>
        <p:txBody>
          <a:bodyPr/>
          <a:lstStyle/>
          <a:p>
            <a:fld id="{0611EEE5-37AD-4BF3-B743-7D22F97C1121}" type="slidenum">
              <a:rPr lang="es-ES" smtClean="0"/>
              <a:pPr/>
              <a:t>‹Nº›</a:t>
            </a:fld>
            <a:endParaRPr lang="es-E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165FDD57-D239-444E-97C3-43DADC91D967}" type="datetimeFigureOut">
              <a:rPr lang="es-ES" smtClean="0"/>
              <a:pPr/>
              <a:t>10/04/2011</a:t>
            </a:fld>
            <a:endParaRPr lang="es-ES" dirty="0"/>
          </a:p>
        </p:txBody>
      </p:sp>
      <p:sp>
        <p:nvSpPr>
          <p:cNvPr id="3" name="2 Marcador de pie de página"/>
          <p:cNvSpPr>
            <a:spLocks noGrp="1"/>
          </p:cNvSpPr>
          <p:nvPr>
            <p:ph type="ftr" sz="quarter" idx="11"/>
          </p:nvPr>
        </p:nvSpPr>
        <p:spPr/>
        <p:txBody>
          <a:bodyPr/>
          <a:lstStyle/>
          <a:p>
            <a:endParaRPr lang="es-ES" dirty="0"/>
          </a:p>
        </p:txBody>
      </p:sp>
      <p:sp>
        <p:nvSpPr>
          <p:cNvPr id="4" name="3 Marcador de número de diapositiva"/>
          <p:cNvSpPr>
            <a:spLocks noGrp="1"/>
          </p:cNvSpPr>
          <p:nvPr>
            <p:ph type="sldNum" sz="quarter" idx="12"/>
          </p:nvPr>
        </p:nvSpPr>
        <p:spPr/>
        <p:txBody>
          <a:bodyPr/>
          <a:lstStyle/>
          <a:p>
            <a:fld id="{0611EEE5-37AD-4BF3-B743-7D22F97C1121}" type="slidenum">
              <a:rPr lang="es-ES" smtClean="0"/>
              <a:pPr/>
              <a:t>‹Nº›</a:t>
            </a:fld>
            <a:endParaRPr lang="es-E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E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165FDD57-D239-444E-97C3-43DADC91D967}" type="datetimeFigureOut">
              <a:rPr lang="es-ES" smtClean="0"/>
              <a:pPr/>
              <a:t>10/04/2011</a:t>
            </a:fld>
            <a:endParaRPr lang="es-ES" dirty="0"/>
          </a:p>
        </p:txBody>
      </p:sp>
      <p:sp>
        <p:nvSpPr>
          <p:cNvPr id="6" name="5 Marcador de pie de página"/>
          <p:cNvSpPr>
            <a:spLocks noGrp="1"/>
          </p:cNvSpPr>
          <p:nvPr>
            <p:ph type="ftr" sz="quarter" idx="11"/>
          </p:nvPr>
        </p:nvSpPr>
        <p:spPr/>
        <p:txBody>
          <a:bodyPr/>
          <a:lstStyle/>
          <a:p>
            <a:endParaRPr lang="es-ES" dirty="0"/>
          </a:p>
        </p:txBody>
      </p:sp>
      <p:sp>
        <p:nvSpPr>
          <p:cNvPr id="7" name="6 Marcador de número de diapositiva"/>
          <p:cNvSpPr>
            <a:spLocks noGrp="1"/>
          </p:cNvSpPr>
          <p:nvPr>
            <p:ph type="sldNum" sz="quarter" idx="12"/>
          </p:nvPr>
        </p:nvSpPr>
        <p:spPr/>
        <p:txBody>
          <a:bodyPr/>
          <a:lstStyle/>
          <a:p>
            <a:fld id="{0611EEE5-37AD-4BF3-B743-7D22F97C1121}" type="slidenum">
              <a:rPr lang="es-ES" smtClean="0"/>
              <a:pPr/>
              <a:t>‹Nº›</a:t>
            </a:fld>
            <a:endParaRPr lang="es-E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E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dirty="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165FDD57-D239-444E-97C3-43DADC91D967}" type="datetimeFigureOut">
              <a:rPr lang="es-ES" smtClean="0"/>
              <a:pPr/>
              <a:t>10/04/2011</a:t>
            </a:fld>
            <a:endParaRPr lang="es-ES" dirty="0"/>
          </a:p>
        </p:txBody>
      </p:sp>
      <p:sp>
        <p:nvSpPr>
          <p:cNvPr id="6" name="5 Marcador de pie de página"/>
          <p:cNvSpPr>
            <a:spLocks noGrp="1"/>
          </p:cNvSpPr>
          <p:nvPr>
            <p:ph type="ftr" sz="quarter" idx="11"/>
          </p:nvPr>
        </p:nvSpPr>
        <p:spPr/>
        <p:txBody>
          <a:bodyPr/>
          <a:lstStyle/>
          <a:p>
            <a:endParaRPr lang="es-ES" dirty="0"/>
          </a:p>
        </p:txBody>
      </p:sp>
      <p:sp>
        <p:nvSpPr>
          <p:cNvPr id="7" name="6 Marcador de número de diapositiva"/>
          <p:cNvSpPr>
            <a:spLocks noGrp="1"/>
          </p:cNvSpPr>
          <p:nvPr>
            <p:ph type="sldNum" sz="quarter" idx="12"/>
          </p:nvPr>
        </p:nvSpPr>
        <p:spPr/>
        <p:txBody>
          <a:bodyPr/>
          <a:lstStyle/>
          <a:p>
            <a:fld id="{0611EEE5-37AD-4BF3-B743-7D22F97C1121}" type="slidenum">
              <a:rPr lang="es-ES" smtClean="0"/>
              <a:pPr/>
              <a:t>‹Nº›</a:t>
            </a:fld>
            <a:endParaRPr lang="es-E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165FDD57-D239-444E-97C3-43DADC91D967}" type="datetimeFigureOut">
              <a:rPr lang="es-ES" smtClean="0"/>
              <a:pPr/>
              <a:t>10/04/2011</a:t>
            </a:fld>
            <a:endParaRPr lang="es-ES" dirty="0"/>
          </a:p>
        </p:txBody>
      </p:sp>
      <p:sp>
        <p:nvSpPr>
          <p:cNvPr id="5" name="4 Marcador de pie de página"/>
          <p:cNvSpPr>
            <a:spLocks noGrp="1"/>
          </p:cNvSpPr>
          <p:nvPr>
            <p:ph type="ftr" sz="quarter" idx="11"/>
          </p:nvPr>
        </p:nvSpPr>
        <p:spPr/>
        <p:txBody>
          <a:bodyPr/>
          <a:lstStyle/>
          <a:p>
            <a:endParaRPr lang="es-ES" dirty="0"/>
          </a:p>
        </p:txBody>
      </p:sp>
      <p:sp>
        <p:nvSpPr>
          <p:cNvPr id="6" name="5 Marcador de número de diapositiva"/>
          <p:cNvSpPr>
            <a:spLocks noGrp="1"/>
          </p:cNvSpPr>
          <p:nvPr>
            <p:ph type="sldNum" sz="quarter" idx="12"/>
          </p:nvPr>
        </p:nvSpPr>
        <p:spPr/>
        <p:txBody>
          <a:bodyPr/>
          <a:lstStyle/>
          <a:p>
            <a:fld id="{0611EEE5-37AD-4BF3-B743-7D22F97C1121}" type="slidenum">
              <a:rPr lang="es-ES" smtClean="0"/>
              <a:pPr/>
              <a:t>‹Nº›</a:t>
            </a:fld>
            <a:endParaRPr lang="es-E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165FDD57-D239-444E-97C3-43DADC91D967}" type="datetimeFigureOut">
              <a:rPr lang="es-ES" smtClean="0"/>
              <a:pPr/>
              <a:t>10/04/2011</a:t>
            </a:fld>
            <a:endParaRPr lang="es-ES" dirty="0"/>
          </a:p>
        </p:txBody>
      </p:sp>
      <p:sp>
        <p:nvSpPr>
          <p:cNvPr id="5" name="4 Marcador de pie de página"/>
          <p:cNvSpPr>
            <a:spLocks noGrp="1"/>
          </p:cNvSpPr>
          <p:nvPr>
            <p:ph type="ftr" sz="quarter" idx="11"/>
          </p:nvPr>
        </p:nvSpPr>
        <p:spPr/>
        <p:txBody>
          <a:bodyPr/>
          <a:lstStyle/>
          <a:p>
            <a:endParaRPr lang="es-ES" dirty="0"/>
          </a:p>
        </p:txBody>
      </p:sp>
      <p:sp>
        <p:nvSpPr>
          <p:cNvPr id="6" name="5 Marcador de número de diapositiva"/>
          <p:cNvSpPr>
            <a:spLocks noGrp="1"/>
          </p:cNvSpPr>
          <p:nvPr>
            <p:ph type="sldNum" sz="quarter" idx="12"/>
          </p:nvPr>
        </p:nvSpPr>
        <p:spPr/>
        <p:txBody>
          <a:bodyPr/>
          <a:lstStyle/>
          <a:p>
            <a:fld id="{0611EEE5-37AD-4BF3-B743-7D22F97C1121}" type="slidenum">
              <a:rPr lang="es-ES" smtClean="0"/>
              <a:pPr/>
              <a:t>‹Nº›</a:t>
            </a:fld>
            <a:endParaRPr lang="es-E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5FDD57-D239-444E-97C3-43DADC91D967}" type="datetimeFigureOut">
              <a:rPr lang="es-ES" smtClean="0"/>
              <a:pPr/>
              <a:t>10/04/2011</a:t>
            </a:fld>
            <a:endParaRPr lang="es-ES" dirty="0"/>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dirty="0"/>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11EEE5-37AD-4BF3-B743-7D22F97C1121}" type="slidenum">
              <a:rPr lang="es-ES" smtClean="0"/>
              <a:pPr/>
              <a:t>‹Nº›</a:t>
            </a:fld>
            <a:endParaRPr lang="es-E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package" Target="../embeddings/Documento_de_Word_20073.docx"/><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package" Target="../embeddings/Documento_de_Word_20072.docx"/><Relationship Id="rId5" Type="http://schemas.openxmlformats.org/officeDocument/2006/relationships/package" Target="../embeddings/Documento_de_Word_20071.docx"/><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package" Target="../embeddings/Documento_de_Word_20077.docx"/><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package" Target="../embeddings/Documento_de_Word_20076.docx"/><Relationship Id="rId5" Type="http://schemas.openxmlformats.org/officeDocument/2006/relationships/package" Target="../embeddings/Documento_de_Word_20075.docx"/><Relationship Id="rId4" Type="http://schemas.openxmlformats.org/officeDocument/2006/relationships/package" Target="../embeddings/Documento_de_Word_20074.docx"/></Relationships>
</file>

<file path=ppt/slides/_rels/slide13.xml.rels><?xml version="1.0" encoding="UTF-8" standalone="yes"?>
<Relationships xmlns="http://schemas.openxmlformats.org/package/2006/relationships"><Relationship Id="rId8" Type="http://schemas.openxmlformats.org/officeDocument/2006/relationships/package" Target="../embeddings/Documento_de_Word_200710.docx"/><Relationship Id="rId3" Type="http://schemas.openxmlformats.org/officeDocument/2006/relationships/image" Target="../media/image1.png"/><Relationship Id="rId7" Type="http://schemas.openxmlformats.org/officeDocument/2006/relationships/package" Target="../embeddings/Documento_de_Word_20079.docx"/><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package" Target="../embeddings/Documento_de_Word_20078.docx"/><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3.emf"/></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package" Target="../embeddings/Documento_de_Word_200714.docx"/><Relationship Id="rId13" Type="http://schemas.openxmlformats.org/officeDocument/2006/relationships/image" Target="../media/image32.png"/><Relationship Id="rId3" Type="http://schemas.openxmlformats.org/officeDocument/2006/relationships/notesSlide" Target="../notesSlides/notesSlide5.xml"/><Relationship Id="rId7" Type="http://schemas.openxmlformats.org/officeDocument/2006/relationships/package" Target="../embeddings/Documento_de_Word_200713.docx"/><Relationship Id="rId12" Type="http://schemas.openxmlformats.org/officeDocument/2006/relationships/image" Target="../media/image31.png"/><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package" Target="../embeddings/Documento_de_Word_200712.docx"/><Relationship Id="rId11" Type="http://schemas.openxmlformats.org/officeDocument/2006/relationships/image" Target="../media/image30.png"/><Relationship Id="rId5" Type="http://schemas.openxmlformats.org/officeDocument/2006/relationships/package" Target="../embeddings/Documento_de_Word_200711.docx"/><Relationship Id="rId10" Type="http://schemas.openxmlformats.org/officeDocument/2006/relationships/image" Target="../media/image29.png"/><Relationship Id="rId4" Type="http://schemas.openxmlformats.org/officeDocument/2006/relationships/image" Target="../media/image1.png"/><Relationship Id="rId9" Type="http://schemas.openxmlformats.org/officeDocument/2006/relationships/image" Target="../media/image28.png"/><Relationship Id="rId1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package" Target="../embeddings/Documento_de_Word_200716.docx"/><Relationship Id="rId4" Type="http://schemas.openxmlformats.org/officeDocument/2006/relationships/package" Target="../embeddings/Documento_de_Word_200715.docx"/></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package" Target="../embeddings/Documento_de_Word_200718.docx"/><Relationship Id="rId4" Type="http://schemas.openxmlformats.org/officeDocument/2006/relationships/package" Target="../embeddings/Documento_de_Word_200717.docx"/></Relationships>
</file>

<file path=ppt/slides/_rels/slide22.xml.rels><?xml version="1.0" encoding="UTF-8" standalone="yes"?>
<Relationships xmlns="http://schemas.openxmlformats.org/package/2006/relationships"><Relationship Id="rId8" Type="http://schemas.openxmlformats.org/officeDocument/2006/relationships/package" Target="../embeddings/Documento_de_Word_200723.docx"/><Relationship Id="rId3" Type="http://schemas.openxmlformats.org/officeDocument/2006/relationships/image" Target="../media/image1.png"/><Relationship Id="rId7" Type="http://schemas.openxmlformats.org/officeDocument/2006/relationships/package" Target="../embeddings/Documento_de_Word_200722.docx"/><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package" Target="../embeddings/Documento_de_Word_200721.docx"/><Relationship Id="rId5" Type="http://schemas.openxmlformats.org/officeDocument/2006/relationships/package" Target="../embeddings/Documento_de_Word_200720.docx"/><Relationship Id="rId4" Type="http://schemas.openxmlformats.org/officeDocument/2006/relationships/package" Target="../embeddings/Documento_de_Word_200719.docx"/><Relationship Id="rId9" Type="http://schemas.openxmlformats.org/officeDocument/2006/relationships/package" Target="../embeddings/Documento_de_Word_200724.docx"/></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package" Target="../embeddings/Documento_de_Word_200726.docx"/><Relationship Id="rId4" Type="http://schemas.openxmlformats.org/officeDocument/2006/relationships/package" Target="../embeddings/Documento_de_Word_200725.docx"/></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package" Target="../embeddings/Documento_de_Word_200729.docx"/><Relationship Id="rId5" Type="http://schemas.openxmlformats.org/officeDocument/2006/relationships/package" Target="../embeddings/Documento_de_Word_200728.docx"/><Relationship Id="rId4" Type="http://schemas.openxmlformats.org/officeDocument/2006/relationships/package" Target="../embeddings/Documento_de_Word_200727.docx"/></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package" Target="../embeddings/Documento_de_Word_200732.docx"/><Relationship Id="rId5" Type="http://schemas.openxmlformats.org/officeDocument/2006/relationships/package" Target="../embeddings/Documento_de_Word_200731.docx"/><Relationship Id="rId4" Type="http://schemas.openxmlformats.org/officeDocument/2006/relationships/package" Target="../embeddings/Documento_de_Word_200730.docx"/></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package" Target="../embeddings/Documento_de_Word_200735.docx"/><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package" Target="../embeddings/Documento_de_Word_200734.docx"/><Relationship Id="rId5" Type="http://schemas.openxmlformats.org/officeDocument/2006/relationships/package" Target="../embeddings/Documento_de_Word_200733.docx"/><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package" Target="../embeddings/Documento_de_Word_200739.docx"/><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package" Target="../embeddings/Documento_de_Word_200738.docx"/><Relationship Id="rId5" Type="http://schemas.openxmlformats.org/officeDocument/2006/relationships/package" Target="../embeddings/Documento_de_Word_200737.docx"/><Relationship Id="rId4" Type="http://schemas.openxmlformats.org/officeDocument/2006/relationships/package" Target="../embeddings/Documento_de_Word_200736.docx"/></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package" Target="../embeddings/Documento_de_Word_200742.docx"/><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package" Target="../embeddings/Documento_de_Word_200741.docx"/><Relationship Id="rId5" Type="http://schemas.openxmlformats.org/officeDocument/2006/relationships/package" Target="../embeddings/Documento_de_Word_200740.docx"/><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package" Target="../embeddings/Documento_de_Word_200745.docx"/><Relationship Id="rId5" Type="http://schemas.openxmlformats.org/officeDocument/2006/relationships/package" Target="../embeddings/Documento_de_Word_200744.docx"/><Relationship Id="rId4" Type="http://schemas.openxmlformats.org/officeDocument/2006/relationships/package" Target="../embeddings/Documento_de_Word_200743.docx"/></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ES_tradnl" dirty="0" smtClean="0"/>
              <a:t>Capítulo 5</a:t>
            </a:r>
            <a:endParaRPr lang="es-ES" dirty="0"/>
          </a:p>
        </p:txBody>
      </p:sp>
      <p:sp>
        <p:nvSpPr>
          <p:cNvPr id="3" name="2 Subtítulo"/>
          <p:cNvSpPr>
            <a:spLocks noGrp="1"/>
          </p:cNvSpPr>
          <p:nvPr>
            <p:ph type="subTitle" idx="1"/>
          </p:nvPr>
        </p:nvSpPr>
        <p:spPr/>
        <p:txBody>
          <a:bodyPr/>
          <a:lstStyle/>
          <a:p>
            <a:r>
              <a:rPr lang="es-ES_tradnl" dirty="0" smtClean="0"/>
              <a:t>Experimentos naturales </a:t>
            </a:r>
            <a:r>
              <a:rPr lang="es-CO" dirty="0" smtClean="0"/>
              <a:t>o cuasi experimentos</a:t>
            </a:r>
            <a:endParaRPr lang="es-ES" dirty="0"/>
          </a:p>
        </p:txBody>
      </p:sp>
      <p:pic>
        <p:nvPicPr>
          <p:cNvPr id="4" name="Picture 1"/>
          <p:cNvPicPr>
            <a:picLocks noChangeAspect="1" noChangeArrowheads="1"/>
          </p:cNvPicPr>
          <p:nvPr/>
        </p:nvPicPr>
        <p:blipFill>
          <a:blip r:embed="rId2" cstate="print"/>
          <a:srcRect/>
          <a:stretch>
            <a:fillRect/>
          </a:stretch>
        </p:blipFill>
        <p:spPr bwMode="auto">
          <a:xfrm>
            <a:off x="-32" y="-24"/>
            <a:ext cx="2214546" cy="105337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a:bodyPr>
          <a:lstStyle/>
          <a:p>
            <a:r>
              <a:rPr lang="es-ES_tradnl" sz="2500" dirty="0" smtClean="0"/>
              <a:t>Dado que los experimentos controlados presentan algunas dificultades, como:</a:t>
            </a:r>
          </a:p>
          <a:p>
            <a:pPr lvl="1"/>
            <a:endParaRPr lang="es-ES_tradnl" sz="2500" dirty="0" smtClean="0"/>
          </a:p>
          <a:p>
            <a:pPr lvl="1"/>
            <a:r>
              <a:rPr lang="es-ES_tradnl" sz="2500" dirty="0" smtClean="0"/>
              <a:t>Altos costos.</a:t>
            </a:r>
          </a:p>
          <a:p>
            <a:pPr lvl="1"/>
            <a:r>
              <a:rPr lang="es-ES_tradnl" sz="2500" dirty="0" smtClean="0"/>
              <a:t>Conflictos éticos.</a:t>
            </a:r>
          </a:p>
          <a:p>
            <a:pPr lvl="1"/>
            <a:r>
              <a:rPr lang="es-ES_tradnl" sz="2500" dirty="0" smtClean="0"/>
              <a:t>Corta duración.</a:t>
            </a:r>
            <a:endParaRPr lang="es-ES_tradnl" sz="2500" dirty="0"/>
          </a:p>
          <a:p>
            <a:pPr lvl="1"/>
            <a:endParaRPr lang="es-ES_tradnl" sz="2500" dirty="0" smtClean="0"/>
          </a:p>
          <a:p>
            <a:pPr lvl="1" algn="ctr">
              <a:buNone/>
            </a:pPr>
            <a:r>
              <a:rPr lang="es-ES_tradnl" sz="2500" dirty="0" smtClean="0"/>
              <a:t>					</a:t>
            </a:r>
          </a:p>
          <a:p>
            <a:pPr lvl="1" algn="ctr">
              <a:buNone/>
            </a:pPr>
            <a:r>
              <a:rPr lang="es-ES_tradnl" sz="2500" dirty="0" smtClean="0"/>
              <a:t>                                            Experimentos naturales o</a:t>
            </a:r>
          </a:p>
          <a:p>
            <a:pPr lvl="1" algn="ctr">
              <a:buNone/>
            </a:pPr>
            <a:r>
              <a:rPr lang="es-ES_tradnl" sz="2500" dirty="0"/>
              <a:t>	</a:t>
            </a:r>
            <a:r>
              <a:rPr lang="es-ES_tradnl" sz="2500" dirty="0" smtClean="0"/>
              <a:t>				cuasi experimentos.</a:t>
            </a:r>
          </a:p>
        </p:txBody>
      </p:sp>
      <p:sp>
        <p:nvSpPr>
          <p:cNvPr id="4" name="3 Rectángulo"/>
          <p:cNvSpPr/>
          <p:nvPr/>
        </p:nvSpPr>
        <p:spPr>
          <a:xfrm>
            <a:off x="0" y="6554097"/>
            <a:ext cx="9144000" cy="292388"/>
          </a:xfrm>
          <a:prstGeom prst="rect">
            <a:avLst/>
          </a:prstGeom>
        </p:spPr>
        <p:txBody>
          <a:bodyPr wrap="square">
            <a:spAutoFit/>
          </a:bodyPr>
          <a:lstStyle/>
          <a:p>
            <a:pPr algn="ctr" defTabSz="1430338"/>
            <a:r>
              <a:rPr lang="es-MX" sz="1300" smtClean="0">
                <a:solidFill>
                  <a:schemeClr val="tx1">
                    <a:lumMod val="50000"/>
                    <a:lumOff val="50000"/>
                  </a:schemeClr>
                </a:solidFill>
              </a:rPr>
              <a:t>Guía práctica para la evaluación de impacto /</a:t>
            </a:r>
            <a:r>
              <a:rPr lang="es-CO" sz="1300" smtClean="0">
                <a:solidFill>
                  <a:schemeClr val="tx1">
                    <a:lumMod val="50000"/>
                    <a:lumOff val="50000"/>
                  </a:schemeClr>
                </a:solidFill>
              </a:rPr>
              <a:t>Capítulo </a:t>
            </a:r>
            <a:r>
              <a:rPr lang="es-CO" sz="1300" dirty="0" smtClean="0">
                <a:solidFill>
                  <a:schemeClr val="tx1">
                    <a:lumMod val="50000"/>
                    <a:lumOff val="50000"/>
                  </a:schemeClr>
                </a:solidFill>
              </a:rPr>
              <a:t>5: Experimentos Naturales o cuasi Experimentos/2</a:t>
            </a:r>
            <a:endParaRPr lang="es-ES" sz="1300" dirty="0">
              <a:solidFill>
                <a:schemeClr val="tx1">
                  <a:lumMod val="50000"/>
                  <a:lumOff val="50000"/>
                </a:schemeClr>
              </a:solidFill>
            </a:endParaRPr>
          </a:p>
        </p:txBody>
      </p:sp>
      <p:pic>
        <p:nvPicPr>
          <p:cNvPr id="5" name="Picture 1"/>
          <p:cNvPicPr>
            <a:picLocks noChangeAspect="1" noChangeArrowheads="1"/>
          </p:cNvPicPr>
          <p:nvPr/>
        </p:nvPicPr>
        <p:blipFill>
          <a:blip r:embed="rId2" cstate="print"/>
          <a:srcRect/>
          <a:stretch>
            <a:fillRect/>
          </a:stretch>
        </p:blipFill>
        <p:spPr bwMode="auto">
          <a:xfrm>
            <a:off x="-32" y="-24"/>
            <a:ext cx="2214546" cy="1053379"/>
          </a:xfrm>
          <a:prstGeom prst="rect">
            <a:avLst/>
          </a:prstGeom>
          <a:noFill/>
          <a:ln w="9525">
            <a:noFill/>
            <a:miter lim="800000"/>
            <a:headEnd/>
            <a:tailEnd/>
          </a:ln>
          <a:effectLst/>
        </p:spPr>
      </p:pic>
      <p:sp>
        <p:nvSpPr>
          <p:cNvPr id="6" name="1 Título"/>
          <p:cNvSpPr>
            <a:spLocks noGrp="1"/>
          </p:cNvSpPr>
          <p:nvPr>
            <p:ph type="title"/>
          </p:nvPr>
        </p:nvSpPr>
        <p:spPr>
          <a:xfrm>
            <a:off x="1557374" y="274638"/>
            <a:ext cx="7372344" cy="1011222"/>
          </a:xfrm>
        </p:spPr>
        <p:txBody>
          <a:bodyPr>
            <a:noAutofit/>
          </a:bodyPr>
          <a:lstStyle/>
          <a:p>
            <a:r>
              <a:rPr lang="es-ES_tradnl" sz="4200" u="sng" dirty="0" smtClean="0"/>
              <a:t>¿Por qué usar experimentos naturales?</a:t>
            </a:r>
            <a:endParaRPr lang="es-ES" sz="4200" u="sng" dirty="0"/>
          </a:p>
        </p:txBody>
      </p:sp>
      <p:sp>
        <p:nvSpPr>
          <p:cNvPr id="7" name="6 Cerrar llave"/>
          <p:cNvSpPr/>
          <p:nvPr/>
        </p:nvSpPr>
        <p:spPr>
          <a:xfrm>
            <a:off x="3563888" y="2708920"/>
            <a:ext cx="144016" cy="2160240"/>
          </a:xfrm>
          <a:prstGeom prst="rightBrac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dirty="0"/>
          </a:p>
        </p:txBody>
      </p:sp>
      <p:sp>
        <p:nvSpPr>
          <p:cNvPr id="8" name="7 CuadroTexto"/>
          <p:cNvSpPr txBox="1"/>
          <p:nvPr/>
        </p:nvSpPr>
        <p:spPr>
          <a:xfrm>
            <a:off x="3786182" y="2420888"/>
            <a:ext cx="4714908" cy="2400657"/>
          </a:xfrm>
          <a:prstGeom prst="rect">
            <a:avLst/>
          </a:prstGeom>
          <a:noFill/>
        </p:spPr>
        <p:txBody>
          <a:bodyPr wrap="square" rtlCol="0">
            <a:spAutoFit/>
          </a:bodyPr>
          <a:lstStyle/>
          <a:p>
            <a:r>
              <a:rPr lang="es-ES_tradnl" sz="2500" dirty="0" smtClean="0"/>
              <a:t>Existe un marco no experimental que produce </a:t>
            </a:r>
            <a:r>
              <a:rPr lang="es-ES" sz="2500" dirty="0" smtClean="0"/>
              <a:t>una asignación entre tratamiento y control con características similares a las que se obtendrían en un experimento aleatorio controlado</a:t>
            </a:r>
            <a:r>
              <a:rPr lang="es-ES_tradnl" sz="2500" dirty="0" smtClean="0"/>
              <a:t>.</a:t>
            </a:r>
            <a:endParaRPr lang="es-ES" sz="2500" dirty="0"/>
          </a:p>
        </p:txBody>
      </p:sp>
      <p:cxnSp>
        <p:nvCxnSpPr>
          <p:cNvPr id="14" name="13 Conector recto de flecha"/>
          <p:cNvCxnSpPr/>
          <p:nvPr/>
        </p:nvCxnSpPr>
        <p:spPr>
          <a:xfrm rot="5400000">
            <a:off x="5922961" y="5030367"/>
            <a:ext cx="468017"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ln w="28575">
            <a:solidFill>
              <a:schemeClr val="accent1">
                <a:lumMod val="75000"/>
              </a:schemeClr>
            </a:solidFill>
          </a:ln>
        </p:spPr>
        <p:txBody>
          <a:bodyPr/>
          <a:lstStyle/>
          <a:p>
            <a:endParaRPr lang="es-CO" sz="2500" dirty="0" smtClean="0"/>
          </a:p>
          <a:p>
            <a:endParaRPr lang="es-CO" sz="2500" dirty="0" smtClean="0"/>
          </a:p>
          <a:p>
            <a:r>
              <a:rPr lang="es-CO" sz="2500" dirty="0" smtClean="0"/>
              <a:t>Supongamos que debemos analizar el efecto de una caída en el ingreso del hogar en el bienestar de los niños.</a:t>
            </a:r>
          </a:p>
          <a:p>
            <a:pPr algn="just"/>
            <a:endParaRPr lang="es-CO" sz="2500" dirty="0" smtClean="0"/>
          </a:p>
          <a:p>
            <a:r>
              <a:rPr lang="es-CO" sz="2500" dirty="0" smtClean="0"/>
              <a:t>Puede ocurrir que aquellos hogares para los que cae el ingreso sean sistemáticamente distintos de los hogares en los que el ingreso no cae (p. ej., los primeros son más inestables que los segundos).</a:t>
            </a:r>
            <a:endParaRPr lang="es-ES" sz="2500" dirty="0"/>
          </a:p>
        </p:txBody>
      </p:sp>
      <p:pic>
        <p:nvPicPr>
          <p:cNvPr id="4" name="Picture 1"/>
          <p:cNvPicPr>
            <a:picLocks noChangeAspect="1" noChangeArrowheads="1"/>
          </p:cNvPicPr>
          <p:nvPr/>
        </p:nvPicPr>
        <p:blipFill>
          <a:blip r:embed="rId2" cstate="print"/>
          <a:srcRect/>
          <a:stretch>
            <a:fillRect/>
          </a:stretch>
        </p:blipFill>
        <p:spPr bwMode="auto">
          <a:xfrm>
            <a:off x="-32" y="-24"/>
            <a:ext cx="2214546" cy="1053379"/>
          </a:xfrm>
          <a:prstGeom prst="rect">
            <a:avLst/>
          </a:prstGeom>
          <a:noFill/>
          <a:ln w="9525">
            <a:noFill/>
            <a:miter lim="800000"/>
            <a:headEnd/>
            <a:tailEnd/>
          </a:ln>
          <a:effectLst/>
        </p:spPr>
      </p:pic>
      <p:sp>
        <p:nvSpPr>
          <p:cNvPr id="5" name="1 Título"/>
          <p:cNvSpPr>
            <a:spLocks noGrp="1"/>
          </p:cNvSpPr>
          <p:nvPr>
            <p:ph type="title"/>
          </p:nvPr>
        </p:nvSpPr>
        <p:spPr>
          <a:xfrm>
            <a:off x="1557374" y="274638"/>
            <a:ext cx="7372344" cy="1011222"/>
          </a:xfrm>
        </p:spPr>
        <p:txBody>
          <a:bodyPr>
            <a:noAutofit/>
          </a:bodyPr>
          <a:lstStyle/>
          <a:p>
            <a:r>
              <a:rPr lang="es-CO" sz="4200" u="sng" dirty="0" smtClean="0"/>
              <a:t>Ejemplo 1</a:t>
            </a:r>
            <a:endParaRPr lang="es-ES" sz="4200" u="sng" dirty="0"/>
          </a:p>
        </p:txBody>
      </p:sp>
      <p:sp>
        <p:nvSpPr>
          <p:cNvPr id="6" name="5 Rectángulo"/>
          <p:cNvSpPr/>
          <p:nvPr/>
        </p:nvSpPr>
        <p:spPr>
          <a:xfrm>
            <a:off x="0" y="6534859"/>
            <a:ext cx="9215470" cy="292388"/>
          </a:xfrm>
          <a:prstGeom prst="rect">
            <a:avLst/>
          </a:prstGeom>
        </p:spPr>
        <p:txBody>
          <a:bodyPr wrap="square">
            <a:spAutoFit/>
          </a:bodyPr>
          <a:lstStyle/>
          <a:p>
            <a:pPr marL="3175" lvl="1" algn="ctr"/>
            <a:r>
              <a:rPr lang="es-MX" sz="1300" smtClean="0">
                <a:solidFill>
                  <a:schemeClr val="tx1">
                    <a:lumMod val="50000"/>
                    <a:lumOff val="50000"/>
                  </a:schemeClr>
                </a:solidFill>
              </a:rPr>
              <a:t>Guía práctica para la evaluación de impacto /</a:t>
            </a:r>
            <a:r>
              <a:rPr lang="es-CO" sz="1300" smtClean="0">
                <a:solidFill>
                  <a:schemeClr val="tx1">
                    <a:lumMod val="50000"/>
                    <a:lumOff val="50000"/>
                  </a:schemeClr>
                </a:solidFill>
              </a:rPr>
              <a:t>Capítulo </a:t>
            </a:r>
            <a:r>
              <a:rPr lang="es-CO" sz="1300" dirty="0" smtClean="0">
                <a:solidFill>
                  <a:schemeClr val="tx1">
                    <a:lumMod val="50000"/>
                    <a:lumOff val="50000"/>
                  </a:schemeClr>
                </a:solidFill>
              </a:rPr>
              <a:t>5: Experimentos Naturales o cuasi Experimentos/3</a:t>
            </a:r>
            <a:endParaRPr lang="es-ES" sz="1300" dirty="0">
              <a:solidFill>
                <a:schemeClr val="tx1">
                  <a:lumMod val="50000"/>
                  <a:lumOff val="50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ln w="28575">
            <a:solidFill>
              <a:schemeClr val="accent1">
                <a:lumMod val="75000"/>
              </a:schemeClr>
            </a:solidFill>
          </a:ln>
        </p:spPr>
        <p:txBody>
          <a:bodyPr>
            <a:normAutofit lnSpcReduction="10000"/>
          </a:bodyPr>
          <a:lstStyle/>
          <a:p>
            <a:endParaRPr lang="es-CO" sz="2500" dirty="0" smtClean="0"/>
          </a:p>
          <a:p>
            <a:r>
              <a:rPr lang="es-CO" sz="2500" dirty="0" smtClean="0"/>
              <a:t>Suponga que en este país pasó un huracán.</a:t>
            </a:r>
          </a:p>
          <a:p>
            <a:endParaRPr lang="es-CO" sz="2500" dirty="0" smtClean="0"/>
          </a:p>
          <a:p>
            <a:r>
              <a:rPr lang="es-CO" sz="2500" dirty="0" smtClean="0"/>
              <a:t>Los sitios arrasados por el huracán están esparcidos de manera aleatoria.</a:t>
            </a:r>
          </a:p>
          <a:p>
            <a:endParaRPr lang="es-CO" sz="2500" dirty="0" smtClean="0"/>
          </a:p>
          <a:p>
            <a:r>
              <a:rPr lang="es-CO" sz="2500" dirty="0" smtClean="0"/>
              <a:t>Los damnificados por el huracán experimentaron una caída en el ingreso </a:t>
            </a:r>
            <a:r>
              <a:rPr lang="es-CO" sz="2500" i="1" dirty="0" smtClean="0"/>
              <a:t>presumiblemente</a:t>
            </a:r>
            <a:r>
              <a:rPr lang="es-CO" sz="2500" dirty="0" smtClean="0"/>
              <a:t> aleatoria y, por lo tanto, no está correlacionada con las características del hogar.</a:t>
            </a:r>
          </a:p>
          <a:p>
            <a:endParaRPr lang="es-CO" sz="2500" dirty="0" smtClean="0"/>
          </a:p>
          <a:p>
            <a:r>
              <a:rPr lang="es-CO" sz="2500" dirty="0" smtClean="0"/>
              <a:t>Entonces, el huracán produce un experimento natural.</a:t>
            </a:r>
          </a:p>
          <a:p>
            <a:pPr>
              <a:buNone/>
            </a:pPr>
            <a:endParaRPr lang="es-ES" sz="2500" dirty="0"/>
          </a:p>
        </p:txBody>
      </p:sp>
      <p:pic>
        <p:nvPicPr>
          <p:cNvPr id="4" name="Picture 1"/>
          <p:cNvPicPr>
            <a:picLocks noChangeAspect="1" noChangeArrowheads="1"/>
          </p:cNvPicPr>
          <p:nvPr/>
        </p:nvPicPr>
        <p:blipFill>
          <a:blip r:embed="rId3" cstate="print"/>
          <a:srcRect/>
          <a:stretch>
            <a:fillRect/>
          </a:stretch>
        </p:blipFill>
        <p:spPr bwMode="auto">
          <a:xfrm>
            <a:off x="-32" y="-24"/>
            <a:ext cx="2214546" cy="1053379"/>
          </a:xfrm>
          <a:prstGeom prst="rect">
            <a:avLst/>
          </a:prstGeom>
          <a:noFill/>
          <a:ln w="9525">
            <a:noFill/>
            <a:miter lim="800000"/>
            <a:headEnd/>
            <a:tailEnd/>
          </a:ln>
          <a:effectLst/>
        </p:spPr>
      </p:pic>
      <p:sp>
        <p:nvSpPr>
          <p:cNvPr id="5" name="1 Título"/>
          <p:cNvSpPr>
            <a:spLocks noGrp="1"/>
          </p:cNvSpPr>
          <p:nvPr>
            <p:ph type="title"/>
          </p:nvPr>
        </p:nvSpPr>
        <p:spPr>
          <a:xfrm>
            <a:off x="1557374" y="274638"/>
            <a:ext cx="7372344" cy="1011222"/>
          </a:xfrm>
        </p:spPr>
        <p:txBody>
          <a:bodyPr>
            <a:noAutofit/>
          </a:bodyPr>
          <a:lstStyle/>
          <a:p>
            <a:r>
              <a:rPr lang="es-CO" sz="4200" u="sng" dirty="0" smtClean="0"/>
              <a:t>Ejemplo 1</a:t>
            </a:r>
            <a:endParaRPr lang="es-ES" sz="4200" u="sng" dirty="0"/>
          </a:p>
        </p:txBody>
      </p:sp>
      <p:sp>
        <p:nvSpPr>
          <p:cNvPr id="7" name="6 Rectángulo"/>
          <p:cNvSpPr/>
          <p:nvPr/>
        </p:nvSpPr>
        <p:spPr>
          <a:xfrm>
            <a:off x="0" y="6534859"/>
            <a:ext cx="9215470" cy="292388"/>
          </a:xfrm>
          <a:prstGeom prst="rect">
            <a:avLst/>
          </a:prstGeom>
        </p:spPr>
        <p:txBody>
          <a:bodyPr wrap="square">
            <a:spAutoFit/>
          </a:bodyPr>
          <a:lstStyle/>
          <a:p>
            <a:pPr marL="3175" lvl="1" algn="ctr"/>
            <a:r>
              <a:rPr lang="es-MX" sz="1300" smtClean="0">
                <a:solidFill>
                  <a:schemeClr val="tx1">
                    <a:lumMod val="50000"/>
                    <a:lumOff val="50000"/>
                  </a:schemeClr>
                </a:solidFill>
              </a:rPr>
              <a:t>Guía práctica para la evaluación de impacto /</a:t>
            </a:r>
            <a:r>
              <a:rPr lang="es-CO" sz="1300" smtClean="0">
                <a:solidFill>
                  <a:schemeClr val="tx1">
                    <a:lumMod val="50000"/>
                    <a:lumOff val="50000"/>
                  </a:schemeClr>
                </a:solidFill>
              </a:rPr>
              <a:t>Capítulo </a:t>
            </a:r>
            <a:r>
              <a:rPr lang="es-CO" sz="1300" dirty="0" smtClean="0">
                <a:solidFill>
                  <a:schemeClr val="tx1">
                    <a:lumMod val="50000"/>
                    <a:lumOff val="50000"/>
                  </a:schemeClr>
                </a:solidFill>
              </a:rPr>
              <a:t>5: Experimentos Naturales o cuasi Experimentos/4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ln w="28575">
            <a:solidFill>
              <a:schemeClr val="accent1">
                <a:lumMod val="75000"/>
              </a:schemeClr>
            </a:solidFill>
          </a:ln>
        </p:spPr>
        <p:txBody>
          <a:bodyPr>
            <a:normAutofit/>
          </a:bodyPr>
          <a:lstStyle/>
          <a:p>
            <a:pPr algn="just"/>
            <a:r>
              <a:rPr lang="es-CO" sz="2500" dirty="0" smtClean="0"/>
              <a:t>Suponga que algunos municipios del país encontraron petróleo de manera inesperada.</a:t>
            </a:r>
          </a:p>
          <a:p>
            <a:pPr algn="just"/>
            <a:endParaRPr lang="es-CO" sz="2500" dirty="0" smtClean="0"/>
          </a:p>
          <a:p>
            <a:pPr algn="just"/>
            <a:endParaRPr lang="es-CO" sz="2500" dirty="0" smtClean="0"/>
          </a:p>
          <a:p>
            <a:pPr algn="just"/>
            <a:endParaRPr lang="es-CO" sz="2500" dirty="0" smtClean="0"/>
          </a:p>
          <a:p>
            <a:pPr algn="just"/>
            <a:r>
              <a:rPr lang="es-CO" sz="2500" dirty="0" smtClean="0"/>
              <a:t>Ahora el gobierno expide un decreto según el cual el municipio con un crecimiento de sus ingresos mayor a </a:t>
            </a:r>
            <a:r>
              <a:rPr lang="es-CO" sz="2500" i="1" dirty="0" smtClean="0"/>
              <a:t>x% </a:t>
            </a:r>
            <a:r>
              <a:rPr lang="es-CO" sz="2500" dirty="0" smtClean="0"/>
              <a:t>debe destinar un punto porcentual de éste a programas de infancia temprana, en particular a </a:t>
            </a:r>
            <a:r>
              <a:rPr lang="es-CO" sz="2500" i="1" dirty="0" smtClean="0"/>
              <a:t>Canasta.</a:t>
            </a:r>
          </a:p>
          <a:p>
            <a:pPr algn="just">
              <a:buNone/>
            </a:pPr>
            <a:r>
              <a:rPr lang="es-CO" sz="2500" dirty="0" smtClean="0"/>
              <a:t>	</a:t>
            </a:r>
            <a:endParaRPr lang="es-ES" sz="2500" dirty="0"/>
          </a:p>
        </p:txBody>
      </p:sp>
      <p:pic>
        <p:nvPicPr>
          <p:cNvPr id="4" name="Picture 1"/>
          <p:cNvPicPr>
            <a:picLocks noChangeAspect="1" noChangeArrowheads="1"/>
          </p:cNvPicPr>
          <p:nvPr/>
        </p:nvPicPr>
        <p:blipFill>
          <a:blip r:embed="rId2" cstate="print"/>
          <a:srcRect/>
          <a:stretch>
            <a:fillRect/>
          </a:stretch>
        </p:blipFill>
        <p:spPr bwMode="auto">
          <a:xfrm>
            <a:off x="-32" y="-24"/>
            <a:ext cx="2214546" cy="1053379"/>
          </a:xfrm>
          <a:prstGeom prst="rect">
            <a:avLst/>
          </a:prstGeom>
          <a:noFill/>
          <a:ln w="9525">
            <a:noFill/>
            <a:miter lim="800000"/>
            <a:headEnd/>
            <a:tailEnd/>
          </a:ln>
          <a:effectLst/>
        </p:spPr>
      </p:pic>
      <p:sp>
        <p:nvSpPr>
          <p:cNvPr id="5" name="1 Título"/>
          <p:cNvSpPr>
            <a:spLocks noGrp="1"/>
          </p:cNvSpPr>
          <p:nvPr>
            <p:ph type="title"/>
          </p:nvPr>
        </p:nvSpPr>
        <p:spPr>
          <a:xfrm>
            <a:off x="2000232" y="71414"/>
            <a:ext cx="6929486" cy="1285860"/>
          </a:xfrm>
        </p:spPr>
        <p:txBody>
          <a:bodyPr>
            <a:noAutofit/>
          </a:bodyPr>
          <a:lstStyle/>
          <a:p>
            <a:r>
              <a:rPr lang="es-CO" sz="4200" u="sng" dirty="0" smtClean="0"/>
              <a:t>Ejemplo 2. </a:t>
            </a:r>
            <a:r>
              <a:rPr lang="es-CO" sz="4200" i="1" u="sng" dirty="0" smtClean="0"/>
              <a:t>Canasta </a:t>
            </a:r>
            <a:br>
              <a:rPr lang="es-CO" sz="4200" i="1" u="sng" dirty="0" smtClean="0"/>
            </a:br>
            <a:r>
              <a:rPr lang="es-CO" sz="4200" i="1" u="sng" dirty="0" smtClean="0"/>
              <a:t>“</a:t>
            </a:r>
            <a:r>
              <a:rPr lang="es-CO" sz="4200" u="sng" dirty="0" smtClean="0"/>
              <a:t>Hallazgo de petróleo”</a:t>
            </a:r>
            <a:endParaRPr lang="es-ES" sz="4200" u="sng" dirty="0"/>
          </a:p>
        </p:txBody>
      </p:sp>
      <p:cxnSp>
        <p:nvCxnSpPr>
          <p:cNvPr id="9" name="8 Conector recto de flecha"/>
          <p:cNvCxnSpPr/>
          <p:nvPr/>
        </p:nvCxnSpPr>
        <p:spPr>
          <a:xfrm rot="5400000">
            <a:off x="4429124" y="2785264"/>
            <a:ext cx="428628"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10" name="9 CuadroTexto"/>
          <p:cNvSpPr txBox="1"/>
          <p:nvPr/>
        </p:nvSpPr>
        <p:spPr>
          <a:xfrm>
            <a:off x="1357290" y="3000372"/>
            <a:ext cx="6681957" cy="477054"/>
          </a:xfrm>
          <a:prstGeom prst="rect">
            <a:avLst/>
          </a:prstGeom>
          <a:noFill/>
        </p:spPr>
        <p:txBody>
          <a:bodyPr wrap="none" rtlCol="0">
            <a:spAutoFit/>
          </a:bodyPr>
          <a:lstStyle/>
          <a:p>
            <a:r>
              <a:rPr lang="es-CO" sz="2500" dirty="0" smtClean="0"/>
              <a:t>Aumento en los ingresos municipales por regalías.</a:t>
            </a:r>
            <a:endParaRPr lang="es-ES" sz="2500" dirty="0"/>
          </a:p>
        </p:txBody>
      </p:sp>
      <p:sp>
        <p:nvSpPr>
          <p:cNvPr id="8" name="7 Rectángulo"/>
          <p:cNvSpPr/>
          <p:nvPr/>
        </p:nvSpPr>
        <p:spPr>
          <a:xfrm>
            <a:off x="0" y="6534859"/>
            <a:ext cx="9215470" cy="292388"/>
          </a:xfrm>
          <a:prstGeom prst="rect">
            <a:avLst/>
          </a:prstGeom>
        </p:spPr>
        <p:txBody>
          <a:bodyPr wrap="square">
            <a:spAutoFit/>
          </a:bodyPr>
          <a:lstStyle/>
          <a:p>
            <a:pPr marL="3175" lvl="1" algn="ctr"/>
            <a:r>
              <a:rPr lang="es-MX" sz="1300" smtClean="0">
                <a:solidFill>
                  <a:schemeClr val="tx1">
                    <a:lumMod val="50000"/>
                    <a:lumOff val="50000"/>
                  </a:schemeClr>
                </a:solidFill>
              </a:rPr>
              <a:t>Guía práctica para la evaluación de impacto /</a:t>
            </a:r>
            <a:r>
              <a:rPr lang="es-CO" sz="1300" smtClean="0">
                <a:solidFill>
                  <a:schemeClr val="tx1">
                    <a:lumMod val="50000"/>
                    <a:lumOff val="50000"/>
                  </a:schemeClr>
                </a:solidFill>
              </a:rPr>
              <a:t>Capítulo </a:t>
            </a:r>
            <a:r>
              <a:rPr lang="es-CO" sz="1300" dirty="0" smtClean="0">
                <a:solidFill>
                  <a:schemeClr val="tx1">
                    <a:lumMod val="50000"/>
                    <a:lumOff val="50000"/>
                  </a:schemeClr>
                </a:solidFill>
              </a:rPr>
              <a:t>5: Experimentos Naturales o cuasi Experimentos/5</a:t>
            </a:r>
            <a:endParaRPr lang="es-ES" sz="1300" dirty="0">
              <a:solidFill>
                <a:schemeClr val="tx1">
                  <a:lumMod val="50000"/>
                  <a:lumOff val="50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600200"/>
            <a:ext cx="8258204" cy="4686320"/>
          </a:xfrm>
          <a:ln w="28575">
            <a:solidFill>
              <a:schemeClr val="accent1">
                <a:lumMod val="75000"/>
              </a:schemeClr>
            </a:solidFill>
          </a:ln>
        </p:spPr>
        <p:txBody>
          <a:bodyPr>
            <a:normAutofit lnSpcReduction="10000"/>
          </a:bodyPr>
          <a:lstStyle/>
          <a:p>
            <a:pPr algn="just"/>
            <a:endParaRPr lang="es-CO" sz="2500" dirty="0" smtClean="0"/>
          </a:p>
          <a:p>
            <a:r>
              <a:rPr lang="es-CO" sz="2500" dirty="0" smtClean="0"/>
              <a:t>En este caso, no se exigirá a los beneficiarios que apliquen o asistan a control médico, sino que la oficina administradora del programa se encarga de entregarlo.</a:t>
            </a:r>
          </a:p>
          <a:p>
            <a:pPr algn="just"/>
            <a:endParaRPr lang="es-CO" sz="2500" dirty="0" smtClean="0"/>
          </a:p>
          <a:p>
            <a:pPr algn="just"/>
            <a:r>
              <a:rPr lang="es-CO" sz="2500" dirty="0" smtClean="0"/>
              <a:t>El hallazgo de petróleo no está correlacionado con: </a:t>
            </a:r>
          </a:p>
          <a:p>
            <a:pPr algn="just">
              <a:buNone/>
            </a:pPr>
            <a:r>
              <a:rPr lang="es-CO" sz="2500" dirty="0" smtClean="0"/>
              <a:t>	1. La decisión de participar en el programa.</a:t>
            </a:r>
          </a:p>
          <a:p>
            <a:pPr algn="just">
              <a:buNone/>
            </a:pPr>
            <a:r>
              <a:rPr lang="es-CO" sz="2500" dirty="0" smtClean="0"/>
              <a:t>	2. Los indicadores nutricionales.</a:t>
            </a:r>
          </a:p>
          <a:p>
            <a:pPr algn="just"/>
            <a:endParaRPr lang="es-CO" sz="2500" dirty="0" smtClean="0"/>
          </a:p>
          <a:p>
            <a:r>
              <a:rPr lang="es-CO" sz="2500" b="1" u="sng" dirty="0" smtClean="0"/>
              <a:t>El experimento natural</a:t>
            </a:r>
            <a:r>
              <a:rPr lang="es-CO" sz="2500" u="sng" dirty="0" smtClean="0"/>
              <a:t>:</a:t>
            </a:r>
            <a:r>
              <a:rPr lang="es-CO" sz="2500" dirty="0" smtClean="0"/>
              <a:t> Compara municipios que encontraron petróleo con los que no lo hicieron.</a:t>
            </a:r>
            <a:endParaRPr lang="es-ES" sz="2500" dirty="0"/>
          </a:p>
        </p:txBody>
      </p:sp>
      <p:pic>
        <p:nvPicPr>
          <p:cNvPr id="4" name="Picture 1"/>
          <p:cNvPicPr>
            <a:picLocks noChangeAspect="1" noChangeArrowheads="1"/>
          </p:cNvPicPr>
          <p:nvPr/>
        </p:nvPicPr>
        <p:blipFill>
          <a:blip r:embed="rId2" cstate="print"/>
          <a:srcRect/>
          <a:stretch>
            <a:fillRect/>
          </a:stretch>
        </p:blipFill>
        <p:spPr bwMode="auto">
          <a:xfrm>
            <a:off x="-32" y="-24"/>
            <a:ext cx="2214546" cy="1053379"/>
          </a:xfrm>
          <a:prstGeom prst="rect">
            <a:avLst/>
          </a:prstGeom>
          <a:noFill/>
          <a:ln w="9525">
            <a:noFill/>
            <a:miter lim="800000"/>
            <a:headEnd/>
            <a:tailEnd/>
          </a:ln>
          <a:effectLst/>
        </p:spPr>
      </p:pic>
      <p:sp>
        <p:nvSpPr>
          <p:cNvPr id="6" name="1 Título"/>
          <p:cNvSpPr>
            <a:spLocks noGrp="1"/>
          </p:cNvSpPr>
          <p:nvPr>
            <p:ph type="title"/>
          </p:nvPr>
        </p:nvSpPr>
        <p:spPr>
          <a:xfrm>
            <a:off x="1557374" y="274638"/>
            <a:ext cx="7372344" cy="1011222"/>
          </a:xfrm>
        </p:spPr>
        <p:txBody>
          <a:bodyPr>
            <a:noAutofit/>
          </a:bodyPr>
          <a:lstStyle/>
          <a:p>
            <a:r>
              <a:rPr lang="es-CO" sz="4200" u="sng" dirty="0" smtClean="0"/>
              <a:t>Ejemplo 2. </a:t>
            </a:r>
            <a:r>
              <a:rPr lang="es-CO" sz="4200" i="1" u="sng" dirty="0" smtClean="0"/>
              <a:t>Canasta </a:t>
            </a:r>
            <a:br>
              <a:rPr lang="es-CO" sz="4200" i="1" u="sng" dirty="0" smtClean="0"/>
            </a:br>
            <a:r>
              <a:rPr lang="es-CO" sz="4200" i="1" u="sng" dirty="0" smtClean="0"/>
              <a:t>“</a:t>
            </a:r>
            <a:r>
              <a:rPr lang="es-CO" sz="4200" u="sng" dirty="0" smtClean="0"/>
              <a:t>Experimento natural”</a:t>
            </a:r>
            <a:endParaRPr lang="es-ES" sz="4200" u="sng" dirty="0"/>
          </a:p>
        </p:txBody>
      </p:sp>
      <p:sp>
        <p:nvSpPr>
          <p:cNvPr id="5" name="4 Rectángulo"/>
          <p:cNvSpPr/>
          <p:nvPr/>
        </p:nvSpPr>
        <p:spPr>
          <a:xfrm>
            <a:off x="0" y="6534859"/>
            <a:ext cx="9215470" cy="292388"/>
          </a:xfrm>
          <a:prstGeom prst="rect">
            <a:avLst/>
          </a:prstGeom>
        </p:spPr>
        <p:txBody>
          <a:bodyPr wrap="square">
            <a:spAutoFit/>
          </a:bodyPr>
          <a:lstStyle/>
          <a:p>
            <a:pPr marL="3175" lvl="1" algn="ctr"/>
            <a:r>
              <a:rPr lang="es-MX" sz="1300" smtClean="0">
                <a:solidFill>
                  <a:schemeClr val="tx1">
                    <a:lumMod val="50000"/>
                    <a:lumOff val="50000"/>
                  </a:schemeClr>
                </a:solidFill>
              </a:rPr>
              <a:t>Guía práctica para la evaluación de impacto /</a:t>
            </a:r>
            <a:r>
              <a:rPr lang="es-CO" sz="1300" smtClean="0">
                <a:solidFill>
                  <a:schemeClr val="tx1">
                    <a:lumMod val="50000"/>
                    <a:lumOff val="50000"/>
                  </a:schemeClr>
                </a:solidFill>
              </a:rPr>
              <a:t>Capítulo </a:t>
            </a:r>
            <a:r>
              <a:rPr lang="es-CO" sz="1300" dirty="0" smtClean="0">
                <a:solidFill>
                  <a:schemeClr val="tx1">
                    <a:lumMod val="50000"/>
                    <a:lumOff val="50000"/>
                  </a:schemeClr>
                </a:solidFill>
              </a:rPr>
              <a:t>5: Experimentos Naturales o cuasi Experimentos/6</a:t>
            </a:r>
            <a:endParaRPr lang="es-ES" sz="1300" dirty="0">
              <a:solidFill>
                <a:schemeClr val="tx1">
                  <a:lumMod val="50000"/>
                  <a:lumOff val="50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a:bodyPr>
          <a:lstStyle/>
          <a:p>
            <a:pPr marL="514350" indent="-514350">
              <a:buNone/>
            </a:pPr>
            <a:endParaRPr lang="es-ES_tradnl" sz="2500" dirty="0"/>
          </a:p>
          <a:p>
            <a:pPr marL="514350" indent="-514350">
              <a:buFont typeface="+mj-lt"/>
              <a:buAutoNum type="arabicPeriod"/>
            </a:pPr>
            <a:r>
              <a:rPr lang="es-ES_tradnl" sz="2500" dirty="0" smtClean="0"/>
              <a:t>Experimentos naturales en los que una variación aleatoria exógena (evento fortuito) genera una asignación </a:t>
            </a:r>
            <a:r>
              <a:rPr lang="es-ES_tradnl" sz="2500" u="sng" dirty="0" smtClean="0"/>
              <a:t>totalmente</a:t>
            </a:r>
            <a:r>
              <a:rPr lang="es-ES_tradnl" sz="2500" dirty="0" smtClean="0"/>
              <a:t> aleatoria del tratamiento.</a:t>
            </a:r>
          </a:p>
          <a:p>
            <a:pPr marL="514350" indent="-514350">
              <a:buFont typeface="+mj-lt"/>
              <a:buAutoNum type="arabicPeriod"/>
            </a:pPr>
            <a:endParaRPr lang="es-ES_tradnl" sz="2500" dirty="0" smtClean="0"/>
          </a:p>
          <a:p>
            <a:pPr marL="514350" indent="-514350">
              <a:buFont typeface="+mj-lt"/>
              <a:buAutoNum type="arabicPeriod"/>
            </a:pPr>
            <a:r>
              <a:rPr lang="es-ES_tradnl" sz="2500" dirty="0" smtClean="0"/>
              <a:t>Experimentos naturales en los que una variación aleatoria exógena determina </a:t>
            </a:r>
            <a:r>
              <a:rPr lang="es-ES_tradnl" sz="2500" u="sng" dirty="0" smtClean="0"/>
              <a:t>parcialmente</a:t>
            </a:r>
            <a:r>
              <a:rPr lang="es-ES_tradnl" sz="2500" dirty="0" smtClean="0"/>
              <a:t> la asignación del tratamiento.</a:t>
            </a:r>
            <a:endParaRPr lang="es-ES" sz="2500" dirty="0"/>
          </a:p>
        </p:txBody>
      </p:sp>
      <p:pic>
        <p:nvPicPr>
          <p:cNvPr id="4" name="Picture 1"/>
          <p:cNvPicPr>
            <a:picLocks noChangeAspect="1" noChangeArrowheads="1"/>
          </p:cNvPicPr>
          <p:nvPr/>
        </p:nvPicPr>
        <p:blipFill>
          <a:blip r:embed="rId2" cstate="print"/>
          <a:srcRect/>
          <a:stretch>
            <a:fillRect/>
          </a:stretch>
        </p:blipFill>
        <p:spPr bwMode="auto">
          <a:xfrm>
            <a:off x="0" y="0"/>
            <a:ext cx="2214546" cy="1053379"/>
          </a:xfrm>
          <a:prstGeom prst="rect">
            <a:avLst/>
          </a:prstGeom>
          <a:noFill/>
          <a:ln w="9525">
            <a:noFill/>
            <a:miter lim="800000"/>
            <a:headEnd/>
            <a:tailEnd/>
          </a:ln>
          <a:effectLst/>
        </p:spPr>
      </p:pic>
      <p:sp>
        <p:nvSpPr>
          <p:cNvPr id="5" name="1 Título"/>
          <p:cNvSpPr>
            <a:spLocks noGrp="1"/>
          </p:cNvSpPr>
          <p:nvPr>
            <p:ph type="title"/>
          </p:nvPr>
        </p:nvSpPr>
        <p:spPr>
          <a:xfrm>
            <a:off x="2357422" y="214290"/>
            <a:ext cx="6572296" cy="1214446"/>
          </a:xfrm>
        </p:spPr>
        <p:txBody>
          <a:bodyPr>
            <a:noAutofit/>
          </a:bodyPr>
          <a:lstStyle/>
          <a:p>
            <a:r>
              <a:rPr lang="es-ES_tradnl" sz="4200" u="sng" dirty="0" smtClean="0"/>
              <a:t>Tipos de experimentos naturales</a:t>
            </a:r>
            <a:endParaRPr lang="es-ES" sz="4200" u="sng" dirty="0"/>
          </a:p>
        </p:txBody>
      </p:sp>
      <p:sp>
        <p:nvSpPr>
          <p:cNvPr id="6" name="5 Rectángulo"/>
          <p:cNvSpPr/>
          <p:nvPr/>
        </p:nvSpPr>
        <p:spPr>
          <a:xfrm>
            <a:off x="0" y="6534859"/>
            <a:ext cx="9215470" cy="292388"/>
          </a:xfrm>
          <a:prstGeom prst="rect">
            <a:avLst/>
          </a:prstGeom>
        </p:spPr>
        <p:txBody>
          <a:bodyPr wrap="square">
            <a:spAutoFit/>
          </a:bodyPr>
          <a:lstStyle/>
          <a:p>
            <a:pPr marL="3175" lvl="1" algn="ctr"/>
            <a:r>
              <a:rPr lang="es-MX" sz="1300" smtClean="0">
                <a:solidFill>
                  <a:schemeClr val="tx1">
                    <a:lumMod val="50000"/>
                    <a:lumOff val="50000"/>
                  </a:schemeClr>
                </a:solidFill>
              </a:rPr>
              <a:t>Guía práctica para la evaluación de impacto /</a:t>
            </a:r>
            <a:r>
              <a:rPr lang="es-CO" sz="1300" smtClean="0">
                <a:solidFill>
                  <a:schemeClr val="tx1">
                    <a:lumMod val="50000"/>
                    <a:lumOff val="50000"/>
                  </a:schemeClr>
                </a:solidFill>
              </a:rPr>
              <a:t>Capítulo </a:t>
            </a:r>
            <a:r>
              <a:rPr lang="es-CO" sz="1300" dirty="0" smtClean="0">
                <a:solidFill>
                  <a:schemeClr val="tx1">
                    <a:lumMod val="50000"/>
                    <a:lumOff val="50000"/>
                  </a:schemeClr>
                </a:solidFill>
              </a:rPr>
              <a:t>5: Experimentos Naturales o cuasi Experimentos/7</a:t>
            </a:r>
            <a:endParaRPr lang="es-ES" sz="1300" dirty="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p>
            <a:pPr>
              <a:buNone/>
            </a:pPr>
            <a:endParaRPr lang="es-CO" sz="2500" dirty="0" smtClean="0"/>
          </a:p>
          <a:p>
            <a:pPr>
              <a:buNone/>
            </a:pPr>
            <a:r>
              <a:rPr lang="es-CO" sz="2500" dirty="0" smtClean="0"/>
              <a:t>	Cuando la asignación es completamente aleatoria.	</a:t>
            </a:r>
          </a:p>
          <a:p>
            <a:pPr>
              <a:buNone/>
            </a:pPr>
            <a:r>
              <a:rPr lang="es-CO" sz="2500" dirty="0" smtClean="0"/>
              <a:t>	</a:t>
            </a:r>
          </a:p>
          <a:p>
            <a:pPr>
              <a:buNone/>
            </a:pPr>
            <a:r>
              <a:rPr lang="es-CO" sz="2500" dirty="0" smtClean="0"/>
              <a:t>	</a:t>
            </a:r>
          </a:p>
          <a:p>
            <a:pPr>
              <a:buNone/>
            </a:pPr>
            <a:r>
              <a:rPr lang="es-CO" sz="2500" dirty="0" smtClean="0"/>
              <a:t>	El efecto se </a:t>
            </a:r>
          </a:p>
          <a:p>
            <a:pPr>
              <a:buNone/>
            </a:pPr>
            <a:r>
              <a:rPr lang="es-CO" sz="2500" dirty="0" smtClean="0"/>
              <a:t>	puede </a:t>
            </a:r>
          </a:p>
          <a:p>
            <a:pPr>
              <a:buNone/>
            </a:pPr>
            <a:r>
              <a:rPr lang="es-CO" sz="2500" dirty="0" smtClean="0"/>
              <a:t>	estimar por:</a:t>
            </a:r>
          </a:p>
        </p:txBody>
      </p:sp>
      <p:pic>
        <p:nvPicPr>
          <p:cNvPr id="4" name="Picture 1"/>
          <p:cNvPicPr>
            <a:picLocks noChangeAspect="1" noChangeArrowheads="1"/>
          </p:cNvPicPr>
          <p:nvPr/>
        </p:nvPicPr>
        <p:blipFill>
          <a:blip r:embed="rId2" cstate="print"/>
          <a:srcRect/>
          <a:stretch>
            <a:fillRect/>
          </a:stretch>
        </p:blipFill>
        <p:spPr bwMode="auto">
          <a:xfrm>
            <a:off x="0" y="0"/>
            <a:ext cx="2214546" cy="1053379"/>
          </a:xfrm>
          <a:prstGeom prst="rect">
            <a:avLst/>
          </a:prstGeom>
          <a:noFill/>
          <a:ln w="9525">
            <a:noFill/>
            <a:miter lim="800000"/>
            <a:headEnd/>
            <a:tailEnd/>
          </a:ln>
          <a:effectLst/>
        </p:spPr>
      </p:pic>
      <p:sp>
        <p:nvSpPr>
          <p:cNvPr id="5" name="1 Título"/>
          <p:cNvSpPr>
            <a:spLocks noGrp="1"/>
          </p:cNvSpPr>
          <p:nvPr>
            <p:ph type="title"/>
          </p:nvPr>
        </p:nvSpPr>
        <p:spPr>
          <a:xfrm>
            <a:off x="2357422" y="214290"/>
            <a:ext cx="6572296" cy="1214446"/>
          </a:xfrm>
        </p:spPr>
        <p:txBody>
          <a:bodyPr>
            <a:noAutofit/>
          </a:bodyPr>
          <a:lstStyle/>
          <a:p>
            <a:r>
              <a:rPr lang="es-ES_tradnl" sz="4200" u="sng" dirty="0" smtClean="0"/>
              <a:t>Tipo 1</a:t>
            </a:r>
            <a:endParaRPr lang="es-ES" sz="4200" u="sng" dirty="0"/>
          </a:p>
        </p:txBody>
      </p:sp>
      <p:sp>
        <p:nvSpPr>
          <p:cNvPr id="7" name="6 Abrir llave"/>
          <p:cNvSpPr/>
          <p:nvPr/>
        </p:nvSpPr>
        <p:spPr>
          <a:xfrm>
            <a:off x="3000364" y="2928934"/>
            <a:ext cx="357190" cy="2714644"/>
          </a:xfrm>
          <a:prstGeom prst="leftBrac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dirty="0"/>
          </a:p>
        </p:txBody>
      </p:sp>
      <p:sp>
        <p:nvSpPr>
          <p:cNvPr id="8" name="7 CuadroTexto"/>
          <p:cNvSpPr txBox="1"/>
          <p:nvPr/>
        </p:nvSpPr>
        <p:spPr>
          <a:xfrm>
            <a:off x="3214678" y="3028607"/>
            <a:ext cx="5857884" cy="2400657"/>
          </a:xfrm>
          <a:prstGeom prst="rect">
            <a:avLst/>
          </a:prstGeom>
          <a:noFill/>
        </p:spPr>
        <p:txBody>
          <a:bodyPr wrap="square" rtlCol="0">
            <a:spAutoFit/>
          </a:bodyPr>
          <a:lstStyle/>
          <a:p>
            <a:r>
              <a:rPr lang="es-CO" sz="2500" dirty="0" smtClean="0"/>
              <a:t>Modelo de diferencias.</a:t>
            </a:r>
          </a:p>
          <a:p>
            <a:endParaRPr lang="es-CO" sz="2500" dirty="0" smtClean="0"/>
          </a:p>
          <a:p>
            <a:r>
              <a:rPr lang="es-CO" sz="2500" dirty="0" smtClean="0"/>
              <a:t>Modelo de diferencias ampliado.</a:t>
            </a:r>
          </a:p>
          <a:p>
            <a:endParaRPr lang="es-CO" sz="2500" dirty="0" smtClean="0"/>
          </a:p>
          <a:p>
            <a:r>
              <a:rPr lang="es-CO" sz="2500" dirty="0" smtClean="0"/>
              <a:t>Modelo de diferencias en diferencias </a:t>
            </a:r>
          </a:p>
          <a:p>
            <a:r>
              <a:rPr lang="es-CO" sz="2500" dirty="0" smtClean="0"/>
              <a:t>(éste también aplica en el tipo 2).</a:t>
            </a:r>
            <a:endParaRPr lang="es-ES" sz="2500" dirty="0"/>
          </a:p>
        </p:txBody>
      </p:sp>
      <p:sp>
        <p:nvSpPr>
          <p:cNvPr id="10" name="9 Rectángulo"/>
          <p:cNvSpPr/>
          <p:nvPr/>
        </p:nvSpPr>
        <p:spPr>
          <a:xfrm>
            <a:off x="0" y="6534859"/>
            <a:ext cx="9215470" cy="292388"/>
          </a:xfrm>
          <a:prstGeom prst="rect">
            <a:avLst/>
          </a:prstGeom>
        </p:spPr>
        <p:txBody>
          <a:bodyPr wrap="square">
            <a:spAutoFit/>
          </a:bodyPr>
          <a:lstStyle/>
          <a:p>
            <a:pPr marL="3175" lvl="1" algn="ctr"/>
            <a:r>
              <a:rPr lang="es-MX" sz="1300" smtClean="0">
                <a:solidFill>
                  <a:schemeClr val="tx1">
                    <a:lumMod val="50000"/>
                    <a:lumOff val="50000"/>
                  </a:schemeClr>
                </a:solidFill>
              </a:rPr>
              <a:t>Guía práctica para la evaluación de impacto /</a:t>
            </a:r>
            <a:r>
              <a:rPr lang="es-CO" sz="1300" smtClean="0">
                <a:solidFill>
                  <a:schemeClr val="tx1">
                    <a:lumMod val="50000"/>
                    <a:lumOff val="50000"/>
                  </a:schemeClr>
                </a:solidFill>
              </a:rPr>
              <a:t>Capítulo </a:t>
            </a:r>
            <a:r>
              <a:rPr lang="es-CO" sz="1300" dirty="0" smtClean="0">
                <a:solidFill>
                  <a:schemeClr val="tx1">
                    <a:lumMod val="50000"/>
                    <a:lumOff val="50000"/>
                  </a:schemeClr>
                </a:solidFill>
              </a:rPr>
              <a:t>5: Experimentos Naturales o cuasi Experimentos/8</a:t>
            </a:r>
            <a:endParaRPr lang="es-ES" sz="1300" dirty="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a:bodyPr>
          <a:lstStyle/>
          <a:p>
            <a:pPr algn="just">
              <a:buNone/>
            </a:pPr>
            <a:r>
              <a:rPr lang="es-CO" sz="2500" dirty="0" smtClean="0"/>
              <a:t>	</a:t>
            </a:r>
          </a:p>
          <a:p>
            <a:pPr algn="just">
              <a:buNone/>
            </a:pPr>
            <a:r>
              <a:rPr lang="es-CO" sz="2500" dirty="0" smtClean="0"/>
              <a:t>	</a:t>
            </a:r>
          </a:p>
          <a:p>
            <a:pPr algn="just">
              <a:buNone/>
            </a:pPr>
            <a:r>
              <a:rPr lang="es-CO" sz="2500" dirty="0" smtClean="0"/>
              <a:t>	</a:t>
            </a:r>
          </a:p>
          <a:p>
            <a:pPr algn="just">
              <a:buNone/>
            </a:pPr>
            <a:r>
              <a:rPr lang="es-CO" sz="2500" dirty="0" smtClean="0"/>
              <a:t>	</a:t>
            </a:r>
            <a:endParaRPr lang="es-ES" sz="2500" dirty="0"/>
          </a:p>
        </p:txBody>
      </p:sp>
      <p:pic>
        <p:nvPicPr>
          <p:cNvPr id="5" name="Picture 1"/>
          <p:cNvPicPr>
            <a:picLocks noChangeAspect="1" noChangeArrowheads="1"/>
          </p:cNvPicPr>
          <p:nvPr/>
        </p:nvPicPr>
        <p:blipFill>
          <a:blip r:embed="rId3" cstate="print"/>
          <a:srcRect/>
          <a:stretch>
            <a:fillRect/>
          </a:stretch>
        </p:blipFill>
        <p:spPr bwMode="auto">
          <a:xfrm>
            <a:off x="0" y="0"/>
            <a:ext cx="2214546" cy="1053379"/>
          </a:xfrm>
          <a:prstGeom prst="rect">
            <a:avLst/>
          </a:prstGeom>
          <a:noFill/>
          <a:ln w="9525">
            <a:noFill/>
            <a:miter lim="800000"/>
            <a:headEnd/>
            <a:tailEnd/>
          </a:ln>
          <a:effectLst/>
        </p:spPr>
      </p:pic>
      <p:sp>
        <p:nvSpPr>
          <p:cNvPr id="6" name="1 Título"/>
          <p:cNvSpPr>
            <a:spLocks noGrp="1"/>
          </p:cNvSpPr>
          <p:nvPr>
            <p:ph type="title"/>
          </p:nvPr>
        </p:nvSpPr>
        <p:spPr>
          <a:xfrm>
            <a:off x="2571704" y="342346"/>
            <a:ext cx="6572296" cy="1214446"/>
          </a:xfrm>
        </p:spPr>
        <p:txBody>
          <a:bodyPr>
            <a:noAutofit/>
          </a:bodyPr>
          <a:lstStyle/>
          <a:p>
            <a:r>
              <a:rPr lang="es-CO" sz="4200" u="sng" dirty="0" smtClean="0"/>
              <a:t>Tipo 2: Modelo de diferencias en diferencias </a:t>
            </a:r>
            <a:br>
              <a:rPr lang="es-CO" sz="4200" u="sng" dirty="0" smtClean="0"/>
            </a:br>
            <a:r>
              <a:rPr lang="es-CO" sz="3000" u="sng" dirty="0" smtClean="0"/>
              <a:t>(</a:t>
            </a:r>
            <a:r>
              <a:rPr lang="es-CO" sz="3000" u="sng" dirty="0" err="1" smtClean="0"/>
              <a:t>Dif</a:t>
            </a:r>
            <a:r>
              <a:rPr lang="es-CO" sz="3000" u="sng" dirty="0" smtClean="0"/>
              <a:t> en </a:t>
            </a:r>
            <a:r>
              <a:rPr lang="es-CO" sz="3000" u="sng" dirty="0" err="1" smtClean="0"/>
              <a:t>Dif</a:t>
            </a:r>
            <a:r>
              <a:rPr lang="es-CO" sz="3000" u="sng" dirty="0" smtClean="0"/>
              <a:t>)</a:t>
            </a:r>
            <a:endParaRPr lang="es-ES" sz="3000" u="sng" dirty="0"/>
          </a:p>
        </p:txBody>
      </p:sp>
      <p:sp>
        <p:nvSpPr>
          <p:cNvPr id="11" name="10 CuadroTexto"/>
          <p:cNvSpPr txBox="1"/>
          <p:nvPr/>
        </p:nvSpPr>
        <p:spPr>
          <a:xfrm>
            <a:off x="428596" y="2714620"/>
            <a:ext cx="3786214" cy="1631216"/>
          </a:xfrm>
          <a:prstGeom prst="rect">
            <a:avLst/>
          </a:prstGeom>
          <a:noFill/>
          <a:ln w="19050">
            <a:solidFill>
              <a:schemeClr val="accent1">
                <a:lumMod val="60000"/>
                <a:lumOff val="40000"/>
              </a:schemeClr>
            </a:solidFill>
          </a:ln>
        </p:spPr>
        <p:txBody>
          <a:bodyPr wrap="square" rtlCol="0">
            <a:spAutoFit/>
          </a:bodyPr>
          <a:lstStyle/>
          <a:p>
            <a:r>
              <a:rPr lang="es-CO" sz="2500" dirty="0" smtClean="0"/>
              <a:t>La aleatorización generada por el evento fortuito generalmente no es perfecta.</a:t>
            </a:r>
            <a:endParaRPr lang="es-ES" sz="2500" dirty="0"/>
          </a:p>
        </p:txBody>
      </p:sp>
      <p:sp>
        <p:nvSpPr>
          <p:cNvPr id="14" name="13 CuadroTexto"/>
          <p:cNvSpPr txBox="1"/>
          <p:nvPr/>
        </p:nvSpPr>
        <p:spPr>
          <a:xfrm>
            <a:off x="4857752" y="2571744"/>
            <a:ext cx="3786214" cy="1631216"/>
          </a:xfrm>
          <a:prstGeom prst="rect">
            <a:avLst/>
          </a:prstGeom>
          <a:noFill/>
          <a:ln w="19050">
            <a:solidFill>
              <a:schemeClr val="accent1">
                <a:lumMod val="60000"/>
                <a:lumOff val="40000"/>
              </a:schemeClr>
            </a:solidFill>
          </a:ln>
        </p:spPr>
        <p:txBody>
          <a:bodyPr wrap="square" rtlCol="0">
            <a:spAutoFit/>
          </a:bodyPr>
          <a:lstStyle/>
          <a:p>
            <a:r>
              <a:rPr lang="es-CO" sz="2500" dirty="0" smtClean="0"/>
              <a:t>Sí pueden existir diferencias sistemáticas entre el grupo de control y de tratamiento.</a:t>
            </a:r>
            <a:endParaRPr lang="es-ES" sz="2500" dirty="0"/>
          </a:p>
        </p:txBody>
      </p:sp>
      <p:sp>
        <p:nvSpPr>
          <p:cNvPr id="18" name="17 CuadroTexto"/>
          <p:cNvSpPr txBox="1"/>
          <p:nvPr/>
        </p:nvSpPr>
        <p:spPr>
          <a:xfrm>
            <a:off x="2357422" y="4897149"/>
            <a:ext cx="3643338" cy="1246495"/>
          </a:xfrm>
          <a:prstGeom prst="rect">
            <a:avLst/>
          </a:prstGeom>
          <a:noFill/>
          <a:ln>
            <a:solidFill>
              <a:schemeClr val="accent1">
                <a:lumMod val="60000"/>
                <a:lumOff val="40000"/>
              </a:schemeClr>
            </a:solidFill>
          </a:ln>
        </p:spPr>
        <p:txBody>
          <a:bodyPr wrap="square" rtlCol="0">
            <a:spAutoFit/>
          </a:bodyPr>
          <a:lstStyle/>
          <a:p>
            <a:r>
              <a:rPr lang="es-CO" sz="2500" dirty="0" smtClean="0"/>
              <a:t>Dif en Dif es una forma de controlar por estas diferencias.</a:t>
            </a:r>
            <a:endParaRPr lang="es-ES" sz="2500" dirty="0"/>
          </a:p>
        </p:txBody>
      </p:sp>
      <p:sp>
        <p:nvSpPr>
          <p:cNvPr id="21" name="20 CuadroTexto"/>
          <p:cNvSpPr txBox="1"/>
          <p:nvPr/>
        </p:nvSpPr>
        <p:spPr>
          <a:xfrm>
            <a:off x="611560" y="1943834"/>
            <a:ext cx="5103513" cy="477054"/>
          </a:xfrm>
          <a:prstGeom prst="rect">
            <a:avLst/>
          </a:prstGeom>
          <a:noFill/>
        </p:spPr>
        <p:txBody>
          <a:bodyPr wrap="none" rtlCol="0">
            <a:spAutoFit/>
          </a:bodyPr>
          <a:lstStyle/>
          <a:p>
            <a:r>
              <a:rPr lang="es-CO" sz="2500" dirty="0" smtClean="0"/>
              <a:t>En el caso de experimentos naturales:</a:t>
            </a:r>
            <a:endParaRPr lang="es-ES" sz="2500" dirty="0"/>
          </a:p>
        </p:txBody>
      </p:sp>
      <p:cxnSp>
        <p:nvCxnSpPr>
          <p:cNvPr id="33" name="32 Conector recto de flecha"/>
          <p:cNvCxnSpPr/>
          <p:nvPr/>
        </p:nvCxnSpPr>
        <p:spPr>
          <a:xfrm rot="10800000" flipV="1">
            <a:off x="6012160" y="5301208"/>
            <a:ext cx="774418" cy="0"/>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7" name="36 Conector recto"/>
          <p:cNvCxnSpPr/>
          <p:nvPr/>
        </p:nvCxnSpPr>
        <p:spPr>
          <a:xfrm rot="16200000" flipH="1">
            <a:off x="6235271" y="4744673"/>
            <a:ext cx="1083429" cy="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3" name="12 Rectángulo"/>
          <p:cNvSpPr/>
          <p:nvPr/>
        </p:nvSpPr>
        <p:spPr>
          <a:xfrm>
            <a:off x="0" y="6490211"/>
            <a:ext cx="9144000" cy="292388"/>
          </a:xfrm>
          <a:prstGeom prst="rect">
            <a:avLst/>
          </a:prstGeom>
        </p:spPr>
        <p:txBody>
          <a:bodyPr wrap="square">
            <a:spAutoFit/>
          </a:bodyPr>
          <a:lstStyle/>
          <a:p>
            <a:pPr lvl="1" algn="ctr">
              <a:tabLst>
                <a:tab pos="715963" algn="l"/>
              </a:tabLst>
            </a:pPr>
            <a:r>
              <a:rPr lang="es-MX" sz="1300" smtClean="0">
                <a:solidFill>
                  <a:schemeClr val="tx1">
                    <a:lumMod val="50000"/>
                    <a:lumOff val="50000"/>
                  </a:schemeClr>
                </a:solidFill>
              </a:rPr>
              <a:t>Guía práctica para la evaluación de impacto /</a:t>
            </a:r>
            <a:r>
              <a:rPr lang="es-CO" sz="1300" smtClean="0">
                <a:solidFill>
                  <a:schemeClr val="tx1">
                    <a:lumMod val="50000"/>
                    <a:lumOff val="50000"/>
                  </a:schemeClr>
                </a:solidFill>
              </a:rPr>
              <a:t>Capítulo </a:t>
            </a:r>
            <a:r>
              <a:rPr lang="es-CO" sz="1300" dirty="0" smtClean="0">
                <a:solidFill>
                  <a:schemeClr val="tx1">
                    <a:lumMod val="50000"/>
                    <a:lumOff val="50000"/>
                  </a:schemeClr>
                </a:solidFill>
              </a:rPr>
              <a:t>5: Experimentos Naturales o cuasi Experimentos/9</a:t>
            </a:r>
            <a:endParaRPr lang="es-ES" sz="1300" dirty="0">
              <a:solidFill>
                <a:schemeClr val="tx1">
                  <a:lumMod val="50000"/>
                  <a:lumOff val="50000"/>
                </a:schemeClr>
              </a:solidFill>
            </a:endParaRPr>
          </a:p>
        </p:txBody>
      </p:sp>
      <p:sp>
        <p:nvSpPr>
          <p:cNvPr id="3686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cxnSp>
        <p:nvCxnSpPr>
          <p:cNvPr id="4" name="3 Conector recto de flecha"/>
          <p:cNvCxnSpPr/>
          <p:nvPr/>
        </p:nvCxnSpPr>
        <p:spPr>
          <a:xfrm>
            <a:off x="4323805" y="3530228"/>
            <a:ext cx="468632" cy="0"/>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214422"/>
            <a:ext cx="8229600" cy="4911741"/>
          </a:xfrm>
        </p:spPr>
        <p:txBody>
          <a:bodyPr/>
          <a:lstStyle/>
          <a:p>
            <a:pPr>
              <a:buNone/>
            </a:pPr>
            <a:r>
              <a:rPr lang="es-ES" dirty="0" smtClean="0"/>
              <a:t>Definamos: </a:t>
            </a:r>
          </a:p>
          <a:p>
            <a:pPr lvl="1">
              <a:buNone/>
            </a:pPr>
            <a:endParaRPr lang="es-AR" dirty="0"/>
          </a:p>
        </p:txBody>
      </p:sp>
      <p:pic>
        <p:nvPicPr>
          <p:cNvPr id="4" name="Picture 1"/>
          <p:cNvPicPr>
            <a:picLocks noChangeAspect="1" noChangeArrowheads="1"/>
          </p:cNvPicPr>
          <p:nvPr/>
        </p:nvPicPr>
        <p:blipFill>
          <a:blip r:embed="rId2" cstate="print"/>
          <a:srcRect/>
          <a:stretch>
            <a:fillRect/>
          </a:stretch>
        </p:blipFill>
        <p:spPr bwMode="auto">
          <a:xfrm>
            <a:off x="0" y="0"/>
            <a:ext cx="2214546" cy="1053379"/>
          </a:xfrm>
          <a:prstGeom prst="rect">
            <a:avLst/>
          </a:prstGeom>
          <a:noFill/>
          <a:ln w="9525">
            <a:noFill/>
            <a:miter lim="800000"/>
            <a:headEnd/>
            <a:tailEnd/>
          </a:ln>
          <a:effectLst/>
        </p:spPr>
      </p:pic>
      <p:graphicFrame>
        <p:nvGraphicFramePr>
          <p:cNvPr id="8" name="7 Tabla"/>
          <p:cNvGraphicFramePr>
            <a:graphicFrameLocks noGrp="1"/>
          </p:cNvGraphicFramePr>
          <p:nvPr/>
        </p:nvGraphicFramePr>
        <p:xfrm>
          <a:off x="928662" y="2214554"/>
          <a:ext cx="6572295" cy="1357323"/>
        </p:xfrm>
        <a:graphic>
          <a:graphicData uri="http://schemas.openxmlformats.org/drawingml/2006/table">
            <a:tbl>
              <a:tblPr firstRow="1" bandRow="1">
                <a:tableStyleId>{5C22544A-7EE6-4342-B048-85BDC9FD1C3A}</a:tableStyleId>
              </a:tblPr>
              <a:tblGrid>
                <a:gridCol w="2190765"/>
                <a:gridCol w="2190765"/>
                <a:gridCol w="2190765"/>
              </a:tblGrid>
              <a:tr h="452441">
                <a:tc>
                  <a:txBody>
                    <a:bodyPr/>
                    <a:lstStyle/>
                    <a:p>
                      <a:endParaRPr lang="es-AR" dirty="0"/>
                    </a:p>
                  </a:txBody>
                  <a:tcPr/>
                </a:tc>
                <a:tc>
                  <a:txBody>
                    <a:bodyPr/>
                    <a:lstStyle/>
                    <a:p>
                      <a:pPr algn="ctr"/>
                      <a:r>
                        <a:rPr lang="es-ES" sz="2000" dirty="0" smtClean="0">
                          <a:solidFill>
                            <a:schemeClr val="tx1"/>
                          </a:solidFill>
                        </a:rPr>
                        <a:t>Tratamiento</a:t>
                      </a:r>
                      <a:endParaRPr lang="es-AR" sz="2000" dirty="0">
                        <a:solidFill>
                          <a:schemeClr val="tx1"/>
                        </a:solidFill>
                      </a:endParaRPr>
                    </a:p>
                  </a:txBody>
                  <a:tcPr/>
                </a:tc>
                <a:tc>
                  <a:txBody>
                    <a:bodyPr/>
                    <a:lstStyle/>
                    <a:p>
                      <a:pPr algn="ctr"/>
                      <a:r>
                        <a:rPr lang="es-ES" sz="2000" dirty="0" smtClean="0">
                          <a:solidFill>
                            <a:schemeClr val="tx1"/>
                          </a:solidFill>
                        </a:rPr>
                        <a:t>Control</a:t>
                      </a:r>
                      <a:endParaRPr lang="es-AR" sz="2000" dirty="0">
                        <a:solidFill>
                          <a:schemeClr val="tx1"/>
                        </a:solidFill>
                      </a:endParaRPr>
                    </a:p>
                  </a:txBody>
                  <a:tcPr/>
                </a:tc>
              </a:tr>
              <a:tr h="452441">
                <a:tc>
                  <a:txBody>
                    <a:bodyPr/>
                    <a:lstStyle/>
                    <a:p>
                      <a:endParaRPr lang="es-AR" dirty="0"/>
                    </a:p>
                  </a:txBody>
                  <a:tcPr/>
                </a:tc>
                <a:tc>
                  <a:txBody>
                    <a:bodyPr/>
                    <a:lstStyle/>
                    <a:p>
                      <a:endParaRPr lang="es-AR" dirty="0"/>
                    </a:p>
                  </a:txBody>
                  <a:tcPr/>
                </a:tc>
                <a:tc>
                  <a:txBody>
                    <a:bodyPr/>
                    <a:lstStyle/>
                    <a:p>
                      <a:endParaRPr lang="es-AR" dirty="0"/>
                    </a:p>
                  </a:txBody>
                  <a:tcPr/>
                </a:tc>
              </a:tr>
              <a:tr h="452441">
                <a:tc>
                  <a:txBody>
                    <a:bodyPr/>
                    <a:lstStyle/>
                    <a:p>
                      <a:endParaRPr lang="es-AR" dirty="0"/>
                    </a:p>
                  </a:txBody>
                  <a:tcPr/>
                </a:tc>
                <a:tc>
                  <a:txBody>
                    <a:bodyPr/>
                    <a:lstStyle/>
                    <a:p>
                      <a:endParaRPr lang="es-AR" dirty="0"/>
                    </a:p>
                  </a:txBody>
                  <a:tcPr/>
                </a:tc>
                <a:tc>
                  <a:txBody>
                    <a:bodyPr/>
                    <a:lstStyle/>
                    <a:p>
                      <a:endParaRPr lang="es-AR" dirty="0"/>
                    </a:p>
                  </a:txBody>
                  <a:tcPr/>
                </a:tc>
              </a:tr>
            </a:tbl>
          </a:graphicData>
        </a:graphic>
      </p:graphicFrame>
      <p:sp>
        <p:nvSpPr>
          <p:cNvPr id="23554"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23555" name="Rectangle 3"/>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dirty="0" smtClean="0">
              <a:ln>
                <a:noFill/>
              </a:ln>
              <a:solidFill>
                <a:schemeClr val="tx1"/>
              </a:solidFill>
              <a:effectLst/>
              <a:latin typeface="Arial" pitchFamily="34" charset="0"/>
            </a:endParaRPr>
          </a:p>
        </p:txBody>
      </p:sp>
      <p:sp>
        <p:nvSpPr>
          <p:cNvPr id="23557"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23558" name="Rectangle 6"/>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dirty="0" smtClean="0">
              <a:ln>
                <a:noFill/>
              </a:ln>
              <a:solidFill>
                <a:schemeClr val="tx1"/>
              </a:solidFill>
              <a:effectLst/>
              <a:latin typeface="Arial" pitchFamily="34" charset="0"/>
            </a:endParaRPr>
          </a:p>
        </p:txBody>
      </p:sp>
      <p:sp>
        <p:nvSpPr>
          <p:cNvPr id="23560"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23561" name="Rectangle 9"/>
          <p:cNvSpPr>
            <a:spLocks noChangeArrowheads="1"/>
          </p:cNvSpPr>
          <p:nvPr/>
        </p:nvSpPr>
        <p:spPr bwMode="auto">
          <a:xfrm>
            <a:off x="449263"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dirty="0" smtClean="0">
              <a:ln>
                <a:noFill/>
              </a:ln>
              <a:solidFill>
                <a:schemeClr val="tx1"/>
              </a:solidFill>
              <a:effectLst/>
              <a:latin typeface="Arial" pitchFamily="34" charset="0"/>
            </a:endParaRPr>
          </a:p>
        </p:txBody>
      </p:sp>
      <p:sp>
        <p:nvSpPr>
          <p:cNvPr id="23563" name="Rectangle 1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23564" name="Rectangle 12"/>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dirty="0" smtClean="0">
              <a:ln>
                <a:noFill/>
              </a:ln>
              <a:solidFill>
                <a:schemeClr val="tx1"/>
              </a:solidFill>
              <a:effectLst/>
              <a:latin typeface="Arial" pitchFamily="34" charset="0"/>
            </a:endParaRPr>
          </a:p>
        </p:txBody>
      </p:sp>
      <p:sp>
        <p:nvSpPr>
          <p:cNvPr id="23566" name="Rectangle 1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23567" name="Rectangle 15"/>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dirty="0" smtClean="0">
              <a:ln>
                <a:noFill/>
              </a:ln>
              <a:solidFill>
                <a:schemeClr val="tx1"/>
              </a:solidFill>
              <a:effectLst/>
              <a:latin typeface="Arial" pitchFamily="34" charset="0"/>
            </a:endParaRPr>
          </a:p>
        </p:txBody>
      </p:sp>
      <p:sp>
        <p:nvSpPr>
          <p:cNvPr id="23569" name="Rectangle 17"/>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23570" name="Rectangle 18"/>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dirty="0" smtClean="0">
              <a:ln>
                <a:noFill/>
              </a:ln>
              <a:solidFill>
                <a:schemeClr val="tx1"/>
              </a:solidFill>
              <a:effectLst/>
              <a:latin typeface="Arial" pitchFamily="34" charset="0"/>
            </a:endParaRPr>
          </a:p>
        </p:txBody>
      </p:sp>
      <p:sp>
        <p:nvSpPr>
          <p:cNvPr id="33" name="32 CuadroTexto"/>
          <p:cNvSpPr txBox="1"/>
          <p:nvPr/>
        </p:nvSpPr>
        <p:spPr>
          <a:xfrm>
            <a:off x="928662" y="4071942"/>
            <a:ext cx="3071834" cy="1631216"/>
          </a:xfrm>
          <a:prstGeom prst="rect">
            <a:avLst/>
          </a:prstGeom>
          <a:noFill/>
          <a:ln>
            <a:solidFill>
              <a:schemeClr val="accent1">
                <a:lumMod val="60000"/>
                <a:lumOff val="40000"/>
              </a:schemeClr>
            </a:solidFill>
          </a:ln>
        </p:spPr>
        <p:txBody>
          <a:bodyPr wrap="square" rtlCol="0">
            <a:spAutoFit/>
          </a:bodyPr>
          <a:lstStyle/>
          <a:p>
            <a:r>
              <a:rPr lang="es-ES" sz="2500" dirty="0" smtClean="0"/>
              <a:t>            : Período </a:t>
            </a:r>
            <a:r>
              <a:rPr lang="es-ES" sz="2500" u="sng" dirty="0" smtClean="0"/>
              <a:t>anterior </a:t>
            </a:r>
            <a:r>
              <a:rPr lang="es-ES" sz="2500" dirty="0" smtClean="0"/>
              <a:t>a la implementación del tratamiento.</a:t>
            </a:r>
            <a:endParaRPr lang="es-AR" sz="2500" dirty="0"/>
          </a:p>
        </p:txBody>
      </p:sp>
      <p:sp>
        <p:nvSpPr>
          <p:cNvPr id="73" name="72 CuadroTexto"/>
          <p:cNvSpPr txBox="1"/>
          <p:nvPr/>
        </p:nvSpPr>
        <p:spPr>
          <a:xfrm>
            <a:off x="4357686" y="4071942"/>
            <a:ext cx="3286148" cy="1631216"/>
          </a:xfrm>
          <a:prstGeom prst="rect">
            <a:avLst/>
          </a:prstGeom>
          <a:noFill/>
          <a:ln>
            <a:solidFill>
              <a:schemeClr val="accent1">
                <a:lumMod val="60000"/>
                <a:lumOff val="40000"/>
              </a:schemeClr>
            </a:solidFill>
          </a:ln>
        </p:spPr>
        <p:txBody>
          <a:bodyPr wrap="square" rtlCol="0">
            <a:spAutoFit/>
          </a:bodyPr>
          <a:lstStyle/>
          <a:p>
            <a:r>
              <a:rPr lang="es-ES" sz="2500" dirty="0" smtClean="0"/>
              <a:t>          : Período </a:t>
            </a:r>
            <a:r>
              <a:rPr lang="es-ES" sz="2500" u="sng" dirty="0" smtClean="0"/>
              <a:t>posterior </a:t>
            </a:r>
            <a:r>
              <a:rPr lang="es-ES" sz="2500" dirty="0" smtClean="0"/>
              <a:t>a  la implementación del tratamiento.</a:t>
            </a:r>
            <a:endParaRPr lang="es-AR" sz="2500" dirty="0"/>
          </a:p>
        </p:txBody>
      </p:sp>
      <p:sp>
        <p:nvSpPr>
          <p:cNvPr id="32" name="31 Rectángulo"/>
          <p:cNvSpPr/>
          <p:nvPr/>
        </p:nvSpPr>
        <p:spPr>
          <a:xfrm>
            <a:off x="0" y="6525344"/>
            <a:ext cx="9215470" cy="292388"/>
          </a:xfrm>
          <a:prstGeom prst="rect">
            <a:avLst/>
          </a:prstGeom>
        </p:spPr>
        <p:txBody>
          <a:bodyPr wrap="square">
            <a:spAutoFit/>
          </a:bodyPr>
          <a:lstStyle/>
          <a:p>
            <a:pPr marL="3175" lvl="1" algn="ctr"/>
            <a:r>
              <a:rPr lang="es-MX" sz="1300" smtClean="0">
                <a:solidFill>
                  <a:schemeClr val="tx1">
                    <a:lumMod val="50000"/>
                    <a:lumOff val="50000"/>
                  </a:schemeClr>
                </a:solidFill>
              </a:rPr>
              <a:t>Guía práctica para la evaluación de impacto /</a:t>
            </a:r>
            <a:r>
              <a:rPr lang="es-CO" sz="1300" smtClean="0">
                <a:solidFill>
                  <a:schemeClr val="tx1">
                    <a:lumMod val="50000"/>
                    <a:lumOff val="50000"/>
                  </a:schemeClr>
                </a:solidFill>
              </a:rPr>
              <a:t>Capítulo </a:t>
            </a:r>
            <a:r>
              <a:rPr lang="es-CO" sz="1300" dirty="0" smtClean="0">
                <a:solidFill>
                  <a:schemeClr val="tx1">
                    <a:lumMod val="50000"/>
                    <a:lumOff val="50000"/>
                  </a:schemeClr>
                </a:solidFill>
              </a:rPr>
              <a:t>5: Experimentos Naturales o cuasi Experimentos/10</a:t>
            </a:r>
            <a:endParaRPr lang="es-ES" sz="1300" dirty="0">
              <a:solidFill>
                <a:schemeClr val="tx1">
                  <a:lumMod val="50000"/>
                  <a:lumOff val="50000"/>
                </a:schemeClr>
              </a:solidFill>
            </a:endParaRPr>
          </a:p>
        </p:txBody>
      </p:sp>
      <p:sp>
        <p:nvSpPr>
          <p:cNvPr id="34" name="1 Título"/>
          <p:cNvSpPr>
            <a:spLocks noGrp="1"/>
          </p:cNvSpPr>
          <p:nvPr>
            <p:ph type="title"/>
          </p:nvPr>
        </p:nvSpPr>
        <p:spPr>
          <a:xfrm>
            <a:off x="2357422" y="214290"/>
            <a:ext cx="6572296" cy="1214446"/>
          </a:xfrm>
        </p:spPr>
        <p:txBody>
          <a:bodyPr>
            <a:noAutofit/>
          </a:bodyPr>
          <a:lstStyle/>
          <a:p>
            <a:r>
              <a:rPr lang="es-CO" sz="4200" u="sng" dirty="0" smtClean="0"/>
              <a:t>Modelo de diferencias en diferencias</a:t>
            </a:r>
            <a:endParaRPr lang="es-ES" sz="4200" u="sng" dirty="0"/>
          </a:p>
        </p:txBody>
      </p:sp>
      <mc:AlternateContent xmlns:mc="http://schemas.openxmlformats.org/markup-compatibility/2006">
        <mc:Choice xmlns="" xmlns:a14="http://schemas.microsoft.com/office/drawing/2010/main" Requires="a14">
          <p:sp>
            <p:nvSpPr>
              <p:cNvPr id="2" name="1 CuadroTexto"/>
              <p:cNvSpPr txBox="1"/>
              <p:nvPr/>
            </p:nvSpPr>
            <p:spPr>
              <a:xfrm>
                <a:off x="1647809" y="2690810"/>
                <a:ext cx="82715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s-CO" sz="2000" b="0" i="1" smtClean="0">
                          <a:latin typeface="Cambria Math"/>
                        </a:rPr>
                        <m:t>𝑡</m:t>
                      </m:r>
                      <m:r>
                        <a:rPr lang="es-CO" sz="2000" b="0" i="1" smtClean="0">
                          <a:latin typeface="Cambria Math"/>
                        </a:rPr>
                        <m:t>=1</m:t>
                      </m:r>
                    </m:oMath>
                  </m:oMathPara>
                </a14:m>
                <a:endParaRPr lang="es-CO" sz="2000" dirty="0"/>
              </a:p>
            </p:txBody>
          </p:sp>
        </mc:Choice>
        <mc:Fallback>
          <p:sp>
            <p:nvSpPr>
              <p:cNvPr id="2" name="1 CuadroTexto"/>
              <p:cNvSpPr txBox="1">
                <a:spLocks noRot="1" noChangeAspect="1" noMove="1" noResize="1" noEditPoints="1" noAdjustHandles="1" noChangeArrowheads="1" noChangeShapeType="1" noTextEdit="1"/>
              </p:cNvSpPr>
              <p:nvPr/>
            </p:nvSpPr>
            <p:spPr>
              <a:xfrm>
                <a:off x="1647809" y="2690810"/>
                <a:ext cx="827150" cy="400110"/>
              </a:xfrm>
              <a:prstGeom prst="rect">
                <a:avLst/>
              </a:prstGeom>
              <a:blipFill rotWithShape="1">
                <a:blip r:embed="rId3" cstate="print"/>
                <a:stretch>
                  <a:fillRect/>
                </a:stretch>
              </a:blipFill>
            </p:spPr>
            <p:txBody>
              <a:bodyPr/>
              <a:lstStyle/>
              <a:p>
                <a:r>
                  <a:rPr lang="es-CO">
                    <a:noFill/>
                  </a:rPr>
                  <a:t> </a:t>
                </a:r>
              </a:p>
            </p:txBody>
          </p:sp>
        </mc:Fallback>
      </mc:AlternateContent>
      <mc:AlternateContent xmlns:mc="http://schemas.openxmlformats.org/markup-compatibility/2006">
        <mc:Choice xmlns="" xmlns:a14="http://schemas.microsoft.com/office/drawing/2010/main" Requires="a14">
          <p:sp>
            <p:nvSpPr>
              <p:cNvPr id="30" name="29 CuadroTexto"/>
              <p:cNvSpPr txBox="1"/>
              <p:nvPr/>
            </p:nvSpPr>
            <p:spPr>
              <a:xfrm>
                <a:off x="1656618" y="3140968"/>
                <a:ext cx="82715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s-CO" sz="2000" b="0" i="1" smtClean="0">
                          <a:latin typeface="Cambria Math"/>
                        </a:rPr>
                        <m:t>𝑡</m:t>
                      </m:r>
                      <m:r>
                        <a:rPr lang="es-CO" sz="2000" b="0" i="1" smtClean="0">
                          <a:latin typeface="Cambria Math"/>
                        </a:rPr>
                        <m:t>=2</m:t>
                      </m:r>
                    </m:oMath>
                  </m:oMathPara>
                </a14:m>
                <a:endParaRPr lang="es-CO" sz="2000" dirty="0"/>
              </a:p>
            </p:txBody>
          </p:sp>
        </mc:Choice>
        <mc:Fallback>
          <p:sp>
            <p:nvSpPr>
              <p:cNvPr id="30" name="29 CuadroTexto"/>
              <p:cNvSpPr txBox="1">
                <a:spLocks noRot="1" noChangeAspect="1" noMove="1" noResize="1" noEditPoints="1" noAdjustHandles="1" noChangeArrowheads="1" noChangeShapeType="1" noTextEdit="1"/>
              </p:cNvSpPr>
              <p:nvPr/>
            </p:nvSpPr>
            <p:spPr>
              <a:xfrm>
                <a:off x="1656618" y="3140968"/>
                <a:ext cx="827150" cy="400110"/>
              </a:xfrm>
              <a:prstGeom prst="rect">
                <a:avLst/>
              </a:prstGeom>
              <a:blipFill rotWithShape="1">
                <a:blip r:embed="rId4" cstate="print"/>
                <a:stretch>
                  <a:fillRect/>
                </a:stretch>
              </a:blipFill>
            </p:spPr>
            <p:txBody>
              <a:bodyPr/>
              <a:lstStyle/>
              <a:p>
                <a:r>
                  <a:rPr lang="es-CO">
                    <a:noFill/>
                  </a:rPr>
                  <a:t> </a:t>
                </a:r>
              </a:p>
            </p:txBody>
          </p:sp>
        </mc:Fallback>
      </mc:AlternateContent>
      <mc:AlternateContent xmlns:mc="http://schemas.openxmlformats.org/markup-compatibility/2006">
        <mc:Choice xmlns="" xmlns:a14="http://schemas.microsoft.com/office/drawing/2010/main" Requires="a14">
          <p:sp>
            <p:nvSpPr>
              <p:cNvPr id="5" name="4 CuadroTexto"/>
              <p:cNvSpPr txBox="1"/>
              <p:nvPr/>
            </p:nvSpPr>
            <p:spPr>
              <a:xfrm>
                <a:off x="3491880" y="2668850"/>
                <a:ext cx="1268681"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s-CO" sz="2000" b="0" i="1" smtClean="0">
                              <a:latin typeface="Cambria Math"/>
                            </a:rPr>
                          </m:ctrlPr>
                        </m:sSubPr>
                        <m:e>
                          <m:r>
                            <a:rPr lang="es-CO" sz="2000" b="0" i="1" smtClean="0">
                              <a:latin typeface="Cambria Math"/>
                            </a:rPr>
                            <m:t>𝑌</m:t>
                          </m:r>
                        </m:e>
                        <m:sub>
                          <m:r>
                            <a:rPr lang="es-CO" sz="2000" b="0" i="1" smtClean="0">
                              <a:latin typeface="Cambria Math"/>
                            </a:rPr>
                            <m:t>1</m:t>
                          </m:r>
                        </m:sub>
                      </m:sSub>
                      <m:r>
                        <a:rPr lang="es-CO" sz="2000" b="0" i="1" smtClean="0">
                          <a:latin typeface="Cambria Math"/>
                        </a:rPr>
                        <m:t>| </m:t>
                      </m:r>
                      <m:r>
                        <a:rPr lang="es-CO" sz="2000" b="0" i="1" smtClean="0">
                          <a:latin typeface="Cambria Math"/>
                        </a:rPr>
                        <m:t>𝐷</m:t>
                      </m:r>
                      <m:r>
                        <a:rPr lang="es-CO" sz="2000" b="0" i="1" smtClean="0">
                          <a:latin typeface="Cambria Math"/>
                        </a:rPr>
                        <m:t>=1</m:t>
                      </m:r>
                    </m:oMath>
                  </m:oMathPara>
                </a14:m>
                <a:endParaRPr lang="es-CO" sz="2000" dirty="0"/>
              </a:p>
            </p:txBody>
          </p:sp>
        </mc:Choice>
        <mc:Fallback>
          <p:sp>
            <p:nvSpPr>
              <p:cNvPr id="5" name="4 CuadroTexto"/>
              <p:cNvSpPr txBox="1">
                <a:spLocks noRot="1" noChangeAspect="1" noMove="1" noResize="1" noEditPoints="1" noAdjustHandles="1" noChangeArrowheads="1" noChangeShapeType="1" noTextEdit="1"/>
              </p:cNvSpPr>
              <p:nvPr/>
            </p:nvSpPr>
            <p:spPr>
              <a:xfrm>
                <a:off x="3491880" y="2668850"/>
                <a:ext cx="1268681" cy="400110"/>
              </a:xfrm>
              <a:prstGeom prst="rect">
                <a:avLst/>
              </a:prstGeom>
              <a:blipFill rotWithShape="1">
                <a:blip r:embed="rId5" cstate="print"/>
                <a:stretch>
                  <a:fillRect b="-15385"/>
                </a:stretch>
              </a:blipFill>
            </p:spPr>
            <p:txBody>
              <a:bodyPr/>
              <a:lstStyle/>
              <a:p>
                <a:r>
                  <a:rPr lang="es-CO">
                    <a:noFill/>
                  </a:rPr>
                  <a:t> </a:t>
                </a:r>
              </a:p>
            </p:txBody>
          </p:sp>
        </mc:Fallback>
      </mc:AlternateContent>
      <mc:AlternateContent xmlns:mc="http://schemas.openxmlformats.org/markup-compatibility/2006">
        <mc:Choice xmlns="" xmlns:a14="http://schemas.microsoft.com/office/drawing/2010/main" Requires="a14">
          <p:sp>
            <p:nvSpPr>
              <p:cNvPr id="37" name="36 CuadroTexto"/>
              <p:cNvSpPr txBox="1"/>
              <p:nvPr/>
            </p:nvSpPr>
            <p:spPr>
              <a:xfrm>
                <a:off x="3491880" y="3172906"/>
                <a:ext cx="1274644"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s-CO" sz="2000" b="0" i="1" smtClean="0">
                              <a:latin typeface="Cambria Math"/>
                            </a:rPr>
                          </m:ctrlPr>
                        </m:sSubPr>
                        <m:e>
                          <m:r>
                            <a:rPr lang="es-CO" sz="2000" b="0" i="1" smtClean="0">
                              <a:latin typeface="Cambria Math"/>
                            </a:rPr>
                            <m:t>𝑌</m:t>
                          </m:r>
                        </m:e>
                        <m:sub>
                          <m:r>
                            <a:rPr lang="es-CO" sz="2000" b="0" i="1" smtClean="0">
                              <a:latin typeface="Cambria Math"/>
                            </a:rPr>
                            <m:t>2</m:t>
                          </m:r>
                        </m:sub>
                      </m:sSub>
                      <m:r>
                        <a:rPr lang="es-CO" sz="2000" b="0" i="1" smtClean="0">
                          <a:latin typeface="Cambria Math"/>
                        </a:rPr>
                        <m:t>| </m:t>
                      </m:r>
                      <m:r>
                        <a:rPr lang="es-CO" sz="2000" b="0" i="1" smtClean="0">
                          <a:latin typeface="Cambria Math"/>
                        </a:rPr>
                        <m:t>𝐷</m:t>
                      </m:r>
                      <m:r>
                        <a:rPr lang="es-CO" sz="2000" b="0" i="1" smtClean="0">
                          <a:latin typeface="Cambria Math"/>
                        </a:rPr>
                        <m:t>=1</m:t>
                      </m:r>
                    </m:oMath>
                  </m:oMathPara>
                </a14:m>
                <a:endParaRPr lang="es-CO" sz="2000" dirty="0"/>
              </a:p>
            </p:txBody>
          </p:sp>
        </mc:Choice>
        <mc:Fallback>
          <p:sp>
            <p:nvSpPr>
              <p:cNvPr id="37" name="36 CuadroTexto"/>
              <p:cNvSpPr txBox="1">
                <a:spLocks noRot="1" noChangeAspect="1" noMove="1" noResize="1" noEditPoints="1" noAdjustHandles="1" noChangeArrowheads="1" noChangeShapeType="1" noTextEdit="1"/>
              </p:cNvSpPr>
              <p:nvPr/>
            </p:nvSpPr>
            <p:spPr>
              <a:xfrm>
                <a:off x="3491880" y="3172906"/>
                <a:ext cx="1274644" cy="400110"/>
              </a:xfrm>
              <a:prstGeom prst="rect">
                <a:avLst/>
              </a:prstGeom>
              <a:blipFill rotWithShape="1">
                <a:blip r:embed="rId6" cstate="print"/>
                <a:stretch>
                  <a:fillRect b="-13636"/>
                </a:stretch>
              </a:blipFill>
            </p:spPr>
            <p:txBody>
              <a:bodyPr/>
              <a:lstStyle/>
              <a:p>
                <a:r>
                  <a:rPr lang="es-CO">
                    <a:noFill/>
                  </a:rPr>
                  <a:t> </a:t>
                </a:r>
              </a:p>
            </p:txBody>
          </p:sp>
        </mc:Fallback>
      </mc:AlternateContent>
      <mc:AlternateContent xmlns:mc="http://schemas.openxmlformats.org/markup-compatibility/2006">
        <mc:Choice xmlns="" xmlns:a14="http://schemas.microsoft.com/office/drawing/2010/main" Requires="a14">
          <p:sp>
            <p:nvSpPr>
              <p:cNvPr id="38" name="37 CuadroTexto"/>
              <p:cNvSpPr txBox="1"/>
              <p:nvPr/>
            </p:nvSpPr>
            <p:spPr>
              <a:xfrm>
                <a:off x="5589335" y="2708920"/>
                <a:ext cx="1268681"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s-CO" sz="2000" b="0" i="1" smtClean="0">
                              <a:latin typeface="Cambria Math"/>
                            </a:rPr>
                          </m:ctrlPr>
                        </m:sSubPr>
                        <m:e>
                          <m:r>
                            <a:rPr lang="es-CO" sz="2000" b="0" i="1" smtClean="0">
                              <a:latin typeface="Cambria Math"/>
                            </a:rPr>
                            <m:t>𝑌</m:t>
                          </m:r>
                        </m:e>
                        <m:sub>
                          <m:r>
                            <a:rPr lang="es-CO" sz="2000" b="0" i="1" smtClean="0">
                              <a:latin typeface="Cambria Math"/>
                            </a:rPr>
                            <m:t>1</m:t>
                          </m:r>
                        </m:sub>
                      </m:sSub>
                      <m:r>
                        <a:rPr lang="es-CO" sz="2000" b="0" i="1" smtClean="0">
                          <a:latin typeface="Cambria Math"/>
                        </a:rPr>
                        <m:t>| </m:t>
                      </m:r>
                      <m:r>
                        <a:rPr lang="es-CO" sz="2000" b="0" i="1" smtClean="0">
                          <a:latin typeface="Cambria Math"/>
                        </a:rPr>
                        <m:t>𝐷</m:t>
                      </m:r>
                      <m:r>
                        <a:rPr lang="es-CO" sz="2000" b="0" i="1" smtClean="0">
                          <a:latin typeface="Cambria Math"/>
                        </a:rPr>
                        <m:t>=0</m:t>
                      </m:r>
                    </m:oMath>
                  </m:oMathPara>
                </a14:m>
                <a:endParaRPr lang="es-CO" sz="2000" dirty="0"/>
              </a:p>
            </p:txBody>
          </p:sp>
        </mc:Choice>
        <mc:Fallback>
          <p:sp>
            <p:nvSpPr>
              <p:cNvPr id="38" name="37 CuadroTexto"/>
              <p:cNvSpPr txBox="1">
                <a:spLocks noRot="1" noChangeAspect="1" noMove="1" noResize="1" noEditPoints="1" noAdjustHandles="1" noChangeArrowheads="1" noChangeShapeType="1" noTextEdit="1"/>
              </p:cNvSpPr>
              <p:nvPr/>
            </p:nvSpPr>
            <p:spPr>
              <a:xfrm>
                <a:off x="5589335" y="2708920"/>
                <a:ext cx="1268681" cy="400110"/>
              </a:xfrm>
              <a:prstGeom prst="rect">
                <a:avLst/>
              </a:prstGeom>
              <a:blipFill rotWithShape="1">
                <a:blip r:embed="rId7" cstate="print"/>
                <a:stretch>
                  <a:fillRect b="-13636"/>
                </a:stretch>
              </a:blipFill>
            </p:spPr>
            <p:txBody>
              <a:bodyPr/>
              <a:lstStyle/>
              <a:p>
                <a:r>
                  <a:rPr lang="es-CO">
                    <a:noFill/>
                  </a:rPr>
                  <a:t> </a:t>
                </a:r>
              </a:p>
            </p:txBody>
          </p:sp>
        </mc:Fallback>
      </mc:AlternateContent>
      <mc:AlternateContent xmlns:mc="http://schemas.openxmlformats.org/markup-compatibility/2006">
        <mc:Choice xmlns="" xmlns:a14="http://schemas.microsoft.com/office/drawing/2010/main" Requires="a14">
          <p:sp>
            <p:nvSpPr>
              <p:cNvPr id="39" name="38 CuadroTexto"/>
              <p:cNvSpPr txBox="1"/>
              <p:nvPr/>
            </p:nvSpPr>
            <p:spPr>
              <a:xfrm>
                <a:off x="5607575" y="3172906"/>
                <a:ext cx="1274644"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s-CO" sz="2000" b="0" i="1" smtClean="0">
                              <a:latin typeface="Cambria Math"/>
                            </a:rPr>
                          </m:ctrlPr>
                        </m:sSubPr>
                        <m:e>
                          <m:r>
                            <a:rPr lang="es-CO" sz="2000" b="0" i="1" smtClean="0">
                              <a:latin typeface="Cambria Math"/>
                            </a:rPr>
                            <m:t>𝑌</m:t>
                          </m:r>
                        </m:e>
                        <m:sub>
                          <m:r>
                            <a:rPr lang="es-CO" sz="2000" b="0" i="1" smtClean="0">
                              <a:latin typeface="Cambria Math"/>
                            </a:rPr>
                            <m:t>2</m:t>
                          </m:r>
                        </m:sub>
                      </m:sSub>
                      <m:r>
                        <a:rPr lang="es-CO" sz="2000" b="0" i="1" smtClean="0">
                          <a:latin typeface="Cambria Math"/>
                        </a:rPr>
                        <m:t>| </m:t>
                      </m:r>
                      <m:r>
                        <a:rPr lang="es-CO" sz="2000" b="0" i="1" smtClean="0">
                          <a:latin typeface="Cambria Math"/>
                        </a:rPr>
                        <m:t>𝐷</m:t>
                      </m:r>
                      <m:r>
                        <a:rPr lang="es-CO" sz="2000" b="0" i="1" smtClean="0">
                          <a:latin typeface="Cambria Math"/>
                        </a:rPr>
                        <m:t>=0</m:t>
                      </m:r>
                    </m:oMath>
                  </m:oMathPara>
                </a14:m>
                <a:endParaRPr lang="es-CO" sz="2000" dirty="0"/>
              </a:p>
            </p:txBody>
          </p:sp>
        </mc:Choice>
        <mc:Fallback>
          <p:sp>
            <p:nvSpPr>
              <p:cNvPr id="39" name="38 CuadroTexto"/>
              <p:cNvSpPr txBox="1">
                <a:spLocks noRot="1" noChangeAspect="1" noMove="1" noResize="1" noEditPoints="1" noAdjustHandles="1" noChangeArrowheads="1" noChangeShapeType="1" noTextEdit="1"/>
              </p:cNvSpPr>
              <p:nvPr/>
            </p:nvSpPr>
            <p:spPr>
              <a:xfrm>
                <a:off x="5607575" y="3172906"/>
                <a:ext cx="1274644" cy="400110"/>
              </a:xfrm>
              <a:prstGeom prst="rect">
                <a:avLst/>
              </a:prstGeom>
              <a:blipFill rotWithShape="1">
                <a:blip r:embed="rId8" cstate="print"/>
                <a:stretch>
                  <a:fillRect b="-13636"/>
                </a:stretch>
              </a:blipFill>
            </p:spPr>
            <p:txBody>
              <a:bodyPr/>
              <a:lstStyle/>
              <a:p>
                <a:r>
                  <a:rPr lang="es-CO">
                    <a:noFill/>
                  </a:rPr>
                  <a:t> </a:t>
                </a:r>
              </a:p>
            </p:txBody>
          </p:sp>
        </mc:Fallback>
      </mc:AlternateContent>
      <mc:AlternateContent xmlns:mc="http://schemas.openxmlformats.org/markup-compatibility/2006">
        <mc:Choice xmlns="" xmlns:a14="http://schemas.microsoft.com/office/drawing/2010/main" Requires="a14">
          <p:sp>
            <p:nvSpPr>
              <p:cNvPr id="6" name="5 CuadroTexto"/>
              <p:cNvSpPr txBox="1"/>
              <p:nvPr/>
            </p:nvSpPr>
            <p:spPr>
              <a:xfrm>
                <a:off x="971600" y="4077072"/>
                <a:ext cx="923201" cy="44627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s-CO" sz="2300" b="0" i="1" smtClean="0">
                          <a:latin typeface="Cambria Math"/>
                        </a:rPr>
                        <m:t>𝑡</m:t>
                      </m:r>
                      <m:r>
                        <a:rPr lang="es-CO" sz="2300" b="0" i="1" smtClean="0">
                          <a:latin typeface="Cambria Math"/>
                        </a:rPr>
                        <m:t>=1</m:t>
                      </m:r>
                    </m:oMath>
                  </m:oMathPara>
                </a14:m>
                <a:endParaRPr lang="es-CO" sz="2300" dirty="0"/>
              </a:p>
            </p:txBody>
          </p:sp>
        </mc:Choice>
        <mc:Fallback>
          <p:sp>
            <p:nvSpPr>
              <p:cNvPr id="6" name="5 CuadroTexto"/>
              <p:cNvSpPr txBox="1">
                <a:spLocks noRot="1" noChangeAspect="1" noMove="1" noResize="1" noEditPoints="1" noAdjustHandles="1" noChangeArrowheads="1" noChangeShapeType="1" noTextEdit="1"/>
              </p:cNvSpPr>
              <p:nvPr/>
            </p:nvSpPr>
            <p:spPr>
              <a:xfrm>
                <a:off x="971600" y="4077072"/>
                <a:ext cx="923201" cy="446276"/>
              </a:xfrm>
              <a:prstGeom prst="rect">
                <a:avLst/>
              </a:prstGeom>
              <a:blipFill rotWithShape="1">
                <a:blip r:embed="rId9" cstate="print"/>
                <a:stretch>
                  <a:fillRect/>
                </a:stretch>
              </a:blipFill>
            </p:spPr>
            <p:txBody>
              <a:bodyPr/>
              <a:lstStyle/>
              <a:p>
                <a:r>
                  <a:rPr lang="es-CO">
                    <a:noFill/>
                  </a:rPr>
                  <a:t> </a:t>
                </a:r>
              </a:p>
            </p:txBody>
          </p:sp>
        </mc:Fallback>
      </mc:AlternateContent>
      <mc:AlternateContent xmlns:mc="http://schemas.openxmlformats.org/markup-compatibility/2006">
        <mc:Choice xmlns="" xmlns:a14="http://schemas.microsoft.com/office/drawing/2010/main" Requires="a14">
          <p:sp>
            <p:nvSpPr>
              <p:cNvPr id="40" name="39 CuadroTexto"/>
              <p:cNvSpPr txBox="1"/>
              <p:nvPr/>
            </p:nvSpPr>
            <p:spPr>
              <a:xfrm>
                <a:off x="4355976" y="4077072"/>
                <a:ext cx="759503" cy="446276"/>
              </a:xfrm>
              <a:prstGeom prst="rect">
                <a:avLst/>
              </a:prstGeom>
              <a:noFill/>
            </p:spPr>
            <p:txBody>
              <a:bodyPr wrap="none" rtlCol="0">
                <a:spAutoFit/>
              </a:bodyPr>
              <a:lstStyle/>
              <a:p>
                <a14:m>
                  <m:oMath xmlns:m="http://schemas.openxmlformats.org/officeDocument/2006/math">
                    <m:r>
                      <a:rPr lang="es-CO" sz="2300" b="0" i="1" smtClean="0">
                        <a:latin typeface="Cambria Math"/>
                      </a:rPr>
                      <m:t>𝑡</m:t>
                    </m:r>
                    <m:r>
                      <a:rPr lang="es-CO" sz="2300" b="0" i="1" smtClean="0">
                        <a:latin typeface="Cambria Math"/>
                      </a:rPr>
                      <m:t>=</m:t>
                    </m:r>
                  </m:oMath>
                </a14:m>
                <a:r>
                  <a:rPr lang="es-CO" sz="2300" dirty="0" smtClean="0"/>
                  <a:t>2</a:t>
                </a:r>
                <a:endParaRPr lang="es-CO" sz="2300" dirty="0"/>
              </a:p>
            </p:txBody>
          </p:sp>
        </mc:Choice>
        <mc:Fallback>
          <p:sp>
            <p:nvSpPr>
              <p:cNvPr id="40" name="39 CuadroTexto"/>
              <p:cNvSpPr txBox="1">
                <a:spLocks noRot="1" noChangeAspect="1" noMove="1" noResize="1" noEditPoints="1" noAdjustHandles="1" noChangeArrowheads="1" noChangeShapeType="1" noTextEdit="1"/>
              </p:cNvSpPr>
              <p:nvPr/>
            </p:nvSpPr>
            <p:spPr>
              <a:xfrm>
                <a:off x="4355976" y="4077072"/>
                <a:ext cx="759503" cy="446276"/>
              </a:xfrm>
              <a:prstGeom prst="rect">
                <a:avLst/>
              </a:prstGeom>
              <a:blipFill rotWithShape="1">
                <a:blip r:embed="rId10" cstate="print"/>
                <a:stretch>
                  <a:fillRect t="-9589" r="-10484" b="-30137"/>
                </a:stretch>
              </a:blipFill>
            </p:spPr>
            <p:txBody>
              <a:bodyPr/>
              <a:lstStyle/>
              <a:p>
                <a:r>
                  <a:rPr lang="es-CO">
                    <a:noFill/>
                  </a:rPr>
                  <a:t> </a:t>
                </a:r>
              </a:p>
            </p:txBody>
          </p:sp>
        </mc:Fallback>
      </mc:AlternateContent>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p>
            <a:r>
              <a:rPr lang="es-CO" dirty="0" smtClean="0"/>
              <a:t>¿Qué estima?</a:t>
            </a:r>
          </a:p>
          <a:p>
            <a:pPr lvl="1">
              <a:buNone/>
            </a:pPr>
            <a:endParaRPr lang="es-CO" dirty="0" smtClean="0"/>
          </a:p>
        </p:txBody>
      </p:sp>
      <p:pic>
        <p:nvPicPr>
          <p:cNvPr id="4" name="Picture 1"/>
          <p:cNvPicPr>
            <a:picLocks noChangeAspect="1" noChangeArrowheads="1"/>
          </p:cNvPicPr>
          <p:nvPr/>
        </p:nvPicPr>
        <p:blipFill>
          <a:blip r:embed="rId4" cstate="print"/>
          <a:srcRect/>
          <a:stretch>
            <a:fillRect/>
          </a:stretch>
        </p:blipFill>
        <p:spPr bwMode="auto">
          <a:xfrm>
            <a:off x="0" y="0"/>
            <a:ext cx="2214546" cy="1053379"/>
          </a:xfrm>
          <a:prstGeom prst="rect">
            <a:avLst/>
          </a:prstGeom>
          <a:noFill/>
          <a:ln w="9525">
            <a:noFill/>
            <a:miter lim="800000"/>
            <a:headEnd/>
            <a:tailEnd/>
          </a:ln>
          <a:effectLst/>
        </p:spPr>
      </p:pic>
      <p:sp>
        <p:nvSpPr>
          <p:cNvPr id="5" name="1 Título"/>
          <p:cNvSpPr>
            <a:spLocks noGrp="1"/>
          </p:cNvSpPr>
          <p:nvPr>
            <p:ph type="title"/>
          </p:nvPr>
        </p:nvSpPr>
        <p:spPr>
          <a:xfrm>
            <a:off x="2357422" y="214290"/>
            <a:ext cx="6572296" cy="1214446"/>
          </a:xfrm>
        </p:spPr>
        <p:txBody>
          <a:bodyPr>
            <a:noAutofit/>
          </a:bodyPr>
          <a:lstStyle/>
          <a:p>
            <a:r>
              <a:rPr lang="es-CO" sz="4200" u="sng" dirty="0" smtClean="0"/>
              <a:t>Modelo de diferencias en diferencias</a:t>
            </a:r>
            <a:endParaRPr lang="es-ES" sz="4200" u="sng" dirty="0"/>
          </a:p>
        </p:txBody>
      </p:sp>
      <p:sp>
        <p:nvSpPr>
          <p:cNvPr id="3074"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dirty="0"/>
          </a:p>
        </p:txBody>
      </p:sp>
      <p:sp>
        <p:nvSpPr>
          <p:cNvPr id="3075" name="Rectangle 3"/>
          <p:cNvSpPr>
            <a:spLocks noChangeArrowheads="1"/>
          </p:cNvSpPr>
          <p:nvPr/>
        </p:nvSpPr>
        <p:spPr bwMode="auto">
          <a:xfrm>
            <a:off x="0" y="6953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dirty="0" smtClean="0">
              <a:ln>
                <a:noFill/>
              </a:ln>
              <a:solidFill>
                <a:schemeClr val="tx1"/>
              </a:solidFill>
              <a:effectLst/>
              <a:latin typeface="Arial" pitchFamily="34" charset="0"/>
            </a:endParaRPr>
          </a:p>
        </p:txBody>
      </p:sp>
      <p:sp>
        <p:nvSpPr>
          <p:cNvPr id="3077"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dirty="0"/>
          </a:p>
        </p:txBody>
      </p:sp>
      <p:sp>
        <p:nvSpPr>
          <p:cNvPr id="3078" name="Rectangle 6"/>
          <p:cNvSpPr>
            <a:spLocks noChangeArrowheads="1"/>
          </p:cNvSpPr>
          <p:nvPr/>
        </p:nvSpPr>
        <p:spPr bwMode="auto">
          <a:xfrm>
            <a:off x="0" y="10477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dirty="0" smtClean="0">
              <a:ln>
                <a:noFill/>
              </a:ln>
              <a:solidFill>
                <a:schemeClr val="tx1"/>
              </a:solidFill>
              <a:effectLst/>
              <a:latin typeface="Arial" pitchFamily="34" charset="0"/>
            </a:endParaRPr>
          </a:p>
        </p:txBody>
      </p:sp>
      <p:sp>
        <p:nvSpPr>
          <p:cNvPr id="3080"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dirty="0"/>
          </a:p>
        </p:txBody>
      </p:sp>
      <p:sp>
        <p:nvSpPr>
          <p:cNvPr id="3081" name="Rectangle 9"/>
          <p:cNvSpPr>
            <a:spLocks noChangeArrowheads="1"/>
          </p:cNvSpPr>
          <p:nvPr/>
        </p:nvSpPr>
        <p:spPr bwMode="auto">
          <a:xfrm>
            <a:off x="0" y="16764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dirty="0" smtClean="0">
              <a:ln>
                <a:noFill/>
              </a:ln>
              <a:solidFill>
                <a:schemeClr val="tx1"/>
              </a:solidFill>
              <a:effectLst/>
              <a:latin typeface="Arial" pitchFamily="34" charset="0"/>
            </a:endParaRPr>
          </a:p>
        </p:txBody>
      </p:sp>
      <p:sp>
        <p:nvSpPr>
          <p:cNvPr id="3083" name="Rectangle 1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dirty="0"/>
          </a:p>
        </p:txBody>
      </p:sp>
      <p:sp>
        <p:nvSpPr>
          <p:cNvPr id="3084" name="Rectangle 12"/>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dirty="0" smtClean="0">
              <a:ln>
                <a:noFill/>
              </a:ln>
              <a:solidFill>
                <a:schemeClr val="tx1"/>
              </a:solidFill>
              <a:effectLst/>
              <a:latin typeface="Arial" pitchFamily="34" charset="0"/>
            </a:endParaRPr>
          </a:p>
        </p:txBody>
      </p:sp>
      <p:sp>
        <p:nvSpPr>
          <p:cNvPr id="3086" name="Rectangle 1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dirty="0"/>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1027" name="Rectangle 3"/>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dirty="0" smtClean="0">
              <a:ln>
                <a:noFill/>
              </a:ln>
              <a:solidFill>
                <a:schemeClr val="tx1"/>
              </a:solidFill>
              <a:effectLst/>
              <a:latin typeface="Arial" pitchFamily="34" charset="0"/>
            </a:endParaRPr>
          </a:p>
        </p:txBody>
      </p:sp>
      <p:sp>
        <p:nvSpPr>
          <p:cNvPr id="22" name="21 CuadroTexto"/>
          <p:cNvSpPr txBox="1"/>
          <p:nvPr/>
        </p:nvSpPr>
        <p:spPr>
          <a:xfrm>
            <a:off x="714348" y="3929066"/>
            <a:ext cx="7929618" cy="1246495"/>
          </a:xfrm>
          <a:prstGeom prst="rect">
            <a:avLst/>
          </a:prstGeom>
          <a:noFill/>
          <a:ln>
            <a:solidFill>
              <a:schemeClr val="accent1">
                <a:lumMod val="60000"/>
                <a:lumOff val="40000"/>
              </a:schemeClr>
            </a:solidFill>
          </a:ln>
        </p:spPr>
        <p:txBody>
          <a:bodyPr wrap="square" rtlCol="0">
            <a:spAutoFit/>
          </a:bodyPr>
          <a:lstStyle/>
          <a:p>
            <a:r>
              <a:rPr lang="es-ES" sz="2500" dirty="0" smtClean="0"/>
              <a:t>(1) Cambio esperado entre el período anterior y el posterior a  la implementación del tratamiento en el </a:t>
            </a:r>
            <a:r>
              <a:rPr lang="es-ES" sz="2500" u="sng" dirty="0" smtClean="0"/>
              <a:t>grupo de tratamiento.</a:t>
            </a:r>
          </a:p>
        </p:txBody>
      </p:sp>
      <p:sp>
        <p:nvSpPr>
          <p:cNvPr id="23" name="22 CuadroTexto"/>
          <p:cNvSpPr txBox="1"/>
          <p:nvPr/>
        </p:nvSpPr>
        <p:spPr>
          <a:xfrm>
            <a:off x="714348" y="5286388"/>
            <a:ext cx="7929618" cy="1246495"/>
          </a:xfrm>
          <a:prstGeom prst="rect">
            <a:avLst/>
          </a:prstGeom>
          <a:noFill/>
          <a:ln>
            <a:solidFill>
              <a:schemeClr val="accent1">
                <a:lumMod val="60000"/>
                <a:lumOff val="40000"/>
              </a:schemeClr>
            </a:solidFill>
          </a:ln>
        </p:spPr>
        <p:txBody>
          <a:bodyPr wrap="square" rtlCol="0">
            <a:spAutoFit/>
          </a:bodyPr>
          <a:lstStyle/>
          <a:p>
            <a:r>
              <a:rPr lang="es-ES" sz="2500" dirty="0" smtClean="0"/>
              <a:t>(2) Cambio esperado entre el período anterior y el posterior a la implementación en el tratamiento en el </a:t>
            </a:r>
            <a:r>
              <a:rPr lang="es-ES" sz="2500" u="sng" dirty="0" smtClean="0"/>
              <a:t>grupo de control.</a:t>
            </a:r>
            <a:endParaRPr lang="es-AR" dirty="0"/>
          </a:p>
        </p:txBody>
      </p:sp>
      <p:sp>
        <p:nvSpPr>
          <p:cNvPr id="25" name="24 Rectángulo"/>
          <p:cNvSpPr/>
          <p:nvPr/>
        </p:nvSpPr>
        <p:spPr>
          <a:xfrm>
            <a:off x="0" y="6534859"/>
            <a:ext cx="9215470" cy="292388"/>
          </a:xfrm>
          <a:prstGeom prst="rect">
            <a:avLst/>
          </a:prstGeom>
        </p:spPr>
        <p:txBody>
          <a:bodyPr wrap="square">
            <a:spAutoFit/>
          </a:bodyPr>
          <a:lstStyle/>
          <a:p>
            <a:pPr marL="3175" lvl="1" algn="ctr"/>
            <a:r>
              <a:rPr lang="es-MX" sz="1300" smtClean="0">
                <a:solidFill>
                  <a:schemeClr val="tx1">
                    <a:lumMod val="50000"/>
                    <a:lumOff val="50000"/>
                  </a:schemeClr>
                </a:solidFill>
              </a:rPr>
              <a:t>Guía práctica para la evaluación de impacto /</a:t>
            </a:r>
            <a:r>
              <a:rPr lang="es-CO" sz="1300" smtClean="0">
                <a:solidFill>
                  <a:schemeClr val="tx1">
                    <a:lumMod val="50000"/>
                    <a:lumOff val="50000"/>
                  </a:schemeClr>
                </a:solidFill>
              </a:rPr>
              <a:t>Capítulo </a:t>
            </a:r>
            <a:r>
              <a:rPr lang="es-CO" sz="1300" dirty="0" smtClean="0">
                <a:solidFill>
                  <a:schemeClr val="tx1">
                    <a:lumMod val="50000"/>
                    <a:lumOff val="50000"/>
                  </a:schemeClr>
                </a:solidFill>
              </a:rPr>
              <a:t>5: Experimentos Naturales o cuasi Experimentos/11</a:t>
            </a:r>
            <a:endParaRPr lang="es-ES" sz="1300" dirty="0">
              <a:solidFill>
                <a:schemeClr val="tx1">
                  <a:lumMod val="50000"/>
                  <a:lumOff val="50000"/>
                </a:schemeClr>
              </a:solidFill>
            </a:endParaRPr>
          </a:p>
        </p:txBody>
      </p:sp>
      <p:graphicFrame>
        <p:nvGraphicFramePr>
          <p:cNvPr id="2" name="Object 2"/>
          <p:cNvGraphicFramePr>
            <a:graphicFrameLocks noChangeAspect="1"/>
          </p:cNvGraphicFramePr>
          <p:nvPr/>
        </p:nvGraphicFramePr>
        <p:xfrm>
          <a:off x="-796546" y="2000240"/>
          <a:ext cx="6511554" cy="714380"/>
        </p:xfrm>
        <a:graphic>
          <a:graphicData uri="http://schemas.openxmlformats.org/presentationml/2006/ole">
            <p:oleObj spid="_x0000_s1049" name="Documento" r:id="rId5" imgW="5397500" imgH="594491" progId="Word.Document.12">
              <p:embed/>
            </p:oleObj>
          </a:graphicData>
        </a:graphic>
      </p:graphicFrame>
      <p:graphicFrame>
        <p:nvGraphicFramePr>
          <p:cNvPr id="1029" name="Object 5"/>
          <p:cNvGraphicFramePr>
            <a:graphicFrameLocks noChangeAspect="1"/>
          </p:cNvGraphicFramePr>
          <p:nvPr/>
        </p:nvGraphicFramePr>
        <p:xfrm>
          <a:off x="2571736" y="2571744"/>
          <a:ext cx="5929353" cy="608763"/>
        </p:xfrm>
        <a:graphic>
          <a:graphicData uri="http://schemas.openxmlformats.org/presentationml/2006/ole">
            <p:oleObj spid="_x0000_s1050" name="Documento" r:id="rId6" imgW="5397500" imgH="556276" progId="Word.Document.12">
              <p:embed/>
            </p:oleObj>
          </a:graphicData>
        </a:graphic>
      </p:graphicFrame>
      <p:graphicFrame>
        <p:nvGraphicFramePr>
          <p:cNvPr id="1030" name="Object 6"/>
          <p:cNvGraphicFramePr>
            <a:graphicFrameLocks noChangeAspect="1"/>
          </p:cNvGraphicFramePr>
          <p:nvPr/>
        </p:nvGraphicFramePr>
        <p:xfrm>
          <a:off x="2500298" y="3143247"/>
          <a:ext cx="5929354" cy="608763"/>
        </p:xfrm>
        <a:graphic>
          <a:graphicData uri="http://schemas.openxmlformats.org/presentationml/2006/ole">
            <p:oleObj spid="_x0000_s1051" name="Documento" r:id="rId7" imgW="5397500" imgH="556276" progId="Word.Document.12">
              <p:embed/>
            </p:oleObj>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p:cNvPicPr>
            <a:picLocks noChangeAspect="1" noChangeArrowheads="1"/>
          </p:cNvPicPr>
          <p:nvPr/>
        </p:nvPicPr>
        <p:blipFill>
          <a:blip r:embed="rId3" cstate="print"/>
          <a:srcRect/>
          <a:stretch>
            <a:fillRect/>
          </a:stretch>
        </p:blipFill>
        <p:spPr bwMode="auto">
          <a:xfrm>
            <a:off x="0" y="0"/>
            <a:ext cx="2214546" cy="1053379"/>
          </a:xfrm>
          <a:prstGeom prst="rect">
            <a:avLst/>
          </a:prstGeom>
          <a:noFill/>
          <a:ln w="9525">
            <a:noFill/>
            <a:miter lim="800000"/>
            <a:headEnd/>
            <a:tailEnd/>
          </a:ln>
          <a:effectLst/>
        </p:spPr>
      </p:pic>
      <p:sp>
        <p:nvSpPr>
          <p:cNvPr id="6" name="1 Título"/>
          <p:cNvSpPr>
            <a:spLocks noGrp="1"/>
          </p:cNvSpPr>
          <p:nvPr>
            <p:ph type="title"/>
          </p:nvPr>
        </p:nvSpPr>
        <p:spPr>
          <a:xfrm>
            <a:off x="2357422" y="214290"/>
            <a:ext cx="6572296" cy="1214446"/>
          </a:xfrm>
        </p:spPr>
        <p:txBody>
          <a:bodyPr>
            <a:noAutofit/>
          </a:bodyPr>
          <a:lstStyle/>
          <a:p>
            <a:r>
              <a:rPr lang="es-CO" sz="4200" u="sng" dirty="0" smtClean="0"/>
              <a:t>Análogo </a:t>
            </a:r>
            <a:r>
              <a:rPr lang="es-CO" sz="4200" u="sng" dirty="0" err="1" smtClean="0"/>
              <a:t>muestral</a:t>
            </a:r>
            <a:endParaRPr lang="es-ES" sz="4200" u="sng" dirty="0"/>
          </a:p>
        </p:txBody>
      </p:sp>
      <p:sp>
        <p:nvSpPr>
          <p:cNvPr id="22530"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22531" name="Rectangle 3"/>
          <p:cNvSpPr>
            <a:spLocks noChangeArrowheads="1"/>
          </p:cNvSpPr>
          <p:nvPr/>
        </p:nvSpPr>
        <p:spPr bwMode="auto">
          <a:xfrm>
            <a:off x="0" y="19621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dirty="0" smtClean="0">
              <a:ln>
                <a:noFill/>
              </a:ln>
              <a:solidFill>
                <a:schemeClr val="tx1"/>
              </a:solidFill>
              <a:effectLst/>
              <a:latin typeface="Arial" pitchFamily="34" charset="0"/>
            </a:endParaRPr>
          </a:p>
        </p:txBody>
      </p:sp>
      <p:sp>
        <p:nvSpPr>
          <p:cNvPr id="21" name="20 CuadroTexto"/>
          <p:cNvSpPr txBox="1"/>
          <p:nvPr/>
        </p:nvSpPr>
        <p:spPr>
          <a:xfrm>
            <a:off x="816068" y="4000504"/>
            <a:ext cx="7399270" cy="477054"/>
          </a:xfrm>
          <a:prstGeom prst="rect">
            <a:avLst/>
          </a:prstGeom>
          <a:noFill/>
        </p:spPr>
        <p:txBody>
          <a:bodyPr wrap="none" rtlCol="0">
            <a:spAutoFit/>
          </a:bodyPr>
          <a:lstStyle/>
          <a:p>
            <a:r>
              <a:rPr lang="es-ES" sz="2500" dirty="0" smtClean="0"/>
              <a:t> Si el cambio temporal (longitudinal) lo defino como </a:t>
            </a:r>
            <a:r>
              <a:rPr lang="es-ES" sz="2500" dirty="0" smtClean="0">
                <a:latin typeface="Symbol" pitchFamily="18" charset="2"/>
              </a:rPr>
              <a:t>D</a:t>
            </a:r>
            <a:r>
              <a:rPr lang="es-ES" sz="2500" i="1" dirty="0" smtClean="0"/>
              <a:t>Y:</a:t>
            </a:r>
            <a:endParaRPr lang="es-AR" i="1" dirty="0"/>
          </a:p>
        </p:txBody>
      </p:sp>
      <p:sp>
        <p:nvSpPr>
          <p:cNvPr id="22533"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22534" name="Rectangle 6"/>
          <p:cNvSpPr>
            <a:spLocks noChangeArrowheads="1"/>
          </p:cNvSpPr>
          <p:nvPr/>
        </p:nvSpPr>
        <p:spPr bwMode="auto">
          <a:xfrm>
            <a:off x="0" y="9144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dirty="0" smtClean="0">
              <a:ln>
                <a:noFill/>
              </a:ln>
              <a:solidFill>
                <a:schemeClr val="tx1"/>
              </a:solidFill>
              <a:effectLst/>
              <a:latin typeface="Arial" pitchFamily="34" charset="0"/>
            </a:endParaRPr>
          </a:p>
        </p:txBody>
      </p:sp>
      <p:sp>
        <p:nvSpPr>
          <p:cNvPr id="22536"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22537" name="Rectangle 9"/>
          <p:cNvSpPr>
            <a:spLocks noChangeArrowheads="1"/>
          </p:cNvSpPr>
          <p:nvPr/>
        </p:nvSpPr>
        <p:spPr bwMode="auto">
          <a:xfrm>
            <a:off x="0" y="9144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dirty="0" smtClean="0">
              <a:ln>
                <a:noFill/>
              </a:ln>
              <a:solidFill>
                <a:schemeClr val="tx1"/>
              </a:solidFill>
              <a:effectLst/>
              <a:latin typeface="Arial" pitchFamily="34" charset="0"/>
            </a:endParaRPr>
          </a:p>
        </p:txBody>
      </p:sp>
      <p:sp>
        <p:nvSpPr>
          <p:cNvPr id="22539" name="Rectangle 1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22540" name="Rectangle 12"/>
          <p:cNvSpPr>
            <a:spLocks noChangeArrowheads="1"/>
          </p:cNvSpPr>
          <p:nvPr/>
        </p:nvSpPr>
        <p:spPr bwMode="auto">
          <a:xfrm>
            <a:off x="0" y="19621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dirty="0" smtClean="0">
              <a:ln>
                <a:noFill/>
              </a:ln>
              <a:solidFill>
                <a:schemeClr val="tx1"/>
              </a:solidFill>
              <a:effectLst/>
              <a:latin typeface="Arial" pitchFamily="34" charset="0"/>
            </a:endParaRPr>
          </a:p>
        </p:txBody>
      </p:sp>
      <p:sp>
        <p:nvSpPr>
          <p:cNvPr id="16" name="15 Rectángulo"/>
          <p:cNvSpPr/>
          <p:nvPr/>
        </p:nvSpPr>
        <p:spPr>
          <a:xfrm>
            <a:off x="0" y="6534859"/>
            <a:ext cx="9215470" cy="292388"/>
          </a:xfrm>
          <a:prstGeom prst="rect">
            <a:avLst/>
          </a:prstGeom>
        </p:spPr>
        <p:txBody>
          <a:bodyPr wrap="square">
            <a:spAutoFit/>
          </a:bodyPr>
          <a:lstStyle/>
          <a:p>
            <a:pPr marL="3175" lvl="1" algn="ctr"/>
            <a:r>
              <a:rPr lang="es-MX" sz="1300" smtClean="0">
                <a:solidFill>
                  <a:schemeClr val="tx1">
                    <a:lumMod val="50000"/>
                    <a:lumOff val="50000"/>
                  </a:schemeClr>
                </a:solidFill>
              </a:rPr>
              <a:t>Guía práctica para la evaluación de impacto /</a:t>
            </a:r>
            <a:r>
              <a:rPr lang="es-CO" sz="1300" smtClean="0">
                <a:solidFill>
                  <a:schemeClr val="tx1">
                    <a:lumMod val="50000"/>
                    <a:lumOff val="50000"/>
                  </a:schemeClr>
                </a:solidFill>
              </a:rPr>
              <a:t>Capítulo </a:t>
            </a:r>
            <a:r>
              <a:rPr lang="es-CO" sz="1300" dirty="0" smtClean="0">
                <a:solidFill>
                  <a:schemeClr val="tx1">
                    <a:lumMod val="50000"/>
                    <a:lumOff val="50000"/>
                  </a:schemeClr>
                </a:solidFill>
              </a:rPr>
              <a:t>5: Experimentos Naturales o cuasi Experimentos/12</a:t>
            </a:r>
            <a:endParaRPr lang="es-ES" sz="1300" dirty="0">
              <a:solidFill>
                <a:schemeClr val="tx1">
                  <a:lumMod val="50000"/>
                  <a:lumOff val="50000"/>
                </a:schemeClr>
              </a:solidFill>
            </a:endParaRPr>
          </a:p>
        </p:txBody>
      </p:sp>
      <p:graphicFrame>
        <p:nvGraphicFramePr>
          <p:cNvPr id="2051" name="Object 3"/>
          <p:cNvGraphicFramePr>
            <a:graphicFrameLocks noChangeAspect="1"/>
          </p:cNvGraphicFramePr>
          <p:nvPr/>
        </p:nvGraphicFramePr>
        <p:xfrm>
          <a:off x="-1143040" y="1635485"/>
          <a:ext cx="5929354" cy="650507"/>
        </p:xfrm>
        <a:graphic>
          <a:graphicData uri="http://schemas.openxmlformats.org/presentationml/2006/ole">
            <p:oleObj spid="_x0000_s2079" name="Documento" r:id="rId4" imgW="5397500" imgH="594491" progId="Word.Document.12">
              <p:embed/>
            </p:oleObj>
          </a:graphicData>
        </a:graphic>
      </p:graphicFrame>
      <p:graphicFrame>
        <p:nvGraphicFramePr>
          <p:cNvPr id="2052" name="Object 4"/>
          <p:cNvGraphicFramePr>
            <a:graphicFrameLocks noChangeAspect="1"/>
          </p:cNvGraphicFramePr>
          <p:nvPr/>
        </p:nvGraphicFramePr>
        <p:xfrm>
          <a:off x="857225" y="2199194"/>
          <a:ext cx="7286675" cy="756669"/>
        </p:xfrm>
        <a:graphic>
          <a:graphicData uri="http://schemas.openxmlformats.org/presentationml/2006/ole">
            <p:oleObj spid="_x0000_s2080" name="Documento" r:id="rId5" imgW="5397500" imgH="563126" progId="Word.Document.12">
              <p:embed/>
            </p:oleObj>
          </a:graphicData>
        </a:graphic>
      </p:graphicFrame>
      <p:graphicFrame>
        <p:nvGraphicFramePr>
          <p:cNvPr id="2053" name="Object 5"/>
          <p:cNvGraphicFramePr>
            <a:graphicFrameLocks noChangeAspect="1"/>
          </p:cNvGraphicFramePr>
          <p:nvPr/>
        </p:nvGraphicFramePr>
        <p:xfrm>
          <a:off x="857223" y="2928934"/>
          <a:ext cx="7143801" cy="741831"/>
        </p:xfrm>
        <a:graphic>
          <a:graphicData uri="http://schemas.openxmlformats.org/presentationml/2006/ole">
            <p:oleObj spid="_x0000_s2081" name="Documento" r:id="rId6" imgW="5397500" imgH="563126" progId="Word.Document.12">
              <p:embed/>
            </p:oleObj>
          </a:graphicData>
        </a:graphic>
      </p:graphicFrame>
      <p:graphicFrame>
        <p:nvGraphicFramePr>
          <p:cNvPr id="2054" name="Object 6"/>
          <p:cNvGraphicFramePr>
            <a:graphicFrameLocks noChangeAspect="1"/>
          </p:cNvGraphicFramePr>
          <p:nvPr/>
        </p:nvGraphicFramePr>
        <p:xfrm>
          <a:off x="816409" y="4970565"/>
          <a:ext cx="7398929" cy="744451"/>
        </p:xfrm>
        <a:graphic>
          <a:graphicData uri="http://schemas.openxmlformats.org/presentationml/2006/ole">
            <p:oleObj spid="_x0000_s2082" name="Documento" r:id="rId7" imgW="5397500" imgH="548345" progId="Word.Document.12">
              <p:embed/>
            </p:oleObj>
          </a:graphicData>
        </a:graphic>
      </p:graphicFrame>
      <p:sp>
        <p:nvSpPr>
          <p:cNvPr id="205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sp>
        <p:nvSpPr>
          <p:cNvPr id="2058"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sp>
        <p:nvSpPr>
          <p:cNvPr id="2060"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sp>
        <p:nvSpPr>
          <p:cNvPr id="2062" name="Rectangle 1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sp>
        <p:nvSpPr>
          <p:cNvPr id="2064" name="Rectangle 1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sp>
        <p:nvSpPr>
          <p:cNvPr id="2066" name="Rectangle 1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sp>
        <p:nvSpPr>
          <p:cNvPr id="2068" name="Rectangle 2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p:cNvPicPr>
            <a:picLocks noChangeAspect="1" noChangeArrowheads="1"/>
          </p:cNvPicPr>
          <p:nvPr/>
        </p:nvPicPr>
        <p:blipFill>
          <a:blip r:embed="rId3" cstate="print"/>
          <a:srcRect/>
          <a:stretch>
            <a:fillRect/>
          </a:stretch>
        </p:blipFill>
        <p:spPr bwMode="auto">
          <a:xfrm>
            <a:off x="0" y="0"/>
            <a:ext cx="2214546" cy="1053379"/>
          </a:xfrm>
          <a:prstGeom prst="rect">
            <a:avLst/>
          </a:prstGeom>
          <a:noFill/>
          <a:ln w="9525">
            <a:noFill/>
            <a:miter lim="800000"/>
            <a:headEnd/>
            <a:tailEnd/>
          </a:ln>
          <a:effectLst/>
        </p:spPr>
      </p:pic>
      <p:sp>
        <p:nvSpPr>
          <p:cNvPr id="5" name="1 Título"/>
          <p:cNvSpPr>
            <a:spLocks noGrp="1"/>
          </p:cNvSpPr>
          <p:nvPr>
            <p:ph type="title"/>
          </p:nvPr>
        </p:nvSpPr>
        <p:spPr>
          <a:xfrm>
            <a:off x="2357422" y="214290"/>
            <a:ext cx="6572296" cy="1214446"/>
          </a:xfrm>
        </p:spPr>
        <p:txBody>
          <a:bodyPr>
            <a:noAutofit/>
          </a:bodyPr>
          <a:lstStyle/>
          <a:p>
            <a:r>
              <a:rPr lang="es-CO" sz="4200" u="sng" dirty="0" smtClean="0"/>
              <a:t>Análogo </a:t>
            </a:r>
            <a:r>
              <a:rPr lang="es-CO" sz="4200" u="sng" dirty="0" err="1" smtClean="0"/>
              <a:t>muestral</a:t>
            </a:r>
            <a:endParaRPr lang="es-ES" sz="4200" u="sng" dirty="0"/>
          </a:p>
        </p:txBody>
      </p:sp>
      <p:pic>
        <p:nvPicPr>
          <p:cNvPr id="7" name="Picture 10"/>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7643834" y="2441065"/>
            <a:ext cx="500066" cy="487869"/>
          </a:xfrm>
          <a:prstGeom prst="rect">
            <a:avLst/>
          </a:prstGeom>
          <a:noFill/>
        </p:spPr>
      </p:pic>
      <p:pic>
        <p:nvPicPr>
          <p:cNvPr id="8" name="Picture 1"/>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7643834" y="3143248"/>
            <a:ext cx="500066" cy="487869"/>
          </a:xfrm>
          <a:prstGeom prst="rect">
            <a:avLst/>
          </a:prstGeom>
          <a:noFill/>
        </p:spPr>
      </p:pic>
      <p:sp>
        <p:nvSpPr>
          <p:cNvPr id="9" name="8 CuadroTexto"/>
          <p:cNvSpPr txBox="1"/>
          <p:nvPr/>
        </p:nvSpPr>
        <p:spPr>
          <a:xfrm>
            <a:off x="428596" y="4083800"/>
            <a:ext cx="4000528" cy="1631216"/>
          </a:xfrm>
          <a:prstGeom prst="rect">
            <a:avLst/>
          </a:prstGeom>
          <a:noFill/>
          <a:ln>
            <a:solidFill>
              <a:schemeClr val="accent1">
                <a:lumMod val="60000"/>
                <a:lumOff val="40000"/>
              </a:schemeClr>
            </a:solidFill>
          </a:ln>
        </p:spPr>
        <p:txBody>
          <a:bodyPr wrap="square" rtlCol="0">
            <a:spAutoFit/>
          </a:bodyPr>
          <a:lstStyle/>
          <a:p>
            <a:r>
              <a:rPr lang="es-ES" sz="2500" dirty="0" smtClean="0"/>
              <a:t>(1) Diferencia promedio entre el grupo de tratamiento y el de control en el período  </a:t>
            </a:r>
            <a:r>
              <a:rPr lang="es-ES" sz="2500" i="1" dirty="0" smtClean="0"/>
              <a:t>t = 2</a:t>
            </a:r>
            <a:r>
              <a:rPr lang="es-ES" sz="2500" dirty="0" smtClean="0"/>
              <a:t>.</a:t>
            </a:r>
            <a:endParaRPr lang="es-ES" sz="2500" u="sng" dirty="0" smtClean="0"/>
          </a:p>
        </p:txBody>
      </p:sp>
      <p:sp>
        <p:nvSpPr>
          <p:cNvPr id="2457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24579" name="Rectangle 3"/>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dirty="0" smtClean="0">
              <a:ln>
                <a:noFill/>
              </a:ln>
              <a:solidFill>
                <a:schemeClr val="tx1"/>
              </a:solidFill>
              <a:effectLst/>
              <a:latin typeface="Arial" pitchFamily="34" charset="0"/>
            </a:endParaRPr>
          </a:p>
        </p:txBody>
      </p:sp>
      <p:sp>
        <p:nvSpPr>
          <p:cNvPr id="2458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24582" name="Rectangle 6"/>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dirty="0" smtClean="0">
              <a:ln>
                <a:noFill/>
              </a:ln>
              <a:solidFill>
                <a:schemeClr val="tx1"/>
              </a:solidFill>
              <a:effectLst/>
              <a:latin typeface="Arial" pitchFamily="34" charset="0"/>
            </a:endParaRPr>
          </a:p>
        </p:txBody>
      </p:sp>
      <p:sp>
        <p:nvSpPr>
          <p:cNvPr id="16" name="15 CuadroTexto"/>
          <p:cNvSpPr txBox="1"/>
          <p:nvPr/>
        </p:nvSpPr>
        <p:spPr>
          <a:xfrm>
            <a:off x="4714876" y="4071942"/>
            <a:ext cx="4000528" cy="1631216"/>
          </a:xfrm>
          <a:prstGeom prst="rect">
            <a:avLst/>
          </a:prstGeom>
          <a:noFill/>
          <a:ln>
            <a:solidFill>
              <a:schemeClr val="accent1">
                <a:lumMod val="60000"/>
                <a:lumOff val="40000"/>
              </a:schemeClr>
            </a:solidFill>
          </a:ln>
        </p:spPr>
        <p:txBody>
          <a:bodyPr wrap="square" rtlCol="0">
            <a:spAutoFit/>
          </a:bodyPr>
          <a:lstStyle/>
          <a:p>
            <a:r>
              <a:rPr lang="es-ES" sz="2500" dirty="0" smtClean="0"/>
              <a:t>(2) Diferencia promedio entre el grupo de tratamiento y el de control en el período  </a:t>
            </a:r>
            <a:r>
              <a:rPr lang="es-ES" sz="2500" i="1" dirty="0" smtClean="0"/>
              <a:t>t = 1</a:t>
            </a:r>
            <a:r>
              <a:rPr lang="es-ES" sz="2500" dirty="0" smtClean="0"/>
              <a:t>. </a:t>
            </a:r>
            <a:endParaRPr lang="es-ES" sz="2500" u="sng" dirty="0" smtClean="0"/>
          </a:p>
        </p:txBody>
      </p:sp>
      <p:sp>
        <p:nvSpPr>
          <p:cNvPr id="24584"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24585" name="Rectangle 9"/>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dirty="0" smtClean="0">
              <a:ln>
                <a:noFill/>
              </a:ln>
              <a:solidFill>
                <a:schemeClr val="tx1"/>
              </a:solidFill>
              <a:effectLst/>
              <a:latin typeface="Arial" pitchFamily="34" charset="0"/>
            </a:endParaRPr>
          </a:p>
        </p:txBody>
      </p:sp>
      <p:sp>
        <p:nvSpPr>
          <p:cNvPr id="24587" name="Rectangle 1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24588" name="Rectangle 12"/>
          <p:cNvSpPr>
            <a:spLocks noChangeArrowheads="1"/>
          </p:cNvSpPr>
          <p:nvPr/>
        </p:nvSpPr>
        <p:spPr bwMode="auto">
          <a:xfrm>
            <a:off x="0" y="23431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dirty="0" smtClean="0">
              <a:ln>
                <a:noFill/>
              </a:ln>
              <a:solidFill>
                <a:schemeClr val="tx1"/>
              </a:solidFill>
              <a:effectLst/>
              <a:latin typeface="Arial" pitchFamily="34" charset="0"/>
            </a:endParaRPr>
          </a:p>
        </p:txBody>
      </p:sp>
      <p:sp>
        <p:nvSpPr>
          <p:cNvPr id="21" name="20 Rectángulo"/>
          <p:cNvSpPr/>
          <p:nvPr/>
        </p:nvSpPr>
        <p:spPr>
          <a:xfrm>
            <a:off x="0" y="6534859"/>
            <a:ext cx="9144000" cy="292388"/>
          </a:xfrm>
          <a:prstGeom prst="rect">
            <a:avLst/>
          </a:prstGeom>
        </p:spPr>
        <p:txBody>
          <a:bodyPr wrap="square">
            <a:spAutoFit/>
          </a:bodyPr>
          <a:lstStyle/>
          <a:p>
            <a:pPr marL="3175" lvl="1" algn="ctr"/>
            <a:r>
              <a:rPr lang="es-MX" sz="1300" smtClean="0">
                <a:solidFill>
                  <a:schemeClr val="tx1">
                    <a:lumMod val="50000"/>
                    <a:lumOff val="50000"/>
                  </a:schemeClr>
                </a:solidFill>
              </a:rPr>
              <a:t>Guía práctica para la evaluación de impacto /</a:t>
            </a:r>
            <a:r>
              <a:rPr lang="es-CO" sz="1300" smtClean="0">
                <a:solidFill>
                  <a:schemeClr val="tx1">
                    <a:lumMod val="50000"/>
                    <a:lumOff val="50000"/>
                  </a:schemeClr>
                </a:solidFill>
              </a:rPr>
              <a:t>Capítulo </a:t>
            </a:r>
            <a:r>
              <a:rPr lang="es-CO" sz="1300" dirty="0" smtClean="0">
                <a:solidFill>
                  <a:schemeClr val="tx1">
                    <a:lumMod val="50000"/>
                    <a:lumOff val="50000"/>
                  </a:schemeClr>
                </a:solidFill>
              </a:rPr>
              <a:t>5: Experimentos Naturales o cuasi Experimentos/13</a:t>
            </a:r>
            <a:endParaRPr lang="es-ES" sz="1300" dirty="0">
              <a:solidFill>
                <a:schemeClr val="tx1">
                  <a:lumMod val="50000"/>
                  <a:lumOff val="50000"/>
                </a:schemeClr>
              </a:solidFill>
            </a:endParaRPr>
          </a:p>
        </p:txBody>
      </p:sp>
      <p:graphicFrame>
        <p:nvGraphicFramePr>
          <p:cNvPr id="3074" name="Object 2"/>
          <p:cNvGraphicFramePr>
            <a:graphicFrameLocks noChangeAspect="1"/>
          </p:cNvGraphicFramePr>
          <p:nvPr/>
        </p:nvGraphicFramePr>
        <p:xfrm>
          <a:off x="-1357354" y="1858957"/>
          <a:ext cx="6494463" cy="712787"/>
        </p:xfrm>
        <a:graphic>
          <a:graphicData uri="http://schemas.openxmlformats.org/presentationml/2006/ole">
            <p:oleObj spid="_x0000_s3095" name="Documento" r:id="rId6" imgW="5397500" imgH="594491" progId="Word.Document.12">
              <p:embed/>
            </p:oleObj>
          </a:graphicData>
        </a:graphic>
      </p:graphicFrame>
      <p:graphicFrame>
        <p:nvGraphicFramePr>
          <p:cNvPr id="3075" name="Object 3"/>
          <p:cNvGraphicFramePr>
            <a:graphicFrameLocks noChangeAspect="1"/>
          </p:cNvGraphicFramePr>
          <p:nvPr/>
        </p:nvGraphicFramePr>
        <p:xfrm>
          <a:off x="1285903" y="2386011"/>
          <a:ext cx="7286625" cy="757237"/>
        </p:xfrm>
        <a:graphic>
          <a:graphicData uri="http://schemas.openxmlformats.org/presentationml/2006/ole">
            <p:oleObj spid="_x0000_s3096" name="Documento" r:id="rId7" imgW="5397500" imgH="563126" progId="Word.Document.12">
              <p:embed/>
            </p:oleObj>
          </a:graphicData>
        </a:graphic>
      </p:graphicFrame>
      <p:graphicFrame>
        <p:nvGraphicFramePr>
          <p:cNvPr id="3076" name="Object 4"/>
          <p:cNvGraphicFramePr>
            <a:graphicFrameLocks noChangeAspect="1"/>
          </p:cNvGraphicFramePr>
          <p:nvPr/>
        </p:nvGraphicFramePr>
        <p:xfrm>
          <a:off x="1244626" y="3071810"/>
          <a:ext cx="7113588" cy="728662"/>
        </p:xfrm>
        <a:graphic>
          <a:graphicData uri="http://schemas.openxmlformats.org/presentationml/2006/ole">
            <p:oleObj spid="_x0000_s3097" name="Documento" r:id="rId8" imgW="5397500" imgH="563126" progId="Word.Document.12">
              <p:embed/>
            </p:oleObj>
          </a:graphicData>
        </a:graphic>
      </p:graphicFrame>
      <p:sp>
        <p:nvSpPr>
          <p:cNvPr id="20" name="19 CuadroTexto"/>
          <p:cNvSpPr txBox="1"/>
          <p:nvPr/>
        </p:nvSpPr>
        <p:spPr>
          <a:xfrm>
            <a:off x="785786" y="1285860"/>
            <a:ext cx="2115451" cy="477054"/>
          </a:xfrm>
          <a:prstGeom prst="rect">
            <a:avLst/>
          </a:prstGeom>
          <a:noFill/>
        </p:spPr>
        <p:txBody>
          <a:bodyPr wrap="none" rtlCol="0">
            <a:spAutoFit/>
          </a:bodyPr>
          <a:lstStyle/>
          <a:p>
            <a:r>
              <a:rPr lang="es-CO" sz="2500" dirty="0" smtClean="0"/>
              <a:t>Reescribiendo:</a:t>
            </a:r>
            <a:endParaRPr lang="es-CO" sz="25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a:bodyPr>
          <a:lstStyle/>
          <a:p>
            <a:pPr algn="just">
              <a:buNone/>
            </a:pPr>
            <a:endParaRPr lang="es-ES" sz="2500" dirty="0" smtClean="0"/>
          </a:p>
          <a:p>
            <a:pPr algn="just">
              <a:buNone/>
            </a:pPr>
            <a:r>
              <a:rPr lang="es-ES" sz="2500" dirty="0" smtClean="0"/>
              <a:t>	¿Cuándo el estimador Dif en Dif es más eficiente que el de diferencias?</a:t>
            </a:r>
          </a:p>
          <a:p>
            <a:pPr lvl="1" algn="just">
              <a:buNone/>
            </a:pPr>
            <a:r>
              <a:rPr lang="es-ES" sz="2500" dirty="0" smtClean="0"/>
              <a:t>	Cuando algunos determinantes no observables de la variable de interés son persistentes en el tiempo.</a:t>
            </a:r>
          </a:p>
          <a:p>
            <a:pPr lvl="1" algn="ctr">
              <a:buNone/>
            </a:pPr>
            <a:endParaRPr lang="es-ES" sz="2500" dirty="0" smtClean="0"/>
          </a:p>
          <a:p>
            <a:pPr lvl="1" algn="ctr">
              <a:buNone/>
            </a:pPr>
            <a:endParaRPr lang="es-ES" sz="2500" dirty="0" smtClean="0"/>
          </a:p>
          <a:p>
            <a:pPr lvl="1" algn="ctr">
              <a:buNone/>
            </a:pPr>
            <a:r>
              <a:rPr lang="es-ES" sz="2500" dirty="0" smtClean="0"/>
              <a:t>La eficiencia del estimador de </a:t>
            </a:r>
            <a:r>
              <a:rPr lang="es-ES" sz="2500" dirty="0" err="1" smtClean="0"/>
              <a:t>Dif</a:t>
            </a:r>
            <a:r>
              <a:rPr lang="es-ES" sz="2500" dirty="0" smtClean="0"/>
              <a:t> en </a:t>
            </a:r>
            <a:r>
              <a:rPr lang="es-ES" sz="2500" dirty="0" err="1" smtClean="0"/>
              <a:t>Dif</a:t>
            </a:r>
            <a:r>
              <a:rPr lang="es-ES" sz="2500" dirty="0" smtClean="0"/>
              <a:t> depende de la     fracción de la varianza de    que esté explicada por factores no observados.</a:t>
            </a:r>
            <a:endParaRPr lang="es-AR" sz="2500" dirty="0"/>
          </a:p>
        </p:txBody>
      </p:sp>
      <p:pic>
        <p:nvPicPr>
          <p:cNvPr id="5" name="Picture 1"/>
          <p:cNvPicPr>
            <a:picLocks noChangeAspect="1" noChangeArrowheads="1"/>
          </p:cNvPicPr>
          <p:nvPr/>
        </p:nvPicPr>
        <p:blipFill>
          <a:blip r:embed="rId2" cstate="print"/>
          <a:srcRect/>
          <a:stretch>
            <a:fillRect/>
          </a:stretch>
        </p:blipFill>
        <p:spPr bwMode="auto">
          <a:xfrm>
            <a:off x="0" y="0"/>
            <a:ext cx="2214546" cy="1053379"/>
          </a:xfrm>
          <a:prstGeom prst="rect">
            <a:avLst/>
          </a:prstGeom>
          <a:noFill/>
          <a:ln w="9525">
            <a:noFill/>
            <a:miter lim="800000"/>
            <a:headEnd/>
            <a:tailEnd/>
          </a:ln>
          <a:effectLst/>
        </p:spPr>
      </p:pic>
      <p:sp>
        <p:nvSpPr>
          <p:cNvPr id="6" name="1 Título"/>
          <p:cNvSpPr>
            <a:spLocks noGrp="1"/>
          </p:cNvSpPr>
          <p:nvPr>
            <p:ph type="title"/>
          </p:nvPr>
        </p:nvSpPr>
        <p:spPr>
          <a:xfrm>
            <a:off x="2357422" y="214290"/>
            <a:ext cx="6572296" cy="1214446"/>
          </a:xfrm>
        </p:spPr>
        <p:txBody>
          <a:bodyPr>
            <a:noAutofit/>
          </a:bodyPr>
          <a:lstStyle/>
          <a:p>
            <a:r>
              <a:rPr lang="es-CO" sz="4200" u="sng" dirty="0" smtClean="0"/>
              <a:t>¿Cuándo usar el estimador de Dif en Dif?</a:t>
            </a:r>
            <a:endParaRPr lang="es-ES" sz="4200" u="sng" dirty="0"/>
          </a:p>
        </p:txBody>
      </p:sp>
      <p:sp>
        <p:nvSpPr>
          <p:cNvPr id="9" name="8 Flecha abajo"/>
          <p:cNvSpPr/>
          <p:nvPr/>
        </p:nvSpPr>
        <p:spPr>
          <a:xfrm>
            <a:off x="4643438" y="3857628"/>
            <a:ext cx="500066" cy="571504"/>
          </a:xfrm>
          <a:prstGeom prst="downArrow">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25602"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pic>
        <p:nvPicPr>
          <p:cNvPr id="25601" name="Picture 1"/>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5000628" y="5072074"/>
            <a:ext cx="214314" cy="476253"/>
          </a:xfrm>
          <a:prstGeom prst="rect">
            <a:avLst/>
          </a:prstGeom>
          <a:noFill/>
        </p:spPr>
      </p:pic>
      <p:sp>
        <p:nvSpPr>
          <p:cNvPr id="25603" name="Rectangle 3"/>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dirty="0" smtClean="0">
              <a:ln>
                <a:noFill/>
              </a:ln>
              <a:solidFill>
                <a:schemeClr val="tx1"/>
              </a:solidFill>
              <a:effectLst/>
              <a:latin typeface="Arial" pitchFamily="34" charset="0"/>
            </a:endParaRPr>
          </a:p>
        </p:txBody>
      </p:sp>
      <p:sp>
        <p:nvSpPr>
          <p:cNvPr id="11" name="10 Rectángulo"/>
          <p:cNvSpPr/>
          <p:nvPr/>
        </p:nvSpPr>
        <p:spPr>
          <a:xfrm>
            <a:off x="1142976" y="4572008"/>
            <a:ext cx="7358114" cy="1357322"/>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11 Rectángulo"/>
          <p:cNvSpPr/>
          <p:nvPr/>
        </p:nvSpPr>
        <p:spPr>
          <a:xfrm>
            <a:off x="0" y="6534859"/>
            <a:ext cx="9215470" cy="292388"/>
          </a:xfrm>
          <a:prstGeom prst="rect">
            <a:avLst/>
          </a:prstGeom>
        </p:spPr>
        <p:txBody>
          <a:bodyPr wrap="square">
            <a:spAutoFit/>
          </a:bodyPr>
          <a:lstStyle/>
          <a:p>
            <a:pPr marL="0" lvl="2" algn="ctr"/>
            <a:r>
              <a:rPr lang="es-MX" sz="1300" smtClean="0">
                <a:solidFill>
                  <a:schemeClr val="tx1">
                    <a:lumMod val="50000"/>
                    <a:lumOff val="50000"/>
                  </a:schemeClr>
                </a:solidFill>
              </a:rPr>
              <a:t>Guía práctica para la evaluación de impacto /</a:t>
            </a:r>
            <a:r>
              <a:rPr lang="es-CO" sz="1300" smtClean="0">
                <a:solidFill>
                  <a:schemeClr val="tx1">
                    <a:lumMod val="50000"/>
                    <a:lumOff val="50000"/>
                  </a:schemeClr>
                </a:solidFill>
              </a:rPr>
              <a:t>Capítulo </a:t>
            </a:r>
            <a:r>
              <a:rPr lang="es-CO" sz="1300" dirty="0" smtClean="0">
                <a:solidFill>
                  <a:schemeClr val="tx1">
                    <a:lumMod val="50000"/>
                    <a:lumOff val="50000"/>
                  </a:schemeClr>
                </a:solidFill>
              </a:rPr>
              <a:t>5: Experimentos Naturales o cuasi Experimentos/14</a:t>
            </a:r>
            <a:endParaRPr lang="es-ES" sz="1300" dirty="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a:bodyPr>
          <a:lstStyle/>
          <a:p>
            <a:pPr marL="0" lvl="1" algn="ctr">
              <a:buNone/>
            </a:pPr>
            <a:r>
              <a:rPr lang="es-ES" sz="2500" dirty="0" smtClean="0"/>
              <a:t>Cuando se observan diferencias preexistentes entre el grupo de control y el de tratamiento. Generalmente en presencia de un experimento natural que genera asignación parcialmente aleatoria.</a:t>
            </a:r>
          </a:p>
          <a:p>
            <a:endParaRPr lang="es-ES" sz="2500" dirty="0" smtClean="0"/>
          </a:p>
          <a:p>
            <a:pPr lvl="1" algn="just">
              <a:buNone/>
            </a:pPr>
            <a:r>
              <a:rPr lang="es-ES" sz="2500" dirty="0" smtClean="0"/>
              <a:t>	</a:t>
            </a:r>
          </a:p>
          <a:p>
            <a:pPr marL="0" lvl="1" algn="ctr">
              <a:buNone/>
            </a:pPr>
            <a:r>
              <a:rPr lang="es-ES" sz="2500" dirty="0" smtClean="0"/>
              <a:t>Si el tratamiento está correlacionado con el nivel inicial de </a:t>
            </a:r>
            <a:r>
              <a:rPr lang="es-ES" sz="2500" i="1" dirty="0" smtClean="0"/>
              <a:t>Y </a:t>
            </a:r>
            <a:r>
              <a:rPr lang="es-ES" sz="2500" dirty="0" smtClean="0"/>
              <a:t>antes de la asignación del tratamiento, el estimador de diferencias es sesgado; pero el de Dif en Dif no lo es.</a:t>
            </a:r>
            <a:endParaRPr lang="es-AR" sz="2500" dirty="0"/>
          </a:p>
        </p:txBody>
      </p:sp>
      <p:pic>
        <p:nvPicPr>
          <p:cNvPr id="4" name="Picture 1"/>
          <p:cNvPicPr>
            <a:picLocks noChangeAspect="1" noChangeArrowheads="1"/>
          </p:cNvPicPr>
          <p:nvPr/>
        </p:nvPicPr>
        <p:blipFill>
          <a:blip r:embed="rId2" cstate="print"/>
          <a:srcRect/>
          <a:stretch>
            <a:fillRect/>
          </a:stretch>
        </p:blipFill>
        <p:spPr bwMode="auto">
          <a:xfrm>
            <a:off x="0" y="0"/>
            <a:ext cx="2214546" cy="1053379"/>
          </a:xfrm>
          <a:prstGeom prst="rect">
            <a:avLst/>
          </a:prstGeom>
          <a:noFill/>
          <a:ln w="9525">
            <a:noFill/>
            <a:miter lim="800000"/>
            <a:headEnd/>
            <a:tailEnd/>
          </a:ln>
          <a:effectLst/>
        </p:spPr>
      </p:pic>
      <p:sp>
        <p:nvSpPr>
          <p:cNvPr id="5" name="1 Título"/>
          <p:cNvSpPr>
            <a:spLocks noGrp="1"/>
          </p:cNvSpPr>
          <p:nvPr>
            <p:ph type="title"/>
          </p:nvPr>
        </p:nvSpPr>
        <p:spPr>
          <a:xfrm>
            <a:off x="2357422" y="214290"/>
            <a:ext cx="6572296" cy="1214446"/>
          </a:xfrm>
        </p:spPr>
        <p:txBody>
          <a:bodyPr>
            <a:noAutofit/>
          </a:bodyPr>
          <a:lstStyle/>
          <a:p>
            <a:r>
              <a:rPr lang="es-CO" sz="4200" u="sng" dirty="0" smtClean="0"/>
              <a:t>¿Cuándo usar el estimador de Dif en Dif?</a:t>
            </a:r>
            <a:endParaRPr lang="es-ES" sz="4200" u="sng" dirty="0"/>
          </a:p>
        </p:txBody>
      </p:sp>
      <p:sp>
        <p:nvSpPr>
          <p:cNvPr id="266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12" name="11 Flecha abajo"/>
          <p:cNvSpPr/>
          <p:nvPr/>
        </p:nvSpPr>
        <p:spPr>
          <a:xfrm>
            <a:off x="4500562" y="3571876"/>
            <a:ext cx="500066" cy="714380"/>
          </a:xfrm>
          <a:prstGeom prst="downArrow">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9" name="8 Rectángulo"/>
          <p:cNvSpPr/>
          <p:nvPr/>
        </p:nvSpPr>
        <p:spPr>
          <a:xfrm>
            <a:off x="0" y="6534859"/>
            <a:ext cx="9144000" cy="292388"/>
          </a:xfrm>
          <a:prstGeom prst="rect">
            <a:avLst/>
          </a:prstGeom>
        </p:spPr>
        <p:txBody>
          <a:bodyPr wrap="square">
            <a:spAutoFit/>
          </a:bodyPr>
          <a:lstStyle/>
          <a:p>
            <a:pPr marL="3175" lvl="1" algn="ctr"/>
            <a:r>
              <a:rPr lang="es-MX" sz="1300" smtClean="0">
                <a:solidFill>
                  <a:schemeClr val="tx1">
                    <a:lumMod val="50000"/>
                    <a:lumOff val="50000"/>
                  </a:schemeClr>
                </a:solidFill>
              </a:rPr>
              <a:t>Guía práctica para la evaluación de impacto /</a:t>
            </a:r>
            <a:r>
              <a:rPr lang="es-CO" sz="1300" smtClean="0">
                <a:solidFill>
                  <a:schemeClr val="tx1">
                    <a:lumMod val="50000"/>
                    <a:lumOff val="50000"/>
                  </a:schemeClr>
                </a:solidFill>
              </a:rPr>
              <a:t>Capítulo </a:t>
            </a:r>
            <a:r>
              <a:rPr lang="es-CO" sz="1300" dirty="0" smtClean="0">
                <a:solidFill>
                  <a:schemeClr val="tx1">
                    <a:lumMod val="50000"/>
                    <a:lumOff val="50000"/>
                  </a:schemeClr>
                </a:solidFill>
              </a:rPr>
              <a:t>5: Experimentos Naturales o cuasi Experimentos/15</a:t>
            </a:r>
            <a:endParaRPr lang="es-ES" sz="1300" dirty="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p:cNvPicPr>
            <a:picLocks noChangeAspect="1" noChangeArrowheads="1"/>
          </p:cNvPicPr>
          <p:nvPr/>
        </p:nvPicPr>
        <p:blipFill>
          <a:blip r:embed="rId3" cstate="print"/>
          <a:srcRect/>
          <a:stretch>
            <a:fillRect/>
          </a:stretch>
        </p:blipFill>
        <p:spPr bwMode="auto">
          <a:xfrm>
            <a:off x="0" y="0"/>
            <a:ext cx="2214546" cy="1053379"/>
          </a:xfrm>
          <a:prstGeom prst="rect">
            <a:avLst/>
          </a:prstGeom>
          <a:noFill/>
          <a:ln w="9525">
            <a:noFill/>
            <a:miter lim="800000"/>
            <a:headEnd/>
            <a:tailEnd/>
          </a:ln>
          <a:effectLst/>
        </p:spPr>
      </p:pic>
      <p:sp>
        <p:nvSpPr>
          <p:cNvPr id="5" name="1 Título"/>
          <p:cNvSpPr>
            <a:spLocks noGrp="1"/>
          </p:cNvSpPr>
          <p:nvPr>
            <p:ph type="title"/>
          </p:nvPr>
        </p:nvSpPr>
        <p:spPr>
          <a:xfrm>
            <a:off x="2357422" y="214290"/>
            <a:ext cx="6572296" cy="1214446"/>
          </a:xfrm>
        </p:spPr>
        <p:txBody>
          <a:bodyPr>
            <a:noAutofit/>
          </a:bodyPr>
          <a:lstStyle/>
          <a:p>
            <a:r>
              <a:rPr lang="es-ES" sz="4200" u="sng" dirty="0" smtClean="0"/>
              <a:t>Ejemplo gráfico</a:t>
            </a:r>
            <a:endParaRPr lang="es-ES" sz="4200" u="sng" dirty="0"/>
          </a:p>
        </p:txBody>
      </p:sp>
      <p:pic>
        <p:nvPicPr>
          <p:cNvPr id="6" name="5 Marcador de contenido"/>
          <p:cNvPicPr>
            <a:picLocks noGrp="1"/>
          </p:cNvPicPr>
          <p:nvPr>
            <p:ph idx="1"/>
          </p:nvPr>
        </p:nvPicPr>
        <p:blipFill>
          <a:blip r:embed="rId4" cstate="print"/>
          <a:srcRect/>
          <a:stretch>
            <a:fillRect/>
          </a:stretch>
        </p:blipFill>
        <p:spPr bwMode="auto">
          <a:xfrm>
            <a:off x="857224" y="1500174"/>
            <a:ext cx="7500990" cy="4357718"/>
          </a:xfrm>
          <a:prstGeom prst="rect">
            <a:avLst/>
          </a:prstGeom>
          <a:noFill/>
          <a:ln w="9525">
            <a:noFill/>
            <a:miter lim="800000"/>
            <a:headEnd/>
            <a:tailEnd/>
          </a:ln>
        </p:spPr>
      </p:pic>
      <p:sp>
        <p:nvSpPr>
          <p:cNvPr id="27649" name="Rectangle 1"/>
          <p:cNvSpPr>
            <a:spLocks noChangeArrowheads="1"/>
          </p:cNvSpPr>
          <p:nvPr/>
        </p:nvSpPr>
        <p:spPr bwMode="auto">
          <a:xfrm>
            <a:off x="3214678" y="5891917"/>
            <a:ext cx="5072098" cy="3231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500" b="0" i="0" u="none" strike="noStrike" cap="none" normalizeH="0" baseline="0" dirty="0" smtClean="0">
                <a:ln>
                  <a:noFill/>
                </a:ln>
                <a:solidFill>
                  <a:schemeClr val="tx1"/>
                </a:solidFill>
                <a:effectLst/>
                <a:latin typeface="Arial" pitchFamily="34" charset="0"/>
                <a:ea typeface="Times New Roman" pitchFamily="18" charset="0"/>
              </a:rPr>
              <a:t>Fuente: Stock y Watson (2003), página 387, gráfica 11.1</a:t>
            </a:r>
            <a:endParaRPr kumimoji="0" lang="es-AR" sz="1500" b="0" i="0" u="none" strike="noStrike" cap="none" normalizeH="0" baseline="0" dirty="0" smtClean="0">
              <a:ln>
                <a:noFill/>
              </a:ln>
              <a:solidFill>
                <a:schemeClr val="tx1"/>
              </a:solidFill>
              <a:effectLst/>
              <a:latin typeface="Arial" pitchFamily="34" charset="0"/>
            </a:endParaRPr>
          </a:p>
        </p:txBody>
      </p:sp>
      <p:sp>
        <p:nvSpPr>
          <p:cNvPr id="27651"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27652" name="Rectangle 4"/>
          <p:cNvSpPr>
            <a:spLocks noChangeArrowheads="1"/>
          </p:cNvSpPr>
          <p:nvPr/>
        </p:nvSpPr>
        <p:spPr bwMode="auto">
          <a:xfrm>
            <a:off x="0" y="904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dirty="0" smtClean="0">
              <a:ln>
                <a:noFill/>
              </a:ln>
              <a:solidFill>
                <a:schemeClr val="tx1"/>
              </a:solidFill>
              <a:effectLst/>
              <a:latin typeface="Arial" pitchFamily="34" charset="0"/>
            </a:endParaRPr>
          </a:p>
        </p:txBody>
      </p:sp>
      <p:sp>
        <p:nvSpPr>
          <p:cNvPr id="9" name="8 Rectángulo"/>
          <p:cNvSpPr/>
          <p:nvPr/>
        </p:nvSpPr>
        <p:spPr>
          <a:xfrm>
            <a:off x="571472" y="1428736"/>
            <a:ext cx="8143932" cy="4786346"/>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9 Rectángulo"/>
          <p:cNvSpPr/>
          <p:nvPr/>
        </p:nvSpPr>
        <p:spPr>
          <a:xfrm>
            <a:off x="0" y="6534859"/>
            <a:ext cx="9215470" cy="292388"/>
          </a:xfrm>
          <a:prstGeom prst="rect">
            <a:avLst/>
          </a:prstGeom>
        </p:spPr>
        <p:txBody>
          <a:bodyPr wrap="square">
            <a:spAutoFit/>
          </a:bodyPr>
          <a:lstStyle/>
          <a:p>
            <a:pPr marL="3175" lvl="1" algn="ctr" defTabSz="895350"/>
            <a:r>
              <a:rPr lang="es-MX" sz="1300" smtClean="0">
                <a:solidFill>
                  <a:schemeClr val="tx1">
                    <a:lumMod val="50000"/>
                    <a:lumOff val="50000"/>
                  </a:schemeClr>
                </a:solidFill>
              </a:rPr>
              <a:t>Guía práctica para la evaluación de impacto /</a:t>
            </a:r>
            <a:r>
              <a:rPr lang="es-CO" sz="1300" smtClean="0">
                <a:solidFill>
                  <a:schemeClr val="tx1">
                    <a:lumMod val="50000"/>
                    <a:lumOff val="50000"/>
                  </a:schemeClr>
                </a:solidFill>
              </a:rPr>
              <a:t>Capítulo </a:t>
            </a:r>
            <a:r>
              <a:rPr lang="es-CO" sz="1300" dirty="0" smtClean="0">
                <a:solidFill>
                  <a:schemeClr val="tx1">
                    <a:lumMod val="50000"/>
                    <a:lumOff val="50000"/>
                  </a:schemeClr>
                </a:solidFill>
              </a:rPr>
              <a:t>5: Experimentos Naturales o cuasi Experimentos/16</a:t>
            </a:r>
            <a:endParaRPr lang="es-ES" sz="1300" dirty="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600200"/>
            <a:ext cx="8291264" cy="4525963"/>
          </a:xfrm>
          <a:ln w="28575">
            <a:solidFill>
              <a:schemeClr val="accent1">
                <a:lumMod val="75000"/>
              </a:schemeClr>
            </a:solidFill>
          </a:ln>
        </p:spPr>
        <p:txBody>
          <a:bodyPr>
            <a:normAutofit/>
          </a:bodyPr>
          <a:lstStyle/>
          <a:p>
            <a:r>
              <a:rPr lang="es-CO" sz="2500" u="sng" dirty="0" smtClean="0"/>
              <a:t>Objetivo:</a:t>
            </a:r>
            <a:r>
              <a:rPr lang="es-CO" sz="2500" dirty="0" smtClean="0"/>
              <a:t> Evaluar el efecto de pertenecer a una clase pequeña en el aprendizaje de los estudiantes.</a:t>
            </a:r>
          </a:p>
          <a:p>
            <a:r>
              <a:rPr lang="es-CO" sz="2500" u="sng" dirty="0" smtClean="0"/>
              <a:t>Duración:</a:t>
            </a:r>
            <a:r>
              <a:rPr lang="es-CO" sz="2500" dirty="0" smtClean="0"/>
              <a:t>  Cuatro años, en la década de los ochenta.</a:t>
            </a:r>
          </a:p>
          <a:p>
            <a:endParaRPr lang="es-CO" sz="2500" dirty="0" smtClean="0"/>
          </a:p>
          <a:p>
            <a:endParaRPr lang="es-CO" sz="2500" dirty="0" smtClean="0"/>
          </a:p>
          <a:p>
            <a:r>
              <a:rPr lang="es-CO" sz="2500" u="sng" dirty="0" smtClean="0"/>
              <a:t>Tipos de </a:t>
            </a:r>
          </a:p>
          <a:p>
            <a:pPr>
              <a:buNone/>
            </a:pPr>
            <a:r>
              <a:rPr lang="es-CO" sz="2500" dirty="0" smtClean="0"/>
              <a:t>	</a:t>
            </a:r>
            <a:r>
              <a:rPr lang="es-CO" sz="2500" u="sng" dirty="0" smtClean="0"/>
              <a:t>tratamiento</a:t>
            </a:r>
          </a:p>
          <a:p>
            <a:pPr>
              <a:buNone/>
            </a:pPr>
            <a:endParaRPr lang="es-CO" sz="2500" dirty="0" smtClean="0"/>
          </a:p>
          <a:p>
            <a:pPr>
              <a:buNone/>
            </a:pPr>
            <a:endParaRPr lang="es-CO" sz="2500" dirty="0" smtClean="0"/>
          </a:p>
          <a:p>
            <a:pPr>
              <a:buNone/>
            </a:pPr>
            <a:endParaRPr lang="es-ES" sz="2500" dirty="0"/>
          </a:p>
        </p:txBody>
      </p:sp>
      <p:pic>
        <p:nvPicPr>
          <p:cNvPr id="4" name="Picture 1"/>
          <p:cNvPicPr>
            <a:picLocks noChangeAspect="1" noChangeArrowheads="1"/>
          </p:cNvPicPr>
          <p:nvPr/>
        </p:nvPicPr>
        <p:blipFill>
          <a:blip r:embed="rId2" cstate="print"/>
          <a:srcRect/>
          <a:stretch>
            <a:fillRect/>
          </a:stretch>
        </p:blipFill>
        <p:spPr bwMode="auto">
          <a:xfrm>
            <a:off x="-32" y="-24"/>
            <a:ext cx="2214546" cy="1053379"/>
          </a:xfrm>
          <a:prstGeom prst="rect">
            <a:avLst/>
          </a:prstGeom>
          <a:noFill/>
          <a:ln w="9525">
            <a:noFill/>
            <a:miter lim="800000"/>
            <a:headEnd/>
            <a:tailEnd/>
          </a:ln>
          <a:effectLst/>
        </p:spPr>
      </p:pic>
      <p:sp>
        <p:nvSpPr>
          <p:cNvPr id="5" name="1 Título"/>
          <p:cNvSpPr>
            <a:spLocks noGrp="1"/>
          </p:cNvSpPr>
          <p:nvPr>
            <p:ph type="title"/>
          </p:nvPr>
        </p:nvSpPr>
        <p:spPr>
          <a:xfrm>
            <a:off x="2000232" y="142852"/>
            <a:ext cx="6858048" cy="1071570"/>
          </a:xfrm>
        </p:spPr>
        <p:txBody>
          <a:bodyPr>
            <a:noAutofit/>
          </a:bodyPr>
          <a:lstStyle/>
          <a:p>
            <a:r>
              <a:rPr lang="es-CO" sz="4200" u="sng" dirty="0" smtClean="0"/>
              <a:t>Ejemplo 1. STAR </a:t>
            </a:r>
            <a:br>
              <a:rPr lang="es-CO" sz="4200" u="sng" dirty="0" smtClean="0"/>
            </a:br>
            <a:r>
              <a:rPr lang="es-CO" sz="4200" u="sng" dirty="0" smtClean="0"/>
              <a:t>Descripción</a:t>
            </a:r>
            <a:endParaRPr lang="es-ES" sz="4200" u="sng" dirty="0"/>
          </a:p>
        </p:txBody>
      </p:sp>
      <p:sp>
        <p:nvSpPr>
          <p:cNvPr id="6" name="5 Abrir llave"/>
          <p:cNvSpPr/>
          <p:nvPr/>
        </p:nvSpPr>
        <p:spPr>
          <a:xfrm>
            <a:off x="2428860" y="3571876"/>
            <a:ext cx="285752" cy="1571636"/>
          </a:xfrm>
          <a:prstGeom prst="leftBrac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dirty="0"/>
          </a:p>
        </p:txBody>
      </p:sp>
      <p:sp>
        <p:nvSpPr>
          <p:cNvPr id="7" name="6 CuadroTexto"/>
          <p:cNvSpPr txBox="1"/>
          <p:nvPr/>
        </p:nvSpPr>
        <p:spPr>
          <a:xfrm>
            <a:off x="2571736" y="3571876"/>
            <a:ext cx="6072230" cy="446276"/>
          </a:xfrm>
          <a:prstGeom prst="rect">
            <a:avLst/>
          </a:prstGeom>
          <a:noFill/>
        </p:spPr>
        <p:txBody>
          <a:bodyPr wrap="square" rtlCol="0">
            <a:spAutoFit/>
          </a:bodyPr>
          <a:lstStyle/>
          <a:p>
            <a:r>
              <a:rPr lang="es-CO" sz="2300" dirty="0" smtClean="0"/>
              <a:t>Clases normales          22-25 estudiantes. </a:t>
            </a:r>
            <a:endParaRPr lang="es-ES" dirty="0"/>
          </a:p>
        </p:txBody>
      </p:sp>
      <p:sp>
        <p:nvSpPr>
          <p:cNvPr id="10" name="9 CuadroTexto"/>
          <p:cNvSpPr txBox="1"/>
          <p:nvPr/>
        </p:nvSpPr>
        <p:spPr>
          <a:xfrm>
            <a:off x="2571736" y="4125732"/>
            <a:ext cx="6308137" cy="446276"/>
          </a:xfrm>
          <a:prstGeom prst="rect">
            <a:avLst/>
          </a:prstGeom>
          <a:noFill/>
        </p:spPr>
        <p:txBody>
          <a:bodyPr wrap="none" rtlCol="0">
            <a:spAutoFit/>
          </a:bodyPr>
          <a:lstStyle/>
          <a:p>
            <a:r>
              <a:rPr lang="es-CO" sz="2300" dirty="0" smtClean="0"/>
              <a:t>Clases normales con asistente    22-25 estudiantes.</a:t>
            </a:r>
            <a:endParaRPr lang="es-ES" sz="2300" dirty="0"/>
          </a:p>
        </p:txBody>
      </p:sp>
      <p:cxnSp>
        <p:nvCxnSpPr>
          <p:cNvPr id="12" name="11 Conector recto de flecha"/>
          <p:cNvCxnSpPr/>
          <p:nvPr/>
        </p:nvCxnSpPr>
        <p:spPr>
          <a:xfrm>
            <a:off x="6286512" y="4357694"/>
            <a:ext cx="142876"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6" name="15 Conector recto de flecha"/>
          <p:cNvCxnSpPr/>
          <p:nvPr/>
        </p:nvCxnSpPr>
        <p:spPr>
          <a:xfrm>
            <a:off x="4786314" y="3786190"/>
            <a:ext cx="142876"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17" name="16 CuadroTexto"/>
          <p:cNvSpPr txBox="1"/>
          <p:nvPr/>
        </p:nvSpPr>
        <p:spPr>
          <a:xfrm>
            <a:off x="2609115" y="4697236"/>
            <a:ext cx="5194435" cy="446276"/>
          </a:xfrm>
          <a:prstGeom prst="rect">
            <a:avLst/>
          </a:prstGeom>
          <a:noFill/>
        </p:spPr>
        <p:txBody>
          <a:bodyPr wrap="none" rtlCol="0">
            <a:spAutoFit/>
          </a:bodyPr>
          <a:lstStyle/>
          <a:p>
            <a:r>
              <a:rPr lang="es-CO" sz="2300" dirty="0" smtClean="0"/>
              <a:t>Clases pequeñas            13-17 estudiantes.</a:t>
            </a:r>
            <a:endParaRPr lang="es-ES" sz="2300" dirty="0"/>
          </a:p>
        </p:txBody>
      </p:sp>
      <p:cxnSp>
        <p:nvCxnSpPr>
          <p:cNvPr id="18" name="17 Conector recto de flecha"/>
          <p:cNvCxnSpPr/>
          <p:nvPr/>
        </p:nvCxnSpPr>
        <p:spPr>
          <a:xfrm>
            <a:off x="4786314" y="4927610"/>
            <a:ext cx="142876"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13" name="12 Rectángulo"/>
          <p:cNvSpPr/>
          <p:nvPr/>
        </p:nvSpPr>
        <p:spPr>
          <a:xfrm>
            <a:off x="0" y="6534859"/>
            <a:ext cx="9215470" cy="292388"/>
          </a:xfrm>
          <a:prstGeom prst="rect">
            <a:avLst/>
          </a:prstGeom>
        </p:spPr>
        <p:txBody>
          <a:bodyPr wrap="square">
            <a:spAutoFit/>
          </a:bodyPr>
          <a:lstStyle/>
          <a:p>
            <a:pPr algn="ctr"/>
            <a:r>
              <a:rPr lang="es-MX" sz="1300" smtClean="0">
                <a:solidFill>
                  <a:schemeClr val="tx1">
                    <a:lumMod val="50000"/>
                    <a:lumOff val="50000"/>
                  </a:schemeClr>
                </a:solidFill>
              </a:rPr>
              <a:t>Guía práctica para la evaluación de impacto /</a:t>
            </a:r>
            <a:r>
              <a:rPr lang="es-CO" sz="1300" smtClean="0">
                <a:solidFill>
                  <a:schemeClr val="tx1">
                    <a:lumMod val="50000"/>
                    <a:lumOff val="50000"/>
                  </a:schemeClr>
                </a:solidFill>
              </a:rPr>
              <a:t>Capítulo </a:t>
            </a:r>
            <a:r>
              <a:rPr lang="es-CO" sz="1300" dirty="0" smtClean="0">
                <a:solidFill>
                  <a:schemeClr val="tx1">
                    <a:lumMod val="50000"/>
                    <a:lumOff val="50000"/>
                  </a:schemeClr>
                </a:solidFill>
              </a:rPr>
              <a:t>5: Experimentos Naturales o cuasi Experimentos/17</a:t>
            </a:r>
            <a:endParaRPr lang="es-ES" sz="1300" dirty="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428736"/>
            <a:ext cx="8229600" cy="4686320"/>
          </a:xfrm>
          <a:ln w="28575">
            <a:solidFill>
              <a:schemeClr val="accent1">
                <a:lumMod val="75000"/>
              </a:schemeClr>
            </a:solidFill>
          </a:ln>
        </p:spPr>
        <p:txBody>
          <a:bodyPr/>
          <a:lstStyle/>
          <a:p>
            <a:r>
              <a:rPr lang="es-CO" sz="2500" u="sng" dirty="0" smtClean="0"/>
              <a:t>Variable de interés</a:t>
            </a:r>
            <a:r>
              <a:rPr lang="es-CO" sz="2500" dirty="0" smtClean="0"/>
              <a:t>: Puntajes en los exámenes estandarizados de lectura y matemáticas (SAT), realizados anualmente.</a:t>
            </a:r>
          </a:p>
          <a:p>
            <a:pPr algn="just"/>
            <a:r>
              <a:rPr lang="es-CO" sz="2500" u="sng" dirty="0" smtClean="0"/>
              <a:t>Asignación ideal</a:t>
            </a:r>
            <a:r>
              <a:rPr lang="es-CO" sz="2500" dirty="0" smtClean="0"/>
              <a:t>: Aleatoria para estudiantes y profesores, sin reasignación desde kínder a tercero.</a:t>
            </a:r>
          </a:p>
          <a:p>
            <a:pPr algn="just"/>
            <a:endParaRPr lang="es-CO" sz="2500" dirty="0" smtClean="0"/>
          </a:p>
          <a:p>
            <a:pPr algn="just"/>
            <a:r>
              <a:rPr lang="es-CO" sz="2500" u="sng" dirty="0" smtClean="0"/>
              <a:t>Problemas</a:t>
            </a:r>
          </a:p>
          <a:p>
            <a:pPr lvl="1" algn="just">
              <a:buNone/>
            </a:pPr>
            <a:r>
              <a:rPr lang="es-CO" sz="2500" dirty="0" smtClean="0"/>
              <a:t>10% de reasignaciones</a:t>
            </a:r>
          </a:p>
          <a:p>
            <a:pPr lvl="1" algn="just">
              <a:buNone/>
            </a:pPr>
            <a:endParaRPr lang="es-CO" sz="2100" dirty="0" smtClean="0"/>
          </a:p>
        </p:txBody>
      </p:sp>
      <p:pic>
        <p:nvPicPr>
          <p:cNvPr id="4" name="Picture 1"/>
          <p:cNvPicPr>
            <a:picLocks noChangeAspect="1" noChangeArrowheads="1"/>
          </p:cNvPicPr>
          <p:nvPr/>
        </p:nvPicPr>
        <p:blipFill>
          <a:blip r:embed="rId2" cstate="print"/>
          <a:srcRect/>
          <a:stretch>
            <a:fillRect/>
          </a:stretch>
        </p:blipFill>
        <p:spPr bwMode="auto">
          <a:xfrm>
            <a:off x="-32" y="-24"/>
            <a:ext cx="2214546" cy="1053379"/>
          </a:xfrm>
          <a:prstGeom prst="rect">
            <a:avLst/>
          </a:prstGeom>
          <a:noFill/>
          <a:ln w="9525">
            <a:noFill/>
            <a:miter lim="800000"/>
            <a:headEnd/>
            <a:tailEnd/>
          </a:ln>
          <a:effectLst/>
        </p:spPr>
      </p:pic>
      <p:sp>
        <p:nvSpPr>
          <p:cNvPr id="5" name="1 Título"/>
          <p:cNvSpPr>
            <a:spLocks noGrp="1"/>
          </p:cNvSpPr>
          <p:nvPr>
            <p:ph type="title"/>
          </p:nvPr>
        </p:nvSpPr>
        <p:spPr>
          <a:xfrm>
            <a:off x="2000232" y="142852"/>
            <a:ext cx="6858048" cy="1071570"/>
          </a:xfrm>
        </p:spPr>
        <p:txBody>
          <a:bodyPr>
            <a:noAutofit/>
          </a:bodyPr>
          <a:lstStyle/>
          <a:p>
            <a:r>
              <a:rPr lang="es-CO" sz="4200" u="sng" dirty="0" smtClean="0"/>
              <a:t>Ejemplo 1. STAR</a:t>
            </a:r>
            <a:br>
              <a:rPr lang="es-CO" sz="4200" u="sng" dirty="0" smtClean="0"/>
            </a:br>
            <a:r>
              <a:rPr lang="es-CO" sz="4200" u="sng" dirty="0" smtClean="0"/>
              <a:t>Descripción</a:t>
            </a:r>
            <a:endParaRPr lang="es-ES" sz="4200" u="sng" dirty="0"/>
          </a:p>
        </p:txBody>
      </p:sp>
      <p:cxnSp>
        <p:nvCxnSpPr>
          <p:cNvPr id="11" name="10 Conector recto de flecha"/>
          <p:cNvCxnSpPr/>
          <p:nvPr/>
        </p:nvCxnSpPr>
        <p:spPr>
          <a:xfrm>
            <a:off x="4214810" y="4143380"/>
            <a:ext cx="428628"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14" name="13 CuadroTexto"/>
          <p:cNvSpPr txBox="1"/>
          <p:nvPr/>
        </p:nvSpPr>
        <p:spPr>
          <a:xfrm>
            <a:off x="4643439" y="3786190"/>
            <a:ext cx="4000528" cy="1154162"/>
          </a:xfrm>
          <a:prstGeom prst="rect">
            <a:avLst/>
          </a:prstGeom>
          <a:noFill/>
          <a:ln>
            <a:noFill/>
          </a:ln>
        </p:spPr>
        <p:txBody>
          <a:bodyPr wrap="square" rtlCol="0">
            <a:spAutoFit/>
          </a:bodyPr>
          <a:lstStyle/>
          <a:p>
            <a:r>
              <a:rPr lang="es-CO" sz="2300" dirty="0" smtClean="0"/>
              <a:t>Por conflictos personales</a:t>
            </a:r>
          </a:p>
          <a:p>
            <a:r>
              <a:rPr lang="es-CO" sz="2300" dirty="0" smtClean="0">
                <a:solidFill>
                  <a:schemeClr val="accent1">
                    <a:lumMod val="75000"/>
                  </a:schemeClr>
                </a:solidFill>
              </a:rPr>
              <a:t>(puede </a:t>
            </a:r>
            <a:r>
              <a:rPr lang="es-CO" sz="2300" u="sng" dirty="0" smtClean="0">
                <a:solidFill>
                  <a:schemeClr val="accent1">
                    <a:lumMod val="75000"/>
                  </a:schemeClr>
                </a:solidFill>
              </a:rPr>
              <a:t>no</a:t>
            </a:r>
            <a:r>
              <a:rPr lang="es-CO" sz="2300" dirty="0" smtClean="0">
                <a:solidFill>
                  <a:schemeClr val="accent1">
                    <a:lumMod val="75000"/>
                  </a:schemeClr>
                </a:solidFill>
              </a:rPr>
              <a:t> estar correlacionado con el experimento).</a:t>
            </a:r>
            <a:endParaRPr lang="es-ES" sz="2300" dirty="0">
              <a:solidFill>
                <a:schemeClr val="accent1">
                  <a:lumMod val="75000"/>
                </a:schemeClr>
              </a:solidFill>
            </a:endParaRPr>
          </a:p>
        </p:txBody>
      </p:sp>
      <p:sp>
        <p:nvSpPr>
          <p:cNvPr id="15" name="14 CuadroTexto"/>
          <p:cNvSpPr txBox="1"/>
          <p:nvPr/>
        </p:nvSpPr>
        <p:spPr>
          <a:xfrm>
            <a:off x="4643438" y="4929198"/>
            <a:ext cx="3950825" cy="1154162"/>
          </a:xfrm>
          <a:prstGeom prst="rect">
            <a:avLst/>
          </a:prstGeom>
          <a:noFill/>
          <a:ln>
            <a:noFill/>
          </a:ln>
        </p:spPr>
        <p:txBody>
          <a:bodyPr wrap="square" rtlCol="0">
            <a:spAutoFit/>
          </a:bodyPr>
          <a:lstStyle/>
          <a:p>
            <a:r>
              <a:rPr lang="es-CO" sz="2300" dirty="0" smtClean="0"/>
              <a:t>Por preocupación de los padres</a:t>
            </a:r>
          </a:p>
          <a:p>
            <a:r>
              <a:rPr lang="es-CO" sz="2300" dirty="0" smtClean="0">
                <a:solidFill>
                  <a:schemeClr val="accent1">
                    <a:lumMod val="75000"/>
                  </a:schemeClr>
                </a:solidFill>
              </a:rPr>
              <a:t>(puede estar correlacionado con el experimento).</a:t>
            </a:r>
            <a:endParaRPr lang="es-ES" sz="2300" dirty="0">
              <a:solidFill>
                <a:schemeClr val="accent1">
                  <a:lumMod val="75000"/>
                </a:schemeClr>
              </a:solidFill>
            </a:endParaRPr>
          </a:p>
        </p:txBody>
      </p:sp>
      <p:cxnSp>
        <p:nvCxnSpPr>
          <p:cNvPr id="17" name="16 Conector recto"/>
          <p:cNvCxnSpPr/>
          <p:nvPr/>
        </p:nvCxnSpPr>
        <p:spPr>
          <a:xfrm rot="5400000">
            <a:off x="3714744" y="4643446"/>
            <a:ext cx="1000132" cy="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 name="17 Conector recto de flecha"/>
          <p:cNvCxnSpPr/>
          <p:nvPr/>
        </p:nvCxnSpPr>
        <p:spPr>
          <a:xfrm>
            <a:off x="4214810" y="5143512"/>
            <a:ext cx="428628"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12" name="11 Rectángulo"/>
          <p:cNvSpPr/>
          <p:nvPr/>
        </p:nvSpPr>
        <p:spPr>
          <a:xfrm>
            <a:off x="0" y="6534859"/>
            <a:ext cx="9144000" cy="292388"/>
          </a:xfrm>
          <a:prstGeom prst="rect">
            <a:avLst/>
          </a:prstGeom>
        </p:spPr>
        <p:txBody>
          <a:bodyPr wrap="square">
            <a:spAutoFit/>
          </a:bodyPr>
          <a:lstStyle/>
          <a:p>
            <a:pPr marL="3175" lvl="1" algn="ctr"/>
            <a:r>
              <a:rPr lang="es-MX" sz="1300" smtClean="0">
                <a:solidFill>
                  <a:schemeClr val="tx1">
                    <a:lumMod val="50000"/>
                    <a:lumOff val="50000"/>
                  </a:schemeClr>
                </a:solidFill>
              </a:rPr>
              <a:t>Guía práctica para la evaluación de impacto /</a:t>
            </a:r>
            <a:r>
              <a:rPr lang="es-CO" sz="1300" smtClean="0">
                <a:solidFill>
                  <a:schemeClr val="tx1">
                    <a:lumMod val="50000"/>
                    <a:lumOff val="50000"/>
                  </a:schemeClr>
                </a:solidFill>
              </a:rPr>
              <a:t>Capítulo </a:t>
            </a:r>
            <a:r>
              <a:rPr lang="es-CO" sz="1300" dirty="0" smtClean="0">
                <a:solidFill>
                  <a:schemeClr val="tx1">
                    <a:lumMod val="50000"/>
                    <a:lumOff val="50000"/>
                  </a:schemeClr>
                </a:solidFill>
              </a:rPr>
              <a:t>5: Experimentos Naturales o cuasi Experimentos/18</a:t>
            </a:r>
            <a:endParaRPr lang="es-ES" sz="1300" dirty="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5 Marcador de contenido"/>
          <p:cNvGraphicFramePr>
            <a:graphicFrameLocks noGrp="1"/>
          </p:cNvGraphicFramePr>
          <p:nvPr>
            <p:ph idx="1"/>
            <p:extLst>
              <p:ext uri="{D42A27DB-BD31-4B8C-83A1-F6EECF244321}">
                <p14:modId xmlns="" xmlns:p14="http://schemas.microsoft.com/office/powerpoint/2010/main" val="3004122481"/>
              </p:ext>
            </p:extLst>
          </p:nvPr>
        </p:nvGraphicFramePr>
        <p:xfrm>
          <a:off x="1500166" y="1714488"/>
          <a:ext cx="6572295" cy="1875477"/>
        </p:xfrm>
        <a:graphic>
          <a:graphicData uri="http://schemas.openxmlformats.org/drawingml/2006/table">
            <a:tbl>
              <a:tblPr firstRow="1" bandRow="1">
                <a:tableStyleId>{5C22544A-7EE6-4342-B048-85BDC9FD1C3A}</a:tableStyleId>
              </a:tblPr>
              <a:tblGrid>
                <a:gridCol w="1214446"/>
                <a:gridCol w="2571768"/>
                <a:gridCol w="2786081"/>
              </a:tblGrid>
              <a:tr h="595317">
                <a:tc>
                  <a:txBody>
                    <a:bodyPr/>
                    <a:lstStyle/>
                    <a:p>
                      <a:endParaRPr lang="es-AR" dirty="0"/>
                    </a:p>
                  </a:txBody>
                  <a:tcPr/>
                </a:tc>
                <a:tc>
                  <a:txBody>
                    <a:bodyPr/>
                    <a:lstStyle/>
                    <a:p>
                      <a:pPr algn="ctr"/>
                      <a:r>
                        <a:rPr lang="es-ES" dirty="0" smtClean="0">
                          <a:solidFill>
                            <a:schemeClr val="tx1"/>
                          </a:solidFill>
                        </a:rPr>
                        <a:t>Tratamiento</a:t>
                      </a:r>
                      <a:endParaRPr lang="es-AR" dirty="0">
                        <a:solidFill>
                          <a:schemeClr val="tx1"/>
                        </a:solidFill>
                      </a:endParaRPr>
                    </a:p>
                  </a:txBody>
                  <a:tcPr/>
                </a:tc>
                <a:tc>
                  <a:txBody>
                    <a:bodyPr/>
                    <a:lstStyle/>
                    <a:p>
                      <a:pPr algn="ctr"/>
                      <a:r>
                        <a:rPr lang="es-ES" dirty="0" smtClean="0">
                          <a:solidFill>
                            <a:schemeClr val="tx1"/>
                          </a:solidFill>
                        </a:rPr>
                        <a:t>Control</a:t>
                      </a:r>
                      <a:endParaRPr lang="es-AR" dirty="0">
                        <a:solidFill>
                          <a:schemeClr val="tx1"/>
                        </a:solidFill>
                      </a:endParaRPr>
                    </a:p>
                  </a:txBody>
                  <a:tcPr/>
                </a:tc>
              </a:tr>
              <a:tr h="595317">
                <a:tc>
                  <a:txBody>
                    <a:bodyPr/>
                    <a:lstStyle/>
                    <a:p>
                      <a:endParaRPr lang="es-AR"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CO" sz="1800" kern="1200" dirty="0" smtClean="0">
                        <a:solidFill>
                          <a:schemeClr val="dk1"/>
                        </a:solidFill>
                        <a:latin typeface="+mn-lt"/>
                        <a:ea typeface="+mn-ea"/>
                        <a:cs typeface="+mn-cs"/>
                      </a:endParaRPr>
                    </a:p>
                    <a:p>
                      <a:endParaRPr lang="es-AR"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CO" sz="1800" kern="1200" dirty="0" smtClean="0">
                        <a:solidFill>
                          <a:schemeClr val="dk1"/>
                        </a:solidFill>
                        <a:latin typeface="+mn-lt"/>
                        <a:ea typeface="+mn-ea"/>
                        <a:cs typeface="+mn-cs"/>
                      </a:endParaRPr>
                    </a:p>
                    <a:p>
                      <a:endParaRPr lang="es-AR" dirty="0"/>
                    </a:p>
                  </a:txBody>
                  <a:tcPr/>
                </a:tc>
              </a:tr>
              <a:tr h="595317">
                <a:tc>
                  <a:txBody>
                    <a:bodyPr/>
                    <a:lstStyle/>
                    <a:p>
                      <a:endParaRPr lang="es-AR"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CO" sz="1800" kern="1200" dirty="0" smtClean="0">
                        <a:solidFill>
                          <a:schemeClr val="dk1"/>
                        </a:solidFill>
                        <a:latin typeface="+mn-lt"/>
                        <a:ea typeface="+mn-ea"/>
                        <a:cs typeface="+mn-cs"/>
                      </a:endParaRPr>
                    </a:p>
                    <a:p>
                      <a:endParaRPr lang="es-AR" dirty="0"/>
                    </a:p>
                  </a:txBody>
                  <a:tcPr/>
                </a:tc>
                <a:tc>
                  <a:txBody>
                    <a:bodyPr/>
                    <a:lstStyle/>
                    <a:p>
                      <a:endParaRPr lang="es-AR" dirty="0"/>
                    </a:p>
                  </a:txBody>
                  <a:tcPr/>
                </a:tc>
              </a:tr>
            </a:tbl>
          </a:graphicData>
        </a:graphic>
      </p:graphicFrame>
      <p:pic>
        <p:nvPicPr>
          <p:cNvPr id="4" name="Picture 1"/>
          <p:cNvPicPr>
            <a:picLocks noChangeAspect="1" noChangeArrowheads="1"/>
          </p:cNvPicPr>
          <p:nvPr/>
        </p:nvPicPr>
        <p:blipFill>
          <a:blip r:embed="rId4" cstate="print"/>
          <a:srcRect/>
          <a:stretch>
            <a:fillRect/>
          </a:stretch>
        </p:blipFill>
        <p:spPr bwMode="auto">
          <a:xfrm>
            <a:off x="0" y="0"/>
            <a:ext cx="2214546" cy="1053379"/>
          </a:xfrm>
          <a:prstGeom prst="rect">
            <a:avLst/>
          </a:prstGeom>
          <a:noFill/>
          <a:ln w="9525">
            <a:noFill/>
            <a:miter lim="800000"/>
            <a:headEnd/>
            <a:tailEnd/>
          </a:ln>
          <a:effectLst/>
        </p:spPr>
      </p:pic>
      <p:sp>
        <p:nvSpPr>
          <p:cNvPr id="5" name="1 Título"/>
          <p:cNvSpPr>
            <a:spLocks noGrp="1"/>
          </p:cNvSpPr>
          <p:nvPr>
            <p:ph type="title"/>
          </p:nvPr>
        </p:nvSpPr>
        <p:spPr>
          <a:xfrm>
            <a:off x="2357422" y="214290"/>
            <a:ext cx="6572296" cy="1214446"/>
          </a:xfrm>
        </p:spPr>
        <p:txBody>
          <a:bodyPr>
            <a:noAutofit/>
          </a:bodyPr>
          <a:lstStyle/>
          <a:p>
            <a:r>
              <a:rPr lang="es-ES" sz="4200" u="sng" dirty="0" smtClean="0"/>
              <a:t>Ejemplo: Programa STAR</a:t>
            </a:r>
            <a:endParaRPr lang="es-ES" sz="4200" u="sng" dirty="0"/>
          </a:p>
        </p:txBody>
      </p:sp>
      <p:sp>
        <p:nvSpPr>
          <p:cNvPr id="28674"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28675" name="Rectangle 3"/>
          <p:cNvSpPr>
            <a:spLocks noChangeArrowheads="1"/>
          </p:cNvSpPr>
          <p:nvPr/>
        </p:nvSpPr>
        <p:spPr bwMode="auto">
          <a:xfrm>
            <a:off x="0" y="904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dirty="0" smtClean="0">
              <a:ln>
                <a:noFill/>
              </a:ln>
              <a:solidFill>
                <a:schemeClr val="tx1"/>
              </a:solidFill>
              <a:effectLst/>
              <a:latin typeface="Arial" pitchFamily="34" charset="0"/>
            </a:endParaRPr>
          </a:p>
        </p:txBody>
      </p:sp>
      <p:sp>
        <p:nvSpPr>
          <p:cNvPr id="28677"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28678" name="Rectangle 6"/>
          <p:cNvSpPr>
            <a:spLocks noChangeArrowheads="1"/>
          </p:cNvSpPr>
          <p:nvPr/>
        </p:nvSpPr>
        <p:spPr bwMode="auto">
          <a:xfrm>
            <a:off x="0" y="904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dirty="0" smtClean="0">
              <a:ln>
                <a:noFill/>
              </a:ln>
              <a:solidFill>
                <a:schemeClr val="tx1"/>
              </a:solidFill>
              <a:effectLst/>
              <a:latin typeface="Arial" pitchFamily="34" charset="0"/>
            </a:endParaRPr>
          </a:p>
        </p:txBody>
      </p:sp>
      <p:sp>
        <p:nvSpPr>
          <p:cNvPr id="28680"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28681" name="Rectangle 9"/>
          <p:cNvSpPr>
            <a:spLocks noChangeArrowheads="1"/>
          </p:cNvSpPr>
          <p:nvPr/>
        </p:nvSpPr>
        <p:spPr bwMode="auto">
          <a:xfrm>
            <a:off x="0" y="904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dirty="0" smtClean="0">
              <a:ln>
                <a:noFill/>
              </a:ln>
              <a:solidFill>
                <a:schemeClr val="tx1"/>
              </a:solidFill>
              <a:effectLst/>
              <a:latin typeface="Arial" pitchFamily="34" charset="0"/>
            </a:endParaRPr>
          </a:p>
        </p:txBody>
      </p:sp>
      <p:sp>
        <p:nvSpPr>
          <p:cNvPr id="28683" name="Rectangle 1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28684" name="Rectangle 12"/>
          <p:cNvSpPr>
            <a:spLocks noChangeArrowheads="1"/>
          </p:cNvSpPr>
          <p:nvPr/>
        </p:nvSpPr>
        <p:spPr bwMode="auto">
          <a:xfrm>
            <a:off x="0" y="904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dirty="0" smtClean="0">
              <a:ln>
                <a:noFill/>
              </a:ln>
              <a:solidFill>
                <a:schemeClr val="tx1"/>
              </a:solidFill>
              <a:effectLst/>
              <a:latin typeface="Arial" pitchFamily="34" charset="0"/>
            </a:endParaRPr>
          </a:p>
        </p:txBody>
      </p:sp>
      <p:sp>
        <p:nvSpPr>
          <p:cNvPr id="28686" name="Rectangle 1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28687" name="Rectangle 15"/>
          <p:cNvSpPr>
            <a:spLocks noChangeArrowheads="1"/>
          </p:cNvSpPr>
          <p:nvPr/>
        </p:nvSpPr>
        <p:spPr bwMode="auto">
          <a:xfrm>
            <a:off x="0" y="904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dirty="0" smtClean="0">
              <a:ln>
                <a:noFill/>
              </a:ln>
              <a:solidFill>
                <a:schemeClr val="tx1"/>
              </a:solidFill>
              <a:effectLst/>
              <a:latin typeface="Arial" pitchFamily="34" charset="0"/>
            </a:endParaRPr>
          </a:p>
        </p:txBody>
      </p:sp>
      <p:sp>
        <p:nvSpPr>
          <p:cNvPr id="23" name="22 Rectángulo"/>
          <p:cNvSpPr/>
          <p:nvPr/>
        </p:nvSpPr>
        <p:spPr>
          <a:xfrm>
            <a:off x="714348" y="1500174"/>
            <a:ext cx="7786742" cy="4643470"/>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4" name="23 Rectángulo"/>
          <p:cNvSpPr/>
          <p:nvPr/>
        </p:nvSpPr>
        <p:spPr>
          <a:xfrm>
            <a:off x="0" y="6534859"/>
            <a:ext cx="9215470" cy="292388"/>
          </a:xfrm>
          <a:prstGeom prst="rect">
            <a:avLst/>
          </a:prstGeom>
        </p:spPr>
        <p:txBody>
          <a:bodyPr wrap="square">
            <a:spAutoFit/>
          </a:bodyPr>
          <a:lstStyle/>
          <a:p>
            <a:pPr marL="3175" lvl="1" algn="ctr"/>
            <a:r>
              <a:rPr lang="es-MX" sz="1300" smtClean="0">
                <a:solidFill>
                  <a:schemeClr val="tx1">
                    <a:lumMod val="50000"/>
                    <a:lumOff val="50000"/>
                  </a:schemeClr>
                </a:solidFill>
              </a:rPr>
              <a:t>Guía práctica para la evaluación de impacto /</a:t>
            </a:r>
            <a:r>
              <a:rPr lang="es-CO" sz="1300" smtClean="0">
                <a:solidFill>
                  <a:schemeClr val="tx1">
                    <a:lumMod val="50000"/>
                    <a:lumOff val="50000"/>
                  </a:schemeClr>
                </a:solidFill>
              </a:rPr>
              <a:t>Capítulo </a:t>
            </a:r>
            <a:r>
              <a:rPr lang="es-CO" sz="1300" dirty="0" smtClean="0">
                <a:solidFill>
                  <a:schemeClr val="tx1">
                    <a:lumMod val="50000"/>
                    <a:lumOff val="50000"/>
                  </a:schemeClr>
                </a:solidFill>
              </a:rPr>
              <a:t>5: Experimentos Naturales o cuasi Experimentos/19</a:t>
            </a:r>
            <a:endParaRPr lang="es-ES" sz="1300" dirty="0">
              <a:solidFill>
                <a:schemeClr val="tx1">
                  <a:lumMod val="50000"/>
                  <a:lumOff val="50000"/>
                </a:schemeClr>
              </a:solidFill>
            </a:endParaRPr>
          </a:p>
        </p:txBody>
      </p:sp>
      <p:graphicFrame>
        <p:nvGraphicFramePr>
          <p:cNvPr id="4098" name="Object 2"/>
          <p:cNvGraphicFramePr>
            <a:graphicFrameLocks noChangeAspect="1"/>
          </p:cNvGraphicFramePr>
          <p:nvPr/>
        </p:nvGraphicFramePr>
        <p:xfrm>
          <a:off x="1285903" y="4130218"/>
          <a:ext cx="7000873" cy="727542"/>
        </p:xfrm>
        <a:graphic>
          <a:graphicData uri="http://schemas.openxmlformats.org/presentationml/2006/ole">
            <p:oleObj spid="_x0000_s4126" name="Documento" r:id="rId5" imgW="5397500" imgH="563126" progId="Word.Document.12">
              <p:embed/>
            </p:oleObj>
          </a:graphicData>
        </a:graphic>
      </p:graphicFrame>
      <p:graphicFrame>
        <p:nvGraphicFramePr>
          <p:cNvPr id="4099" name="Object 3"/>
          <p:cNvGraphicFramePr>
            <a:graphicFrameLocks noChangeAspect="1"/>
          </p:cNvGraphicFramePr>
          <p:nvPr/>
        </p:nvGraphicFramePr>
        <p:xfrm>
          <a:off x="1101751" y="4779357"/>
          <a:ext cx="7042149" cy="721345"/>
        </p:xfrm>
        <a:graphic>
          <a:graphicData uri="http://schemas.openxmlformats.org/presentationml/2006/ole">
            <p:oleObj spid="_x0000_s4127" name="Documento" r:id="rId6" imgW="5397500" imgH="563126" progId="Word.Document.12">
              <p:embed/>
            </p:oleObj>
          </a:graphicData>
        </a:graphic>
      </p:graphicFrame>
      <p:graphicFrame>
        <p:nvGraphicFramePr>
          <p:cNvPr id="4100" name="Object 4"/>
          <p:cNvGraphicFramePr>
            <a:graphicFrameLocks noChangeAspect="1"/>
          </p:cNvGraphicFramePr>
          <p:nvPr/>
        </p:nvGraphicFramePr>
        <p:xfrm>
          <a:off x="1571604" y="5429264"/>
          <a:ext cx="6451505" cy="1214446"/>
        </p:xfrm>
        <a:graphic>
          <a:graphicData uri="http://schemas.openxmlformats.org/presentationml/2006/ole">
            <p:oleObj spid="_x0000_s4128" name="Documento" r:id="rId7" imgW="5397500" imgH="1023866" progId="Word.Document.12">
              <p:embed/>
            </p:oleObj>
          </a:graphicData>
        </a:graphic>
      </p:graphicFrame>
      <p:graphicFrame>
        <p:nvGraphicFramePr>
          <p:cNvPr id="4101" name="Object 5"/>
          <p:cNvGraphicFramePr>
            <a:graphicFrameLocks noChangeAspect="1"/>
          </p:cNvGraphicFramePr>
          <p:nvPr/>
        </p:nvGraphicFramePr>
        <p:xfrm>
          <a:off x="-1136645" y="3573468"/>
          <a:ext cx="6494463" cy="712788"/>
        </p:xfrm>
        <a:graphic>
          <a:graphicData uri="http://schemas.openxmlformats.org/presentationml/2006/ole">
            <p:oleObj spid="_x0000_s4129" name="Documento" r:id="rId8" imgW="5397500" imgH="594491" progId="Word.Document.12">
              <p:embed/>
            </p:oleObj>
          </a:graphicData>
        </a:graphic>
      </p:graphicFrame>
      <mc:AlternateContent xmlns:mc="http://schemas.openxmlformats.org/markup-compatibility/2006">
        <mc:Choice xmlns="" xmlns:a14="http://schemas.microsoft.com/office/drawing/2010/main" Requires="a14">
          <p:sp>
            <p:nvSpPr>
              <p:cNvPr id="27" name="26 CuadroTexto"/>
              <p:cNvSpPr txBox="1"/>
              <p:nvPr/>
            </p:nvSpPr>
            <p:spPr>
              <a:xfrm>
                <a:off x="1739819" y="2431481"/>
                <a:ext cx="82715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s-CO" sz="2000" b="0" i="1" smtClean="0">
                          <a:latin typeface="Cambria Math"/>
                        </a:rPr>
                        <m:t>𝑡</m:t>
                      </m:r>
                      <m:r>
                        <a:rPr lang="es-CO" sz="2000" b="0" i="1" smtClean="0">
                          <a:latin typeface="Cambria Math"/>
                        </a:rPr>
                        <m:t>=1</m:t>
                      </m:r>
                    </m:oMath>
                  </m:oMathPara>
                </a14:m>
                <a:endParaRPr lang="es-CO" sz="2000" dirty="0"/>
              </a:p>
            </p:txBody>
          </p:sp>
        </mc:Choice>
        <mc:Fallback>
          <p:sp>
            <p:nvSpPr>
              <p:cNvPr id="27" name="26 CuadroTexto"/>
              <p:cNvSpPr txBox="1">
                <a:spLocks noRot="1" noChangeAspect="1" noMove="1" noResize="1" noEditPoints="1" noAdjustHandles="1" noChangeArrowheads="1" noChangeShapeType="1" noTextEdit="1"/>
              </p:cNvSpPr>
              <p:nvPr/>
            </p:nvSpPr>
            <p:spPr>
              <a:xfrm>
                <a:off x="1739819" y="2431481"/>
                <a:ext cx="827150" cy="400110"/>
              </a:xfrm>
              <a:prstGeom prst="rect">
                <a:avLst/>
              </a:prstGeom>
              <a:blipFill rotWithShape="1">
                <a:blip r:embed="rId9" cstate="print"/>
                <a:stretch>
                  <a:fillRect/>
                </a:stretch>
              </a:blipFill>
            </p:spPr>
            <p:txBody>
              <a:bodyPr/>
              <a:lstStyle/>
              <a:p>
                <a:r>
                  <a:rPr lang="es-CO">
                    <a:noFill/>
                  </a:rPr>
                  <a:t> </a:t>
                </a:r>
              </a:p>
            </p:txBody>
          </p:sp>
        </mc:Fallback>
      </mc:AlternateContent>
      <mc:AlternateContent xmlns:mc="http://schemas.openxmlformats.org/markup-compatibility/2006">
        <mc:Choice xmlns="" xmlns:a14="http://schemas.microsoft.com/office/drawing/2010/main" Requires="a14">
          <p:sp>
            <p:nvSpPr>
              <p:cNvPr id="30" name="29 CuadroTexto"/>
              <p:cNvSpPr txBox="1"/>
              <p:nvPr/>
            </p:nvSpPr>
            <p:spPr>
              <a:xfrm>
                <a:off x="2990976" y="2404995"/>
                <a:ext cx="1998881" cy="400110"/>
              </a:xfrm>
              <a:prstGeom prst="rect">
                <a:avLst/>
              </a:prstGeom>
              <a:noFill/>
            </p:spPr>
            <p:txBody>
              <a:bodyPr wrap="none" rtlCol="0">
                <a:spAutoFit/>
              </a:bodyPr>
              <a:lstStyle/>
              <a:p>
                <a:r>
                  <a:rPr lang="es-CO" sz="2000" b="0" dirty="0" smtClean="0"/>
                  <a:t>[</a:t>
                </a:r>
                <a14:m>
                  <m:oMath xmlns:m="http://schemas.openxmlformats.org/officeDocument/2006/math">
                    <m:acc>
                      <m:accPr>
                        <m:chr m:val="̅"/>
                        <m:ctrlPr>
                          <a:rPr lang="es-CO" sz="2000" b="0" i="1" smtClean="0">
                            <a:latin typeface="Cambria Math"/>
                          </a:rPr>
                        </m:ctrlPr>
                      </m:accPr>
                      <m:e>
                        <m:sSub>
                          <m:sSubPr>
                            <m:ctrlPr>
                              <a:rPr lang="es-CO" sz="2000" i="1">
                                <a:latin typeface="Cambria Math"/>
                              </a:rPr>
                            </m:ctrlPr>
                          </m:sSubPr>
                          <m:e>
                            <m:r>
                              <a:rPr lang="es-CO" sz="2000" i="1">
                                <a:latin typeface="Cambria Math"/>
                              </a:rPr>
                              <m:t>𝑌</m:t>
                            </m:r>
                          </m:e>
                          <m:sub>
                            <m:r>
                              <a:rPr lang="es-CO" sz="2000" i="1">
                                <a:latin typeface="Cambria Math"/>
                              </a:rPr>
                              <m:t>1</m:t>
                            </m:r>
                          </m:sub>
                        </m:sSub>
                      </m:e>
                    </m:acc>
                    <m:d>
                      <m:dPr>
                        <m:begChr m:val="|"/>
                        <m:endChr m:val="]"/>
                        <m:ctrlPr>
                          <a:rPr lang="es-CO" sz="2000" b="0" i="1" smtClean="0">
                            <a:latin typeface="Cambria Math"/>
                          </a:rPr>
                        </m:ctrlPr>
                      </m:dPr>
                      <m:e>
                        <m:r>
                          <a:rPr lang="es-CO" sz="2000" b="0" i="1" smtClean="0">
                            <a:latin typeface="Cambria Math"/>
                          </a:rPr>
                          <m:t> </m:t>
                        </m:r>
                        <m:r>
                          <a:rPr lang="es-CO" sz="2000" b="0" i="1" smtClean="0">
                            <a:latin typeface="Cambria Math"/>
                          </a:rPr>
                          <m:t>𝐷</m:t>
                        </m:r>
                        <m:r>
                          <a:rPr lang="es-CO" sz="2000" b="0" i="1" smtClean="0">
                            <a:latin typeface="Cambria Math"/>
                          </a:rPr>
                          <m:t>=1</m:t>
                        </m:r>
                      </m:e>
                    </m:d>
                    <m:r>
                      <a:rPr lang="es-CO" sz="2000" b="0" i="1" smtClean="0">
                        <a:latin typeface="Cambria Math"/>
                      </a:rPr>
                      <m:t>=40</m:t>
                    </m:r>
                  </m:oMath>
                </a14:m>
                <a:endParaRPr lang="es-CO" sz="2000" dirty="0"/>
              </a:p>
            </p:txBody>
          </p:sp>
        </mc:Choice>
        <mc:Fallback>
          <p:sp>
            <p:nvSpPr>
              <p:cNvPr id="30" name="29 CuadroTexto"/>
              <p:cNvSpPr txBox="1">
                <a:spLocks noRot="1" noChangeAspect="1" noMove="1" noResize="1" noEditPoints="1" noAdjustHandles="1" noChangeArrowheads="1" noChangeShapeType="1" noTextEdit="1"/>
              </p:cNvSpPr>
              <p:nvPr/>
            </p:nvSpPr>
            <p:spPr>
              <a:xfrm>
                <a:off x="2990976" y="2404995"/>
                <a:ext cx="1998881" cy="400110"/>
              </a:xfrm>
              <a:prstGeom prst="rect">
                <a:avLst/>
              </a:prstGeom>
              <a:blipFill rotWithShape="1">
                <a:blip r:embed="rId10" cstate="print"/>
                <a:stretch>
                  <a:fillRect l="-3354" t="-7692" b="-27692"/>
                </a:stretch>
              </a:blipFill>
            </p:spPr>
            <p:txBody>
              <a:bodyPr/>
              <a:lstStyle/>
              <a:p>
                <a:r>
                  <a:rPr lang="es-CO">
                    <a:noFill/>
                  </a:rPr>
                  <a:t> </a:t>
                </a:r>
              </a:p>
            </p:txBody>
          </p:sp>
        </mc:Fallback>
      </mc:AlternateContent>
      <mc:AlternateContent xmlns:mc="http://schemas.openxmlformats.org/markup-compatibility/2006">
        <mc:Choice xmlns="" xmlns:a14="http://schemas.microsoft.com/office/drawing/2010/main" Requires="a14">
          <p:sp>
            <p:nvSpPr>
              <p:cNvPr id="31" name="30 CuadroTexto"/>
              <p:cNvSpPr txBox="1"/>
              <p:nvPr/>
            </p:nvSpPr>
            <p:spPr>
              <a:xfrm>
                <a:off x="2938809" y="3039450"/>
                <a:ext cx="207435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s-CO" sz="2000" b="0" i="1" smtClean="0">
                          <a:latin typeface="Cambria Math"/>
                        </a:rPr>
                        <m:t>[</m:t>
                      </m:r>
                      <m:acc>
                        <m:accPr>
                          <m:chr m:val="̅"/>
                          <m:ctrlPr>
                            <a:rPr lang="es-CO" sz="2000" b="0" i="1" smtClean="0">
                              <a:latin typeface="Cambria Math"/>
                            </a:rPr>
                          </m:ctrlPr>
                        </m:accPr>
                        <m:e>
                          <m:sSub>
                            <m:sSubPr>
                              <m:ctrlPr>
                                <a:rPr lang="es-CO" sz="2000" i="1">
                                  <a:latin typeface="Cambria Math"/>
                                </a:rPr>
                              </m:ctrlPr>
                            </m:sSubPr>
                            <m:e>
                              <m:r>
                                <a:rPr lang="es-CO" sz="2000" i="1">
                                  <a:latin typeface="Cambria Math"/>
                                </a:rPr>
                                <m:t>𝑌</m:t>
                              </m:r>
                            </m:e>
                            <m:sub>
                              <m:r>
                                <a:rPr lang="es-CO" sz="2000" i="1">
                                  <a:latin typeface="Cambria Math"/>
                                </a:rPr>
                                <m:t>2</m:t>
                              </m:r>
                            </m:sub>
                          </m:sSub>
                        </m:e>
                      </m:acc>
                      <m:r>
                        <a:rPr lang="es-CO" sz="2000" b="0" i="1" smtClean="0">
                          <a:latin typeface="Cambria Math"/>
                        </a:rPr>
                        <m:t>| </m:t>
                      </m:r>
                      <m:r>
                        <a:rPr lang="es-CO" sz="2000" b="0" i="1" smtClean="0">
                          <a:latin typeface="Cambria Math"/>
                        </a:rPr>
                        <m:t>𝐷</m:t>
                      </m:r>
                      <m:r>
                        <a:rPr lang="es-CO" sz="2000" b="0" i="1" smtClean="0">
                          <a:latin typeface="Cambria Math"/>
                        </a:rPr>
                        <m:t>=1]=80</m:t>
                      </m:r>
                    </m:oMath>
                  </m:oMathPara>
                </a14:m>
                <a:endParaRPr lang="es-CO" sz="2000" dirty="0"/>
              </a:p>
            </p:txBody>
          </p:sp>
        </mc:Choice>
        <mc:Fallback>
          <p:sp>
            <p:nvSpPr>
              <p:cNvPr id="31" name="30 CuadroTexto"/>
              <p:cNvSpPr txBox="1">
                <a:spLocks noRot="1" noChangeAspect="1" noMove="1" noResize="1" noEditPoints="1" noAdjustHandles="1" noChangeArrowheads="1" noChangeShapeType="1" noTextEdit="1"/>
              </p:cNvSpPr>
              <p:nvPr/>
            </p:nvSpPr>
            <p:spPr>
              <a:xfrm>
                <a:off x="2938809" y="3039450"/>
                <a:ext cx="2074350" cy="400110"/>
              </a:xfrm>
              <a:prstGeom prst="rect">
                <a:avLst/>
              </a:prstGeom>
              <a:blipFill rotWithShape="1">
                <a:blip r:embed="rId11" cstate="print"/>
                <a:stretch>
                  <a:fillRect b="-15385"/>
                </a:stretch>
              </a:blipFill>
            </p:spPr>
            <p:txBody>
              <a:bodyPr/>
              <a:lstStyle/>
              <a:p>
                <a:r>
                  <a:rPr lang="es-CO">
                    <a:noFill/>
                  </a:rPr>
                  <a:t> </a:t>
                </a:r>
              </a:p>
            </p:txBody>
          </p:sp>
        </mc:Fallback>
      </mc:AlternateContent>
      <mc:AlternateContent xmlns:mc="http://schemas.openxmlformats.org/markup-compatibility/2006">
        <mc:Choice xmlns="" xmlns:a14="http://schemas.microsoft.com/office/drawing/2010/main" Requires="a14">
          <p:sp>
            <p:nvSpPr>
              <p:cNvPr id="34" name="33 CuadroTexto"/>
              <p:cNvSpPr txBox="1"/>
              <p:nvPr/>
            </p:nvSpPr>
            <p:spPr>
              <a:xfrm>
                <a:off x="1800971" y="3047937"/>
                <a:ext cx="82715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s-CO" sz="2000" b="0" i="1" smtClean="0">
                          <a:latin typeface="Cambria Math"/>
                        </a:rPr>
                        <m:t>𝑡</m:t>
                      </m:r>
                      <m:r>
                        <a:rPr lang="es-CO" sz="2000" b="0" i="1" smtClean="0">
                          <a:latin typeface="Cambria Math"/>
                        </a:rPr>
                        <m:t>=2</m:t>
                      </m:r>
                    </m:oMath>
                  </m:oMathPara>
                </a14:m>
                <a:endParaRPr lang="es-CO" sz="2000" dirty="0"/>
              </a:p>
            </p:txBody>
          </p:sp>
        </mc:Choice>
        <mc:Fallback>
          <p:sp>
            <p:nvSpPr>
              <p:cNvPr id="34" name="33 CuadroTexto"/>
              <p:cNvSpPr txBox="1">
                <a:spLocks noRot="1" noChangeAspect="1" noMove="1" noResize="1" noEditPoints="1" noAdjustHandles="1" noChangeArrowheads="1" noChangeShapeType="1" noTextEdit="1"/>
              </p:cNvSpPr>
              <p:nvPr/>
            </p:nvSpPr>
            <p:spPr>
              <a:xfrm>
                <a:off x="1800971" y="3047937"/>
                <a:ext cx="827150" cy="400110"/>
              </a:xfrm>
              <a:prstGeom prst="rect">
                <a:avLst/>
              </a:prstGeom>
              <a:blipFill rotWithShape="1">
                <a:blip r:embed="rId12" cstate="print"/>
                <a:stretch>
                  <a:fillRect/>
                </a:stretch>
              </a:blipFill>
            </p:spPr>
            <p:txBody>
              <a:bodyPr/>
              <a:lstStyle/>
              <a:p>
                <a:r>
                  <a:rPr lang="es-CO">
                    <a:noFill/>
                  </a:rPr>
                  <a:t> </a:t>
                </a:r>
              </a:p>
            </p:txBody>
          </p:sp>
        </mc:Fallback>
      </mc:AlternateContent>
      <mc:AlternateContent xmlns:mc="http://schemas.openxmlformats.org/markup-compatibility/2006">
        <mc:Choice xmlns="" xmlns:a14="http://schemas.microsoft.com/office/drawing/2010/main" Requires="a14">
          <p:sp>
            <p:nvSpPr>
              <p:cNvPr id="36" name="35 CuadroTexto"/>
              <p:cNvSpPr txBox="1"/>
              <p:nvPr/>
            </p:nvSpPr>
            <p:spPr>
              <a:xfrm>
                <a:off x="5536942" y="2409478"/>
                <a:ext cx="1998881" cy="400110"/>
              </a:xfrm>
              <a:prstGeom prst="rect">
                <a:avLst/>
              </a:prstGeom>
              <a:noFill/>
            </p:spPr>
            <p:txBody>
              <a:bodyPr wrap="none" rtlCol="0">
                <a:spAutoFit/>
              </a:bodyPr>
              <a:lstStyle/>
              <a:p>
                <a:r>
                  <a:rPr lang="es-CO" sz="2000" b="0" dirty="0" smtClean="0"/>
                  <a:t>[</a:t>
                </a:r>
                <a14:m>
                  <m:oMath xmlns:m="http://schemas.openxmlformats.org/officeDocument/2006/math">
                    <m:acc>
                      <m:accPr>
                        <m:chr m:val="̅"/>
                        <m:ctrlPr>
                          <a:rPr lang="es-CO" sz="2000" b="0" i="1" smtClean="0">
                            <a:latin typeface="Cambria Math"/>
                          </a:rPr>
                        </m:ctrlPr>
                      </m:accPr>
                      <m:e>
                        <m:sSub>
                          <m:sSubPr>
                            <m:ctrlPr>
                              <a:rPr lang="es-CO" sz="2000" i="1">
                                <a:latin typeface="Cambria Math"/>
                              </a:rPr>
                            </m:ctrlPr>
                          </m:sSubPr>
                          <m:e>
                            <m:r>
                              <a:rPr lang="es-CO" sz="2000" i="1">
                                <a:latin typeface="Cambria Math"/>
                              </a:rPr>
                              <m:t>𝑌</m:t>
                            </m:r>
                          </m:e>
                          <m:sub>
                            <m:r>
                              <a:rPr lang="es-CO" sz="2000" i="1">
                                <a:latin typeface="Cambria Math"/>
                              </a:rPr>
                              <m:t>1</m:t>
                            </m:r>
                          </m:sub>
                        </m:sSub>
                      </m:e>
                    </m:acc>
                    <m:d>
                      <m:dPr>
                        <m:begChr m:val="|"/>
                        <m:endChr m:val="]"/>
                        <m:ctrlPr>
                          <a:rPr lang="es-CO" sz="2000" b="0" i="1" smtClean="0">
                            <a:latin typeface="Cambria Math"/>
                          </a:rPr>
                        </m:ctrlPr>
                      </m:dPr>
                      <m:e>
                        <m:r>
                          <a:rPr lang="es-CO" sz="2000" b="0" i="1" smtClean="0">
                            <a:latin typeface="Cambria Math"/>
                          </a:rPr>
                          <m:t> </m:t>
                        </m:r>
                        <m:r>
                          <a:rPr lang="es-CO" sz="2000" b="0" i="1" smtClean="0">
                            <a:latin typeface="Cambria Math"/>
                          </a:rPr>
                          <m:t>𝐷</m:t>
                        </m:r>
                        <m:r>
                          <a:rPr lang="es-CO" sz="2000" b="0" i="1" smtClean="0">
                            <a:latin typeface="Cambria Math"/>
                          </a:rPr>
                          <m:t>=0</m:t>
                        </m:r>
                      </m:e>
                    </m:d>
                    <m:r>
                      <a:rPr lang="es-CO" sz="2000" b="0" i="1" smtClean="0">
                        <a:latin typeface="Cambria Math"/>
                      </a:rPr>
                      <m:t>=20</m:t>
                    </m:r>
                  </m:oMath>
                </a14:m>
                <a:endParaRPr lang="es-CO" sz="2000" dirty="0"/>
              </a:p>
            </p:txBody>
          </p:sp>
        </mc:Choice>
        <mc:Fallback>
          <p:sp>
            <p:nvSpPr>
              <p:cNvPr id="36" name="35 CuadroTexto"/>
              <p:cNvSpPr txBox="1">
                <a:spLocks noRot="1" noChangeAspect="1" noMove="1" noResize="1" noEditPoints="1" noAdjustHandles="1" noChangeArrowheads="1" noChangeShapeType="1" noTextEdit="1"/>
              </p:cNvSpPr>
              <p:nvPr/>
            </p:nvSpPr>
            <p:spPr>
              <a:xfrm>
                <a:off x="5536942" y="2409478"/>
                <a:ext cx="1998881" cy="400110"/>
              </a:xfrm>
              <a:prstGeom prst="rect">
                <a:avLst/>
              </a:prstGeom>
              <a:blipFill rotWithShape="1">
                <a:blip r:embed="rId13" cstate="print"/>
                <a:stretch>
                  <a:fillRect l="-3049" t="-7576" b="-25758"/>
                </a:stretch>
              </a:blipFill>
            </p:spPr>
            <p:txBody>
              <a:bodyPr/>
              <a:lstStyle/>
              <a:p>
                <a:r>
                  <a:rPr lang="es-CO">
                    <a:noFill/>
                  </a:rPr>
                  <a:t> </a:t>
                </a:r>
              </a:p>
            </p:txBody>
          </p:sp>
        </mc:Fallback>
      </mc:AlternateContent>
      <mc:AlternateContent xmlns:mc="http://schemas.openxmlformats.org/markup-compatibility/2006">
        <mc:Choice xmlns="" xmlns:a14="http://schemas.microsoft.com/office/drawing/2010/main" Requires="a14">
          <p:sp>
            <p:nvSpPr>
              <p:cNvPr id="37" name="36 CuadroTexto"/>
              <p:cNvSpPr txBox="1"/>
              <p:nvPr/>
            </p:nvSpPr>
            <p:spPr>
              <a:xfrm>
                <a:off x="5501814" y="3023149"/>
                <a:ext cx="207435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s-CO" sz="2000" b="0" i="1" smtClean="0">
                          <a:latin typeface="Cambria Math"/>
                        </a:rPr>
                        <m:t>[</m:t>
                      </m:r>
                      <m:acc>
                        <m:accPr>
                          <m:chr m:val="̅"/>
                          <m:ctrlPr>
                            <a:rPr lang="es-CO" sz="2000" b="0" i="1" smtClean="0">
                              <a:latin typeface="Cambria Math"/>
                            </a:rPr>
                          </m:ctrlPr>
                        </m:accPr>
                        <m:e>
                          <m:sSub>
                            <m:sSubPr>
                              <m:ctrlPr>
                                <a:rPr lang="es-CO" sz="2000" i="1">
                                  <a:latin typeface="Cambria Math"/>
                                </a:rPr>
                              </m:ctrlPr>
                            </m:sSubPr>
                            <m:e>
                              <m:r>
                                <a:rPr lang="es-CO" sz="2000" i="1">
                                  <a:latin typeface="Cambria Math"/>
                                </a:rPr>
                                <m:t>𝑌</m:t>
                              </m:r>
                            </m:e>
                            <m:sub>
                              <m:r>
                                <a:rPr lang="es-CO" sz="2000" i="1">
                                  <a:latin typeface="Cambria Math"/>
                                </a:rPr>
                                <m:t>2</m:t>
                              </m:r>
                            </m:sub>
                          </m:sSub>
                        </m:e>
                      </m:acc>
                      <m:r>
                        <a:rPr lang="es-CO" sz="2000" b="0" i="1" smtClean="0">
                          <a:latin typeface="Cambria Math"/>
                        </a:rPr>
                        <m:t>| </m:t>
                      </m:r>
                      <m:r>
                        <a:rPr lang="es-CO" sz="2000" b="0" i="1" smtClean="0">
                          <a:latin typeface="Cambria Math"/>
                        </a:rPr>
                        <m:t>𝐷</m:t>
                      </m:r>
                      <m:r>
                        <a:rPr lang="es-CO" sz="2000" b="0" i="1" smtClean="0">
                          <a:latin typeface="Cambria Math"/>
                        </a:rPr>
                        <m:t>=0]=30</m:t>
                      </m:r>
                    </m:oMath>
                  </m:oMathPara>
                </a14:m>
                <a:endParaRPr lang="es-CO" sz="2000" dirty="0"/>
              </a:p>
            </p:txBody>
          </p:sp>
        </mc:Choice>
        <mc:Fallback>
          <p:sp>
            <p:nvSpPr>
              <p:cNvPr id="37" name="36 CuadroTexto"/>
              <p:cNvSpPr txBox="1">
                <a:spLocks noRot="1" noChangeAspect="1" noMove="1" noResize="1" noEditPoints="1" noAdjustHandles="1" noChangeArrowheads="1" noChangeShapeType="1" noTextEdit="1"/>
              </p:cNvSpPr>
              <p:nvPr/>
            </p:nvSpPr>
            <p:spPr>
              <a:xfrm>
                <a:off x="5501814" y="3023149"/>
                <a:ext cx="2074350" cy="400110"/>
              </a:xfrm>
              <a:prstGeom prst="rect">
                <a:avLst/>
              </a:prstGeom>
              <a:blipFill rotWithShape="1">
                <a:blip r:embed="rId14" cstate="print"/>
                <a:stretch>
                  <a:fillRect b="-13636"/>
                </a:stretch>
              </a:blipFill>
            </p:spPr>
            <p:txBody>
              <a:bodyPr/>
              <a:lstStyle/>
              <a:p>
                <a:r>
                  <a:rPr lang="es-CO">
                    <a:noFill/>
                  </a:rPr>
                  <a:t> </a:t>
                </a:r>
              </a:p>
            </p:txBody>
          </p:sp>
        </mc:Fallback>
      </mc:AlternateContent>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785926"/>
            <a:ext cx="8229600" cy="4500594"/>
          </a:xfrm>
        </p:spPr>
        <p:txBody>
          <a:bodyPr>
            <a:normAutofit/>
          </a:bodyPr>
          <a:lstStyle/>
          <a:p>
            <a:pPr marL="0" algn="ctr">
              <a:buNone/>
            </a:pPr>
            <a:r>
              <a:rPr lang="es-ES" sz="2500" dirty="0" smtClean="0"/>
              <a:t>La variable de resultado </a:t>
            </a:r>
            <a:r>
              <a:rPr lang="es-ES" sz="2500" i="1" dirty="0" smtClean="0">
                <a:latin typeface="Times New Roman" pitchFamily="18" charset="0"/>
                <a:cs typeface="Times New Roman" pitchFamily="18" charset="0"/>
              </a:rPr>
              <a:t>Y</a:t>
            </a:r>
            <a:r>
              <a:rPr lang="es-ES" sz="2500" dirty="0" smtClean="0"/>
              <a:t> evoluciona de manera natural en el tiempo de la misma forma que entre el grupo de control y el de tratamiento. </a:t>
            </a:r>
          </a:p>
          <a:p>
            <a:pPr algn="just"/>
            <a:endParaRPr lang="es-ES" sz="2500" dirty="0" smtClean="0"/>
          </a:p>
          <a:p>
            <a:pPr algn="just">
              <a:buNone/>
            </a:pPr>
            <a:r>
              <a:rPr lang="es-ES" sz="2500" dirty="0" smtClean="0"/>
              <a:t>	Permite utilizar                                      como control apropiado de las diferencias preexistentes entre el grupo de tratamiento y el de control.</a:t>
            </a:r>
          </a:p>
          <a:p>
            <a:pPr algn="just">
              <a:buNone/>
            </a:pPr>
            <a:r>
              <a:rPr lang="es-ES" sz="2500" dirty="0" smtClean="0"/>
              <a:t>	Entonces:</a:t>
            </a:r>
          </a:p>
          <a:p>
            <a:pPr algn="just">
              <a:buNone/>
            </a:pPr>
            <a:r>
              <a:rPr lang="es-ES" sz="2500" dirty="0" smtClean="0"/>
              <a:t>	</a:t>
            </a:r>
          </a:p>
        </p:txBody>
      </p:sp>
      <p:pic>
        <p:nvPicPr>
          <p:cNvPr id="4" name="Picture 1"/>
          <p:cNvPicPr>
            <a:picLocks noChangeAspect="1" noChangeArrowheads="1"/>
          </p:cNvPicPr>
          <p:nvPr/>
        </p:nvPicPr>
        <p:blipFill>
          <a:blip r:embed="rId3" cstate="print"/>
          <a:srcRect/>
          <a:stretch>
            <a:fillRect/>
          </a:stretch>
        </p:blipFill>
        <p:spPr bwMode="auto">
          <a:xfrm>
            <a:off x="0" y="0"/>
            <a:ext cx="2214546" cy="1053379"/>
          </a:xfrm>
          <a:prstGeom prst="rect">
            <a:avLst/>
          </a:prstGeom>
          <a:noFill/>
          <a:ln w="9525">
            <a:noFill/>
            <a:miter lim="800000"/>
            <a:headEnd/>
            <a:tailEnd/>
          </a:ln>
          <a:effectLst/>
        </p:spPr>
      </p:pic>
      <p:sp>
        <p:nvSpPr>
          <p:cNvPr id="5" name="1 Título"/>
          <p:cNvSpPr>
            <a:spLocks noGrp="1"/>
          </p:cNvSpPr>
          <p:nvPr>
            <p:ph type="title"/>
          </p:nvPr>
        </p:nvSpPr>
        <p:spPr>
          <a:xfrm>
            <a:off x="2357422" y="214290"/>
            <a:ext cx="6572296" cy="1214446"/>
          </a:xfrm>
        </p:spPr>
        <p:txBody>
          <a:bodyPr>
            <a:noAutofit/>
          </a:bodyPr>
          <a:lstStyle/>
          <a:p>
            <a:r>
              <a:rPr lang="es-ES" sz="4200" u="sng" dirty="0" smtClean="0"/>
              <a:t>Supuesto de tendencia paralela</a:t>
            </a:r>
            <a:endParaRPr lang="es-ES" sz="4200" u="sng" dirty="0"/>
          </a:p>
        </p:txBody>
      </p:sp>
      <p:sp>
        <p:nvSpPr>
          <p:cNvPr id="7" name="6 Flecha abajo"/>
          <p:cNvSpPr/>
          <p:nvPr/>
        </p:nvSpPr>
        <p:spPr>
          <a:xfrm>
            <a:off x="4500562" y="2928934"/>
            <a:ext cx="500066" cy="500066"/>
          </a:xfrm>
          <a:prstGeom prst="downArrow">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2969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2970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cxnSp>
        <p:nvCxnSpPr>
          <p:cNvPr id="14" name="13 Conector recto de flecha"/>
          <p:cNvCxnSpPr/>
          <p:nvPr/>
        </p:nvCxnSpPr>
        <p:spPr>
          <a:xfrm>
            <a:off x="3643306" y="5713428"/>
            <a:ext cx="114300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15 CuadroTexto"/>
          <p:cNvSpPr txBox="1"/>
          <p:nvPr/>
        </p:nvSpPr>
        <p:spPr>
          <a:xfrm>
            <a:off x="5031426" y="5452276"/>
            <a:ext cx="1829796" cy="477054"/>
          </a:xfrm>
          <a:prstGeom prst="rect">
            <a:avLst/>
          </a:prstGeom>
          <a:noFill/>
        </p:spPr>
        <p:txBody>
          <a:bodyPr wrap="none" rtlCol="0">
            <a:spAutoFit/>
          </a:bodyPr>
          <a:lstStyle/>
          <a:p>
            <a:r>
              <a:rPr lang="es-ES" sz="2500" dirty="0" smtClean="0"/>
              <a:t>es insesgado</a:t>
            </a:r>
            <a:endParaRPr lang="es-AR" sz="2500" dirty="0"/>
          </a:p>
        </p:txBody>
      </p:sp>
      <p:sp>
        <p:nvSpPr>
          <p:cNvPr id="15" name="14 Rectángulo"/>
          <p:cNvSpPr/>
          <p:nvPr/>
        </p:nvSpPr>
        <p:spPr>
          <a:xfrm>
            <a:off x="0" y="6534859"/>
            <a:ext cx="9215470" cy="292388"/>
          </a:xfrm>
          <a:prstGeom prst="rect">
            <a:avLst/>
          </a:prstGeom>
        </p:spPr>
        <p:txBody>
          <a:bodyPr wrap="square">
            <a:spAutoFit/>
          </a:bodyPr>
          <a:lstStyle/>
          <a:p>
            <a:pPr lvl="1" algn="ctr">
              <a:tabLst>
                <a:tab pos="715963" algn="l"/>
              </a:tabLst>
            </a:pPr>
            <a:r>
              <a:rPr lang="es-MX" sz="1300" smtClean="0">
                <a:solidFill>
                  <a:schemeClr val="tx1">
                    <a:lumMod val="50000"/>
                    <a:lumOff val="50000"/>
                  </a:schemeClr>
                </a:solidFill>
              </a:rPr>
              <a:t>Guía práctica para la evaluación de impacto /</a:t>
            </a:r>
            <a:r>
              <a:rPr lang="es-CO" sz="1300" smtClean="0">
                <a:solidFill>
                  <a:schemeClr val="tx1">
                    <a:lumMod val="50000"/>
                    <a:lumOff val="50000"/>
                  </a:schemeClr>
                </a:solidFill>
              </a:rPr>
              <a:t>Capítulo </a:t>
            </a:r>
            <a:r>
              <a:rPr lang="es-CO" sz="1300" dirty="0" smtClean="0">
                <a:solidFill>
                  <a:schemeClr val="tx1">
                    <a:lumMod val="50000"/>
                    <a:lumOff val="50000"/>
                  </a:schemeClr>
                </a:solidFill>
              </a:rPr>
              <a:t>5: Experimentos Naturales o cuasi Experimentos/20</a:t>
            </a:r>
            <a:endParaRPr lang="es-ES" sz="1300" dirty="0">
              <a:solidFill>
                <a:schemeClr val="tx1">
                  <a:lumMod val="50000"/>
                  <a:lumOff val="50000"/>
                </a:schemeClr>
              </a:solidFill>
            </a:endParaRPr>
          </a:p>
        </p:txBody>
      </p:sp>
      <p:graphicFrame>
        <p:nvGraphicFramePr>
          <p:cNvPr id="5122" name="Object 2"/>
          <p:cNvGraphicFramePr>
            <a:graphicFrameLocks noChangeAspect="1"/>
          </p:cNvGraphicFramePr>
          <p:nvPr/>
        </p:nvGraphicFramePr>
        <p:xfrm>
          <a:off x="2160609" y="3500438"/>
          <a:ext cx="5411787" cy="561975"/>
        </p:xfrm>
        <a:graphic>
          <a:graphicData uri="http://schemas.openxmlformats.org/presentationml/2006/ole">
            <p:oleObj spid="_x0000_s5136" name="Documento" r:id="rId4" imgW="5397500" imgH="563126" progId="Word.Document.12">
              <p:embed/>
            </p:oleObj>
          </a:graphicData>
        </a:graphic>
      </p:graphicFrame>
      <p:graphicFrame>
        <p:nvGraphicFramePr>
          <p:cNvPr id="5123" name="Object 3"/>
          <p:cNvGraphicFramePr>
            <a:graphicFrameLocks noChangeAspect="1"/>
          </p:cNvGraphicFramePr>
          <p:nvPr/>
        </p:nvGraphicFramePr>
        <p:xfrm>
          <a:off x="-642974" y="5357826"/>
          <a:ext cx="6494463" cy="712787"/>
        </p:xfrm>
        <a:graphic>
          <a:graphicData uri="http://schemas.openxmlformats.org/presentationml/2006/ole">
            <p:oleObj spid="_x0000_s5137" name="Documento" r:id="rId5" imgW="5397500" imgH="594491" progId="Word.Document.12">
              <p:embed/>
            </p:oleObj>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
          <p:cNvPicPr>
            <a:picLocks noChangeAspect="1" noChangeArrowheads="1"/>
          </p:cNvPicPr>
          <p:nvPr/>
        </p:nvPicPr>
        <p:blipFill>
          <a:blip r:embed="rId3" cstate="print"/>
          <a:srcRect/>
          <a:stretch>
            <a:fillRect/>
          </a:stretch>
        </p:blipFill>
        <p:spPr bwMode="auto">
          <a:xfrm>
            <a:off x="0" y="0"/>
            <a:ext cx="2214546" cy="1053379"/>
          </a:xfrm>
          <a:prstGeom prst="rect">
            <a:avLst/>
          </a:prstGeom>
          <a:noFill/>
          <a:ln w="9525">
            <a:noFill/>
            <a:miter lim="800000"/>
            <a:headEnd/>
            <a:tailEnd/>
          </a:ln>
          <a:effectLst/>
        </p:spPr>
      </p:pic>
      <p:sp>
        <p:nvSpPr>
          <p:cNvPr id="6" name="1 Título"/>
          <p:cNvSpPr>
            <a:spLocks noGrp="1"/>
          </p:cNvSpPr>
          <p:nvPr>
            <p:ph type="title"/>
          </p:nvPr>
        </p:nvSpPr>
        <p:spPr>
          <a:xfrm>
            <a:off x="2357422" y="214290"/>
            <a:ext cx="6572296" cy="1214446"/>
          </a:xfrm>
        </p:spPr>
        <p:txBody>
          <a:bodyPr>
            <a:noAutofit/>
          </a:bodyPr>
          <a:lstStyle/>
          <a:p>
            <a:r>
              <a:rPr lang="es-ES" sz="4200" u="sng" dirty="0" smtClean="0"/>
              <a:t>Modelo de regresión</a:t>
            </a:r>
            <a:br>
              <a:rPr lang="es-ES" sz="4200" u="sng" dirty="0" smtClean="0"/>
            </a:br>
            <a:r>
              <a:rPr lang="es-ES" sz="3600" dirty="0" smtClean="0"/>
              <a:t>Si tenemos datos de panel</a:t>
            </a:r>
            <a:endParaRPr lang="es-ES" sz="3600" dirty="0"/>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1027" name="Rectangle 3"/>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dirty="0" smtClean="0">
              <a:ln>
                <a:noFill/>
              </a:ln>
              <a:solidFill>
                <a:schemeClr val="tx1"/>
              </a:solidFill>
              <a:effectLst/>
              <a:latin typeface="Arial" pitchFamily="34" charset="0"/>
            </a:endParaRPr>
          </a:p>
        </p:txBody>
      </p:sp>
      <p:cxnSp>
        <p:nvCxnSpPr>
          <p:cNvPr id="11" name="10 Conector recto de flecha"/>
          <p:cNvCxnSpPr/>
          <p:nvPr/>
        </p:nvCxnSpPr>
        <p:spPr>
          <a:xfrm rot="5400000" flipH="1" flipV="1">
            <a:off x="4465637" y="4178305"/>
            <a:ext cx="50006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11 CuadroTexto"/>
          <p:cNvSpPr txBox="1"/>
          <p:nvPr/>
        </p:nvSpPr>
        <p:spPr>
          <a:xfrm>
            <a:off x="2571736" y="4500570"/>
            <a:ext cx="4357718" cy="1246495"/>
          </a:xfrm>
          <a:prstGeom prst="rect">
            <a:avLst/>
          </a:prstGeom>
          <a:noFill/>
        </p:spPr>
        <p:txBody>
          <a:bodyPr wrap="square" rtlCol="0">
            <a:spAutoFit/>
          </a:bodyPr>
          <a:lstStyle/>
          <a:p>
            <a:pPr algn="ctr"/>
            <a:r>
              <a:rPr lang="es-ES" sz="2500" dirty="0" smtClean="0"/>
              <a:t>Impacto del programa por el método de diferencias en diferencias.</a:t>
            </a:r>
            <a:endParaRPr lang="es-AR" sz="2500" dirty="0"/>
          </a:p>
        </p:txBody>
      </p:sp>
      <p:sp>
        <p:nvSpPr>
          <p:cNvPr id="13" name="12 Rectángulo"/>
          <p:cNvSpPr/>
          <p:nvPr/>
        </p:nvSpPr>
        <p:spPr>
          <a:xfrm>
            <a:off x="0" y="6534859"/>
            <a:ext cx="9215470" cy="292388"/>
          </a:xfrm>
          <a:prstGeom prst="rect">
            <a:avLst/>
          </a:prstGeom>
        </p:spPr>
        <p:txBody>
          <a:bodyPr wrap="square">
            <a:spAutoFit/>
          </a:bodyPr>
          <a:lstStyle/>
          <a:p>
            <a:pPr marL="3175" lvl="1" algn="ctr"/>
            <a:r>
              <a:rPr lang="es-MX" sz="1300" smtClean="0">
                <a:solidFill>
                  <a:schemeClr val="tx1">
                    <a:lumMod val="50000"/>
                    <a:lumOff val="50000"/>
                  </a:schemeClr>
                </a:solidFill>
              </a:rPr>
              <a:t>Guía práctica para la evaluación de impacto /</a:t>
            </a:r>
            <a:r>
              <a:rPr lang="es-CO" sz="1300" smtClean="0">
                <a:solidFill>
                  <a:schemeClr val="tx1">
                    <a:lumMod val="50000"/>
                    <a:lumOff val="50000"/>
                  </a:schemeClr>
                </a:solidFill>
              </a:rPr>
              <a:t>Capítulo </a:t>
            </a:r>
            <a:r>
              <a:rPr lang="es-CO" sz="1300" dirty="0" smtClean="0">
                <a:solidFill>
                  <a:schemeClr val="tx1">
                    <a:lumMod val="50000"/>
                    <a:lumOff val="50000"/>
                  </a:schemeClr>
                </a:solidFill>
              </a:rPr>
              <a:t>5: Experimentos Naturales o cuasi Experimentos/21</a:t>
            </a:r>
            <a:endParaRPr lang="es-ES" sz="1300" dirty="0">
              <a:solidFill>
                <a:schemeClr val="tx1">
                  <a:lumMod val="50000"/>
                  <a:lumOff val="50000"/>
                </a:schemeClr>
              </a:solidFill>
            </a:endParaRPr>
          </a:p>
        </p:txBody>
      </p:sp>
      <p:graphicFrame>
        <p:nvGraphicFramePr>
          <p:cNvPr id="6147" name="Object 3"/>
          <p:cNvGraphicFramePr>
            <a:graphicFrameLocks noChangeAspect="1"/>
          </p:cNvGraphicFramePr>
          <p:nvPr/>
        </p:nvGraphicFramePr>
        <p:xfrm>
          <a:off x="803287" y="1973969"/>
          <a:ext cx="7697803" cy="740651"/>
        </p:xfrm>
        <a:graphic>
          <a:graphicData uri="http://schemas.openxmlformats.org/presentationml/2006/ole">
            <p:oleObj spid="_x0000_s6161" name="Documento" r:id="rId4" imgW="5397500" imgH="521667" progId="Word.Document.12">
              <p:embed/>
            </p:oleObj>
          </a:graphicData>
        </a:graphic>
      </p:graphicFrame>
      <p:graphicFrame>
        <p:nvGraphicFramePr>
          <p:cNvPr id="6148" name="Object 4"/>
          <p:cNvGraphicFramePr>
            <a:graphicFrameLocks noChangeAspect="1"/>
          </p:cNvGraphicFramePr>
          <p:nvPr>
            <p:extLst>
              <p:ext uri="{D42A27DB-BD31-4B8C-83A1-F6EECF244321}">
                <p14:modId xmlns="" xmlns:p14="http://schemas.microsoft.com/office/powerpoint/2010/main" val="4162530337"/>
              </p:ext>
            </p:extLst>
          </p:nvPr>
        </p:nvGraphicFramePr>
        <p:xfrm>
          <a:off x="333854" y="3291254"/>
          <a:ext cx="8167236" cy="785818"/>
        </p:xfrm>
        <a:graphic>
          <a:graphicData uri="http://schemas.openxmlformats.org/presentationml/2006/ole">
            <p:oleObj spid="_x0000_s6162" name="Documento" r:id="rId5" imgW="5397500" imgH="521667" progId="Word.Document.12">
              <p:embed/>
            </p:oleObj>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p:cNvPicPr>
            <a:picLocks noChangeAspect="1" noChangeArrowheads="1"/>
          </p:cNvPicPr>
          <p:nvPr/>
        </p:nvPicPr>
        <p:blipFill>
          <a:blip r:embed="rId3" cstate="print"/>
          <a:srcRect/>
          <a:stretch>
            <a:fillRect/>
          </a:stretch>
        </p:blipFill>
        <p:spPr bwMode="auto">
          <a:xfrm>
            <a:off x="0" y="0"/>
            <a:ext cx="2214546" cy="1053379"/>
          </a:xfrm>
          <a:prstGeom prst="rect">
            <a:avLst/>
          </a:prstGeom>
          <a:noFill/>
          <a:ln w="9525">
            <a:noFill/>
            <a:miter lim="800000"/>
            <a:headEnd/>
            <a:tailEnd/>
          </a:ln>
          <a:effectLst/>
        </p:spPr>
      </p:pic>
      <p:sp>
        <p:nvSpPr>
          <p:cNvPr id="5" name="1 Título"/>
          <p:cNvSpPr>
            <a:spLocks noGrp="1"/>
          </p:cNvSpPr>
          <p:nvPr>
            <p:ph type="title"/>
          </p:nvPr>
        </p:nvSpPr>
        <p:spPr>
          <a:xfrm>
            <a:off x="2357422" y="214290"/>
            <a:ext cx="6572296" cy="1214446"/>
          </a:xfrm>
        </p:spPr>
        <p:txBody>
          <a:bodyPr>
            <a:noAutofit/>
          </a:bodyPr>
          <a:lstStyle/>
          <a:p>
            <a:r>
              <a:rPr lang="es-ES" sz="4200" u="sng" dirty="0" smtClean="0"/>
              <a:t>Tomando esperanza condicional</a:t>
            </a:r>
            <a:endParaRPr lang="es-ES" sz="4200" u="sng" dirty="0"/>
          </a:p>
        </p:txBody>
      </p:sp>
      <p:sp>
        <p:nvSpPr>
          <p:cNvPr id="3174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3174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31750"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31753" name="Rectangle 9"/>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31754" name="Rectangle 10"/>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dirty="0" smtClean="0">
              <a:ln>
                <a:noFill/>
              </a:ln>
              <a:solidFill>
                <a:schemeClr val="tx1"/>
              </a:solidFill>
              <a:effectLst/>
              <a:latin typeface="Arial" pitchFamily="34" charset="0"/>
            </a:endParaRPr>
          </a:p>
        </p:txBody>
      </p:sp>
      <p:sp>
        <p:nvSpPr>
          <p:cNvPr id="31755" name="Rectangle 11"/>
          <p:cNvSpPr>
            <a:spLocks noChangeArrowheads="1"/>
          </p:cNvSpPr>
          <p:nvPr/>
        </p:nvSpPr>
        <p:spPr bwMode="auto">
          <a:xfrm>
            <a:off x="0" y="12477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dirty="0" smtClean="0">
              <a:ln>
                <a:noFill/>
              </a:ln>
              <a:solidFill>
                <a:schemeClr val="tx1"/>
              </a:solidFill>
              <a:effectLst/>
              <a:latin typeface="Arial" pitchFamily="34" charset="0"/>
            </a:endParaRPr>
          </a:p>
        </p:txBody>
      </p:sp>
      <p:sp>
        <p:nvSpPr>
          <p:cNvPr id="19" name="18 CuadroTexto"/>
          <p:cNvSpPr txBox="1"/>
          <p:nvPr/>
        </p:nvSpPr>
        <p:spPr>
          <a:xfrm>
            <a:off x="714348" y="4500570"/>
            <a:ext cx="4255204" cy="477054"/>
          </a:xfrm>
          <a:prstGeom prst="rect">
            <a:avLst/>
          </a:prstGeom>
          <a:noFill/>
        </p:spPr>
        <p:txBody>
          <a:bodyPr wrap="none" rtlCol="0">
            <a:spAutoFit/>
          </a:bodyPr>
          <a:lstStyle/>
          <a:p>
            <a:r>
              <a:rPr lang="es-ES" sz="2500" dirty="0" smtClean="0"/>
              <a:t>Por independencia condicional </a:t>
            </a:r>
            <a:endParaRPr lang="es-AR" sz="2500" dirty="0"/>
          </a:p>
        </p:txBody>
      </p:sp>
      <p:sp>
        <p:nvSpPr>
          <p:cNvPr id="31757" name="Rectangle 1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31758" name="Rectangle 14"/>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dirty="0" smtClean="0">
              <a:ln>
                <a:noFill/>
              </a:ln>
              <a:solidFill>
                <a:schemeClr val="tx1"/>
              </a:solidFill>
              <a:effectLst/>
              <a:latin typeface="Arial" pitchFamily="34" charset="0"/>
            </a:endParaRPr>
          </a:p>
        </p:txBody>
      </p:sp>
      <p:cxnSp>
        <p:nvCxnSpPr>
          <p:cNvPr id="26" name="25 Conector recto de flecha"/>
          <p:cNvCxnSpPr/>
          <p:nvPr/>
        </p:nvCxnSpPr>
        <p:spPr>
          <a:xfrm>
            <a:off x="4929190" y="4714884"/>
            <a:ext cx="57150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1760" name="Rectangle 1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31762" name="Rectangle 1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31764" name="Rectangle 2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31766" name="Rectangle 2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31767" name="Rectangle 23"/>
          <p:cNvSpPr>
            <a:spLocks noChangeArrowheads="1"/>
          </p:cNvSpPr>
          <p:nvPr/>
        </p:nvSpPr>
        <p:spPr bwMode="auto">
          <a:xfrm>
            <a:off x="0" y="8667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dirty="0" smtClean="0">
              <a:ln>
                <a:noFill/>
              </a:ln>
              <a:solidFill>
                <a:schemeClr val="tx1"/>
              </a:solidFill>
              <a:effectLst/>
              <a:latin typeface="Arial" pitchFamily="34" charset="0"/>
            </a:endParaRPr>
          </a:p>
        </p:txBody>
      </p:sp>
      <p:sp>
        <p:nvSpPr>
          <p:cNvPr id="27" name="26 Rectángulo"/>
          <p:cNvSpPr/>
          <p:nvPr/>
        </p:nvSpPr>
        <p:spPr>
          <a:xfrm>
            <a:off x="0" y="6534859"/>
            <a:ext cx="9215470" cy="292388"/>
          </a:xfrm>
          <a:prstGeom prst="rect">
            <a:avLst/>
          </a:prstGeom>
        </p:spPr>
        <p:txBody>
          <a:bodyPr wrap="square">
            <a:spAutoFit/>
          </a:bodyPr>
          <a:lstStyle/>
          <a:p>
            <a:pPr marL="3175" lvl="1" algn="ctr"/>
            <a:r>
              <a:rPr lang="es-MX" sz="1300" smtClean="0">
                <a:solidFill>
                  <a:schemeClr val="tx1">
                    <a:lumMod val="50000"/>
                    <a:lumOff val="50000"/>
                  </a:schemeClr>
                </a:solidFill>
              </a:rPr>
              <a:t>Guía práctica para la evaluación de impacto /</a:t>
            </a:r>
            <a:r>
              <a:rPr lang="es-CO" sz="1300" smtClean="0">
                <a:solidFill>
                  <a:schemeClr val="tx1">
                    <a:lumMod val="50000"/>
                    <a:lumOff val="50000"/>
                  </a:schemeClr>
                </a:solidFill>
              </a:rPr>
              <a:t>Capítulo </a:t>
            </a:r>
            <a:r>
              <a:rPr lang="es-CO" sz="1300" dirty="0" smtClean="0">
                <a:solidFill>
                  <a:schemeClr val="tx1">
                    <a:lumMod val="50000"/>
                    <a:lumOff val="50000"/>
                  </a:schemeClr>
                </a:solidFill>
              </a:rPr>
              <a:t>5: Experimentos Naturales o cuasi Experimentos/22</a:t>
            </a:r>
            <a:endParaRPr lang="es-ES" sz="1300" dirty="0">
              <a:solidFill>
                <a:schemeClr val="tx1">
                  <a:lumMod val="50000"/>
                  <a:lumOff val="50000"/>
                </a:schemeClr>
              </a:solidFill>
            </a:endParaRPr>
          </a:p>
        </p:txBody>
      </p:sp>
      <p:graphicFrame>
        <p:nvGraphicFramePr>
          <p:cNvPr id="7170" name="Object 2"/>
          <p:cNvGraphicFramePr>
            <a:graphicFrameLocks noChangeAspect="1"/>
          </p:cNvGraphicFramePr>
          <p:nvPr/>
        </p:nvGraphicFramePr>
        <p:xfrm>
          <a:off x="731849" y="1785926"/>
          <a:ext cx="6626233" cy="699749"/>
        </p:xfrm>
        <a:graphic>
          <a:graphicData uri="http://schemas.openxmlformats.org/presentationml/2006/ole">
            <p:oleObj spid="_x0000_s7212" name="Documento" r:id="rId4" imgW="5397500" imgH="572860" progId="Word.Document.12">
              <p:embed/>
            </p:oleObj>
          </a:graphicData>
        </a:graphic>
      </p:graphicFrame>
      <p:graphicFrame>
        <p:nvGraphicFramePr>
          <p:cNvPr id="7171" name="Object 3"/>
          <p:cNvGraphicFramePr>
            <a:graphicFrameLocks noChangeAspect="1"/>
          </p:cNvGraphicFramePr>
          <p:nvPr/>
        </p:nvGraphicFramePr>
        <p:xfrm>
          <a:off x="714347" y="2500309"/>
          <a:ext cx="6643735" cy="701597"/>
        </p:xfrm>
        <a:graphic>
          <a:graphicData uri="http://schemas.openxmlformats.org/presentationml/2006/ole">
            <p:oleObj spid="_x0000_s7213" name="Documento" r:id="rId5" imgW="5397500" imgH="572860" progId="Word.Document.12">
              <p:embed/>
            </p:oleObj>
          </a:graphicData>
        </a:graphic>
      </p:graphicFrame>
      <p:graphicFrame>
        <p:nvGraphicFramePr>
          <p:cNvPr id="7172" name="Object 4"/>
          <p:cNvGraphicFramePr>
            <a:graphicFrameLocks noChangeAspect="1"/>
          </p:cNvGraphicFramePr>
          <p:nvPr/>
        </p:nvGraphicFramePr>
        <p:xfrm>
          <a:off x="214282" y="3143248"/>
          <a:ext cx="6764779" cy="714380"/>
        </p:xfrm>
        <a:graphic>
          <a:graphicData uri="http://schemas.openxmlformats.org/presentationml/2006/ole">
            <p:oleObj spid="_x0000_s7214" name="Documento" r:id="rId6" imgW="5397500" imgH="572860" progId="Word.Document.12">
              <p:embed/>
            </p:oleObj>
          </a:graphicData>
        </a:graphic>
      </p:graphicFrame>
      <p:graphicFrame>
        <p:nvGraphicFramePr>
          <p:cNvPr id="7173" name="Object 5"/>
          <p:cNvGraphicFramePr>
            <a:graphicFrameLocks noChangeAspect="1"/>
          </p:cNvGraphicFramePr>
          <p:nvPr/>
        </p:nvGraphicFramePr>
        <p:xfrm>
          <a:off x="395060" y="3769258"/>
          <a:ext cx="6248642" cy="659874"/>
        </p:xfrm>
        <a:graphic>
          <a:graphicData uri="http://schemas.openxmlformats.org/presentationml/2006/ole">
            <p:oleObj spid="_x0000_s7215" name="Documento" r:id="rId7" imgW="5397500" imgH="572860" progId="Word.Document.12">
              <p:embed/>
            </p:oleObj>
          </a:graphicData>
        </a:graphic>
      </p:graphicFrame>
      <p:graphicFrame>
        <p:nvGraphicFramePr>
          <p:cNvPr id="7174" name="Object 6"/>
          <p:cNvGraphicFramePr>
            <a:graphicFrameLocks noChangeAspect="1"/>
          </p:cNvGraphicFramePr>
          <p:nvPr/>
        </p:nvGraphicFramePr>
        <p:xfrm>
          <a:off x="3633850" y="4490887"/>
          <a:ext cx="6153124" cy="669642"/>
        </p:xfrm>
        <a:graphic>
          <a:graphicData uri="http://schemas.openxmlformats.org/presentationml/2006/ole">
            <p:oleObj spid="_x0000_s7216" name="Documento" r:id="rId8" imgW="5397500" imgH="590165" progId="Word.Document.12">
              <p:embed/>
            </p:oleObj>
          </a:graphicData>
        </a:graphic>
      </p:graphicFrame>
      <p:graphicFrame>
        <p:nvGraphicFramePr>
          <p:cNvPr id="7175" name="Object 7"/>
          <p:cNvGraphicFramePr>
            <a:graphicFrameLocks noChangeAspect="1"/>
          </p:cNvGraphicFramePr>
          <p:nvPr/>
        </p:nvGraphicFramePr>
        <p:xfrm>
          <a:off x="660411" y="5429264"/>
          <a:ext cx="7840679" cy="724499"/>
        </p:xfrm>
        <a:graphic>
          <a:graphicData uri="http://schemas.openxmlformats.org/presentationml/2006/ole">
            <p:oleObj spid="_x0000_s7217" name="Documento" r:id="rId9" imgW="5414329" imgH="501193" progId="Word.Document.12">
              <p:embed/>
            </p:oleObj>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85720" y="1857364"/>
            <a:ext cx="8229600" cy="4268799"/>
          </a:xfrm>
        </p:spPr>
        <p:txBody>
          <a:bodyPr>
            <a:normAutofit/>
          </a:bodyPr>
          <a:lstStyle/>
          <a:p>
            <a:pPr marL="0" algn="ctr">
              <a:buNone/>
            </a:pPr>
            <a:r>
              <a:rPr lang="es-ES" sz="2500" dirty="0" smtClean="0"/>
              <a:t>	Incluye características de los individuos </a:t>
            </a:r>
            <a:r>
              <a:rPr lang="es-ES" sz="2500" u="sng" dirty="0" smtClean="0"/>
              <a:t>antes</a:t>
            </a:r>
            <a:r>
              <a:rPr lang="es-ES" sz="2500" dirty="0" smtClean="0"/>
              <a:t> de la asignación del tratamiento y que no son afectadas directamente por el tratamiento.</a:t>
            </a:r>
          </a:p>
          <a:p>
            <a:pPr algn="just">
              <a:buNone/>
            </a:pPr>
            <a:endParaRPr lang="es-AR" sz="2500" dirty="0"/>
          </a:p>
        </p:txBody>
      </p:sp>
      <p:pic>
        <p:nvPicPr>
          <p:cNvPr id="4" name="Picture 1"/>
          <p:cNvPicPr>
            <a:picLocks noChangeAspect="1" noChangeArrowheads="1"/>
          </p:cNvPicPr>
          <p:nvPr/>
        </p:nvPicPr>
        <p:blipFill>
          <a:blip r:embed="rId3" cstate="print"/>
          <a:srcRect/>
          <a:stretch>
            <a:fillRect/>
          </a:stretch>
        </p:blipFill>
        <p:spPr bwMode="auto">
          <a:xfrm>
            <a:off x="0" y="0"/>
            <a:ext cx="2214546" cy="1053379"/>
          </a:xfrm>
          <a:prstGeom prst="rect">
            <a:avLst/>
          </a:prstGeom>
          <a:noFill/>
          <a:ln w="9525">
            <a:noFill/>
            <a:miter lim="800000"/>
            <a:headEnd/>
            <a:tailEnd/>
          </a:ln>
          <a:effectLst/>
        </p:spPr>
      </p:pic>
      <p:sp>
        <p:nvSpPr>
          <p:cNvPr id="5" name="1 Título"/>
          <p:cNvSpPr>
            <a:spLocks noGrp="1"/>
          </p:cNvSpPr>
          <p:nvPr>
            <p:ph type="title"/>
          </p:nvPr>
        </p:nvSpPr>
        <p:spPr>
          <a:xfrm>
            <a:off x="2357422" y="214290"/>
            <a:ext cx="6572296" cy="1214446"/>
          </a:xfrm>
        </p:spPr>
        <p:txBody>
          <a:bodyPr>
            <a:noAutofit/>
          </a:bodyPr>
          <a:lstStyle/>
          <a:p>
            <a:r>
              <a:rPr lang="es-ES" sz="4200" u="sng" dirty="0" smtClean="0"/>
              <a:t>Diferencias en diferencias con regresores adicionales</a:t>
            </a:r>
            <a:endParaRPr lang="es-ES" sz="4200" u="sng" dirty="0"/>
          </a:p>
        </p:txBody>
      </p:sp>
      <p:sp>
        <p:nvSpPr>
          <p:cNvPr id="32770"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32771" name="Rectangle 3"/>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dirty="0" smtClean="0">
              <a:ln>
                <a:noFill/>
              </a:ln>
              <a:solidFill>
                <a:schemeClr val="tx1"/>
              </a:solidFill>
              <a:effectLst/>
              <a:latin typeface="Arial" pitchFamily="34" charset="0"/>
            </a:endParaRPr>
          </a:p>
        </p:txBody>
      </p:sp>
      <p:sp>
        <p:nvSpPr>
          <p:cNvPr id="32773"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32774" name="Rectangle 6"/>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dirty="0" smtClean="0">
              <a:ln>
                <a:noFill/>
              </a:ln>
              <a:solidFill>
                <a:schemeClr val="tx1"/>
              </a:solidFill>
              <a:effectLst/>
              <a:latin typeface="Arial" pitchFamily="34" charset="0"/>
            </a:endParaRPr>
          </a:p>
        </p:txBody>
      </p:sp>
      <p:sp>
        <p:nvSpPr>
          <p:cNvPr id="16" name="15 CuadroTexto"/>
          <p:cNvSpPr txBox="1"/>
          <p:nvPr/>
        </p:nvSpPr>
        <p:spPr>
          <a:xfrm>
            <a:off x="857224" y="4057540"/>
            <a:ext cx="2071702" cy="1157409"/>
          </a:xfrm>
          <a:prstGeom prst="rect">
            <a:avLst/>
          </a:prstGeom>
          <a:noFill/>
          <a:ln>
            <a:solidFill>
              <a:schemeClr val="accent1">
                <a:lumMod val="75000"/>
              </a:schemeClr>
            </a:solidFill>
          </a:ln>
        </p:spPr>
        <p:txBody>
          <a:bodyPr wrap="square" rtlCol="0">
            <a:spAutoFit/>
          </a:bodyPr>
          <a:lstStyle/>
          <a:p>
            <a:pPr algn="just"/>
            <a:r>
              <a:rPr lang="es-ES" sz="2300" dirty="0" smtClean="0"/>
              <a:t>Insesgado siempre que</a:t>
            </a:r>
          </a:p>
          <a:p>
            <a:pPr algn="just"/>
            <a:r>
              <a:rPr lang="es-ES" sz="2300" dirty="0" smtClean="0"/>
              <a:t> </a:t>
            </a:r>
            <a:endParaRPr lang="es-AR" sz="2300" dirty="0"/>
          </a:p>
        </p:txBody>
      </p:sp>
      <p:sp>
        <p:nvSpPr>
          <p:cNvPr id="18" name="17 Abrir llave"/>
          <p:cNvSpPr/>
          <p:nvPr/>
        </p:nvSpPr>
        <p:spPr>
          <a:xfrm rot="16200000">
            <a:off x="5572133" y="2500307"/>
            <a:ext cx="214313" cy="2786080"/>
          </a:xfrm>
          <a:prstGeom prst="leftBrac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dirty="0"/>
          </a:p>
        </p:txBody>
      </p:sp>
      <p:sp>
        <p:nvSpPr>
          <p:cNvPr id="19" name="18 CuadroTexto"/>
          <p:cNvSpPr txBox="1"/>
          <p:nvPr/>
        </p:nvSpPr>
        <p:spPr>
          <a:xfrm>
            <a:off x="3428992" y="4036504"/>
            <a:ext cx="4929222" cy="1892826"/>
          </a:xfrm>
          <a:prstGeom prst="rect">
            <a:avLst/>
          </a:prstGeom>
          <a:noFill/>
          <a:ln>
            <a:solidFill>
              <a:schemeClr val="accent1">
                <a:lumMod val="75000"/>
              </a:schemeClr>
            </a:solidFill>
          </a:ln>
        </p:spPr>
        <p:txBody>
          <a:bodyPr wrap="square" rtlCol="0">
            <a:spAutoFit/>
          </a:bodyPr>
          <a:lstStyle/>
          <a:p>
            <a:pPr marL="273050" indent="-273050">
              <a:buFont typeface="Arial" pitchFamily="34" charset="0"/>
              <a:buChar char="•"/>
            </a:pPr>
            <a:r>
              <a:rPr lang="es-ES" sz="2300" dirty="0" smtClean="0"/>
              <a:t>Controla diferencias entre el grupo  de tratamiento y el de control.</a:t>
            </a:r>
          </a:p>
          <a:p>
            <a:pPr marL="273050" indent="-273050" algn="just">
              <a:buFont typeface="Arial" pitchFamily="34" charset="0"/>
              <a:buChar char="•"/>
            </a:pPr>
            <a:r>
              <a:rPr lang="es-ES" sz="2300" dirty="0" smtClean="0"/>
              <a:t>Mejora la eficiencia del estimador.</a:t>
            </a:r>
          </a:p>
          <a:p>
            <a:pPr marL="273050" indent="-273050">
              <a:buFont typeface="Arial" pitchFamily="34" charset="0"/>
              <a:buChar char="•"/>
            </a:pPr>
            <a:r>
              <a:rPr lang="es-ES" sz="2300" dirty="0" smtClean="0"/>
              <a:t>Evalúa la validez del proceso de </a:t>
            </a:r>
            <a:r>
              <a:rPr lang="es-ES" sz="2300" dirty="0" err="1" smtClean="0"/>
              <a:t>aleatorización</a:t>
            </a:r>
            <a:r>
              <a:rPr lang="es-ES" sz="2300" dirty="0" smtClean="0"/>
              <a:t>.</a:t>
            </a:r>
            <a:endParaRPr lang="es-AR" sz="2300" dirty="0"/>
          </a:p>
        </p:txBody>
      </p:sp>
      <p:cxnSp>
        <p:nvCxnSpPr>
          <p:cNvPr id="25" name="24 Conector recto"/>
          <p:cNvCxnSpPr/>
          <p:nvPr/>
        </p:nvCxnSpPr>
        <p:spPr>
          <a:xfrm rot="10800000">
            <a:off x="1785918" y="3857628"/>
            <a:ext cx="1428760" cy="1588"/>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7" name="26 Conector recto"/>
          <p:cNvCxnSpPr/>
          <p:nvPr/>
        </p:nvCxnSpPr>
        <p:spPr>
          <a:xfrm rot="5400000" flipH="1" flipV="1">
            <a:off x="3178959" y="3821909"/>
            <a:ext cx="71438" cy="1588"/>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9" name="28 Conector recto de flecha"/>
          <p:cNvCxnSpPr/>
          <p:nvPr/>
        </p:nvCxnSpPr>
        <p:spPr>
          <a:xfrm rot="5400000">
            <a:off x="1678761" y="3964785"/>
            <a:ext cx="214314"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32776"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32777" name="Rectangle 9"/>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dirty="0" smtClean="0">
              <a:ln>
                <a:noFill/>
              </a:ln>
              <a:solidFill>
                <a:schemeClr val="tx1"/>
              </a:solidFill>
              <a:effectLst/>
              <a:latin typeface="Arial" pitchFamily="34" charset="0"/>
            </a:endParaRPr>
          </a:p>
        </p:txBody>
      </p:sp>
      <p:sp>
        <p:nvSpPr>
          <p:cNvPr id="20" name="19 Rectángulo"/>
          <p:cNvSpPr/>
          <p:nvPr/>
        </p:nvSpPr>
        <p:spPr>
          <a:xfrm>
            <a:off x="0" y="6534859"/>
            <a:ext cx="9144000" cy="292388"/>
          </a:xfrm>
          <a:prstGeom prst="rect">
            <a:avLst/>
          </a:prstGeom>
        </p:spPr>
        <p:txBody>
          <a:bodyPr wrap="square">
            <a:spAutoFit/>
          </a:bodyPr>
          <a:lstStyle/>
          <a:p>
            <a:pPr algn="ctr">
              <a:tabLst>
                <a:tab pos="715963" algn="l"/>
              </a:tabLst>
            </a:pPr>
            <a:r>
              <a:rPr lang="es-MX" sz="1300" smtClean="0">
                <a:solidFill>
                  <a:schemeClr val="tx1">
                    <a:lumMod val="50000"/>
                    <a:lumOff val="50000"/>
                  </a:schemeClr>
                </a:solidFill>
              </a:rPr>
              <a:t>Guía práctica para la evaluación de impacto /</a:t>
            </a:r>
            <a:r>
              <a:rPr lang="es-CO" sz="1300" smtClean="0">
                <a:solidFill>
                  <a:schemeClr val="tx1">
                    <a:lumMod val="50000"/>
                    <a:lumOff val="50000"/>
                  </a:schemeClr>
                </a:solidFill>
              </a:rPr>
              <a:t>Capítulo </a:t>
            </a:r>
            <a:r>
              <a:rPr lang="es-CO" sz="1300" dirty="0" smtClean="0">
                <a:solidFill>
                  <a:schemeClr val="tx1">
                    <a:lumMod val="50000"/>
                    <a:lumOff val="50000"/>
                  </a:schemeClr>
                </a:solidFill>
              </a:rPr>
              <a:t>5: Experimentos Naturales o cuasi Experimentos/23</a:t>
            </a:r>
            <a:endParaRPr lang="es-ES" sz="1300" dirty="0">
              <a:solidFill>
                <a:schemeClr val="tx1">
                  <a:lumMod val="50000"/>
                  <a:lumOff val="50000"/>
                </a:schemeClr>
              </a:solidFill>
            </a:endParaRPr>
          </a:p>
        </p:txBody>
      </p:sp>
      <p:graphicFrame>
        <p:nvGraphicFramePr>
          <p:cNvPr id="8194" name="Object 2"/>
          <p:cNvGraphicFramePr>
            <a:graphicFrameLocks noChangeAspect="1"/>
          </p:cNvGraphicFramePr>
          <p:nvPr/>
        </p:nvGraphicFramePr>
        <p:xfrm>
          <a:off x="-785850" y="4766711"/>
          <a:ext cx="5429288" cy="591115"/>
        </p:xfrm>
        <a:graphic>
          <a:graphicData uri="http://schemas.openxmlformats.org/presentationml/2006/ole">
            <p:oleObj spid="_x0000_s8210" name="Documento" r:id="rId4" imgW="5397500" imgH="590165" progId="Word.Document.12">
              <p:embed/>
            </p:oleObj>
          </a:graphicData>
        </a:graphic>
      </p:graphicFrame>
      <p:graphicFrame>
        <p:nvGraphicFramePr>
          <p:cNvPr id="8197" name="Object 5"/>
          <p:cNvGraphicFramePr>
            <a:graphicFrameLocks noChangeAspect="1"/>
          </p:cNvGraphicFramePr>
          <p:nvPr/>
        </p:nvGraphicFramePr>
        <p:xfrm>
          <a:off x="1071538" y="3286124"/>
          <a:ext cx="6914174" cy="642942"/>
        </p:xfrm>
        <a:graphic>
          <a:graphicData uri="http://schemas.openxmlformats.org/presentationml/2006/ole">
            <p:oleObj spid="_x0000_s8211" name="Documento" r:id="rId5" imgW="5397500" imgH="504362" progId="Word.Document.12">
              <p:embed/>
            </p:oleObj>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p>
            <a:endParaRPr lang="es-ES" dirty="0" smtClean="0"/>
          </a:p>
          <a:p>
            <a:endParaRPr lang="es-ES" dirty="0" smtClean="0"/>
          </a:p>
          <a:p>
            <a:pPr>
              <a:buNone/>
            </a:pPr>
            <a:r>
              <a:rPr lang="es-ES" sz="2500" dirty="0" smtClean="0"/>
              <a:t>	Donde:</a:t>
            </a:r>
          </a:p>
          <a:p>
            <a:pPr>
              <a:buNone/>
            </a:pPr>
            <a:r>
              <a:rPr lang="es-ES" dirty="0" smtClean="0"/>
              <a:t>	</a:t>
            </a:r>
            <a:endParaRPr lang="es-AR" dirty="0"/>
          </a:p>
        </p:txBody>
      </p:sp>
      <p:pic>
        <p:nvPicPr>
          <p:cNvPr id="4" name="Picture 1"/>
          <p:cNvPicPr>
            <a:picLocks noChangeAspect="1" noChangeArrowheads="1"/>
          </p:cNvPicPr>
          <p:nvPr/>
        </p:nvPicPr>
        <p:blipFill>
          <a:blip r:embed="rId3" cstate="print"/>
          <a:srcRect/>
          <a:stretch>
            <a:fillRect/>
          </a:stretch>
        </p:blipFill>
        <p:spPr bwMode="auto">
          <a:xfrm>
            <a:off x="0" y="0"/>
            <a:ext cx="2214546" cy="1053379"/>
          </a:xfrm>
          <a:prstGeom prst="rect">
            <a:avLst/>
          </a:prstGeom>
          <a:noFill/>
          <a:ln w="9525">
            <a:noFill/>
            <a:miter lim="800000"/>
            <a:headEnd/>
            <a:tailEnd/>
          </a:ln>
          <a:effectLst/>
        </p:spPr>
      </p:pic>
      <p:sp>
        <p:nvSpPr>
          <p:cNvPr id="5" name="1 Título"/>
          <p:cNvSpPr>
            <a:spLocks noGrp="1"/>
          </p:cNvSpPr>
          <p:nvPr>
            <p:ph type="title"/>
          </p:nvPr>
        </p:nvSpPr>
        <p:spPr>
          <a:xfrm>
            <a:off x="2357422" y="214290"/>
            <a:ext cx="6572296" cy="1214446"/>
          </a:xfrm>
        </p:spPr>
        <p:txBody>
          <a:bodyPr>
            <a:noAutofit/>
          </a:bodyPr>
          <a:lstStyle/>
          <a:p>
            <a:r>
              <a:rPr lang="es-ES" sz="4200" u="sng" dirty="0" smtClean="0"/>
              <a:t>Diferencias en diferencias para múltiples períodos</a:t>
            </a:r>
            <a:endParaRPr lang="es-ES" sz="4200" u="sng" dirty="0"/>
          </a:p>
        </p:txBody>
      </p:sp>
      <p:sp>
        <p:nvSpPr>
          <p:cNvPr id="3481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cxnSp>
        <p:nvCxnSpPr>
          <p:cNvPr id="12" name="11 Conector recto de flecha"/>
          <p:cNvCxnSpPr/>
          <p:nvPr/>
        </p:nvCxnSpPr>
        <p:spPr>
          <a:xfrm>
            <a:off x="1357290" y="3714752"/>
            <a:ext cx="857256"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13" name="12 CuadroTexto"/>
          <p:cNvSpPr txBox="1"/>
          <p:nvPr/>
        </p:nvSpPr>
        <p:spPr>
          <a:xfrm>
            <a:off x="2285984" y="3429000"/>
            <a:ext cx="6143668" cy="861774"/>
          </a:xfrm>
          <a:prstGeom prst="rect">
            <a:avLst/>
          </a:prstGeom>
          <a:noFill/>
        </p:spPr>
        <p:txBody>
          <a:bodyPr wrap="square" rtlCol="0">
            <a:spAutoFit/>
          </a:bodyPr>
          <a:lstStyle/>
          <a:p>
            <a:r>
              <a:rPr lang="es-ES" sz="2500" dirty="0" smtClean="0"/>
              <a:t>Controla por características individuales no observadas.</a:t>
            </a:r>
            <a:endParaRPr lang="es-AR" sz="2500" dirty="0"/>
          </a:p>
        </p:txBody>
      </p:sp>
      <p:sp>
        <p:nvSpPr>
          <p:cNvPr id="3482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cxnSp>
        <p:nvCxnSpPr>
          <p:cNvPr id="16" name="15 Conector recto de flecha"/>
          <p:cNvCxnSpPr/>
          <p:nvPr/>
        </p:nvCxnSpPr>
        <p:spPr>
          <a:xfrm>
            <a:off x="1285852" y="4714884"/>
            <a:ext cx="857256"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17" name="16 CuadroTexto"/>
          <p:cNvSpPr txBox="1"/>
          <p:nvPr/>
        </p:nvSpPr>
        <p:spPr>
          <a:xfrm>
            <a:off x="2214546" y="4500570"/>
            <a:ext cx="6143668" cy="1631216"/>
          </a:xfrm>
          <a:prstGeom prst="rect">
            <a:avLst/>
          </a:prstGeom>
          <a:noFill/>
        </p:spPr>
        <p:txBody>
          <a:bodyPr wrap="square" rtlCol="0">
            <a:spAutoFit/>
          </a:bodyPr>
          <a:lstStyle/>
          <a:p>
            <a:r>
              <a:rPr lang="es-ES" sz="2500" dirty="0" smtClean="0"/>
              <a:t>Controla por las diferencias entre períodos que afectan la variable de resultado, independiente de si el individuo recibe o no el tratamiento.</a:t>
            </a:r>
            <a:endParaRPr lang="es-AR" sz="2500" dirty="0"/>
          </a:p>
        </p:txBody>
      </p:sp>
      <p:sp>
        <p:nvSpPr>
          <p:cNvPr id="34822"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19" name="18 Rectángulo"/>
          <p:cNvSpPr/>
          <p:nvPr/>
        </p:nvSpPr>
        <p:spPr>
          <a:xfrm>
            <a:off x="0" y="6534859"/>
            <a:ext cx="9215470" cy="292388"/>
          </a:xfrm>
          <a:prstGeom prst="rect">
            <a:avLst/>
          </a:prstGeom>
        </p:spPr>
        <p:txBody>
          <a:bodyPr wrap="square">
            <a:spAutoFit/>
          </a:bodyPr>
          <a:lstStyle/>
          <a:p>
            <a:pPr marL="3175" lvl="1" algn="ctr"/>
            <a:r>
              <a:rPr lang="es-MX" sz="1300" smtClean="0">
                <a:solidFill>
                  <a:schemeClr val="tx1">
                    <a:lumMod val="50000"/>
                    <a:lumOff val="50000"/>
                  </a:schemeClr>
                </a:solidFill>
              </a:rPr>
              <a:t>Guía práctica para la evaluación de impacto /</a:t>
            </a:r>
            <a:r>
              <a:rPr lang="es-CO" sz="1300" smtClean="0">
                <a:solidFill>
                  <a:schemeClr val="tx1">
                    <a:lumMod val="50000"/>
                    <a:lumOff val="50000"/>
                  </a:schemeClr>
                </a:solidFill>
              </a:rPr>
              <a:t>Capítulo </a:t>
            </a:r>
            <a:r>
              <a:rPr lang="es-CO" sz="1300" dirty="0" smtClean="0">
                <a:solidFill>
                  <a:schemeClr val="tx1">
                    <a:lumMod val="50000"/>
                    <a:lumOff val="50000"/>
                  </a:schemeClr>
                </a:solidFill>
              </a:rPr>
              <a:t>5: Experimentos Naturales o cuasi Experimentos/24</a:t>
            </a:r>
            <a:endParaRPr lang="es-ES" sz="1300" dirty="0">
              <a:solidFill>
                <a:schemeClr val="tx1">
                  <a:lumMod val="50000"/>
                  <a:lumOff val="50000"/>
                </a:schemeClr>
              </a:solidFill>
            </a:endParaRPr>
          </a:p>
        </p:txBody>
      </p:sp>
      <p:graphicFrame>
        <p:nvGraphicFramePr>
          <p:cNvPr id="9218" name="Object 2"/>
          <p:cNvGraphicFramePr>
            <a:graphicFrameLocks noChangeAspect="1"/>
          </p:cNvGraphicFramePr>
          <p:nvPr/>
        </p:nvGraphicFramePr>
        <p:xfrm>
          <a:off x="1571604" y="1785926"/>
          <a:ext cx="6581947" cy="1071570"/>
        </p:xfrm>
        <a:graphic>
          <a:graphicData uri="http://schemas.openxmlformats.org/presentationml/2006/ole">
            <p:oleObj spid="_x0000_s9242" name="Documento" r:id="rId4" imgW="5397500" imgH="882183" progId="Word.Document.12">
              <p:embed/>
            </p:oleObj>
          </a:graphicData>
        </a:graphic>
      </p:graphicFrame>
      <p:graphicFrame>
        <p:nvGraphicFramePr>
          <p:cNvPr id="9219" name="Object 3"/>
          <p:cNvGraphicFramePr>
            <a:graphicFrameLocks noChangeAspect="1"/>
          </p:cNvGraphicFramePr>
          <p:nvPr/>
        </p:nvGraphicFramePr>
        <p:xfrm>
          <a:off x="-2143172" y="3497267"/>
          <a:ext cx="6286544" cy="584580"/>
        </p:xfrm>
        <a:graphic>
          <a:graphicData uri="http://schemas.openxmlformats.org/presentationml/2006/ole">
            <p:oleObj spid="_x0000_s9243" name="Documento" r:id="rId5" imgW="5397500" imgH="504362" progId="Word.Document.12">
              <p:embed/>
            </p:oleObj>
          </a:graphicData>
        </a:graphic>
      </p:graphicFrame>
      <p:graphicFrame>
        <p:nvGraphicFramePr>
          <p:cNvPr id="9223" name="Object 7"/>
          <p:cNvGraphicFramePr>
            <a:graphicFrameLocks noChangeAspect="1"/>
          </p:cNvGraphicFramePr>
          <p:nvPr/>
        </p:nvGraphicFramePr>
        <p:xfrm>
          <a:off x="-1785982" y="4500570"/>
          <a:ext cx="5572164" cy="518150"/>
        </p:xfrm>
        <a:graphic>
          <a:graphicData uri="http://schemas.openxmlformats.org/presentationml/2006/ole">
            <p:oleObj spid="_x0000_s9244" name="Documento" r:id="rId6" imgW="5397500" imgH="504362" progId="Word.Document.12">
              <p:embed/>
            </p:oleObj>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p>
            <a:r>
              <a:rPr lang="es-ES" sz="2500" dirty="0" smtClean="0"/>
              <a:t>Donde:</a:t>
            </a:r>
          </a:p>
          <a:p>
            <a:pPr>
              <a:buNone/>
            </a:pPr>
            <a:endParaRPr lang="es-AR" dirty="0"/>
          </a:p>
        </p:txBody>
      </p:sp>
      <p:pic>
        <p:nvPicPr>
          <p:cNvPr id="5" name="Picture 1"/>
          <p:cNvPicPr>
            <a:picLocks noChangeAspect="1" noChangeArrowheads="1"/>
          </p:cNvPicPr>
          <p:nvPr/>
        </p:nvPicPr>
        <p:blipFill>
          <a:blip r:embed="rId3" cstate="print"/>
          <a:srcRect/>
          <a:stretch>
            <a:fillRect/>
          </a:stretch>
        </p:blipFill>
        <p:spPr bwMode="auto">
          <a:xfrm>
            <a:off x="0" y="0"/>
            <a:ext cx="2214546" cy="1053379"/>
          </a:xfrm>
          <a:prstGeom prst="rect">
            <a:avLst/>
          </a:prstGeom>
          <a:noFill/>
          <a:ln w="9525">
            <a:noFill/>
            <a:miter lim="800000"/>
            <a:headEnd/>
            <a:tailEnd/>
          </a:ln>
          <a:effectLst/>
        </p:spPr>
      </p:pic>
      <p:sp>
        <p:nvSpPr>
          <p:cNvPr id="6" name="1 Título"/>
          <p:cNvSpPr>
            <a:spLocks noGrp="1"/>
          </p:cNvSpPr>
          <p:nvPr>
            <p:ph type="title"/>
          </p:nvPr>
        </p:nvSpPr>
        <p:spPr>
          <a:xfrm>
            <a:off x="2357422" y="214290"/>
            <a:ext cx="6572296" cy="1214446"/>
          </a:xfrm>
        </p:spPr>
        <p:txBody>
          <a:bodyPr>
            <a:noAutofit/>
          </a:bodyPr>
          <a:lstStyle/>
          <a:p>
            <a:r>
              <a:rPr lang="es-ES" sz="4200" u="sng" dirty="0" smtClean="0"/>
              <a:t>Dif en Dif para múltiples períodos</a:t>
            </a:r>
            <a:endParaRPr lang="es-ES" sz="4200" u="sng" dirty="0"/>
          </a:p>
        </p:txBody>
      </p:sp>
      <p:sp>
        <p:nvSpPr>
          <p:cNvPr id="8" name="7 Abrir llave"/>
          <p:cNvSpPr/>
          <p:nvPr/>
        </p:nvSpPr>
        <p:spPr>
          <a:xfrm>
            <a:off x="1285852" y="3429000"/>
            <a:ext cx="142876" cy="1214446"/>
          </a:xfrm>
          <a:prstGeom prst="leftBrace">
            <a:avLst/>
          </a:prstGeom>
          <a:ln w="28575">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dirty="0"/>
          </a:p>
        </p:txBody>
      </p:sp>
      <p:sp>
        <p:nvSpPr>
          <p:cNvPr id="9" name="8 CuadroTexto"/>
          <p:cNvSpPr txBox="1"/>
          <p:nvPr/>
        </p:nvSpPr>
        <p:spPr>
          <a:xfrm>
            <a:off x="1468495" y="3424482"/>
            <a:ext cx="3973652" cy="861774"/>
          </a:xfrm>
          <a:prstGeom prst="rect">
            <a:avLst/>
          </a:prstGeom>
          <a:noFill/>
        </p:spPr>
        <p:txBody>
          <a:bodyPr wrap="none" rtlCol="0">
            <a:spAutoFit/>
          </a:bodyPr>
          <a:lstStyle/>
          <a:p>
            <a:pPr marL="457200" indent="-457200">
              <a:buAutoNum type="arabicPlain"/>
            </a:pPr>
            <a:r>
              <a:rPr lang="es-ES" sz="2500" dirty="0" smtClean="0"/>
              <a:t>si corresponde al </a:t>
            </a:r>
            <a:r>
              <a:rPr lang="es-ES" sz="2500" i="1" dirty="0" smtClean="0">
                <a:latin typeface="Times New Roman" pitchFamily="18" charset="0"/>
                <a:cs typeface="Times New Roman" pitchFamily="18" charset="0"/>
              </a:rPr>
              <a:t>i</a:t>
            </a:r>
            <a:r>
              <a:rPr lang="es-ES" sz="2500" dirty="0" smtClean="0"/>
              <a:t>-ésimo </a:t>
            </a:r>
          </a:p>
          <a:p>
            <a:pPr marL="457200" indent="-457200"/>
            <a:r>
              <a:rPr lang="es-ES" sz="2500" dirty="0" smtClean="0"/>
              <a:t>	individuo</a:t>
            </a:r>
            <a:endParaRPr lang="es-AR" sz="2500" dirty="0"/>
          </a:p>
        </p:txBody>
      </p:sp>
      <p:sp>
        <p:nvSpPr>
          <p:cNvPr id="10" name="9 CuadroTexto"/>
          <p:cNvSpPr txBox="1"/>
          <p:nvPr/>
        </p:nvSpPr>
        <p:spPr>
          <a:xfrm>
            <a:off x="1505326" y="4166392"/>
            <a:ext cx="2546466" cy="477054"/>
          </a:xfrm>
          <a:prstGeom prst="rect">
            <a:avLst/>
          </a:prstGeom>
          <a:noFill/>
        </p:spPr>
        <p:txBody>
          <a:bodyPr wrap="none" rtlCol="0">
            <a:spAutoFit/>
          </a:bodyPr>
          <a:lstStyle/>
          <a:p>
            <a:r>
              <a:rPr lang="es-ES" sz="2500" dirty="0" smtClean="0"/>
              <a:t>0   de lo contrario</a:t>
            </a:r>
            <a:endParaRPr lang="es-AR" sz="2500" dirty="0"/>
          </a:p>
        </p:txBody>
      </p:sp>
      <p:sp>
        <p:nvSpPr>
          <p:cNvPr id="11" name="10 CuadroTexto"/>
          <p:cNvSpPr txBox="1"/>
          <p:nvPr/>
        </p:nvSpPr>
        <p:spPr>
          <a:xfrm>
            <a:off x="5572132" y="3857628"/>
            <a:ext cx="3359894" cy="477054"/>
          </a:xfrm>
          <a:prstGeom prst="rect">
            <a:avLst/>
          </a:prstGeom>
          <a:noFill/>
          <a:ln>
            <a:solidFill>
              <a:schemeClr val="accent1">
                <a:lumMod val="60000"/>
                <a:lumOff val="40000"/>
              </a:schemeClr>
            </a:solidFill>
          </a:ln>
        </p:spPr>
        <p:txBody>
          <a:bodyPr wrap="none" rtlCol="0">
            <a:spAutoFit/>
          </a:bodyPr>
          <a:lstStyle/>
          <a:p>
            <a:r>
              <a:rPr lang="es-ES" sz="2500" dirty="0" smtClean="0"/>
              <a:t>Efecto fijo por individuo.</a:t>
            </a:r>
            <a:endParaRPr lang="es-AR" sz="2500" dirty="0"/>
          </a:p>
        </p:txBody>
      </p:sp>
      <p:sp>
        <p:nvSpPr>
          <p:cNvPr id="13" name="12 Abrir llave"/>
          <p:cNvSpPr/>
          <p:nvPr/>
        </p:nvSpPr>
        <p:spPr>
          <a:xfrm>
            <a:off x="1285852" y="5072074"/>
            <a:ext cx="142876" cy="1214446"/>
          </a:xfrm>
          <a:prstGeom prst="leftBrace">
            <a:avLst/>
          </a:prstGeom>
          <a:ln w="28575">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dirty="0"/>
          </a:p>
        </p:txBody>
      </p:sp>
      <p:sp>
        <p:nvSpPr>
          <p:cNvPr id="14" name="13 CuadroTexto"/>
          <p:cNvSpPr txBox="1"/>
          <p:nvPr/>
        </p:nvSpPr>
        <p:spPr>
          <a:xfrm>
            <a:off x="1449192" y="5072074"/>
            <a:ext cx="3821687" cy="477054"/>
          </a:xfrm>
          <a:prstGeom prst="rect">
            <a:avLst/>
          </a:prstGeom>
          <a:noFill/>
        </p:spPr>
        <p:txBody>
          <a:bodyPr wrap="none" rtlCol="0">
            <a:spAutoFit/>
          </a:bodyPr>
          <a:lstStyle/>
          <a:p>
            <a:pPr marL="457200" indent="-457200">
              <a:buAutoNum type="arabicPlain"/>
            </a:pPr>
            <a:r>
              <a:rPr lang="es-ES" sz="2500" dirty="0" smtClean="0"/>
              <a:t>para el  </a:t>
            </a:r>
            <a:r>
              <a:rPr lang="es-ES" sz="2500" i="1" dirty="0" smtClean="0">
                <a:latin typeface="Times New Roman" pitchFamily="18" charset="0"/>
                <a:cs typeface="Times New Roman" pitchFamily="18" charset="0"/>
              </a:rPr>
              <a:t>t</a:t>
            </a:r>
            <a:r>
              <a:rPr lang="es-ES" sz="2500" dirty="0" smtClean="0"/>
              <a:t>-</a:t>
            </a:r>
            <a:r>
              <a:rPr lang="es-ES" sz="2500" dirty="0" err="1" smtClean="0"/>
              <a:t>ésimo</a:t>
            </a:r>
            <a:r>
              <a:rPr lang="es-ES" sz="2500" dirty="0" smtClean="0"/>
              <a:t> período.</a:t>
            </a:r>
            <a:endParaRPr lang="es-AR" sz="2500" dirty="0"/>
          </a:p>
        </p:txBody>
      </p:sp>
      <p:sp>
        <p:nvSpPr>
          <p:cNvPr id="15" name="14 CuadroTexto"/>
          <p:cNvSpPr txBox="1"/>
          <p:nvPr/>
        </p:nvSpPr>
        <p:spPr>
          <a:xfrm>
            <a:off x="1500166" y="5786454"/>
            <a:ext cx="2538452" cy="477054"/>
          </a:xfrm>
          <a:prstGeom prst="rect">
            <a:avLst/>
          </a:prstGeom>
          <a:noFill/>
        </p:spPr>
        <p:txBody>
          <a:bodyPr wrap="none" rtlCol="0">
            <a:spAutoFit/>
          </a:bodyPr>
          <a:lstStyle/>
          <a:p>
            <a:r>
              <a:rPr lang="es-ES" sz="2500" dirty="0" smtClean="0"/>
              <a:t>0    de lo contrario</a:t>
            </a:r>
            <a:endParaRPr lang="es-AR" sz="2500" dirty="0"/>
          </a:p>
        </p:txBody>
      </p:sp>
      <p:sp>
        <p:nvSpPr>
          <p:cNvPr id="16" name="15 CuadroTexto"/>
          <p:cNvSpPr txBox="1"/>
          <p:nvPr/>
        </p:nvSpPr>
        <p:spPr>
          <a:xfrm>
            <a:off x="5572132" y="5286388"/>
            <a:ext cx="2967159" cy="477054"/>
          </a:xfrm>
          <a:prstGeom prst="rect">
            <a:avLst/>
          </a:prstGeom>
          <a:noFill/>
          <a:ln>
            <a:solidFill>
              <a:schemeClr val="accent1">
                <a:lumMod val="60000"/>
                <a:lumOff val="40000"/>
              </a:schemeClr>
            </a:solidFill>
          </a:ln>
        </p:spPr>
        <p:txBody>
          <a:bodyPr wrap="none" rtlCol="0">
            <a:spAutoFit/>
          </a:bodyPr>
          <a:lstStyle/>
          <a:p>
            <a:r>
              <a:rPr lang="es-ES" sz="2500" dirty="0" smtClean="0"/>
              <a:t>Efecto fijo de tiempo.</a:t>
            </a:r>
            <a:endParaRPr lang="es-AR" sz="2500" dirty="0"/>
          </a:p>
        </p:txBody>
      </p:sp>
      <p:sp>
        <p:nvSpPr>
          <p:cNvPr id="3686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3686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36869" name="Rectangle 5"/>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dirty="0" smtClean="0">
              <a:ln>
                <a:noFill/>
              </a:ln>
              <a:solidFill>
                <a:schemeClr val="tx1"/>
              </a:solidFill>
              <a:effectLst/>
              <a:latin typeface="Arial" pitchFamily="34" charset="0"/>
            </a:endParaRPr>
          </a:p>
        </p:txBody>
      </p:sp>
      <p:sp>
        <p:nvSpPr>
          <p:cNvPr id="23" name="22 Abrir llave"/>
          <p:cNvSpPr/>
          <p:nvPr/>
        </p:nvSpPr>
        <p:spPr>
          <a:xfrm>
            <a:off x="1285852" y="2143116"/>
            <a:ext cx="142876" cy="1071570"/>
          </a:xfrm>
          <a:prstGeom prst="leftBrace">
            <a:avLst/>
          </a:prstGeom>
          <a:ln w="28575">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dirty="0"/>
          </a:p>
        </p:txBody>
      </p:sp>
      <p:sp>
        <p:nvSpPr>
          <p:cNvPr id="24" name="23 CuadroTexto"/>
          <p:cNvSpPr txBox="1"/>
          <p:nvPr/>
        </p:nvSpPr>
        <p:spPr>
          <a:xfrm>
            <a:off x="1470159" y="2071678"/>
            <a:ext cx="7271799" cy="477054"/>
          </a:xfrm>
          <a:prstGeom prst="rect">
            <a:avLst/>
          </a:prstGeom>
          <a:noFill/>
        </p:spPr>
        <p:txBody>
          <a:bodyPr wrap="none" rtlCol="0">
            <a:spAutoFit/>
          </a:bodyPr>
          <a:lstStyle/>
          <a:p>
            <a:pPr marL="457200" indent="-457200">
              <a:buAutoNum type="arabicPlain"/>
            </a:pPr>
            <a:r>
              <a:rPr lang="es-ES" sz="2500" dirty="0" smtClean="0"/>
              <a:t>si recibe el individuo </a:t>
            </a:r>
            <a:r>
              <a:rPr lang="es-ES" sz="2500" i="1" dirty="0" smtClean="0"/>
              <a:t>i </a:t>
            </a:r>
            <a:r>
              <a:rPr lang="es-ES" sz="2500" dirty="0" smtClean="0"/>
              <a:t>tratamiento  en el período </a:t>
            </a:r>
            <a:r>
              <a:rPr lang="es-ES" sz="2500" i="1" dirty="0" smtClean="0"/>
              <a:t>t</a:t>
            </a:r>
            <a:r>
              <a:rPr lang="es-ES" sz="2500" dirty="0" smtClean="0"/>
              <a:t>  </a:t>
            </a:r>
            <a:endParaRPr lang="es-AR" sz="2500" dirty="0"/>
          </a:p>
        </p:txBody>
      </p:sp>
      <p:sp>
        <p:nvSpPr>
          <p:cNvPr id="36871" name="Rectangle 7"/>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36872" name="Rectangle 8"/>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dirty="0" smtClean="0">
              <a:ln>
                <a:noFill/>
              </a:ln>
              <a:solidFill>
                <a:schemeClr val="tx1"/>
              </a:solidFill>
              <a:effectLst/>
              <a:latin typeface="Arial" pitchFamily="34" charset="0"/>
            </a:endParaRPr>
          </a:p>
        </p:txBody>
      </p:sp>
      <p:sp>
        <p:nvSpPr>
          <p:cNvPr id="36874" name="Rectangle 10"/>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36875" name="Rectangle 11"/>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dirty="0" smtClean="0">
              <a:ln>
                <a:noFill/>
              </a:ln>
              <a:solidFill>
                <a:schemeClr val="tx1"/>
              </a:solidFill>
              <a:effectLst/>
              <a:latin typeface="Arial" pitchFamily="34" charset="0"/>
            </a:endParaRPr>
          </a:p>
        </p:txBody>
      </p:sp>
      <p:sp>
        <p:nvSpPr>
          <p:cNvPr id="36877"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33" name="32 CuadroTexto"/>
          <p:cNvSpPr txBox="1"/>
          <p:nvPr/>
        </p:nvSpPr>
        <p:spPr>
          <a:xfrm>
            <a:off x="1433888" y="2666194"/>
            <a:ext cx="2618602" cy="477054"/>
          </a:xfrm>
          <a:prstGeom prst="rect">
            <a:avLst/>
          </a:prstGeom>
          <a:noFill/>
        </p:spPr>
        <p:txBody>
          <a:bodyPr wrap="none" rtlCol="0">
            <a:spAutoFit/>
          </a:bodyPr>
          <a:lstStyle/>
          <a:p>
            <a:r>
              <a:rPr lang="es-ES" sz="2500" dirty="0" smtClean="0"/>
              <a:t>0    de lo contrario</a:t>
            </a:r>
            <a:endParaRPr lang="es-AR" sz="2500" dirty="0"/>
          </a:p>
        </p:txBody>
      </p:sp>
      <p:sp>
        <p:nvSpPr>
          <p:cNvPr id="30" name="29 Rectángulo"/>
          <p:cNvSpPr/>
          <p:nvPr/>
        </p:nvSpPr>
        <p:spPr>
          <a:xfrm>
            <a:off x="0" y="6534859"/>
            <a:ext cx="9215470" cy="492443"/>
          </a:xfrm>
          <a:prstGeom prst="rect">
            <a:avLst/>
          </a:prstGeom>
        </p:spPr>
        <p:txBody>
          <a:bodyPr wrap="square">
            <a:spAutoFit/>
          </a:bodyPr>
          <a:lstStyle/>
          <a:p>
            <a:pPr marL="3175" lvl="1" algn="ctr"/>
            <a:r>
              <a:rPr lang="es-MX" sz="1300" smtClean="0">
                <a:solidFill>
                  <a:schemeClr val="tx1">
                    <a:lumMod val="50000"/>
                    <a:lumOff val="50000"/>
                  </a:schemeClr>
                </a:solidFill>
              </a:rPr>
              <a:t>Guía práctica para la evaluación de impacto /</a:t>
            </a:r>
            <a:r>
              <a:rPr lang="es-CO" sz="1300" smtClean="0">
                <a:solidFill>
                  <a:schemeClr val="tx1">
                    <a:lumMod val="50000"/>
                    <a:lumOff val="50000"/>
                  </a:schemeClr>
                </a:solidFill>
              </a:rPr>
              <a:t>Capítulo </a:t>
            </a:r>
            <a:r>
              <a:rPr lang="es-CO" sz="1300" dirty="0" smtClean="0">
                <a:solidFill>
                  <a:schemeClr val="tx1">
                    <a:lumMod val="50000"/>
                    <a:lumOff val="50000"/>
                  </a:schemeClr>
                </a:solidFill>
              </a:rPr>
              <a:t>5: Experimentos Naturales o cuasi Experimentos/25</a:t>
            </a:r>
          </a:p>
          <a:p>
            <a:pPr marL="3175" lvl="1" algn="ctr"/>
            <a:endParaRPr lang="es-ES" sz="1300" dirty="0">
              <a:solidFill>
                <a:schemeClr val="tx1">
                  <a:lumMod val="50000"/>
                  <a:lumOff val="50000"/>
                </a:schemeClr>
              </a:solidFill>
            </a:endParaRPr>
          </a:p>
        </p:txBody>
      </p:sp>
      <p:graphicFrame>
        <p:nvGraphicFramePr>
          <p:cNvPr id="23553" name="Object 1"/>
          <p:cNvGraphicFramePr>
            <a:graphicFrameLocks noChangeAspect="1"/>
          </p:cNvGraphicFramePr>
          <p:nvPr/>
        </p:nvGraphicFramePr>
        <p:xfrm>
          <a:off x="-2556482" y="2357430"/>
          <a:ext cx="6914168" cy="642942"/>
        </p:xfrm>
        <a:graphic>
          <a:graphicData uri="http://schemas.openxmlformats.org/presentationml/2006/ole">
            <p:oleObj spid="_x0000_s23574" name="Documento" r:id="rId4" imgW="5397500" imgH="504362" progId="Word.Document.12">
              <p:embed/>
            </p:oleObj>
          </a:graphicData>
        </a:graphic>
      </p:graphicFrame>
      <p:graphicFrame>
        <p:nvGraphicFramePr>
          <p:cNvPr id="23554" name="Object 2"/>
          <p:cNvGraphicFramePr>
            <a:graphicFrameLocks noChangeAspect="1"/>
          </p:cNvGraphicFramePr>
          <p:nvPr/>
        </p:nvGraphicFramePr>
        <p:xfrm>
          <a:off x="-2571800" y="3722694"/>
          <a:ext cx="6850063" cy="635000"/>
        </p:xfrm>
        <a:graphic>
          <a:graphicData uri="http://schemas.openxmlformats.org/presentationml/2006/ole">
            <p:oleObj spid="_x0000_s23575" name="Documento" r:id="rId5" imgW="5397500" imgH="504362" progId="Word.Document.12">
              <p:embed/>
            </p:oleObj>
          </a:graphicData>
        </a:graphic>
      </p:graphicFrame>
      <p:graphicFrame>
        <p:nvGraphicFramePr>
          <p:cNvPr id="23555" name="Object 3"/>
          <p:cNvGraphicFramePr>
            <a:graphicFrameLocks noChangeAspect="1"/>
          </p:cNvGraphicFramePr>
          <p:nvPr/>
        </p:nvGraphicFramePr>
        <p:xfrm>
          <a:off x="-2500362" y="5437206"/>
          <a:ext cx="6850063" cy="635000"/>
        </p:xfrm>
        <a:graphic>
          <a:graphicData uri="http://schemas.openxmlformats.org/presentationml/2006/ole">
            <p:oleObj spid="_x0000_s23576" name="Documento" r:id="rId6" imgW="5397500" imgH="504362" progId="Word.Document.12">
              <p:embed/>
            </p:oleObj>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785926"/>
            <a:ext cx="8229600" cy="4500594"/>
          </a:xfrm>
        </p:spPr>
        <p:txBody>
          <a:bodyPr>
            <a:noAutofit/>
          </a:bodyPr>
          <a:lstStyle/>
          <a:p>
            <a:r>
              <a:rPr lang="es-ES" sz="2500" dirty="0" smtClean="0"/>
              <a:t>Se usa cuando no se tienen datos de panel para la evaluación.</a:t>
            </a:r>
          </a:p>
          <a:p>
            <a:r>
              <a:rPr lang="es-ES" sz="2500" dirty="0" smtClean="0"/>
              <a:t>Los datos de corte transversal repetidos deben ser </a:t>
            </a:r>
            <a:r>
              <a:rPr lang="es-ES" sz="2500" u="sng" dirty="0" smtClean="0"/>
              <a:t>una muestra representativa de la misma población.</a:t>
            </a:r>
          </a:p>
          <a:p>
            <a:pPr algn="ctr">
              <a:buNone/>
            </a:pPr>
            <a:r>
              <a:rPr lang="es-ES" sz="2500" dirty="0" smtClean="0"/>
              <a:t>          </a:t>
            </a:r>
          </a:p>
          <a:p>
            <a:pPr algn="ctr">
              <a:buNone/>
            </a:pPr>
            <a:endParaRPr lang="es-ES" sz="2500" dirty="0" smtClean="0"/>
          </a:p>
        </p:txBody>
      </p:sp>
      <p:pic>
        <p:nvPicPr>
          <p:cNvPr id="4" name="Picture 1"/>
          <p:cNvPicPr>
            <a:picLocks noChangeAspect="1" noChangeArrowheads="1"/>
          </p:cNvPicPr>
          <p:nvPr/>
        </p:nvPicPr>
        <p:blipFill>
          <a:blip r:embed="rId2" cstate="print"/>
          <a:srcRect/>
          <a:stretch>
            <a:fillRect/>
          </a:stretch>
        </p:blipFill>
        <p:spPr bwMode="auto">
          <a:xfrm>
            <a:off x="0" y="0"/>
            <a:ext cx="2214546" cy="1053379"/>
          </a:xfrm>
          <a:prstGeom prst="rect">
            <a:avLst/>
          </a:prstGeom>
          <a:noFill/>
          <a:ln w="9525">
            <a:noFill/>
            <a:miter lim="800000"/>
            <a:headEnd/>
            <a:tailEnd/>
          </a:ln>
          <a:effectLst/>
        </p:spPr>
      </p:pic>
      <p:sp>
        <p:nvSpPr>
          <p:cNvPr id="5" name="1 Título"/>
          <p:cNvSpPr>
            <a:spLocks noGrp="1"/>
          </p:cNvSpPr>
          <p:nvPr>
            <p:ph type="title"/>
          </p:nvPr>
        </p:nvSpPr>
        <p:spPr>
          <a:xfrm>
            <a:off x="2357422" y="214290"/>
            <a:ext cx="6572296" cy="1214446"/>
          </a:xfrm>
        </p:spPr>
        <p:txBody>
          <a:bodyPr>
            <a:noAutofit/>
          </a:bodyPr>
          <a:lstStyle/>
          <a:p>
            <a:r>
              <a:rPr lang="es-ES" sz="4200" u="sng" dirty="0" smtClean="0"/>
              <a:t>Dif en Dif con datos de corte transversal repetidos</a:t>
            </a:r>
            <a:endParaRPr lang="es-ES" sz="4200" u="sng" dirty="0"/>
          </a:p>
        </p:txBody>
      </p:sp>
      <p:sp>
        <p:nvSpPr>
          <p:cNvPr id="17" name="16 CuadroTexto"/>
          <p:cNvSpPr txBox="1"/>
          <p:nvPr/>
        </p:nvSpPr>
        <p:spPr>
          <a:xfrm>
            <a:off x="1059388" y="3786190"/>
            <a:ext cx="3655488" cy="815608"/>
          </a:xfrm>
          <a:prstGeom prst="rect">
            <a:avLst/>
          </a:prstGeom>
          <a:noFill/>
          <a:ln>
            <a:solidFill>
              <a:schemeClr val="accent1"/>
            </a:solidFill>
          </a:ln>
        </p:spPr>
        <p:txBody>
          <a:bodyPr wrap="none" rtlCol="0">
            <a:spAutoFit/>
          </a:bodyPr>
          <a:lstStyle/>
          <a:p>
            <a:r>
              <a:rPr lang="es-ES" sz="2500" dirty="0" smtClean="0"/>
              <a:t>Base de datos inicial</a:t>
            </a:r>
          </a:p>
          <a:p>
            <a:r>
              <a:rPr lang="es-ES" sz="2200" dirty="0" smtClean="0"/>
              <a:t>Antes del experimento natural</a:t>
            </a:r>
            <a:endParaRPr lang="es-AR" sz="2200" dirty="0"/>
          </a:p>
        </p:txBody>
      </p:sp>
      <p:sp>
        <p:nvSpPr>
          <p:cNvPr id="18" name="17 CuadroTexto"/>
          <p:cNvSpPr txBox="1"/>
          <p:nvPr/>
        </p:nvSpPr>
        <p:spPr>
          <a:xfrm>
            <a:off x="4786314" y="3786190"/>
            <a:ext cx="3975320" cy="815608"/>
          </a:xfrm>
          <a:prstGeom prst="rect">
            <a:avLst/>
          </a:prstGeom>
          <a:noFill/>
          <a:ln>
            <a:solidFill>
              <a:schemeClr val="accent1"/>
            </a:solidFill>
          </a:ln>
        </p:spPr>
        <p:txBody>
          <a:bodyPr wrap="none" rtlCol="0">
            <a:spAutoFit/>
          </a:bodyPr>
          <a:lstStyle/>
          <a:p>
            <a:r>
              <a:rPr lang="es-ES" sz="2500" dirty="0" smtClean="0"/>
              <a:t>Base de datos seguimiento</a:t>
            </a:r>
          </a:p>
          <a:p>
            <a:pPr algn="ctr"/>
            <a:r>
              <a:rPr lang="es-ES" sz="2200" dirty="0" smtClean="0"/>
              <a:t>Después del experimento natural</a:t>
            </a:r>
            <a:endParaRPr lang="es-AR" sz="2200" dirty="0"/>
          </a:p>
        </p:txBody>
      </p:sp>
      <p:sp>
        <p:nvSpPr>
          <p:cNvPr id="19" name="18 CuadroTexto"/>
          <p:cNvSpPr txBox="1"/>
          <p:nvPr/>
        </p:nvSpPr>
        <p:spPr>
          <a:xfrm>
            <a:off x="652195" y="5166524"/>
            <a:ext cx="4454873" cy="800219"/>
          </a:xfrm>
          <a:prstGeom prst="rect">
            <a:avLst/>
          </a:prstGeom>
          <a:noFill/>
          <a:ln>
            <a:solidFill>
              <a:schemeClr val="accent1"/>
            </a:solidFill>
          </a:ln>
        </p:spPr>
        <p:txBody>
          <a:bodyPr wrap="none" rtlCol="0">
            <a:spAutoFit/>
          </a:bodyPr>
          <a:lstStyle/>
          <a:p>
            <a:pPr algn="ctr"/>
            <a:r>
              <a:rPr lang="es-ES" sz="2300" dirty="0" smtClean="0"/>
              <a:t>Sustitutos del grupo de tratamiento</a:t>
            </a:r>
          </a:p>
          <a:p>
            <a:pPr algn="ctr"/>
            <a:r>
              <a:rPr lang="es-ES" sz="2300" dirty="0" smtClean="0"/>
              <a:t>Sustitutos del grupo de control</a:t>
            </a:r>
            <a:endParaRPr lang="es-AR" sz="2300" dirty="0"/>
          </a:p>
        </p:txBody>
      </p:sp>
      <p:sp>
        <p:nvSpPr>
          <p:cNvPr id="20" name="19 CuadroTexto"/>
          <p:cNvSpPr txBox="1"/>
          <p:nvPr/>
        </p:nvSpPr>
        <p:spPr>
          <a:xfrm>
            <a:off x="5514623" y="5166524"/>
            <a:ext cx="2803588" cy="800219"/>
          </a:xfrm>
          <a:prstGeom prst="rect">
            <a:avLst/>
          </a:prstGeom>
          <a:noFill/>
          <a:ln>
            <a:solidFill>
              <a:schemeClr val="accent1"/>
            </a:solidFill>
          </a:ln>
        </p:spPr>
        <p:txBody>
          <a:bodyPr wrap="none" rtlCol="0">
            <a:spAutoFit/>
          </a:bodyPr>
          <a:lstStyle/>
          <a:p>
            <a:pPr algn="ctr"/>
            <a:r>
              <a:rPr lang="es-ES" sz="2300" dirty="0" smtClean="0"/>
              <a:t>Grupo de tratamiento</a:t>
            </a:r>
          </a:p>
          <a:p>
            <a:pPr algn="ctr"/>
            <a:r>
              <a:rPr lang="es-ES" sz="2300" dirty="0" smtClean="0"/>
              <a:t>Grupo de control</a:t>
            </a:r>
            <a:endParaRPr lang="es-AR" sz="2300" dirty="0"/>
          </a:p>
        </p:txBody>
      </p:sp>
      <p:cxnSp>
        <p:nvCxnSpPr>
          <p:cNvPr id="22" name="21 Conector recto de flecha"/>
          <p:cNvCxnSpPr>
            <a:stCxn id="17" idx="2"/>
            <a:endCxn id="19" idx="0"/>
          </p:cNvCxnSpPr>
          <p:nvPr/>
        </p:nvCxnSpPr>
        <p:spPr>
          <a:xfrm rot="5400000">
            <a:off x="2601019" y="4880411"/>
            <a:ext cx="564726" cy="75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22 Conector recto de flecha"/>
          <p:cNvCxnSpPr>
            <a:endCxn id="20" idx="0"/>
          </p:cNvCxnSpPr>
          <p:nvPr/>
        </p:nvCxnSpPr>
        <p:spPr>
          <a:xfrm rot="5400000">
            <a:off x="6625681" y="4862747"/>
            <a:ext cx="594513" cy="130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11 Rectángulo"/>
          <p:cNvSpPr/>
          <p:nvPr/>
        </p:nvSpPr>
        <p:spPr>
          <a:xfrm>
            <a:off x="0" y="6534859"/>
            <a:ext cx="9215470" cy="292388"/>
          </a:xfrm>
          <a:prstGeom prst="rect">
            <a:avLst/>
          </a:prstGeom>
        </p:spPr>
        <p:txBody>
          <a:bodyPr wrap="square">
            <a:spAutoFit/>
          </a:bodyPr>
          <a:lstStyle/>
          <a:p>
            <a:pPr lvl="1" algn="ctr">
              <a:tabLst>
                <a:tab pos="1074738" algn="l"/>
              </a:tabLst>
            </a:pPr>
            <a:r>
              <a:rPr lang="es-MX" sz="1300" smtClean="0">
                <a:solidFill>
                  <a:schemeClr val="tx1">
                    <a:lumMod val="50000"/>
                    <a:lumOff val="50000"/>
                  </a:schemeClr>
                </a:solidFill>
              </a:rPr>
              <a:t>Guía práctica para la evaluación de impacto /</a:t>
            </a:r>
            <a:r>
              <a:rPr lang="es-CO" sz="1300" smtClean="0">
                <a:solidFill>
                  <a:schemeClr val="tx1">
                    <a:lumMod val="50000"/>
                    <a:lumOff val="50000"/>
                  </a:schemeClr>
                </a:solidFill>
              </a:rPr>
              <a:t>Capítulo </a:t>
            </a:r>
            <a:r>
              <a:rPr lang="es-CO" sz="1300" dirty="0" smtClean="0">
                <a:solidFill>
                  <a:schemeClr val="tx1">
                    <a:lumMod val="50000"/>
                    <a:lumOff val="50000"/>
                  </a:schemeClr>
                </a:solidFill>
              </a:rPr>
              <a:t>5: Experimentos Naturales o cuasi Experimentos/26</a:t>
            </a:r>
            <a:endParaRPr lang="es-ES" sz="1300" dirty="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428736"/>
            <a:ext cx="8229600" cy="4857784"/>
          </a:xfrm>
          <a:ln w="28575">
            <a:solidFill>
              <a:schemeClr val="accent1">
                <a:lumMod val="75000"/>
              </a:schemeClr>
            </a:solidFill>
          </a:ln>
        </p:spPr>
        <p:txBody>
          <a:bodyPr>
            <a:normAutofit lnSpcReduction="10000"/>
          </a:bodyPr>
          <a:lstStyle/>
          <a:p>
            <a:r>
              <a:rPr lang="es-CO" sz="2500" dirty="0" smtClean="0"/>
              <a:t>Siguiendo con la idea de municipios petroleros y no petroleros, asignados aleatoriamente.</a:t>
            </a:r>
          </a:p>
          <a:p>
            <a:pPr algn="just"/>
            <a:endParaRPr lang="es-CO" sz="2500" dirty="0" smtClean="0"/>
          </a:p>
          <a:p>
            <a:pPr algn="just"/>
            <a:r>
              <a:rPr lang="es-CO" sz="2500" b="1" u="sng" dirty="0" smtClean="0"/>
              <a:t>Datos</a:t>
            </a:r>
            <a:r>
              <a:rPr lang="es-CO" sz="2500" dirty="0" smtClean="0"/>
              <a:t>: Encuesta de hogares (repetidas).</a:t>
            </a:r>
          </a:p>
          <a:p>
            <a:pPr algn="just">
              <a:buNone/>
            </a:pPr>
            <a:r>
              <a:rPr lang="es-CO" sz="2500" dirty="0" smtClean="0"/>
              <a:t>	1. Línea de base: Antes del hallazgo de los yacimientos.</a:t>
            </a:r>
          </a:p>
          <a:p>
            <a:pPr algn="just">
              <a:buNone/>
            </a:pPr>
            <a:r>
              <a:rPr lang="es-CO" sz="2500" dirty="0" smtClean="0"/>
              <a:t>	2. Seguimiento: Después del experimento natural (luego del tratamiento).</a:t>
            </a:r>
          </a:p>
          <a:p>
            <a:pPr algn="just">
              <a:buNone/>
            </a:pPr>
            <a:endParaRPr lang="es-CO" sz="2500" dirty="0" smtClean="0"/>
          </a:p>
          <a:p>
            <a:pPr algn="just"/>
            <a:r>
              <a:rPr lang="es-CO" sz="2500" b="1" u="sng" dirty="0" smtClean="0"/>
              <a:t>Grupo de control</a:t>
            </a:r>
            <a:r>
              <a:rPr lang="es-CO" sz="2500" dirty="0" smtClean="0"/>
              <a:t>: Residentes de municipios sin petróleo pertenecientes al Sisben 1 y 2.</a:t>
            </a:r>
          </a:p>
          <a:p>
            <a:pPr algn="just"/>
            <a:r>
              <a:rPr lang="es-CO" sz="2500" b="1" u="sng" dirty="0" smtClean="0"/>
              <a:t>Grupo de tratamiento:</a:t>
            </a:r>
            <a:r>
              <a:rPr lang="es-CO" sz="2500" b="1" dirty="0" smtClean="0"/>
              <a:t> </a:t>
            </a:r>
            <a:r>
              <a:rPr lang="es-CO" sz="2500" dirty="0" smtClean="0"/>
              <a:t>Residentes de municipios con  petróleo pertenecientes al Sisben 1 y 2.</a:t>
            </a:r>
          </a:p>
        </p:txBody>
      </p:sp>
      <p:pic>
        <p:nvPicPr>
          <p:cNvPr id="4" name="Picture 1"/>
          <p:cNvPicPr>
            <a:picLocks noChangeAspect="1" noChangeArrowheads="1"/>
          </p:cNvPicPr>
          <p:nvPr/>
        </p:nvPicPr>
        <p:blipFill>
          <a:blip r:embed="rId2" cstate="print"/>
          <a:srcRect/>
          <a:stretch>
            <a:fillRect/>
          </a:stretch>
        </p:blipFill>
        <p:spPr bwMode="auto">
          <a:xfrm>
            <a:off x="0" y="0"/>
            <a:ext cx="2214546" cy="1053379"/>
          </a:xfrm>
          <a:prstGeom prst="rect">
            <a:avLst/>
          </a:prstGeom>
          <a:noFill/>
          <a:ln w="9525">
            <a:noFill/>
            <a:miter lim="800000"/>
            <a:headEnd/>
            <a:tailEnd/>
          </a:ln>
          <a:effectLst/>
        </p:spPr>
      </p:pic>
      <p:sp>
        <p:nvSpPr>
          <p:cNvPr id="5" name="1 Título"/>
          <p:cNvSpPr>
            <a:spLocks noGrp="1"/>
          </p:cNvSpPr>
          <p:nvPr>
            <p:ph type="title"/>
          </p:nvPr>
        </p:nvSpPr>
        <p:spPr>
          <a:xfrm>
            <a:off x="1557374" y="274638"/>
            <a:ext cx="7372344" cy="1011222"/>
          </a:xfrm>
        </p:spPr>
        <p:txBody>
          <a:bodyPr>
            <a:noAutofit/>
          </a:bodyPr>
          <a:lstStyle/>
          <a:p>
            <a:r>
              <a:rPr lang="es-CO" sz="4200" u="sng" dirty="0" smtClean="0"/>
              <a:t>Ejemplo: </a:t>
            </a:r>
            <a:r>
              <a:rPr lang="es-CO" sz="4200" i="1" u="sng" dirty="0" smtClean="0"/>
              <a:t>Canasta </a:t>
            </a:r>
            <a:br>
              <a:rPr lang="es-CO" sz="4200" i="1" u="sng" dirty="0" smtClean="0"/>
            </a:br>
            <a:r>
              <a:rPr lang="es-CO" sz="4200" u="sng" dirty="0" smtClean="0"/>
              <a:t>Descripción</a:t>
            </a:r>
            <a:endParaRPr lang="es-ES" sz="4200" u="sng" dirty="0"/>
          </a:p>
        </p:txBody>
      </p:sp>
      <p:sp>
        <p:nvSpPr>
          <p:cNvPr id="6" name="5 Rectángulo"/>
          <p:cNvSpPr/>
          <p:nvPr/>
        </p:nvSpPr>
        <p:spPr>
          <a:xfrm>
            <a:off x="0" y="6534859"/>
            <a:ext cx="9215470" cy="292388"/>
          </a:xfrm>
          <a:prstGeom prst="rect">
            <a:avLst/>
          </a:prstGeom>
        </p:spPr>
        <p:txBody>
          <a:bodyPr wrap="square">
            <a:spAutoFit/>
          </a:bodyPr>
          <a:lstStyle/>
          <a:p>
            <a:pPr marL="3175" lvl="1" algn="ctr"/>
            <a:r>
              <a:rPr lang="es-MX" sz="1300" smtClean="0">
                <a:solidFill>
                  <a:schemeClr val="tx1">
                    <a:lumMod val="50000"/>
                    <a:lumOff val="50000"/>
                  </a:schemeClr>
                </a:solidFill>
              </a:rPr>
              <a:t>Guía práctica para la evaluación de impacto /</a:t>
            </a:r>
            <a:r>
              <a:rPr lang="es-CO" sz="1300" smtClean="0">
                <a:solidFill>
                  <a:schemeClr val="tx1">
                    <a:lumMod val="50000"/>
                    <a:lumOff val="50000"/>
                  </a:schemeClr>
                </a:solidFill>
              </a:rPr>
              <a:t>Capítulo </a:t>
            </a:r>
            <a:r>
              <a:rPr lang="es-CO" sz="1300" dirty="0" smtClean="0">
                <a:solidFill>
                  <a:schemeClr val="tx1">
                    <a:lumMod val="50000"/>
                    <a:lumOff val="50000"/>
                  </a:schemeClr>
                </a:solidFill>
              </a:rPr>
              <a:t>5: Experimentos Naturales o cuasi Experimentos/27</a:t>
            </a:r>
            <a:endParaRPr lang="es-ES" sz="1300" dirty="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85720" y="1600200"/>
            <a:ext cx="8643998" cy="4829196"/>
          </a:xfrm>
          <a:ln w="28575">
            <a:solidFill>
              <a:schemeClr val="accent1">
                <a:lumMod val="75000"/>
              </a:schemeClr>
            </a:solidFill>
          </a:ln>
        </p:spPr>
        <p:txBody>
          <a:bodyPr>
            <a:normAutofit/>
          </a:bodyPr>
          <a:lstStyle/>
          <a:p>
            <a:pPr marL="0" algn="ctr">
              <a:buNone/>
            </a:pPr>
            <a:r>
              <a:rPr lang="es-CO" sz="2500" dirty="0" smtClean="0"/>
              <a:t>No tenemos un panel, pero sí datos sobre los individuos residentes en municipios petroleros (que después son tratados por el decreto de regalías) y municipios no petroleros (que no serán tratados porque no tienen regalías).</a:t>
            </a:r>
            <a:endParaRPr lang="es-ES" sz="2500" dirty="0"/>
          </a:p>
        </p:txBody>
      </p:sp>
      <p:pic>
        <p:nvPicPr>
          <p:cNvPr id="4" name="Picture 1"/>
          <p:cNvPicPr>
            <a:picLocks noChangeAspect="1" noChangeArrowheads="1"/>
          </p:cNvPicPr>
          <p:nvPr/>
        </p:nvPicPr>
        <p:blipFill>
          <a:blip r:embed="rId2" cstate="print"/>
          <a:srcRect/>
          <a:stretch>
            <a:fillRect/>
          </a:stretch>
        </p:blipFill>
        <p:spPr bwMode="auto">
          <a:xfrm>
            <a:off x="0" y="0"/>
            <a:ext cx="2214546" cy="1053379"/>
          </a:xfrm>
          <a:prstGeom prst="rect">
            <a:avLst/>
          </a:prstGeom>
          <a:noFill/>
          <a:ln w="9525">
            <a:noFill/>
            <a:miter lim="800000"/>
            <a:headEnd/>
            <a:tailEnd/>
          </a:ln>
          <a:effectLst/>
        </p:spPr>
      </p:pic>
      <p:sp>
        <p:nvSpPr>
          <p:cNvPr id="5" name="1 Título"/>
          <p:cNvSpPr>
            <a:spLocks noGrp="1"/>
          </p:cNvSpPr>
          <p:nvPr>
            <p:ph type="title"/>
          </p:nvPr>
        </p:nvSpPr>
        <p:spPr>
          <a:xfrm>
            <a:off x="1557374" y="274638"/>
            <a:ext cx="7372344" cy="1011222"/>
          </a:xfrm>
        </p:spPr>
        <p:txBody>
          <a:bodyPr>
            <a:noAutofit/>
          </a:bodyPr>
          <a:lstStyle/>
          <a:p>
            <a:r>
              <a:rPr lang="es-CO" sz="4200" u="sng" dirty="0" smtClean="0"/>
              <a:t>Ejemplo: </a:t>
            </a:r>
            <a:r>
              <a:rPr lang="es-CO" sz="4200" i="1" u="sng" dirty="0" smtClean="0"/>
              <a:t>Canasta</a:t>
            </a:r>
            <a:r>
              <a:rPr lang="es-CO" sz="4200" b="1" u="sng" dirty="0" smtClean="0"/>
              <a:t> </a:t>
            </a:r>
            <a:br>
              <a:rPr lang="es-CO" sz="4200" b="1" u="sng" dirty="0" smtClean="0"/>
            </a:br>
            <a:r>
              <a:rPr lang="es-CO" sz="4200" u="sng" dirty="0" smtClean="0"/>
              <a:t>Acerca de las observaciones </a:t>
            </a:r>
            <a:endParaRPr lang="es-ES" sz="4200" u="sng" dirty="0"/>
          </a:p>
        </p:txBody>
      </p:sp>
      <p:cxnSp>
        <p:nvCxnSpPr>
          <p:cNvPr id="7" name="6 Conector recto de flecha"/>
          <p:cNvCxnSpPr/>
          <p:nvPr/>
        </p:nvCxnSpPr>
        <p:spPr>
          <a:xfrm rot="5400000">
            <a:off x="3965571" y="3250405"/>
            <a:ext cx="356396" cy="794"/>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8" name="7 CuadroTexto"/>
          <p:cNvSpPr txBox="1"/>
          <p:nvPr/>
        </p:nvSpPr>
        <p:spPr>
          <a:xfrm>
            <a:off x="1000100" y="3286124"/>
            <a:ext cx="6286544" cy="477054"/>
          </a:xfrm>
          <a:prstGeom prst="rect">
            <a:avLst/>
          </a:prstGeom>
          <a:noFill/>
        </p:spPr>
        <p:txBody>
          <a:bodyPr wrap="square" rtlCol="0">
            <a:spAutoFit/>
          </a:bodyPr>
          <a:lstStyle/>
          <a:p>
            <a:pPr algn="just"/>
            <a:r>
              <a:rPr lang="es-CO" sz="2500" dirty="0" smtClean="0"/>
              <a:t>Podemos utilizar los datos de corte transversal.</a:t>
            </a:r>
          </a:p>
        </p:txBody>
      </p:sp>
      <p:sp>
        <p:nvSpPr>
          <p:cNvPr id="13" name="12 CuadroTexto"/>
          <p:cNvSpPr txBox="1"/>
          <p:nvPr/>
        </p:nvSpPr>
        <p:spPr>
          <a:xfrm>
            <a:off x="500034" y="4000504"/>
            <a:ext cx="2286016" cy="800219"/>
          </a:xfrm>
          <a:prstGeom prst="rect">
            <a:avLst/>
          </a:prstGeom>
          <a:noFill/>
          <a:ln>
            <a:solidFill>
              <a:schemeClr val="accent1">
                <a:lumMod val="60000"/>
                <a:lumOff val="40000"/>
              </a:schemeClr>
            </a:solidFill>
          </a:ln>
        </p:spPr>
        <p:txBody>
          <a:bodyPr wrap="square" rtlCol="0">
            <a:spAutoFit/>
          </a:bodyPr>
          <a:lstStyle/>
          <a:p>
            <a:r>
              <a:rPr lang="es-CO" sz="2300" dirty="0" smtClean="0"/>
              <a:t>Para el grupo de control.</a:t>
            </a:r>
            <a:endParaRPr lang="es-ES" sz="2300" dirty="0"/>
          </a:p>
        </p:txBody>
      </p:sp>
      <p:sp>
        <p:nvSpPr>
          <p:cNvPr id="14" name="13 CuadroTexto"/>
          <p:cNvSpPr txBox="1"/>
          <p:nvPr/>
        </p:nvSpPr>
        <p:spPr>
          <a:xfrm>
            <a:off x="428597" y="5143512"/>
            <a:ext cx="2357453" cy="800219"/>
          </a:xfrm>
          <a:prstGeom prst="rect">
            <a:avLst/>
          </a:prstGeom>
          <a:noFill/>
          <a:ln>
            <a:solidFill>
              <a:schemeClr val="accent1">
                <a:lumMod val="60000"/>
                <a:lumOff val="40000"/>
              </a:schemeClr>
            </a:solidFill>
          </a:ln>
        </p:spPr>
        <p:txBody>
          <a:bodyPr wrap="square" rtlCol="0">
            <a:spAutoFit/>
          </a:bodyPr>
          <a:lstStyle/>
          <a:p>
            <a:r>
              <a:rPr lang="es-CO" sz="2300" dirty="0" smtClean="0"/>
              <a:t>Para el grupo de tratamiento.</a:t>
            </a:r>
            <a:endParaRPr lang="es-ES" sz="2300" dirty="0"/>
          </a:p>
        </p:txBody>
      </p:sp>
      <p:sp>
        <p:nvSpPr>
          <p:cNvPr id="19" name="18 CuadroTexto"/>
          <p:cNvSpPr txBox="1"/>
          <p:nvPr/>
        </p:nvSpPr>
        <p:spPr>
          <a:xfrm>
            <a:off x="3000364" y="3986103"/>
            <a:ext cx="3789591" cy="1061829"/>
          </a:xfrm>
          <a:prstGeom prst="rect">
            <a:avLst/>
          </a:prstGeom>
          <a:noFill/>
          <a:ln>
            <a:solidFill>
              <a:schemeClr val="accent1">
                <a:lumMod val="60000"/>
                <a:lumOff val="40000"/>
              </a:schemeClr>
            </a:solidFill>
          </a:ln>
        </p:spPr>
        <p:txBody>
          <a:bodyPr wrap="square" rtlCol="0">
            <a:spAutoFit/>
          </a:bodyPr>
          <a:lstStyle/>
          <a:p>
            <a:pPr algn="just"/>
            <a:r>
              <a:rPr lang="es-CO" sz="2000" dirty="0" smtClean="0"/>
              <a:t>Datos de corte transversal de municipios que posteriormente no encuentran petróleo</a:t>
            </a:r>
            <a:r>
              <a:rPr lang="es-CO" sz="2300" dirty="0" smtClean="0"/>
              <a:t>.</a:t>
            </a:r>
            <a:endParaRPr lang="es-ES" sz="2300" dirty="0"/>
          </a:p>
        </p:txBody>
      </p:sp>
      <p:sp>
        <p:nvSpPr>
          <p:cNvPr id="20" name="19 CuadroTexto"/>
          <p:cNvSpPr txBox="1"/>
          <p:nvPr/>
        </p:nvSpPr>
        <p:spPr>
          <a:xfrm>
            <a:off x="3000364" y="5143512"/>
            <a:ext cx="3857652" cy="1015663"/>
          </a:xfrm>
          <a:prstGeom prst="rect">
            <a:avLst/>
          </a:prstGeom>
          <a:noFill/>
          <a:ln>
            <a:solidFill>
              <a:schemeClr val="accent1">
                <a:lumMod val="60000"/>
                <a:lumOff val="40000"/>
              </a:schemeClr>
            </a:solidFill>
          </a:ln>
        </p:spPr>
        <p:txBody>
          <a:bodyPr wrap="square" rtlCol="0">
            <a:spAutoFit/>
          </a:bodyPr>
          <a:lstStyle/>
          <a:p>
            <a:pPr algn="just"/>
            <a:r>
              <a:rPr lang="es-CO" sz="2000" dirty="0" smtClean="0"/>
              <a:t>Datos de corte transversal de municipios que posteriormente encuentran petróleo.</a:t>
            </a:r>
            <a:endParaRPr lang="es-ES" sz="2000" dirty="0"/>
          </a:p>
        </p:txBody>
      </p:sp>
      <p:sp>
        <p:nvSpPr>
          <p:cNvPr id="22" name="21 Cerrar llave"/>
          <p:cNvSpPr/>
          <p:nvPr/>
        </p:nvSpPr>
        <p:spPr>
          <a:xfrm>
            <a:off x="6786578" y="3857628"/>
            <a:ext cx="285752" cy="2214578"/>
          </a:xfrm>
          <a:prstGeom prst="rightBrace">
            <a:avLst/>
          </a:prstGeom>
          <a:ln w="28575">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dirty="0"/>
          </a:p>
        </p:txBody>
      </p:sp>
      <p:sp>
        <p:nvSpPr>
          <p:cNvPr id="33" name="32 CuadroTexto"/>
          <p:cNvSpPr txBox="1"/>
          <p:nvPr/>
        </p:nvSpPr>
        <p:spPr>
          <a:xfrm>
            <a:off x="7000892" y="4417978"/>
            <a:ext cx="2071702" cy="800219"/>
          </a:xfrm>
          <a:prstGeom prst="rect">
            <a:avLst/>
          </a:prstGeom>
          <a:noFill/>
        </p:spPr>
        <p:txBody>
          <a:bodyPr wrap="square" rtlCol="0">
            <a:spAutoFit/>
          </a:bodyPr>
          <a:lstStyle/>
          <a:p>
            <a:r>
              <a:rPr lang="es-CO" sz="2300" dirty="0" smtClean="0"/>
              <a:t>Observaciones </a:t>
            </a:r>
            <a:r>
              <a:rPr lang="es-CO" sz="2300" dirty="0" err="1" smtClean="0"/>
              <a:t>pretratamiento</a:t>
            </a:r>
            <a:endParaRPr lang="es-ES" sz="2300" dirty="0"/>
          </a:p>
        </p:txBody>
      </p:sp>
      <p:cxnSp>
        <p:nvCxnSpPr>
          <p:cNvPr id="34" name="33 Conector recto de flecha"/>
          <p:cNvCxnSpPr/>
          <p:nvPr/>
        </p:nvCxnSpPr>
        <p:spPr>
          <a:xfrm>
            <a:off x="2786050" y="5572140"/>
            <a:ext cx="214314"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6" name="15 Conector recto de flecha"/>
          <p:cNvCxnSpPr/>
          <p:nvPr/>
        </p:nvCxnSpPr>
        <p:spPr>
          <a:xfrm>
            <a:off x="2786050" y="4429132"/>
            <a:ext cx="214314"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17" name="16 Rectángulo"/>
          <p:cNvSpPr/>
          <p:nvPr/>
        </p:nvSpPr>
        <p:spPr>
          <a:xfrm>
            <a:off x="0" y="6534859"/>
            <a:ext cx="9215470" cy="292388"/>
          </a:xfrm>
          <a:prstGeom prst="rect">
            <a:avLst/>
          </a:prstGeom>
        </p:spPr>
        <p:txBody>
          <a:bodyPr wrap="square">
            <a:spAutoFit/>
          </a:bodyPr>
          <a:lstStyle/>
          <a:p>
            <a:pPr marL="3175" lvl="1" algn="ctr"/>
            <a:r>
              <a:rPr lang="es-MX" sz="1300" smtClean="0">
                <a:solidFill>
                  <a:schemeClr val="tx1">
                    <a:lumMod val="50000"/>
                    <a:lumOff val="50000"/>
                  </a:schemeClr>
                </a:solidFill>
              </a:rPr>
              <a:t>Guía práctica para la evaluación de impacto /</a:t>
            </a:r>
            <a:r>
              <a:rPr lang="es-CO" sz="1300" smtClean="0">
                <a:solidFill>
                  <a:schemeClr val="tx1">
                    <a:lumMod val="50000"/>
                    <a:lumOff val="50000"/>
                  </a:schemeClr>
                </a:solidFill>
              </a:rPr>
              <a:t>Capítulo </a:t>
            </a:r>
            <a:r>
              <a:rPr lang="es-CO" sz="1300" dirty="0" smtClean="0">
                <a:solidFill>
                  <a:schemeClr val="tx1">
                    <a:lumMod val="50000"/>
                    <a:lumOff val="50000"/>
                  </a:schemeClr>
                </a:solidFill>
              </a:rPr>
              <a:t>5: Experimentos Naturales o cuasi Experimentos/28</a:t>
            </a:r>
            <a:endParaRPr lang="es-ES" sz="1300" dirty="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p>
            <a:endParaRPr lang="es-ES" dirty="0" smtClean="0"/>
          </a:p>
          <a:p>
            <a:endParaRPr lang="es-ES" dirty="0" smtClean="0"/>
          </a:p>
          <a:p>
            <a:endParaRPr lang="es-AR" dirty="0"/>
          </a:p>
        </p:txBody>
      </p:sp>
      <p:pic>
        <p:nvPicPr>
          <p:cNvPr id="4" name="Picture 1"/>
          <p:cNvPicPr>
            <a:picLocks noChangeAspect="1" noChangeArrowheads="1"/>
          </p:cNvPicPr>
          <p:nvPr/>
        </p:nvPicPr>
        <p:blipFill>
          <a:blip r:embed="rId4" cstate="print"/>
          <a:srcRect/>
          <a:stretch>
            <a:fillRect/>
          </a:stretch>
        </p:blipFill>
        <p:spPr bwMode="auto">
          <a:xfrm>
            <a:off x="0" y="0"/>
            <a:ext cx="2214546" cy="1053379"/>
          </a:xfrm>
          <a:prstGeom prst="rect">
            <a:avLst/>
          </a:prstGeom>
          <a:noFill/>
          <a:ln w="9525">
            <a:noFill/>
            <a:miter lim="800000"/>
            <a:headEnd/>
            <a:tailEnd/>
          </a:ln>
          <a:effectLst/>
        </p:spPr>
      </p:pic>
      <p:sp>
        <p:nvSpPr>
          <p:cNvPr id="5" name="1 Título"/>
          <p:cNvSpPr>
            <a:spLocks noGrp="1"/>
          </p:cNvSpPr>
          <p:nvPr>
            <p:ph type="title"/>
          </p:nvPr>
        </p:nvSpPr>
        <p:spPr>
          <a:xfrm>
            <a:off x="2357422" y="214290"/>
            <a:ext cx="6572296" cy="1214446"/>
          </a:xfrm>
        </p:spPr>
        <p:txBody>
          <a:bodyPr>
            <a:noAutofit/>
          </a:bodyPr>
          <a:lstStyle/>
          <a:p>
            <a:r>
              <a:rPr lang="es-ES" sz="4200" u="sng" dirty="0" smtClean="0"/>
              <a:t>Modelo de regresión</a:t>
            </a:r>
            <a:endParaRPr lang="es-ES" sz="4200" u="sng" dirty="0"/>
          </a:p>
        </p:txBody>
      </p:sp>
      <p:sp>
        <p:nvSpPr>
          <p:cNvPr id="38914"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38915" name="Rectangle 3"/>
          <p:cNvSpPr>
            <a:spLocks noChangeArrowheads="1"/>
          </p:cNvSpPr>
          <p:nvPr/>
        </p:nvSpPr>
        <p:spPr bwMode="auto">
          <a:xfrm>
            <a:off x="0" y="12573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dirty="0" smtClean="0">
              <a:ln>
                <a:noFill/>
              </a:ln>
              <a:solidFill>
                <a:schemeClr val="tx1"/>
              </a:solidFill>
              <a:effectLst/>
              <a:latin typeface="Arial" pitchFamily="34" charset="0"/>
            </a:endParaRPr>
          </a:p>
        </p:txBody>
      </p:sp>
      <p:sp>
        <p:nvSpPr>
          <p:cNvPr id="10" name="9 CuadroTexto"/>
          <p:cNvSpPr txBox="1"/>
          <p:nvPr/>
        </p:nvSpPr>
        <p:spPr>
          <a:xfrm>
            <a:off x="714348" y="2786058"/>
            <a:ext cx="1133644" cy="754053"/>
          </a:xfrm>
          <a:prstGeom prst="rect">
            <a:avLst/>
          </a:prstGeom>
          <a:noFill/>
        </p:spPr>
        <p:txBody>
          <a:bodyPr wrap="square" rtlCol="0">
            <a:spAutoFit/>
          </a:bodyPr>
          <a:lstStyle/>
          <a:p>
            <a:r>
              <a:rPr lang="es-ES" sz="2500" dirty="0" smtClean="0"/>
              <a:t>Donde:</a:t>
            </a:r>
            <a:endParaRPr lang="es-ES" dirty="0" smtClean="0"/>
          </a:p>
          <a:p>
            <a:endParaRPr lang="es-AR" dirty="0"/>
          </a:p>
        </p:txBody>
      </p:sp>
      <p:sp>
        <p:nvSpPr>
          <p:cNvPr id="38917"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38918" name="Rectangle 6"/>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dirty="0" smtClean="0">
              <a:ln>
                <a:noFill/>
              </a:ln>
              <a:solidFill>
                <a:schemeClr val="tx1"/>
              </a:solidFill>
              <a:effectLst/>
              <a:latin typeface="Arial" pitchFamily="34" charset="0"/>
            </a:endParaRPr>
          </a:p>
        </p:txBody>
      </p:sp>
      <p:sp>
        <p:nvSpPr>
          <p:cNvPr id="14" name="13 Abrir llave"/>
          <p:cNvSpPr/>
          <p:nvPr/>
        </p:nvSpPr>
        <p:spPr>
          <a:xfrm>
            <a:off x="1500166" y="3357562"/>
            <a:ext cx="142876" cy="1071570"/>
          </a:xfrm>
          <a:prstGeom prst="leftBrace">
            <a:avLst/>
          </a:prstGeom>
          <a:ln w="28575">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dirty="0"/>
          </a:p>
        </p:txBody>
      </p:sp>
      <p:sp>
        <p:nvSpPr>
          <p:cNvPr id="15" name="14 CuadroTexto"/>
          <p:cNvSpPr txBox="1"/>
          <p:nvPr/>
        </p:nvSpPr>
        <p:spPr>
          <a:xfrm>
            <a:off x="1547664" y="3357562"/>
            <a:ext cx="4142994" cy="630942"/>
          </a:xfrm>
          <a:prstGeom prst="rect">
            <a:avLst/>
          </a:prstGeom>
          <a:noFill/>
        </p:spPr>
        <p:txBody>
          <a:bodyPr wrap="none" rtlCol="0">
            <a:spAutoFit/>
          </a:bodyPr>
          <a:lstStyle/>
          <a:p>
            <a:r>
              <a:rPr lang="es-ES" sz="2500" dirty="0" smtClean="0"/>
              <a:t>1 si la condición [</a:t>
            </a:r>
            <a:r>
              <a:rPr lang="es-ES" sz="3500" dirty="0" smtClean="0"/>
              <a:t>∙</a:t>
            </a:r>
            <a:r>
              <a:rPr lang="es-ES" sz="2500" dirty="0" smtClean="0"/>
              <a:t>] se cumple.</a:t>
            </a:r>
            <a:endParaRPr lang="es-AR" sz="2500" dirty="0"/>
          </a:p>
        </p:txBody>
      </p:sp>
      <p:sp>
        <p:nvSpPr>
          <p:cNvPr id="16" name="15 CuadroTexto"/>
          <p:cNvSpPr txBox="1"/>
          <p:nvPr/>
        </p:nvSpPr>
        <p:spPr>
          <a:xfrm>
            <a:off x="1571604" y="3929066"/>
            <a:ext cx="2402196" cy="477054"/>
          </a:xfrm>
          <a:prstGeom prst="rect">
            <a:avLst/>
          </a:prstGeom>
          <a:noFill/>
        </p:spPr>
        <p:txBody>
          <a:bodyPr wrap="none" rtlCol="0">
            <a:spAutoFit/>
          </a:bodyPr>
          <a:lstStyle/>
          <a:p>
            <a:r>
              <a:rPr lang="es-ES" sz="2500" dirty="0" smtClean="0"/>
              <a:t>0 de lo contrario.</a:t>
            </a:r>
            <a:endParaRPr lang="es-AR" sz="2500" dirty="0"/>
          </a:p>
        </p:txBody>
      </p:sp>
      <p:sp>
        <p:nvSpPr>
          <p:cNvPr id="38920"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cxnSp>
        <p:nvCxnSpPr>
          <p:cNvPr id="23" name="22 Conector recto de flecha"/>
          <p:cNvCxnSpPr/>
          <p:nvPr/>
        </p:nvCxnSpPr>
        <p:spPr>
          <a:xfrm>
            <a:off x="1785918" y="5072074"/>
            <a:ext cx="500066"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24" name="23 CuadroTexto"/>
          <p:cNvSpPr txBox="1"/>
          <p:nvPr/>
        </p:nvSpPr>
        <p:spPr>
          <a:xfrm>
            <a:off x="2357422" y="4781804"/>
            <a:ext cx="6500858" cy="861774"/>
          </a:xfrm>
          <a:prstGeom prst="rect">
            <a:avLst/>
          </a:prstGeom>
          <a:noFill/>
        </p:spPr>
        <p:txBody>
          <a:bodyPr wrap="square" rtlCol="0">
            <a:spAutoFit/>
          </a:bodyPr>
          <a:lstStyle/>
          <a:p>
            <a:r>
              <a:rPr lang="es-ES" sz="2500" dirty="0" smtClean="0"/>
              <a:t>Interacción entre la </a:t>
            </a:r>
            <a:r>
              <a:rPr lang="es-ES" sz="2500" i="1" dirty="0" smtClean="0"/>
              <a:t>dummy</a:t>
            </a:r>
            <a:r>
              <a:rPr lang="es-ES" sz="2500" dirty="0" smtClean="0"/>
              <a:t> de tratamiento y la </a:t>
            </a:r>
            <a:r>
              <a:rPr lang="es-ES" sz="2500" i="1" dirty="0" err="1" smtClean="0"/>
              <a:t>dummy</a:t>
            </a:r>
            <a:r>
              <a:rPr lang="es-ES" sz="2500" dirty="0" smtClean="0"/>
              <a:t> del período de seguimiento.</a:t>
            </a:r>
            <a:endParaRPr lang="es-AR" sz="2500" dirty="0"/>
          </a:p>
        </p:txBody>
      </p:sp>
      <p:sp>
        <p:nvSpPr>
          <p:cNvPr id="3892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21" name="20 Rectángulo"/>
          <p:cNvSpPr/>
          <p:nvPr/>
        </p:nvSpPr>
        <p:spPr>
          <a:xfrm>
            <a:off x="0" y="6534859"/>
            <a:ext cx="9215470" cy="292388"/>
          </a:xfrm>
          <a:prstGeom prst="rect">
            <a:avLst/>
          </a:prstGeom>
        </p:spPr>
        <p:txBody>
          <a:bodyPr wrap="square">
            <a:spAutoFit/>
          </a:bodyPr>
          <a:lstStyle/>
          <a:p>
            <a:pPr marL="3175" lvl="1" algn="ctr"/>
            <a:r>
              <a:rPr lang="es-MX" sz="1300" smtClean="0">
                <a:solidFill>
                  <a:schemeClr val="tx1">
                    <a:lumMod val="50000"/>
                    <a:lumOff val="50000"/>
                  </a:schemeClr>
                </a:solidFill>
              </a:rPr>
              <a:t>Guía práctica para la evaluación de impacto /</a:t>
            </a:r>
            <a:r>
              <a:rPr lang="es-CO" sz="1300" smtClean="0">
                <a:solidFill>
                  <a:schemeClr val="tx1">
                    <a:lumMod val="50000"/>
                    <a:lumOff val="50000"/>
                  </a:schemeClr>
                </a:solidFill>
              </a:rPr>
              <a:t>Capítulo </a:t>
            </a:r>
            <a:r>
              <a:rPr lang="es-CO" sz="1300" dirty="0" smtClean="0">
                <a:solidFill>
                  <a:schemeClr val="tx1">
                    <a:lumMod val="50000"/>
                    <a:lumOff val="50000"/>
                  </a:schemeClr>
                </a:solidFill>
              </a:rPr>
              <a:t>5: Experimentos Naturales o cuasi Experimentos/29</a:t>
            </a:r>
            <a:endParaRPr lang="es-ES" sz="1300" dirty="0">
              <a:solidFill>
                <a:schemeClr val="tx1">
                  <a:lumMod val="50000"/>
                  <a:lumOff val="50000"/>
                </a:schemeClr>
              </a:solidFill>
            </a:endParaRPr>
          </a:p>
        </p:txBody>
      </p:sp>
      <p:graphicFrame>
        <p:nvGraphicFramePr>
          <p:cNvPr id="19457" name="Object 1"/>
          <p:cNvGraphicFramePr>
            <a:graphicFrameLocks noChangeAspect="1"/>
          </p:cNvGraphicFramePr>
          <p:nvPr/>
        </p:nvGraphicFramePr>
        <p:xfrm>
          <a:off x="1285852" y="1643050"/>
          <a:ext cx="7020742" cy="1143008"/>
        </p:xfrm>
        <a:graphic>
          <a:graphicData uri="http://schemas.openxmlformats.org/presentationml/2006/ole">
            <p:oleObj spid="_x0000_s19478" name="Documento" r:id="rId5" imgW="5397500" imgH="882183" progId="Word.Document.12">
              <p:embed/>
            </p:oleObj>
          </a:graphicData>
        </a:graphic>
      </p:graphicFrame>
      <p:graphicFrame>
        <p:nvGraphicFramePr>
          <p:cNvPr id="19458" name="Object 2"/>
          <p:cNvGraphicFramePr>
            <a:graphicFrameLocks noChangeAspect="1"/>
          </p:cNvGraphicFramePr>
          <p:nvPr/>
        </p:nvGraphicFramePr>
        <p:xfrm>
          <a:off x="785786" y="3643314"/>
          <a:ext cx="7682409" cy="714380"/>
        </p:xfrm>
        <a:graphic>
          <a:graphicData uri="http://schemas.openxmlformats.org/presentationml/2006/ole">
            <p:oleObj spid="_x0000_s19479" name="Documento" r:id="rId6" imgW="5397500" imgH="504362" progId="Word.Document.12">
              <p:embed/>
            </p:oleObj>
          </a:graphicData>
        </a:graphic>
      </p:graphicFrame>
      <p:graphicFrame>
        <p:nvGraphicFramePr>
          <p:cNvPr id="19459" name="Object 3"/>
          <p:cNvGraphicFramePr>
            <a:graphicFrameLocks noChangeAspect="1"/>
          </p:cNvGraphicFramePr>
          <p:nvPr/>
        </p:nvGraphicFramePr>
        <p:xfrm>
          <a:off x="365115" y="4786322"/>
          <a:ext cx="7993099" cy="743270"/>
        </p:xfrm>
        <a:graphic>
          <a:graphicData uri="http://schemas.openxmlformats.org/presentationml/2006/ole">
            <p:oleObj spid="_x0000_s19480" name="Documento" r:id="rId7" imgW="5397500" imgH="504362" progId="Word.Document.12">
              <p:embed/>
            </p:oleObj>
          </a:graphicData>
        </a:graphic>
      </p:graphicFrame>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p:cNvPicPr>
            <a:picLocks noChangeAspect="1" noChangeArrowheads="1"/>
          </p:cNvPicPr>
          <p:nvPr/>
        </p:nvPicPr>
        <p:blipFill>
          <a:blip r:embed="rId3" cstate="print"/>
          <a:srcRect/>
          <a:stretch>
            <a:fillRect/>
          </a:stretch>
        </p:blipFill>
        <p:spPr bwMode="auto">
          <a:xfrm>
            <a:off x="0" y="-24"/>
            <a:ext cx="2214546" cy="1053379"/>
          </a:xfrm>
          <a:prstGeom prst="rect">
            <a:avLst/>
          </a:prstGeom>
          <a:noFill/>
          <a:ln w="9525">
            <a:noFill/>
            <a:miter lim="800000"/>
            <a:headEnd/>
            <a:tailEnd/>
          </a:ln>
          <a:effectLst/>
        </p:spPr>
      </p:pic>
      <p:sp>
        <p:nvSpPr>
          <p:cNvPr id="5" name="1 Título"/>
          <p:cNvSpPr>
            <a:spLocks noGrp="1"/>
          </p:cNvSpPr>
          <p:nvPr>
            <p:ph type="title"/>
          </p:nvPr>
        </p:nvSpPr>
        <p:spPr>
          <a:xfrm>
            <a:off x="2357422" y="214290"/>
            <a:ext cx="6572296" cy="1214446"/>
          </a:xfrm>
        </p:spPr>
        <p:txBody>
          <a:bodyPr>
            <a:noAutofit/>
          </a:bodyPr>
          <a:lstStyle/>
          <a:p>
            <a:r>
              <a:rPr lang="es-ES" sz="4200" u="sng" dirty="0" smtClean="0"/>
              <a:t>Efecto del programa por </a:t>
            </a:r>
            <a:br>
              <a:rPr lang="es-ES" sz="4200" u="sng" dirty="0" smtClean="0"/>
            </a:br>
            <a:r>
              <a:rPr lang="es-ES" sz="4200" u="sng" dirty="0" err="1" smtClean="0"/>
              <a:t>Dif</a:t>
            </a:r>
            <a:r>
              <a:rPr lang="es-ES" sz="4200" u="sng" dirty="0" smtClean="0"/>
              <a:t> en Dif</a:t>
            </a:r>
            <a:endParaRPr lang="es-ES" sz="4200" u="sng" dirty="0"/>
          </a:p>
        </p:txBody>
      </p:sp>
      <p:sp>
        <p:nvSpPr>
          <p:cNvPr id="4096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4096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40966" name="Rectangle 6"/>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40967" name="Rectangle 7"/>
          <p:cNvSpPr>
            <a:spLocks noChangeArrowheads="1"/>
          </p:cNvSpPr>
          <p:nvPr/>
        </p:nvSpPr>
        <p:spPr bwMode="auto">
          <a:xfrm>
            <a:off x="0" y="8096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dirty="0" smtClean="0">
              <a:ln>
                <a:noFill/>
              </a:ln>
              <a:solidFill>
                <a:schemeClr val="tx1"/>
              </a:solidFill>
              <a:effectLst/>
              <a:latin typeface="Arial" pitchFamily="34" charset="0"/>
            </a:endParaRPr>
          </a:p>
        </p:txBody>
      </p:sp>
      <p:sp>
        <p:nvSpPr>
          <p:cNvPr id="40969" name="Rectangle 9"/>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40970" name="Rectangle 10"/>
          <p:cNvSpPr>
            <a:spLocks noChangeArrowheads="1"/>
          </p:cNvSpPr>
          <p:nvPr/>
        </p:nvSpPr>
        <p:spPr bwMode="auto">
          <a:xfrm>
            <a:off x="0" y="7620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dirty="0" smtClean="0">
              <a:ln>
                <a:noFill/>
              </a:ln>
              <a:solidFill>
                <a:schemeClr val="tx1"/>
              </a:solidFill>
              <a:effectLst/>
              <a:latin typeface="Arial" pitchFamily="34" charset="0"/>
            </a:endParaRPr>
          </a:p>
        </p:txBody>
      </p:sp>
      <p:cxnSp>
        <p:nvCxnSpPr>
          <p:cNvPr id="21" name="20 Conector recto de flecha"/>
          <p:cNvCxnSpPr/>
          <p:nvPr/>
        </p:nvCxnSpPr>
        <p:spPr>
          <a:xfrm rot="16200000" flipH="1">
            <a:off x="4293618" y="4626032"/>
            <a:ext cx="260967" cy="100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21 CuadroTexto"/>
          <p:cNvSpPr txBox="1"/>
          <p:nvPr/>
        </p:nvSpPr>
        <p:spPr>
          <a:xfrm>
            <a:off x="1428728" y="4786322"/>
            <a:ext cx="6007029" cy="861774"/>
          </a:xfrm>
          <a:prstGeom prst="rect">
            <a:avLst/>
          </a:prstGeom>
          <a:noFill/>
          <a:ln>
            <a:solidFill>
              <a:schemeClr val="accent1">
                <a:lumMod val="75000"/>
              </a:schemeClr>
            </a:solidFill>
          </a:ln>
        </p:spPr>
        <p:txBody>
          <a:bodyPr wrap="none" rtlCol="0">
            <a:spAutoFit/>
          </a:bodyPr>
          <a:lstStyle/>
          <a:p>
            <a:pPr algn="ctr"/>
            <a:r>
              <a:rPr lang="es-ES" sz="2500" dirty="0" smtClean="0"/>
              <a:t>Efecto del programa estimado por el método</a:t>
            </a:r>
          </a:p>
          <a:p>
            <a:pPr algn="ctr"/>
            <a:r>
              <a:rPr lang="es-ES" sz="2500" dirty="0" smtClean="0"/>
              <a:t>diferencias en diferencias.</a:t>
            </a:r>
          </a:p>
        </p:txBody>
      </p:sp>
      <p:sp>
        <p:nvSpPr>
          <p:cNvPr id="17" name="16 Rectángulo"/>
          <p:cNvSpPr/>
          <p:nvPr/>
        </p:nvSpPr>
        <p:spPr>
          <a:xfrm>
            <a:off x="0" y="6534859"/>
            <a:ext cx="9144000" cy="292388"/>
          </a:xfrm>
          <a:prstGeom prst="rect">
            <a:avLst/>
          </a:prstGeom>
        </p:spPr>
        <p:txBody>
          <a:bodyPr wrap="square">
            <a:spAutoFit/>
          </a:bodyPr>
          <a:lstStyle/>
          <a:p>
            <a:pPr marL="3175" lvl="1" algn="ctr"/>
            <a:r>
              <a:rPr lang="es-MX" sz="1300" smtClean="0">
                <a:solidFill>
                  <a:schemeClr val="tx1">
                    <a:lumMod val="50000"/>
                    <a:lumOff val="50000"/>
                  </a:schemeClr>
                </a:solidFill>
              </a:rPr>
              <a:t>Guía práctica para la evaluación de impacto /</a:t>
            </a:r>
            <a:r>
              <a:rPr lang="es-CO" sz="1300" smtClean="0">
                <a:solidFill>
                  <a:schemeClr val="tx1">
                    <a:lumMod val="50000"/>
                    <a:lumOff val="50000"/>
                  </a:schemeClr>
                </a:solidFill>
              </a:rPr>
              <a:t>Capítulo </a:t>
            </a:r>
            <a:r>
              <a:rPr lang="es-CO" sz="1300" dirty="0" smtClean="0">
                <a:solidFill>
                  <a:schemeClr val="tx1">
                    <a:lumMod val="50000"/>
                    <a:lumOff val="50000"/>
                  </a:schemeClr>
                </a:solidFill>
              </a:rPr>
              <a:t>5: Experimentos Naturales o cuasi Experimentos/30</a:t>
            </a:r>
            <a:endParaRPr lang="es-ES" sz="1300" dirty="0">
              <a:solidFill>
                <a:schemeClr val="tx1">
                  <a:lumMod val="50000"/>
                  <a:lumOff val="50000"/>
                </a:schemeClr>
              </a:solidFill>
            </a:endParaRPr>
          </a:p>
        </p:txBody>
      </p:sp>
      <p:graphicFrame>
        <p:nvGraphicFramePr>
          <p:cNvPr id="18433" name="Object 1"/>
          <p:cNvGraphicFramePr>
            <a:graphicFrameLocks noChangeAspect="1"/>
          </p:cNvGraphicFramePr>
          <p:nvPr>
            <p:extLst>
              <p:ext uri="{D42A27DB-BD31-4B8C-83A1-F6EECF244321}">
                <p14:modId xmlns="" xmlns:p14="http://schemas.microsoft.com/office/powerpoint/2010/main" val="4169897337"/>
              </p:ext>
            </p:extLst>
          </p:nvPr>
        </p:nvGraphicFramePr>
        <p:xfrm>
          <a:off x="1033004" y="1785926"/>
          <a:ext cx="7682400" cy="714380"/>
        </p:xfrm>
        <a:graphic>
          <a:graphicData uri="http://schemas.openxmlformats.org/presentationml/2006/ole">
            <p:oleObj spid="_x0000_s18464" name="Documento" r:id="rId4" imgW="5402470" imgH="503965" progId="Word.Document.12">
              <p:embed/>
            </p:oleObj>
          </a:graphicData>
        </a:graphic>
      </p:graphicFrame>
      <p:graphicFrame>
        <p:nvGraphicFramePr>
          <p:cNvPr id="18434" name="Object 2"/>
          <p:cNvGraphicFramePr>
            <a:graphicFrameLocks noChangeAspect="1"/>
          </p:cNvGraphicFramePr>
          <p:nvPr>
            <p:extLst>
              <p:ext uri="{D42A27DB-BD31-4B8C-83A1-F6EECF244321}">
                <p14:modId xmlns="" xmlns:p14="http://schemas.microsoft.com/office/powerpoint/2010/main" val="1647573789"/>
              </p:ext>
            </p:extLst>
          </p:nvPr>
        </p:nvGraphicFramePr>
        <p:xfrm>
          <a:off x="714348" y="2571744"/>
          <a:ext cx="7715304" cy="714380"/>
        </p:xfrm>
        <a:graphic>
          <a:graphicData uri="http://schemas.openxmlformats.org/presentationml/2006/ole">
            <p:oleObj spid="_x0000_s18465" name="Documento" r:id="rId5" imgW="5402470" imgH="503965" progId="Word.Document.12">
              <p:embed/>
            </p:oleObj>
          </a:graphicData>
        </a:graphic>
      </p:graphicFrame>
      <p:sp>
        <p:nvSpPr>
          <p:cNvPr id="18437" name="Rectangle 5"/>
          <p:cNvSpPr>
            <a:spLocks noChangeArrowheads="1"/>
          </p:cNvSpPr>
          <p:nvPr/>
        </p:nvSpPr>
        <p:spPr bwMode="auto">
          <a:xfrm>
            <a:off x="0" y="8096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graphicFrame>
        <p:nvGraphicFramePr>
          <p:cNvPr id="18438" name="Object 6"/>
          <p:cNvGraphicFramePr>
            <a:graphicFrameLocks noChangeAspect="1"/>
          </p:cNvGraphicFramePr>
          <p:nvPr>
            <p:extLst>
              <p:ext uri="{D42A27DB-BD31-4B8C-83A1-F6EECF244321}">
                <p14:modId xmlns="" xmlns:p14="http://schemas.microsoft.com/office/powerpoint/2010/main" val="3511383310"/>
              </p:ext>
            </p:extLst>
          </p:nvPr>
        </p:nvGraphicFramePr>
        <p:xfrm>
          <a:off x="785786" y="3332163"/>
          <a:ext cx="8286808" cy="731689"/>
        </p:xfrm>
        <a:graphic>
          <a:graphicData uri="http://schemas.openxmlformats.org/presentationml/2006/ole">
            <p:oleObj spid="_x0000_s18466" name="Documento" r:id="rId6" imgW="5402470" imgH="478803" progId="Word.Document.12">
              <p:embed/>
            </p:oleObj>
          </a:graphicData>
        </a:graphic>
      </p:graphicFrame>
      <p:graphicFrame>
        <p:nvGraphicFramePr>
          <p:cNvPr id="18439" name="Object 7"/>
          <p:cNvGraphicFramePr>
            <a:graphicFrameLocks noChangeAspect="1"/>
          </p:cNvGraphicFramePr>
          <p:nvPr>
            <p:extLst>
              <p:ext uri="{D42A27DB-BD31-4B8C-83A1-F6EECF244321}">
                <p14:modId xmlns="" xmlns:p14="http://schemas.microsoft.com/office/powerpoint/2010/main" val="177125482"/>
              </p:ext>
            </p:extLst>
          </p:nvPr>
        </p:nvGraphicFramePr>
        <p:xfrm>
          <a:off x="3929058" y="4005064"/>
          <a:ext cx="7999232" cy="642942"/>
        </p:xfrm>
        <a:graphic>
          <a:graphicData uri="http://schemas.openxmlformats.org/presentationml/2006/ole">
            <p:oleObj spid="_x0000_s18467" name="Documento" r:id="rId7" imgW="5397500" imgH="435864" progId="Word.Document.12">
              <p:embed/>
            </p:oleObj>
          </a:graphicData>
        </a:graphic>
      </p:graphicFrame>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ln w="28575">
            <a:solidFill>
              <a:schemeClr val="accent1">
                <a:lumMod val="75000"/>
              </a:schemeClr>
            </a:solidFill>
          </a:ln>
        </p:spPr>
        <p:txBody>
          <a:bodyPr>
            <a:normAutofit fontScale="92500" lnSpcReduction="20000"/>
          </a:bodyPr>
          <a:lstStyle/>
          <a:p>
            <a:pPr>
              <a:buNone/>
            </a:pPr>
            <a:r>
              <a:rPr lang="es-ES" sz="2500" b="1" u="sng" dirty="0" smtClean="0"/>
              <a:t>Pregunta</a:t>
            </a:r>
            <a:r>
              <a:rPr lang="es-ES" sz="2500" dirty="0" smtClean="0"/>
              <a:t>: El efecto de la migración en los salarios. Pero… migrar es una decisión endógena.</a:t>
            </a:r>
          </a:p>
          <a:p>
            <a:pPr>
              <a:buNone/>
            </a:pPr>
            <a:r>
              <a:rPr lang="es-ES" sz="2500" b="1" u="sng" dirty="0" smtClean="0"/>
              <a:t>Experimento natural</a:t>
            </a:r>
            <a:r>
              <a:rPr lang="es-ES" sz="2500" dirty="0" smtClean="0"/>
              <a:t>:</a:t>
            </a:r>
          </a:p>
          <a:p>
            <a:pPr algn="just">
              <a:buNone/>
            </a:pPr>
            <a:r>
              <a:rPr lang="es-ES" sz="2500" dirty="0" smtClean="0"/>
              <a:t>	Cambio inesperado en la ley estadounidense para los migrantes cubanos que generó una asignación del tratamiento (migrar) que </a:t>
            </a:r>
            <a:r>
              <a:rPr lang="es-ES" sz="2500" i="1" dirty="0" smtClean="0"/>
              <a:t>podría parecer aleatoria</a:t>
            </a:r>
            <a:r>
              <a:rPr lang="es-ES" sz="2500" dirty="0" smtClean="0"/>
              <a:t>. </a:t>
            </a:r>
          </a:p>
          <a:p>
            <a:pPr algn="just">
              <a:buNone/>
            </a:pPr>
            <a:r>
              <a:rPr lang="es-ES" sz="2500" b="1" u="sng" dirty="0" smtClean="0"/>
              <a:t>Período:</a:t>
            </a:r>
          </a:p>
          <a:p>
            <a:pPr algn="just">
              <a:buNone/>
            </a:pPr>
            <a:r>
              <a:rPr lang="es-ES" sz="2500" dirty="0" smtClean="0"/>
              <a:t>	1980 entre mayo y septiembre.</a:t>
            </a:r>
          </a:p>
          <a:p>
            <a:pPr algn="just">
              <a:buNone/>
            </a:pPr>
            <a:r>
              <a:rPr lang="es-ES" sz="2500" b="1" u="sng" dirty="0" smtClean="0"/>
              <a:t>Resultado:</a:t>
            </a:r>
          </a:p>
          <a:p>
            <a:pPr>
              <a:buNone/>
            </a:pPr>
            <a:r>
              <a:rPr lang="es-ES" sz="2500" dirty="0" smtClean="0"/>
              <a:t>	125.000 migrantes conocidos como “marielitos” llegaron a Estados Unidos.</a:t>
            </a:r>
          </a:p>
          <a:p>
            <a:pPr>
              <a:buNone/>
            </a:pPr>
            <a:r>
              <a:rPr lang="es-ES" sz="2500" dirty="0" smtClean="0"/>
              <a:t>	</a:t>
            </a:r>
            <a:r>
              <a:rPr lang="es-ES" sz="2500" u="sng" dirty="0" smtClean="0"/>
              <a:t>Alrededor de 60.000 se establecieron en Miami, lo que incrementó la oferta laboral en 7%.</a:t>
            </a:r>
            <a:endParaRPr lang="es-AR" sz="2500" u="sng" dirty="0"/>
          </a:p>
        </p:txBody>
      </p:sp>
      <p:pic>
        <p:nvPicPr>
          <p:cNvPr id="4" name="Picture 1"/>
          <p:cNvPicPr>
            <a:picLocks noChangeAspect="1" noChangeArrowheads="1"/>
          </p:cNvPicPr>
          <p:nvPr/>
        </p:nvPicPr>
        <p:blipFill>
          <a:blip r:embed="rId2" cstate="print"/>
          <a:srcRect/>
          <a:stretch>
            <a:fillRect/>
          </a:stretch>
        </p:blipFill>
        <p:spPr bwMode="auto">
          <a:xfrm>
            <a:off x="0" y="0"/>
            <a:ext cx="2214546" cy="1053379"/>
          </a:xfrm>
          <a:prstGeom prst="rect">
            <a:avLst/>
          </a:prstGeom>
          <a:noFill/>
          <a:ln w="9525">
            <a:noFill/>
            <a:miter lim="800000"/>
            <a:headEnd/>
            <a:tailEnd/>
          </a:ln>
          <a:effectLst/>
        </p:spPr>
      </p:pic>
      <p:sp>
        <p:nvSpPr>
          <p:cNvPr id="5" name="1 Título"/>
          <p:cNvSpPr>
            <a:spLocks noGrp="1"/>
          </p:cNvSpPr>
          <p:nvPr>
            <p:ph type="title"/>
          </p:nvPr>
        </p:nvSpPr>
        <p:spPr>
          <a:xfrm>
            <a:off x="2357422" y="214290"/>
            <a:ext cx="6572296" cy="1214446"/>
          </a:xfrm>
        </p:spPr>
        <p:txBody>
          <a:bodyPr>
            <a:noAutofit/>
          </a:bodyPr>
          <a:lstStyle/>
          <a:p>
            <a:r>
              <a:rPr lang="es-ES" sz="4200" u="sng" dirty="0" smtClean="0"/>
              <a:t>Ejemplo 1. Efecto de la migración de los “marielitos”</a:t>
            </a:r>
            <a:endParaRPr lang="es-ES" sz="4200" u="sng" dirty="0"/>
          </a:p>
        </p:txBody>
      </p:sp>
      <p:sp>
        <p:nvSpPr>
          <p:cNvPr id="7" name="6 Rectángulo"/>
          <p:cNvSpPr/>
          <p:nvPr/>
        </p:nvSpPr>
        <p:spPr>
          <a:xfrm>
            <a:off x="0" y="6534859"/>
            <a:ext cx="9215470" cy="292388"/>
          </a:xfrm>
          <a:prstGeom prst="rect">
            <a:avLst/>
          </a:prstGeom>
        </p:spPr>
        <p:txBody>
          <a:bodyPr wrap="square">
            <a:spAutoFit/>
          </a:bodyPr>
          <a:lstStyle/>
          <a:p>
            <a:pPr marL="0" lvl="1" algn="ctr"/>
            <a:r>
              <a:rPr lang="es-MX" sz="1300" smtClean="0">
                <a:solidFill>
                  <a:schemeClr val="tx1">
                    <a:lumMod val="50000"/>
                    <a:lumOff val="50000"/>
                  </a:schemeClr>
                </a:solidFill>
              </a:rPr>
              <a:t>Guía práctica para la evaluación de impacto /</a:t>
            </a:r>
            <a:r>
              <a:rPr lang="es-CO" sz="1300" smtClean="0">
                <a:solidFill>
                  <a:schemeClr val="tx1">
                    <a:lumMod val="50000"/>
                    <a:lumOff val="50000"/>
                  </a:schemeClr>
                </a:solidFill>
              </a:rPr>
              <a:t>Capítulo </a:t>
            </a:r>
            <a:r>
              <a:rPr lang="es-CO" sz="1300" dirty="0" smtClean="0">
                <a:solidFill>
                  <a:schemeClr val="tx1">
                    <a:lumMod val="50000"/>
                    <a:lumOff val="50000"/>
                  </a:schemeClr>
                </a:solidFill>
              </a:rPr>
              <a:t>5: Experimentos Naturales o cuasi Experimentos/31</a:t>
            </a:r>
            <a:endParaRPr lang="es-ES" sz="1300" dirty="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28596" y="1643050"/>
            <a:ext cx="8229600" cy="4525963"/>
          </a:xfrm>
          <a:ln w="28575">
            <a:solidFill>
              <a:schemeClr val="accent1">
                <a:lumMod val="75000"/>
              </a:schemeClr>
            </a:solidFill>
          </a:ln>
        </p:spPr>
        <p:txBody>
          <a:bodyPr/>
          <a:lstStyle/>
          <a:p>
            <a:pPr>
              <a:buNone/>
            </a:pPr>
            <a:r>
              <a:rPr lang="es-ES" sz="2500" b="1" u="sng" dirty="0" smtClean="0"/>
              <a:t>Objetivo:</a:t>
            </a:r>
          </a:p>
          <a:p>
            <a:pPr>
              <a:buNone/>
            </a:pPr>
            <a:r>
              <a:rPr lang="es-ES" sz="2500" dirty="0" smtClean="0"/>
              <a:t>	Evaluar el efecto causal de la migración sobre los salarios del sitio de destino.</a:t>
            </a:r>
          </a:p>
          <a:p>
            <a:pPr>
              <a:buNone/>
            </a:pPr>
            <a:r>
              <a:rPr lang="es-ES" sz="2500" b="1" u="sng" dirty="0" smtClean="0"/>
              <a:t>¿Cómo?:</a:t>
            </a:r>
          </a:p>
          <a:p>
            <a:pPr>
              <a:buNone/>
            </a:pPr>
            <a:r>
              <a:rPr lang="es-ES" sz="2500" dirty="0" smtClean="0"/>
              <a:t>	Comparar los cambios salariales de los trabajadores poco calificados en Miami (tratados-migrantes) con los cambios en otras ciudades comparables (controles-no migrantes).</a:t>
            </a:r>
          </a:p>
          <a:p>
            <a:pPr>
              <a:buNone/>
            </a:pPr>
            <a:r>
              <a:rPr lang="es-ES" sz="2500" b="1" u="sng" dirty="0" smtClean="0"/>
              <a:t>Datos: </a:t>
            </a:r>
          </a:p>
          <a:p>
            <a:pPr>
              <a:buNone/>
            </a:pPr>
            <a:r>
              <a:rPr lang="es-ES" sz="2500" dirty="0" smtClean="0"/>
              <a:t>	Usa una serie de base de datos de corte transversal repetidos provenientes de encuestas preexistentes.</a:t>
            </a:r>
          </a:p>
          <a:p>
            <a:pPr>
              <a:buNone/>
            </a:pPr>
            <a:endParaRPr lang="es-ES" sz="2500" dirty="0" smtClean="0"/>
          </a:p>
          <a:p>
            <a:pPr>
              <a:buNone/>
            </a:pPr>
            <a:endParaRPr lang="es-AR" sz="2500" dirty="0"/>
          </a:p>
        </p:txBody>
      </p:sp>
      <p:pic>
        <p:nvPicPr>
          <p:cNvPr id="4" name="Picture 1"/>
          <p:cNvPicPr>
            <a:picLocks noChangeAspect="1" noChangeArrowheads="1"/>
          </p:cNvPicPr>
          <p:nvPr/>
        </p:nvPicPr>
        <p:blipFill>
          <a:blip r:embed="rId2" cstate="print"/>
          <a:srcRect/>
          <a:stretch>
            <a:fillRect/>
          </a:stretch>
        </p:blipFill>
        <p:spPr bwMode="auto">
          <a:xfrm>
            <a:off x="0" y="0"/>
            <a:ext cx="2214546" cy="1053379"/>
          </a:xfrm>
          <a:prstGeom prst="rect">
            <a:avLst/>
          </a:prstGeom>
          <a:noFill/>
          <a:ln w="9525">
            <a:noFill/>
            <a:miter lim="800000"/>
            <a:headEnd/>
            <a:tailEnd/>
          </a:ln>
          <a:effectLst/>
        </p:spPr>
      </p:pic>
      <p:sp>
        <p:nvSpPr>
          <p:cNvPr id="5" name="1 Título"/>
          <p:cNvSpPr>
            <a:spLocks noGrp="1"/>
          </p:cNvSpPr>
          <p:nvPr>
            <p:ph type="title"/>
          </p:nvPr>
        </p:nvSpPr>
        <p:spPr>
          <a:xfrm>
            <a:off x="2357422" y="214290"/>
            <a:ext cx="6572296" cy="1214446"/>
          </a:xfrm>
        </p:spPr>
        <p:txBody>
          <a:bodyPr>
            <a:noAutofit/>
          </a:bodyPr>
          <a:lstStyle/>
          <a:p>
            <a:r>
              <a:rPr lang="es-ES" sz="4200" u="sng" dirty="0" smtClean="0"/>
              <a:t>Ejemplo 1. Efecto de la migración de los “marielitos”</a:t>
            </a:r>
            <a:endParaRPr lang="es-ES" sz="4200" u="sng" dirty="0"/>
          </a:p>
        </p:txBody>
      </p:sp>
      <p:sp>
        <p:nvSpPr>
          <p:cNvPr id="7" name="6 Rectángulo"/>
          <p:cNvSpPr/>
          <p:nvPr/>
        </p:nvSpPr>
        <p:spPr>
          <a:xfrm>
            <a:off x="0" y="6577607"/>
            <a:ext cx="9404134" cy="292388"/>
          </a:xfrm>
          <a:prstGeom prst="rect">
            <a:avLst/>
          </a:prstGeom>
        </p:spPr>
        <p:txBody>
          <a:bodyPr wrap="square">
            <a:spAutoFit/>
          </a:bodyPr>
          <a:lstStyle/>
          <a:p>
            <a:pPr marL="3175" lvl="1" algn="ctr"/>
            <a:r>
              <a:rPr lang="es-MX" sz="1300" smtClean="0">
                <a:solidFill>
                  <a:schemeClr val="tx1">
                    <a:lumMod val="50000"/>
                    <a:lumOff val="50000"/>
                  </a:schemeClr>
                </a:solidFill>
              </a:rPr>
              <a:t>Guía práctica para la evaluación de impacto /</a:t>
            </a:r>
            <a:r>
              <a:rPr lang="es-CO" sz="1300" smtClean="0">
                <a:solidFill>
                  <a:schemeClr val="tx1">
                    <a:lumMod val="50000"/>
                    <a:lumOff val="50000"/>
                  </a:schemeClr>
                </a:solidFill>
              </a:rPr>
              <a:t>Capítulo </a:t>
            </a:r>
            <a:r>
              <a:rPr lang="es-CO" sz="1300" dirty="0" smtClean="0">
                <a:solidFill>
                  <a:schemeClr val="tx1">
                    <a:lumMod val="50000"/>
                    <a:lumOff val="50000"/>
                  </a:schemeClr>
                </a:solidFill>
              </a:rPr>
              <a:t>5: Experimentos Naturales o cuasi Experimentos/32</a:t>
            </a:r>
            <a:endParaRPr lang="es-ES" sz="1300" dirty="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ln w="28575">
            <a:solidFill>
              <a:schemeClr val="accent1">
                <a:lumMod val="75000"/>
              </a:schemeClr>
            </a:solidFill>
          </a:ln>
        </p:spPr>
        <p:txBody>
          <a:bodyPr/>
          <a:lstStyle/>
          <a:p>
            <a:pPr>
              <a:buNone/>
            </a:pPr>
            <a:r>
              <a:rPr lang="es-ES" sz="2500" dirty="0" smtClean="0"/>
              <a:t>Estimador del efecto del programa:</a:t>
            </a:r>
          </a:p>
          <a:p>
            <a:pPr>
              <a:buNone/>
            </a:pPr>
            <a:endParaRPr lang="es-ES" sz="2500" b="1" u="sng" dirty="0" smtClean="0"/>
          </a:p>
          <a:p>
            <a:pPr>
              <a:buNone/>
            </a:pPr>
            <a:endParaRPr lang="es-ES" sz="2500" b="1" u="sng" dirty="0" smtClean="0"/>
          </a:p>
          <a:p>
            <a:pPr>
              <a:buNone/>
            </a:pPr>
            <a:endParaRPr lang="es-ES" sz="2500" b="1" u="sng" dirty="0" smtClean="0"/>
          </a:p>
          <a:p>
            <a:pPr>
              <a:buNone/>
            </a:pPr>
            <a:endParaRPr lang="es-ES" sz="2500" b="1" u="sng" dirty="0" smtClean="0"/>
          </a:p>
          <a:p>
            <a:pPr>
              <a:buNone/>
            </a:pPr>
            <a:r>
              <a:rPr lang="es-ES" sz="2500" dirty="0" smtClean="0"/>
              <a:t>Regresión:</a:t>
            </a:r>
          </a:p>
          <a:p>
            <a:pPr>
              <a:buNone/>
            </a:pPr>
            <a:endParaRPr lang="es-CO" sz="2800" dirty="0" smtClean="0"/>
          </a:p>
          <a:p>
            <a:pPr>
              <a:buNone/>
            </a:pPr>
            <a:endParaRPr lang="es-ES" sz="2500" dirty="0" smtClean="0"/>
          </a:p>
          <a:p>
            <a:pPr>
              <a:buNone/>
            </a:pPr>
            <a:endParaRPr lang="es-ES" sz="2500" b="1" u="sng" dirty="0" smtClean="0"/>
          </a:p>
          <a:p>
            <a:pPr>
              <a:buNone/>
            </a:pPr>
            <a:endParaRPr lang="es-ES" sz="2500" b="1" u="sng" dirty="0" smtClean="0"/>
          </a:p>
          <a:p>
            <a:pPr>
              <a:buNone/>
            </a:pPr>
            <a:endParaRPr lang="es-ES" sz="2500" b="1" u="sng" dirty="0" smtClean="0"/>
          </a:p>
          <a:p>
            <a:pPr>
              <a:buNone/>
            </a:pPr>
            <a:endParaRPr lang="es-ES" sz="2500" b="1" u="sng" dirty="0" smtClean="0"/>
          </a:p>
          <a:p>
            <a:pPr>
              <a:buNone/>
            </a:pPr>
            <a:endParaRPr lang="es-ES" sz="2500" b="1" u="sng" dirty="0" smtClean="0"/>
          </a:p>
          <a:p>
            <a:pPr>
              <a:buNone/>
            </a:pPr>
            <a:endParaRPr lang="es-AR" sz="2500" b="1" u="sng" dirty="0"/>
          </a:p>
        </p:txBody>
      </p:sp>
      <p:pic>
        <p:nvPicPr>
          <p:cNvPr id="4" name="Picture 1"/>
          <p:cNvPicPr>
            <a:picLocks noChangeAspect="1" noChangeArrowheads="1"/>
          </p:cNvPicPr>
          <p:nvPr/>
        </p:nvPicPr>
        <p:blipFill>
          <a:blip r:embed="rId4" cstate="print"/>
          <a:srcRect/>
          <a:stretch>
            <a:fillRect/>
          </a:stretch>
        </p:blipFill>
        <p:spPr bwMode="auto">
          <a:xfrm>
            <a:off x="0" y="0"/>
            <a:ext cx="2214546" cy="1053379"/>
          </a:xfrm>
          <a:prstGeom prst="rect">
            <a:avLst/>
          </a:prstGeom>
          <a:noFill/>
          <a:ln w="9525">
            <a:noFill/>
            <a:miter lim="800000"/>
            <a:headEnd/>
            <a:tailEnd/>
          </a:ln>
          <a:effectLst/>
        </p:spPr>
      </p:pic>
      <p:sp>
        <p:nvSpPr>
          <p:cNvPr id="5" name="1 Título"/>
          <p:cNvSpPr>
            <a:spLocks noGrp="1"/>
          </p:cNvSpPr>
          <p:nvPr>
            <p:ph type="title"/>
          </p:nvPr>
        </p:nvSpPr>
        <p:spPr>
          <a:xfrm>
            <a:off x="2357422" y="214290"/>
            <a:ext cx="6572296" cy="1214446"/>
          </a:xfrm>
        </p:spPr>
        <p:txBody>
          <a:bodyPr>
            <a:noAutofit/>
          </a:bodyPr>
          <a:lstStyle/>
          <a:p>
            <a:r>
              <a:rPr lang="es-ES" sz="4200" u="sng" dirty="0" smtClean="0"/>
              <a:t>Ejemplo 1. Efecto de la migración de los “marielitos”</a:t>
            </a:r>
            <a:endParaRPr lang="es-ES" sz="4200" u="sng" dirty="0"/>
          </a:p>
        </p:txBody>
      </p:sp>
      <p:sp>
        <p:nvSpPr>
          <p:cNvPr id="4198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4198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41990" name="Rectangle 6"/>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41991" name="Rectangle 7"/>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dirty="0" smtClean="0">
              <a:ln>
                <a:noFill/>
              </a:ln>
              <a:solidFill>
                <a:schemeClr val="tx1"/>
              </a:solidFill>
              <a:effectLst/>
              <a:latin typeface="Arial" pitchFamily="34" charset="0"/>
            </a:endParaRPr>
          </a:p>
        </p:txBody>
      </p:sp>
      <p:sp>
        <p:nvSpPr>
          <p:cNvPr id="41993" name="Rectangle 9"/>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41994" name="Rectangle 10"/>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dirty="0" smtClean="0">
              <a:ln>
                <a:noFill/>
              </a:ln>
              <a:solidFill>
                <a:schemeClr val="tx1"/>
              </a:solidFill>
              <a:effectLst/>
              <a:latin typeface="Arial" pitchFamily="34" charset="0"/>
            </a:endParaRPr>
          </a:p>
        </p:txBody>
      </p:sp>
      <p:sp>
        <p:nvSpPr>
          <p:cNvPr id="19" name="18 Elipse"/>
          <p:cNvSpPr/>
          <p:nvPr/>
        </p:nvSpPr>
        <p:spPr>
          <a:xfrm>
            <a:off x="2643174" y="4786322"/>
            <a:ext cx="428628" cy="642942"/>
          </a:xfrm>
          <a:prstGeom prst="ellipse">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22" name="21 CuadroTexto"/>
          <p:cNvSpPr txBox="1"/>
          <p:nvPr/>
        </p:nvSpPr>
        <p:spPr>
          <a:xfrm>
            <a:off x="3214678" y="5429264"/>
            <a:ext cx="3000396" cy="477054"/>
          </a:xfrm>
          <a:prstGeom prst="rect">
            <a:avLst/>
          </a:prstGeom>
          <a:noFill/>
          <a:ln>
            <a:solidFill>
              <a:schemeClr val="accent1">
                <a:lumMod val="60000"/>
                <a:lumOff val="40000"/>
              </a:schemeClr>
            </a:solidFill>
          </a:ln>
        </p:spPr>
        <p:txBody>
          <a:bodyPr wrap="square" rtlCol="0">
            <a:spAutoFit/>
          </a:bodyPr>
          <a:lstStyle/>
          <a:p>
            <a:r>
              <a:rPr lang="es-ES" sz="2500" dirty="0" smtClean="0"/>
              <a:t>Efecto del programa</a:t>
            </a:r>
            <a:endParaRPr lang="es-AR" sz="2500" dirty="0"/>
          </a:p>
        </p:txBody>
      </p:sp>
      <p:cxnSp>
        <p:nvCxnSpPr>
          <p:cNvPr id="28" name="27 Conector recto de flecha"/>
          <p:cNvCxnSpPr/>
          <p:nvPr/>
        </p:nvCxnSpPr>
        <p:spPr>
          <a:xfrm>
            <a:off x="2857488" y="5715016"/>
            <a:ext cx="285752"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2" name="31 Conector recto"/>
          <p:cNvCxnSpPr/>
          <p:nvPr/>
        </p:nvCxnSpPr>
        <p:spPr>
          <a:xfrm rot="5400000" flipH="1" flipV="1">
            <a:off x="2750331" y="5607859"/>
            <a:ext cx="214314" cy="1588"/>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0" name="19 Rectángulo"/>
          <p:cNvSpPr/>
          <p:nvPr/>
        </p:nvSpPr>
        <p:spPr>
          <a:xfrm>
            <a:off x="0" y="6577607"/>
            <a:ext cx="9404134" cy="292388"/>
          </a:xfrm>
          <a:prstGeom prst="rect">
            <a:avLst/>
          </a:prstGeom>
        </p:spPr>
        <p:txBody>
          <a:bodyPr wrap="square">
            <a:spAutoFit/>
          </a:bodyPr>
          <a:lstStyle/>
          <a:p>
            <a:pPr marL="3175" lvl="1" algn="ctr"/>
            <a:r>
              <a:rPr lang="es-MX" sz="1300" smtClean="0">
                <a:solidFill>
                  <a:schemeClr val="tx1">
                    <a:lumMod val="50000"/>
                    <a:lumOff val="50000"/>
                  </a:schemeClr>
                </a:solidFill>
              </a:rPr>
              <a:t>Guía práctica para la evaluación de impacto /</a:t>
            </a:r>
            <a:r>
              <a:rPr lang="es-CO" sz="1300" smtClean="0">
                <a:solidFill>
                  <a:schemeClr val="tx1">
                    <a:lumMod val="50000"/>
                    <a:lumOff val="50000"/>
                  </a:schemeClr>
                </a:solidFill>
              </a:rPr>
              <a:t>Capítulo </a:t>
            </a:r>
            <a:r>
              <a:rPr lang="es-CO" sz="1300" dirty="0" smtClean="0">
                <a:solidFill>
                  <a:schemeClr val="tx1">
                    <a:lumMod val="50000"/>
                    <a:lumOff val="50000"/>
                  </a:schemeClr>
                </a:solidFill>
              </a:rPr>
              <a:t>5: Experimentos Naturales o cuasi Experimentos/33</a:t>
            </a:r>
            <a:endParaRPr lang="es-ES" sz="1300" dirty="0">
              <a:solidFill>
                <a:schemeClr val="tx1">
                  <a:lumMod val="50000"/>
                  <a:lumOff val="50000"/>
                </a:schemeClr>
              </a:solidFill>
            </a:endParaRPr>
          </a:p>
        </p:txBody>
      </p:sp>
      <p:graphicFrame>
        <p:nvGraphicFramePr>
          <p:cNvPr id="15362" name="Object 2"/>
          <p:cNvGraphicFramePr>
            <a:graphicFrameLocks noChangeAspect="1"/>
          </p:cNvGraphicFramePr>
          <p:nvPr>
            <p:extLst>
              <p:ext uri="{D42A27DB-BD31-4B8C-83A1-F6EECF244321}">
                <p14:modId xmlns="" xmlns:p14="http://schemas.microsoft.com/office/powerpoint/2010/main" val="1886691572"/>
              </p:ext>
            </p:extLst>
          </p:nvPr>
        </p:nvGraphicFramePr>
        <p:xfrm>
          <a:off x="1071538" y="2310468"/>
          <a:ext cx="6643734" cy="689904"/>
        </p:xfrm>
        <a:graphic>
          <a:graphicData uri="http://schemas.openxmlformats.org/presentationml/2006/ole">
            <p:oleObj spid="_x0000_s15383" name="Documento" r:id="rId5" imgW="5402470" imgH="561479" progId="Word.Document.12">
              <p:embed/>
            </p:oleObj>
          </a:graphicData>
        </a:graphic>
      </p:graphicFrame>
      <p:graphicFrame>
        <p:nvGraphicFramePr>
          <p:cNvPr id="15363" name="Object 3"/>
          <p:cNvGraphicFramePr>
            <a:graphicFrameLocks noChangeAspect="1"/>
          </p:cNvGraphicFramePr>
          <p:nvPr>
            <p:extLst>
              <p:ext uri="{D42A27DB-BD31-4B8C-83A1-F6EECF244321}">
                <p14:modId xmlns="" xmlns:p14="http://schemas.microsoft.com/office/powerpoint/2010/main" val="1015578504"/>
              </p:ext>
            </p:extLst>
          </p:nvPr>
        </p:nvGraphicFramePr>
        <p:xfrm>
          <a:off x="856146" y="3081338"/>
          <a:ext cx="6787688" cy="704852"/>
        </p:xfrm>
        <a:graphic>
          <a:graphicData uri="http://schemas.openxmlformats.org/presentationml/2006/ole">
            <p:oleObj spid="_x0000_s15384" name="Documento" r:id="rId6" imgW="5402470" imgH="562557" progId="Word.Document.12">
              <p:embed/>
            </p:oleObj>
          </a:graphicData>
        </a:graphic>
      </p:graphicFrame>
      <p:graphicFrame>
        <p:nvGraphicFramePr>
          <p:cNvPr id="15364" name="Object 4"/>
          <p:cNvGraphicFramePr>
            <a:graphicFrameLocks noChangeAspect="1"/>
          </p:cNvGraphicFramePr>
          <p:nvPr>
            <p:extLst>
              <p:ext uri="{D42A27DB-BD31-4B8C-83A1-F6EECF244321}">
                <p14:modId xmlns="" xmlns:p14="http://schemas.microsoft.com/office/powerpoint/2010/main" val="3962431949"/>
              </p:ext>
            </p:extLst>
          </p:nvPr>
        </p:nvGraphicFramePr>
        <p:xfrm>
          <a:off x="1071538" y="4335479"/>
          <a:ext cx="6744021" cy="1808165"/>
        </p:xfrm>
        <a:graphic>
          <a:graphicData uri="http://schemas.openxmlformats.org/presentationml/2006/ole">
            <p:oleObj spid="_x0000_s15385" name="Documento" r:id="rId7" imgW="5402470" imgH="1451865" progId="Word.Document.12">
              <p:embed/>
            </p:oleObj>
          </a:graphicData>
        </a:graphic>
      </p:graphicFrame>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ln w="28575">
            <a:solidFill>
              <a:schemeClr val="accent1">
                <a:lumMod val="75000"/>
              </a:schemeClr>
            </a:solidFill>
          </a:ln>
        </p:spPr>
        <p:txBody>
          <a:bodyPr>
            <a:normAutofit/>
          </a:bodyPr>
          <a:lstStyle/>
          <a:p>
            <a:r>
              <a:rPr lang="es-ES" sz="2500" dirty="0" smtClean="0"/>
              <a:t>Donde:</a:t>
            </a:r>
          </a:p>
          <a:p>
            <a:pPr>
              <a:buNone/>
            </a:pPr>
            <a:r>
              <a:rPr lang="es-ES" sz="2500" dirty="0" smtClean="0"/>
              <a:t>	</a:t>
            </a:r>
          </a:p>
          <a:p>
            <a:pPr>
              <a:buNone/>
            </a:pPr>
            <a:r>
              <a:rPr lang="es-ES" sz="2500" dirty="0" smtClean="0"/>
              <a:t>	</a:t>
            </a:r>
            <a:endParaRPr lang="es-AR" sz="2500" dirty="0"/>
          </a:p>
        </p:txBody>
      </p:sp>
      <p:pic>
        <p:nvPicPr>
          <p:cNvPr id="4" name="Picture 1"/>
          <p:cNvPicPr>
            <a:picLocks noChangeAspect="1" noChangeArrowheads="1"/>
          </p:cNvPicPr>
          <p:nvPr/>
        </p:nvPicPr>
        <p:blipFill>
          <a:blip r:embed="rId3" cstate="print"/>
          <a:srcRect/>
          <a:stretch>
            <a:fillRect/>
          </a:stretch>
        </p:blipFill>
        <p:spPr bwMode="auto">
          <a:xfrm>
            <a:off x="0" y="0"/>
            <a:ext cx="2214546" cy="1053379"/>
          </a:xfrm>
          <a:prstGeom prst="rect">
            <a:avLst/>
          </a:prstGeom>
          <a:noFill/>
          <a:ln w="9525">
            <a:noFill/>
            <a:miter lim="800000"/>
            <a:headEnd/>
            <a:tailEnd/>
          </a:ln>
          <a:effectLst/>
        </p:spPr>
      </p:pic>
      <p:sp>
        <p:nvSpPr>
          <p:cNvPr id="5" name="1 Título"/>
          <p:cNvSpPr>
            <a:spLocks noGrp="1"/>
          </p:cNvSpPr>
          <p:nvPr>
            <p:ph type="title"/>
          </p:nvPr>
        </p:nvSpPr>
        <p:spPr>
          <a:xfrm>
            <a:off x="2357422" y="214290"/>
            <a:ext cx="6572296" cy="1214446"/>
          </a:xfrm>
        </p:spPr>
        <p:txBody>
          <a:bodyPr>
            <a:noAutofit/>
          </a:bodyPr>
          <a:lstStyle/>
          <a:p>
            <a:r>
              <a:rPr lang="es-ES" sz="4200" u="sng" dirty="0" smtClean="0"/>
              <a:t>Ejemplo 1. Efecto de la migración de los “marielitos”</a:t>
            </a:r>
            <a:endParaRPr lang="es-ES" sz="4200" u="sng" dirty="0"/>
          </a:p>
        </p:txBody>
      </p:sp>
      <p:sp>
        <p:nvSpPr>
          <p:cNvPr id="460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9" name="8 Abrir llave"/>
          <p:cNvSpPr/>
          <p:nvPr/>
        </p:nvSpPr>
        <p:spPr>
          <a:xfrm>
            <a:off x="2000232" y="2071678"/>
            <a:ext cx="142876" cy="1071570"/>
          </a:xfrm>
          <a:prstGeom prst="leftBrace">
            <a:avLst/>
          </a:prstGeom>
          <a:ln w="28575">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dirty="0"/>
          </a:p>
        </p:txBody>
      </p:sp>
      <p:sp>
        <p:nvSpPr>
          <p:cNvPr id="10" name="9 CuadroTexto"/>
          <p:cNvSpPr txBox="1"/>
          <p:nvPr/>
        </p:nvSpPr>
        <p:spPr>
          <a:xfrm>
            <a:off x="2071670" y="2143116"/>
            <a:ext cx="6582508" cy="477054"/>
          </a:xfrm>
          <a:prstGeom prst="rect">
            <a:avLst/>
          </a:prstGeom>
          <a:noFill/>
        </p:spPr>
        <p:txBody>
          <a:bodyPr wrap="none" rtlCol="0">
            <a:spAutoFit/>
          </a:bodyPr>
          <a:lstStyle/>
          <a:p>
            <a:r>
              <a:rPr lang="es-ES" sz="2500" dirty="0" smtClean="0"/>
              <a:t>1    si el trabajador poco calificado está en Miami</a:t>
            </a:r>
            <a:endParaRPr lang="es-AR" sz="2500" dirty="0"/>
          </a:p>
        </p:txBody>
      </p:sp>
      <p:sp>
        <p:nvSpPr>
          <p:cNvPr id="11" name="10 CuadroTexto"/>
          <p:cNvSpPr txBox="1"/>
          <p:nvPr/>
        </p:nvSpPr>
        <p:spPr>
          <a:xfrm>
            <a:off x="2071670" y="2643182"/>
            <a:ext cx="2618602" cy="477054"/>
          </a:xfrm>
          <a:prstGeom prst="rect">
            <a:avLst/>
          </a:prstGeom>
          <a:noFill/>
        </p:spPr>
        <p:txBody>
          <a:bodyPr wrap="none" rtlCol="0">
            <a:spAutoFit/>
          </a:bodyPr>
          <a:lstStyle/>
          <a:p>
            <a:r>
              <a:rPr lang="es-ES" sz="2500" dirty="0" smtClean="0"/>
              <a:t>0    de lo contrario</a:t>
            </a:r>
            <a:endParaRPr lang="es-AR" sz="2500" dirty="0"/>
          </a:p>
        </p:txBody>
      </p:sp>
      <p:sp>
        <p:nvSpPr>
          <p:cNvPr id="4608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4608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16" name="15 Abrir llave"/>
          <p:cNvSpPr/>
          <p:nvPr/>
        </p:nvSpPr>
        <p:spPr>
          <a:xfrm>
            <a:off x="2000232" y="3429000"/>
            <a:ext cx="142876" cy="1357322"/>
          </a:xfrm>
          <a:prstGeom prst="leftBrace">
            <a:avLst/>
          </a:prstGeom>
          <a:ln w="28575">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dirty="0"/>
          </a:p>
        </p:txBody>
      </p:sp>
      <p:sp>
        <p:nvSpPr>
          <p:cNvPr id="17" name="16 CuadroTexto"/>
          <p:cNvSpPr txBox="1"/>
          <p:nvPr/>
        </p:nvSpPr>
        <p:spPr>
          <a:xfrm>
            <a:off x="2071670" y="3429000"/>
            <a:ext cx="6312241" cy="861774"/>
          </a:xfrm>
          <a:prstGeom prst="rect">
            <a:avLst/>
          </a:prstGeom>
          <a:noFill/>
        </p:spPr>
        <p:txBody>
          <a:bodyPr wrap="none" rtlCol="0">
            <a:spAutoFit/>
          </a:bodyPr>
          <a:lstStyle/>
          <a:p>
            <a:pPr marL="457200" indent="-457200">
              <a:buAutoNum type="arabicPlain"/>
            </a:pPr>
            <a:r>
              <a:rPr lang="es-ES" sz="2500" dirty="0" smtClean="0"/>
              <a:t>si la observación es de un período posterior</a:t>
            </a:r>
          </a:p>
          <a:p>
            <a:pPr marL="457200" indent="-457200"/>
            <a:r>
              <a:rPr lang="es-ES" sz="2500" dirty="0" smtClean="0"/>
              <a:t> 	a la migración de los “marielitos”</a:t>
            </a:r>
            <a:endParaRPr lang="es-AR" sz="2500" dirty="0"/>
          </a:p>
        </p:txBody>
      </p:sp>
      <p:sp>
        <p:nvSpPr>
          <p:cNvPr id="18" name="17 CuadroTexto"/>
          <p:cNvSpPr txBox="1"/>
          <p:nvPr/>
        </p:nvSpPr>
        <p:spPr>
          <a:xfrm>
            <a:off x="2071670" y="4286256"/>
            <a:ext cx="2610586" cy="477054"/>
          </a:xfrm>
          <a:prstGeom prst="rect">
            <a:avLst/>
          </a:prstGeom>
          <a:noFill/>
        </p:spPr>
        <p:txBody>
          <a:bodyPr wrap="none" rtlCol="0">
            <a:spAutoFit/>
          </a:bodyPr>
          <a:lstStyle/>
          <a:p>
            <a:r>
              <a:rPr lang="es-ES" sz="2500" dirty="0" smtClean="0"/>
              <a:t>0    de lo contrario</a:t>
            </a:r>
            <a:endParaRPr lang="es-AR" sz="2500" dirty="0"/>
          </a:p>
        </p:txBody>
      </p:sp>
      <p:sp>
        <p:nvSpPr>
          <p:cNvPr id="4608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22" name="21 Abrir llave"/>
          <p:cNvSpPr/>
          <p:nvPr/>
        </p:nvSpPr>
        <p:spPr>
          <a:xfrm>
            <a:off x="2071670" y="5072074"/>
            <a:ext cx="71438" cy="785818"/>
          </a:xfrm>
          <a:prstGeom prst="leftBrace">
            <a:avLst/>
          </a:prstGeom>
          <a:ln w="28575">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dirty="0"/>
          </a:p>
        </p:txBody>
      </p:sp>
      <p:sp>
        <p:nvSpPr>
          <p:cNvPr id="23" name="22 CuadroTexto"/>
          <p:cNvSpPr txBox="1"/>
          <p:nvPr/>
        </p:nvSpPr>
        <p:spPr>
          <a:xfrm>
            <a:off x="2143108" y="5000636"/>
            <a:ext cx="6143668" cy="861774"/>
          </a:xfrm>
          <a:prstGeom prst="rect">
            <a:avLst/>
          </a:prstGeom>
          <a:noFill/>
        </p:spPr>
        <p:txBody>
          <a:bodyPr wrap="square" rtlCol="0">
            <a:spAutoFit/>
          </a:bodyPr>
          <a:lstStyle/>
          <a:p>
            <a:r>
              <a:rPr lang="es-ES" sz="2500" dirty="0" smtClean="0"/>
              <a:t>Matriz de características observables de los </a:t>
            </a:r>
          </a:p>
          <a:p>
            <a:r>
              <a:rPr lang="es-ES" sz="2500" dirty="0" smtClean="0"/>
              <a:t>trabajadores</a:t>
            </a:r>
            <a:endParaRPr lang="es-AR" sz="2500" dirty="0"/>
          </a:p>
        </p:txBody>
      </p:sp>
      <p:sp>
        <p:nvSpPr>
          <p:cNvPr id="21" name="20 Rectángulo"/>
          <p:cNvSpPr/>
          <p:nvPr/>
        </p:nvSpPr>
        <p:spPr>
          <a:xfrm>
            <a:off x="0" y="6577607"/>
            <a:ext cx="9396536" cy="292388"/>
          </a:xfrm>
          <a:prstGeom prst="rect">
            <a:avLst/>
          </a:prstGeom>
        </p:spPr>
        <p:txBody>
          <a:bodyPr wrap="square">
            <a:spAutoFit/>
          </a:bodyPr>
          <a:lstStyle/>
          <a:p>
            <a:pPr marL="0" lvl="1" algn="ctr"/>
            <a:r>
              <a:rPr lang="es-MX" sz="1300" smtClean="0">
                <a:solidFill>
                  <a:schemeClr val="tx1">
                    <a:lumMod val="50000"/>
                    <a:lumOff val="50000"/>
                  </a:schemeClr>
                </a:solidFill>
              </a:rPr>
              <a:t>Guía práctica para la evaluación de impacto /</a:t>
            </a:r>
            <a:r>
              <a:rPr lang="es-CO" sz="1300" smtClean="0">
                <a:solidFill>
                  <a:schemeClr val="tx1">
                    <a:lumMod val="50000"/>
                    <a:lumOff val="50000"/>
                  </a:schemeClr>
                </a:solidFill>
              </a:rPr>
              <a:t>Capítulo </a:t>
            </a:r>
            <a:r>
              <a:rPr lang="es-CO" sz="1300" dirty="0" smtClean="0">
                <a:solidFill>
                  <a:schemeClr val="tx1">
                    <a:lumMod val="50000"/>
                    <a:lumOff val="50000"/>
                  </a:schemeClr>
                </a:solidFill>
              </a:rPr>
              <a:t>5: Experimentos Naturales o cuasi Experimentos/34</a:t>
            </a:r>
            <a:endParaRPr lang="es-ES" sz="1300" dirty="0">
              <a:solidFill>
                <a:schemeClr val="tx1">
                  <a:lumMod val="50000"/>
                  <a:lumOff val="50000"/>
                </a:schemeClr>
              </a:solidFill>
            </a:endParaRPr>
          </a:p>
        </p:txBody>
      </p:sp>
      <p:graphicFrame>
        <p:nvGraphicFramePr>
          <p:cNvPr id="13313" name="Object 1"/>
          <p:cNvGraphicFramePr>
            <a:graphicFrameLocks noChangeAspect="1"/>
          </p:cNvGraphicFramePr>
          <p:nvPr>
            <p:extLst>
              <p:ext uri="{D42A27DB-BD31-4B8C-83A1-F6EECF244321}">
                <p14:modId xmlns="" xmlns:p14="http://schemas.microsoft.com/office/powerpoint/2010/main" val="888252014"/>
              </p:ext>
            </p:extLst>
          </p:nvPr>
        </p:nvGraphicFramePr>
        <p:xfrm>
          <a:off x="-1643106" y="2357430"/>
          <a:ext cx="5977719" cy="571504"/>
        </p:xfrm>
        <a:graphic>
          <a:graphicData uri="http://schemas.openxmlformats.org/presentationml/2006/ole">
            <p:oleObj spid="_x0000_s13334" name="Documento" r:id="rId4" imgW="5402470" imgH="521579" progId="Word.Document.12">
              <p:embed/>
            </p:oleObj>
          </a:graphicData>
        </a:graphic>
      </p:graphicFrame>
      <p:graphicFrame>
        <p:nvGraphicFramePr>
          <p:cNvPr id="13314" name="Object 2"/>
          <p:cNvGraphicFramePr>
            <a:graphicFrameLocks noChangeAspect="1"/>
          </p:cNvGraphicFramePr>
          <p:nvPr>
            <p:extLst>
              <p:ext uri="{D42A27DB-BD31-4B8C-83A1-F6EECF244321}">
                <p14:modId xmlns="" xmlns:p14="http://schemas.microsoft.com/office/powerpoint/2010/main" val="1634548097"/>
              </p:ext>
            </p:extLst>
          </p:nvPr>
        </p:nvGraphicFramePr>
        <p:xfrm>
          <a:off x="-1571668" y="3908432"/>
          <a:ext cx="6154263" cy="592138"/>
        </p:xfrm>
        <a:graphic>
          <a:graphicData uri="http://schemas.openxmlformats.org/presentationml/2006/ole">
            <p:oleObj spid="_x0000_s13335" name="Documento" r:id="rId5" imgW="5402470" imgH="521579" progId="Word.Document.12">
              <p:embed/>
            </p:oleObj>
          </a:graphicData>
        </a:graphic>
      </p:graphicFrame>
      <p:graphicFrame>
        <p:nvGraphicFramePr>
          <p:cNvPr id="13315" name="Object 3"/>
          <p:cNvGraphicFramePr>
            <a:graphicFrameLocks noChangeAspect="1"/>
          </p:cNvGraphicFramePr>
          <p:nvPr>
            <p:extLst>
              <p:ext uri="{D42A27DB-BD31-4B8C-83A1-F6EECF244321}">
                <p14:modId xmlns="" xmlns:p14="http://schemas.microsoft.com/office/powerpoint/2010/main" val="4247151252"/>
              </p:ext>
            </p:extLst>
          </p:nvPr>
        </p:nvGraphicFramePr>
        <p:xfrm>
          <a:off x="-1500230" y="5168914"/>
          <a:ext cx="6418273" cy="617540"/>
        </p:xfrm>
        <a:graphic>
          <a:graphicData uri="http://schemas.openxmlformats.org/presentationml/2006/ole">
            <p:oleObj spid="_x0000_s13336" name="Documento" r:id="rId6" imgW="5402470" imgH="521579" progId="Word.Document.12">
              <p:embed/>
            </p:oleObj>
          </a:graphicData>
        </a:graphic>
      </p:graphicFrame>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p:cNvPicPr>
            <a:picLocks noChangeAspect="1" noChangeArrowheads="1"/>
          </p:cNvPicPr>
          <p:nvPr/>
        </p:nvPicPr>
        <p:blipFill>
          <a:blip r:embed="rId3" cstate="print"/>
          <a:srcRect/>
          <a:stretch>
            <a:fillRect/>
          </a:stretch>
        </p:blipFill>
        <p:spPr bwMode="auto">
          <a:xfrm>
            <a:off x="0" y="0"/>
            <a:ext cx="2214546" cy="1053379"/>
          </a:xfrm>
          <a:prstGeom prst="rect">
            <a:avLst/>
          </a:prstGeom>
          <a:noFill/>
          <a:ln w="9525">
            <a:noFill/>
            <a:miter lim="800000"/>
            <a:headEnd/>
            <a:tailEnd/>
          </a:ln>
          <a:effectLst/>
        </p:spPr>
      </p:pic>
      <p:sp>
        <p:nvSpPr>
          <p:cNvPr id="5" name="1 Título"/>
          <p:cNvSpPr>
            <a:spLocks noGrp="1"/>
          </p:cNvSpPr>
          <p:nvPr>
            <p:ph type="title"/>
          </p:nvPr>
        </p:nvSpPr>
        <p:spPr>
          <a:xfrm>
            <a:off x="2357422" y="214290"/>
            <a:ext cx="6572296" cy="1071570"/>
          </a:xfrm>
        </p:spPr>
        <p:txBody>
          <a:bodyPr>
            <a:noAutofit/>
          </a:bodyPr>
          <a:lstStyle/>
          <a:p>
            <a:r>
              <a:rPr lang="es-ES" sz="4200" u="sng" dirty="0" smtClean="0"/>
              <a:t>Ejemplo 1. Efecto de la migración de los “marielitos”</a:t>
            </a:r>
            <a:endParaRPr lang="es-ES" sz="4200" u="sng" dirty="0"/>
          </a:p>
        </p:txBody>
      </p:sp>
      <p:graphicFrame>
        <p:nvGraphicFramePr>
          <p:cNvPr id="7" name="6 Tabla"/>
          <p:cNvGraphicFramePr>
            <a:graphicFrameLocks noGrp="1"/>
          </p:cNvGraphicFramePr>
          <p:nvPr/>
        </p:nvGraphicFramePr>
        <p:xfrm>
          <a:off x="714348" y="2071681"/>
          <a:ext cx="7858180" cy="4357715"/>
        </p:xfrm>
        <a:graphic>
          <a:graphicData uri="http://schemas.openxmlformats.org/drawingml/2006/table">
            <a:tbl>
              <a:tblPr>
                <a:tableStyleId>{5940675A-B579-460E-94D1-54222C63F5DA}</a:tableStyleId>
              </a:tblPr>
              <a:tblGrid>
                <a:gridCol w="1292829"/>
                <a:gridCol w="1386095"/>
                <a:gridCol w="1607356"/>
                <a:gridCol w="1785950"/>
                <a:gridCol w="1785950"/>
              </a:tblGrid>
              <a:tr h="1002496">
                <a:tc gridSpan="3">
                  <a:txBody>
                    <a:bodyPr/>
                    <a:lstStyle/>
                    <a:p>
                      <a:pPr algn="ctr">
                        <a:spcAft>
                          <a:spcPts val="0"/>
                        </a:spcAft>
                      </a:pPr>
                      <a:r>
                        <a:rPr lang="es-CO" sz="2000" dirty="0" smtClean="0"/>
                        <a:t>Log(salarios</a:t>
                      </a:r>
                      <a:r>
                        <a:rPr lang="es-CO" sz="2000" dirty="0"/>
                        <a:t>) de negros</a:t>
                      </a:r>
                      <a:endParaRPr lang="es-AR" sz="2000" dirty="0">
                        <a:latin typeface="Times New Roman"/>
                        <a:ea typeface="Times New Roman"/>
                        <a:cs typeface="Times New Roman"/>
                      </a:endParaRPr>
                    </a:p>
                  </a:txBody>
                  <a:tcPr marL="68580" marR="68580" marT="0" marB="0" anchor="ctr"/>
                </a:tc>
                <a:tc hMerge="1">
                  <a:txBody>
                    <a:bodyPr/>
                    <a:lstStyle/>
                    <a:p>
                      <a:endParaRPr lang="es-AR"/>
                    </a:p>
                  </a:txBody>
                  <a:tcPr/>
                </a:tc>
                <a:tc hMerge="1">
                  <a:txBody>
                    <a:bodyPr/>
                    <a:lstStyle/>
                    <a:p>
                      <a:endParaRPr lang="es-AR"/>
                    </a:p>
                  </a:txBody>
                  <a:tcPr/>
                </a:tc>
                <a:tc gridSpan="2">
                  <a:txBody>
                    <a:bodyPr/>
                    <a:lstStyle/>
                    <a:p>
                      <a:pPr algn="ctr">
                        <a:spcAft>
                          <a:spcPts val="0"/>
                        </a:spcAft>
                      </a:pPr>
                      <a:r>
                        <a:rPr lang="es-CO" sz="2000" dirty="0"/>
                        <a:t>Diferencia en log(salarios) de negros</a:t>
                      </a:r>
                      <a:endParaRPr lang="es-AR" sz="2000" dirty="0"/>
                    </a:p>
                    <a:p>
                      <a:pPr algn="ctr">
                        <a:spcAft>
                          <a:spcPts val="0"/>
                        </a:spcAft>
                      </a:pPr>
                      <a:r>
                        <a:rPr lang="es-CO" sz="2000" dirty="0" smtClean="0"/>
                        <a:t>Miami-ciudades </a:t>
                      </a:r>
                      <a:r>
                        <a:rPr lang="es-CO" sz="2000" dirty="0"/>
                        <a:t>comparables</a:t>
                      </a:r>
                      <a:endParaRPr lang="es-AR" sz="2000" dirty="0">
                        <a:latin typeface="Times New Roman"/>
                        <a:ea typeface="Times New Roman"/>
                        <a:cs typeface="Times New Roman"/>
                      </a:endParaRPr>
                    </a:p>
                  </a:txBody>
                  <a:tcPr marL="68580" marR="68580" marT="0" marB="0"/>
                </a:tc>
                <a:tc hMerge="1">
                  <a:txBody>
                    <a:bodyPr/>
                    <a:lstStyle/>
                    <a:p>
                      <a:endParaRPr lang="es-AR"/>
                    </a:p>
                  </a:txBody>
                  <a:tcPr/>
                </a:tc>
              </a:tr>
              <a:tr h="694036">
                <a:tc>
                  <a:txBody>
                    <a:bodyPr/>
                    <a:lstStyle/>
                    <a:p>
                      <a:pPr algn="ctr">
                        <a:spcAft>
                          <a:spcPts val="0"/>
                        </a:spcAft>
                      </a:pPr>
                      <a:r>
                        <a:rPr lang="es-CO" sz="2000" dirty="0"/>
                        <a:t>Año</a:t>
                      </a:r>
                      <a:endParaRPr lang="es-AR" sz="2000" dirty="0">
                        <a:latin typeface="Times New Roman"/>
                        <a:ea typeface="Times New Roman"/>
                        <a:cs typeface="Times New Roman"/>
                      </a:endParaRPr>
                    </a:p>
                  </a:txBody>
                  <a:tcPr marL="68580" marR="68580" marT="0" marB="0" anchor="ctr"/>
                </a:tc>
                <a:tc>
                  <a:txBody>
                    <a:bodyPr/>
                    <a:lstStyle/>
                    <a:p>
                      <a:pPr algn="ctr">
                        <a:spcAft>
                          <a:spcPts val="0"/>
                        </a:spcAft>
                      </a:pPr>
                      <a:r>
                        <a:rPr lang="es-CO" sz="2000" dirty="0"/>
                        <a:t>Miami</a:t>
                      </a:r>
                      <a:endParaRPr lang="es-AR" sz="2000" dirty="0">
                        <a:latin typeface="Times New Roman"/>
                        <a:ea typeface="Times New Roman"/>
                        <a:cs typeface="Times New Roman"/>
                      </a:endParaRPr>
                    </a:p>
                  </a:txBody>
                  <a:tcPr marL="68580" marR="68580" marT="0" marB="0" anchor="ctr"/>
                </a:tc>
                <a:tc>
                  <a:txBody>
                    <a:bodyPr/>
                    <a:lstStyle/>
                    <a:p>
                      <a:pPr algn="ctr">
                        <a:spcAft>
                          <a:spcPts val="0"/>
                        </a:spcAft>
                      </a:pPr>
                      <a:r>
                        <a:rPr lang="es-CO" sz="2000" dirty="0"/>
                        <a:t>Ciudades comparables</a:t>
                      </a:r>
                      <a:endParaRPr lang="es-AR" sz="2000" dirty="0">
                        <a:latin typeface="Times New Roman"/>
                        <a:ea typeface="Times New Roman"/>
                        <a:cs typeface="Times New Roman"/>
                      </a:endParaRPr>
                    </a:p>
                  </a:txBody>
                  <a:tcPr marL="68580" marR="68580" marT="0" marB="0"/>
                </a:tc>
                <a:tc>
                  <a:txBody>
                    <a:bodyPr/>
                    <a:lstStyle/>
                    <a:p>
                      <a:pPr algn="ctr">
                        <a:spcAft>
                          <a:spcPts val="0"/>
                        </a:spcAft>
                      </a:pPr>
                      <a:r>
                        <a:rPr lang="es-CO" sz="2000" dirty="0"/>
                        <a:t>  Actual</a:t>
                      </a:r>
                      <a:endParaRPr lang="es-AR" sz="2000" dirty="0">
                        <a:latin typeface="Times New Roman"/>
                        <a:ea typeface="Times New Roman"/>
                        <a:cs typeface="Times New Roman"/>
                      </a:endParaRPr>
                    </a:p>
                  </a:txBody>
                  <a:tcPr marL="68580" marR="68580" marT="0" marB="0" anchor="ctr"/>
                </a:tc>
                <a:tc>
                  <a:txBody>
                    <a:bodyPr/>
                    <a:lstStyle/>
                    <a:p>
                      <a:pPr algn="ctr">
                        <a:spcAft>
                          <a:spcPts val="0"/>
                        </a:spcAft>
                      </a:pPr>
                      <a:r>
                        <a:rPr lang="es-CO" sz="2000" dirty="0"/>
                        <a:t>Ajustada</a:t>
                      </a:r>
                      <a:endParaRPr lang="es-AR" sz="2000" dirty="0">
                        <a:latin typeface="Times New Roman"/>
                        <a:ea typeface="Times New Roman"/>
                        <a:cs typeface="Times New Roman"/>
                      </a:endParaRPr>
                    </a:p>
                  </a:txBody>
                  <a:tcPr marL="68580" marR="68580" marT="0" marB="0" anchor="ctr"/>
                </a:tc>
              </a:tr>
              <a:tr h="380169">
                <a:tc>
                  <a:txBody>
                    <a:bodyPr/>
                    <a:lstStyle/>
                    <a:p>
                      <a:pPr algn="ctr">
                        <a:spcAft>
                          <a:spcPts val="0"/>
                        </a:spcAft>
                      </a:pPr>
                      <a:r>
                        <a:rPr lang="es-CO" sz="2000" dirty="0"/>
                        <a:t>1979</a:t>
                      </a:r>
                      <a:endParaRPr lang="es-AR" sz="2000" dirty="0">
                        <a:latin typeface="Times New Roman"/>
                        <a:ea typeface="Times New Roman"/>
                        <a:cs typeface="Times New Roman"/>
                      </a:endParaRPr>
                    </a:p>
                  </a:txBody>
                  <a:tcPr marL="68580" marR="68580" marT="0" marB="0"/>
                </a:tc>
                <a:tc>
                  <a:txBody>
                    <a:bodyPr/>
                    <a:lstStyle/>
                    <a:p>
                      <a:pPr algn="ctr">
                        <a:spcAft>
                          <a:spcPts val="0"/>
                        </a:spcAft>
                      </a:pPr>
                      <a:r>
                        <a:rPr lang="es-CO" sz="2000" dirty="0"/>
                        <a:t>1.59</a:t>
                      </a:r>
                      <a:endParaRPr lang="es-AR" sz="2000" dirty="0">
                        <a:latin typeface="Times New Roman"/>
                        <a:ea typeface="Times New Roman"/>
                        <a:cs typeface="Times New Roman"/>
                      </a:endParaRPr>
                    </a:p>
                  </a:txBody>
                  <a:tcPr marL="68580" marR="68580" marT="0" marB="0"/>
                </a:tc>
                <a:tc>
                  <a:txBody>
                    <a:bodyPr/>
                    <a:lstStyle/>
                    <a:p>
                      <a:pPr algn="ctr">
                        <a:spcAft>
                          <a:spcPts val="0"/>
                        </a:spcAft>
                      </a:pPr>
                      <a:r>
                        <a:rPr lang="es-CO" sz="2000" dirty="0"/>
                        <a:t>1.74</a:t>
                      </a:r>
                      <a:endParaRPr lang="es-AR" sz="2000" dirty="0">
                        <a:latin typeface="Times New Roman"/>
                        <a:ea typeface="Times New Roman"/>
                        <a:cs typeface="Times New Roman"/>
                      </a:endParaRPr>
                    </a:p>
                  </a:txBody>
                  <a:tcPr marL="68580" marR="68580" marT="0" marB="0"/>
                </a:tc>
                <a:tc>
                  <a:txBody>
                    <a:bodyPr/>
                    <a:lstStyle/>
                    <a:p>
                      <a:pPr algn="ctr">
                        <a:spcAft>
                          <a:spcPts val="0"/>
                        </a:spcAft>
                      </a:pPr>
                      <a:r>
                        <a:rPr lang="en-US" sz="2000" dirty="0"/>
                        <a:t>-0.15</a:t>
                      </a:r>
                      <a:endParaRPr lang="es-AR" sz="2000" dirty="0">
                        <a:latin typeface="Times New Roman"/>
                        <a:ea typeface="Times New Roman"/>
                        <a:cs typeface="Times New Roman"/>
                      </a:endParaRPr>
                    </a:p>
                  </a:txBody>
                  <a:tcPr marL="68580" marR="68580" marT="0" marB="0"/>
                </a:tc>
                <a:tc>
                  <a:txBody>
                    <a:bodyPr/>
                    <a:lstStyle/>
                    <a:p>
                      <a:pPr algn="ctr">
                        <a:spcAft>
                          <a:spcPts val="0"/>
                        </a:spcAft>
                      </a:pPr>
                      <a:r>
                        <a:rPr lang="es-CO" sz="2000" dirty="0"/>
                        <a:t>-0.12</a:t>
                      </a:r>
                      <a:endParaRPr lang="es-AR" sz="2000" dirty="0">
                        <a:latin typeface="Times New Roman"/>
                        <a:ea typeface="Times New Roman"/>
                        <a:cs typeface="Times New Roman"/>
                      </a:endParaRPr>
                    </a:p>
                  </a:txBody>
                  <a:tcPr marL="68580" marR="68580" marT="0" marB="0"/>
                </a:tc>
              </a:tr>
              <a:tr h="380169">
                <a:tc>
                  <a:txBody>
                    <a:bodyPr/>
                    <a:lstStyle/>
                    <a:p>
                      <a:pPr algn="ctr">
                        <a:spcAft>
                          <a:spcPts val="0"/>
                        </a:spcAft>
                      </a:pPr>
                      <a:r>
                        <a:rPr lang="es-CO" sz="2000" dirty="0"/>
                        <a:t>1980</a:t>
                      </a:r>
                      <a:endParaRPr lang="es-AR" sz="2000" dirty="0">
                        <a:latin typeface="Times New Roman"/>
                        <a:ea typeface="Times New Roman"/>
                        <a:cs typeface="Times New Roman"/>
                      </a:endParaRPr>
                    </a:p>
                  </a:txBody>
                  <a:tcPr marL="68580" marR="68580" marT="0" marB="0"/>
                </a:tc>
                <a:tc>
                  <a:txBody>
                    <a:bodyPr/>
                    <a:lstStyle/>
                    <a:p>
                      <a:pPr algn="ctr">
                        <a:spcAft>
                          <a:spcPts val="0"/>
                        </a:spcAft>
                      </a:pPr>
                      <a:r>
                        <a:rPr lang="es-CO" sz="2000" dirty="0"/>
                        <a:t>1.55</a:t>
                      </a:r>
                      <a:endParaRPr lang="es-AR" sz="2000" dirty="0">
                        <a:latin typeface="Times New Roman"/>
                        <a:ea typeface="Times New Roman"/>
                        <a:cs typeface="Times New Roman"/>
                      </a:endParaRPr>
                    </a:p>
                  </a:txBody>
                  <a:tcPr marL="68580" marR="68580" marT="0" marB="0"/>
                </a:tc>
                <a:tc>
                  <a:txBody>
                    <a:bodyPr/>
                    <a:lstStyle/>
                    <a:p>
                      <a:pPr algn="ctr">
                        <a:spcAft>
                          <a:spcPts val="0"/>
                        </a:spcAft>
                      </a:pPr>
                      <a:r>
                        <a:rPr lang="es-CO" sz="2000" dirty="0"/>
                        <a:t>1.70</a:t>
                      </a:r>
                      <a:endParaRPr lang="es-AR" sz="2000" dirty="0">
                        <a:latin typeface="Times New Roman"/>
                        <a:ea typeface="Times New Roman"/>
                        <a:cs typeface="Times New Roman"/>
                      </a:endParaRPr>
                    </a:p>
                  </a:txBody>
                  <a:tcPr marL="68580" marR="68580" marT="0" marB="0"/>
                </a:tc>
                <a:tc>
                  <a:txBody>
                    <a:bodyPr/>
                    <a:lstStyle/>
                    <a:p>
                      <a:pPr algn="ctr">
                        <a:spcAft>
                          <a:spcPts val="0"/>
                        </a:spcAft>
                      </a:pPr>
                      <a:r>
                        <a:rPr lang="es-CO" sz="2000" dirty="0"/>
                        <a:t>-0.16</a:t>
                      </a:r>
                      <a:endParaRPr lang="es-AR" sz="2000" dirty="0">
                        <a:latin typeface="Times New Roman"/>
                        <a:ea typeface="Times New Roman"/>
                        <a:cs typeface="Times New Roman"/>
                      </a:endParaRPr>
                    </a:p>
                  </a:txBody>
                  <a:tcPr marL="68580" marR="68580" marT="0" marB="0"/>
                </a:tc>
                <a:tc>
                  <a:txBody>
                    <a:bodyPr/>
                    <a:lstStyle/>
                    <a:p>
                      <a:pPr algn="ctr">
                        <a:spcAft>
                          <a:spcPts val="0"/>
                        </a:spcAft>
                      </a:pPr>
                      <a:r>
                        <a:rPr lang="es-CO" sz="2000" dirty="0"/>
                        <a:t>-0.12</a:t>
                      </a:r>
                      <a:endParaRPr lang="es-AR" sz="2000" dirty="0">
                        <a:latin typeface="Times New Roman"/>
                        <a:ea typeface="Times New Roman"/>
                        <a:cs typeface="Times New Roman"/>
                      </a:endParaRPr>
                    </a:p>
                  </a:txBody>
                  <a:tcPr marL="68580" marR="68580" marT="0" marB="0"/>
                </a:tc>
              </a:tr>
              <a:tr h="380169">
                <a:tc>
                  <a:txBody>
                    <a:bodyPr/>
                    <a:lstStyle/>
                    <a:p>
                      <a:pPr algn="ctr">
                        <a:spcAft>
                          <a:spcPts val="0"/>
                        </a:spcAft>
                      </a:pPr>
                      <a:r>
                        <a:rPr lang="es-CO" sz="2000" dirty="0"/>
                        <a:t>1981</a:t>
                      </a:r>
                      <a:endParaRPr lang="es-AR" sz="2000" dirty="0">
                        <a:latin typeface="Times New Roman"/>
                        <a:ea typeface="Times New Roman"/>
                        <a:cs typeface="Times New Roman"/>
                      </a:endParaRPr>
                    </a:p>
                  </a:txBody>
                  <a:tcPr marL="68580" marR="68580" marT="0" marB="0"/>
                </a:tc>
                <a:tc>
                  <a:txBody>
                    <a:bodyPr/>
                    <a:lstStyle/>
                    <a:p>
                      <a:pPr algn="ctr">
                        <a:spcAft>
                          <a:spcPts val="0"/>
                        </a:spcAft>
                      </a:pPr>
                      <a:r>
                        <a:rPr lang="es-CO" sz="2000" dirty="0"/>
                        <a:t>1.61</a:t>
                      </a:r>
                      <a:endParaRPr lang="es-AR" sz="2000" dirty="0">
                        <a:latin typeface="Times New Roman"/>
                        <a:ea typeface="Times New Roman"/>
                        <a:cs typeface="Times New Roman"/>
                      </a:endParaRPr>
                    </a:p>
                  </a:txBody>
                  <a:tcPr marL="68580" marR="68580" marT="0" marB="0"/>
                </a:tc>
                <a:tc>
                  <a:txBody>
                    <a:bodyPr/>
                    <a:lstStyle/>
                    <a:p>
                      <a:pPr algn="ctr">
                        <a:spcAft>
                          <a:spcPts val="0"/>
                        </a:spcAft>
                      </a:pPr>
                      <a:r>
                        <a:rPr lang="es-CO" sz="2000" dirty="0"/>
                        <a:t>1.72</a:t>
                      </a:r>
                      <a:endParaRPr lang="es-AR" sz="2000" dirty="0">
                        <a:latin typeface="Times New Roman"/>
                        <a:ea typeface="Times New Roman"/>
                        <a:cs typeface="Times New Roman"/>
                      </a:endParaRPr>
                    </a:p>
                  </a:txBody>
                  <a:tcPr marL="68580" marR="68580" marT="0" marB="0"/>
                </a:tc>
                <a:tc>
                  <a:txBody>
                    <a:bodyPr/>
                    <a:lstStyle/>
                    <a:p>
                      <a:pPr algn="ctr">
                        <a:spcAft>
                          <a:spcPts val="0"/>
                        </a:spcAft>
                      </a:pPr>
                      <a:r>
                        <a:rPr lang="es-CO" sz="2000" dirty="0"/>
                        <a:t>-0.11</a:t>
                      </a:r>
                      <a:endParaRPr lang="es-AR" sz="2000" dirty="0">
                        <a:latin typeface="Times New Roman"/>
                        <a:ea typeface="Times New Roman"/>
                        <a:cs typeface="Times New Roman"/>
                      </a:endParaRPr>
                    </a:p>
                  </a:txBody>
                  <a:tcPr marL="68580" marR="68580" marT="0" marB="0"/>
                </a:tc>
                <a:tc>
                  <a:txBody>
                    <a:bodyPr/>
                    <a:lstStyle/>
                    <a:p>
                      <a:pPr algn="ctr">
                        <a:spcAft>
                          <a:spcPts val="0"/>
                        </a:spcAft>
                      </a:pPr>
                      <a:r>
                        <a:rPr lang="es-CO" sz="2000" dirty="0"/>
                        <a:t>-0.10</a:t>
                      </a:r>
                      <a:endParaRPr lang="es-AR" sz="2000" dirty="0">
                        <a:latin typeface="Times New Roman"/>
                        <a:ea typeface="Times New Roman"/>
                        <a:cs typeface="Times New Roman"/>
                      </a:endParaRPr>
                    </a:p>
                  </a:txBody>
                  <a:tcPr marL="68580" marR="68580" marT="0" marB="0"/>
                </a:tc>
              </a:tr>
              <a:tr h="380169">
                <a:tc>
                  <a:txBody>
                    <a:bodyPr/>
                    <a:lstStyle/>
                    <a:p>
                      <a:pPr algn="ctr">
                        <a:spcAft>
                          <a:spcPts val="0"/>
                        </a:spcAft>
                      </a:pPr>
                      <a:r>
                        <a:rPr lang="es-CO" sz="2000" dirty="0"/>
                        <a:t>1982</a:t>
                      </a:r>
                      <a:endParaRPr lang="es-AR" sz="2000" dirty="0">
                        <a:latin typeface="Times New Roman"/>
                        <a:ea typeface="Times New Roman"/>
                        <a:cs typeface="Times New Roman"/>
                      </a:endParaRPr>
                    </a:p>
                  </a:txBody>
                  <a:tcPr marL="68580" marR="68580" marT="0" marB="0"/>
                </a:tc>
                <a:tc>
                  <a:txBody>
                    <a:bodyPr/>
                    <a:lstStyle/>
                    <a:p>
                      <a:pPr algn="ctr">
                        <a:spcAft>
                          <a:spcPts val="0"/>
                        </a:spcAft>
                      </a:pPr>
                      <a:r>
                        <a:rPr lang="es-CO" sz="2000" dirty="0"/>
                        <a:t>1.48</a:t>
                      </a:r>
                      <a:endParaRPr lang="es-AR" sz="2000" dirty="0">
                        <a:latin typeface="Times New Roman"/>
                        <a:ea typeface="Times New Roman"/>
                        <a:cs typeface="Times New Roman"/>
                      </a:endParaRPr>
                    </a:p>
                  </a:txBody>
                  <a:tcPr marL="68580" marR="68580" marT="0" marB="0"/>
                </a:tc>
                <a:tc>
                  <a:txBody>
                    <a:bodyPr/>
                    <a:lstStyle/>
                    <a:p>
                      <a:pPr algn="ctr">
                        <a:spcAft>
                          <a:spcPts val="0"/>
                        </a:spcAft>
                      </a:pPr>
                      <a:r>
                        <a:rPr lang="es-CO" sz="2000" dirty="0"/>
                        <a:t>1.71</a:t>
                      </a:r>
                      <a:endParaRPr lang="es-AR" sz="2000" dirty="0">
                        <a:latin typeface="Times New Roman"/>
                        <a:ea typeface="Times New Roman"/>
                        <a:cs typeface="Times New Roman"/>
                      </a:endParaRPr>
                    </a:p>
                  </a:txBody>
                  <a:tcPr marL="68580" marR="68580" marT="0" marB="0"/>
                </a:tc>
                <a:tc>
                  <a:txBody>
                    <a:bodyPr/>
                    <a:lstStyle/>
                    <a:p>
                      <a:pPr algn="ctr">
                        <a:spcAft>
                          <a:spcPts val="0"/>
                        </a:spcAft>
                      </a:pPr>
                      <a:r>
                        <a:rPr lang="es-CO" sz="2000" dirty="0"/>
                        <a:t>-0.24</a:t>
                      </a:r>
                      <a:endParaRPr lang="es-AR" sz="2000" dirty="0">
                        <a:latin typeface="Times New Roman"/>
                        <a:ea typeface="Times New Roman"/>
                        <a:cs typeface="Times New Roman"/>
                      </a:endParaRPr>
                    </a:p>
                  </a:txBody>
                  <a:tcPr marL="68580" marR="68580" marT="0" marB="0"/>
                </a:tc>
                <a:tc>
                  <a:txBody>
                    <a:bodyPr/>
                    <a:lstStyle/>
                    <a:p>
                      <a:pPr algn="ctr">
                        <a:spcAft>
                          <a:spcPts val="0"/>
                        </a:spcAft>
                      </a:pPr>
                      <a:r>
                        <a:rPr lang="es-CO" sz="2000" dirty="0"/>
                        <a:t>-0.20</a:t>
                      </a:r>
                      <a:endParaRPr lang="es-AR" sz="2000" dirty="0">
                        <a:latin typeface="Times New Roman"/>
                        <a:ea typeface="Times New Roman"/>
                        <a:cs typeface="Times New Roman"/>
                      </a:endParaRPr>
                    </a:p>
                  </a:txBody>
                  <a:tcPr marL="68580" marR="68580" marT="0" marB="0"/>
                </a:tc>
              </a:tr>
              <a:tr h="380169">
                <a:tc>
                  <a:txBody>
                    <a:bodyPr/>
                    <a:lstStyle/>
                    <a:p>
                      <a:pPr algn="ctr">
                        <a:spcAft>
                          <a:spcPts val="0"/>
                        </a:spcAft>
                      </a:pPr>
                      <a:r>
                        <a:rPr lang="es-CO" sz="2000" dirty="0"/>
                        <a:t>1983</a:t>
                      </a:r>
                      <a:endParaRPr lang="es-AR" sz="2000" dirty="0">
                        <a:latin typeface="Times New Roman"/>
                        <a:ea typeface="Times New Roman"/>
                        <a:cs typeface="Times New Roman"/>
                      </a:endParaRPr>
                    </a:p>
                  </a:txBody>
                  <a:tcPr marL="68580" marR="68580" marT="0" marB="0"/>
                </a:tc>
                <a:tc>
                  <a:txBody>
                    <a:bodyPr/>
                    <a:lstStyle/>
                    <a:p>
                      <a:pPr algn="ctr">
                        <a:spcAft>
                          <a:spcPts val="0"/>
                        </a:spcAft>
                      </a:pPr>
                      <a:r>
                        <a:rPr lang="es-CO" sz="2000" dirty="0"/>
                        <a:t>1.48</a:t>
                      </a:r>
                      <a:endParaRPr lang="es-AR" sz="2000" dirty="0">
                        <a:latin typeface="Times New Roman"/>
                        <a:ea typeface="Times New Roman"/>
                        <a:cs typeface="Times New Roman"/>
                      </a:endParaRPr>
                    </a:p>
                  </a:txBody>
                  <a:tcPr marL="68580" marR="68580" marT="0" marB="0"/>
                </a:tc>
                <a:tc>
                  <a:txBody>
                    <a:bodyPr/>
                    <a:lstStyle/>
                    <a:p>
                      <a:pPr algn="ctr">
                        <a:spcAft>
                          <a:spcPts val="0"/>
                        </a:spcAft>
                      </a:pPr>
                      <a:r>
                        <a:rPr lang="es-CO" sz="2000" dirty="0"/>
                        <a:t>1.69</a:t>
                      </a:r>
                      <a:endParaRPr lang="es-AR" sz="2000" dirty="0">
                        <a:latin typeface="Times New Roman"/>
                        <a:ea typeface="Times New Roman"/>
                        <a:cs typeface="Times New Roman"/>
                      </a:endParaRPr>
                    </a:p>
                  </a:txBody>
                  <a:tcPr marL="68580" marR="68580" marT="0" marB="0"/>
                </a:tc>
                <a:tc>
                  <a:txBody>
                    <a:bodyPr/>
                    <a:lstStyle/>
                    <a:p>
                      <a:pPr algn="ctr">
                        <a:spcAft>
                          <a:spcPts val="0"/>
                        </a:spcAft>
                      </a:pPr>
                      <a:r>
                        <a:rPr lang="es-CO" sz="2000" dirty="0"/>
                        <a:t>-0.21</a:t>
                      </a:r>
                      <a:endParaRPr lang="es-AR" sz="2000" dirty="0">
                        <a:latin typeface="Times New Roman"/>
                        <a:ea typeface="Times New Roman"/>
                        <a:cs typeface="Times New Roman"/>
                      </a:endParaRPr>
                    </a:p>
                  </a:txBody>
                  <a:tcPr marL="68580" marR="68580" marT="0" marB="0"/>
                </a:tc>
                <a:tc>
                  <a:txBody>
                    <a:bodyPr/>
                    <a:lstStyle/>
                    <a:p>
                      <a:pPr algn="ctr">
                        <a:spcAft>
                          <a:spcPts val="0"/>
                        </a:spcAft>
                      </a:pPr>
                      <a:r>
                        <a:rPr lang="es-CO" sz="2000" dirty="0"/>
                        <a:t>-0.15</a:t>
                      </a:r>
                      <a:endParaRPr lang="es-AR" sz="2000" dirty="0">
                        <a:latin typeface="Times New Roman"/>
                        <a:ea typeface="Times New Roman"/>
                        <a:cs typeface="Times New Roman"/>
                      </a:endParaRPr>
                    </a:p>
                  </a:txBody>
                  <a:tcPr marL="68580" marR="68580" marT="0" marB="0"/>
                </a:tc>
              </a:tr>
              <a:tr h="380169">
                <a:tc>
                  <a:txBody>
                    <a:bodyPr/>
                    <a:lstStyle/>
                    <a:p>
                      <a:pPr algn="ctr">
                        <a:spcAft>
                          <a:spcPts val="0"/>
                        </a:spcAft>
                      </a:pPr>
                      <a:r>
                        <a:rPr lang="es-CO" sz="2000" dirty="0"/>
                        <a:t>1984</a:t>
                      </a:r>
                      <a:endParaRPr lang="es-AR" sz="2000" dirty="0">
                        <a:latin typeface="Times New Roman"/>
                        <a:ea typeface="Times New Roman"/>
                        <a:cs typeface="Times New Roman"/>
                      </a:endParaRPr>
                    </a:p>
                  </a:txBody>
                  <a:tcPr marL="68580" marR="68580" marT="0" marB="0"/>
                </a:tc>
                <a:tc>
                  <a:txBody>
                    <a:bodyPr/>
                    <a:lstStyle/>
                    <a:p>
                      <a:pPr algn="ctr">
                        <a:spcAft>
                          <a:spcPts val="0"/>
                        </a:spcAft>
                      </a:pPr>
                      <a:r>
                        <a:rPr lang="es-CO" sz="2000" dirty="0"/>
                        <a:t>1.57</a:t>
                      </a:r>
                      <a:endParaRPr lang="es-AR" sz="2000" dirty="0">
                        <a:latin typeface="Times New Roman"/>
                        <a:ea typeface="Times New Roman"/>
                        <a:cs typeface="Times New Roman"/>
                      </a:endParaRPr>
                    </a:p>
                  </a:txBody>
                  <a:tcPr marL="68580" marR="68580" marT="0" marB="0"/>
                </a:tc>
                <a:tc>
                  <a:txBody>
                    <a:bodyPr/>
                    <a:lstStyle/>
                    <a:p>
                      <a:pPr algn="ctr">
                        <a:spcAft>
                          <a:spcPts val="0"/>
                        </a:spcAft>
                      </a:pPr>
                      <a:r>
                        <a:rPr lang="es-CO" sz="2000" dirty="0"/>
                        <a:t>1.67</a:t>
                      </a:r>
                      <a:endParaRPr lang="es-AR" sz="2000" dirty="0">
                        <a:latin typeface="Times New Roman"/>
                        <a:ea typeface="Times New Roman"/>
                        <a:cs typeface="Times New Roman"/>
                      </a:endParaRPr>
                    </a:p>
                  </a:txBody>
                  <a:tcPr marL="68580" marR="68580" marT="0" marB="0"/>
                </a:tc>
                <a:tc>
                  <a:txBody>
                    <a:bodyPr/>
                    <a:lstStyle/>
                    <a:p>
                      <a:pPr algn="ctr">
                        <a:spcAft>
                          <a:spcPts val="0"/>
                        </a:spcAft>
                      </a:pPr>
                      <a:r>
                        <a:rPr lang="es-CO" sz="2000" dirty="0"/>
                        <a:t>-0.10</a:t>
                      </a:r>
                      <a:endParaRPr lang="es-AR" sz="2000" dirty="0">
                        <a:latin typeface="Times New Roman"/>
                        <a:ea typeface="Times New Roman"/>
                        <a:cs typeface="Times New Roman"/>
                      </a:endParaRPr>
                    </a:p>
                  </a:txBody>
                  <a:tcPr marL="68580" marR="68580" marT="0" marB="0"/>
                </a:tc>
                <a:tc>
                  <a:txBody>
                    <a:bodyPr/>
                    <a:lstStyle/>
                    <a:p>
                      <a:pPr algn="ctr">
                        <a:spcAft>
                          <a:spcPts val="0"/>
                        </a:spcAft>
                      </a:pPr>
                      <a:r>
                        <a:rPr lang="es-CO" sz="2000" dirty="0"/>
                        <a:t>-0.05</a:t>
                      </a:r>
                      <a:endParaRPr lang="es-AR" sz="2000" dirty="0">
                        <a:latin typeface="Times New Roman"/>
                        <a:ea typeface="Times New Roman"/>
                        <a:cs typeface="Times New Roman"/>
                      </a:endParaRPr>
                    </a:p>
                  </a:txBody>
                  <a:tcPr marL="68580" marR="68580" marT="0" marB="0"/>
                </a:tc>
              </a:tr>
              <a:tr h="380169">
                <a:tc>
                  <a:txBody>
                    <a:bodyPr/>
                    <a:lstStyle/>
                    <a:p>
                      <a:pPr algn="ctr">
                        <a:spcAft>
                          <a:spcPts val="0"/>
                        </a:spcAft>
                      </a:pPr>
                      <a:r>
                        <a:rPr lang="es-CO" sz="2000" dirty="0"/>
                        <a:t>1985</a:t>
                      </a:r>
                      <a:endParaRPr lang="es-AR" sz="2000" dirty="0">
                        <a:latin typeface="Times New Roman"/>
                        <a:ea typeface="Times New Roman"/>
                        <a:cs typeface="Times New Roman"/>
                      </a:endParaRPr>
                    </a:p>
                  </a:txBody>
                  <a:tcPr marL="68580" marR="68580" marT="0" marB="0"/>
                </a:tc>
                <a:tc>
                  <a:txBody>
                    <a:bodyPr/>
                    <a:lstStyle/>
                    <a:p>
                      <a:pPr algn="ctr">
                        <a:spcAft>
                          <a:spcPts val="0"/>
                        </a:spcAft>
                      </a:pPr>
                      <a:r>
                        <a:rPr lang="es-CO" sz="2000" dirty="0"/>
                        <a:t>1.60</a:t>
                      </a:r>
                      <a:endParaRPr lang="es-AR" sz="2000" dirty="0">
                        <a:latin typeface="Times New Roman"/>
                        <a:ea typeface="Times New Roman"/>
                        <a:cs typeface="Times New Roman"/>
                      </a:endParaRPr>
                    </a:p>
                  </a:txBody>
                  <a:tcPr marL="68580" marR="68580" marT="0" marB="0"/>
                </a:tc>
                <a:tc>
                  <a:txBody>
                    <a:bodyPr/>
                    <a:lstStyle/>
                    <a:p>
                      <a:pPr algn="ctr">
                        <a:spcAft>
                          <a:spcPts val="0"/>
                        </a:spcAft>
                      </a:pPr>
                      <a:r>
                        <a:rPr lang="es-CO" sz="2000" dirty="0"/>
                        <a:t>1.65</a:t>
                      </a:r>
                      <a:endParaRPr lang="es-AR" sz="2000" dirty="0">
                        <a:latin typeface="Times New Roman"/>
                        <a:ea typeface="Times New Roman"/>
                        <a:cs typeface="Times New Roman"/>
                      </a:endParaRPr>
                    </a:p>
                  </a:txBody>
                  <a:tcPr marL="68580" marR="68580" marT="0" marB="0"/>
                </a:tc>
                <a:tc>
                  <a:txBody>
                    <a:bodyPr/>
                    <a:lstStyle/>
                    <a:p>
                      <a:pPr algn="ctr">
                        <a:spcAft>
                          <a:spcPts val="0"/>
                        </a:spcAft>
                      </a:pPr>
                      <a:r>
                        <a:rPr lang="es-CO" sz="2000" dirty="0"/>
                        <a:t>-0.05</a:t>
                      </a:r>
                      <a:endParaRPr lang="es-AR" sz="2000" dirty="0">
                        <a:latin typeface="Times New Roman"/>
                        <a:ea typeface="Times New Roman"/>
                        <a:cs typeface="Times New Roman"/>
                      </a:endParaRPr>
                    </a:p>
                  </a:txBody>
                  <a:tcPr marL="68580" marR="68580" marT="0" marB="0"/>
                </a:tc>
                <a:tc>
                  <a:txBody>
                    <a:bodyPr/>
                    <a:lstStyle/>
                    <a:p>
                      <a:pPr algn="ctr">
                        <a:spcAft>
                          <a:spcPts val="0"/>
                        </a:spcAft>
                      </a:pPr>
                      <a:r>
                        <a:rPr lang="es-CO" sz="2000" dirty="0"/>
                        <a:t>-0.01</a:t>
                      </a:r>
                      <a:endParaRPr lang="es-AR" sz="2000" dirty="0">
                        <a:latin typeface="Times New Roman"/>
                        <a:ea typeface="Times New Roman"/>
                        <a:cs typeface="Times New Roman"/>
                      </a:endParaRPr>
                    </a:p>
                  </a:txBody>
                  <a:tcPr marL="68580" marR="68580" marT="0" marB="0"/>
                </a:tc>
              </a:tr>
            </a:tbl>
          </a:graphicData>
        </a:graphic>
      </p:graphicFrame>
      <p:sp>
        <p:nvSpPr>
          <p:cNvPr id="9" name="8 CuadroTexto"/>
          <p:cNvSpPr txBox="1"/>
          <p:nvPr/>
        </p:nvSpPr>
        <p:spPr>
          <a:xfrm>
            <a:off x="642911" y="1571612"/>
            <a:ext cx="8001056" cy="477054"/>
          </a:xfrm>
          <a:prstGeom prst="rect">
            <a:avLst/>
          </a:prstGeom>
          <a:noFill/>
        </p:spPr>
        <p:txBody>
          <a:bodyPr wrap="square" rtlCol="0">
            <a:spAutoFit/>
          </a:bodyPr>
          <a:lstStyle/>
          <a:p>
            <a:r>
              <a:rPr lang="es-ES" sz="2500" u="sng" dirty="0" smtClean="0"/>
              <a:t>Efectos de la inmigración en los salarios</a:t>
            </a:r>
            <a:endParaRPr lang="es-AR" sz="2500" u="sng" dirty="0"/>
          </a:p>
        </p:txBody>
      </p:sp>
      <p:sp>
        <p:nvSpPr>
          <p:cNvPr id="10" name="9 Rectángulo"/>
          <p:cNvSpPr/>
          <p:nvPr/>
        </p:nvSpPr>
        <p:spPr>
          <a:xfrm>
            <a:off x="0" y="6577607"/>
            <a:ext cx="9404134" cy="292388"/>
          </a:xfrm>
          <a:prstGeom prst="rect">
            <a:avLst/>
          </a:prstGeom>
        </p:spPr>
        <p:txBody>
          <a:bodyPr wrap="square">
            <a:spAutoFit/>
          </a:bodyPr>
          <a:lstStyle/>
          <a:p>
            <a:pPr marL="3175" lvl="1" algn="ctr" defTabSz="179388"/>
            <a:r>
              <a:rPr lang="es-MX" sz="1300" smtClean="0">
                <a:solidFill>
                  <a:schemeClr val="tx1">
                    <a:lumMod val="50000"/>
                    <a:lumOff val="50000"/>
                  </a:schemeClr>
                </a:solidFill>
              </a:rPr>
              <a:t>Guía práctica para la evaluación de impacto /</a:t>
            </a:r>
            <a:r>
              <a:rPr lang="es-CO" sz="1300" smtClean="0">
                <a:solidFill>
                  <a:schemeClr val="tx1">
                    <a:lumMod val="50000"/>
                    <a:lumOff val="50000"/>
                  </a:schemeClr>
                </a:solidFill>
              </a:rPr>
              <a:t>Capítulo </a:t>
            </a:r>
            <a:r>
              <a:rPr lang="es-CO" sz="1300" dirty="0" smtClean="0">
                <a:solidFill>
                  <a:schemeClr val="tx1">
                    <a:lumMod val="50000"/>
                    <a:lumOff val="50000"/>
                  </a:schemeClr>
                </a:solidFill>
              </a:rPr>
              <a:t>5: Experimentos Naturales o cuasi Experimentos/35</a:t>
            </a:r>
            <a:endParaRPr lang="es-ES" sz="1300" dirty="0">
              <a:solidFill>
                <a:schemeClr val="tx1">
                  <a:lumMod val="50000"/>
                  <a:lumOff val="50000"/>
                </a:schemeClr>
              </a:solidFill>
            </a:endParaRPr>
          </a:p>
        </p:txBody>
      </p:sp>
      <p:sp>
        <p:nvSpPr>
          <p:cNvPr id="8" name="7 Elipse"/>
          <p:cNvSpPr/>
          <p:nvPr/>
        </p:nvSpPr>
        <p:spPr>
          <a:xfrm>
            <a:off x="764126" y="4143380"/>
            <a:ext cx="1071570" cy="428628"/>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s-CO"/>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ln w="28575">
            <a:solidFill>
              <a:schemeClr val="accent1">
                <a:lumMod val="75000"/>
              </a:schemeClr>
            </a:solidFill>
          </a:ln>
        </p:spPr>
        <p:txBody>
          <a:bodyPr>
            <a:normAutofit/>
          </a:bodyPr>
          <a:lstStyle/>
          <a:p>
            <a:endParaRPr lang="es-ES" sz="2500" dirty="0" smtClean="0"/>
          </a:p>
          <a:p>
            <a:pPr>
              <a:buNone/>
            </a:pPr>
            <a:r>
              <a:rPr lang="es-ES" sz="2500" dirty="0" smtClean="0"/>
              <a:t>Resultado:</a:t>
            </a:r>
          </a:p>
          <a:p>
            <a:pPr marL="0" lvl="1">
              <a:buNone/>
            </a:pPr>
            <a:r>
              <a:rPr lang="es-ES" sz="2500" dirty="0" smtClean="0"/>
              <a:t>Los salarios no empeoraron significativamente en Miami a raíz de la llegada de los inmigrantes cubanos.</a:t>
            </a:r>
            <a:endParaRPr lang="es-AR" sz="2500" dirty="0"/>
          </a:p>
        </p:txBody>
      </p:sp>
      <p:pic>
        <p:nvPicPr>
          <p:cNvPr id="4" name="Picture 1"/>
          <p:cNvPicPr>
            <a:picLocks noChangeAspect="1" noChangeArrowheads="1"/>
          </p:cNvPicPr>
          <p:nvPr/>
        </p:nvPicPr>
        <p:blipFill>
          <a:blip r:embed="rId2" cstate="print"/>
          <a:srcRect/>
          <a:stretch>
            <a:fillRect/>
          </a:stretch>
        </p:blipFill>
        <p:spPr bwMode="auto">
          <a:xfrm>
            <a:off x="0" y="0"/>
            <a:ext cx="2214546" cy="1053379"/>
          </a:xfrm>
          <a:prstGeom prst="rect">
            <a:avLst/>
          </a:prstGeom>
          <a:noFill/>
          <a:ln w="9525">
            <a:noFill/>
            <a:miter lim="800000"/>
            <a:headEnd/>
            <a:tailEnd/>
          </a:ln>
          <a:effectLst/>
        </p:spPr>
      </p:pic>
      <p:sp>
        <p:nvSpPr>
          <p:cNvPr id="5" name="1 Título"/>
          <p:cNvSpPr>
            <a:spLocks noGrp="1"/>
          </p:cNvSpPr>
          <p:nvPr>
            <p:ph type="title"/>
          </p:nvPr>
        </p:nvSpPr>
        <p:spPr>
          <a:xfrm>
            <a:off x="2357422" y="214290"/>
            <a:ext cx="6572296" cy="1071570"/>
          </a:xfrm>
        </p:spPr>
        <p:txBody>
          <a:bodyPr>
            <a:noAutofit/>
          </a:bodyPr>
          <a:lstStyle/>
          <a:p>
            <a:r>
              <a:rPr lang="es-ES" sz="4200" u="sng" dirty="0" smtClean="0"/>
              <a:t>Ejemplo 1. Efecto de la migración de los “marielitos”</a:t>
            </a:r>
            <a:endParaRPr lang="es-ES" sz="4200" u="sng" dirty="0"/>
          </a:p>
        </p:txBody>
      </p:sp>
      <p:sp>
        <p:nvSpPr>
          <p:cNvPr id="6" name="5 Rectángulo"/>
          <p:cNvSpPr/>
          <p:nvPr/>
        </p:nvSpPr>
        <p:spPr>
          <a:xfrm>
            <a:off x="0" y="6577607"/>
            <a:ext cx="9404134" cy="292388"/>
          </a:xfrm>
          <a:prstGeom prst="rect">
            <a:avLst/>
          </a:prstGeom>
        </p:spPr>
        <p:txBody>
          <a:bodyPr wrap="square">
            <a:spAutoFit/>
          </a:bodyPr>
          <a:lstStyle/>
          <a:p>
            <a:pPr marL="3175" lvl="1" algn="ctr"/>
            <a:r>
              <a:rPr lang="es-MX" sz="1300" smtClean="0">
                <a:solidFill>
                  <a:schemeClr val="tx1">
                    <a:lumMod val="50000"/>
                    <a:lumOff val="50000"/>
                  </a:schemeClr>
                </a:solidFill>
              </a:rPr>
              <a:t>Guía práctica para la evaluación de impacto /</a:t>
            </a:r>
            <a:r>
              <a:rPr lang="es-CO" sz="1300" smtClean="0">
                <a:solidFill>
                  <a:schemeClr val="tx1">
                    <a:lumMod val="50000"/>
                    <a:lumOff val="50000"/>
                  </a:schemeClr>
                </a:solidFill>
              </a:rPr>
              <a:t>Capítulo </a:t>
            </a:r>
            <a:r>
              <a:rPr lang="es-CO" sz="1300" dirty="0" smtClean="0">
                <a:solidFill>
                  <a:schemeClr val="tx1">
                    <a:lumMod val="50000"/>
                    <a:lumOff val="50000"/>
                  </a:schemeClr>
                </a:solidFill>
              </a:rPr>
              <a:t>5: Experimentos Naturales o cuasi Experimentos/36</a:t>
            </a:r>
            <a:endParaRPr lang="es-ES" sz="1300" dirty="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1431</TotalTime>
  <Words>2152</Words>
  <Application>Microsoft Office PowerPoint</Application>
  <PresentationFormat>Presentación en pantalla (4:3)</PresentationFormat>
  <Paragraphs>363</Paragraphs>
  <Slides>36</Slides>
  <Notes>8</Notes>
  <HiddenSlides>0</HiddenSlides>
  <MMClips>0</MMClips>
  <ScaleCrop>false</ScaleCrop>
  <HeadingPairs>
    <vt:vector size="6" baseType="variant">
      <vt:variant>
        <vt:lpstr>Tema</vt:lpstr>
      </vt:variant>
      <vt:variant>
        <vt:i4>1</vt:i4>
      </vt:variant>
      <vt:variant>
        <vt:lpstr>Servidores OLE incrustados</vt:lpstr>
      </vt:variant>
      <vt:variant>
        <vt:i4>1</vt:i4>
      </vt:variant>
      <vt:variant>
        <vt:lpstr>Títulos de diapositiva</vt:lpstr>
      </vt:variant>
      <vt:variant>
        <vt:i4>36</vt:i4>
      </vt:variant>
    </vt:vector>
  </HeadingPairs>
  <TitlesOfParts>
    <vt:vector size="38" baseType="lpstr">
      <vt:lpstr>Tema de Office</vt:lpstr>
      <vt:lpstr>Documento</vt:lpstr>
      <vt:lpstr>Capítulo 5</vt:lpstr>
      <vt:lpstr>¿Por qué usar experimentos naturales?</vt:lpstr>
      <vt:lpstr>Ejemplo 1</vt:lpstr>
      <vt:lpstr>Ejemplo 1</vt:lpstr>
      <vt:lpstr>Ejemplo 2. Canasta  “Hallazgo de petróleo”</vt:lpstr>
      <vt:lpstr>Ejemplo 2. Canasta  “Experimento natural”</vt:lpstr>
      <vt:lpstr>Tipos de experimentos naturales</vt:lpstr>
      <vt:lpstr>Tipo 1</vt:lpstr>
      <vt:lpstr>Tipo 2: Modelo de diferencias en diferencias  (Dif en Dif)</vt:lpstr>
      <vt:lpstr>Modelo de diferencias en diferencias</vt:lpstr>
      <vt:lpstr>Modelo de diferencias en diferencias</vt:lpstr>
      <vt:lpstr>Análogo muestral</vt:lpstr>
      <vt:lpstr>Análogo muestral</vt:lpstr>
      <vt:lpstr>¿Cuándo usar el estimador de Dif en Dif?</vt:lpstr>
      <vt:lpstr>¿Cuándo usar el estimador de Dif en Dif?</vt:lpstr>
      <vt:lpstr>Ejemplo gráfico</vt:lpstr>
      <vt:lpstr>Ejemplo 1. STAR  Descripción</vt:lpstr>
      <vt:lpstr>Ejemplo 1. STAR Descripción</vt:lpstr>
      <vt:lpstr>Ejemplo: Programa STAR</vt:lpstr>
      <vt:lpstr>Supuesto de tendencia paralela</vt:lpstr>
      <vt:lpstr>Modelo de regresión Si tenemos datos de panel</vt:lpstr>
      <vt:lpstr>Tomando esperanza condicional</vt:lpstr>
      <vt:lpstr>Diferencias en diferencias con regresores adicionales</vt:lpstr>
      <vt:lpstr>Diferencias en diferencias para múltiples períodos</vt:lpstr>
      <vt:lpstr>Dif en Dif para múltiples períodos</vt:lpstr>
      <vt:lpstr>Dif en Dif con datos de corte transversal repetidos</vt:lpstr>
      <vt:lpstr>Ejemplo: Canasta  Descripción</vt:lpstr>
      <vt:lpstr>Ejemplo: Canasta  Acerca de las observaciones </vt:lpstr>
      <vt:lpstr>Modelo de regresión</vt:lpstr>
      <vt:lpstr>Efecto del programa por  Dif en Dif</vt:lpstr>
      <vt:lpstr>Ejemplo 1. Efecto de la migración de los “marielitos”</vt:lpstr>
      <vt:lpstr>Ejemplo 1. Efecto de la migración de los “marielitos”</vt:lpstr>
      <vt:lpstr>Ejemplo 1. Efecto de la migración de los “marielitos”</vt:lpstr>
      <vt:lpstr>Ejemplo 1. Efecto de la migración de los “marielitos”</vt:lpstr>
      <vt:lpstr>Ejemplo 1. Efecto de la migración de los “marielitos”</vt:lpstr>
      <vt:lpstr>Ejemplo 1. Efecto de la migración de los “marielitos”</vt:lpstr>
    </vt:vector>
  </TitlesOfParts>
  <Company>Universidad de los Andes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Capítulo 5</dc:title>
  <dc:creator>lo-caro</dc:creator>
  <cp:lastModifiedBy>profeivan</cp:lastModifiedBy>
  <cp:revision>258</cp:revision>
  <dcterms:created xsi:type="dcterms:W3CDTF">2009-09-10T14:11:03Z</dcterms:created>
  <dcterms:modified xsi:type="dcterms:W3CDTF">2011-04-10T13:18:16Z</dcterms:modified>
</cp:coreProperties>
</file>