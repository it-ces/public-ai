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96" r:id="rId3"/>
    <p:sldId id="297" r:id="rId4"/>
    <p:sldId id="257" r:id="rId5"/>
    <p:sldId id="258" r:id="rId6"/>
    <p:sldId id="259" r:id="rId7"/>
    <p:sldId id="299" r:id="rId8"/>
    <p:sldId id="260" r:id="rId9"/>
    <p:sldId id="284" r:id="rId10"/>
    <p:sldId id="285" r:id="rId11"/>
    <p:sldId id="286" r:id="rId12"/>
    <p:sldId id="261" r:id="rId13"/>
    <p:sldId id="262" r:id="rId14"/>
    <p:sldId id="293" r:id="rId15"/>
    <p:sldId id="294" r:id="rId16"/>
    <p:sldId id="263" r:id="rId17"/>
    <p:sldId id="295" r:id="rId18"/>
    <p:sldId id="264" r:id="rId19"/>
    <p:sldId id="298" r:id="rId20"/>
    <p:sldId id="265" r:id="rId21"/>
    <p:sldId id="270" r:id="rId22"/>
    <p:sldId id="290" r:id="rId23"/>
    <p:sldId id="271" r:id="rId24"/>
    <p:sldId id="272" r:id="rId25"/>
    <p:sldId id="273" r:id="rId26"/>
    <p:sldId id="291" r:id="rId27"/>
    <p:sldId id="274" r:id="rId28"/>
    <p:sldId id="275" r:id="rId29"/>
    <p:sldId id="276" r:id="rId30"/>
    <p:sldId id="277" r:id="rId31"/>
    <p:sldId id="278" r:id="rId32"/>
    <p:sldId id="279" r:id="rId33"/>
    <p:sldId id="280" r:id="rId34"/>
    <p:sldId id="281" r:id="rId35"/>
    <p:sldId id="292" r:id="rId36"/>
    <p:sldId id="283" r:id="rId3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6067" autoAdjust="0"/>
  </p:normalViewPr>
  <p:slideViewPr>
    <p:cSldViewPr>
      <p:cViewPr varScale="1">
        <p:scale>
          <a:sx n="67" d="100"/>
          <a:sy n="67" d="100"/>
        </p:scale>
        <p:origin x="-1254" y="-108"/>
      </p:cViewPr>
      <p:guideLst>
        <p:guide orient="horz" pos="2160"/>
        <p:guide pos="2109"/>
      </p:guideLst>
    </p:cSldViewPr>
  </p:slideViewPr>
  <p:outlineViewPr>
    <p:cViewPr>
      <p:scale>
        <a:sx n="33" d="100"/>
        <a:sy n="33" d="100"/>
      </p:scale>
      <p:origin x="0" y="24840"/>
    </p:cViewPr>
  </p:outlineViewPr>
  <p:notesTextViewPr>
    <p:cViewPr>
      <p:scale>
        <a:sx n="100" d="100"/>
        <a:sy n="100" d="100"/>
      </p:scale>
      <p:origin x="0" y="0"/>
    </p:cViewPr>
  </p:notesTextViewPr>
  <p:sorterViewPr>
    <p:cViewPr>
      <p:scale>
        <a:sx n="66" d="100"/>
        <a:sy n="66" d="100"/>
      </p:scale>
      <p:origin x="0" y="348"/>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6.wmf"/><Relationship Id="rId7" Type="http://schemas.openxmlformats.org/officeDocument/2006/relationships/image" Target="../media/image29.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8.wmf"/><Relationship Id="rId5" Type="http://schemas.openxmlformats.org/officeDocument/2006/relationships/image" Target="../media/image20.wmf"/><Relationship Id="rId4"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7FA52B66-062C-455C-8264-929AC507509C}" type="datetimeFigureOut">
              <a:rPr lang="es-ES"/>
              <a:pPr>
                <a:defRPr/>
              </a:pPr>
              <a:t>10/04/2011</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endParaRPr lang="es-ES"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22D9C24F-C283-4D41-9690-D8CBD7256B31}" type="slidenum">
              <a:rPr lang="es-ES"/>
              <a:pPr>
                <a:defRPr/>
              </a:pPr>
              <a:t>‹Nº›</a:t>
            </a:fld>
            <a:endParaRPr lang="es-E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3993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3994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99768B3-B847-43A8-9C14-F066EC979C1A}" type="slidenum">
              <a:rPr lang="es-ES" smtClean="0"/>
              <a:pPr fontAlgn="base">
                <a:spcBef>
                  <a:spcPct val="0"/>
                </a:spcBef>
                <a:spcAft>
                  <a:spcPct val="0"/>
                </a:spcAft>
                <a:defRPr/>
              </a:pPr>
              <a:t>1</a:t>
            </a:fld>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096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096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B11E275-60B8-410B-91E4-A0E177A69E9C}" type="slidenum">
              <a:rPr lang="es-ES" smtClean="0"/>
              <a:pPr fontAlgn="base">
                <a:spcBef>
                  <a:spcPct val="0"/>
                </a:spcBef>
                <a:spcAft>
                  <a:spcPct val="0"/>
                </a:spcAft>
                <a:defRPr/>
              </a:pPr>
              <a:t>2</a:t>
            </a:fld>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198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198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17EA4A3-F33B-4F09-805C-A62B77340D61}" type="slidenum">
              <a:rPr lang="es-ES" smtClean="0"/>
              <a:pPr fontAlgn="base">
                <a:spcBef>
                  <a:spcPct val="0"/>
                </a:spcBef>
                <a:spcAft>
                  <a:spcPct val="0"/>
                </a:spcAft>
                <a:defRPr/>
              </a:pPr>
              <a:t>3</a:t>
            </a:fld>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301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301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2D8B057-06AC-4392-9F48-D2A98CBB566F}" type="slidenum">
              <a:rPr lang="es-ES" smtClean="0"/>
              <a:pPr fontAlgn="base">
                <a:spcBef>
                  <a:spcPct val="0"/>
                </a:spcBef>
                <a:spcAft>
                  <a:spcPct val="0"/>
                </a:spcAft>
                <a:defRPr/>
              </a:pPr>
              <a:t>4</a:t>
            </a:fld>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403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De esta manera, se obliga a los ciertos participantes potenciales a no participar en el programa, lo que genera el </a:t>
            </a:r>
            <a:r>
              <a:rPr lang="es-CO" i="1" smtClean="0"/>
              <a:t>contra factual </a:t>
            </a:r>
            <a:r>
              <a:rPr lang="es-CO" smtClean="0"/>
              <a:t>deseado.</a:t>
            </a:r>
            <a:endParaRPr lang="es-ES" smtClean="0"/>
          </a:p>
        </p:txBody>
      </p:sp>
      <p:sp>
        <p:nvSpPr>
          <p:cNvPr id="4403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4C8244B-0F04-4B2E-8BC8-211743E91361}" type="slidenum">
              <a:rPr lang="es-ES" smtClean="0"/>
              <a:pPr fontAlgn="base">
                <a:spcBef>
                  <a:spcPct val="0"/>
                </a:spcBef>
                <a:spcAft>
                  <a:spcPct val="0"/>
                </a:spcAft>
                <a:defRPr/>
              </a:pPr>
              <a:t>5</a:t>
            </a:fld>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505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Limitaciones</a:t>
            </a:r>
          </a:p>
          <a:p>
            <a:pPr eaLnBrk="1" hangingPunct="1">
              <a:spcBef>
                <a:spcPct val="0"/>
              </a:spcBef>
            </a:pPr>
            <a:r>
              <a:rPr lang="es-CO" smtClean="0"/>
              <a:t>1.Costo:</a:t>
            </a:r>
          </a:p>
          <a:p>
            <a:pPr eaLnBrk="1" hangingPunct="1">
              <a:spcBef>
                <a:spcPct val="0"/>
              </a:spcBef>
            </a:pPr>
            <a:r>
              <a:rPr lang="es-CO" smtClean="0"/>
              <a:t>Monetario: Costo de entrenamiento de quien trabaja en el programa ó monitoreo.</a:t>
            </a:r>
          </a:p>
          <a:p>
            <a:pPr eaLnBrk="1" hangingPunct="1">
              <a:spcBef>
                <a:spcPct val="0"/>
              </a:spcBef>
            </a:pPr>
            <a:r>
              <a:rPr lang="es-CO" smtClean="0"/>
              <a:t>Políticos: Hay injusticia fundamental por pertenecer al grupo de control, puesto que se excluye a un segmento de la población de los beneficios de la intervención.</a:t>
            </a:r>
          </a:p>
          <a:p>
            <a:pPr eaLnBrk="1" hangingPunct="1">
              <a:spcBef>
                <a:spcPct val="0"/>
              </a:spcBef>
            </a:pPr>
            <a:r>
              <a:rPr lang="es-CO" smtClean="0"/>
              <a:t>2. No se puede saber cual seria el efecto de Canasta, al proveer mercados de valores diferenciados según el genero de los niños. </a:t>
            </a:r>
          </a:p>
          <a:p>
            <a:pPr eaLnBrk="1" hangingPunct="1">
              <a:spcBef>
                <a:spcPct val="0"/>
              </a:spcBef>
            </a:pPr>
            <a:endParaRPr lang="es-ES" smtClean="0"/>
          </a:p>
        </p:txBody>
      </p:sp>
      <p:sp>
        <p:nvSpPr>
          <p:cNvPr id="4506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4E852D6-2FE6-4AF6-9C42-CC832C5A55CC}" type="slidenum">
              <a:rPr lang="es-ES" smtClean="0"/>
              <a:pPr fontAlgn="base">
                <a:spcBef>
                  <a:spcPct val="0"/>
                </a:spcBef>
                <a:spcAft>
                  <a:spcPct val="0"/>
                </a:spcAft>
                <a:defRPr/>
              </a:pPr>
              <a:t>6</a:t>
            </a:fld>
            <a:endParaRPr lang="es-E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608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Limitaciones</a:t>
            </a:r>
          </a:p>
          <a:p>
            <a:pPr eaLnBrk="1" hangingPunct="1">
              <a:spcBef>
                <a:spcPct val="0"/>
              </a:spcBef>
            </a:pPr>
            <a:r>
              <a:rPr lang="es-CO" smtClean="0"/>
              <a:t>1.Costo:</a:t>
            </a:r>
          </a:p>
          <a:p>
            <a:pPr eaLnBrk="1" hangingPunct="1">
              <a:spcBef>
                <a:spcPct val="0"/>
              </a:spcBef>
            </a:pPr>
            <a:r>
              <a:rPr lang="es-CO" smtClean="0"/>
              <a:t>Monetario: Costo de entrenamiento de quien trabaja en el programa ó monitoreo.</a:t>
            </a:r>
          </a:p>
          <a:p>
            <a:pPr eaLnBrk="1" hangingPunct="1">
              <a:spcBef>
                <a:spcPct val="0"/>
              </a:spcBef>
            </a:pPr>
            <a:r>
              <a:rPr lang="es-CO" smtClean="0"/>
              <a:t>Políticos: Hay injusticia fundamental por pertenecer al grupo de control, puesto que se excluye a un segmento de la población de los beneficios de la intervención.</a:t>
            </a:r>
          </a:p>
          <a:p>
            <a:pPr eaLnBrk="1" hangingPunct="1">
              <a:spcBef>
                <a:spcPct val="0"/>
              </a:spcBef>
            </a:pPr>
            <a:r>
              <a:rPr lang="es-CO" smtClean="0"/>
              <a:t>2. No se puede saber cual seria el efecto de Canasta, al proveer mercados de valores diferenciados según el genero de los niños. </a:t>
            </a:r>
          </a:p>
          <a:p>
            <a:pPr eaLnBrk="1" hangingPunct="1">
              <a:spcBef>
                <a:spcPct val="0"/>
              </a:spcBef>
            </a:pPr>
            <a:endParaRPr lang="es-ES" smtClean="0"/>
          </a:p>
        </p:txBody>
      </p:sp>
      <p:sp>
        <p:nvSpPr>
          <p:cNvPr id="4608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CEBFDF0-515C-4914-8B6F-1021CDCAD9B4}" type="slidenum">
              <a:rPr lang="es-ES" smtClean="0"/>
              <a:pPr fontAlgn="base">
                <a:spcBef>
                  <a:spcPct val="0"/>
                </a:spcBef>
                <a:spcAft>
                  <a:spcPct val="0"/>
                </a:spcAft>
                <a:defRPr/>
              </a:pPr>
              <a:t>7</a:t>
            </a:fld>
            <a:endParaRPr lang="es-E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710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710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7BCF7BC-4936-429B-BB21-433DA072334E}" type="slidenum">
              <a:rPr lang="es-ES" smtClean="0"/>
              <a:pPr fontAlgn="base">
                <a:spcBef>
                  <a:spcPct val="0"/>
                </a:spcBef>
                <a:spcAft>
                  <a:spcPct val="0"/>
                </a:spcAft>
                <a:defRPr/>
              </a:pPr>
              <a:t>8</a:t>
            </a:fld>
            <a:endParaRPr lang="es-E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813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813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78B1BA3-A0BD-44AE-86F1-E60F4C27B3CE}" type="slidenum">
              <a:rPr lang="es-ES" smtClean="0"/>
              <a:pPr fontAlgn="base">
                <a:spcBef>
                  <a:spcPct val="0"/>
                </a:spcBef>
                <a:spcAft>
                  <a:spcPct val="0"/>
                </a:spcAft>
                <a:defRPr/>
              </a:pPr>
              <a:t>9</a:t>
            </a:fld>
            <a:endParaRPr lang="es-E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4915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4915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C185200-76B6-4CA6-8FA6-DF5615A5C6AC}" type="slidenum">
              <a:rPr lang="es-ES" smtClean="0"/>
              <a:pPr fontAlgn="base">
                <a:spcBef>
                  <a:spcPct val="0"/>
                </a:spcBef>
                <a:spcAft>
                  <a:spcPct val="0"/>
                </a:spcAft>
                <a:defRPr/>
              </a:pPr>
              <a:t>10</a:t>
            </a:fld>
            <a:endParaRPr lang="es-E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017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ES" smtClean="0"/>
              <a:t>El estimador de ATT es sesgado y sobreestima el efecto del programa con respecto al verdadero impacto.</a:t>
            </a:r>
          </a:p>
          <a:p>
            <a:pPr eaLnBrk="1" hangingPunct="1">
              <a:spcBef>
                <a:spcPct val="0"/>
              </a:spcBef>
            </a:pPr>
            <a:r>
              <a:rPr lang="es-ES" smtClean="0"/>
              <a:t>Hay sesgo de selección pues la columnas 2 y 3 son distintas, es decir, aún en ausencia del programa los individuos tratados son diferentes a los individuos controles. En particular, si el programa no existiera los individuos de tratamiento tendrían más educación que los individuos del control.</a:t>
            </a:r>
            <a:endParaRPr lang="es-AR" smtClean="0"/>
          </a:p>
        </p:txBody>
      </p:sp>
      <p:sp>
        <p:nvSpPr>
          <p:cNvPr id="5018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7F64674-1602-4FD3-B109-07E088D38575}" type="slidenum">
              <a:rPr lang="es-ES" smtClean="0"/>
              <a:pPr fontAlgn="base">
                <a:spcBef>
                  <a:spcPct val="0"/>
                </a:spcBef>
                <a:spcAft>
                  <a:spcPct val="0"/>
                </a:spcAft>
                <a:defRPr/>
              </a:pPr>
              <a:t>11</a:t>
            </a:fld>
            <a:endParaRPr lang="es-E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120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120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965D89A-B29B-4195-81CD-45991922AF48}" type="slidenum">
              <a:rPr lang="es-ES" smtClean="0"/>
              <a:pPr fontAlgn="base">
                <a:spcBef>
                  <a:spcPct val="0"/>
                </a:spcBef>
                <a:spcAft>
                  <a:spcPct val="0"/>
                </a:spcAft>
                <a:defRPr/>
              </a:pPr>
              <a:t>12</a:t>
            </a:fld>
            <a:endParaRPr lang="es-E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222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222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7B3079D-6593-4190-80EF-CAE9F057C5F0}" type="slidenum">
              <a:rPr lang="es-ES" smtClean="0"/>
              <a:pPr fontAlgn="base">
                <a:spcBef>
                  <a:spcPct val="0"/>
                </a:spcBef>
                <a:spcAft>
                  <a:spcPct val="0"/>
                </a:spcAft>
                <a:defRPr/>
              </a:pPr>
              <a:t>13</a:t>
            </a:fld>
            <a:endParaRPr lang="es-E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325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325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1BF15CE-4DDD-41E8-B661-448D2F6EDF96}" type="slidenum">
              <a:rPr lang="es-ES" smtClean="0"/>
              <a:pPr fontAlgn="base">
                <a:spcBef>
                  <a:spcPct val="0"/>
                </a:spcBef>
                <a:spcAft>
                  <a:spcPct val="0"/>
                </a:spcAft>
                <a:defRPr/>
              </a:pPr>
              <a:t>14</a:t>
            </a:fld>
            <a:endParaRPr lang="es-E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427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427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A22210-613B-44BE-AB2B-5DD69F11820C}" type="slidenum">
              <a:rPr lang="es-ES" smtClean="0"/>
              <a:pPr fontAlgn="base">
                <a:spcBef>
                  <a:spcPct val="0"/>
                </a:spcBef>
                <a:spcAft>
                  <a:spcPct val="0"/>
                </a:spcAft>
                <a:defRPr/>
              </a:pPr>
              <a:t>15</a:t>
            </a:fld>
            <a:endParaRPr lang="es-E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529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530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696E364-2672-4603-B9AD-29934FF96D4A}" type="slidenum">
              <a:rPr lang="es-ES" smtClean="0"/>
              <a:pPr fontAlgn="base">
                <a:spcBef>
                  <a:spcPct val="0"/>
                </a:spcBef>
                <a:spcAft>
                  <a:spcPct val="0"/>
                </a:spcAft>
                <a:defRPr/>
              </a:pPr>
              <a:t>16</a:t>
            </a:fld>
            <a:endParaRPr lang="es-E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632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632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06B11BA-0F3C-404F-921E-38943382C3E3}" type="slidenum">
              <a:rPr lang="es-ES" smtClean="0"/>
              <a:pPr fontAlgn="base">
                <a:spcBef>
                  <a:spcPct val="0"/>
                </a:spcBef>
                <a:spcAft>
                  <a:spcPct val="0"/>
                </a:spcAft>
                <a:defRPr/>
              </a:pPr>
              <a:t>17</a:t>
            </a:fld>
            <a:endParaRPr lang="es-E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734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Determina cuanto del cambio en la variable de resultado entre periodos se puede atribuir al programa.</a:t>
            </a:r>
            <a:endParaRPr lang="es-ES" smtClean="0"/>
          </a:p>
        </p:txBody>
      </p:sp>
      <p:sp>
        <p:nvSpPr>
          <p:cNvPr id="5734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6DDA6C6-2A61-48C4-BBC7-1AF4BCF70063}" type="slidenum">
              <a:rPr lang="es-ES" smtClean="0"/>
              <a:pPr fontAlgn="base">
                <a:spcBef>
                  <a:spcPct val="0"/>
                </a:spcBef>
                <a:spcAft>
                  <a:spcPct val="0"/>
                </a:spcAft>
                <a:defRPr/>
              </a:pPr>
              <a:t>18</a:t>
            </a:fld>
            <a:endParaRPr lang="es-E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837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837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8831842-28EC-44CE-81AD-D7D8315A0F94}" type="slidenum">
              <a:rPr lang="es-ES" smtClean="0"/>
              <a:pPr fontAlgn="base">
                <a:spcBef>
                  <a:spcPct val="0"/>
                </a:spcBef>
                <a:spcAft>
                  <a:spcPct val="0"/>
                </a:spcAft>
                <a:defRPr/>
              </a:pPr>
              <a:t>19</a:t>
            </a:fld>
            <a:endParaRPr lang="es-E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5939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5939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A8C5E2E-D892-4757-9AF0-8DB70C90B61B}" type="slidenum">
              <a:rPr lang="es-ES" smtClean="0"/>
              <a:pPr fontAlgn="base">
                <a:spcBef>
                  <a:spcPct val="0"/>
                </a:spcBef>
                <a:spcAft>
                  <a:spcPct val="0"/>
                </a:spcAft>
                <a:defRPr/>
              </a:pPr>
              <a:t>20</a:t>
            </a:fld>
            <a:endParaRPr lang="es-E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041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Por ejemplo, en la evaluación de programas universales donde no es posible tener un grupo de control, este procedimiento es la única alternativa. Se requieren más de dos observaciones porque de lo contrario </a:t>
            </a:r>
            <a:r>
              <a:rPr lang="es-CO" i="1" smtClean="0"/>
              <a:t>t</a:t>
            </a:r>
            <a:r>
              <a:rPr lang="es-CO" i="1" baseline="-25000" smtClean="0"/>
              <a:t>i</a:t>
            </a:r>
            <a:r>
              <a:rPr lang="es-CO" smtClean="0"/>
              <a:t> y </a:t>
            </a:r>
            <a:r>
              <a:rPr lang="es-CO" i="1" smtClean="0"/>
              <a:t>T</a:t>
            </a:r>
            <a:r>
              <a:rPr lang="es-CO" i="1" baseline="-25000" smtClean="0"/>
              <a:t>i</a:t>
            </a:r>
            <a:r>
              <a:rPr lang="es-CO" smtClean="0"/>
              <a:t> coincidirían exactamente.</a:t>
            </a:r>
            <a:endParaRPr lang="es-ES" smtClean="0"/>
          </a:p>
        </p:txBody>
      </p:sp>
      <p:sp>
        <p:nvSpPr>
          <p:cNvPr id="6042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41462D-F9BD-47FD-9B21-A2FB4D20249A}" type="slidenum">
              <a:rPr lang="es-ES" smtClean="0"/>
              <a:pPr fontAlgn="base">
                <a:spcBef>
                  <a:spcPct val="0"/>
                </a:spcBef>
                <a:spcAft>
                  <a:spcPct val="0"/>
                </a:spcAft>
                <a:defRPr/>
              </a:pPr>
              <a:t>21</a:t>
            </a:fld>
            <a:endParaRPr lang="es-E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144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ES" smtClean="0"/>
              <a:t>Por lo tanto el estimador de pre-post Beta_2 mide en el grupo de control el aumento adicional (por encima del crecimiento normal) en la talla de los pequeños.</a:t>
            </a:r>
            <a:endParaRPr lang="es-AR" smtClean="0"/>
          </a:p>
        </p:txBody>
      </p:sp>
      <p:sp>
        <p:nvSpPr>
          <p:cNvPr id="6144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E0F74AF-1BB3-44FB-8424-363BDC05E1E0}" type="slidenum">
              <a:rPr lang="es-ES" smtClean="0"/>
              <a:pPr fontAlgn="base">
                <a:spcBef>
                  <a:spcPct val="0"/>
                </a:spcBef>
                <a:spcAft>
                  <a:spcPct val="0"/>
                </a:spcAft>
                <a:defRPr/>
              </a:pPr>
              <a:t>22</a:t>
            </a:fld>
            <a:endParaRPr lang="es-E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246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Efecto Experimental: Los individuos actúan de manera diferente al participar en el experimento.</a:t>
            </a:r>
          </a:p>
          <a:p>
            <a:pPr eaLnBrk="1" hangingPunct="1">
              <a:spcBef>
                <a:spcPct val="0"/>
              </a:spcBef>
            </a:pPr>
            <a:r>
              <a:rPr lang="es-CO" smtClean="0"/>
              <a:t>Mala Aleatorización: No cumplir con los protocolos de tratamiento.</a:t>
            </a:r>
          </a:p>
          <a:p>
            <a:pPr eaLnBrk="1" hangingPunct="1">
              <a:spcBef>
                <a:spcPct val="0"/>
              </a:spcBef>
            </a:pPr>
            <a:r>
              <a:rPr lang="es-CO" smtClean="0"/>
              <a:t>Perdida de muestra: Ocurre cuando las personas que se les asigna el tratamiento deciden no participar.</a:t>
            </a:r>
          </a:p>
          <a:p>
            <a:pPr eaLnBrk="1" hangingPunct="1">
              <a:spcBef>
                <a:spcPct val="0"/>
              </a:spcBef>
            </a:pPr>
            <a:endParaRPr lang="es-CO" smtClean="0"/>
          </a:p>
        </p:txBody>
      </p:sp>
      <p:sp>
        <p:nvSpPr>
          <p:cNvPr id="6246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5D1A8C3-8B45-4B97-9E4E-09442147199C}" type="slidenum">
              <a:rPr lang="es-ES" smtClean="0"/>
              <a:pPr fontAlgn="base">
                <a:spcBef>
                  <a:spcPct val="0"/>
                </a:spcBef>
                <a:spcAft>
                  <a:spcPct val="0"/>
                </a:spcAft>
                <a:defRPr/>
              </a:pPr>
              <a:t>23</a:t>
            </a:fld>
            <a:endParaRPr lang="es-E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349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Efectos de Equilibrio General: Al ampliar una intervención pequeña y focalizada se puede cambiar el entorno económico de manera que no se puede generalizar los resultados.</a:t>
            </a:r>
            <a:endParaRPr lang="es-ES" smtClean="0"/>
          </a:p>
          <a:p>
            <a:pPr eaLnBrk="1" hangingPunct="1">
              <a:spcBef>
                <a:spcPct val="0"/>
              </a:spcBef>
            </a:pPr>
            <a:r>
              <a:rPr lang="es-CO" smtClean="0"/>
              <a:t>Autoselección: Los individuos pueden decidir si participan o no, posterior al proceso de aleatorización.</a:t>
            </a:r>
            <a:endParaRPr lang="es-ES" smtClean="0"/>
          </a:p>
        </p:txBody>
      </p:sp>
      <p:sp>
        <p:nvSpPr>
          <p:cNvPr id="6349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0FDDCCA-CF3B-4661-B325-DF4C08CBE44B}" type="slidenum">
              <a:rPr lang="es-ES" smtClean="0"/>
              <a:pPr fontAlgn="base">
                <a:spcBef>
                  <a:spcPct val="0"/>
                </a:spcBef>
                <a:spcAft>
                  <a:spcPct val="0"/>
                </a:spcAft>
                <a:defRPr/>
              </a:pPr>
              <a:t>24</a:t>
            </a:fld>
            <a:endParaRPr lang="es-E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451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CO" smtClean="0"/>
              <a:t>Se prueba con un estadístico F.</a:t>
            </a:r>
            <a:endParaRPr lang="es-ES" smtClean="0"/>
          </a:p>
        </p:txBody>
      </p:sp>
      <p:sp>
        <p:nvSpPr>
          <p:cNvPr id="6451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D482D46-575C-41A5-9AEA-467C56A51A5E}" type="slidenum">
              <a:rPr lang="es-ES" smtClean="0"/>
              <a:pPr fontAlgn="base">
                <a:spcBef>
                  <a:spcPct val="0"/>
                </a:spcBef>
                <a:spcAft>
                  <a:spcPct val="0"/>
                </a:spcAft>
                <a:defRPr/>
              </a:pPr>
              <a:t>25</a:t>
            </a:fld>
            <a:endParaRPr lang="es-E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553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6554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F914767-D204-4B20-8821-793A0587E080}" type="slidenum">
              <a:rPr lang="es-ES" smtClean="0"/>
              <a:pPr fontAlgn="base">
                <a:spcBef>
                  <a:spcPct val="0"/>
                </a:spcBef>
                <a:spcAft>
                  <a:spcPct val="0"/>
                </a:spcAft>
                <a:defRPr/>
              </a:pPr>
              <a:t>26</a:t>
            </a:fld>
            <a:endParaRPr lang="es-E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656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6656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00B4FDC-8FC4-4706-BA74-31CC568ADD23}" type="slidenum">
              <a:rPr lang="es-ES" smtClean="0"/>
              <a:pPr fontAlgn="base">
                <a:spcBef>
                  <a:spcPct val="0"/>
                </a:spcBef>
                <a:spcAft>
                  <a:spcPct val="0"/>
                </a:spcAft>
                <a:defRPr/>
              </a:pPr>
              <a:t>27</a:t>
            </a:fld>
            <a:endParaRPr lang="es-E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758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6758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5150D11-5EAA-40EE-B624-2C37B87E49E3}" type="slidenum">
              <a:rPr lang="es-ES" smtClean="0"/>
              <a:pPr fontAlgn="base">
                <a:spcBef>
                  <a:spcPct val="0"/>
                </a:spcBef>
                <a:spcAft>
                  <a:spcPct val="0"/>
                </a:spcAft>
                <a:defRPr/>
              </a:pPr>
              <a:t>28</a:t>
            </a:fld>
            <a:endParaRPr lang="es-E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861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6861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69AFF93-B4F8-42A5-97B3-678D830836FF}" type="slidenum">
              <a:rPr lang="es-ES" smtClean="0"/>
              <a:pPr fontAlgn="base">
                <a:spcBef>
                  <a:spcPct val="0"/>
                </a:spcBef>
                <a:spcAft>
                  <a:spcPct val="0"/>
                </a:spcAft>
                <a:defRPr/>
              </a:pPr>
              <a:t>29</a:t>
            </a:fld>
            <a:endParaRPr lang="es-E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6963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6963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6B8EA9-0E37-4890-A33A-42F563B82FBD}" type="slidenum">
              <a:rPr lang="es-ES" smtClean="0"/>
              <a:pPr fontAlgn="base">
                <a:spcBef>
                  <a:spcPct val="0"/>
                </a:spcBef>
                <a:spcAft>
                  <a:spcPct val="0"/>
                </a:spcAft>
                <a:defRPr/>
              </a:pPr>
              <a:t>30</a:t>
            </a:fld>
            <a:endParaRPr lang="es-E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065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7066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0F8BE71-2A5E-4417-B88D-29955197AFBC}" type="slidenum">
              <a:rPr lang="es-ES" smtClean="0"/>
              <a:pPr fontAlgn="base">
                <a:spcBef>
                  <a:spcPct val="0"/>
                </a:spcBef>
                <a:spcAft>
                  <a:spcPct val="0"/>
                </a:spcAft>
                <a:defRPr/>
              </a:pPr>
              <a:t>31</a:t>
            </a:fld>
            <a:endParaRPr lang="es-E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1683"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s-ES" smtClean="0"/>
              <a:t>La regresión 2 incrementa la eficiencia de la regresión (Incremento de R^2 y caída en los errores estándar).</a:t>
            </a:r>
          </a:p>
        </p:txBody>
      </p:sp>
      <p:sp>
        <p:nvSpPr>
          <p:cNvPr id="71684"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1A3082B-9D1E-470C-A868-B9387D2407F2}" type="slidenum">
              <a:rPr lang="es-ES" smtClean="0"/>
              <a:pPr fontAlgn="base">
                <a:spcBef>
                  <a:spcPct val="0"/>
                </a:spcBef>
                <a:spcAft>
                  <a:spcPct val="0"/>
                </a:spcAft>
                <a:defRPr/>
              </a:pPr>
              <a:t>32</a:t>
            </a:fld>
            <a:endParaRPr lang="es-E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2707"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72708"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13B79FD-3A64-4B35-9846-AF5B46998CD9}" type="slidenum">
              <a:rPr lang="es-ES" smtClean="0"/>
              <a:pPr fontAlgn="base">
                <a:spcBef>
                  <a:spcPct val="0"/>
                </a:spcBef>
                <a:spcAft>
                  <a:spcPct val="0"/>
                </a:spcAft>
                <a:defRPr/>
              </a:pPr>
              <a:t>33</a:t>
            </a:fld>
            <a:endParaRPr lang="es-E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3731"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73732"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8908918-A02B-4667-A67D-731A9B03170B}" type="slidenum">
              <a:rPr lang="es-ES" smtClean="0"/>
              <a:pPr fontAlgn="base">
                <a:spcBef>
                  <a:spcPct val="0"/>
                </a:spcBef>
                <a:spcAft>
                  <a:spcPct val="0"/>
                </a:spcAft>
                <a:defRPr/>
              </a:pPr>
              <a:t>34</a:t>
            </a:fld>
            <a:endParaRPr lang="es-E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4755"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74756"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C04686B-CC47-4290-B3FC-CE5C1F4B2DB8}" type="slidenum">
              <a:rPr lang="es-ES" smtClean="0"/>
              <a:pPr fontAlgn="base">
                <a:spcBef>
                  <a:spcPct val="0"/>
                </a:spcBef>
                <a:spcAft>
                  <a:spcPct val="0"/>
                </a:spcAft>
                <a:defRPr/>
              </a:pPr>
              <a:t>35</a:t>
            </a:fld>
            <a:endParaRPr lang="es-E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1 Marcador de imagen de diapositiva"/>
          <p:cNvSpPr>
            <a:spLocks noGrp="1" noRot="1" noChangeAspect="1" noTextEdit="1"/>
          </p:cNvSpPr>
          <p:nvPr>
            <p:ph type="sldImg"/>
          </p:nvPr>
        </p:nvSpPr>
        <p:spPr bwMode="auto">
          <a:noFill/>
          <a:ln>
            <a:solidFill>
              <a:srgbClr val="000000"/>
            </a:solidFill>
            <a:miter lim="800000"/>
            <a:headEnd/>
            <a:tailEnd/>
          </a:ln>
        </p:spPr>
      </p:sp>
      <p:sp>
        <p:nvSpPr>
          <p:cNvPr id="75779" name="2 Marcador de notas"/>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s-CO" smtClean="0"/>
          </a:p>
        </p:txBody>
      </p:sp>
      <p:sp>
        <p:nvSpPr>
          <p:cNvPr id="75780" name="3 Marcador de número de diapositiva"/>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E343DC0-259B-4427-9EAB-8B943E71E515}" type="slidenum">
              <a:rPr lang="es-ES" smtClean="0"/>
              <a:pPr fontAlgn="base">
                <a:spcBef>
                  <a:spcPct val="0"/>
                </a:spcBef>
                <a:spcAft>
                  <a:spcPct val="0"/>
                </a:spcAft>
                <a:defRPr/>
              </a:pPr>
              <a:t>36</a:t>
            </a:fld>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lvl1pPr>
              <a:defRPr/>
            </a:lvl1pPr>
          </a:lstStyle>
          <a:p>
            <a:pPr>
              <a:defRPr/>
            </a:pPr>
            <a:fld id="{447E6FD6-58F4-4E98-8064-CC4007EEEEA4}" type="datetimeFigureOut">
              <a:rPr lang="es-ES"/>
              <a:pPr>
                <a:defRPr/>
              </a:pPr>
              <a:t>10/04/2011</a:t>
            </a:fld>
            <a:endParaRPr lang="es-ES" dirty="0"/>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pPr>
              <a:defRPr/>
            </a:pPr>
            <a:fld id="{46519D31-DCA6-412C-BEFE-FDD492751715}" type="slidenum">
              <a:rPr lang="es-ES"/>
              <a:pPr>
                <a:defRPr/>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pPr>
              <a:defRPr/>
            </a:pPr>
            <a:fld id="{230FF45D-ECD7-4947-AA86-5DC746C31CF8}" type="datetimeFigureOut">
              <a:rPr lang="es-ES"/>
              <a:pPr>
                <a:defRPr/>
              </a:pPr>
              <a:t>10/04/2011</a:t>
            </a:fld>
            <a:endParaRPr lang="es-ES" dirty="0"/>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pPr>
              <a:defRPr/>
            </a:pPr>
            <a:fld id="{BE702673-9ACE-4C0F-A046-04E8FAAB64C2}" type="slidenum">
              <a:rPr lang="es-ES"/>
              <a:pPr>
                <a:defRPr/>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0071264D-B626-4F3F-9066-05A25A9133FC}" type="datetimeFigureOut">
              <a:rPr lang="es-ES"/>
              <a:pPr>
                <a:defRPr/>
              </a:pPr>
              <a:t>10/04/2011</a:t>
            </a:fld>
            <a:endParaRPr lang="es-ES" dirty="0"/>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pPr>
              <a:defRPr/>
            </a:pPr>
            <a:fld id="{9808BAA7-1554-49E6-AE1A-0201895BA2D4}" type="slidenum">
              <a:rPr lang="es-ES"/>
              <a:pPr>
                <a:defRPr/>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3 Marcador de fecha"/>
          <p:cNvSpPr>
            <a:spLocks noGrp="1"/>
          </p:cNvSpPr>
          <p:nvPr>
            <p:ph type="dt" sz="half" idx="10"/>
          </p:nvPr>
        </p:nvSpPr>
        <p:spPr/>
        <p:txBody>
          <a:bodyPr/>
          <a:lstStyle>
            <a:lvl1pPr>
              <a:defRPr/>
            </a:lvl1pPr>
          </a:lstStyle>
          <a:p>
            <a:pPr>
              <a:defRPr/>
            </a:pPr>
            <a:fld id="{24E365F4-386E-41CF-A453-517BCA8E1B10}" type="datetimeFigureOut">
              <a:rPr lang="es-ES"/>
              <a:pPr>
                <a:defRPr/>
              </a:pPr>
              <a:t>10/04/2011</a:t>
            </a:fld>
            <a:endParaRPr lang="es-ES" dirty="0"/>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pPr>
              <a:defRPr/>
            </a:pPr>
            <a:fld id="{E3D44D16-2780-418F-82BD-A2C0D84C58E6}" type="slidenum">
              <a:rPr lang="es-ES"/>
              <a:pPr>
                <a:defRPr/>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3 Marcador de fecha"/>
          <p:cNvSpPr>
            <a:spLocks noGrp="1"/>
          </p:cNvSpPr>
          <p:nvPr>
            <p:ph type="dt" sz="half" idx="10"/>
          </p:nvPr>
        </p:nvSpPr>
        <p:spPr/>
        <p:txBody>
          <a:bodyPr/>
          <a:lstStyle>
            <a:lvl1pPr>
              <a:defRPr/>
            </a:lvl1pPr>
          </a:lstStyle>
          <a:p>
            <a:pPr>
              <a:defRPr/>
            </a:pPr>
            <a:fld id="{E81BD3D9-ADF3-4D39-907D-3C9936B4471B}" type="datetimeFigureOut">
              <a:rPr lang="es-ES"/>
              <a:pPr>
                <a:defRPr/>
              </a:pPr>
              <a:t>10/04/2011</a:t>
            </a:fld>
            <a:endParaRPr lang="es-ES" dirty="0"/>
          </a:p>
        </p:txBody>
      </p:sp>
      <p:sp>
        <p:nvSpPr>
          <p:cNvPr id="8" name="4 Marcador de pie de página"/>
          <p:cNvSpPr>
            <a:spLocks noGrp="1"/>
          </p:cNvSpPr>
          <p:nvPr>
            <p:ph type="ftr" sz="quarter" idx="11"/>
          </p:nvPr>
        </p:nvSpPr>
        <p:spPr/>
        <p:txBody>
          <a:bodyPr/>
          <a:lstStyle>
            <a:lvl1pPr>
              <a:defRPr/>
            </a:lvl1pPr>
          </a:lstStyle>
          <a:p>
            <a:pPr>
              <a:defRPr/>
            </a:pPr>
            <a:endParaRPr lang="es-ES"/>
          </a:p>
        </p:txBody>
      </p:sp>
      <p:sp>
        <p:nvSpPr>
          <p:cNvPr id="9" name="5 Marcador de número de diapositiva"/>
          <p:cNvSpPr>
            <a:spLocks noGrp="1"/>
          </p:cNvSpPr>
          <p:nvPr>
            <p:ph type="sldNum" sz="quarter" idx="12"/>
          </p:nvPr>
        </p:nvSpPr>
        <p:spPr/>
        <p:txBody>
          <a:bodyPr/>
          <a:lstStyle>
            <a:lvl1pPr>
              <a:defRPr/>
            </a:lvl1pPr>
          </a:lstStyle>
          <a:p>
            <a:pPr>
              <a:defRPr/>
            </a:pPr>
            <a:fld id="{CC909C49-60AA-4CB4-B0F8-59262AE502C0}" type="slidenum">
              <a:rPr lang="es-ES"/>
              <a:pPr>
                <a:defRPr/>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3 Marcador de fecha"/>
          <p:cNvSpPr>
            <a:spLocks noGrp="1"/>
          </p:cNvSpPr>
          <p:nvPr>
            <p:ph type="dt" sz="half" idx="10"/>
          </p:nvPr>
        </p:nvSpPr>
        <p:spPr/>
        <p:txBody>
          <a:bodyPr/>
          <a:lstStyle>
            <a:lvl1pPr>
              <a:defRPr/>
            </a:lvl1pPr>
          </a:lstStyle>
          <a:p>
            <a:pPr>
              <a:defRPr/>
            </a:pPr>
            <a:fld id="{24255A62-0CEA-4CB1-BB58-D05DAF986F0A}" type="datetimeFigureOut">
              <a:rPr lang="es-ES"/>
              <a:pPr>
                <a:defRPr/>
              </a:pPr>
              <a:t>10/04/2011</a:t>
            </a:fld>
            <a:endParaRPr lang="es-ES" dirty="0"/>
          </a:p>
        </p:txBody>
      </p:sp>
      <p:sp>
        <p:nvSpPr>
          <p:cNvPr id="4" name="4 Marcador de pie de página"/>
          <p:cNvSpPr>
            <a:spLocks noGrp="1"/>
          </p:cNvSpPr>
          <p:nvPr>
            <p:ph type="ftr" sz="quarter" idx="11"/>
          </p:nvPr>
        </p:nvSpPr>
        <p:spPr/>
        <p:txBody>
          <a:bodyPr/>
          <a:lstStyle>
            <a:lvl1pPr>
              <a:defRPr/>
            </a:lvl1pPr>
          </a:lstStyle>
          <a:p>
            <a:pPr>
              <a:defRPr/>
            </a:pPr>
            <a:endParaRPr lang="es-ES"/>
          </a:p>
        </p:txBody>
      </p:sp>
      <p:sp>
        <p:nvSpPr>
          <p:cNvPr id="5" name="5 Marcador de número de diapositiva"/>
          <p:cNvSpPr>
            <a:spLocks noGrp="1"/>
          </p:cNvSpPr>
          <p:nvPr>
            <p:ph type="sldNum" sz="quarter" idx="12"/>
          </p:nvPr>
        </p:nvSpPr>
        <p:spPr/>
        <p:txBody>
          <a:bodyPr/>
          <a:lstStyle>
            <a:lvl1pPr>
              <a:defRPr/>
            </a:lvl1pPr>
          </a:lstStyle>
          <a:p>
            <a:pPr>
              <a:defRPr/>
            </a:pPr>
            <a:fld id="{D6CADE60-72CC-4F39-9070-7A74D4381A06}" type="slidenum">
              <a:rPr lang="es-ES"/>
              <a:pPr>
                <a:defRPr/>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2C019D9C-83D6-42A4-BCD8-AB9CAB9F60ED}" type="datetimeFigureOut">
              <a:rPr lang="es-ES"/>
              <a:pPr>
                <a:defRPr/>
              </a:pPr>
              <a:t>10/04/2011</a:t>
            </a:fld>
            <a:endParaRPr lang="es-ES" dirty="0"/>
          </a:p>
        </p:txBody>
      </p:sp>
      <p:sp>
        <p:nvSpPr>
          <p:cNvPr id="3" name="4 Marcador de pie de página"/>
          <p:cNvSpPr>
            <a:spLocks noGrp="1"/>
          </p:cNvSpPr>
          <p:nvPr>
            <p:ph type="ftr" sz="quarter" idx="11"/>
          </p:nvPr>
        </p:nvSpPr>
        <p:spPr/>
        <p:txBody>
          <a:bodyPr/>
          <a:lstStyle>
            <a:lvl1pPr>
              <a:defRPr/>
            </a:lvl1pPr>
          </a:lstStyle>
          <a:p>
            <a:pPr>
              <a:defRPr/>
            </a:pPr>
            <a:endParaRPr lang="es-ES"/>
          </a:p>
        </p:txBody>
      </p:sp>
      <p:sp>
        <p:nvSpPr>
          <p:cNvPr id="4" name="5 Marcador de número de diapositiva"/>
          <p:cNvSpPr>
            <a:spLocks noGrp="1"/>
          </p:cNvSpPr>
          <p:nvPr>
            <p:ph type="sldNum" sz="quarter" idx="12"/>
          </p:nvPr>
        </p:nvSpPr>
        <p:spPr/>
        <p:txBody>
          <a:bodyPr/>
          <a:lstStyle>
            <a:lvl1pPr>
              <a:defRPr/>
            </a:lvl1pPr>
          </a:lstStyle>
          <a:p>
            <a:pPr>
              <a:defRPr/>
            </a:pPr>
            <a:fld id="{94CA2C7A-C5E0-46B1-9EA7-23E41AD53AA1}" type="slidenum">
              <a:rPr lang="es-ES"/>
              <a:pPr>
                <a:defRPr/>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B0DB5D45-3639-48E3-9B4F-0B4D83581D81}" type="datetimeFigureOut">
              <a:rPr lang="es-ES"/>
              <a:pPr>
                <a:defRPr/>
              </a:pPr>
              <a:t>10/04/2011</a:t>
            </a:fld>
            <a:endParaRPr lang="es-ES" dirty="0"/>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pPr>
              <a:defRPr/>
            </a:pPr>
            <a:fld id="{4D83F5F8-4485-4DE8-995B-33DD788992ED}" type="slidenum">
              <a:rPr lang="es-ES"/>
              <a:pPr>
                <a:defRPr/>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0B6BEE13-694C-49E0-BEFA-158DF2F9DCF8}" type="datetimeFigureOut">
              <a:rPr lang="es-ES"/>
              <a:pPr>
                <a:defRPr/>
              </a:pPr>
              <a:t>10/04/2011</a:t>
            </a:fld>
            <a:endParaRPr lang="es-ES" dirty="0"/>
          </a:p>
        </p:txBody>
      </p:sp>
      <p:sp>
        <p:nvSpPr>
          <p:cNvPr id="6" name="4 Marcador de pie de página"/>
          <p:cNvSpPr>
            <a:spLocks noGrp="1"/>
          </p:cNvSpPr>
          <p:nvPr>
            <p:ph type="ftr" sz="quarter" idx="11"/>
          </p:nvPr>
        </p:nvSpPr>
        <p:spPr/>
        <p:txBody>
          <a:bodyPr/>
          <a:lstStyle>
            <a:lvl1pPr>
              <a:defRPr/>
            </a:lvl1pPr>
          </a:lstStyle>
          <a:p>
            <a:pPr>
              <a:defRPr/>
            </a:pPr>
            <a:endParaRPr lang="es-ES"/>
          </a:p>
        </p:txBody>
      </p:sp>
      <p:sp>
        <p:nvSpPr>
          <p:cNvPr id="7" name="5 Marcador de número de diapositiva"/>
          <p:cNvSpPr>
            <a:spLocks noGrp="1"/>
          </p:cNvSpPr>
          <p:nvPr>
            <p:ph type="sldNum" sz="quarter" idx="12"/>
          </p:nvPr>
        </p:nvSpPr>
        <p:spPr/>
        <p:txBody>
          <a:bodyPr/>
          <a:lstStyle>
            <a:lvl1pPr>
              <a:defRPr/>
            </a:lvl1pPr>
          </a:lstStyle>
          <a:p>
            <a:pPr>
              <a:defRPr/>
            </a:pPr>
            <a:fld id="{8378FD68-43A8-4902-908C-17CC3EB89917}" type="slidenum">
              <a:rPr lang="es-ES"/>
              <a:pPr>
                <a:defRPr/>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pPr>
              <a:defRPr/>
            </a:pPr>
            <a:fld id="{B84EEFEF-FC97-4E0E-9694-C8AEA04C72E9}" type="datetimeFigureOut">
              <a:rPr lang="es-ES"/>
              <a:pPr>
                <a:defRPr/>
              </a:pPr>
              <a:t>10/04/2011</a:t>
            </a:fld>
            <a:endParaRPr lang="es-ES" dirty="0"/>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pPr>
              <a:defRPr/>
            </a:pPr>
            <a:fld id="{80CFDB6D-B907-4177-AA90-B1A9CB9C2808}" type="slidenum">
              <a:rPr lang="es-ES"/>
              <a:pPr>
                <a:defRPr/>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pPr>
              <a:defRPr/>
            </a:pPr>
            <a:fld id="{7C92628C-02C6-4311-83AF-5347E195017B}" type="datetimeFigureOut">
              <a:rPr lang="es-ES"/>
              <a:pPr>
                <a:defRPr/>
              </a:pPr>
              <a:t>10/04/2011</a:t>
            </a:fld>
            <a:endParaRPr lang="es-ES" dirty="0"/>
          </a:p>
        </p:txBody>
      </p:sp>
      <p:sp>
        <p:nvSpPr>
          <p:cNvPr id="5" name="4 Marcador de pie de página"/>
          <p:cNvSpPr>
            <a:spLocks noGrp="1"/>
          </p:cNvSpPr>
          <p:nvPr>
            <p:ph type="ftr" sz="quarter" idx="11"/>
          </p:nvPr>
        </p:nvSpPr>
        <p:spPr/>
        <p:txBody>
          <a:bodyPr/>
          <a:lstStyle>
            <a:lvl1pPr>
              <a:defRPr/>
            </a:lvl1pPr>
          </a:lstStyle>
          <a:p>
            <a:pPr>
              <a:defRPr/>
            </a:pPr>
            <a:endParaRPr lang="es-ES"/>
          </a:p>
        </p:txBody>
      </p:sp>
      <p:sp>
        <p:nvSpPr>
          <p:cNvPr id="6" name="5 Marcador de número de diapositiva"/>
          <p:cNvSpPr>
            <a:spLocks noGrp="1"/>
          </p:cNvSpPr>
          <p:nvPr>
            <p:ph type="sldNum" sz="quarter" idx="12"/>
          </p:nvPr>
        </p:nvSpPr>
        <p:spPr/>
        <p:txBody>
          <a:bodyPr/>
          <a:lstStyle>
            <a:lvl1pPr>
              <a:defRPr/>
            </a:lvl1pPr>
          </a:lstStyle>
          <a:p>
            <a:pPr>
              <a:defRPr/>
            </a:pPr>
            <a:fld id="{EB34B397-EAFF-4FC1-8738-0C9021166BEA}" type="slidenum">
              <a:rPr lang="es-ES"/>
              <a:pPr>
                <a:defRPr/>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554"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p>
        </p:txBody>
      </p:sp>
      <p:sp>
        <p:nvSpPr>
          <p:cNvPr id="23555"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D80390B-D160-4978-B9CE-8B116F57AAF8}" type="datetimeFigureOut">
              <a:rPr lang="es-ES"/>
              <a:pPr>
                <a:defRPr/>
              </a:pPr>
              <a:t>10/04/2011</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FD46BE1-C55A-4B68-ACDF-1F95E04DDAAE}" type="slidenum">
              <a:rPr lang="es-ES"/>
              <a:pPr>
                <a:defRPr/>
              </a:pPr>
              <a:t>‹Nº›</a:t>
            </a:fld>
            <a:endParaRPr lang="es-E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2.xml"/><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3.xml"/><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notesSlide" Target="../notesSlides/notesSlide10.xml"/><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7.bin"/><Relationship Id="rId11" Type="http://schemas.openxmlformats.org/officeDocument/2006/relationships/oleObject" Target="../embeddings/oleObject22.bin"/><Relationship Id="rId5" Type="http://schemas.openxmlformats.org/officeDocument/2006/relationships/oleObject" Target="../embeddings/oleObject16.bin"/><Relationship Id="rId10" Type="http://schemas.openxmlformats.org/officeDocument/2006/relationships/oleObject" Target="../embeddings/oleObject21.bin"/><Relationship Id="rId4" Type="http://schemas.openxmlformats.org/officeDocument/2006/relationships/image" Target="../media/image1.png"/><Relationship Id="rId9" Type="http://schemas.openxmlformats.org/officeDocument/2006/relationships/oleObject" Target="../embeddings/oleObject20.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11.xml"/><Relationship Id="rId7" Type="http://schemas.openxmlformats.org/officeDocument/2006/relationships/oleObject" Target="../embeddings/oleObject25.bin"/><Relationship Id="rId12"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4.bin"/><Relationship Id="rId11" Type="http://schemas.openxmlformats.org/officeDocument/2006/relationships/oleObject" Target="../embeddings/oleObject29.bin"/><Relationship Id="rId5" Type="http://schemas.openxmlformats.org/officeDocument/2006/relationships/oleObject" Target="../embeddings/oleObject23.bin"/><Relationship Id="rId10" Type="http://schemas.openxmlformats.org/officeDocument/2006/relationships/oleObject" Target="../embeddings/oleObject28.bin"/><Relationship Id="rId4" Type="http://schemas.openxmlformats.org/officeDocument/2006/relationships/image" Target="../media/image1.png"/><Relationship Id="rId9"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31.bin"/><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oleObject" Target="../embeddings/oleObject32.bin"/><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oleObject" Target="../embeddings/oleObject33.bin"/><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oleObject" Target="../embeddings/oleObject35.bin"/><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9.bin"/><Relationship Id="rId5" Type="http://schemas.openxmlformats.org/officeDocument/2006/relationships/oleObject" Target="../embeddings/oleObject38.bin"/><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oleObject" Target="../embeddings/oleObject42.bin"/><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44.bin"/><Relationship Id="rId5" Type="http://schemas.openxmlformats.org/officeDocument/2006/relationships/oleObject" Target="../embeddings/oleObject43.bin"/><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notesSlide" Target="../notesSlides/notesSlide25.xml"/><Relationship Id="rId7"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oleObject" Target="../embeddings/oleObject50.bin"/><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oleObject" Target="../embeddings/oleObject51.bin"/><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30.xml"/><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34.xml"/><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5.bin"/><Relationship Id="rId5" Type="http://schemas.openxmlformats.org/officeDocument/2006/relationships/oleObject" Target="../embeddings/oleObject54.bin"/><Relationship Id="rId10" Type="http://schemas.openxmlformats.org/officeDocument/2006/relationships/oleObject" Target="../embeddings/oleObject59.bin"/><Relationship Id="rId4" Type="http://schemas.openxmlformats.org/officeDocument/2006/relationships/image" Target="../media/image1.png"/><Relationship Id="rId9" Type="http://schemas.openxmlformats.org/officeDocument/2006/relationships/oleObject" Target="../embeddings/oleObject58.bin"/></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p:cNvSpPr>
            <a:spLocks noGrp="1"/>
          </p:cNvSpPr>
          <p:nvPr>
            <p:ph type="ctrTitle"/>
          </p:nvPr>
        </p:nvSpPr>
        <p:spPr/>
        <p:txBody>
          <a:bodyPr/>
          <a:lstStyle/>
          <a:p>
            <a:pPr eaLnBrk="1" hangingPunct="1"/>
            <a:r>
              <a:rPr lang="es-CO" smtClean="0"/>
              <a:t>Capítulo 4</a:t>
            </a:r>
            <a:endParaRPr lang="es-ES" smtClean="0"/>
          </a:p>
        </p:txBody>
      </p:sp>
      <p:sp>
        <p:nvSpPr>
          <p:cNvPr id="3" name="2 Subtítulo"/>
          <p:cNvSpPr>
            <a:spLocks noGrp="1"/>
          </p:cNvSpPr>
          <p:nvPr>
            <p:ph type="subTitle" idx="1"/>
          </p:nvPr>
        </p:nvSpPr>
        <p:spPr/>
        <p:txBody>
          <a:bodyPr rtlCol="0">
            <a:normAutofit/>
          </a:bodyPr>
          <a:lstStyle/>
          <a:p>
            <a:pPr eaLnBrk="1" fontAlgn="auto" hangingPunct="1">
              <a:spcAft>
                <a:spcPts val="0"/>
              </a:spcAft>
              <a:buFont typeface="Arial" pitchFamily="34" charset="0"/>
              <a:buNone/>
              <a:defRPr/>
            </a:pPr>
            <a:r>
              <a:rPr lang="es-CO" dirty="0" smtClean="0"/>
              <a:t>Experimentos aleatorios</a:t>
            </a:r>
            <a:endParaRPr lang="es-ES" dirty="0"/>
          </a:p>
        </p:txBody>
      </p:sp>
      <p:pic>
        <p:nvPicPr>
          <p:cNvPr id="24580"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2 Marcador de contenido"/>
          <p:cNvSpPr>
            <a:spLocks noGrp="1"/>
          </p:cNvSpPr>
          <p:nvPr>
            <p:ph idx="1"/>
          </p:nvPr>
        </p:nvSpPr>
        <p:spPr>
          <a:xfrm>
            <a:off x="357188" y="1500188"/>
            <a:ext cx="8329612" cy="4678362"/>
          </a:xfrm>
        </p:spPr>
        <p:txBody>
          <a:bodyPr/>
          <a:lstStyle/>
          <a:p>
            <a:pPr eaLnBrk="1" hangingPunct="1">
              <a:spcBef>
                <a:spcPts val="600"/>
              </a:spcBef>
              <a:buFont typeface="Arial" charset="0"/>
              <a:buNone/>
            </a:pPr>
            <a:endParaRPr lang="es-CO" smtClean="0"/>
          </a:p>
          <a:p>
            <a:pPr eaLnBrk="1" hangingPunct="1">
              <a:spcBef>
                <a:spcPts val="600"/>
              </a:spcBef>
            </a:pPr>
            <a:endParaRPr lang="es-CO" smtClean="0"/>
          </a:p>
          <a:p>
            <a:pPr eaLnBrk="1" hangingPunct="1">
              <a:spcBef>
                <a:spcPts val="600"/>
              </a:spcBef>
            </a:pPr>
            <a:endParaRPr lang="es-CO" smtClean="0"/>
          </a:p>
          <a:p>
            <a:pPr eaLnBrk="1" hangingPunct="1">
              <a:spcBef>
                <a:spcPts val="600"/>
              </a:spcBef>
            </a:pPr>
            <a:endParaRPr lang="es-CO" smtClean="0"/>
          </a:p>
          <a:p>
            <a:pPr eaLnBrk="1" hangingPunct="1">
              <a:spcBef>
                <a:spcPts val="600"/>
              </a:spcBef>
            </a:pPr>
            <a:endParaRPr lang="es-CO" smtClean="0"/>
          </a:p>
          <a:p>
            <a:pPr eaLnBrk="1" hangingPunct="1">
              <a:buFont typeface="Arial" charset="0"/>
              <a:buNone/>
            </a:pPr>
            <a:endParaRPr lang="es-CO" smtClean="0"/>
          </a:p>
          <a:p>
            <a:pPr eaLnBrk="1" hangingPunct="1">
              <a:buFont typeface="Arial" charset="0"/>
              <a:buNone/>
            </a:pPr>
            <a:endParaRPr lang="es-ES" smtClean="0"/>
          </a:p>
        </p:txBody>
      </p:sp>
      <p:pic>
        <p:nvPicPr>
          <p:cNvPr id="1031"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032" name="1 Título"/>
          <p:cNvSpPr>
            <a:spLocks noGrp="1"/>
          </p:cNvSpPr>
          <p:nvPr>
            <p:ph type="title"/>
          </p:nvPr>
        </p:nvSpPr>
        <p:spPr>
          <a:xfrm>
            <a:off x="1557338" y="274638"/>
            <a:ext cx="7372350" cy="1011237"/>
          </a:xfrm>
        </p:spPr>
        <p:txBody>
          <a:bodyPr/>
          <a:lstStyle/>
          <a:p>
            <a:pPr eaLnBrk="1" hangingPunct="1"/>
            <a:r>
              <a:rPr lang="es-CO" sz="4200" u="sng" smtClean="0"/>
              <a:t>Notación</a:t>
            </a:r>
            <a:endParaRPr lang="es-ES" sz="4200" u="sng" smtClean="0"/>
          </a:p>
        </p:txBody>
      </p:sp>
      <p:sp>
        <p:nvSpPr>
          <p:cNvPr id="1033"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34" name="Rectangle 3"/>
          <p:cNvSpPr>
            <a:spLocks noChangeArrowheads="1"/>
          </p:cNvSpPr>
          <p:nvPr/>
        </p:nvSpPr>
        <p:spPr bwMode="auto">
          <a:xfrm>
            <a:off x="0" y="647700"/>
            <a:ext cx="9144000" cy="0"/>
          </a:xfrm>
          <a:prstGeom prst="rect">
            <a:avLst/>
          </a:prstGeom>
          <a:noFill/>
          <a:ln w="9525">
            <a:noFill/>
            <a:miter lim="800000"/>
            <a:headEnd/>
            <a:tailEnd/>
          </a:ln>
        </p:spPr>
        <p:txBody>
          <a:bodyPr wrap="none" anchor="ctr">
            <a:spAutoFit/>
          </a:bodyPr>
          <a:lstStyle/>
          <a:p>
            <a:endParaRPr lang="es-CO"/>
          </a:p>
        </p:txBody>
      </p:sp>
      <p:sp>
        <p:nvSpPr>
          <p:cNvPr id="1035"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36" name="Rectangle 6"/>
          <p:cNvSpPr>
            <a:spLocks noChangeArrowheads="1"/>
          </p:cNvSpPr>
          <p:nvPr/>
        </p:nvSpPr>
        <p:spPr bwMode="auto">
          <a:xfrm>
            <a:off x="0" y="647700"/>
            <a:ext cx="9144000" cy="0"/>
          </a:xfrm>
          <a:prstGeom prst="rect">
            <a:avLst/>
          </a:prstGeom>
          <a:noFill/>
          <a:ln w="9525">
            <a:noFill/>
            <a:miter lim="800000"/>
            <a:headEnd/>
            <a:tailEnd/>
          </a:ln>
        </p:spPr>
        <p:txBody>
          <a:bodyPr wrap="none" anchor="ctr">
            <a:spAutoFit/>
          </a:bodyPr>
          <a:lstStyle/>
          <a:p>
            <a:endParaRPr lang="es-CO"/>
          </a:p>
        </p:txBody>
      </p:sp>
      <p:sp>
        <p:nvSpPr>
          <p:cNvPr id="1037"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38" name="Rectangle 10"/>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39" name="Rectangle 11"/>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040" name="17 CuadroTexto"/>
          <p:cNvSpPr txBox="1">
            <a:spLocks noChangeArrowheads="1"/>
          </p:cNvSpPr>
          <p:nvPr/>
        </p:nvSpPr>
        <p:spPr bwMode="auto">
          <a:xfrm>
            <a:off x="3071813" y="1357313"/>
            <a:ext cx="4792662" cy="476250"/>
          </a:xfrm>
          <a:prstGeom prst="rect">
            <a:avLst/>
          </a:prstGeom>
          <a:noFill/>
          <a:ln w="9525">
            <a:noFill/>
            <a:miter lim="800000"/>
            <a:headEnd/>
            <a:tailEnd/>
          </a:ln>
        </p:spPr>
        <p:txBody>
          <a:bodyPr wrap="none">
            <a:spAutoFit/>
          </a:bodyPr>
          <a:lstStyle/>
          <a:p>
            <a:r>
              <a:rPr lang="es-CO" sz="2500">
                <a:latin typeface="Calibri" pitchFamily="34" charset="0"/>
              </a:rPr>
              <a:t>1       individuo </a:t>
            </a:r>
            <a:r>
              <a:rPr lang="es-CO" sz="2500" i="1">
                <a:latin typeface="Times New Roman" pitchFamily="18" charset="0"/>
                <a:cs typeface="Times New Roman" pitchFamily="18" charset="0"/>
              </a:rPr>
              <a:t>i</a:t>
            </a:r>
            <a:r>
              <a:rPr lang="es-CO" sz="2500">
                <a:latin typeface="Calibri" pitchFamily="34" charset="0"/>
              </a:rPr>
              <a:t> recibe tratamiento</a:t>
            </a:r>
            <a:endParaRPr lang="es-ES" sz="2500">
              <a:latin typeface="Calibri" pitchFamily="34" charset="0"/>
            </a:endParaRPr>
          </a:p>
        </p:txBody>
      </p:sp>
      <p:sp>
        <p:nvSpPr>
          <p:cNvPr id="1041" name="18 CuadroTexto"/>
          <p:cNvSpPr txBox="1">
            <a:spLocks noChangeArrowheads="1"/>
          </p:cNvSpPr>
          <p:nvPr/>
        </p:nvSpPr>
        <p:spPr bwMode="auto">
          <a:xfrm>
            <a:off x="3071813" y="1857375"/>
            <a:ext cx="2863850" cy="476250"/>
          </a:xfrm>
          <a:prstGeom prst="rect">
            <a:avLst/>
          </a:prstGeom>
          <a:noFill/>
          <a:ln w="9525">
            <a:noFill/>
            <a:miter lim="800000"/>
            <a:headEnd/>
            <a:tailEnd/>
          </a:ln>
        </p:spPr>
        <p:txBody>
          <a:bodyPr wrap="none">
            <a:spAutoFit/>
          </a:bodyPr>
          <a:lstStyle/>
          <a:p>
            <a:r>
              <a:rPr lang="es-CO" sz="2500">
                <a:latin typeface="Calibri" pitchFamily="34" charset="0"/>
              </a:rPr>
              <a:t>0       de lo contrario</a:t>
            </a:r>
            <a:endParaRPr lang="es-ES" sz="2500">
              <a:latin typeface="Calibri" pitchFamily="34" charset="0"/>
            </a:endParaRPr>
          </a:p>
        </p:txBody>
      </p:sp>
      <p:sp>
        <p:nvSpPr>
          <p:cNvPr id="1042" name="Rectangle 1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p>
        </p:txBody>
      </p:sp>
      <p:sp>
        <p:nvSpPr>
          <p:cNvPr id="1043" name="Rectangle 13"/>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p>
        </p:txBody>
      </p:sp>
      <p:sp>
        <p:nvSpPr>
          <p:cNvPr id="1044" name="Rectangle 1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45" name="Rectangle 1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046" name="Rectangle 18"/>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47" name="Rectangle 19"/>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048" name="34 CuadroTexto"/>
          <p:cNvSpPr txBox="1">
            <a:spLocks noChangeArrowheads="1"/>
          </p:cNvSpPr>
          <p:nvPr/>
        </p:nvSpPr>
        <p:spPr bwMode="auto">
          <a:xfrm>
            <a:off x="3000375" y="2500313"/>
            <a:ext cx="3357563" cy="1246187"/>
          </a:xfrm>
          <a:prstGeom prst="rect">
            <a:avLst/>
          </a:prstGeom>
          <a:noFill/>
          <a:ln w="9525">
            <a:noFill/>
            <a:miter lim="800000"/>
            <a:headEnd/>
            <a:tailEnd/>
          </a:ln>
        </p:spPr>
        <p:txBody>
          <a:bodyPr>
            <a:spAutoFit/>
          </a:bodyPr>
          <a:lstStyle/>
          <a:p>
            <a:r>
              <a:rPr lang="es-CO" sz="2500">
                <a:latin typeface="Calibri" pitchFamily="34" charset="0"/>
              </a:rPr>
              <a:t>Variable de resultado para cada individuo  </a:t>
            </a:r>
            <a:r>
              <a:rPr lang="es-CO" sz="2500" i="1">
                <a:latin typeface="Times New Roman" pitchFamily="18" charset="0"/>
                <a:cs typeface="Times New Roman" pitchFamily="18" charset="0"/>
              </a:rPr>
              <a:t>i</a:t>
            </a:r>
          </a:p>
          <a:p>
            <a:pPr algn="just"/>
            <a:r>
              <a:rPr lang="es-CO" sz="2500">
                <a:latin typeface="Calibri" pitchFamily="34" charset="0"/>
              </a:rPr>
              <a:t>dado su estado </a:t>
            </a:r>
            <a:endParaRPr lang="es-ES" sz="2400">
              <a:latin typeface="Calibri" pitchFamily="34" charset="0"/>
            </a:endParaRPr>
          </a:p>
        </p:txBody>
      </p:sp>
      <p:sp>
        <p:nvSpPr>
          <p:cNvPr id="1049" name="Rectangle 2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0"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1" name="Rectangle 2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2" name="Rectangle 2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053" name="46 CuadroTexto"/>
          <p:cNvSpPr txBox="1">
            <a:spLocks noChangeArrowheads="1"/>
          </p:cNvSpPr>
          <p:nvPr/>
        </p:nvSpPr>
        <p:spPr bwMode="auto">
          <a:xfrm>
            <a:off x="2000250" y="2643188"/>
            <a:ext cx="184150" cy="369887"/>
          </a:xfrm>
          <a:prstGeom prst="rect">
            <a:avLst/>
          </a:prstGeom>
          <a:noFill/>
          <a:ln w="9525">
            <a:noFill/>
            <a:miter lim="800000"/>
            <a:headEnd/>
            <a:tailEnd/>
          </a:ln>
        </p:spPr>
        <p:txBody>
          <a:bodyPr wrap="none">
            <a:spAutoFit/>
          </a:bodyPr>
          <a:lstStyle/>
          <a:p>
            <a:endParaRPr lang="es-CO">
              <a:latin typeface="Calibri" pitchFamily="34" charset="0"/>
            </a:endParaRPr>
          </a:p>
        </p:txBody>
      </p:sp>
      <p:sp>
        <p:nvSpPr>
          <p:cNvPr id="1054" name="Rectangle 2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8" name="47 Abrir llave"/>
          <p:cNvSpPr/>
          <p:nvPr/>
        </p:nvSpPr>
        <p:spPr>
          <a:xfrm>
            <a:off x="2786063" y="2571750"/>
            <a:ext cx="142875" cy="1071563"/>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1058" name="Rectangle 6"/>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059" name="Rectangle 7"/>
          <p:cNvSpPr>
            <a:spLocks noChangeArrowheads="1"/>
          </p:cNvSpPr>
          <p:nvPr/>
        </p:nvSpPr>
        <p:spPr bwMode="auto">
          <a:xfrm>
            <a:off x="0" y="762000"/>
            <a:ext cx="9144000" cy="0"/>
          </a:xfrm>
          <a:prstGeom prst="rect">
            <a:avLst/>
          </a:prstGeom>
          <a:noFill/>
          <a:ln w="9525">
            <a:noFill/>
            <a:miter lim="800000"/>
            <a:headEnd/>
            <a:tailEnd/>
          </a:ln>
        </p:spPr>
        <p:txBody>
          <a:bodyPr wrap="none" anchor="ctr">
            <a:spAutoFit/>
          </a:bodyPr>
          <a:lstStyle/>
          <a:p>
            <a:endParaRPr lang="es-CO"/>
          </a:p>
        </p:txBody>
      </p:sp>
      <p:sp>
        <p:nvSpPr>
          <p:cNvPr id="43" name="42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CE027A10-147B-43FD-9BE5-3BFC4095DD85}" type="slidenum">
              <a:rPr lang="es-CO" sz="1500">
                <a:solidFill>
                  <a:schemeClr val="tx1">
                    <a:lumMod val="50000"/>
                    <a:lumOff val="50000"/>
                  </a:schemeClr>
                </a:solidFill>
                <a:latin typeface="+mn-lt"/>
                <a:cs typeface="+mn-cs"/>
              </a:rPr>
              <a:pPr algn="ctr" fontAlgn="auto">
                <a:spcBef>
                  <a:spcPts val="0"/>
                </a:spcBef>
                <a:spcAft>
                  <a:spcPts val="0"/>
                </a:spcAft>
                <a:defRPr/>
              </a:pPr>
              <a:t>2</a:t>
            </a:fld>
            <a:endParaRPr lang="es-ES" sz="1500" dirty="0">
              <a:solidFill>
                <a:schemeClr val="tx1">
                  <a:lumMod val="50000"/>
                  <a:lumOff val="50000"/>
                </a:schemeClr>
              </a:solidFill>
              <a:latin typeface="+mn-lt"/>
              <a:cs typeface="+mn-cs"/>
            </a:endParaRPr>
          </a:p>
        </p:txBody>
      </p:sp>
      <p:sp>
        <p:nvSpPr>
          <p:cNvPr id="50" name="49 Abrir llave"/>
          <p:cNvSpPr/>
          <p:nvPr/>
        </p:nvSpPr>
        <p:spPr>
          <a:xfrm>
            <a:off x="2844800" y="1466850"/>
            <a:ext cx="142875" cy="738188"/>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graphicFrame>
        <p:nvGraphicFramePr>
          <p:cNvPr id="1026" name="Object 2"/>
          <p:cNvGraphicFramePr>
            <a:graphicFrameLocks noChangeAspect="1"/>
          </p:cNvGraphicFramePr>
          <p:nvPr/>
        </p:nvGraphicFramePr>
        <p:xfrm>
          <a:off x="1928813" y="1643063"/>
          <a:ext cx="693737" cy="500062"/>
        </p:xfrm>
        <a:graphic>
          <a:graphicData uri="http://schemas.openxmlformats.org/presentationml/2006/ole">
            <p:oleObj spid="_x0000_s1026" name="Ecuación" r:id="rId5" imgW="317160" imgH="228600" progId="Equation.3">
              <p:embed/>
            </p:oleObj>
          </a:graphicData>
        </a:graphic>
      </p:graphicFrame>
      <p:graphicFrame>
        <p:nvGraphicFramePr>
          <p:cNvPr id="1027" name="Object 3"/>
          <p:cNvGraphicFramePr>
            <a:graphicFrameLocks noChangeAspect="1"/>
          </p:cNvGraphicFramePr>
          <p:nvPr/>
        </p:nvGraphicFramePr>
        <p:xfrm>
          <a:off x="1714500" y="2857500"/>
          <a:ext cx="915988" cy="500063"/>
        </p:xfrm>
        <a:graphic>
          <a:graphicData uri="http://schemas.openxmlformats.org/presentationml/2006/ole">
            <p:oleObj spid="_x0000_s1027" name="Ecuación" r:id="rId6" imgW="419040" imgH="228600" progId="Equation.3">
              <p:embed/>
            </p:oleObj>
          </a:graphicData>
        </a:graphic>
      </p:graphicFrame>
      <p:graphicFrame>
        <p:nvGraphicFramePr>
          <p:cNvPr id="1028" name="Object 4"/>
          <p:cNvGraphicFramePr>
            <a:graphicFrameLocks noChangeAspect="1"/>
          </p:cNvGraphicFramePr>
          <p:nvPr/>
        </p:nvGraphicFramePr>
        <p:xfrm>
          <a:off x="3000375" y="4214813"/>
          <a:ext cx="2786063" cy="635000"/>
        </p:xfrm>
        <a:graphic>
          <a:graphicData uri="http://schemas.openxmlformats.org/presentationml/2006/ole">
            <p:oleObj spid="_x0000_s1028" name="Ecuación" r:id="rId7" imgW="1002960" imgH="228600" progId="Equation.3">
              <p:embed/>
            </p:oleObj>
          </a:graphicData>
        </a:graphic>
      </p:graphicFrame>
      <p:graphicFrame>
        <p:nvGraphicFramePr>
          <p:cNvPr id="1029" name="Object 6"/>
          <p:cNvGraphicFramePr>
            <a:graphicFrameLocks noChangeAspect="1"/>
          </p:cNvGraphicFramePr>
          <p:nvPr/>
        </p:nvGraphicFramePr>
        <p:xfrm>
          <a:off x="5072063" y="3286125"/>
          <a:ext cx="357187" cy="430213"/>
        </p:xfrm>
        <a:graphic>
          <a:graphicData uri="http://schemas.openxmlformats.org/presentationml/2006/ole">
            <p:oleObj spid="_x0000_s1029" name="Ecuación" r:id="rId8" imgW="190440" imgH="2286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2055" name="1 Título"/>
          <p:cNvSpPr>
            <a:spLocks noGrp="1"/>
          </p:cNvSpPr>
          <p:nvPr>
            <p:ph type="title"/>
          </p:nvPr>
        </p:nvSpPr>
        <p:spPr>
          <a:xfrm>
            <a:off x="1557338" y="274638"/>
            <a:ext cx="7372350" cy="1011237"/>
          </a:xfrm>
        </p:spPr>
        <p:txBody>
          <a:bodyPr/>
          <a:lstStyle/>
          <a:p>
            <a:pPr eaLnBrk="1" hangingPunct="1"/>
            <a:r>
              <a:rPr lang="es-CO" sz="4200" u="sng" smtClean="0"/>
              <a:t>Notación</a:t>
            </a:r>
            <a:endParaRPr lang="es-ES" sz="4200" u="sng" smtClean="0"/>
          </a:p>
        </p:txBody>
      </p:sp>
      <p:sp>
        <p:nvSpPr>
          <p:cNvPr id="2056" name="6 CuadroTexto"/>
          <p:cNvSpPr txBox="1">
            <a:spLocks noChangeArrowheads="1"/>
          </p:cNvSpPr>
          <p:nvPr/>
        </p:nvSpPr>
        <p:spPr bwMode="auto">
          <a:xfrm>
            <a:off x="3286125" y="1628775"/>
            <a:ext cx="5214938" cy="1138238"/>
          </a:xfrm>
          <a:prstGeom prst="rect">
            <a:avLst/>
          </a:prstGeom>
          <a:noFill/>
          <a:ln w="9525">
            <a:noFill/>
            <a:miter lim="800000"/>
            <a:headEnd/>
            <a:tailEnd/>
          </a:ln>
        </p:spPr>
        <p:txBody>
          <a:bodyPr>
            <a:spAutoFit/>
          </a:bodyPr>
          <a:lstStyle/>
          <a:p>
            <a:r>
              <a:rPr lang="es-CO" sz="2500">
                <a:latin typeface="Calibri" pitchFamily="34" charset="0"/>
              </a:rPr>
              <a:t>Media de la variable de resultado en el grupo de participantes.</a:t>
            </a:r>
          </a:p>
          <a:p>
            <a:endParaRPr lang="es-ES">
              <a:latin typeface="Calibri" pitchFamily="34" charset="0"/>
            </a:endParaRPr>
          </a:p>
        </p:txBody>
      </p:sp>
      <p:cxnSp>
        <p:nvCxnSpPr>
          <p:cNvPr id="9" name="8 Conector recto de flecha"/>
          <p:cNvCxnSpPr/>
          <p:nvPr/>
        </p:nvCxnSpPr>
        <p:spPr>
          <a:xfrm>
            <a:off x="2500313" y="1928813"/>
            <a:ext cx="714375" cy="1587"/>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58" name="9 Rectángulo"/>
          <p:cNvSpPr>
            <a:spLocks noChangeArrowheads="1"/>
          </p:cNvSpPr>
          <p:nvPr/>
        </p:nvSpPr>
        <p:spPr bwMode="auto">
          <a:xfrm>
            <a:off x="3214688" y="2643188"/>
            <a:ext cx="5357812" cy="1246187"/>
          </a:xfrm>
          <a:prstGeom prst="rect">
            <a:avLst/>
          </a:prstGeom>
          <a:noFill/>
          <a:ln w="9525">
            <a:noFill/>
            <a:miter lim="800000"/>
            <a:headEnd/>
            <a:tailEnd/>
          </a:ln>
        </p:spPr>
        <p:txBody>
          <a:bodyPr>
            <a:spAutoFit/>
          </a:bodyPr>
          <a:lstStyle/>
          <a:p>
            <a:r>
              <a:rPr lang="es-CO" sz="2500">
                <a:latin typeface="Calibri" pitchFamily="34" charset="0"/>
              </a:rPr>
              <a:t>Media que hubieran obtenido los participantes si el programa no hubiera existido. </a:t>
            </a:r>
          </a:p>
        </p:txBody>
      </p:sp>
      <p:cxnSp>
        <p:nvCxnSpPr>
          <p:cNvPr id="12" name="11 Conector recto de flecha"/>
          <p:cNvCxnSpPr/>
          <p:nvPr/>
        </p:nvCxnSpPr>
        <p:spPr>
          <a:xfrm>
            <a:off x="2500313" y="2928938"/>
            <a:ext cx="714375" cy="1587"/>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6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06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17" name="16 Conector recto de flecha"/>
          <p:cNvCxnSpPr/>
          <p:nvPr/>
        </p:nvCxnSpPr>
        <p:spPr>
          <a:xfrm>
            <a:off x="2500313" y="4214813"/>
            <a:ext cx="714375" cy="1587"/>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2500313" y="5500688"/>
            <a:ext cx="714375" cy="1587"/>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64" name="18 Rectángulo"/>
          <p:cNvSpPr>
            <a:spLocks noChangeArrowheads="1"/>
          </p:cNvSpPr>
          <p:nvPr/>
        </p:nvSpPr>
        <p:spPr bwMode="auto">
          <a:xfrm>
            <a:off x="3214688" y="3929063"/>
            <a:ext cx="5357812" cy="1246187"/>
          </a:xfrm>
          <a:prstGeom prst="rect">
            <a:avLst/>
          </a:prstGeom>
          <a:noFill/>
          <a:ln w="9525">
            <a:noFill/>
            <a:miter lim="800000"/>
            <a:headEnd/>
            <a:tailEnd/>
          </a:ln>
        </p:spPr>
        <p:txBody>
          <a:bodyPr>
            <a:spAutoFit/>
          </a:bodyPr>
          <a:lstStyle/>
          <a:p>
            <a:r>
              <a:rPr lang="es-ES" sz="2500">
                <a:latin typeface="Calibri" pitchFamily="34" charset="0"/>
              </a:rPr>
              <a:t>Media de la variable de resultado entre los no participantes del programa, si hubieran podido participar.</a:t>
            </a:r>
            <a:endParaRPr lang="es-AR" sz="2500">
              <a:latin typeface="Calibri" pitchFamily="34" charset="0"/>
            </a:endParaRPr>
          </a:p>
        </p:txBody>
      </p:sp>
      <p:sp>
        <p:nvSpPr>
          <p:cNvPr id="2065" name="20 Rectángulo"/>
          <p:cNvSpPr>
            <a:spLocks noChangeArrowheads="1"/>
          </p:cNvSpPr>
          <p:nvPr/>
        </p:nvSpPr>
        <p:spPr bwMode="auto">
          <a:xfrm>
            <a:off x="3214688" y="5214938"/>
            <a:ext cx="5429250" cy="862012"/>
          </a:xfrm>
          <a:prstGeom prst="rect">
            <a:avLst/>
          </a:prstGeom>
          <a:noFill/>
          <a:ln w="9525">
            <a:noFill/>
            <a:miter lim="800000"/>
            <a:headEnd/>
            <a:tailEnd/>
          </a:ln>
        </p:spPr>
        <p:txBody>
          <a:bodyPr>
            <a:spAutoFit/>
          </a:bodyPr>
          <a:lstStyle/>
          <a:p>
            <a:r>
              <a:rPr lang="es-ES" sz="2500">
                <a:latin typeface="Calibri" pitchFamily="34" charset="0"/>
              </a:rPr>
              <a:t>Media de la variable de resultado de  quienes no participaron en el programa.</a:t>
            </a:r>
          </a:p>
        </p:txBody>
      </p:sp>
      <p:graphicFrame>
        <p:nvGraphicFramePr>
          <p:cNvPr id="2050" name="Object 1"/>
          <p:cNvGraphicFramePr>
            <a:graphicFrameLocks noChangeAspect="1"/>
          </p:cNvGraphicFramePr>
          <p:nvPr/>
        </p:nvGraphicFramePr>
        <p:xfrm>
          <a:off x="357188" y="1714500"/>
          <a:ext cx="2071687" cy="466725"/>
        </p:xfrm>
        <a:graphic>
          <a:graphicData uri="http://schemas.openxmlformats.org/presentationml/2006/ole">
            <p:oleObj spid="_x0000_s2050" name="Ecuación" r:id="rId5" imgW="901440" imgH="203040" progId="Equation.3">
              <p:embed/>
            </p:oleObj>
          </a:graphicData>
        </a:graphic>
      </p:graphicFrame>
      <p:graphicFrame>
        <p:nvGraphicFramePr>
          <p:cNvPr id="2051" name="Object 2"/>
          <p:cNvGraphicFramePr>
            <a:graphicFrameLocks noChangeAspect="1"/>
          </p:cNvGraphicFramePr>
          <p:nvPr/>
        </p:nvGraphicFramePr>
        <p:xfrm>
          <a:off x="357188" y="2714625"/>
          <a:ext cx="2128837" cy="466725"/>
        </p:xfrm>
        <a:graphic>
          <a:graphicData uri="http://schemas.openxmlformats.org/presentationml/2006/ole">
            <p:oleObj spid="_x0000_s2051" name="Ecuación" r:id="rId6" imgW="927000" imgH="203040" progId="Equation.3">
              <p:embed/>
            </p:oleObj>
          </a:graphicData>
        </a:graphic>
      </p:graphicFrame>
      <p:graphicFrame>
        <p:nvGraphicFramePr>
          <p:cNvPr id="2052" name="Object 3"/>
          <p:cNvGraphicFramePr>
            <a:graphicFrameLocks noChangeAspect="1"/>
          </p:cNvGraphicFramePr>
          <p:nvPr/>
        </p:nvGraphicFramePr>
        <p:xfrm>
          <a:off x="357188" y="4000500"/>
          <a:ext cx="2128837" cy="466725"/>
        </p:xfrm>
        <a:graphic>
          <a:graphicData uri="http://schemas.openxmlformats.org/presentationml/2006/ole">
            <p:oleObj spid="_x0000_s2052" name="Ecuación" r:id="rId7" imgW="927000" imgH="203040" progId="Equation.3">
              <p:embed/>
            </p:oleObj>
          </a:graphicData>
        </a:graphic>
      </p:graphicFrame>
      <p:graphicFrame>
        <p:nvGraphicFramePr>
          <p:cNvPr id="2053" name="Object 4"/>
          <p:cNvGraphicFramePr>
            <a:graphicFrameLocks noChangeAspect="1"/>
          </p:cNvGraphicFramePr>
          <p:nvPr/>
        </p:nvGraphicFramePr>
        <p:xfrm>
          <a:off x="285750" y="5286375"/>
          <a:ext cx="2189163" cy="466725"/>
        </p:xfrm>
        <a:graphic>
          <a:graphicData uri="http://schemas.openxmlformats.org/presentationml/2006/ole">
            <p:oleObj spid="_x0000_s2053" name="Ecuación" r:id="rId8" imgW="952200" imgH="203040" progId="Equation.3">
              <p:embed/>
            </p:oleObj>
          </a:graphicData>
        </a:graphic>
      </p:graphicFrame>
      <p:sp>
        <p:nvSpPr>
          <p:cNvPr id="20" name="19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68339040-A278-4AC8-AA25-DD2825AE6CB4}" type="slidenum">
              <a:rPr lang="es-CO" sz="1500">
                <a:solidFill>
                  <a:schemeClr val="tx1">
                    <a:lumMod val="50000"/>
                    <a:lumOff val="50000"/>
                  </a:schemeClr>
                </a:solidFill>
                <a:latin typeface="+mn-lt"/>
                <a:cs typeface="+mn-cs"/>
              </a:rPr>
              <a:pPr algn="ctr" fontAlgn="auto">
                <a:spcBef>
                  <a:spcPts val="0"/>
                </a:spcBef>
                <a:spcAft>
                  <a:spcPts val="0"/>
                </a:spcAft>
                <a:defRPr/>
              </a:pPr>
              <a:t>3</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572032"/>
          </a:xfrm>
        </p:spPr>
        <p:txBody>
          <a:bodyPr rtlCol="0">
            <a:normAutofit/>
          </a:bodyPr>
          <a:lstStyle/>
          <a:p>
            <a:pPr algn="ctr" eaLnBrk="1" fontAlgn="auto" hangingPunct="1">
              <a:spcAft>
                <a:spcPts val="0"/>
              </a:spcAft>
              <a:buFont typeface="Arial" pitchFamily="34" charset="0"/>
              <a:buNone/>
              <a:defRPr/>
            </a:pPr>
            <a:r>
              <a:rPr lang="es-CO" sz="2500" dirty="0" smtClean="0"/>
              <a:t>Para evitar el sesgo de selección y, por ende, asegurar que:</a:t>
            </a:r>
          </a:p>
          <a:p>
            <a:pPr eaLnBrk="1" fontAlgn="auto" hangingPunct="1">
              <a:spcAft>
                <a:spcPts val="0"/>
              </a:spcAft>
              <a:buFont typeface="Arial" pitchFamily="34" charset="0"/>
              <a:buChar char="•"/>
              <a:defRPr/>
            </a:pPr>
            <a:endParaRPr lang="es-CO" sz="2500" dirty="0"/>
          </a:p>
          <a:p>
            <a:pPr lvl="8">
              <a:buFont typeface="Arial" pitchFamily="34" charset="0"/>
              <a:buNone/>
              <a:defRPr/>
            </a:pPr>
            <a:endParaRPr lang="es-CO" sz="2500" dirty="0"/>
          </a:p>
          <a:p>
            <a:pPr lvl="8">
              <a:buFont typeface="Arial" pitchFamily="34" charset="0"/>
              <a:buNone/>
              <a:defRPr/>
            </a:pPr>
            <a:endParaRPr lang="es-CO" sz="2500" dirty="0" smtClean="0"/>
          </a:p>
          <a:p>
            <a:pPr eaLnBrk="1" fontAlgn="auto" hangingPunct="1">
              <a:spcAft>
                <a:spcPts val="0"/>
              </a:spcAft>
              <a:buFont typeface="Arial" pitchFamily="34" charset="0"/>
              <a:buNone/>
              <a:defRPr/>
            </a:pPr>
            <a:r>
              <a:rPr lang="es-CO" sz="2500" dirty="0"/>
              <a:t>	</a:t>
            </a:r>
            <a:r>
              <a:rPr lang="es-CO" sz="2500" dirty="0" smtClean="0"/>
              <a:t>	</a:t>
            </a:r>
          </a:p>
          <a:p>
            <a:pPr eaLnBrk="1" fontAlgn="auto" hangingPunct="1">
              <a:spcAft>
                <a:spcPts val="0"/>
              </a:spcAft>
              <a:buFont typeface="Arial" pitchFamily="34" charset="0"/>
              <a:buNone/>
              <a:defRPr/>
            </a:pPr>
            <a:r>
              <a:rPr lang="es-CO" sz="2500" dirty="0"/>
              <a:t>	</a:t>
            </a:r>
          </a:p>
          <a:p>
            <a:pPr algn="ctr" eaLnBrk="1" fontAlgn="auto" hangingPunct="1">
              <a:spcAft>
                <a:spcPts val="0"/>
              </a:spcAft>
              <a:buFont typeface="Arial" pitchFamily="34" charset="0"/>
              <a:buNone/>
              <a:defRPr/>
            </a:pPr>
            <a:r>
              <a:rPr lang="es-CO" sz="2500" dirty="0" smtClean="0"/>
              <a:t>	Cuando la </a:t>
            </a:r>
            <a:r>
              <a:rPr lang="es-CO" sz="2500" u="sng" dirty="0" smtClean="0"/>
              <a:t>asignación</a:t>
            </a:r>
            <a:r>
              <a:rPr lang="es-CO" sz="2500" dirty="0" smtClean="0"/>
              <a:t> al programa se hace de manera </a:t>
            </a:r>
            <a:r>
              <a:rPr lang="es-CO" sz="2500" u="sng" dirty="0" smtClean="0"/>
              <a:t>aleatoria. </a:t>
            </a:r>
          </a:p>
          <a:p>
            <a:pPr algn="ctr" eaLnBrk="1" fontAlgn="auto" hangingPunct="1">
              <a:spcAft>
                <a:spcPts val="0"/>
              </a:spcAft>
              <a:buFont typeface="Arial" pitchFamily="34" charset="0"/>
              <a:buNone/>
              <a:defRPr/>
            </a:pPr>
            <a:endParaRPr lang="es-CO" sz="2500" u="sng" dirty="0"/>
          </a:p>
          <a:p>
            <a:pPr algn="ctr" eaLnBrk="1" fontAlgn="auto" hangingPunct="1">
              <a:spcAft>
                <a:spcPts val="0"/>
              </a:spcAft>
              <a:buFont typeface="Arial" pitchFamily="34" charset="0"/>
              <a:buNone/>
              <a:defRPr/>
            </a:pPr>
            <a:r>
              <a:rPr lang="es-CO" sz="2500" dirty="0" smtClean="0"/>
              <a:t>Experimento social controlado</a:t>
            </a:r>
          </a:p>
          <a:p>
            <a:pPr algn="ctr" eaLnBrk="1" fontAlgn="auto" hangingPunct="1">
              <a:spcAft>
                <a:spcPts val="0"/>
              </a:spcAft>
              <a:buFont typeface="Arial" pitchFamily="34" charset="0"/>
              <a:buNone/>
              <a:defRPr/>
            </a:pPr>
            <a:endParaRPr lang="es-CO" sz="2500" u="sng" dirty="0"/>
          </a:p>
          <a:p>
            <a:pPr algn="ctr" eaLnBrk="1" fontAlgn="auto" hangingPunct="1">
              <a:spcAft>
                <a:spcPts val="0"/>
              </a:spcAft>
              <a:buFont typeface="Arial" pitchFamily="34" charset="0"/>
              <a:buNone/>
              <a:defRPr/>
            </a:pPr>
            <a:endParaRPr lang="es-ES" sz="2500" dirty="0"/>
          </a:p>
        </p:txBody>
      </p:sp>
      <p:pic>
        <p:nvPicPr>
          <p:cNvPr id="3077"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3078" name="1 Título"/>
          <p:cNvSpPr>
            <a:spLocks noGrp="1"/>
          </p:cNvSpPr>
          <p:nvPr>
            <p:ph type="title"/>
          </p:nvPr>
        </p:nvSpPr>
        <p:spPr>
          <a:xfrm>
            <a:off x="2028825" y="285750"/>
            <a:ext cx="6972300" cy="1285875"/>
          </a:xfrm>
        </p:spPr>
        <p:txBody>
          <a:bodyPr/>
          <a:lstStyle/>
          <a:p>
            <a:pPr eaLnBrk="1" hangingPunct="1"/>
            <a:r>
              <a:rPr lang="es-CO" sz="4200" u="sng" smtClean="0"/>
              <a:t>¿Para qué hacer experimentos aleatorios?</a:t>
            </a:r>
            <a:endParaRPr lang="es-ES" sz="4200" u="sng" smtClean="0"/>
          </a:p>
        </p:txBody>
      </p:sp>
      <p:cxnSp>
        <p:nvCxnSpPr>
          <p:cNvPr id="9" name="8 Conector recto de flecha"/>
          <p:cNvCxnSpPr/>
          <p:nvPr/>
        </p:nvCxnSpPr>
        <p:spPr>
          <a:xfrm rot="5400000">
            <a:off x="4465637" y="5535613"/>
            <a:ext cx="500063"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9 Flecha abajo"/>
          <p:cNvSpPr/>
          <p:nvPr/>
        </p:nvSpPr>
        <p:spPr>
          <a:xfrm>
            <a:off x="4214813" y="3000375"/>
            <a:ext cx="357187" cy="428625"/>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a:p>
        </p:txBody>
      </p:sp>
      <p:graphicFrame>
        <p:nvGraphicFramePr>
          <p:cNvPr id="3074" name="Object 1"/>
          <p:cNvGraphicFramePr>
            <a:graphicFrameLocks noChangeAspect="1"/>
          </p:cNvGraphicFramePr>
          <p:nvPr/>
        </p:nvGraphicFramePr>
        <p:xfrm>
          <a:off x="1071563" y="2286000"/>
          <a:ext cx="6786562" cy="500063"/>
        </p:xfrm>
        <a:graphic>
          <a:graphicData uri="http://schemas.openxmlformats.org/presentationml/2006/ole">
            <p:oleObj spid="_x0000_s3074" name="Ecuación" r:id="rId5" imgW="2184120" imgH="203040" progId="Equation.3">
              <p:embed/>
            </p:oleObj>
          </a:graphicData>
        </a:graphic>
      </p:graphicFrame>
      <p:graphicFrame>
        <p:nvGraphicFramePr>
          <p:cNvPr id="3075" name="Object 2"/>
          <p:cNvGraphicFramePr>
            <a:graphicFrameLocks noChangeAspect="1"/>
          </p:cNvGraphicFramePr>
          <p:nvPr/>
        </p:nvGraphicFramePr>
        <p:xfrm>
          <a:off x="3143250" y="3571875"/>
          <a:ext cx="2938463" cy="571500"/>
        </p:xfrm>
        <a:graphic>
          <a:graphicData uri="http://schemas.openxmlformats.org/presentationml/2006/ole">
            <p:oleObj spid="_x0000_s3075" name="Ecuación" r:id="rId6" imgW="825480" imgH="228600" progId="Equation.3">
              <p:embed/>
            </p:oleObj>
          </a:graphicData>
        </a:graphic>
      </p:graphicFrame>
      <p:sp>
        <p:nvSpPr>
          <p:cNvPr id="11" name="10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A2A55F32-206C-4737-A543-9572F46BEA65}" type="slidenum">
              <a:rPr lang="es-CO" sz="1500">
                <a:solidFill>
                  <a:schemeClr val="tx1">
                    <a:lumMod val="50000"/>
                    <a:lumOff val="50000"/>
                  </a:schemeClr>
                </a:solidFill>
                <a:latin typeface="+mn-lt"/>
                <a:cs typeface="+mn-cs"/>
              </a:rPr>
              <a:pPr algn="ctr" fontAlgn="auto">
                <a:spcBef>
                  <a:spcPts val="0"/>
                </a:spcBef>
                <a:spcAft>
                  <a:spcPts val="0"/>
                </a:spcAft>
                <a:defRPr/>
              </a:pPr>
              <a:t>4</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2 Marcador de contenido"/>
          <p:cNvSpPr>
            <a:spLocks noGrp="1"/>
          </p:cNvSpPr>
          <p:nvPr>
            <p:ph idx="1"/>
          </p:nvPr>
        </p:nvSpPr>
        <p:spPr>
          <a:xfrm>
            <a:off x="457200" y="1500188"/>
            <a:ext cx="8229600" cy="4625975"/>
          </a:xfrm>
        </p:spPr>
        <p:txBody>
          <a:bodyPr/>
          <a:lstStyle/>
          <a:p>
            <a:pPr eaLnBrk="1" hangingPunct="1"/>
            <a:endParaRPr lang="es-CO" sz="2500" smtClean="0"/>
          </a:p>
          <a:p>
            <a:pPr eaLnBrk="1" hangingPunct="1">
              <a:spcBef>
                <a:spcPct val="0"/>
              </a:spcBef>
            </a:pPr>
            <a:endParaRPr lang="es-CO" sz="2500" smtClean="0"/>
          </a:p>
          <a:p>
            <a:pPr eaLnBrk="1" hangingPunct="1">
              <a:spcBef>
                <a:spcPct val="0"/>
              </a:spcBef>
            </a:pPr>
            <a:r>
              <a:rPr lang="es-CO" sz="2500" smtClean="0"/>
              <a:t>Idealmente:</a:t>
            </a:r>
          </a:p>
          <a:p>
            <a:pPr eaLnBrk="1" hangingPunct="1">
              <a:spcBef>
                <a:spcPct val="0"/>
              </a:spcBef>
            </a:pPr>
            <a:endParaRPr lang="es-CO" sz="2500" smtClean="0"/>
          </a:p>
          <a:p>
            <a:pPr eaLnBrk="1" hangingPunct="1">
              <a:spcBef>
                <a:spcPct val="0"/>
              </a:spcBef>
            </a:pPr>
            <a:endParaRPr lang="es-CO" sz="2500" smtClean="0"/>
          </a:p>
          <a:p>
            <a:pPr eaLnBrk="1" hangingPunct="1">
              <a:spcBef>
                <a:spcPct val="0"/>
              </a:spcBef>
            </a:pPr>
            <a:endParaRPr lang="es-CO" sz="2500" smtClean="0"/>
          </a:p>
          <a:p>
            <a:pPr eaLnBrk="1" hangingPunct="1">
              <a:spcBef>
                <a:spcPct val="0"/>
              </a:spcBef>
            </a:pPr>
            <a:endParaRPr lang="es-CO" sz="2500" smtClean="0"/>
          </a:p>
          <a:p>
            <a:pPr eaLnBrk="1" hangingPunct="1">
              <a:spcBef>
                <a:spcPct val="0"/>
              </a:spcBef>
            </a:pPr>
            <a:endParaRPr lang="es-CO" sz="2500" smtClean="0"/>
          </a:p>
          <a:p>
            <a:pPr eaLnBrk="1" hangingPunct="1">
              <a:spcBef>
                <a:spcPct val="0"/>
              </a:spcBef>
            </a:pPr>
            <a:r>
              <a:rPr lang="es-CO" sz="2500" smtClean="0"/>
              <a:t>Alternativa:</a:t>
            </a:r>
          </a:p>
        </p:txBody>
      </p:sp>
      <p:pic>
        <p:nvPicPr>
          <p:cNvPr id="25603"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25604" name="1 Título"/>
          <p:cNvSpPr>
            <a:spLocks noGrp="1"/>
          </p:cNvSpPr>
          <p:nvPr>
            <p:ph type="title"/>
          </p:nvPr>
        </p:nvSpPr>
        <p:spPr>
          <a:xfrm>
            <a:off x="2071688" y="142875"/>
            <a:ext cx="6972300" cy="1143000"/>
          </a:xfrm>
        </p:spPr>
        <p:txBody>
          <a:bodyPr/>
          <a:lstStyle/>
          <a:p>
            <a:pPr eaLnBrk="1" hangingPunct="1"/>
            <a:r>
              <a:rPr lang="es-CO" sz="4200" u="sng" smtClean="0"/>
              <a:t>¿Cómo hacer experimentos aleatorios?</a:t>
            </a:r>
            <a:endParaRPr lang="es-ES" sz="4200" u="sng" smtClean="0"/>
          </a:p>
        </p:txBody>
      </p:sp>
      <p:sp>
        <p:nvSpPr>
          <p:cNvPr id="9" name="8 Abrir llave"/>
          <p:cNvSpPr/>
          <p:nvPr/>
        </p:nvSpPr>
        <p:spPr>
          <a:xfrm>
            <a:off x="2571750" y="2000250"/>
            <a:ext cx="142875" cy="1000125"/>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25606" name="9 CuadroTexto"/>
          <p:cNvSpPr txBox="1">
            <a:spLocks noChangeArrowheads="1"/>
          </p:cNvSpPr>
          <p:nvPr/>
        </p:nvSpPr>
        <p:spPr bwMode="auto">
          <a:xfrm>
            <a:off x="2643188" y="2066925"/>
            <a:ext cx="6215062" cy="862013"/>
          </a:xfrm>
          <a:prstGeom prst="rect">
            <a:avLst/>
          </a:prstGeom>
          <a:noFill/>
          <a:ln w="9525">
            <a:noFill/>
            <a:miter lim="800000"/>
            <a:headEnd/>
            <a:tailEnd/>
          </a:ln>
        </p:spPr>
        <p:txBody>
          <a:bodyPr>
            <a:spAutoFit/>
          </a:bodyPr>
          <a:lstStyle/>
          <a:p>
            <a:r>
              <a:rPr lang="es-CO" sz="2500">
                <a:latin typeface="Calibri" pitchFamily="34" charset="0"/>
              </a:rPr>
              <a:t>Se toman dos individuos IDÉNTICOS y se trata a uno de ellos.</a:t>
            </a:r>
            <a:endParaRPr lang="es-ES" sz="2500">
              <a:latin typeface="Calibri" pitchFamily="34" charset="0"/>
            </a:endParaRPr>
          </a:p>
        </p:txBody>
      </p:sp>
      <p:sp>
        <p:nvSpPr>
          <p:cNvPr id="18" name="17 Flecha abajo"/>
          <p:cNvSpPr/>
          <p:nvPr/>
        </p:nvSpPr>
        <p:spPr>
          <a:xfrm>
            <a:off x="5000625" y="3000375"/>
            <a:ext cx="357188" cy="500063"/>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25608" name="18 CuadroTexto"/>
          <p:cNvSpPr txBox="1">
            <a:spLocks noChangeArrowheads="1"/>
          </p:cNvSpPr>
          <p:nvPr/>
        </p:nvSpPr>
        <p:spPr bwMode="auto">
          <a:xfrm>
            <a:off x="4357688" y="3522663"/>
            <a:ext cx="1609725" cy="477837"/>
          </a:xfrm>
          <a:prstGeom prst="rect">
            <a:avLst/>
          </a:prstGeom>
          <a:noFill/>
          <a:ln w="9525">
            <a:noFill/>
            <a:miter lim="800000"/>
            <a:headEnd/>
            <a:tailEnd/>
          </a:ln>
        </p:spPr>
        <p:txBody>
          <a:bodyPr wrap="none">
            <a:spAutoFit/>
          </a:bodyPr>
          <a:lstStyle/>
          <a:p>
            <a:r>
              <a:rPr lang="es-CO" sz="2500">
                <a:latin typeface="Calibri" pitchFamily="34" charset="0"/>
              </a:rPr>
              <a:t>IMPOSIBLE</a:t>
            </a:r>
            <a:endParaRPr lang="es-ES" sz="2500">
              <a:latin typeface="Calibri" pitchFamily="34" charset="0"/>
            </a:endParaRPr>
          </a:p>
        </p:txBody>
      </p:sp>
      <p:sp>
        <p:nvSpPr>
          <p:cNvPr id="20" name="19 Abrir llave"/>
          <p:cNvSpPr/>
          <p:nvPr/>
        </p:nvSpPr>
        <p:spPr>
          <a:xfrm>
            <a:off x="2571750" y="4214813"/>
            <a:ext cx="142875" cy="1143000"/>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25610" name="20 CuadroTexto"/>
          <p:cNvSpPr txBox="1">
            <a:spLocks noChangeArrowheads="1"/>
          </p:cNvSpPr>
          <p:nvPr/>
        </p:nvSpPr>
        <p:spPr bwMode="auto">
          <a:xfrm>
            <a:off x="2643188" y="4143375"/>
            <a:ext cx="5929312" cy="1246188"/>
          </a:xfrm>
          <a:prstGeom prst="rect">
            <a:avLst/>
          </a:prstGeom>
          <a:noFill/>
          <a:ln w="9525">
            <a:noFill/>
            <a:miter lim="800000"/>
            <a:headEnd/>
            <a:tailEnd/>
          </a:ln>
        </p:spPr>
        <p:txBody>
          <a:bodyPr>
            <a:spAutoFit/>
          </a:bodyPr>
          <a:lstStyle/>
          <a:p>
            <a:r>
              <a:rPr lang="es-CO" sz="2500">
                <a:latin typeface="Calibri" pitchFamily="34" charset="0"/>
              </a:rPr>
              <a:t>Se asignan aleatoriamente los individuos del grupo de estudio al grupo de tratamiento o al grupo de control.</a:t>
            </a:r>
            <a:endParaRPr lang="es-ES" sz="2500">
              <a:latin typeface="Calibri" pitchFamily="34" charset="0"/>
            </a:endParaRPr>
          </a:p>
        </p:txBody>
      </p:sp>
      <p:sp>
        <p:nvSpPr>
          <p:cNvPr id="12" name="1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B6ABECBD-8A9D-4AD5-BF82-06C821809899}" type="slidenum">
              <a:rPr lang="es-CO" sz="1500">
                <a:solidFill>
                  <a:schemeClr val="tx1">
                    <a:lumMod val="50000"/>
                    <a:lumOff val="50000"/>
                  </a:schemeClr>
                </a:solidFill>
                <a:latin typeface="+mn-lt"/>
                <a:cs typeface="+mn-cs"/>
              </a:rPr>
              <a:pPr algn="ctr" fontAlgn="auto">
                <a:spcBef>
                  <a:spcPts val="0"/>
                </a:spcBef>
                <a:spcAft>
                  <a:spcPts val="0"/>
                </a:spcAft>
                <a:defRPr/>
              </a:pPr>
              <a:t>5</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375" y="1500188"/>
            <a:ext cx="7972425" cy="4525962"/>
          </a:xfrm>
        </p:spPr>
        <p:txBody>
          <a:bodyPr rtlCol="0">
            <a:normAutofit fontScale="92500" lnSpcReduction="10000"/>
          </a:bodyPr>
          <a:lstStyle/>
          <a:p>
            <a:pPr eaLnBrk="1" fontAlgn="auto" hangingPunct="1">
              <a:spcBef>
                <a:spcPts val="0"/>
              </a:spcBef>
              <a:spcAft>
                <a:spcPts val="0"/>
              </a:spcAft>
              <a:buFont typeface="Arial" pitchFamily="34" charset="0"/>
              <a:buNone/>
              <a:defRPr/>
            </a:pPr>
            <a:r>
              <a:rPr lang="es-CO" sz="2500" dirty="0" smtClean="0"/>
              <a:t>Ventaja</a:t>
            </a:r>
          </a:p>
          <a:p>
            <a:pPr eaLnBrk="1" fontAlgn="auto" hangingPunct="1">
              <a:spcBef>
                <a:spcPts val="0"/>
              </a:spcBef>
              <a:spcAft>
                <a:spcPts val="0"/>
              </a:spcAft>
              <a:buFont typeface="Arial" pitchFamily="34" charset="0"/>
              <a:buNone/>
              <a:defRPr/>
            </a:pPr>
            <a:endParaRPr lang="es-CO" dirty="0" smtClean="0"/>
          </a:p>
          <a:p>
            <a:pPr eaLnBrk="1" fontAlgn="auto" hangingPunct="1">
              <a:spcBef>
                <a:spcPts val="0"/>
              </a:spcBef>
              <a:spcAft>
                <a:spcPts val="0"/>
              </a:spcAft>
              <a:buFont typeface="Arial" pitchFamily="34" charset="0"/>
              <a:buChar char="•"/>
              <a:defRPr/>
            </a:pPr>
            <a:r>
              <a:rPr lang="es-MX" sz="2500" dirty="0" smtClean="0"/>
              <a:t>Es la manera más transparente para determinar el efecto de políticas gubernamentales. La estrategia de identificación es muy clara y no requiere supuestos.</a:t>
            </a:r>
            <a:endParaRPr lang="es-ES" sz="2500" dirty="0" smtClean="0"/>
          </a:p>
          <a:p>
            <a:pPr eaLnBrk="1" fontAlgn="auto" hangingPunct="1">
              <a:spcBef>
                <a:spcPts val="0"/>
              </a:spcBef>
              <a:spcAft>
                <a:spcPts val="0"/>
              </a:spcAft>
              <a:buFont typeface="Arial" pitchFamily="34" charset="0"/>
              <a:buNone/>
              <a:defRPr/>
            </a:pPr>
            <a:endParaRPr lang="es-CO" dirty="0" smtClean="0"/>
          </a:p>
          <a:p>
            <a:pPr eaLnBrk="1" fontAlgn="auto" hangingPunct="1">
              <a:spcBef>
                <a:spcPts val="0"/>
              </a:spcBef>
              <a:spcAft>
                <a:spcPts val="0"/>
              </a:spcAft>
              <a:buFont typeface="Arial" pitchFamily="34" charset="0"/>
              <a:buNone/>
              <a:defRPr/>
            </a:pPr>
            <a:r>
              <a:rPr lang="es-CO" sz="2500" dirty="0" smtClean="0"/>
              <a:t>Limitaciones</a:t>
            </a:r>
          </a:p>
          <a:p>
            <a:pPr eaLnBrk="1" fontAlgn="auto" hangingPunct="1">
              <a:spcBef>
                <a:spcPts val="0"/>
              </a:spcBef>
              <a:spcAft>
                <a:spcPts val="0"/>
              </a:spcAft>
              <a:buFont typeface="Arial" pitchFamily="34" charset="0"/>
              <a:buNone/>
              <a:defRPr/>
            </a:pPr>
            <a:endParaRPr lang="es-CO" dirty="0" smtClean="0"/>
          </a:p>
          <a:p>
            <a:pPr eaLnBrk="1" fontAlgn="auto" hangingPunct="1">
              <a:spcBef>
                <a:spcPts val="0"/>
              </a:spcBef>
              <a:spcAft>
                <a:spcPts val="0"/>
              </a:spcAft>
              <a:buFont typeface="Arial" pitchFamily="34" charset="0"/>
              <a:buChar char="•"/>
              <a:defRPr/>
            </a:pPr>
            <a:r>
              <a:rPr lang="es-CO" sz="2500" dirty="0" smtClean="0"/>
              <a:t>Consideraciones éticas.</a:t>
            </a:r>
          </a:p>
          <a:p>
            <a:pPr eaLnBrk="1" fontAlgn="auto" hangingPunct="1">
              <a:spcBef>
                <a:spcPts val="0"/>
              </a:spcBef>
              <a:spcAft>
                <a:spcPts val="0"/>
              </a:spcAft>
              <a:buFont typeface="Arial" pitchFamily="34" charset="0"/>
              <a:buChar char="•"/>
              <a:defRPr/>
            </a:pPr>
            <a:r>
              <a:rPr lang="es-CO" sz="2500" dirty="0" smtClean="0"/>
              <a:t>Costo de la </a:t>
            </a:r>
            <a:r>
              <a:rPr lang="es-CO" sz="2500" dirty="0" err="1" smtClean="0"/>
              <a:t>aleatorización</a:t>
            </a:r>
            <a:r>
              <a:rPr lang="es-CO" sz="2500" dirty="0" smtClean="0"/>
              <a:t>           	monetario y político.</a:t>
            </a:r>
            <a:endParaRPr lang="es-ES" sz="2500" dirty="0" smtClean="0"/>
          </a:p>
          <a:p>
            <a:pPr eaLnBrk="1" fontAlgn="auto" hangingPunct="1">
              <a:spcBef>
                <a:spcPts val="0"/>
              </a:spcBef>
              <a:spcAft>
                <a:spcPts val="0"/>
              </a:spcAft>
              <a:buFont typeface="Arial" pitchFamily="34" charset="0"/>
              <a:buChar char="•"/>
              <a:defRPr/>
            </a:pPr>
            <a:r>
              <a:rPr lang="es-CO" sz="2500" dirty="0" smtClean="0"/>
              <a:t>Sólo se puede evaluar el programa tal y como está diseñado.</a:t>
            </a:r>
          </a:p>
          <a:p>
            <a:pPr algn="just" eaLnBrk="1" fontAlgn="auto" hangingPunct="1">
              <a:spcBef>
                <a:spcPts val="0"/>
              </a:spcBef>
              <a:spcAft>
                <a:spcPts val="0"/>
              </a:spcAft>
              <a:buFont typeface="Arial" pitchFamily="34" charset="0"/>
              <a:buChar char="•"/>
              <a:defRPr/>
            </a:pPr>
            <a:r>
              <a:rPr lang="es-MX" sz="2500" dirty="0" smtClean="0"/>
              <a:t>Sólo evalúa los efectos de corto plazo del programa.</a:t>
            </a:r>
            <a:endParaRPr lang="es-CO" sz="2500" dirty="0" smtClean="0"/>
          </a:p>
          <a:p>
            <a:pPr eaLnBrk="1" fontAlgn="auto" hangingPunct="1">
              <a:spcBef>
                <a:spcPts val="0"/>
              </a:spcBef>
              <a:spcAft>
                <a:spcPts val="0"/>
              </a:spcAft>
              <a:buFont typeface="Arial" pitchFamily="34" charset="0"/>
              <a:buChar char="•"/>
              <a:defRPr/>
            </a:pPr>
            <a:endParaRPr lang="es-ES" sz="2500" dirty="0" smtClean="0"/>
          </a:p>
          <a:p>
            <a:pPr eaLnBrk="1" fontAlgn="auto" hangingPunct="1">
              <a:spcAft>
                <a:spcPts val="0"/>
              </a:spcAft>
              <a:buFont typeface="Arial" pitchFamily="34" charset="0"/>
              <a:buChar char="•"/>
              <a:defRPr/>
            </a:pPr>
            <a:endParaRPr lang="es-ES" dirty="0"/>
          </a:p>
        </p:txBody>
      </p:sp>
      <p:pic>
        <p:nvPicPr>
          <p:cNvPr id="26627"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26628" name="1 Título"/>
          <p:cNvSpPr>
            <a:spLocks noGrp="1"/>
          </p:cNvSpPr>
          <p:nvPr>
            <p:ph type="title"/>
          </p:nvPr>
        </p:nvSpPr>
        <p:spPr>
          <a:xfrm>
            <a:off x="1885950" y="285750"/>
            <a:ext cx="6972300" cy="1000125"/>
          </a:xfrm>
        </p:spPr>
        <p:txBody>
          <a:bodyPr/>
          <a:lstStyle/>
          <a:p>
            <a:pPr eaLnBrk="1" hangingPunct="1"/>
            <a:r>
              <a:rPr lang="es-CO" sz="4200" u="sng" smtClean="0"/>
              <a:t>Ventajas y limitaciones</a:t>
            </a:r>
            <a:endParaRPr lang="es-ES" sz="4200" u="sng" smtClean="0"/>
          </a:p>
        </p:txBody>
      </p:sp>
      <p:cxnSp>
        <p:nvCxnSpPr>
          <p:cNvPr id="12" name="11 Conector recto de flecha"/>
          <p:cNvCxnSpPr/>
          <p:nvPr/>
        </p:nvCxnSpPr>
        <p:spPr>
          <a:xfrm>
            <a:off x="4572000" y="4797425"/>
            <a:ext cx="500063"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7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DB972F32-AAD0-4799-87C8-50056D4C75DD}" type="slidenum">
              <a:rPr lang="es-CO" sz="1500">
                <a:solidFill>
                  <a:schemeClr val="tx1">
                    <a:lumMod val="50000"/>
                    <a:lumOff val="50000"/>
                  </a:schemeClr>
                </a:solidFill>
                <a:latin typeface="+mn-lt"/>
                <a:cs typeface="+mn-cs"/>
              </a:rPr>
              <a:pPr algn="ctr" fontAlgn="auto">
                <a:spcBef>
                  <a:spcPts val="0"/>
                </a:spcBef>
                <a:spcAft>
                  <a:spcPts val="0"/>
                </a:spcAft>
                <a:defRPr/>
              </a:pPr>
              <a:t>6</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375" y="1500188"/>
            <a:ext cx="7972425" cy="4665662"/>
          </a:xfrm>
        </p:spPr>
        <p:txBody>
          <a:bodyPr rtlCol="0">
            <a:normAutofit fontScale="85000" lnSpcReduction="20000"/>
          </a:bodyPr>
          <a:lstStyle/>
          <a:p>
            <a:pPr eaLnBrk="1" fontAlgn="auto" hangingPunct="1">
              <a:spcBef>
                <a:spcPts val="0"/>
              </a:spcBef>
              <a:spcAft>
                <a:spcPts val="0"/>
              </a:spcAft>
              <a:buFont typeface="Arial" pitchFamily="34" charset="0"/>
              <a:buNone/>
              <a:defRPr/>
            </a:pPr>
            <a:r>
              <a:rPr lang="es-CO" sz="2900" dirty="0" smtClean="0"/>
              <a:t>Individuos</a:t>
            </a:r>
          </a:p>
          <a:p>
            <a:pPr algn="just" eaLnBrk="1" fontAlgn="auto" hangingPunct="1">
              <a:spcBef>
                <a:spcPts val="0"/>
              </a:spcBef>
              <a:spcAft>
                <a:spcPts val="0"/>
              </a:spcAft>
              <a:buFont typeface="Arial" pitchFamily="34" charset="0"/>
              <a:buChar char="•"/>
              <a:defRPr/>
            </a:pPr>
            <a:r>
              <a:rPr lang="es-MX" sz="2800" dirty="0" smtClean="0"/>
              <a:t>Se </a:t>
            </a:r>
            <a:r>
              <a:rPr lang="es-MX" sz="2800" dirty="0" err="1" smtClean="0"/>
              <a:t>aleatorizan</a:t>
            </a:r>
            <a:r>
              <a:rPr lang="es-MX" sz="2800" dirty="0" smtClean="0"/>
              <a:t> individuos a partir de un listado de los individuos elegibles.</a:t>
            </a:r>
            <a:endParaRPr lang="es-ES" sz="2500" dirty="0" smtClean="0"/>
          </a:p>
          <a:p>
            <a:pPr eaLnBrk="1" fontAlgn="auto" hangingPunct="1">
              <a:spcBef>
                <a:spcPts val="0"/>
              </a:spcBef>
              <a:spcAft>
                <a:spcPts val="0"/>
              </a:spcAft>
              <a:buFont typeface="Arial" pitchFamily="34" charset="0"/>
              <a:buNone/>
              <a:defRPr/>
            </a:pPr>
            <a:endParaRPr lang="es-CO" dirty="0" smtClean="0"/>
          </a:p>
          <a:p>
            <a:pPr eaLnBrk="1" fontAlgn="auto" hangingPunct="1">
              <a:spcBef>
                <a:spcPts val="0"/>
              </a:spcBef>
              <a:spcAft>
                <a:spcPts val="0"/>
              </a:spcAft>
              <a:buFont typeface="Arial" pitchFamily="34" charset="0"/>
              <a:buNone/>
              <a:defRPr/>
            </a:pPr>
            <a:r>
              <a:rPr lang="es-CO" sz="2900" dirty="0" smtClean="0"/>
              <a:t>Conglomerados (clústeres)</a:t>
            </a:r>
          </a:p>
          <a:p>
            <a:pPr eaLnBrk="1" fontAlgn="auto" hangingPunct="1">
              <a:spcBef>
                <a:spcPts val="0"/>
              </a:spcBef>
              <a:spcAft>
                <a:spcPts val="0"/>
              </a:spcAft>
              <a:buFont typeface="Arial" pitchFamily="34" charset="0"/>
              <a:buChar char="•"/>
              <a:defRPr/>
            </a:pPr>
            <a:r>
              <a:rPr lang="es-MX" sz="2800" dirty="0" smtClean="0"/>
              <a:t>Se </a:t>
            </a:r>
            <a:r>
              <a:rPr lang="es-MX" sz="2800" dirty="0" err="1" smtClean="0"/>
              <a:t>aleatoriza</a:t>
            </a:r>
            <a:r>
              <a:rPr lang="es-MX" sz="2800" dirty="0" smtClean="0"/>
              <a:t> no a individuos, sino barrios o comunidades. </a:t>
            </a:r>
          </a:p>
          <a:p>
            <a:pPr eaLnBrk="1" fontAlgn="auto" hangingPunct="1">
              <a:spcBef>
                <a:spcPts val="0"/>
              </a:spcBef>
              <a:spcAft>
                <a:spcPts val="0"/>
              </a:spcAft>
              <a:buFont typeface="Arial" pitchFamily="34" charset="0"/>
              <a:buNone/>
              <a:defRPr/>
            </a:pPr>
            <a:endParaRPr lang="es-MX" sz="2800" dirty="0" smtClean="0"/>
          </a:p>
          <a:p>
            <a:pPr eaLnBrk="1" fontAlgn="auto" hangingPunct="1">
              <a:spcBef>
                <a:spcPts val="0"/>
              </a:spcBef>
              <a:spcAft>
                <a:spcPts val="0"/>
              </a:spcAft>
              <a:buFont typeface="Arial" pitchFamily="34" charset="0"/>
              <a:buChar char="•"/>
              <a:defRPr/>
            </a:pPr>
            <a:r>
              <a:rPr lang="es-MX" sz="2800" dirty="0" smtClean="0"/>
              <a:t>Se a</a:t>
            </a:r>
            <a:r>
              <a:rPr lang="es-CO" sz="2800" dirty="0" smtClean="0"/>
              <a:t>provechan restricciones logísticas o presupuestales, </a:t>
            </a:r>
            <a:r>
              <a:rPr lang="es-MX" sz="2800" dirty="0" smtClean="0"/>
              <a:t>de capacidad operativa del programa. Se </a:t>
            </a:r>
            <a:r>
              <a:rPr lang="es-MX" sz="2800" dirty="0" err="1" smtClean="0"/>
              <a:t>aleatoriza</a:t>
            </a:r>
            <a:r>
              <a:rPr lang="es-MX" sz="2800" dirty="0" smtClean="0"/>
              <a:t> el orden de entrada al programa; s</a:t>
            </a:r>
            <a:r>
              <a:rPr lang="es-CO" sz="2800" dirty="0" smtClean="0"/>
              <a:t>e pospone la entrada de algunos grupos, de tal manera que actúen como grupo de control</a:t>
            </a:r>
            <a:r>
              <a:rPr lang="es-MX" sz="2800" dirty="0" smtClean="0"/>
              <a:t>.</a:t>
            </a:r>
          </a:p>
          <a:p>
            <a:pPr algn="just" eaLnBrk="1" fontAlgn="auto" hangingPunct="1">
              <a:spcBef>
                <a:spcPts val="0"/>
              </a:spcBef>
              <a:spcAft>
                <a:spcPts val="0"/>
              </a:spcAft>
              <a:buFont typeface="Arial" pitchFamily="34" charset="0"/>
              <a:buChar char="•"/>
              <a:defRPr/>
            </a:pPr>
            <a:endParaRPr lang="es-MX" sz="2800" dirty="0" smtClean="0"/>
          </a:p>
          <a:p>
            <a:pPr eaLnBrk="1" fontAlgn="auto" hangingPunct="1">
              <a:spcBef>
                <a:spcPts val="0"/>
              </a:spcBef>
              <a:spcAft>
                <a:spcPts val="0"/>
              </a:spcAft>
              <a:buFont typeface="Arial" pitchFamily="34" charset="0"/>
              <a:buChar char="•"/>
              <a:defRPr/>
            </a:pPr>
            <a:r>
              <a:rPr lang="es-CO" sz="2800" dirty="0" smtClean="0"/>
              <a:t>No existe una clara ventaja de alguno de los diseños básicos sobre el otro.</a:t>
            </a:r>
            <a:endParaRPr lang="es-CO" sz="2500" dirty="0" smtClean="0"/>
          </a:p>
          <a:p>
            <a:pPr eaLnBrk="1" fontAlgn="auto" hangingPunct="1">
              <a:spcBef>
                <a:spcPts val="0"/>
              </a:spcBef>
              <a:spcAft>
                <a:spcPts val="0"/>
              </a:spcAft>
              <a:buFont typeface="Arial" pitchFamily="34" charset="0"/>
              <a:buChar char="•"/>
              <a:defRPr/>
            </a:pPr>
            <a:endParaRPr lang="es-ES" sz="2500" dirty="0" smtClean="0"/>
          </a:p>
          <a:p>
            <a:pPr eaLnBrk="1" fontAlgn="auto" hangingPunct="1">
              <a:spcAft>
                <a:spcPts val="0"/>
              </a:spcAft>
              <a:buFont typeface="Arial" pitchFamily="34" charset="0"/>
              <a:buChar char="•"/>
              <a:defRPr/>
            </a:pPr>
            <a:endParaRPr lang="es-ES" dirty="0"/>
          </a:p>
        </p:txBody>
      </p:sp>
      <p:pic>
        <p:nvPicPr>
          <p:cNvPr id="27651"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27652" name="1 Título"/>
          <p:cNvSpPr>
            <a:spLocks noGrp="1"/>
          </p:cNvSpPr>
          <p:nvPr>
            <p:ph type="title"/>
          </p:nvPr>
        </p:nvSpPr>
        <p:spPr>
          <a:xfrm>
            <a:off x="1885950" y="285750"/>
            <a:ext cx="6972300" cy="1000125"/>
          </a:xfrm>
        </p:spPr>
        <p:txBody>
          <a:bodyPr/>
          <a:lstStyle/>
          <a:p>
            <a:pPr eaLnBrk="1" hangingPunct="1"/>
            <a:r>
              <a:rPr lang="es-CO" sz="4200" u="sng" smtClean="0"/>
              <a:t>Individuos </a:t>
            </a:r>
            <a:r>
              <a:rPr lang="es-CO" sz="4200" i="1" u="sng" smtClean="0"/>
              <a:t>vs</a:t>
            </a:r>
            <a:r>
              <a:rPr lang="es-CO" sz="4200" u="sng" smtClean="0"/>
              <a:t>. conglomerados</a:t>
            </a:r>
            <a:endParaRPr lang="es-ES" sz="4200" u="sng" smtClean="0"/>
          </a:p>
        </p:txBody>
      </p:sp>
      <p:sp>
        <p:nvSpPr>
          <p:cNvPr id="6" name="5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90D1F712-A89C-406A-921D-0F1D00C6CC4E}" type="slidenum">
              <a:rPr lang="es-CO" sz="1500">
                <a:solidFill>
                  <a:schemeClr val="tx1">
                    <a:lumMod val="50000"/>
                    <a:lumOff val="50000"/>
                  </a:schemeClr>
                </a:solidFill>
                <a:latin typeface="+mn-lt"/>
                <a:cs typeface="+mn-cs"/>
              </a:rPr>
              <a:pPr algn="ctr" fontAlgn="auto">
                <a:spcBef>
                  <a:spcPts val="0"/>
                </a:spcBef>
                <a:spcAft>
                  <a:spcPts val="0"/>
                </a:spcAft>
                <a:defRPr/>
              </a:pPr>
              <a:t>7</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58175" cy="4543425"/>
          </a:xfrm>
        </p:spPr>
        <p:txBody>
          <a:bodyPr rtlCol="0">
            <a:normAutofit lnSpcReduction="10000"/>
          </a:bodyPr>
          <a:lstStyle/>
          <a:p>
            <a:pPr eaLnBrk="1" fontAlgn="auto" hangingPunct="1">
              <a:spcAft>
                <a:spcPts val="0"/>
              </a:spcAft>
              <a:buFont typeface="Arial" pitchFamily="34" charset="0"/>
              <a:buNone/>
              <a:defRPr/>
            </a:pPr>
            <a:r>
              <a:rPr lang="es-CO" sz="2500" dirty="0" smtClean="0"/>
              <a:t>	Si la aleatorización es exitosa, es decir, no hay sesgo de selección, entonces el efecto del tratamiento se puede estimar como:</a:t>
            </a:r>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o</a:t>
            </a:r>
          </a:p>
          <a:p>
            <a:pPr eaLnBrk="1" fontAlgn="auto" hangingPunct="1">
              <a:spcAft>
                <a:spcPts val="0"/>
              </a:spcAft>
              <a:buFont typeface="Arial" pitchFamily="34" charset="0"/>
              <a:buNone/>
              <a:defRPr/>
            </a:pPr>
            <a:endParaRPr lang="es-CO" sz="2500" dirty="0" smtClean="0"/>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endParaRPr lang="es-CO" sz="2500" dirty="0" smtClean="0"/>
          </a:p>
          <a:p>
            <a:pPr algn="ctr" eaLnBrk="1" fontAlgn="auto" hangingPunct="1">
              <a:spcAft>
                <a:spcPts val="0"/>
              </a:spcAft>
              <a:buFont typeface="Arial" pitchFamily="34" charset="0"/>
              <a:buNone/>
              <a:defRPr/>
            </a:pPr>
            <a:endParaRPr lang="es-CO" sz="2500" dirty="0" smtClean="0"/>
          </a:p>
          <a:p>
            <a:pPr algn="ctr" eaLnBrk="1" fontAlgn="auto" hangingPunct="1">
              <a:spcAft>
                <a:spcPts val="0"/>
              </a:spcAft>
              <a:buFont typeface="Arial" pitchFamily="34" charset="0"/>
              <a:buNone/>
              <a:defRPr/>
            </a:pPr>
            <a:r>
              <a:rPr lang="es-CO" sz="2500" dirty="0" smtClean="0"/>
              <a:t>Insesgado y consistente pero </a:t>
            </a:r>
            <a:r>
              <a:rPr lang="es-CO" sz="2500" u="sng" dirty="0" smtClean="0"/>
              <a:t>no necesariamente eficiente.</a:t>
            </a:r>
            <a:endParaRPr lang="es-ES" sz="2500" u="sng" dirty="0" smtClean="0"/>
          </a:p>
          <a:p>
            <a:pPr eaLnBrk="1" fontAlgn="auto" hangingPunct="1">
              <a:spcAft>
                <a:spcPts val="0"/>
              </a:spcAft>
              <a:buFont typeface="Arial" pitchFamily="34" charset="0"/>
              <a:buNone/>
              <a:defRPr/>
            </a:pPr>
            <a:endParaRPr lang="es-ES" dirty="0"/>
          </a:p>
        </p:txBody>
      </p:sp>
      <p:pic>
        <p:nvPicPr>
          <p:cNvPr id="4101"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4102" name="1 Título"/>
          <p:cNvSpPr>
            <a:spLocks noGrp="1"/>
          </p:cNvSpPr>
          <p:nvPr>
            <p:ph type="title"/>
          </p:nvPr>
        </p:nvSpPr>
        <p:spPr>
          <a:xfrm>
            <a:off x="1885950" y="285750"/>
            <a:ext cx="6972300" cy="1000125"/>
          </a:xfrm>
        </p:spPr>
        <p:txBody>
          <a:bodyPr/>
          <a:lstStyle/>
          <a:p>
            <a:pPr eaLnBrk="1" hangingPunct="1"/>
            <a:r>
              <a:rPr lang="es-CO" sz="4200" u="sng" smtClean="0"/>
              <a:t>Modelo en diferencias</a:t>
            </a:r>
            <a:endParaRPr lang="es-ES" sz="4200" u="sng" smtClean="0"/>
          </a:p>
        </p:txBody>
      </p:sp>
      <p:sp>
        <p:nvSpPr>
          <p:cNvPr id="4103"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104" name="Rectangle 3"/>
          <p:cNvSpPr>
            <a:spLocks noChangeArrowheads="1"/>
          </p:cNvSpPr>
          <p:nvPr/>
        </p:nvSpPr>
        <p:spPr bwMode="auto">
          <a:xfrm>
            <a:off x="0" y="885825"/>
            <a:ext cx="9144000" cy="0"/>
          </a:xfrm>
          <a:prstGeom prst="rect">
            <a:avLst/>
          </a:prstGeom>
          <a:noFill/>
          <a:ln w="9525">
            <a:noFill/>
            <a:miter lim="800000"/>
            <a:headEnd/>
            <a:tailEnd/>
          </a:ln>
        </p:spPr>
        <p:txBody>
          <a:bodyPr wrap="none" anchor="ctr">
            <a:spAutoFit/>
          </a:bodyPr>
          <a:lstStyle/>
          <a:p>
            <a:endParaRPr lang="es-CO"/>
          </a:p>
        </p:txBody>
      </p:sp>
      <p:sp>
        <p:nvSpPr>
          <p:cNvPr id="4105"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106" name="Rectangle 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4107" name="16 CuadroTexto"/>
          <p:cNvSpPr txBox="1">
            <a:spLocks noChangeArrowheads="1"/>
          </p:cNvSpPr>
          <p:nvPr/>
        </p:nvSpPr>
        <p:spPr bwMode="auto">
          <a:xfrm>
            <a:off x="3071813" y="5000625"/>
            <a:ext cx="3473450" cy="477838"/>
          </a:xfrm>
          <a:prstGeom prst="rect">
            <a:avLst/>
          </a:prstGeom>
          <a:noFill/>
          <a:ln w="9525">
            <a:noFill/>
            <a:miter lim="800000"/>
            <a:headEnd/>
            <a:tailEnd/>
          </a:ln>
        </p:spPr>
        <p:txBody>
          <a:bodyPr wrap="none">
            <a:spAutoFit/>
          </a:bodyPr>
          <a:lstStyle/>
          <a:p>
            <a:r>
              <a:rPr lang="es-CO" sz="2500">
                <a:latin typeface="Calibri" pitchFamily="34" charset="0"/>
              </a:rPr>
              <a:t>Estimador de diferencias.</a:t>
            </a:r>
          </a:p>
        </p:txBody>
      </p:sp>
      <p:sp>
        <p:nvSpPr>
          <p:cNvPr id="4108"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10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11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24" name="23 Conector recto de flecha"/>
          <p:cNvCxnSpPr/>
          <p:nvPr/>
        </p:nvCxnSpPr>
        <p:spPr>
          <a:xfrm rot="5400000">
            <a:off x="4501356" y="4787107"/>
            <a:ext cx="4286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4098" name="Object 1"/>
          <p:cNvGraphicFramePr>
            <a:graphicFrameLocks noChangeAspect="1"/>
          </p:cNvGraphicFramePr>
          <p:nvPr/>
        </p:nvGraphicFramePr>
        <p:xfrm>
          <a:off x="3143250" y="3000375"/>
          <a:ext cx="3286125" cy="573088"/>
        </p:xfrm>
        <a:graphic>
          <a:graphicData uri="http://schemas.openxmlformats.org/presentationml/2006/ole">
            <p:oleObj spid="_x0000_s4098" name="Ecuación" r:id="rId5" imgW="1384200" imgH="241200" progId="Equation.3">
              <p:embed/>
            </p:oleObj>
          </a:graphicData>
        </a:graphic>
      </p:graphicFrame>
      <p:graphicFrame>
        <p:nvGraphicFramePr>
          <p:cNvPr id="4099" name="Object 2"/>
          <p:cNvGraphicFramePr>
            <a:graphicFrameLocks noChangeAspect="1"/>
          </p:cNvGraphicFramePr>
          <p:nvPr/>
        </p:nvGraphicFramePr>
        <p:xfrm>
          <a:off x="3286125" y="4000500"/>
          <a:ext cx="3000375" cy="563563"/>
        </p:xfrm>
        <a:graphic>
          <a:graphicData uri="http://schemas.openxmlformats.org/presentationml/2006/ole">
            <p:oleObj spid="_x0000_s4099" name="Ecuación" r:id="rId6" imgW="1130040" imgH="228600" progId="Equation.3">
              <p:embed/>
            </p:oleObj>
          </a:graphicData>
        </a:graphic>
      </p:graphicFrame>
      <p:sp>
        <p:nvSpPr>
          <p:cNvPr id="17" name="16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94142D74-E5F8-402B-954B-D3902E69B03D}" type="slidenum">
              <a:rPr lang="es-CO" sz="1500">
                <a:solidFill>
                  <a:schemeClr val="tx1">
                    <a:lumMod val="50000"/>
                    <a:lumOff val="50000"/>
                  </a:schemeClr>
                </a:solidFill>
                <a:latin typeface="+mn-lt"/>
                <a:cs typeface="+mn-cs"/>
              </a:rPr>
              <a:pPr algn="ctr" fontAlgn="auto">
                <a:spcBef>
                  <a:spcPts val="0"/>
                </a:spcBef>
                <a:spcAft>
                  <a:spcPts val="0"/>
                </a:spcAft>
                <a:defRPr/>
              </a:pPr>
              <a:t>8</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Marcador de contenido"/>
          <p:cNvGraphicFramePr>
            <a:graphicFrameLocks noGrp="1"/>
          </p:cNvGraphicFramePr>
          <p:nvPr>
            <p:ph idx="1"/>
          </p:nvPr>
        </p:nvGraphicFramePr>
        <p:xfrm>
          <a:off x="571500" y="1863725"/>
          <a:ext cx="8072493" cy="2140749"/>
        </p:xfrm>
        <a:graphic>
          <a:graphicData uri="http://schemas.openxmlformats.org/drawingml/2006/table">
            <a:tbl>
              <a:tblPr/>
              <a:tblGrid>
                <a:gridCol w="1279328"/>
                <a:gridCol w="1409529"/>
                <a:gridCol w="1127429"/>
                <a:gridCol w="1567350"/>
                <a:gridCol w="1409529"/>
                <a:gridCol w="1279328"/>
              </a:tblGrid>
              <a:tr h="1143008">
                <a:tc>
                  <a:txBody>
                    <a:bodyPr/>
                    <a:lstStyle/>
                    <a:p>
                      <a:pPr algn="ctr">
                        <a:spcAft>
                          <a:spcPts val="0"/>
                        </a:spcAft>
                      </a:pPr>
                      <a:r>
                        <a:rPr lang="es-ES" sz="2000" b="0" dirty="0">
                          <a:latin typeface="+mj-lt"/>
                          <a:ea typeface="Times New Roman"/>
                          <a:cs typeface="Times New Roman"/>
                        </a:rPr>
                        <a:t>Educación de la madre</a:t>
                      </a:r>
                      <a:endParaRPr lang="es-AR" sz="2000" b="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0" dirty="0">
                          <a:latin typeface="+mj-lt"/>
                          <a:ea typeface="Times New Roman"/>
                          <a:cs typeface="Times New Roman"/>
                        </a:rPr>
                        <a:t>% </a:t>
                      </a:r>
                      <a:r>
                        <a:rPr lang="es-ES" sz="2000" b="0" dirty="0" smtClean="0">
                          <a:latin typeface="+mj-lt"/>
                          <a:ea typeface="Times New Roman"/>
                          <a:cs typeface="Times New Roman"/>
                        </a:rPr>
                        <a:t>niños </a:t>
                      </a:r>
                      <a:r>
                        <a:rPr lang="es-ES" sz="2000" b="0" dirty="0">
                          <a:latin typeface="+mj-lt"/>
                          <a:ea typeface="Times New Roman"/>
                          <a:cs typeface="Times New Roman"/>
                        </a:rPr>
                        <a:t>bien nutridos, tratamiento</a:t>
                      </a:r>
                      <a:endParaRPr lang="es-AR" sz="2000" b="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0" dirty="0">
                          <a:latin typeface="+mj-lt"/>
                          <a:ea typeface="Times New Roman"/>
                          <a:cs typeface="Times New Roman"/>
                        </a:rPr>
                        <a:t>% </a:t>
                      </a:r>
                      <a:r>
                        <a:rPr lang="es-ES" sz="2000" b="0" dirty="0" smtClean="0">
                          <a:latin typeface="+mj-lt"/>
                          <a:ea typeface="Times New Roman"/>
                          <a:cs typeface="Times New Roman"/>
                        </a:rPr>
                        <a:t>niños </a:t>
                      </a:r>
                      <a:r>
                        <a:rPr lang="es-ES" sz="2000" b="0" dirty="0">
                          <a:latin typeface="+mj-lt"/>
                          <a:ea typeface="Times New Roman"/>
                          <a:cs typeface="Times New Roman"/>
                        </a:rPr>
                        <a:t>bien nutridos, control</a:t>
                      </a:r>
                      <a:endParaRPr lang="es-AR" sz="2000" b="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0" dirty="0">
                          <a:latin typeface="+mj-lt"/>
                          <a:ea typeface="Times New Roman"/>
                          <a:cs typeface="Times New Roman"/>
                        </a:rPr>
                        <a:t>% </a:t>
                      </a:r>
                      <a:r>
                        <a:rPr lang="es-ES" sz="2000" b="0" dirty="0" smtClean="0">
                          <a:latin typeface="+mj-lt"/>
                          <a:ea typeface="Times New Roman"/>
                          <a:cs typeface="Times New Roman"/>
                        </a:rPr>
                        <a:t>niños </a:t>
                      </a:r>
                      <a:r>
                        <a:rPr lang="es-ES" sz="2000" b="0" dirty="0">
                          <a:latin typeface="+mj-lt"/>
                          <a:ea typeface="Times New Roman"/>
                          <a:cs typeface="Times New Roman"/>
                        </a:rPr>
                        <a:t>bien nutridos, contrafactual</a:t>
                      </a:r>
                      <a:endParaRPr lang="es-AR" sz="2000" b="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0" dirty="0">
                          <a:latin typeface="+mj-lt"/>
                          <a:ea typeface="Times New Roman"/>
                          <a:cs typeface="Times New Roman"/>
                        </a:rPr>
                        <a:t>Educación materna, tratamiento</a:t>
                      </a:r>
                      <a:endParaRPr lang="es-AR" sz="2000" b="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0" dirty="0">
                          <a:latin typeface="+mj-lt"/>
                          <a:ea typeface="Times New Roman"/>
                          <a:cs typeface="Times New Roman"/>
                        </a:rPr>
                        <a:t>Educación materna, control</a:t>
                      </a:r>
                      <a:endParaRPr lang="es-AR" sz="2000" b="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183">
                <a:tc>
                  <a:txBody>
                    <a:bodyPr/>
                    <a:lstStyle/>
                    <a:p>
                      <a:pPr algn="l">
                        <a:spcAft>
                          <a:spcPts val="0"/>
                        </a:spcAft>
                      </a:pPr>
                      <a:r>
                        <a:rPr lang="es-ES" sz="2000" b="0" dirty="0">
                          <a:latin typeface="+mj-lt"/>
                          <a:ea typeface="Times New Roman"/>
                          <a:cs typeface="Times New Roman"/>
                        </a:rPr>
                        <a:t>Baja</a:t>
                      </a:r>
                      <a:endParaRPr lang="es-AR" sz="2000" b="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50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30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40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10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20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183">
                <a:tc>
                  <a:txBody>
                    <a:bodyPr/>
                    <a:lstStyle/>
                    <a:p>
                      <a:pPr algn="l">
                        <a:spcAft>
                          <a:spcPts val="0"/>
                        </a:spcAft>
                      </a:pPr>
                      <a:r>
                        <a:rPr lang="es-ES" sz="2000" b="0" dirty="0">
                          <a:latin typeface="+mj-lt"/>
                          <a:ea typeface="Times New Roman"/>
                          <a:cs typeface="Times New Roman"/>
                        </a:rPr>
                        <a:t>Media </a:t>
                      </a:r>
                      <a:endParaRPr lang="es-AR" sz="2000" b="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70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40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50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70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60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183">
                <a:tc>
                  <a:txBody>
                    <a:bodyPr/>
                    <a:lstStyle/>
                    <a:p>
                      <a:pPr algn="l">
                        <a:spcAft>
                          <a:spcPts val="0"/>
                        </a:spcAft>
                      </a:pPr>
                      <a:r>
                        <a:rPr lang="es-ES" sz="2000" b="0" dirty="0">
                          <a:latin typeface="+mj-lt"/>
                          <a:ea typeface="Times New Roman"/>
                          <a:cs typeface="Times New Roman"/>
                        </a:rPr>
                        <a:t>Alta</a:t>
                      </a:r>
                      <a:endParaRPr lang="es-AR" sz="2000" b="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mj-lt"/>
                          <a:ea typeface="Times New Roman"/>
                          <a:cs typeface="Times New Roman"/>
                        </a:rPr>
                        <a:t>90</a:t>
                      </a:r>
                      <a:endParaRPr lang="es-AR"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mj-lt"/>
                          <a:ea typeface="Times New Roman"/>
                          <a:cs typeface="Times New Roman"/>
                        </a:rPr>
                        <a:t>70</a:t>
                      </a:r>
                      <a:endParaRPr lang="es-AR"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80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20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mj-lt"/>
                          <a:ea typeface="Times New Roman"/>
                          <a:cs typeface="Times New Roman"/>
                        </a:rPr>
                        <a:t>20</a:t>
                      </a:r>
                      <a:endParaRPr lang="es-AR"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162"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5" name="1 Título"/>
          <p:cNvSpPr>
            <a:spLocks noGrp="1"/>
          </p:cNvSpPr>
          <p:nvPr>
            <p:ph type="title"/>
          </p:nvPr>
        </p:nvSpPr>
        <p:spPr>
          <a:xfrm>
            <a:off x="1885950" y="285750"/>
            <a:ext cx="6972300" cy="1000125"/>
          </a:xfrm>
        </p:spPr>
        <p:txBody>
          <a:bodyPr rtlCol="0">
            <a:normAutofit fontScale="90000"/>
          </a:bodyPr>
          <a:lstStyle/>
          <a:p>
            <a:pPr eaLnBrk="1" fontAlgn="auto" hangingPunct="1">
              <a:spcAft>
                <a:spcPts val="0"/>
              </a:spcAft>
              <a:defRPr/>
            </a:pPr>
            <a:r>
              <a:rPr lang="es-CO" sz="4200" u="sng" dirty="0" smtClean="0"/>
              <a:t>Ejemplo: </a:t>
            </a:r>
            <a:r>
              <a:rPr lang="es-CO" sz="4200" i="1" u="sng" dirty="0" smtClean="0"/>
              <a:t>Canasta </a:t>
            </a:r>
            <a:br>
              <a:rPr lang="es-CO" sz="4200" i="1" u="sng" dirty="0" smtClean="0"/>
            </a:br>
            <a:r>
              <a:rPr lang="es-CO" sz="4200" u="sng" dirty="0" smtClean="0"/>
              <a:t>Resultados</a:t>
            </a:r>
            <a:endParaRPr lang="es-ES" sz="4200" u="sng" dirty="0"/>
          </a:p>
        </p:txBody>
      </p:sp>
      <p:sp>
        <p:nvSpPr>
          <p:cNvPr id="5164"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5165"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cxnSp>
        <p:nvCxnSpPr>
          <p:cNvPr id="11" name="10 Conector recto de flecha"/>
          <p:cNvCxnSpPr/>
          <p:nvPr/>
        </p:nvCxnSpPr>
        <p:spPr>
          <a:xfrm rot="5400000">
            <a:off x="2392363" y="4249738"/>
            <a:ext cx="357187"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rot="5400000">
            <a:off x="3463925" y="4392613"/>
            <a:ext cx="642937"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68"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5169" name="Rectangle 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sp>
        <p:nvSpPr>
          <p:cNvPr id="5170" name="Rectangle 8"/>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5171" name="Rectangle 9"/>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cxnSp>
        <p:nvCxnSpPr>
          <p:cNvPr id="21" name="20 Conector recto de flecha"/>
          <p:cNvCxnSpPr/>
          <p:nvPr/>
        </p:nvCxnSpPr>
        <p:spPr>
          <a:xfrm rot="5400000">
            <a:off x="4679950" y="4535488"/>
            <a:ext cx="928687"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3" name="22 Abrir llave"/>
          <p:cNvSpPr/>
          <p:nvPr/>
        </p:nvSpPr>
        <p:spPr>
          <a:xfrm rot="16200000">
            <a:off x="7322344" y="3464719"/>
            <a:ext cx="142875" cy="1357313"/>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a:p>
        </p:txBody>
      </p:sp>
      <p:sp>
        <p:nvSpPr>
          <p:cNvPr id="5174" name="23 CuadroTexto"/>
          <p:cNvSpPr txBox="1">
            <a:spLocks noChangeArrowheads="1"/>
          </p:cNvSpPr>
          <p:nvPr/>
        </p:nvSpPr>
        <p:spPr bwMode="auto">
          <a:xfrm>
            <a:off x="6286500" y="4214813"/>
            <a:ext cx="2286000" cy="1016000"/>
          </a:xfrm>
          <a:prstGeom prst="rect">
            <a:avLst/>
          </a:prstGeom>
          <a:noFill/>
          <a:ln w="9525">
            <a:noFill/>
            <a:miter lim="800000"/>
            <a:headEnd/>
            <a:tailEnd/>
          </a:ln>
        </p:spPr>
        <p:txBody>
          <a:bodyPr>
            <a:spAutoFit/>
          </a:bodyPr>
          <a:lstStyle/>
          <a:p>
            <a:r>
              <a:rPr lang="es-ES" sz="2000">
                <a:latin typeface="Calibri" pitchFamily="34" charset="0"/>
              </a:rPr>
              <a:t>Distribuciones educativas de las madres</a:t>
            </a:r>
            <a:endParaRPr lang="es-AR" sz="2000">
              <a:latin typeface="Calibri" pitchFamily="34" charset="0"/>
            </a:endParaRPr>
          </a:p>
        </p:txBody>
      </p:sp>
      <p:sp>
        <p:nvSpPr>
          <p:cNvPr id="26" name="25 Rectángulo"/>
          <p:cNvSpPr/>
          <p:nvPr/>
        </p:nvSpPr>
        <p:spPr>
          <a:xfrm>
            <a:off x="428625" y="1428750"/>
            <a:ext cx="8429625" cy="4643438"/>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AR"/>
          </a:p>
        </p:txBody>
      </p:sp>
      <p:graphicFrame>
        <p:nvGraphicFramePr>
          <p:cNvPr id="5122" name="Object 1"/>
          <p:cNvGraphicFramePr>
            <a:graphicFrameLocks noChangeAspect="1"/>
          </p:cNvGraphicFramePr>
          <p:nvPr/>
        </p:nvGraphicFramePr>
        <p:xfrm>
          <a:off x="1428750" y="4429125"/>
          <a:ext cx="2143125" cy="385763"/>
        </p:xfrm>
        <a:graphic>
          <a:graphicData uri="http://schemas.openxmlformats.org/presentationml/2006/ole">
            <p:oleObj spid="_x0000_s5122" name="Ecuación" r:id="rId5" imgW="901440" imgH="203040" progId="Equation.3">
              <p:embed/>
            </p:oleObj>
          </a:graphicData>
        </a:graphic>
      </p:graphicFrame>
      <p:graphicFrame>
        <p:nvGraphicFramePr>
          <p:cNvPr id="5123" name="Object 2"/>
          <p:cNvGraphicFramePr>
            <a:graphicFrameLocks noChangeAspect="1"/>
          </p:cNvGraphicFramePr>
          <p:nvPr/>
        </p:nvGraphicFramePr>
        <p:xfrm>
          <a:off x="2643188" y="4786313"/>
          <a:ext cx="2263775" cy="385762"/>
        </p:xfrm>
        <a:graphic>
          <a:graphicData uri="http://schemas.openxmlformats.org/presentationml/2006/ole">
            <p:oleObj spid="_x0000_s5123" name="Ecuación" r:id="rId6" imgW="952200" imgH="203040" progId="Equation.3">
              <p:embed/>
            </p:oleObj>
          </a:graphicData>
        </a:graphic>
      </p:graphicFrame>
      <p:graphicFrame>
        <p:nvGraphicFramePr>
          <p:cNvPr id="5124" name="Object 3"/>
          <p:cNvGraphicFramePr>
            <a:graphicFrameLocks noChangeAspect="1"/>
          </p:cNvGraphicFramePr>
          <p:nvPr/>
        </p:nvGraphicFramePr>
        <p:xfrm>
          <a:off x="4071938" y="5143500"/>
          <a:ext cx="2203450" cy="385763"/>
        </p:xfrm>
        <a:graphic>
          <a:graphicData uri="http://schemas.openxmlformats.org/presentationml/2006/ole">
            <p:oleObj spid="_x0000_s5124" name="Ecuación" r:id="rId7" imgW="927000" imgH="203040" progId="Equation.3">
              <p:embed/>
            </p:oleObj>
          </a:graphicData>
        </a:graphic>
      </p:graphicFrame>
      <p:sp>
        <p:nvSpPr>
          <p:cNvPr id="24" name="23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47A14D0F-CDE0-4DDE-8C39-CCF6CFECC07F}" type="slidenum">
              <a:rPr lang="es-CO" sz="1500">
                <a:solidFill>
                  <a:schemeClr val="tx1">
                    <a:lumMod val="50000"/>
                    <a:lumOff val="50000"/>
                  </a:schemeClr>
                </a:solidFill>
                <a:latin typeface="+mn-lt"/>
                <a:cs typeface="+mn-cs"/>
              </a:rPr>
              <a:pPr algn="ctr" fontAlgn="auto">
                <a:spcBef>
                  <a:spcPts val="0"/>
                </a:spcBef>
                <a:spcAft>
                  <a:spcPts val="0"/>
                </a:spcAft>
                <a:defRPr/>
              </a:pPr>
              <a:t>9</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endParaRPr lang="es-ES" dirty="0" smtClean="0"/>
          </a:p>
          <a:p>
            <a:pPr eaLnBrk="1" fontAlgn="auto" hangingPunct="1">
              <a:spcAft>
                <a:spcPts val="0"/>
              </a:spcAft>
              <a:buFont typeface="Arial" pitchFamily="34" charset="0"/>
              <a:buChar char="•"/>
              <a:defRPr/>
            </a:pPr>
            <a:endParaRPr lang="es-ES" dirty="0" smtClean="0"/>
          </a:p>
          <a:p>
            <a:pPr eaLnBrk="1" fontAlgn="auto" hangingPunct="1">
              <a:spcAft>
                <a:spcPts val="0"/>
              </a:spcAft>
              <a:buFont typeface="Arial" pitchFamily="34" charset="0"/>
              <a:buChar char="•"/>
              <a:defRPr/>
            </a:pPr>
            <a:endParaRPr lang="es-ES" dirty="0" smtClean="0"/>
          </a:p>
          <a:p>
            <a:pPr eaLnBrk="1" fontAlgn="auto" hangingPunct="1">
              <a:spcAft>
                <a:spcPts val="0"/>
              </a:spcAft>
              <a:buFont typeface="Arial" pitchFamily="34" charset="0"/>
              <a:buChar char="•"/>
              <a:defRPr/>
            </a:pPr>
            <a:endParaRPr lang="es-ES" dirty="0" smtClean="0"/>
          </a:p>
          <a:p>
            <a:pPr eaLnBrk="1" fontAlgn="auto" hangingPunct="1">
              <a:spcAft>
                <a:spcPts val="0"/>
              </a:spcAft>
              <a:buFont typeface="Arial" pitchFamily="34" charset="0"/>
              <a:buChar char="•"/>
              <a:defRPr/>
            </a:pPr>
            <a:endParaRPr lang="es-AR" dirty="0"/>
          </a:p>
        </p:txBody>
      </p:sp>
      <p:sp>
        <p:nvSpPr>
          <p:cNvPr id="4" name="1 Título"/>
          <p:cNvSpPr>
            <a:spLocks noGrp="1"/>
          </p:cNvSpPr>
          <p:nvPr>
            <p:ph type="title"/>
          </p:nvPr>
        </p:nvSpPr>
        <p:spPr>
          <a:xfrm>
            <a:off x="1885950" y="285750"/>
            <a:ext cx="6972300" cy="1000125"/>
          </a:xfrm>
        </p:spPr>
        <p:txBody>
          <a:bodyPr rtlCol="0">
            <a:normAutofit fontScale="90000"/>
          </a:bodyPr>
          <a:lstStyle/>
          <a:p>
            <a:pPr eaLnBrk="1" fontAlgn="auto" hangingPunct="1">
              <a:spcAft>
                <a:spcPts val="0"/>
              </a:spcAft>
              <a:defRPr/>
            </a:pPr>
            <a:r>
              <a:rPr lang="es-CO" sz="4200" u="sng" dirty="0" smtClean="0"/>
              <a:t>Ejemplo:</a:t>
            </a:r>
            <a:r>
              <a:rPr lang="es-CO" sz="4200" i="1" u="sng" dirty="0" smtClean="0"/>
              <a:t> Canasta</a:t>
            </a:r>
            <a:br>
              <a:rPr lang="es-CO" sz="4200" i="1" u="sng" dirty="0" smtClean="0"/>
            </a:br>
            <a:r>
              <a:rPr lang="es-CO" sz="4200" u="sng" dirty="0" smtClean="0"/>
              <a:t>ATT</a:t>
            </a:r>
            <a:endParaRPr lang="es-ES" sz="4200" i="1" u="sng" dirty="0"/>
          </a:p>
        </p:txBody>
      </p:sp>
      <p:pic>
        <p:nvPicPr>
          <p:cNvPr id="6155"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615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57" name="Rectangle 3"/>
          <p:cNvSpPr>
            <a:spLocks noChangeArrowheads="1"/>
          </p:cNvSpPr>
          <p:nvPr/>
        </p:nvSpPr>
        <p:spPr bwMode="auto">
          <a:xfrm>
            <a:off x="0" y="1209675"/>
            <a:ext cx="9144000" cy="0"/>
          </a:xfrm>
          <a:prstGeom prst="rect">
            <a:avLst/>
          </a:prstGeom>
          <a:noFill/>
          <a:ln w="9525">
            <a:noFill/>
            <a:miter lim="800000"/>
            <a:headEnd/>
            <a:tailEnd/>
          </a:ln>
        </p:spPr>
        <p:txBody>
          <a:bodyPr wrap="none" anchor="ctr">
            <a:spAutoFit/>
          </a:bodyPr>
          <a:lstStyle/>
          <a:p>
            <a:endParaRPr lang="es-AR"/>
          </a:p>
        </p:txBody>
      </p:sp>
      <p:sp>
        <p:nvSpPr>
          <p:cNvPr id="6158"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59" name="Rectangle 6"/>
          <p:cNvSpPr>
            <a:spLocks noChangeArrowheads="1"/>
          </p:cNvSpPr>
          <p:nvPr/>
        </p:nvSpPr>
        <p:spPr bwMode="auto">
          <a:xfrm>
            <a:off x="0" y="1600200"/>
            <a:ext cx="9144000" cy="0"/>
          </a:xfrm>
          <a:prstGeom prst="rect">
            <a:avLst/>
          </a:prstGeom>
          <a:noFill/>
          <a:ln w="9525">
            <a:noFill/>
            <a:miter lim="800000"/>
            <a:headEnd/>
            <a:tailEnd/>
          </a:ln>
        </p:spPr>
        <p:txBody>
          <a:bodyPr wrap="none" anchor="ctr">
            <a:spAutoFit/>
          </a:bodyPr>
          <a:lstStyle/>
          <a:p>
            <a:endParaRPr lang="es-AR"/>
          </a:p>
        </p:txBody>
      </p:sp>
      <p:sp>
        <p:nvSpPr>
          <p:cNvPr id="616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1"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2"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3"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4" name="Rectangle 16"/>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5" name="Rectangle 17"/>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sp>
        <p:nvSpPr>
          <p:cNvPr id="6166" name="Rectangle 19"/>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7" name="Rectangle 20"/>
          <p:cNvSpPr>
            <a:spLocks noChangeArrowheads="1"/>
          </p:cNvSpPr>
          <p:nvPr/>
        </p:nvSpPr>
        <p:spPr bwMode="auto">
          <a:xfrm>
            <a:off x="0" y="1209675"/>
            <a:ext cx="9144000" cy="0"/>
          </a:xfrm>
          <a:prstGeom prst="rect">
            <a:avLst/>
          </a:prstGeom>
          <a:noFill/>
          <a:ln w="9525">
            <a:noFill/>
            <a:miter lim="800000"/>
            <a:headEnd/>
            <a:tailEnd/>
          </a:ln>
        </p:spPr>
        <p:txBody>
          <a:bodyPr wrap="none" anchor="ctr">
            <a:spAutoFit/>
          </a:bodyPr>
          <a:lstStyle/>
          <a:p>
            <a:endParaRPr lang="es-AR"/>
          </a:p>
        </p:txBody>
      </p:sp>
      <p:sp>
        <p:nvSpPr>
          <p:cNvPr id="6168" name="Rectangle 2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69" name="Rectangle 2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6170" name="Rectangle 25"/>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sp>
        <p:nvSpPr>
          <p:cNvPr id="617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6172" name="Rectangle 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6173" name="Rectangle 5"/>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graphicFrame>
        <p:nvGraphicFramePr>
          <p:cNvPr id="6146" name="Object 1"/>
          <p:cNvGraphicFramePr>
            <a:graphicFrameLocks noChangeAspect="1"/>
          </p:cNvGraphicFramePr>
          <p:nvPr/>
        </p:nvGraphicFramePr>
        <p:xfrm>
          <a:off x="642938" y="1785938"/>
          <a:ext cx="3068637" cy="500062"/>
        </p:xfrm>
        <a:graphic>
          <a:graphicData uri="http://schemas.openxmlformats.org/presentationml/2006/ole">
            <p:oleObj spid="_x0000_s6146" name="Ecuación" r:id="rId5" imgW="1130040" imgH="215640" progId="Equation.3">
              <p:embed/>
            </p:oleObj>
          </a:graphicData>
        </a:graphic>
      </p:graphicFrame>
      <p:graphicFrame>
        <p:nvGraphicFramePr>
          <p:cNvPr id="6147" name="Object 2"/>
          <p:cNvGraphicFramePr>
            <a:graphicFrameLocks noChangeAspect="1"/>
          </p:cNvGraphicFramePr>
          <p:nvPr/>
        </p:nvGraphicFramePr>
        <p:xfrm>
          <a:off x="1785938" y="2357438"/>
          <a:ext cx="5143500" cy="500062"/>
        </p:xfrm>
        <a:graphic>
          <a:graphicData uri="http://schemas.openxmlformats.org/presentationml/2006/ole">
            <p:oleObj spid="_x0000_s6147" name="Ecuación" r:id="rId6" imgW="1904760" imgH="203040" progId="Equation.3">
              <p:embed/>
            </p:oleObj>
          </a:graphicData>
        </a:graphic>
      </p:graphicFrame>
      <p:graphicFrame>
        <p:nvGraphicFramePr>
          <p:cNvPr id="6148" name="Object 3"/>
          <p:cNvGraphicFramePr>
            <a:graphicFrameLocks noChangeAspect="1"/>
          </p:cNvGraphicFramePr>
          <p:nvPr/>
        </p:nvGraphicFramePr>
        <p:xfrm>
          <a:off x="642938" y="2928938"/>
          <a:ext cx="7786687" cy="571500"/>
        </p:xfrm>
        <a:graphic>
          <a:graphicData uri="http://schemas.openxmlformats.org/presentationml/2006/ole">
            <p:oleObj spid="_x0000_s6148" name="Ecuación" r:id="rId7" imgW="2958840" imgH="241200" progId="Equation.3">
              <p:embed/>
            </p:oleObj>
          </a:graphicData>
        </a:graphic>
      </p:graphicFrame>
      <p:graphicFrame>
        <p:nvGraphicFramePr>
          <p:cNvPr id="6149" name="Object 4"/>
          <p:cNvGraphicFramePr>
            <a:graphicFrameLocks noChangeAspect="1"/>
          </p:cNvGraphicFramePr>
          <p:nvPr/>
        </p:nvGraphicFramePr>
        <p:xfrm>
          <a:off x="3000375" y="3571875"/>
          <a:ext cx="796925" cy="428625"/>
        </p:xfrm>
        <a:graphic>
          <a:graphicData uri="http://schemas.openxmlformats.org/presentationml/2006/ole">
            <p:oleObj spid="_x0000_s6149" name="Ecuación" r:id="rId8" imgW="317160" imgH="177480" progId="Equation.3">
              <p:embed/>
            </p:oleObj>
          </a:graphicData>
        </a:graphic>
      </p:graphicFrame>
      <p:graphicFrame>
        <p:nvGraphicFramePr>
          <p:cNvPr id="6150" name="Object 5"/>
          <p:cNvGraphicFramePr>
            <a:graphicFrameLocks noChangeAspect="1"/>
          </p:cNvGraphicFramePr>
          <p:nvPr/>
        </p:nvGraphicFramePr>
        <p:xfrm>
          <a:off x="642938" y="4000500"/>
          <a:ext cx="7786687" cy="571500"/>
        </p:xfrm>
        <a:graphic>
          <a:graphicData uri="http://schemas.openxmlformats.org/presentationml/2006/ole">
            <p:oleObj spid="_x0000_s6150" name="Ecuación" r:id="rId9" imgW="2984400" imgH="241200" progId="Equation.3">
              <p:embed/>
            </p:oleObj>
          </a:graphicData>
        </a:graphic>
      </p:graphicFrame>
      <p:graphicFrame>
        <p:nvGraphicFramePr>
          <p:cNvPr id="6151" name="Object 6"/>
          <p:cNvGraphicFramePr>
            <a:graphicFrameLocks noChangeAspect="1"/>
          </p:cNvGraphicFramePr>
          <p:nvPr/>
        </p:nvGraphicFramePr>
        <p:xfrm>
          <a:off x="3000375" y="4643438"/>
          <a:ext cx="796925" cy="428625"/>
        </p:xfrm>
        <a:graphic>
          <a:graphicData uri="http://schemas.openxmlformats.org/presentationml/2006/ole">
            <p:oleObj spid="_x0000_s6151" name="Ecuación" r:id="rId10" imgW="317160" imgH="177480" progId="Equation.3">
              <p:embed/>
            </p:oleObj>
          </a:graphicData>
        </a:graphic>
      </p:graphicFrame>
      <p:graphicFrame>
        <p:nvGraphicFramePr>
          <p:cNvPr id="6152" name="Object 7"/>
          <p:cNvGraphicFramePr>
            <a:graphicFrameLocks noChangeAspect="1"/>
          </p:cNvGraphicFramePr>
          <p:nvPr/>
        </p:nvGraphicFramePr>
        <p:xfrm>
          <a:off x="2214563" y="5143500"/>
          <a:ext cx="3205162" cy="500063"/>
        </p:xfrm>
        <a:graphic>
          <a:graphicData uri="http://schemas.openxmlformats.org/presentationml/2006/ole">
            <p:oleObj spid="_x0000_s6152" name="Ecuación" r:id="rId11" imgW="1180800" imgH="215640" progId="Equation.3">
              <p:embed/>
            </p:oleObj>
          </a:graphicData>
        </a:graphic>
      </p:graphicFrame>
      <p:sp>
        <p:nvSpPr>
          <p:cNvPr id="32" name="3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8E4E9FEA-D530-4AA8-8AB6-07AFE25809B2}" type="slidenum">
              <a:rPr lang="es-CO" sz="1500">
                <a:solidFill>
                  <a:schemeClr val="tx1">
                    <a:lumMod val="50000"/>
                    <a:lumOff val="50000"/>
                  </a:schemeClr>
                </a:solidFill>
                <a:latin typeface="+mn-lt"/>
                <a:cs typeface="+mn-cs"/>
              </a:rPr>
              <a:pPr algn="ctr" fontAlgn="auto">
                <a:spcBef>
                  <a:spcPts val="0"/>
                </a:spcBef>
                <a:spcAft>
                  <a:spcPts val="0"/>
                </a:spcAft>
                <a:defRPr/>
              </a:pPr>
              <a:t>10</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 name="2 Marcador de contenido"/>
          <p:cNvSpPr>
            <a:spLocks noGrp="1"/>
          </p:cNvSpPr>
          <p:nvPr>
            <p:ph idx="1"/>
          </p:nvPr>
        </p:nvSpPr>
        <p:spPr>
          <a:xfrm>
            <a:off x="457200" y="1600200"/>
            <a:ext cx="8229600" cy="4614863"/>
          </a:xfrm>
          <a:ln w="28575">
            <a:solidFill>
              <a:schemeClr val="tx2"/>
            </a:solidFill>
          </a:ln>
        </p:spPr>
        <p:txBody>
          <a:bodyPr/>
          <a:lstStyle/>
          <a:p>
            <a:pPr eaLnBrk="1" hangingPunct="1">
              <a:buFont typeface="Arial" charset="0"/>
              <a:buNone/>
            </a:pPr>
            <a:r>
              <a:rPr lang="es-ES" sz="2500" u="sng" smtClean="0"/>
              <a:t>Dado que                               no es observable (hipotético),</a:t>
            </a:r>
            <a:r>
              <a:rPr lang="es-ES" sz="2500" smtClean="0"/>
              <a:t> </a:t>
            </a:r>
          </a:p>
          <a:p>
            <a:pPr eaLnBrk="1" hangingPunct="1">
              <a:buFont typeface="Arial" charset="0"/>
              <a:buNone/>
            </a:pPr>
            <a:r>
              <a:rPr lang="es-ES" sz="2500" smtClean="0"/>
              <a:t>calculamos: </a:t>
            </a:r>
            <a:endParaRPr lang="es-AR" sz="2500" smtClean="0"/>
          </a:p>
        </p:txBody>
      </p:sp>
      <p:pic>
        <p:nvPicPr>
          <p:cNvPr id="7179"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5" name="1 Título"/>
          <p:cNvSpPr>
            <a:spLocks noGrp="1"/>
          </p:cNvSpPr>
          <p:nvPr>
            <p:ph type="title"/>
          </p:nvPr>
        </p:nvSpPr>
        <p:spPr>
          <a:xfrm>
            <a:off x="1885950" y="285750"/>
            <a:ext cx="6972300" cy="1000125"/>
          </a:xfrm>
        </p:spPr>
        <p:txBody>
          <a:bodyPr rtlCol="0">
            <a:normAutofit fontScale="90000"/>
          </a:bodyPr>
          <a:lstStyle/>
          <a:p>
            <a:pPr eaLnBrk="1" fontAlgn="auto" hangingPunct="1">
              <a:spcAft>
                <a:spcPts val="0"/>
              </a:spcAft>
              <a:defRPr/>
            </a:pPr>
            <a:r>
              <a:rPr lang="es-CO" sz="4200" u="sng" dirty="0" smtClean="0"/>
              <a:t>Ejemplo: </a:t>
            </a:r>
            <a:r>
              <a:rPr lang="es-CO" sz="4200" i="1" u="sng" dirty="0" smtClean="0"/>
              <a:t>Canasta</a:t>
            </a:r>
            <a:br>
              <a:rPr lang="es-CO" sz="4200" i="1" u="sng" dirty="0" smtClean="0"/>
            </a:br>
            <a:r>
              <a:rPr lang="es-CO" sz="4200" u="sng" dirty="0" smtClean="0"/>
              <a:t>ATT</a:t>
            </a:r>
            <a:endParaRPr lang="es-ES" sz="4200" u="sng" dirty="0"/>
          </a:p>
        </p:txBody>
      </p:sp>
      <p:sp>
        <p:nvSpPr>
          <p:cNvPr id="718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718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7183"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7184"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7185"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7186" name="Rectangle 7"/>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7187" name="Rectangle 8"/>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graphicFrame>
        <p:nvGraphicFramePr>
          <p:cNvPr id="7170" name="Object 1"/>
          <p:cNvGraphicFramePr>
            <a:graphicFrameLocks noChangeAspect="1"/>
          </p:cNvGraphicFramePr>
          <p:nvPr/>
        </p:nvGraphicFramePr>
        <p:xfrm>
          <a:off x="571500" y="2500313"/>
          <a:ext cx="3068638" cy="500062"/>
        </p:xfrm>
        <a:graphic>
          <a:graphicData uri="http://schemas.openxmlformats.org/presentationml/2006/ole">
            <p:oleObj spid="_x0000_s7170" name="Ecuación" r:id="rId5" imgW="1130040" imgH="215640" progId="Equation.3">
              <p:embed/>
            </p:oleObj>
          </a:graphicData>
        </a:graphic>
      </p:graphicFrame>
      <p:graphicFrame>
        <p:nvGraphicFramePr>
          <p:cNvPr id="7171" name="Object 2"/>
          <p:cNvGraphicFramePr>
            <a:graphicFrameLocks noChangeAspect="1"/>
          </p:cNvGraphicFramePr>
          <p:nvPr/>
        </p:nvGraphicFramePr>
        <p:xfrm>
          <a:off x="2000250" y="1643063"/>
          <a:ext cx="1785938" cy="392112"/>
        </p:xfrm>
        <a:graphic>
          <a:graphicData uri="http://schemas.openxmlformats.org/presentationml/2006/ole">
            <p:oleObj spid="_x0000_s7171" name="Ecuación" r:id="rId6" imgW="927000" imgH="203040" progId="Equation.3">
              <p:embed/>
            </p:oleObj>
          </a:graphicData>
        </a:graphic>
      </p:graphicFrame>
      <p:graphicFrame>
        <p:nvGraphicFramePr>
          <p:cNvPr id="7172" name="Object 3"/>
          <p:cNvGraphicFramePr>
            <a:graphicFrameLocks noChangeAspect="1"/>
          </p:cNvGraphicFramePr>
          <p:nvPr/>
        </p:nvGraphicFramePr>
        <p:xfrm>
          <a:off x="1928813" y="3071813"/>
          <a:ext cx="5143500" cy="500062"/>
        </p:xfrm>
        <a:graphic>
          <a:graphicData uri="http://schemas.openxmlformats.org/presentationml/2006/ole">
            <p:oleObj spid="_x0000_s7172" name="Ecuación" r:id="rId7" imgW="1930320" imgH="203040" progId="Equation.3">
              <p:embed/>
            </p:oleObj>
          </a:graphicData>
        </a:graphic>
      </p:graphicFrame>
      <p:graphicFrame>
        <p:nvGraphicFramePr>
          <p:cNvPr id="7173" name="Object 4"/>
          <p:cNvGraphicFramePr>
            <a:graphicFrameLocks noChangeAspect="1"/>
          </p:cNvGraphicFramePr>
          <p:nvPr/>
        </p:nvGraphicFramePr>
        <p:xfrm>
          <a:off x="714375" y="3643313"/>
          <a:ext cx="7786688" cy="571500"/>
        </p:xfrm>
        <a:graphic>
          <a:graphicData uri="http://schemas.openxmlformats.org/presentationml/2006/ole">
            <p:oleObj spid="_x0000_s7173" name="Ecuación" r:id="rId8" imgW="2971800" imgH="241200" progId="Equation.3">
              <p:embed/>
            </p:oleObj>
          </a:graphicData>
        </a:graphic>
      </p:graphicFrame>
      <p:graphicFrame>
        <p:nvGraphicFramePr>
          <p:cNvPr id="7174" name="Object 5"/>
          <p:cNvGraphicFramePr>
            <a:graphicFrameLocks noChangeAspect="1"/>
          </p:cNvGraphicFramePr>
          <p:nvPr/>
        </p:nvGraphicFramePr>
        <p:xfrm>
          <a:off x="3071813" y="4286250"/>
          <a:ext cx="796925" cy="428625"/>
        </p:xfrm>
        <a:graphic>
          <a:graphicData uri="http://schemas.openxmlformats.org/presentationml/2006/ole">
            <p:oleObj spid="_x0000_s7174" name="Ecuación" r:id="rId9" imgW="317160" imgH="177480" progId="Equation.3">
              <p:embed/>
            </p:oleObj>
          </a:graphicData>
        </a:graphic>
      </p:graphicFrame>
      <p:graphicFrame>
        <p:nvGraphicFramePr>
          <p:cNvPr id="7175" name="Object 6"/>
          <p:cNvGraphicFramePr>
            <a:graphicFrameLocks noChangeAspect="1"/>
          </p:cNvGraphicFramePr>
          <p:nvPr/>
        </p:nvGraphicFramePr>
        <p:xfrm>
          <a:off x="571500" y="4643438"/>
          <a:ext cx="7951788" cy="571500"/>
        </p:xfrm>
        <a:graphic>
          <a:graphicData uri="http://schemas.openxmlformats.org/presentationml/2006/ole">
            <p:oleObj spid="_x0000_s7175" name="Ecuación" r:id="rId10" imgW="3035160" imgH="241200" progId="Equation.3">
              <p:embed/>
            </p:oleObj>
          </a:graphicData>
        </a:graphic>
      </p:graphicFrame>
      <p:graphicFrame>
        <p:nvGraphicFramePr>
          <p:cNvPr id="7176" name="Object 7"/>
          <p:cNvGraphicFramePr>
            <a:graphicFrameLocks noChangeAspect="1"/>
          </p:cNvGraphicFramePr>
          <p:nvPr/>
        </p:nvGraphicFramePr>
        <p:xfrm>
          <a:off x="3071813" y="5214938"/>
          <a:ext cx="796925" cy="398462"/>
        </p:xfrm>
        <a:graphic>
          <a:graphicData uri="http://schemas.openxmlformats.org/presentationml/2006/ole">
            <p:oleObj spid="_x0000_s7176" name="Ecuación" r:id="rId11" imgW="317160" imgH="164880" progId="Equation.3">
              <p:embed/>
            </p:oleObj>
          </a:graphicData>
        </a:graphic>
      </p:graphicFrame>
      <p:graphicFrame>
        <p:nvGraphicFramePr>
          <p:cNvPr id="7177" name="Object 9"/>
          <p:cNvGraphicFramePr>
            <a:graphicFrameLocks noChangeAspect="1"/>
          </p:cNvGraphicFramePr>
          <p:nvPr/>
        </p:nvGraphicFramePr>
        <p:xfrm>
          <a:off x="2214563" y="5643563"/>
          <a:ext cx="3241675" cy="500062"/>
        </p:xfrm>
        <a:graphic>
          <a:graphicData uri="http://schemas.openxmlformats.org/presentationml/2006/ole">
            <p:oleObj spid="_x0000_s7177" name="Ecuación" r:id="rId12" imgW="1193760" imgH="215640" progId="Equation.3">
              <p:embed/>
            </p:oleObj>
          </a:graphicData>
        </a:graphic>
      </p:graphicFrame>
      <p:sp>
        <p:nvSpPr>
          <p:cNvPr id="22" name="2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97F2081E-CBA7-4B1B-B24B-E8EA557CFD65}" type="slidenum">
              <a:rPr lang="es-CO" sz="1500">
                <a:solidFill>
                  <a:schemeClr val="tx1">
                    <a:lumMod val="50000"/>
                    <a:lumOff val="50000"/>
                  </a:schemeClr>
                </a:solidFill>
                <a:latin typeface="+mn-lt"/>
                <a:cs typeface="+mn-cs"/>
              </a:rPr>
              <a:pPr algn="ctr" fontAlgn="auto">
                <a:spcBef>
                  <a:spcPts val="0"/>
                </a:spcBef>
                <a:spcAft>
                  <a:spcPts val="0"/>
                </a:spcAft>
                <a:defRPr/>
              </a:pPr>
              <a:t>11</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2 Marcador de contenido"/>
          <p:cNvSpPr>
            <a:spLocks noGrp="1"/>
          </p:cNvSpPr>
          <p:nvPr>
            <p:ph idx="1"/>
          </p:nvPr>
        </p:nvSpPr>
        <p:spPr>
          <a:xfrm>
            <a:off x="457200" y="1928813"/>
            <a:ext cx="8229600" cy="4197350"/>
          </a:xfrm>
        </p:spPr>
        <p:txBody>
          <a:bodyPr/>
          <a:lstStyle/>
          <a:p>
            <a:pPr eaLnBrk="1" hangingPunct="1">
              <a:buFont typeface="Arial" charset="0"/>
              <a:buNone/>
            </a:pPr>
            <a:r>
              <a:rPr lang="es-CO" sz="2500" smtClean="0"/>
              <a:t>	La eficiencia del estimador se puede mejorar dependiendo de la disponibilidad de datos.</a:t>
            </a:r>
          </a:p>
          <a:p>
            <a:pPr eaLnBrk="1" hangingPunct="1"/>
            <a:endParaRPr lang="es-CO" sz="2500" smtClean="0"/>
          </a:p>
          <a:p>
            <a:pPr lvl="1" eaLnBrk="1" hangingPunct="1">
              <a:buFont typeface="Arial" charset="0"/>
              <a:buNone/>
            </a:pPr>
            <a:r>
              <a:rPr lang="es-CO" sz="2500" smtClean="0"/>
              <a:t>	El estimador de diferencias puede no ser eficiente, porque: </a:t>
            </a:r>
          </a:p>
          <a:p>
            <a:pPr lvl="3" eaLnBrk="1" hangingPunct="1">
              <a:buFont typeface="Arial" charset="0"/>
              <a:buNone/>
            </a:pPr>
            <a:r>
              <a:rPr lang="es-CO" sz="2500" smtClean="0"/>
              <a:t>	Otras variables, distintas al tratamiento, pueden también determinar la variable de resultado aun cuando la aleatorización es exitosa.</a:t>
            </a:r>
            <a:endParaRPr lang="es-ES" sz="2500" smtClean="0"/>
          </a:p>
        </p:txBody>
      </p:sp>
      <p:pic>
        <p:nvPicPr>
          <p:cNvPr id="28675"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28676" name="1 Título"/>
          <p:cNvSpPr>
            <a:spLocks noGrp="1"/>
          </p:cNvSpPr>
          <p:nvPr>
            <p:ph type="title"/>
          </p:nvPr>
        </p:nvSpPr>
        <p:spPr>
          <a:xfrm>
            <a:off x="2071688" y="285750"/>
            <a:ext cx="6786562" cy="1071563"/>
          </a:xfrm>
        </p:spPr>
        <p:txBody>
          <a:bodyPr/>
          <a:lstStyle/>
          <a:p>
            <a:pPr eaLnBrk="1" hangingPunct="1"/>
            <a:r>
              <a:rPr lang="es-CO" sz="4200" u="sng" smtClean="0"/>
              <a:t>Estimador de diferencias con regresores adicionales</a:t>
            </a:r>
            <a:endParaRPr lang="es-ES" sz="4200" u="sng" smtClean="0"/>
          </a:p>
        </p:txBody>
      </p:sp>
      <p:cxnSp>
        <p:nvCxnSpPr>
          <p:cNvPr id="8" name="7 Conector recto de flecha"/>
          <p:cNvCxnSpPr/>
          <p:nvPr/>
        </p:nvCxnSpPr>
        <p:spPr>
          <a:xfrm>
            <a:off x="1428750" y="4284663"/>
            <a:ext cx="642938"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8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C1984899-811E-4537-BDB3-5C5C192F11AE}" type="slidenum">
              <a:rPr lang="es-CO" sz="1500">
                <a:solidFill>
                  <a:schemeClr val="tx1">
                    <a:lumMod val="50000"/>
                    <a:lumOff val="50000"/>
                  </a:schemeClr>
                </a:solidFill>
                <a:latin typeface="+mn-lt"/>
                <a:cs typeface="+mn-cs"/>
              </a:rPr>
              <a:pPr algn="ctr" fontAlgn="auto">
                <a:spcBef>
                  <a:spcPts val="0"/>
                </a:spcBef>
                <a:spcAft>
                  <a:spcPts val="0"/>
                </a:spcAft>
                <a:defRPr/>
              </a:pPr>
              <a:t>12</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2 Marcador de contenido"/>
          <p:cNvSpPr>
            <a:spLocks noGrp="1"/>
          </p:cNvSpPr>
          <p:nvPr>
            <p:ph idx="1"/>
          </p:nvPr>
        </p:nvSpPr>
        <p:spPr>
          <a:xfrm>
            <a:off x="457200" y="2143125"/>
            <a:ext cx="8229600" cy="3983038"/>
          </a:xfrm>
        </p:spPr>
        <p:txBody>
          <a:bodyPr/>
          <a:lstStyle/>
          <a:p>
            <a:pPr eaLnBrk="1" hangingPunct="1">
              <a:buFont typeface="Arial" charset="0"/>
              <a:buNone/>
            </a:pPr>
            <a:r>
              <a:rPr lang="es-CO" sz="2500" smtClean="0"/>
              <a:t>	Si la información que afecta la variable de interés está contenida en la base de datos, se puede incluir en la regresión como:</a:t>
            </a:r>
          </a:p>
          <a:p>
            <a:pPr eaLnBrk="1" hangingPunct="1">
              <a:buFont typeface="Arial" charset="0"/>
              <a:buNone/>
            </a:pPr>
            <a:endParaRPr lang="es-ES" smtClean="0"/>
          </a:p>
        </p:txBody>
      </p:sp>
      <p:pic>
        <p:nvPicPr>
          <p:cNvPr id="8196"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8197" name="1 Título"/>
          <p:cNvSpPr>
            <a:spLocks noGrp="1"/>
          </p:cNvSpPr>
          <p:nvPr>
            <p:ph type="title"/>
          </p:nvPr>
        </p:nvSpPr>
        <p:spPr>
          <a:xfrm>
            <a:off x="2000250" y="285750"/>
            <a:ext cx="6858000" cy="1071563"/>
          </a:xfrm>
        </p:spPr>
        <p:txBody>
          <a:bodyPr/>
          <a:lstStyle/>
          <a:p>
            <a:pPr eaLnBrk="1" hangingPunct="1"/>
            <a:r>
              <a:rPr lang="es-CO" sz="4200" u="sng" smtClean="0"/>
              <a:t>Estimador de diferencias con regresores adicionales</a:t>
            </a:r>
            <a:endParaRPr lang="es-ES" sz="4200" u="sng" smtClean="0"/>
          </a:p>
        </p:txBody>
      </p:sp>
      <p:sp>
        <p:nvSpPr>
          <p:cNvPr id="8198"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8199"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8200" name="12 CuadroTexto"/>
          <p:cNvSpPr txBox="1">
            <a:spLocks noChangeArrowheads="1"/>
          </p:cNvSpPr>
          <p:nvPr/>
        </p:nvSpPr>
        <p:spPr bwMode="auto">
          <a:xfrm>
            <a:off x="5033963" y="4643438"/>
            <a:ext cx="3324225" cy="1323975"/>
          </a:xfrm>
          <a:prstGeom prst="rect">
            <a:avLst/>
          </a:prstGeom>
          <a:noFill/>
          <a:ln w="9525">
            <a:noFill/>
            <a:miter lim="800000"/>
            <a:headEnd/>
            <a:tailEnd/>
          </a:ln>
        </p:spPr>
        <p:txBody>
          <a:bodyPr>
            <a:spAutoFit/>
          </a:bodyPr>
          <a:lstStyle/>
          <a:p>
            <a:r>
              <a:rPr lang="es-CO" sz="2000">
                <a:latin typeface="Calibri" pitchFamily="34" charset="0"/>
              </a:rPr>
              <a:t>Características del individuo</a:t>
            </a:r>
          </a:p>
          <a:p>
            <a:r>
              <a:rPr lang="es-CO" sz="2000">
                <a:latin typeface="Calibri" pitchFamily="34" charset="0"/>
              </a:rPr>
              <a:t>que explican también la variable de resultado y preceden al tratamiento. </a:t>
            </a:r>
            <a:endParaRPr lang="es-ES" sz="2000">
              <a:latin typeface="Calibri" pitchFamily="34" charset="0"/>
            </a:endParaRPr>
          </a:p>
        </p:txBody>
      </p:sp>
      <p:cxnSp>
        <p:nvCxnSpPr>
          <p:cNvPr id="15" name="14 Conector recto de flecha"/>
          <p:cNvCxnSpPr/>
          <p:nvPr/>
        </p:nvCxnSpPr>
        <p:spPr>
          <a:xfrm>
            <a:off x="5214938" y="4214813"/>
            <a:ext cx="500062" cy="428625"/>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rot="10800000" flipV="1">
            <a:off x="3643313" y="4214813"/>
            <a:ext cx="500062" cy="428625"/>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8203" name="18 CuadroTexto"/>
          <p:cNvSpPr txBox="1">
            <a:spLocks noChangeArrowheads="1"/>
          </p:cNvSpPr>
          <p:nvPr/>
        </p:nvSpPr>
        <p:spPr bwMode="auto">
          <a:xfrm>
            <a:off x="1785938" y="4648200"/>
            <a:ext cx="2928937" cy="1062038"/>
          </a:xfrm>
          <a:prstGeom prst="rect">
            <a:avLst/>
          </a:prstGeom>
          <a:noFill/>
          <a:ln w="9525">
            <a:noFill/>
            <a:miter lim="800000"/>
            <a:headEnd/>
            <a:tailEnd/>
          </a:ln>
        </p:spPr>
        <p:txBody>
          <a:bodyPr>
            <a:spAutoFit/>
          </a:bodyPr>
          <a:lstStyle/>
          <a:p>
            <a:r>
              <a:rPr lang="es-CO" sz="2000">
                <a:latin typeface="Calibri" pitchFamily="34" charset="0"/>
              </a:rPr>
              <a:t>Estimador de diferencias</a:t>
            </a:r>
            <a:r>
              <a:rPr lang="es-ES" sz="2000">
                <a:latin typeface="Calibri" pitchFamily="34" charset="0"/>
              </a:rPr>
              <a:t> con regresores adicionales</a:t>
            </a:r>
            <a:r>
              <a:rPr lang="es-ES" sz="2300">
                <a:latin typeface="Calibri" pitchFamily="34" charset="0"/>
              </a:rPr>
              <a:t>.</a:t>
            </a:r>
            <a:endParaRPr lang="es-CO" sz="2300">
              <a:latin typeface="Calibri" pitchFamily="34" charset="0"/>
            </a:endParaRPr>
          </a:p>
        </p:txBody>
      </p:sp>
      <p:sp>
        <p:nvSpPr>
          <p:cNvPr id="8204"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8205"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graphicFrame>
        <p:nvGraphicFramePr>
          <p:cNvPr id="8194" name="Object 1"/>
          <p:cNvGraphicFramePr>
            <a:graphicFrameLocks noChangeAspect="1"/>
          </p:cNvGraphicFramePr>
          <p:nvPr/>
        </p:nvGraphicFramePr>
        <p:xfrm>
          <a:off x="2357438" y="3786188"/>
          <a:ext cx="3714750" cy="471487"/>
        </p:xfrm>
        <a:graphic>
          <a:graphicData uri="http://schemas.openxmlformats.org/presentationml/2006/ole">
            <p:oleObj spid="_x0000_s8194" name="Ecuación" r:id="rId5" imgW="1574640" imgH="228600" progId="Equation.3">
              <p:embed/>
            </p:oleObj>
          </a:graphicData>
        </a:graphic>
      </p:graphicFrame>
      <p:sp>
        <p:nvSpPr>
          <p:cNvPr id="18" name="17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2DD23FD1-342F-4420-AB9F-33B93A97CA7D}" type="slidenum">
              <a:rPr lang="es-CO" sz="1500">
                <a:solidFill>
                  <a:schemeClr val="tx1">
                    <a:lumMod val="50000"/>
                    <a:lumOff val="50000"/>
                  </a:schemeClr>
                </a:solidFill>
                <a:latin typeface="+mn-lt"/>
                <a:cs typeface="+mn-cs"/>
              </a:rPr>
              <a:pPr algn="ctr" fontAlgn="auto">
                <a:spcBef>
                  <a:spcPts val="0"/>
                </a:spcBef>
                <a:spcAft>
                  <a:spcPts val="0"/>
                </a:spcAft>
                <a:defRPr/>
              </a:pPr>
              <a:t>13</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None/>
              <a:defRPr/>
            </a:pPr>
            <a:r>
              <a:rPr lang="es-ES" sz="2500" dirty="0" smtClean="0"/>
              <a:t>	Suponga que se debe medir la talla para la edad de los niños, donde la asignación al programa está hecha de manera aleatoria.</a:t>
            </a:r>
            <a:endParaRPr lang="es-ES" sz="2100" dirty="0" smtClean="0"/>
          </a:p>
          <a:p>
            <a:pPr eaLnBrk="1" fontAlgn="auto" hangingPunct="1">
              <a:spcAft>
                <a:spcPts val="0"/>
              </a:spcAft>
              <a:buFont typeface="Arial" pitchFamily="34" charset="0"/>
              <a:buNone/>
              <a:defRPr/>
            </a:pPr>
            <a:r>
              <a:rPr lang="es-ES" sz="2100" dirty="0" smtClean="0"/>
              <a:t>      </a:t>
            </a:r>
            <a:r>
              <a:rPr lang="es-ES" sz="2500" dirty="0" smtClean="0"/>
              <a:t>Estimación:</a:t>
            </a:r>
          </a:p>
          <a:p>
            <a:pPr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None/>
              <a:defRPr/>
            </a:pPr>
            <a:r>
              <a:rPr lang="es-ES" sz="2500" dirty="0" smtClean="0"/>
              <a:t> </a:t>
            </a:r>
          </a:p>
        </p:txBody>
      </p:sp>
      <p:pic>
        <p:nvPicPr>
          <p:cNvPr id="9220"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9221" name="1 Título"/>
          <p:cNvSpPr>
            <a:spLocks noGrp="1"/>
          </p:cNvSpPr>
          <p:nvPr>
            <p:ph type="title"/>
          </p:nvPr>
        </p:nvSpPr>
        <p:spPr>
          <a:xfrm>
            <a:off x="1885950" y="285750"/>
            <a:ext cx="6972300" cy="1000125"/>
          </a:xfrm>
        </p:spPr>
        <p:txBody>
          <a:bodyPr/>
          <a:lstStyle/>
          <a:p>
            <a:pPr eaLnBrk="1" hangingPunct="1"/>
            <a:r>
              <a:rPr lang="es-CO" sz="4200" u="sng" smtClean="0"/>
              <a:t>Ejemplo: </a:t>
            </a:r>
            <a:r>
              <a:rPr lang="es-CO" sz="4200" i="1" u="sng" smtClean="0"/>
              <a:t>Canasta </a:t>
            </a:r>
            <a:r>
              <a:rPr lang="es-CO" sz="4200" u="sng" smtClean="0"/>
              <a:t>con asignación aleatoria</a:t>
            </a:r>
            <a:endParaRPr lang="es-ES" sz="4200" u="sng" smtClean="0"/>
          </a:p>
        </p:txBody>
      </p:sp>
      <p:sp>
        <p:nvSpPr>
          <p:cNvPr id="9222" name="Rectangle 2"/>
          <p:cNvSpPr>
            <a:spLocks noChangeArrowheads="1"/>
          </p:cNvSpPr>
          <p:nvPr/>
        </p:nvSpPr>
        <p:spPr bwMode="auto">
          <a:xfrm>
            <a:off x="28575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9223"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cxnSp>
        <p:nvCxnSpPr>
          <p:cNvPr id="11" name="10 Conector recto de flecha"/>
          <p:cNvCxnSpPr/>
          <p:nvPr/>
        </p:nvCxnSpPr>
        <p:spPr>
          <a:xfrm rot="5400000" flipH="1" flipV="1">
            <a:off x="4501356" y="4356894"/>
            <a:ext cx="428625"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9225" name="11 CuadroTexto"/>
          <p:cNvSpPr txBox="1">
            <a:spLocks noChangeArrowheads="1"/>
          </p:cNvSpPr>
          <p:nvPr/>
        </p:nvSpPr>
        <p:spPr bwMode="auto">
          <a:xfrm>
            <a:off x="2428875" y="4643438"/>
            <a:ext cx="4643438" cy="862012"/>
          </a:xfrm>
          <a:prstGeom prst="rect">
            <a:avLst/>
          </a:prstGeom>
          <a:noFill/>
          <a:ln w="9525">
            <a:noFill/>
            <a:miter lim="800000"/>
            <a:headEnd/>
            <a:tailEnd/>
          </a:ln>
        </p:spPr>
        <p:txBody>
          <a:bodyPr>
            <a:spAutoFit/>
          </a:bodyPr>
          <a:lstStyle/>
          <a:p>
            <a:pPr algn="ctr"/>
            <a:r>
              <a:rPr lang="es-ES" sz="2300">
                <a:latin typeface="Calibri" pitchFamily="34" charset="0"/>
              </a:rPr>
              <a:t>Estimador de diferencias que mide el efecto del programa </a:t>
            </a:r>
            <a:r>
              <a:rPr lang="es-ES" sz="2300" i="1">
                <a:latin typeface="Calibri" pitchFamily="34" charset="0"/>
              </a:rPr>
              <a:t>Canasta</a:t>
            </a:r>
            <a:r>
              <a:rPr lang="es-ES" sz="2500">
                <a:latin typeface="Calibri" pitchFamily="34" charset="0"/>
              </a:rPr>
              <a:t>.</a:t>
            </a:r>
            <a:endParaRPr lang="es-AR" sz="2500">
              <a:latin typeface="Calibri" pitchFamily="34" charset="0"/>
            </a:endParaRPr>
          </a:p>
        </p:txBody>
      </p:sp>
      <p:graphicFrame>
        <p:nvGraphicFramePr>
          <p:cNvPr id="9218" name="Object 1"/>
          <p:cNvGraphicFramePr>
            <a:graphicFrameLocks noChangeAspect="1"/>
          </p:cNvGraphicFramePr>
          <p:nvPr/>
        </p:nvGraphicFramePr>
        <p:xfrm>
          <a:off x="3286125" y="3643313"/>
          <a:ext cx="2571750" cy="520700"/>
        </p:xfrm>
        <a:graphic>
          <a:graphicData uri="http://schemas.openxmlformats.org/presentationml/2006/ole">
            <p:oleObj spid="_x0000_s9218" name="Ecuación" r:id="rId5" imgW="1130040" imgH="228600" progId="Equation.3">
              <p:embed/>
            </p:oleObj>
          </a:graphicData>
        </a:graphic>
      </p:graphicFrame>
      <p:sp>
        <p:nvSpPr>
          <p:cNvPr id="12" name="1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B0E6FBF6-DCA9-40E4-802D-DE4D973F42D0}" type="slidenum">
              <a:rPr lang="es-CO" sz="1500">
                <a:solidFill>
                  <a:schemeClr val="tx1">
                    <a:lumMod val="50000"/>
                    <a:lumOff val="50000"/>
                  </a:schemeClr>
                </a:solidFill>
                <a:latin typeface="+mn-lt"/>
                <a:cs typeface="+mn-cs"/>
              </a:rPr>
              <a:pPr algn="ctr" fontAlgn="auto">
                <a:spcBef>
                  <a:spcPts val="0"/>
                </a:spcBef>
                <a:spcAft>
                  <a:spcPts val="0"/>
                </a:spcAft>
                <a:defRPr/>
              </a:pPr>
              <a:t>14</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r>
              <a:rPr lang="es-ES" sz="2500" dirty="0" smtClean="0"/>
              <a:t>Suponga que la población de interés está compuesta por dos razas: altos y bajitos.</a:t>
            </a:r>
          </a:p>
          <a:p>
            <a:pPr lvl="1" eaLnBrk="1" fontAlgn="auto" hangingPunct="1">
              <a:spcAft>
                <a:spcPts val="0"/>
              </a:spcAft>
              <a:buFont typeface="Arial" pitchFamily="34" charset="0"/>
              <a:buChar char="–"/>
              <a:defRPr/>
            </a:pPr>
            <a:endParaRPr lang="es-ES" sz="2500" dirty="0" smtClean="0"/>
          </a:p>
          <a:p>
            <a:pPr lvl="1" eaLnBrk="1" fontAlgn="auto" hangingPunct="1">
              <a:spcAft>
                <a:spcPts val="0"/>
              </a:spcAft>
              <a:buFont typeface="Arial" pitchFamily="34" charset="0"/>
              <a:buChar char="–"/>
              <a:defRPr/>
            </a:pPr>
            <a:r>
              <a:rPr lang="es-ES" sz="2500" dirty="0" smtClean="0"/>
              <a:t>La variable raza afecta la estatura de los niños y no depende de si la familia es beneficiaria o no.</a:t>
            </a:r>
            <a:endParaRPr lang="es-AR" sz="2500" dirty="0"/>
          </a:p>
        </p:txBody>
      </p:sp>
      <p:pic>
        <p:nvPicPr>
          <p:cNvPr id="10244"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0245" name="1 Título"/>
          <p:cNvSpPr>
            <a:spLocks noGrp="1"/>
          </p:cNvSpPr>
          <p:nvPr>
            <p:ph type="title"/>
          </p:nvPr>
        </p:nvSpPr>
        <p:spPr>
          <a:xfrm>
            <a:off x="1885950" y="285750"/>
            <a:ext cx="6972300" cy="1000125"/>
          </a:xfrm>
        </p:spPr>
        <p:txBody>
          <a:bodyPr/>
          <a:lstStyle/>
          <a:p>
            <a:pPr eaLnBrk="1" hangingPunct="1"/>
            <a:r>
              <a:rPr lang="es-CO" sz="4200" u="sng" smtClean="0"/>
              <a:t>Ejemplo: </a:t>
            </a:r>
            <a:r>
              <a:rPr lang="es-CO" sz="4200" i="1" u="sng" smtClean="0"/>
              <a:t>Canasta </a:t>
            </a:r>
            <a:r>
              <a:rPr lang="es-CO" sz="4200" u="sng" smtClean="0"/>
              <a:t>con regresores adicionales</a:t>
            </a:r>
            <a:endParaRPr lang="es-ES" sz="4200" u="sng" smtClean="0"/>
          </a:p>
        </p:txBody>
      </p:sp>
      <p:sp>
        <p:nvSpPr>
          <p:cNvPr id="1024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0247"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cxnSp>
        <p:nvCxnSpPr>
          <p:cNvPr id="11" name="10 Conector recto de flecha"/>
          <p:cNvCxnSpPr/>
          <p:nvPr/>
        </p:nvCxnSpPr>
        <p:spPr>
          <a:xfrm rot="5400000" flipH="1" flipV="1">
            <a:off x="5501482" y="4642644"/>
            <a:ext cx="285750"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249" name="11 CuadroTexto"/>
          <p:cNvSpPr txBox="1">
            <a:spLocks noChangeArrowheads="1"/>
          </p:cNvSpPr>
          <p:nvPr/>
        </p:nvSpPr>
        <p:spPr bwMode="auto">
          <a:xfrm>
            <a:off x="5286375" y="4768850"/>
            <a:ext cx="3044825" cy="862013"/>
          </a:xfrm>
          <a:prstGeom prst="rect">
            <a:avLst/>
          </a:prstGeom>
          <a:noFill/>
          <a:ln w="9525">
            <a:noFill/>
            <a:miter lim="800000"/>
            <a:headEnd/>
            <a:tailEnd/>
          </a:ln>
        </p:spPr>
        <p:txBody>
          <a:bodyPr wrap="none">
            <a:spAutoFit/>
          </a:bodyPr>
          <a:lstStyle/>
          <a:p>
            <a:r>
              <a:rPr lang="es-ES" sz="2500">
                <a:latin typeface="Calibri" pitchFamily="34" charset="0"/>
              </a:rPr>
              <a:t>Raza = 1 para los altos</a:t>
            </a:r>
          </a:p>
          <a:p>
            <a:r>
              <a:rPr lang="es-ES" sz="2500">
                <a:latin typeface="Calibri" pitchFamily="34" charset="0"/>
              </a:rPr>
              <a:t>y 0 para los bajitos.</a:t>
            </a:r>
            <a:endParaRPr lang="es-AR" sz="2500">
              <a:latin typeface="Calibri" pitchFamily="34" charset="0"/>
            </a:endParaRPr>
          </a:p>
        </p:txBody>
      </p:sp>
      <p:cxnSp>
        <p:nvCxnSpPr>
          <p:cNvPr id="14" name="13 Conector recto de flecha"/>
          <p:cNvCxnSpPr/>
          <p:nvPr/>
        </p:nvCxnSpPr>
        <p:spPr>
          <a:xfrm rot="5400000" flipH="1" flipV="1">
            <a:off x="4001293" y="4644232"/>
            <a:ext cx="284163" cy="0"/>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251" name="14 CuadroTexto"/>
          <p:cNvSpPr txBox="1">
            <a:spLocks noChangeArrowheads="1"/>
          </p:cNvSpPr>
          <p:nvPr/>
        </p:nvSpPr>
        <p:spPr bwMode="auto">
          <a:xfrm>
            <a:off x="1643063" y="4772025"/>
            <a:ext cx="3571875" cy="1246188"/>
          </a:xfrm>
          <a:prstGeom prst="rect">
            <a:avLst/>
          </a:prstGeom>
          <a:noFill/>
          <a:ln w="9525">
            <a:noFill/>
            <a:miter lim="800000"/>
            <a:headEnd/>
            <a:tailEnd/>
          </a:ln>
        </p:spPr>
        <p:txBody>
          <a:bodyPr>
            <a:spAutoFit/>
          </a:bodyPr>
          <a:lstStyle/>
          <a:p>
            <a:pPr algn="ctr"/>
            <a:r>
              <a:rPr lang="es-ES" sz="2500">
                <a:latin typeface="Calibri" pitchFamily="34" charset="0"/>
              </a:rPr>
              <a:t>Estimador de diferencias con regresores adicionales.</a:t>
            </a:r>
            <a:endParaRPr lang="es-AR" sz="2500">
              <a:latin typeface="Calibri" pitchFamily="34" charset="0"/>
            </a:endParaRPr>
          </a:p>
        </p:txBody>
      </p:sp>
      <p:sp>
        <p:nvSpPr>
          <p:cNvPr id="10252"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0253" name="Rectangle 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graphicFrame>
        <p:nvGraphicFramePr>
          <p:cNvPr id="10242" name="Object 1"/>
          <p:cNvGraphicFramePr>
            <a:graphicFrameLocks noChangeAspect="1"/>
          </p:cNvGraphicFramePr>
          <p:nvPr/>
        </p:nvGraphicFramePr>
        <p:xfrm>
          <a:off x="2428875" y="3929063"/>
          <a:ext cx="4286250" cy="500062"/>
        </p:xfrm>
        <a:graphic>
          <a:graphicData uri="http://schemas.openxmlformats.org/presentationml/2006/ole">
            <p:oleObj spid="_x0000_s10242" name="Ecuación" r:id="rId5" imgW="1574640" imgH="228600" progId="Equation.3">
              <p:embed/>
            </p:oleObj>
          </a:graphicData>
        </a:graphic>
      </p:graphicFrame>
      <p:sp>
        <p:nvSpPr>
          <p:cNvPr id="15" name="14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A6886B87-5B2C-422D-A12C-3BF6A43A5527}" type="slidenum">
              <a:rPr lang="es-CO" sz="1500">
                <a:solidFill>
                  <a:schemeClr val="tx1">
                    <a:lumMod val="50000"/>
                    <a:lumOff val="50000"/>
                  </a:schemeClr>
                </a:solidFill>
                <a:latin typeface="+mn-lt"/>
                <a:cs typeface="+mn-cs"/>
              </a:rPr>
              <a:pPr algn="ctr" fontAlgn="auto">
                <a:spcBef>
                  <a:spcPts val="0"/>
                </a:spcBef>
                <a:spcAft>
                  <a:spcPts val="0"/>
                </a:spcAft>
                <a:defRPr/>
              </a:pPr>
              <a:t>15</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2 Marcador de contenido"/>
          <p:cNvSpPr>
            <a:spLocks noGrp="1"/>
          </p:cNvSpPr>
          <p:nvPr>
            <p:ph idx="1"/>
          </p:nvPr>
        </p:nvSpPr>
        <p:spPr>
          <a:xfrm>
            <a:off x="457200" y="1785938"/>
            <a:ext cx="8229600" cy="4340225"/>
          </a:xfrm>
        </p:spPr>
        <p:txBody>
          <a:bodyPr/>
          <a:lstStyle/>
          <a:p>
            <a:pPr algn="ctr" eaLnBrk="1" hangingPunct="1">
              <a:buFont typeface="Arial" charset="0"/>
              <a:buNone/>
            </a:pPr>
            <a:r>
              <a:rPr lang="es-CO" sz="2500" smtClean="0"/>
              <a:t>Estima el efecto de la intervención entre distintos subgrupos de la población, dado que:</a:t>
            </a:r>
          </a:p>
          <a:p>
            <a:pPr eaLnBrk="1" hangingPunct="1">
              <a:buFont typeface="Arial" charset="0"/>
              <a:buNone/>
            </a:pPr>
            <a:endParaRPr lang="es-CO" sz="2500" smtClean="0"/>
          </a:p>
          <a:p>
            <a:pPr algn="ctr" eaLnBrk="1" hangingPunct="1">
              <a:buFont typeface="Arial" charset="0"/>
              <a:buNone/>
            </a:pPr>
            <a:r>
              <a:rPr lang="es-CO" sz="2500" smtClean="0"/>
              <a:t>	El efecto puede diferir entre individuos dependiendo de sus características.</a:t>
            </a:r>
          </a:p>
          <a:p>
            <a:pPr algn="ctr" eaLnBrk="1" hangingPunct="1">
              <a:buFont typeface="Arial" charset="0"/>
              <a:buNone/>
            </a:pPr>
            <a:endParaRPr lang="es-ES" sz="2500" smtClean="0"/>
          </a:p>
        </p:txBody>
      </p:sp>
      <p:pic>
        <p:nvPicPr>
          <p:cNvPr id="11268"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1269" name="1 Título"/>
          <p:cNvSpPr>
            <a:spLocks noGrp="1"/>
          </p:cNvSpPr>
          <p:nvPr>
            <p:ph type="title"/>
          </p:nvPr>
        </p:nvSpPr>
        <p:spPr>
          <a:xfrm>
            <a:off x="2071688" y="285750"/>
            <a:ext cx="6786562" cy="1071563"/>
          </a:xfrm>
        </p:spPr>
        <p:txBody>
          <a:bodyPr/>
          <a:lstStyle/>
          <a:p>
            <a:pPr eaLnBrk="1" hangingPunct="1"/>
            <a:r>
              <a:rPr lang="es-CO" sz="4200" u="sng" smtClean="0"/>
              <a:t>Estimador de diferencias con efectos heterogéneos</a:t>
            </a:r>
            <a:endParaRPr lang="es-ES" sz="4200" u="sng" smtClean="0"/>
          </a:p>
        </p:txBody>
      </p:sp>
      <p:sp>
        <p:nvSpPr>
          <p:cNvPr id="6" name="5 Flecha abajo"/>
          <p:cNvSpPr/>
          <p:nvPr/>
        </p:nvSpPr>
        <p:spPr>
          <a:xfrm>
            <a:off x="4429125" y="2643188"/>
            <a:ext cx="285750" cy="500062"/>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1271"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1272"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1" name="10 Elipse"/>
          <p:cNvSpPr/>
          <p:nvPr/>
        </p:nvSpPr>
        <p:spPr>
          <a:xfrm>
            <a:off x="5643563" y="3929063"/>
            <a:ext cx="1214437" cy="785812"/>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4" name="13 CuadroTexto"/>
          <p:cNvSpPr txBox="1"/>
          <p:nvPr/>
        </p:nvSpPr>
        <p:spPr>
          <a:xfrm>
            <a:off x="1428750" y="4826000"/>
            <a:ext cx="6500813" cy="1154113"/>
          </a:xfrm>
          <a:prstGeom prst="rect">
            <a:avLst/>
          </a:prstGeom>
          <a:noFill/>
          <a:ln>
            <a:solidFill>
              <a:schemeClr val="accent1">
                <a:lumMod val="60000"/>
                <a:lumOff val="40000"/>
              </a:schemeClr>
            </a:solidFill>
          </a:ln>
        </p:spPr>
        <p:txBody>
          <a:bodyPr>
            <a:spAutoFit/>
          </a:bodyPr>
          <a:lstStyle/>
          <a:p>
            <a:pPr algn="ctr" fontAlgn="auto">
              <a:spcBef>
                <a:spcPts val="0"/>
              </a:spcBef>
              <a:spcAft>
                <a:spcPts val="0"/>
              </a:spcAft>
              <a:defRPr/>
            </a:pPr>
            <a:r>
              <a:rPr lang="es-CO" sz="2300" dirty="0">
                <a:latin typeface="+mn-lt"/>
                <a:cs typeface="+mn-cs"/>
              </a:rPr>
              <a:t>Cuando      es binaria el coeficiente     mide el impacto adicional en la variable objetivo para un subgrupo de la población.</a:t>
            </a:r>
            <a:endParaRPr lang="es-ES" sz="2300" dirty="0">
              <a:latin typeface="+mn-lt"/>
              <a:cs typeface="+mn-cs"/>
            </a:endParaRPr>
          </a:p>
        </p:txBody>
      </p:sp>
      <p:sp>
        <p:nvSpPr>
          <p:cNvPr id="11275"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pic>
        <p:nvPicPr>
          <p:cNvPr id="11276" name="Picture 4"/>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019425" y="4857750"/>
            <a:ext cx="257175" cy="381000"/>
          </a:xfrm>
          <a:prstGeom prst="rect">
            <a:avLst/>
          </a:prstGeom>
          <a:noFill/>
          <a:ln w="9525">
            <a:noFill/>
            <a:miter lim="800000"/>
            <a:headEnd/>
            <a:tailEnd/>
          </a:ln>
        </p:spPr>
      </p:pic>
      <p:sp>
        <p:nvSpPr>
          <p:cNvPr id="11277"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pic>
        <p:nvPicPr>
          <p:cNvPr id="11278" name="Picture 6"/>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156325" y="4857750"/>
            <a:ext cx="276225" cy="381000"/>
          </a:xfrm>
          <a:prstGeom prst="rect">
            <a:avLst/>
          </a:prstGeom>
          <a:noFill/>
          <a:ln w="9525">
            <a:noFill/>
            <a:miter lim="800000"/>
            <a:headEnd/>
            <a:tailEnd/>
          </a:ln>
        </p:spPr>
      </p:pic>
      <p:graphicFrame>
        <p:nvGraphicFramePr>
          <p:cNvPr id="11266" name="Object 1"/>
          <p:cNvGraphicFramePr>
            <a:graphicFrameLocks noChangeAspect="1"/>
          </p:cNvGraphicFramePr>
          <p:nvPr/>
        </p:nvGraphicFramePr>
        <p:xfrm>
          <a:off x="1785938" y="4000500"/>
          <a:ext cx="5786437" cy="642938"/>
        </p:xfrm>
        <a:graphic>
          <a:graphicData uri="http://schemas.openxmlformats.org/presentationml/2006/ole">
            <p:oleObj spid="_x0000_s11266" name="Ecuación" r:id="rId7" imgW="2158920" imgH="228600" progId="Equation.3">
              <p:embed/>
            </p:oleObj>
          </a:graphicData>
        </a:graphic>
      </p:graphicFrame>
      <p:sp>
        <p:nvSpPr>
          <p:cNvPr id="17" name="16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E08E98FC-C347-4D19-8FBE-4A3EC143CB7F}" type="slidenum">
              <a:rPr lang="es-CO" sz="1500">
                <a:solidFill>
                  <a:schemeClr val="tx1">
                    <a:lumMod val="50000"/>
                    <a:lumOff val="50000"/>
                  </a:schemeClr>
                </a:solidFill>
                <a:latin typeface="+mn-lt"/>
                <a:cs typeface="+mn-cs"/>
              </a:rPr>
              <a:pPr algn="ctr" fontAlgn="auto">
                <a:spcBef>
                  <a:spcPts val="0"/>
                </a:spcBef>
                <a:spcAft>
                  <a:spcPts val="0"/>
                </a:spcAft>
                <a:defRPr/>
              </a:pPr>
              <a:t>16</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algn="just" eaLnBrk="1" fontAlgn="auto" hangingPunct="1">
              <a:spcAft>
                <a:spcPts val="0"/>
              </a:spcAft>
              <a:buFont typeface="Arial" pitchFamily="34" charset="0"/>
              <a:buChar char="•"/>
              <a:defRPr/>
            </a:pPr>
            <a:endParaRPr lang="es-ES" sz="2500" dirty="0" smtClean="0"/>
          </a:p>
          <a:p>
            <a:pPr eaLnBrk="1" fontAlgn="auto" hangingPunct="1">
              <a:spcAft>
                <a:spcPts val="0"/>
              </a:spcAft>
              <a:buFont typeface="Arial" pitchFamily="34" charset="0"/>
              <a:buNone/>
              <a:defRPr/>
            </a:pPr>
            <a:r>
              <a:rPr lang="es-ES" sz="2500" dirty="0" smtClean="0"/>
              <a:t>	Si la mejora en nutrición es más eficiente en altos que en bajitos, por su predisposición genética, el impacto dependerá de la variable raza</a:t>
            </a:r>
            <a:r>
              <a:rPr lang="es-AR" sz="2100" dirty="0" smtClean="0"/>
              <a:t>:</a:t>
            </a:r>
            <a:endParaRPr lang="es-ES" sz="2500" dirty="0" smtClean="0"/>
          </a:p>
        </p:txBody>
      </p:sp>
      <p:pic>
        <p:nvPicPr>
          <p:cNvPr id="12292"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2293" name="1 Título"/>
          <p:cNvSpPr>
            <a:spLocks noGrp="1"/>
          </p:cNvSpPr>
          <p:nvPr>
            <p:ph type="title"/>
          </p:nvPr>
        </p:nvSpPr>
        <p:spPr>
          <a:xfrm>
            <a:off x="1885950" y="285750"/>
            <a:ext cx="6972300" cy="1000125"/>
          </a:xfrm>
        </p:spPr>
        <p:txBody>
          <a:bodyPr/>
          <a:lstStyle/>
          <a:p>
            <a:pPr eaLnBrk="1" hangingPunct="1"/>
            <a:r>
              <a:rPr lang="es-CO" sz="4200" u="sng" smtClean="0"/>
              <a:t>Ejemplo: </a:t>
            </a:r>
            <a:r>
              <a:rPr lang="es-CO" sz="4200" i="1" u="sng" smtClean="0"/>
              <a:t>Canasta</a:t>
            </a:r>
            <a:r>
              <a:rPr lang="es-CO" sz="4200" u="sng" smtClean="0"/>
              <a:t> con efectos heterogéneos</a:t>
            </a:r>
            <a:endParaRPr lang="es-ES" sz="4200" u="sng" smtClean="0"/>
          </a:p>
        </p:txBody>
      </p:sp>
      <p:cxnSp>
        <p:nvCxnSpPr>
          <p:cNvPr id="9" name="8 Conector recto de flecha"/>
          <p:cNvCxnSpPr/>
          <p:nvPr/>
        </p:nvCxnSpPr>
        <p:spPr>
          <a:xfrm rot="5400000" flipH="1" flipV="1">
            <a:off x="5787232" y="4285456"/>
            <a:ext cx="285750"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295" name="9 CuadroTexto"/>
          <p:cNvSpPr txBox="1">
            <a:spLocks noChangeArrowheads="1"/>
          </p:cNvSpPr>
          <p:nvPr/>
        </p:nvSpPr>
        <p:spPr bwMode="auto">
          <a:xfrm>
            <a:off x="4429125" y="4429125"/>
            <a:ext cx="3214688" cy="1508125"/>
          </a:xfrm>
          <a:prstGeom prst="rect">
            <a:avLst/>
          </a:prstGeom>
          <a:noFill/>
          <a:ln w="9525">
            <a:noFill/>
            <a:miter lim="800000"/>
            <a:headEnd/>
            <a:tailEnd/>
          </a:ln>
        </p:spPr>
        <p:txBody>
          <a:bodyPr>
            <a:spAutoFit/>
          </a:bodyPr>
          <a:lstStyle/>
          <a:p>
            <a:pPr algn="ctr"/>
            <a:r>
              <a:rPr lang="es-ES" sz="2300">
                <a:latin typeface="Calibri" pitchFamily="34" charset="0"/>
              </a:rPr>
              <a:t>Impacto adicional en estatura para los altos con respecto a los bajitos.</a:t>
            </a:r>
            <a:endParaRPr lang="es-AR" sz="2300">
              <a:latin typeface="Calibri" pitchFamily="34" charset="0"/>
            </a:endParaRPr>
          </a:p>
        </p:txBody>
      </p:sp>
      <p:sp>
        <p:nvSpPr>
          <p:cNvPr id="1229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2297"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graphicFrame>
        <p:nvGraphicFramePr>
          <p:cNvPr id="12290" name="Object 1"/>
          <p:cNvGraphicFramePr>
            <a:graphicFrameLocks noChangeAspect="1"/>
          </p:cNvGraphicFramePr>
          <p:nvPr/>
        </p:nvGraphicFramePr>
        <p:xfrm>
          <a:off x="1857375" y="3571875"/>
          <a:ext cx="5786438" cy="612775"/>
        </p:xfrm>
        <a:graphic>
          <a:graphicData uri="http://schemas.openxmlformats.org/presentationml/2006/ole">
            <p:oleObj spid="_x0000_s12290" name="Ecuación" r:id="rId5" imgW="2158920" imgH="228600" progId="Equation.3">
              <p:embed/>
            </p:oleObj>
          </a:graphicData>
        </a:graphic>
      </p:graphicFrame>
      <p:sp>
        <p:nvSpPr>
          <p:cNvPr id="12" name="1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A8AD0C85-F970-4319-9633-73DC15B90960}" type="slidenum">
              <a:rPr lang="es-CO" sz="1500">
                <a:solidFill>
                  <a:schemeClr val="tx1">
                    <a:lumMod val="50000"/>
                    <a:lumOff val="50000"/>
                  </a:schemeClr>
                </a:solidFill>
                <a:latin typeface="+mn-lt"/>
                <a:cs typeface="+mn-cs"/>
              </a:rPr>
              <a:pPr algn="ctr" fontAlgn="auto">
                <a:spcBef>
                  <a:spcPts val="0"/>
                </a:spcBef>
                <a:spcAft>
                  <a:spcPts val="0"/>
                </a:spcAft>
                <a:defRPr/>
              </a:pPr>
              <a:t>17</a:t>
            </a:fld>
            <a:endParaRPr lang="es-ES" sz="1500" dirty="0">
              <a:solidFill>
                <a:schemeClr val="tx1">
                  <a:lumMod val="50000"/>
                  <a:lumOff val="50000"/>
                </a:schemeClr>
              </a:solidFill>
              <a:latin typeface="+mn-lt"/>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2 Marcador de contenido"/>
          <p:cNvSpPr>
            <a:spLocks noGrp="1"/>
          </p:cNvSpPr>
          <p:nvPr>
            <p:ph idx="1"/>
          </p:nvPr>
        </p:nvSpPr>
        <p:spPr>
          <a:xfrm>
            <a:off x="457200" y="1571625"/>
            <a:ext cx="8229600" cy="4714875"/>
          </a:xfrm>
        </p:spPr>
        <p:txBody>
          <a:bodyPr/>
          <a:lstStyle/>
          <a:p>
            <a:pPr eaLnBrk="1" hangingPunct="1">
              <a:spcBef>
                <a:spcPct val="0"/>
              </a:spcBef>
              <a:buFont typeface="Arial" charset="0"/>
              <a:buNone/>
            </a:pPr>
            <a:r>
              <a:rPr lang="es-CO" sz="2500" smtClean="0"/>
              <a:t>	Calcula el impacto de estar expuesto a un programa utilizando datos del grupo de tratamiento únicamente.</a:t>
            </a:r>
          </a:p>
          <a:p>
            <a:pPr algn="just" eaLnBrk="1" hangingPunct="1">
              <a:spcBef>
                <a:spcPct val="0"/>
              </a:spcBef>
              <a:buFont typeface="Arial" charset="0"/>
              <a:buNone/>
            </a:pPr>
            <a:r>
              <a:rPr lang="es-CO" smtClean="0"/>
              <a:t>	</a:t>
            </a:r>
            <a:r>
              <a:rPr lang="es-CO" sz="2500" smtClean="0"/>
              <a:t>Donde:</a:t>
            </a:r>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r>
              <a:rPr lang="es-CO" sz="2500" smtClean="0"/>
              <a:t>	Estimador:</a:t>
            </a:r>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spcBef>
                <a:spcPct val="0"/>
              </a:spcBef>
              <a:buFont typeface="Arial" charset="0"/>
              <a:buNone/>
            </a:pPr>
            <a:endParaRPr lang="es-CO" sz="2500" smtClean="0"/>
          </a:p>
          <a:p>
            <a:pPr algn="just" eaLnBrk="1" hangingPunct="1">
              <a:buFont typeface="Arial" charset="0"/>
              <a:buNone/>
            </a:pPr>
            <a:endParaRPr lang="es-CO" smtClean="0"/>
          </a:p>
          <a:p>
            <a:pPr algn="just" eaLnBrk="1" hangingPunct="1">
              <a:buFont typeface="Arial" charset="0"/>
              <a:buNone/>
            </a:pPr>
            <a:endParaRPr lang="es-CO" smtClean="0"/>
          </a:p>
          <a:p>
            <a:pPr algn="just" eaLnBrk="1" hangingPunct="1">
              <a:buFont typeface="Arial" charset="0"/>
              <a:buNone/>
            </a:pPr>
            <a:endParaRPr lang="es-CO" smtClean="0"/>
          </a:p>
          <a:p>
            <a:pPr algn="just" eaLnBrk="1" hangingPunct="1">
              <a:buFont typeface="Arial" charset="0"/>
              <a:buNone/>
            </a:pPr>
            <a:endParaRPr lang="es-CO" smtClean="0"/>
          </a:p>
        </p:txBody>
      </p:sp>
      <p:pic>
        <p:nvPicPr>
          <p:cNvPr id="13317"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3318" name="1 Título"/>
          <p:cNvSpPr>
            <a:spLocks noGrp="1"/>
          </p:cNvSpPr>
          <p:nvPr>
            <p:ph type="title"/>
          </p:nvPr>
        </p:nvSpPr>
        <p:spPr>
          <a:xfrm>
            <a:off x="2071688" y="285750"/>
            <a:ext cx="6786562" cy="1071563"/>
          </a:xfrm>
        </p:spPr>
        <p:txBody>
          <a:bodyPr/>
          <a:lstStyle/>
          <a:p>
            <a:pPr eaLnBrk="1" hangingPunct="1"/>
            <a:r>
              <a:rPr lang="es-CO" sz="4200" u="sng" smtClean="0"/>
              <a:t>Estimador de diferencias en el tiempo</a:t>
            </a:r>
            <a:endParaRPr lang="es-ES" sz="4200" u="sng" smtClean="0"/>
          </a:p>
        </p:txBody>
      </p:sp>
      <p:sp>
        <p:nvSpPr>
          <p:cNvPr id="7" name="6 Abrir llave"/>
          <p:cNvSpPr/>
          <p:nvPr/>
        </p:nvSpPr>
        <p:spPr>
          <a:xfrm>
            <a:off x="1571625" y="2928938"/>
            <a:ext cx="142875" cy="1143000"/>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13320" name="7 CuadroTexto"/>
          <p:cNvSpPr txBox="1">
            <a:spLocks noChangeArrowheads="1"/>
          </p:cNvSpPr>
          <p:nvPr/>
        </p:nvSpPr>
        <p:spPr bwMode="auto">
          <a:xfrm>
            <a:off x="1643063" y="2982913"/>
            <a:ext cx="7143750" cy="476250"/>
          </a:xfrm>
          <a:prstGeom prst="rect">
            <a:avLst/>
          </a:prstGeom>
          <a:noFill/>
          <a:ln w="9525">
            <a:noFill/>
            <a:miter lim="800000"/>
            <a:headEnd/>
            <a:tailEnd/>
          </a:ln>
        </p:spPr>
        <p:txBody>
          <a:bodyPr>
            <a:spAutoFit/>
          </a:bodyPr>
          <a:lstStyle/>
          <a:p>
            <a:r>
              <a:rPr lang="es-CO" sz="2500" i="1">
                <a:latin typeface="Calibri" pitchFamily="34" charset="0"/>
              </a:rPr>
              <a:t>i</a:t>
            </a:r>
            <a:r>
              <a:rPr lang="es-CO" sz="2500">
                <a:latin typeface="Calibri" pitchFamily="34" charset="0"/>
              </a:rPr>
              <a:t>=0    período anterior a la aplicación del tratamiento</a:t>
            </a:r>
            <a:endParaRPr lang="es-ES" sz="2500">
              <a:latin typeface="Calibri" pitchFamily="34" charset="0"/>
            </a:endParaRPr>
          </a:p>
        </p:txBody>
      </p:sp>
      <p:sp>
        <p:nvSpPr>
          <p:cNvPr id="13321" name="8 CuadroTexto"/>
          <p:cNvSpPr txBox="1">
            <a:spLocks noChangeArrowheads="1"/>
          </p:cNvSpPr>
          <p:nvPr/>
        </p:nvSpPr>
        <p:spPr bwMode="auto">
          <a:xfrm>
            <a:off x="1643063" y="3571875"/>
            <a:ext cx="7215187" cy="477838"/>
          </a:xfrm>
          <a:prstGeom prst="rect">
            <a:avLst/>
          </a:prstGeom>
          <a:noFill/>
          <a:ln w="9525">
            <a:noFill/>
            <a:miter lim="800000"/>
            <a:headEnd/>
            <a:tailEnd/>
          </a:ln>
        </p:spPr>
        <p:txBody>
          <a:bodyPr>
            <a:spAutoFit/>
          </a:bodyPr>
          <a:lstStyle/>
          <a:p>
            <a:r>
              <a:rPr lang="es-CO" sz="2500" i="1">
                <a:latin typeface="Calibri" pitchFamily="34" charset="0"/>
              </a:rPr>
              <a:t>i</a:t>
            </a:r>
            <a:r>
              <a:rPr lang="es-CO" sz="2500">
                <a:latin typeface="Calibri" pitchFamily="34" charset="0"/>
              </a:rPr>
              <a:t>=1    período posterior a la aplicación del tratamiento</a:t>
            </a:r>
            <a:endParaRPr lang="es-ES" sz="2500">
              <a:latin typeface="Calibri" pitchFamily="34" charset="0"/>
            </a:endParaRPr>
          </a:p>
        </p:txBody>
      </p:sp>
      <p:sp>
        <p:nvSpPr>
          <p:cNvPr id="13322"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3323"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3324"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3325" name="Rectangle 6"/>
          <p:cNvSpPr>
            <a:spLocks noChangeArrowheads="1"/>
          </p:cNvSpPr>
          <p:nvPr/>
        </p:nvSpPr>
        <p:spPr bwMode="auto">
          <a:xfrm>
            <a:off x="0" y="904875"/>
            <a:ext cx="9144000" cy="0"/>
          </a:xfrm>
          <a:prstGeom prst="rect">
            <a:avLst/>
          </a:prstGeom>
          <a:noFill/>
          <a:ln w="9525">
            <a:noFill/>
            <a:miter lim="800000"/>
            <a:headEnd/>
            <a:tailEnd/>
          </a:ln>
        </p:spPr>
        <p:txBody>
          <a:bodyPr wrap="none" anchor="ctr">
            <a:spAutoFit/>
          </a:bodyPr>
          <a:lstStyle/>
          <a:p>
            <a:endParaRPr lang="es-CO"/>
          </a:p>
        </p:txBody>
      </p:sp>
      <p:sp>
        <p:nvSpPr>
          <p:cNvPr id="13326" name="18 CuadroTexto"/>
          <p:cNvSpPr txBox="1">
            <a:spLocks noChangeArrowheads="1"/>
          </p:cNvSpPr>
          <p:nvPr/>
        </p:nvSpPr>
        <p:spPr bwMode="auto">
          <a:xfrm>
            <a:off x="2000250" y="5786438"/>
            <a:ext cx="4708525" cy="477837"/>
          </a:xfrm>
          <a:prstGeom prst="rect">
            <a:avLst/>
          </a:prstGeom>
          <a:noFill/>
          <a:ln w="9525">
            <a:noFill/>
            <a:miter lim="800000"/>
            <a:headEnd/>
            <a:tailEnd/>
          </a:ln>
        </p:spPr>
        <p:txBody>
          <a:bodyPr wrap="none">
            <a:spAutoFit/>
          </a:bodyPr>
          <a:lstStyle/>
          <a:p>
            <a:r>
              <a:rPr lang="es-CO" sz="2500">
                <a:latin typeface="Calibri" pitchFamily="34" charset="0"/>
              </a:rPr>
              <a:t>Indica el período de la observación</a:t>
            </a:r>
            <a:endParaRPr lang="es-ES" sz="2500">
              <a:latin typeface="Calibri" pitchFamily="34" charset="0"/>
            </a:endParaRPr>
          </a:p>
        </p:txBody>
      </p:sp>
      <p:cxnSp>
        <p:nvCxnSpPr>
          <p:cNvPr id="21" name="20 Conector recto de flecha"/>
          <p:cNvCxnSpPr/>
          <p:nvPr/>
        </p:nvCxnSpPr>
        <p:spPr>
          <a:xfrm rot="10800000">
            <a:off x="3286125" y="5357813"/>
            <a:ext cx="857250" cy="3571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p:nvPr/>
        </p:nvCxnSpPr>
        <p:spPr>
          <a:xfrm flipV="1">
            <a:off x="4143375" y="5357813"/>
            <a:ext cx="928688" cy="3571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3314" name="Object 1"/>
          <p:cNvGraphicFramePr>
            <a:graphicFrameLocks noChangeAspect="1"/>
          </p:cNvGraphicFramePr>
          <p:nvPr/>
        </p:nvGraphicFramePr>
        <p:xfrm>
          <a:off x="857250" y="3214688"/>
          <a:ext cx="698500" cy="571500"/>
        </p:xfrm>
        <a:graphic>
          <a:graphicData uri="http://schemas.openxmlformats.org/presentationml/2006/ole">
            <p:oleObj spid="_x0000_s13314" name="Ecuación" r:id="rId5" imgW="279360" imgH="228600" progId="Equation.3">
              <p:embed/>
            </p:oleObj>
          </a:graphicData>
        </a:graphic>
      </p:graphicFrame>
      <p:graphicFrame>
        <p:nvGraphicFramePr>
          <p:cNvPr id="13315" name="Object 2"/>
          <p:cNvGraphicFramePr>
            <a:graphicFrameLocks noChangeAspect="1"/>
          </p:cNvGraphicFramePr>
          <p:nvPr/>
        </p:nvGraphicFramePr>
        <p:xfrm>
          <a:off x="2357438" y="4857750"/>
          <a:ext cx="3929062" cy="500063"/>
        </p:xfrm>
        <a:graphic>
          <a:graphicData uri="http://schemas.openxmlformats.org/presentationml/2006/ole">
            <p:oleObj spid="_x0000_s13315" name="Ecuación" r:id="rId6" imgW="1688760" imgH="241200" progId="Equation.3">
              <p:embed/>
            </p:oleObj>
          </a:graphicData>
        </a:graphic>
      </p:graphicFrame>
      <p:sp>
        <p:nvSpPr>
          <p:cNvPr id="18" name="17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0055374B-A9BE-4860-9B27-F4B2A68B02C0}" type="slidenum">
              <a:rPr lang="es-CO" sz="1500">
                <a:solidFill>
                  <a:schemeClr val="tx1">
                    <a:lumMod val="50000"/>
                    <a:lumOff val="50000"/>
                  </a:schemeClr>
                </a:solidFill>
                <a:latin typeface="+mn-lt"/>
                <a:cs typeface="+mn-cs"/>
              </a:rPr>
              <a:pPr algn="ctr" fontAlgn="auto">
                <a:spcBef>
                  <a:spcPts val="0"/>
                </a:spcBef>
                <a:spcAft>
                  <a:spcPts val="0"/>
                </a:spcAft>
                <a:defRPr/>
              </a:pPr>
              <a:t>18</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4341" name="8 CuadroTexto"/>
          <p:cNvSpPr txBox="1">
            <a:spLocks noChangeArrowheads="1"/>
          </p:cNvSpPr>
          <p:nvPr/>
        </p:nvSpPr>
        <p:spPr bwMode="auto">
          <a:xfrm>
            <a:off x="3714750" y="1571625"/>
            <a:ext cx="4786313" cy="1246188"/>
          </a:xfrm>
          <a:prstGeom prst="rect">
            <a:avLst/>
          </a:prstGeom>
          <a:noFill/>
          <a:ln w="9525">
            <a:noFill/>
            <a:miter lim="800000"/>
            <a:headEnd/>
            <a:tailEnd/>
          </a:ln>
        </p:spPr>
        <p:txBody>
          <a:bodyPr>
            <a:spAutoFit/>
          </a:bodyPr>
          <a:lstStyle/>
          <a:p>
            <a:r>
              <a:rPr lang="es-CO" sz="2500">
                <a:latin typeface="Calibri" pitchFamily="34" charset="0"/>
              </a:rPr>
              <a:t>Media de la variable de resultado en el grupo de los tratados en el período posterior a la intervención.</a:t>
            </a:r>
            <a:endParaRPr lang="es-ES" sz="2500">
              <a:latin typeface="Calibri" pitchFamily="34" charset="0"/>
            </a:endParaRPr>
          </a:p>
        </p:txBody>
      </p:sp>
      <p:cxnSp>
        <p:nvCxnSpPr>
          <p:cNvPr id="10" name="9 Conector recto de flecha"/>
          <p:cNvCxnSpPr/>
          <p:nvPr/>
        </p:nvCxnSpPr>
        <p:spPr>
          <a:xfrm>
            <a:off x="2928938" y="1857375"/>
            <a:ext cx="714375" cy="1588"/>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34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13" name="12 Conector recto de flecha"/>
          <p:cNvCxnSpPr/>
          <p:nvPr/>
        </p:nvCxnSpPr>
        <p:spPr>
          <a:xfrm>
            <a:off x="2928938" y="3429000"/>
            <a:ext cx="714375" cy="1588"/>
          </a:xfrm>
          <a:prstGeom prst="straightConnector1">
            <a:avLst/>
          </a:prstGeom>
          <a:ln w="28575">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345" name="13 CuadroTexto"/>
          <p:cNvSpPr txBox="1">
            <a:spLocks noChangeArrowheads="1"/>
          </p:cNvSpPr>
          <p:nvPr/>
        </p:nvSpPr>
        <p:spPr bwMode="auto">
          <a:xfrm>
            <a:off x="3714750" y="3182938"/>
            <a:ext cx="4786313" cy="1246187"/>
          </a:xfrm>
          <a:prstGeom prst="rect">
            <a:avLst/>
          </a:prstGeom>
          <a:noFill/>
          <a:ln w="9525">
            <a:noFill/>
            <a:miter lim="800000"/>
            <a:headEnd/>
            <a:tailEnd/>
          </a:ln>
        </p:spPr>
        <p:txBody>
          <a:bodyPr>
            <a:spAutoFit/>
          </a:bodyPr>
          <a:lstStyle/>
          <a:p>
            <a:r>
              <a:rPr lang="es-CO" sz="2500">
                <a:latin typeface="Calibri" pitchFamily="34" charset="0"/>
              </a:rPr>
              <a:t>Media de la variable de resultado en el grupo de los tratados en el período anterior a la intervención.</a:t>
            </a:r>
            <a:endParaRPr lang="es-ES" sz="2500">
              <a:latin typeface="Calibri" pitchFamily="34" charset="0"/>
            </a:endParaRPr>
          </a:p>
        </p:txBody>
      </p:sp>
      <p:sp>
        <p:nvSpPr>
          <p:cNvPr id="15" name="1 Título"/>
          <p:cNvSpPr txBox="1">
            <a:spLocks/>
          </p:cNvSpPr>
          <p:nvPr/>
        </p:nvSpPr>
        <p:spPr>
          <a:xfrm>
            <a:off x="2071688" y="285750"/>
            <a:ext cx="6786562" cy="1071563"/>
          </a:xfrm>
          <a:prstGeom prst="rect">
            <a:avLst/>
          </a:prstGeom>
        </p:spPr>
        <p:txBody>
          <a:bodyPr anchor="ctr"/>
          <a:lstStyle/>
          <a:p>
            <a:pPr algn="ctr" fontAlgn="auto">
              <a:spcAft>
                <a:spcPts val="0"/>
              </a:spcAft>
              <a:defRPr/>
            </a:pPr>
            <a:r>
              <a:rPr lang="es-CO" sz="4200" u="sng" dirty="0">
                <a:latin typeface="+mj-lt"/>
                <a:ea typeface="+mj-ea"/>
                <a:cs typeface="+mj-cs"/>
              </a:rPr>
              <a:t>Estimador de diferencias en el tiempo</a:t>
            </a:r>
            <a:endParaRPr lang="es-ES" sz="4200" u="sng" dirty="0">
              <a:latin typeface="+mj-lt"/>
              <a:ea typeface="+mj-ea"/>
              <a:cs typeface="+mj-cs"/>
            </a:endParaRPr>
          </a:p>
        </p:txBody>
      </p:sp>
      <p:graphicFrame>
        <p:nvGraphicFramePr>
          <p:cNvPr id="14338" name="Object 2"/>
          <p:cNvGraphicFramePr>
            <a:graphicFrameLocks noChangeAspect="1"/>
          </p:cNvGraphicFramePr>
          <p:nvPr/>
        </p:nvGraphicFramePr>
        <p:xfrm>
          <a:off x="928688" y="1571625"/>
          <a:ext cx="1928812" cy="628650"/>
        </p:xfrm>
        <a:graphic>
          <a:graphicData uri="http://schemas.openxmlformats.org/presentationml/2006/ole">
            <p:oleObj spid="_x0000_s14338" name="Ecuación" r:id="rId5" imgW="685800" imgH="241200" progId="Equation.3">
              <p:embed/>
            </p:oleObj>
          </a:graphicData>
        </a:graphic>
      </p:graphicFrame>
      <p:graphicFrame>
        <p:nvGraphicFramePr>
          <p:cNvPr id="14339" name="Object 3"/>
          <p:cNvGraphicFramePr>
            <a:graphicFrameLocks noChangeAspect="1"/>
          </p:cNvGraphicFramePr>
          <p:nvPr/>
        </p:nvGraphicFramePr>
        <p:xfrm>
          <a:off x="857250" y="3143250"/>
          <a:ext cx="1963738" cy="628650"/>
        </p:xfrm>
        <a:graphic>
          <a:graphicData uri="http://schemas.openxmlformats.org/presentationml/2006/ole">
            <p:oleObj spid="_x0000_s14339" name="Ecuación" r:id="rId6" imgW="698400" imgH="241200" progId="Equation.3">
              <p:embed/>
            </p:oleObj>
          </a:graphicData>
        </a:graphic>
      </p:graphicFrame>
      <p:sp>
        <p:nvSpPr>
          <p:cNvPr id="12" name="1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4C190427-83F4-472E-96FB-0AF4C8FC9DCD}" type="slidenum">
              <a:rPr lang="es-CO" sz="1500">
                <a:solidFill>
                  <a:schemeClr val="tx1">
                    <a:lumMod val="50000"/>
                    <a:lumOff val="50000"/>
                  </a:schemeClr>
                </a:solidFill>
                <a:latin typeface="+mn-lt"/>
                <a:cs typeface="+mn-cs"/>
              </a:rPr>
              <a:pPr algn="ctr" fontAlgn="auto">
                <a:spcBef>
                  <a:spcPts val="0"/>
                </a:spcBef>
                <a:spcAft>
                  <a:spcPts val="0"/>
                </a:spcAft>
                <a:defRPr/>
              </a:pPr>
              <a:t>19</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2 Marcador de contenido"/>
          <p:cNvSpPr>
            <a:spLocks noGrp="1"/>
          </p:cNvSpPr>
          <p:nvPr>
            <p:ph idx="1"/>
          </p:nvPr>
        </p:nvSpPr>
        <p:spPr/>
        <p:txBody>
          <a:bodyPr/>
          <a:lstStyle/>
          <a:p>
            <a:pPr eaLnBrk="1" hangingPunct="1"/>
            <a:r>
              <a:rPr lang="es-CO" sz="2500" smtClean="0"/>
              <a:t>Regresión:</a:t>
            </a:r>
          </a:p>
          <a:p>
            <a:pPr eaLnBrk="1" hangingPunct="1"/>
            <a:endParaRPr lang="es-CO" smtClean="0"/>
          </a:p>
          <a:p>
            <a:pPr eaLnBrk="1" hangingPunct="1"/>
            <a:endParaRPr lang="es-CO" smtClean="0"/>
          </a:p>
          <a:p>
            <a:pPr eaLnBrk="1" hangingPunct="1">
              <a:buFont typeface="Arial" charset="0"/>
              <a:buNone/>
            </a:pPr>
            <a:r>
              <a:rPr lang="es-CO" smtClean="0"/>
              <a:t>	</a:t>
            </a:r>
            <a:r>
              <a:rPr lang="es-CO" sz="2500" u="sng" smtClean="0"/>
              <a:t>Importante</a:t>
            </a:r>
            <a:r>
              <a:rPr lang="es-CO" sz="2500" smtClean="0"/>
              <a:t>:</a:t>
            </a:r>
          </a:p>
          <a:p>
            <a:pPr eaLnBrk="1" hangingPunct="1">
              <a:buFont typeface="Arial" charset="0"/>
              <a:buNone/>
            </a:pPr>
            <a:r>
              <a:rPr lang="es-CO" sz="2500" smtClean="0"/>
              <a:t>	Algunas variables de resultado pueden tener tendencia natural en el tiempo.</a:t>
            </a:r>
          </a:p>
          <a:p>
            <a:pPr eaLnBrk="1" hangingPunct="1">
              <a:buFont typeface="Arial" charset="0"/>
              <a:buNone/>
            </a:pPr>
            <a:endParaRPr lang="es-CO" smtClean="0"/>
          </a:p>
          <a:p>
            <a:pPr eaLnBrk="1" hangingPunct="1">
              <a:buFont typeface="Arial" charset="0"/>
              <a:buNone/>
            </a:pPr>
            <a:r>
              <a:rPr lang="es-CO" smtClean="0"/>
              <a:t>		</a:t>
            </a:r>
          </a:p>
          <a:p>
            <a:pPr eaLnBrk="1" hangingPunct="1"/>
            <a:endParaRPr lang="es-ES" smtClean="0"/>
          </a:p>
        </p:txBody>
      </p:sp>
      <p:pic>
        <p:nvPicPr>
          <p:cNvPr id="15365"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5366" name="1 Título"/>
          <p:cNvSpPr>
            <a:spLocks noGrp="1"/>
          </p:cNvSpPr>
          <p:nvPr>
            <p:ph type="title"/>
          </p:nvPr>
        </p:nvSpPr>
        <p:spPr>
          <a:xfrm>
            <a:off x="2071688" y="285750"/>
            <a:ext cx="6786562" cy="1071563"/>
          </a:xfrm>
        </p:spPr>
        <p:txBody>
          <a:bodyPr/>
          <a:lstStyle/>
          <a:p>
            <a:pPr eaLnBrk="1" hangingPunct="1"/>
            <a:r>
              <a:rPr lang="es-CO" sz="4200" u="sng" smtClean="0"/>
              <a:t>Estimador de diferencias en el tiempo</a:t>
            </a:r>
            <a:endParaRPr lang="es-ES" sz="4200" u="sng" smtClean="0"/>
          </a:p>
        </p:txBody>
      </p:sp>
      <p:sp>
        <p:nvSpPr>
          <p:cNvPr id="15367" name="6 CuadroTexto"/>
          <p:cNvSpPr txBox="1">
            <a:spLocks noChangeArrowheads="1"/>
          </p:cNvSpPr>
          <p:nvPr/>
        </p:nvSpPr>
        <p:spPr bwMode="auto">
          <a:xfrm>
            <a:off x="1928813" y="2714625"/>
            <a:ext cx="5264150" cy="477838"/>
          </a:xfrm>
          <a:prstGeom prst="rect">
            <a:avLst/>
          </a:prstGeom>
          <a:noFill/>
          <a:ln w="9525">
            <a:noFill/>
            <a:miter lim="800000"/>
            <a:headEnd/>
            <a:tailEnd/>
          </a:ln>
        </p:spPr>
        <p:txBody>
          <a:bodyPr wrap="none">
            <a:spAutoFit/>
          </a:bodyPr>
          <a:lstStyle/>
          <a:p>
            <a:r>
              <a:rPr lang="es-CO" sz="2500">
                <a:latin typeface="Calibri" pitchFamily="34" charset="0"/>
              </a:rPr>
              <a:t>Estimador de diferencias en el tiempo.</a:t>
            </a:r>
          </a:p>
        </p:txBody>
      </p:sp>
      <p:cxnSp>
        <p:nvCxnSpPr>
          <p:cNvPr id="9" name="8 Conector recto de flecha"/>
          <p:cNvCxnSpPr/>
          <p:nvPr/>
        </p:nvCxnSpPr>
        <p:spPr>
          <a:xfrm rot="5400000">
            <a:off x="4465637" y="2678113"/>
            <a:ext cx="214313"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36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13" name="12 Conector recto de flecha"/>
          <p:cNvCxnSpPr/>
          <p:nvPr/>
        </p:nvCxnSpPr>
        <p:spPr>
          <a:xfrm>
            <a:off x="1500188" y="5357813"/>
            <a:ext cx="42862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371" name="13 CuadroTexto"/>
          <p:cNvSpPr txBox="1">
            <a:spLocks noChangeArrowheads="1"/>
          </p:cNvSpPr>
          <p:nvPr/>
        </p:nvSpPr>
        <p:spPr bwMode="auto">
          <a:xfrm>
            <a:off x="2214563" y="5067300"/>
            <a:ext cx="5857875" cy="862013"/>
          </a:xfrm>
          <a:prstGeom prst="rect">
            <a:avLst/>
          </a:prstGeom>
          <a:noFill/>
          <a:ln w="9525">
            <a:noFill/>
            <a:miter lim="800000"/>
            <a:headEnd/>
            <a:tailEnd/>
          </a:ln>
        </p:spPr>
        <p:txBody>
          <a:bodyPr>
            <a:spAutoFit/>
          </a:bodyPr>
          <a:lstStyle/>
          <a:p>
            <a:r>
              <a:rPr lang="es-CO" sz="2500">
                <a:latin typeface="Calibri" pitchFamily="34" charset="0"/>
              </a:rPr>
              <a:t>Es insesgado, si </a:t>
            </a:r>
            <a:r>
              <a:rPr lang="es-CO" sz="2500" b="1">
                <a:latin typeface="Calibri" pitchFamily="34" charset="0"/>
              </a:rPr>
              <a:t>no</a:t>
            </a:r>
            <a:r>
              <a:rPr lang="es-CO" sz="2500">
                <a:latin typeface="Calibri" pitchFamily="34" charset="0"/>
              </a:rPr>
              <a:t> existe tendencia temporal en la variable de resultado.</a:t>
            </a:r>
            <a:endParaRPr lang="es-ES" sz="2500">
              <a:latin typeface="Calibri" pitchFamily="34" charset="0"/>
            </a:endParaRPr>
          </a:p>
        </p:txBody>
      </p:sp>
      <p:sp>
        <p:nvSpPr>
          <p:cNvPr id="15372" name="Rectangle 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5373" name="Rectangle 5"/>
          <p:cNvSpPr>
            <a:spLocks noChangeArrowheads="1"/>
          </p:cNvSpPr>
          <p:nvPr/>
        </p:nvSpPr>
        <p:spPr bwMode="auto">
          <a:xfrm>
            <a:off x="0" y="1143000"/>
            <a:ext cx="9144000" cy="0"/>
          </a:xfrm>
          <a:prstGeom prst="rect">
            <a:avLst/>
          </a:prstGeom>
          <a:noFill/>
          <a:ln w="9525">
            <a:noFill/>
            <a:miter lim="800000"/>
            <a:headEnd/>
            <a:tailEnd/>
          </a:ln>
        </p:spPr>
        <p:txBody>
          <a:bodyPr wrap="none" anchor="ctr">
            <a:spAutoFit/>
          </a:bodyPr>
          <a:lstStyle/>
          <a:p>
            <a:endParaRPr lang="es-CO"/>
          </a:p>
        </p:txBody>
      </p:sp>
      <p:graphicFrame>
        <p:nvGraphicFramePr>
          <p:cNvPr id="15362" name="Object 3"/>
          <p:cNvGraphicFramePr>
            <a:graphicFrameLocks noChangeAspect="1"/>
          </p:cNvGraphicFramePr>
          <p:nvPr/>
        </p:nvGraphicFramePr>
        <p:xfrm>
          <a:off x="838200" y="5051425"/>
          <a:ext cx="444500" cy="603250"/>
        </p:xfrm>
        <a:graphic>
          <a:graphicData uri="http://schemas.openxmlformats.org/presentationml/2006/ole">
            <p:oleObj spid="_x0000_s15362" name="Ecuación" r:id="rId5" imgW="177480" imgH="241200" progId="Equation.3">
              <p:embed/>
            </p:oleObj>
          </a:graphicData>
        </a:graphic>
      </p:graphicFrame>
      <p:graphicFrame>
        <p:nvGraphicFramePr>
          <p:cNvPr id="15363" name="Object 4"/>
          <p:cNvGraphicFramePr>
            <a:graphicFrameLocks noChangeAspect="1"/>
          </p:cNvGraphicFramePr>
          <p:nvPr/>
        </p:nvGraphicFramePr>
        <p:xfrm>
          <a:off x="2857500" y="1928813"/>
          <a:ext cx="3071813" cy="571500"/>
        </p:xfrm>
        <a:graphic>
          <a:graphicData uri="http://schemas.openxmlformats.org/presentationml/2006/ole">
            <p:oleObj spid="_x0000_s15363" name="Ecuación" r:id="rId6" imgW="1079280" imgH="228600" progId="Equation.3">
              <p:embed/>
            </p:oleObj>
          </a:graphicData>
        </a:graphic>
      </p:graphicFrame>
      <p:sp>
        <p:nvSpPr>
          <p:cNvPr id="15" name="14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35572C66-4352-4FBA-9B52-DBEBEE9E12CB}" type="slidenum">
              <a:rPr lang="es-CO" sz="1500">
                <a:solidFill>
                  <a:schemeClr val="tx1">
                    <a:lumMod val="50000"/>
                    <a:lumOff val="50000"/>
                  </a:schemeClr>
                </a:solidFill>
                <a:latin typeface="+mn-lt"/>
                <a:cs typeface="+mn-cs"/>
              </a:rPr>
              <a:pPr algn="ctr" fontAlgn="auto">
                <a:spcBef>
                  <a:spcPts val="0"/>
                </a:spcBef>
                <a:spcAft>
                  <a:spcPts val="0"/>
                </a:spcAft>
                <a:defRPr/>
              </a:pPr>
              <a:t>20</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88"/>
            <a:ext cx="8507413" cy="5097462"/>
          </a:xfrm>
        </p:spPr>
        <p:txBody>
          <a:bodyPr rtlCol="0">
            <a:normAutofit fontScale="85000" lnSpcReduction="20000"/>
          </a:bodyPr>
          <a:lstStyle/>
          <a:p>
            <a:pPr algn="just" eaLnBrk="1" fontAlgn="auto" hangingPunct="1">
              <a:spcAft>
                <a:spcPts val="0"/>
              </a:spcAft>
              <a:buFont typeface="Arial" pitchFamily="34" charset="0"/>
              <a:buNone/>
              <a:defRPr/>
            </a:pPr>
            <a:r>
              <a:rPr lang="es-CO" sz="2500" dirty="0" smtClean="0"/>
              <a:t>	Se puede controlar por la tendencia temporal natural siempre que se tengan más de dos observaciones para cada individuo.</a:t>
            </a:r>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Supuesto fuerte: la tendencia de tiempo es lineal.</a:t>
            </a:r>
          </a:p>
          <a:p>
            <a:pPr eaLnBrk="1" fontAlgn="auto" hangingPunct="1">
              <a:spcAft>
                <a:spcPts val="0"/>
              </a:spcAft>
              <a:buFont typeface="Arial" pitchFamily="34" charset="0"/>
              <a:buNone/>
              <a:defRPr/>
            </a:pPr>
            <a:r>
              <a:rPr lang="es-CO" sz="2500" dirty="0" smtClean="0"/>
              <a:t>	</a:t>
            </a:r>
          </a:p>
          <a:p>
            <a:pPr eaLnBrk="1" fontAlgn="auto" hangingPunct="1">
              <a:spcAft>
                <a:spcPts val="0"/>
              </a:spcAft>
              <a:buFont typeface="Arial" pitchFamily="34" charset="0"/>
              <a:buNone/>
              <a:defRPr/>
            </a:pPr>
            <a:r>
              <a:rPr lang="es-CO" sz="2500" dirty="0" smtClean="0"/>
              <a:t>	Útil para la evaluación de programas universales o en curso.</a:t>
            </a:r>
            <a:endParaRPr lang="es-ES" sz="2500" dirty="0"/>
          </a:p>
        </p:txBody>
      </p:sp>
      <p:pic>
        <p:nvPicPr>
          <p:cNvPr id="16388"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6389" name="1 Título"/>
          <p:cNvSpPr>
            <a:spLocks noGrp="1"/>
          </p:cNvSpPr>
          <p:nvPr>
            <p:ph type="title"/>
          </p:nvPr>
        </p:nvSpPr>
        <p:spPr>
          <a:xfrm>
            <a:off x="2000250" y="285750"/>
            <a:ext cx="6858000" cy="1071563"/>
          </a:xfrm>
        </p:spPr>
        <p:txBody>
          <a:bodyPr/>
          <a:lstStyle/>
          <a:p>
            <a:pPr eaLnBrk="1" hangingPunct="1"/>
            <a:r>
              <a:rPr lang="es-CO" sz="4200" u="sng" smtClean="0"/>
              <a:t>Controlando por la tendencia</a:t>
            </a:r>
            <a:endParaRPr lang="es-ES" sz="4200" u="sng" smtClean="0"/>
          </a:p>
        </p:txBody>
      </p:sp>
      <p:sp>
        <p:nvSpPr>
          <p:cNvPr id="16390"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6391"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6392" name="11 CuadroTexto"/>
          <p:cNvSpPr txBox="1">
            <a:spLocks noChangeArrowheads="1"/>
          </p:cNvSpPr>
          <p:nvPr/>
        </p:nvSpPr>
        <p:spPr bwMode="auto">
          <a:xfrm>
            <a:off x="1428750" y="3714750"/>
            <a:ext cx="3143250" cy="1016000"/>
          </a:xfrm>
          <a:prstGeom prst="rect">
            <a:avLst/>
          </a:prstGeom>
          <a:noFill/>
          <a:ln w="9525">
            <a:noFill/>
            <a:miter lim="800000"/>
            <a:headEnd/>
            <a:tailEnd/>
          </a:ln>
        </p:spPr>
        <p:txBody>
          <a:bodyPr>
            <a:spAutoFit/>
          </a:bodyPr>
          <a:lstStyle/>
          <a:p>
            <a:r>
              <a:rPr lang="es-CO" sz="2000">
                <a:latin typeface="Calibri" pitchFamily="34" charset="0"/>
              </a:rPr>
              <a:t>Tendencia de tiempo que afecta la variable de resultado.</a:t>
            </a:r>
            <a:endParaRPr lang="es-ES" sz="2000">
              <a:latin typeface="Calibri" pitchFamily="34" charset="0"/>
            </a:endParaRPr>
          </a:p>
        </p:txBody>
      </p:sp>
      <p:sp>
        <p:nvSpPr>
          <p:cNvPr id="16393" name="12 CuadroTexto"/>
          <p:cNvSpPr txBox="1">
            <a:spLocks noChangeArrowheads="1"/>
          </p:cNvSpPr>
          <p:nvPr/>
        </p:nvSpPr>
        <p:spPr bwMode="auto">
          <a:xfrm>
            <a:off x="4572000" y="3643313"/>
            <a:ext cx="4143375" cy="1323975"/>
          </a:xfrm>
          <a:prstGeom prst="rect">
            <a:avLst/>
          </a:prstGeom>
          <a:noFill/>
          <a:ln w="9525">
            <a:noFill/>
            <a:miter lim="800000"/>
            <a:headEnd/>
            <a:tailEnd/>
          </a:ln>
        </p:spPr>
        <p:txBody>
          <a:bodyPr>
            <a:spAutoFit/>
          </a:bodyPr>
          <a:lstStyle/>
          <a:p>
            <a:r>
              <a:rPr lang="es-CO" sz="2000">
                <a:latin typeface="Calibri" pitchFamily="34" charset="0"/>
              </a:rPr>
              <a:t>Diferencia entre  el antes y el después de la variable de interés para el grupo de tratamiento, neto del cambio que se debe al paso del tiempo.</a:t>
            </a:r>
            <a:endParaRPr lang="es-ES" sz="2000">
              <a:latin typeface="Calibri" pitchFamily="34" charset="0"/>
            </a:endParaRPr>
          </a:p>
        </p:txBody>
      </p:sp>
      <p:cxnSp>
        <p:nvCxnSpPr>
          <p:cNvPr id="33" name="32 Conector recto de flecha"/>
          <p:cNvCxnSpPr/>
          <p:nvPr/>
        </p:nvCxnSpPr>
        <p:spPr>
          <a:xfrm rot="10800000" flipV="1">
            <a:off x="3214688" y="3071813"/>
            <a:ext cx="1143000" cy="64293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34 Conector recto de flecha"/>
          <p:cNvCxnSpPr/>
          <p:nvPr/>
        </p:nvCxnSpPr>
        <p:spPr>
          <a:xfrm>
            <a:off x="5357813" y="3071813"/>
            <a:ext cx="1071562" cy="571500"/>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6386" name="Object 2"/>
          <p:cNvGraphicFramePr>
            <a:graphicFrameLocks noChangeAspect="1"/>
          </p:cNvGraphicFramePr>
          <p:nvPr/>
        </p:nvGraphicFramePr>
        <p:xfrm>
          <a:off x="2571750" y="2500313"/>
          <a:ext cx="3571875" cy="563562"/>
        </p:xfrm>
        <a:graphic>
          <a:graphicData uri="http://schemas.openxmlformats.org/presentationml/2006/ole">
            <p:oleObj spid="_x0000_s16386" name="Ecuación" r:id="rId5" imgW="1447560" imgH="228600" progId="Equation.3">
              <p:embed/>
            </p:oleObj>
          </a:graphicData>
        </a:graphic>
      </p:graphicFrame>
      <p:sp>
        <p:nvSpPr>
          <p:cNvPr id="13" name="12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6D259137-387E-4902-8575-5176023EC7BC}" type="slidenum">
              <a:rPr lang="es-CO" sz="1500">
                <a:solidFill>
                  <a:schemeClr val="tx1">
                    <a:lumMod val="50000"/>
                    <a:lumOff val="50000"/>
                  </a:schemeClr>
                </a:solidFill>
                <a:latin typeface="+mn-lt"/>
                <a:cs typeface="+mn-cs"/>
              </a:rPr>
              <a:pPr algn="ctr" fontAlgn="auto">
                <a:spcBef>
                  <a:spcPts val="0"/>
                </a:spcBef>
                <a:spcAft>
                  <a:spcPts val="0"/>
                </a:spcAft>
                <a:defRPr/>
              </a:pPr>
              <a:t>21</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algn="ctr" eaLnBrk="1" fontAlgn="auto" hangingPunct="1">
              <a:spcAft>
                <a:spcPts val="0"/>
              </a:spcAft>
              <a:buFont typeface="Arial" pitchFamily="34" charset="0"/>
              <a:buNone/>
              <a:defRPr/>
            </a:pPr>
            <a:r>
              <a:rPr lang="es-ES" sz="2500" dirty="0" smtClean="0"/>
              <a:t>	Podemos estimar el impacto del programa del tipo antes-después, usando únicamente el grupo de tratamiento:</a:t>
            </a:r>
          </a:p>
          <a:p>
            <a:pPr eaLnBrk="1" fontAlgn="auto" hangingPunct="1">
              <a:spcAft>
                <a:spcPts val="0"/>
              </a:spcAft>
              <a:buFont typeface="Arial" pitchFamily="34" charset="0"/>
              <a:buChar char="•"/>
              <a:defRPr/>
            </a:pPr>
            <a:endParaRPr lang="es-ES" sz="2500" dirty="0" smtClean="0"/>
          </a:p>
          <a:p>
            <a:pPr eaLnBrk="1" fontAlgn="auto" hangingPunct="1">
              <a:spcAft>
                <a:spcPts val="0"/>
              </a:spcAft>
              <a:buFont typeface="Arial" pitchFamily="34" charset="0"/>
              <a:buNone/>
              <a:defRPr/>
            </a:pPr>
            <a:r>
              <a:rPr lang="es-ES" sz="2500" dirty="0" smtClean="0"/>
              <a:t>	Donde:</a:t>
            </a:r>
          </a:p>
          <a:p>
            <a:pPr eaLnBrk="1" fontAlgn="auto" hangingPunct="1">
              <a:spcAft>
                <a:spcPts val="0"/>
              </a:spcAft>
              <a:buFont typeface="Arial" pitchFamily="34" charset="0"/>
              <a:buNone/>
              <a:defRPr/>
            </a:pPr>
            <a:r>
              <a:rPr lang="es-ES" sz="2500" dirty="0" smtClean="0"/>
              <a:t>		</a:t>
            </a:r>
            <a:endParaRPr lang="es-AR" sz="2500" dirty="0"/>
          </a:p>
        </p:txBody>
      </p:sp>
      <p:pic>
        <p:nvPicPr>
          <p:cNvPr id="17414"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7415" name="1 Título"/>
          <p:cNvSpPr>
            <a:spLocks noGrp="1"/>
          </p:cNvSpPr>
          <p:nvPr>
            <p:ph type="title"/>
          </p:nvPr>
        </p:nvSpPr>
        <p:spPr>
          <a:xfrm>
            <a:off x="1885950" y="285750"/>
            <a:ext cx="6972300" cy="1000125"/>
          </a:xfrm>
        </p:spPr>
        <p:txBody>
          <a:bodyPr/>
          <a:lstStyle/>
          <a:p>
            <a:pPr eaLnBrk="1" hangingPunct="1"/>
            <a:r>
              <a:rPr lang="es-CO" sz="4200" u="sng" smtClean="0"/>
              <a:t>Ejemplo: </a:t>
            </a:r>
            <a:r>
              <a:rPr lang="es-CO" sz="4200" i="1" u="sng" smtClean="0"/>
              <a:t>Canasta</a:t>
            </a:r>
            <a:r>
              <a:rPr lang="es-CO" sz="4200" u="sng" smtClean="0"/>
              <a:t> con diferencias en el tiempo</a:t>
            </a:r>
            <a:endParaRPr lang="es-ES" sz="4200" u="sng" smtClean="0"/>
          </a:p>
        </p:txBody>
      </p:sp>
      <p:sp>
        <p:nvSpPr>
          <p:cNvPr id="1741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7417"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sp>
        <p:nvSpPr>
          <p:cNvPr id="10" name="9 Abrir llave"/>
          <p:cNvSpPr/>
          <p:nvPr/>
        </p:nvSpPr>
        <p:spPr>
          <a:xfrm>
            <a:off x="1785938" y="3571875"/>
            <a:ext cx="214312" cy="928688"/>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a:p>
        </p:txBody>
      </p:sp>
      <p:sp>
        <p:nvSpPr>
          <p:cNvPr id="17419" name="10 CuadroTexto"/>
          <p:cNvSpPr txBox="1">
            <a:spLocks noChangeArrowheads="1"/>
          </p:cNvSpPr>
          <p:nvPr/>
        </p:nvSpPr>
        <p:spPr bwMode="auto">
          <a:xfrm>
            <a:off x="2000250" y="3571875"/>
            <a:ext cx="3998913" cy="446088"/>
          </a:xfrm>
          <a:prstGeom prst="rect">
            <a:avLst/>
          </a:prstGeom>
          <a:noFill/>
          <a:ln w="9525">
            <a:noFill/>
            <a:miter lim="800000"/>
            <a:headEnd/>
            <a:tailEnd/>
          </a:ln>
        </p:spPr>
        <p:txBody>
          <a:bodyPr wrap="none">
            <a:spAutoFit/>
          </a:bodyPr>
          <a:lstStyle/>
          <a:p>
            <a:r>
              <a:rPr lang="es-ES" sz="2300">
                <a:latin typeface="Calibri" pitchFamily="34" charset="0"/>
              </a:rPr>
              <a:t>0     antes de iniciar el programa</a:t>
            </a:r>
            <a:endParaRPr lang="es-AR" sz="2300">
              <a:latin typeface="Calibri" pitchFamily="34" charset="0"/>
            </a:endParaRPr>
          </a:p>
        </p:txBody>
      </p:sp>
      <p:sp>
        <p:nvSpPr>
          <p:cNvPr id="17420" name="11 CuadroTexto"/>
          <p:cNvSpPr txBox="1">
            <a:spLocks noChangeArrowheads="1"/>
          </p:cNvSpPr>
          <p:nvPr/>
        </p:nvSpPr>
        <p:spPr bwMode="auto">
          <a:xfrm>
            <a:off x="2000250" y="4000500"/>
            <a:ext cx="3881438" cy="446088"/>
          </a:xfrm>
          <a:prstGeom prst="rect">
            <a:avLst/>
          </a:prstGeom>
          <a:noFill/>
          <a:ln w="9525">
            <a:noFill/>
            <a:miter lim="800000"/>
            <a:headEnd/>
            <a:tailEnd/>
          </a:ln>
        </p:spPr>
        <p:txBody>
          <a:bodyPr wrap="none">
            <a:spAutoFit/>
          </a:bodyPr>
          <a:lstStyle/>
          <a:p>
            <a:r>
              <a:rPr lang="es-ES" sz="2300">
                <a:latin typeface="Calibri" pitchFamily="34" charset="0"/>
              </a:rPr>
              <a:t>1     después de la intervención</a:t>
            </a:r>
            <a:endParaRPr lang="es-AR" sz="2300">
              <a:latin typeface="Calibri" pitchFamily="34" charset="0"/>
            </a:endParaRPr>
          </a:p>
        </p:txBody>
      </p:sp>
      <p:sp>
        <p:nvSpPr>
          <p:cNvPr id="1742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6" name="15 Abrir llave"/>
          <p:cNvSpPr/>
          <p:nvPr/>
        </p:nvSpPr>
        <p:spPr>
          <a:xfrm>
            <a:off x="1785938" y="4786313"/>
            <a:ext cx="214312" cy="1000125"/>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a:p>
        </p:txBody>
      </p:sp>
      <p:sp>
        <p:nvSpPr>
          <p:cNvPr id="17423" name="16 CuadroTexto"/>
          <p:cNvSpPr txBox="1">
            <a:spLocks noChangeArrowheads="1"/>
          </p:cNvSpPr>
          <p:nvPr/>
        </p:nvSpPr>
        <p:spPr bwMode="auto">
          <a:xfrm>
            <a:off x="2071688" y="4714875"/>
            <a:ext cx="6143625" cy="1154113"/>
          </a:xfrm>
          <a:prstGeom prst="rect">
            <a:avLst/>
          </a:prstGeom>
          <a:noFill/>
          <a:ln w="9525">
            <a:noFill/>
            <a:miter lim="800000"/>
            <a:headEnd/>
            <a:tailEnd/>
          </a:ln>
        </p:spPr>
        <p:txBody>
          <a:bodyPr>
            <a:spAutoFit/>
          </a:bodyPr>
          <a:lstStyle/>
          <a:p>
            <a:r>
              <a:rPr lang="es-ES" sz="2300">
                <a:latin typeface="Calibri" pitchFamily="34" charset="0"/>
              </a:rPr>
              <a:t>Tendencia de tiempo que captura el hecho de que los niños entre 0 y 5 años están en proceso de crecimiento</a:t>
            </a:r>
            <a:endParaRPr lang="es-AR" sz="2300">
              <a:latin typeface="Calibri" pitchFamily="34" charset="0"/>
            </a:endParaRPr>
          </a:p>
        </p:txBody>
      </p:sp>
      <p:graphicFrame>
        <p:nvGraphicFramePr>
          <p:cNvPr id="17410" name="Object 3"/>
          <p:cNvGraphicFramePr>
            <a:graphicFrameLocks noChangeAspect="1"/>
          </p:cNvGraphicFramePr>
          <p:nvPr/>
        </p:nvGraphicFramePr>
        <p:xfrm>
          <a:off x="2714625" y="2500313"/>
          <a:ext cx="3571875" cy="563562"/>
        </p:xfrm>
        <a:graphic>
          <a:graphicData uri="http://schemas.openxmlformats.org/presentationml/2006/ole">
            <p:oleObj spid="_x0000_s17410" name="Ecuación" r:id="rId5" imgW="1447560" imgH="228600" progId="Equation.3">
              <p:embed/>
            </p:oleObj>
          </a:graphicData>
        </a:graphic>
      </p:graphicFrame>
      <p:graphicFrame>
        <p:nvGraphicFramePr>
          <p:cNvPr id="17411" name="Object 4"/>
          <p:cNvGraphicFramePr>
            <a:graphicFrameLocks noChangeAspect="1"/>
          </p:cNvGraphicFramePr>
          <p:nvPr/>
        </p:nvGraphicFramePr>
        <p:xfrm>
          <a:off x="1143000" y="3857625"/>
          <a:ext cx="576263" cy="357188"/>
        </p:xfrm>
        <a:graphic>
          <a:graphicData uri="http://schemas.openxmlformats.org/presentationml/2006/ole">
            <p:oleObj spid="_x0000_s17411" name="Ecuación" r:id="rId6" imgW="266400" imgH="164880" progId="Equation.3">
              <p:embed/>
            </p:oleObj>
          </a:graphicData>
        </a:graphic>
      </p:graphicFrame>
      <p:graphicFrame>
        <p:nvGraphicFramePr>
          <p:cNvPr id="17412" name="Object 5"/>
          <p:cNvGraphicFramePr>
            <a:graphicFrameLocks noChangeAspect="1"/>
          </p:cNvGraphicFramePr>
          <p:nvPr/>
        </p:nvGraphicFramePr>
        <p:xfrm>
          <a:off x="1143000" y="5000625"/>
          <a:ext cx="549275" cy="493713"/>
        </p:xfrm>
        <a:graphic>
          <a:graphicData uri="http://schemas.openxmlformats.org/presentationml/2006/ole">
            <p:oleObj spid="_x0000_s17412" name="Ecuación" r:id="rId7" imgW="253800" imgH="228600" progId="Equation.3">
              <p:embed/>
            </p:oleObj>
          </a:graphicData>
        </a:graphic>
      </p:graphicFrame>
      <p:sp>
        <p:nvSpPr>
          <p:cNvPr id="17" name="16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9C674B4C-EECE-465C-9D69-D6E4560808C6}" type="slidenum">
              <a:rPr lang="es-CO" sz="1500">
                <a:solidFill>
                  <a:schemeClr val="tx1">
                    <a:lumMod val="50000"/>
                    <a:lumOff val="50000"/>
                  </a:schemeClr>
                </a:solidFill>
                <a:latin typeface="+mn-lt"/>
                <a:cs typeface="+mn-cs"/>
              </a:rPr>
              <a:pPr algn="ctr" fontAlgn="auto">
                <a:spcBef>
                  <a:spcPts val="0"/>
                </a:spcBef>
                <a:spcAft>
                  <a:spcPts val="0"/>
                </a:spcAft>
                <a:defRPr/>
              </a:pPr>
              <a:t>22</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2 Marcador de contenido"/>
          <p:cNvSpPr>
            <a:spLocks noGrp="1"/>
          </p:cNvSpPr>
          <p:nvPr>
            <p:ph idx="1"/>
          </p:nvPr>
        </p:nvSpPr>
        <p:spPr>
          <a:xfrm>
            <a:off x="457200" y="2000250"/>
            <a:ext cx="8229600" cy="4357688"/>
          </a:xfrm>
        </p:spPr>
        <p:txBody>
          <a:bodyPr/>
          <a:lstStyle/>
          <a:p>
            <a:pPr eaLnBrk="1" hangingPunct="1">
              <a:lnSpc>
                <a:spcPct val="110000"/>
              </a:lnSpc>
              <a:spcBef>
                <a:spcPct val="0"/>
              </a:spcBef>
            </a:pPr>
            <a:r>
              <a:rPr lang="es-CO" sz="2500" smtClean="0"/>
              <a:t>Efecto experimental o de Hawthorne.</a:t>
            </a:r>
          </a:p>
          <a:p>
            <a:pPr eaLnBrk="1" hangingPunct="1">
              <a:lnSpc>
                <a:spcPct val="110000"/>
              </a:lnSpc>
              <a:spcBef>
                <a:spcPct val="0"/>
              </a:spcBef>
            </a:pPr>
            <a:endParaRPr lang="es-CO" sz="2500" smtClean="0"/>
          </a:p>
          <a:p>
            <a:pPr eaLnBrk="1" hangingPunct="1">
              <a:lnSpc>
                <a:spcPct val="110000"/>
              </a:lnSpc>
              <a:spcBef>
                <a:spcPct val="0"/>
              </a:spcBef>
            </a:pPr>
            <a:r>
              <a:rPr lang="es-CO" sz="2500" smtClean="0"/>
              <a:t>Mala aleatorización.</a:t>
            </a:r>
          </a:p>
          <a:p>
            <a:pPr eaLnBrk="1" hangingPunct="1">
              <a:lnSpc>
                <a:spcPct val="110000"/>
              </a:lnSpc>
              <a:spcBef>
                <a:spcPct val="0"/>
              </a:spcBef>
            </a:pPr>
            <a:endParaRPr lang="es-CO" sz="2500" smtClean="0"/>
          </a:p>
          <a:p>
            <a:pPr eaLnBrk="1" hangingPunct="1">
              <a:lnSpc>
                <a:spcPct val="110000"/>
              </a:lnSpc>
              <a:spcBef>
                <a:spcPct val="0"/>
              </a:spcBef>
            </a:pPr>
            <a:r>
              <a:rPr lang="es-CO" sz="2500" smtClean="0"/>
              <a:t>Pérdida de muestra o atrición.</a:t>
            </a:r>
          </a:p>
          <a:p>
            <a:pPr eaLnBrk="1" hangingPunct="1">
              <a:lnSpc>
                <a:spcPct val="110000"/>
              </a:lnSpc>
              <a:spcBef>
                <a:spcPct val="0"/>
              </a:spcBef>
            </a:pPr>
            <a:endParaRPr lang="es-CO" sz="2500" smtClean="0"/>
          </a:p>
          <a:p>
            <a:pPr algn="just" eaLnBrk="1" hangingPunct="1">
              <a:lnSpc>
                <a:spcPct val="110000"/>
              </a:lnSpc>
              <a:spcBef>
                <a:spcPct val="0"/>
              </a:spcBef>
            </a:pPr>
            <a:r>
              <a:rPr lang="es-CO" sz="2500" smtClean="0"/>
              <a:t>Debido al costo, es posible que el tamaño de la muestra sea pequeño, hecho que genera que los efectos no sean suficientemente precisos.</a:t>
            </a:r>
          </a:p>
          <a:p>
            <a:pPr eaLnBrk="1" hangingPunct="1">
              <a:buFont typeface="Arial" charset="0"/>
              <a:buNone/>
            </a:pPr>
            <a:endParaRPr lang="es-CO" sz="2500" smtClean="0"/>
          </a:p>
        </p:txBody>
      </p:sp>
      <p:pic>
        <p:nvPicPr>
          <p:cNvPr id="29699"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29700" name="1 Título"/>
          <p:cNvSpPr>
            <a:spLocks noGrp="1"/>
          </p:cNvSpPr>
          <p:nvPr>
            <p:ph type="title"/>
          </p:nvPr>
        </p:nvSpPr>
        <p:spPr>
          <a:xfrm>
            <a:off x="2000250" y="285750"/>
            <a:ext cx="6858000" cy="1071563"/>
          </a:xfrm>
        </p:spPr>
        <p:txBody>
          <a:bodyPr/>
          <a:lstStyle/>
          <a:p>
            <a:pPr eaLnBrk="1" hangingPunct="1"/>
            <a:r>
              <a:rPr lang="es-CO" sz="4200" u="sng" smtClean="0"/>
              <a:t>Potenciales problemas de aleatorización</a:t>
            </a:r>
            <a:endParaRPr lang="es-ES" sz="4200" u="sng" smtClean="0"/>
          </a:p>
        </p:txBody>
      </p:sp>
      <p:sp>
        <p:nvSpPr>
          <p:cNvPr id="6" name="5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DEC23AA9-42F8-403D-8633-50BF312101EE}" type="slidenum">
              <a:rPr lang="es-CO" sz="1500">
                <a:solidFill>
                  <a:schemeClr val="tx1">
                    <a:lumMod val="50000"/>
                    <a:lumOff val="50000"/>
                  </a:schemeClr>
                </a:solidFill>
                <a:latin typeface="+mn-lt"/>
                <a:cs typeface="+mn-cs"/>
              </a:rPr>
              <a:pPr algn="ctr" fontAlgn="auto">
                <a:spcBef>
                  <a:spcPts val="0"/>
                </a:spcBef>
                <a:spcAft>
                  <a:spcPts val="0"/>
                </a:spcAft>
                <a:defRPr/>
              </a:pPr>
              <a:t>23</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22413"/>
            <a:ext cx="8229600" cy="4714875"/>
          </a:xfrm>
        </p:spPr>
        <p:txBody>
          <a:bodyPr rtlCol="0">
            <a:normAutofit lnSpcReduction="10000"/>
          </a:bodyPr>
          <a:lstStyle/>
          <a:p>
            <a:pPr eaLnBrk="1" fontAlgn="auto" hangingPunct="1">
              <a:lnSpc>
                <a:spcPct val="110000"/>
              </a:lnSpc>
              <a:spcBef>
                <a:spcPts val="0"/>
              </a:spcBef>
              <a:spcAft>
                <a:spcPts val="0"/>
              </a:spcAft>
              <a:buFont typeface="Arial" pitchFamily="34" charset="0"/>
              <a:buChar char="•"/>
              <a:defRPr/>
            </a:pPr>
            <a:r>
              <a:rPr lang="es-CO" sz="2500" dirty="0" smtClean="0"/>
              <a:t>Problemas de validez externa:</a:t>
            </a:r>
          </a:p>
          <a:p>
            <a:pPr lvl="1" eaLnBrk="1" fontAlgn="auto" hangingPunct="1">
              <a:lnSpc>
                <a:spcPct val="110000"/>
              </a:lnSpc>
              <a:spcBef>
                <a:spcPts val="0"/>
              </a:spcBef>
              <a:spcAft>
                <a:spcPts val="0"/>
              </a:spcAft>
              <a:buFont typeface="Arial" pitchFamily="34" charset="0"/>
              <a:buChar char="–"/>
              <a:defRPr/>
            </a:pPr>
            <a:r>
              <a:rPr lang="es-CO" sz="2500" dirty="0" smtClean="0"/>
              <a:t>El experimento no es suficientemente similar al programa.</a:t>
            </a:r>
          </a:p>
          <a:p>
            <a:pPr lvl="1" eaLnBrk="1" fontAlgn="auto" hangingPunct="1">
              <a:spcAft>
                <a:spcPts val="0"/>
              </a:spcAft>
              <a:buFont typeface="Arial" pitchFamily="34" charset="0"/>
              <a:buChar char="–"/>
              <a:defRPr/>
            </a:pPr>
            <a:r>
              <a:rPr lang="es-CO" sz="2500" dirty="0" smtClean="0"/>
              <a:t>Efectos de equilibrio general o contaminación del grupo de control debido a externalidades.</a:t>
            </a:r>
          </a:p>
          <a:p>
            <a:pPr lvl="1" algn="just" eaLnBrk="1" fontAlgn="auto" hangingPunct="1">
              <a:spcAft>
                <a:spcPts val="0"/>
              </a:spcAft>
              <a:buFont typeface="Arial" pitchFamily="34" charset="0"/>
              <a:buChar char="–"/>
              <a:defRPr/>
            </a:pPr>
            <a:r>
              <a:rPr lang="es-CO" sz="2500" dirty="0" smtClean="0"/>
              <a:t>Autoselección posterior a la </a:t>
            </a:r>
            <a:r>
              <a:rPr lang="es-CO" sz="2500" dirty="0" err="1" smtClean="0"/>
              <a:t>aleatorización</a:t>
            </a:r>
            <a:r>
              <a:rPr lang="es-CO" sz="2500" dirty="0" smtClean="0"/>
              <a:t>.</a:t>
            </a:r>
          </a:p>
          <a:p>
            <a:pPr lvl="1" eaLnBrk="1" fontAlgn="auto" hangingPunct="1">
              <a:spcAft>
                <a:spcPts val="0"/>
              </a:spcAft>
              <a:buFont typeface="Arial" pitchFamily="34" charset="0"/>
              <a:buChar char="–"/>
              <a:defRPr/>
            </a:pPr>
            <a:endParaRPr lang="es-CO" sz="2500" dirty="0" smtClean="0"/>
          </a:p>
          <a:p>
            <a:pPr lvl="1" algn="ctr" eaLnBrk="1" fontAlgn="auto" hangingPunct="1">
              <a:spcAft>
                <a:spcPts val="0"/>
              </a:spcAft>
              <a:buFont typeface="Arial" pitchFamily="34" charset="0"/>
              <a:buNone/>
              <a:defRPr/>
            </a:pPr>
            <a:r>
              <a:rPr lang="es-CO" sz="2500" dirty="0" smtClean="0"/>
              <a:t>Si la aleatorización no es exitosa:</a:t>
            </a:r>
          </a:p>
          <a:p>
            <a:pPr lvl="1" algn="ctr" eaLnBrk="1" fontAlgn="auto" hangingPunct="1">
              <a:spcAft>
                <a:spcPts val="0"/>
              </a:spcAft>
              <a:buFont typeface="Arial" pitchFamily="34" charset="0"/>
              <a:buNone/>
              <a:defRPr/>
            </a:pPr>
            <a:endParaRPr lang="es-CO" sz="2500" dirty="0" smtClean="0"/>
          </a:p>
          <a:p>
            <a:pPr algn="ctr" eaLnBrk="1" fontAlgn="auto" hangingPunct="1">
              <a:spcAft>
                <a:spcPts val="0"/>
              </a:spcAft>
              <a:buFont typeface="Arial" pitchFamily="34" charset="0"/>
              <a:buNone/>
              <a:defRPr/>
            </a:pPr>
            <a:r>
              <a:rPr lang="es-CO" sz="2500" dirty="0" smtClean="0"/>
              <a:t>	El estimador es sesgado y se requieren otros métodos econométricos para encontrar el efecto del programa.</a:t>
            </a:r>
            <a:endParaRPr lang="es-ES" sz="2500" dirty="0"/>
          </a:p>
        </p:txBody>
      </p:sp>
      <p:pic>
        <p:nvPicPr>
          <p:cNvPr id="30723"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30724" name="1 Título"/>
          <p:cNvSpPr>
            <a:spLocks noGrp="1"/>
          </p:cNvSpPr>
          <p:nvPr>
            <p:ph type="title"/>
          </p:nvPr>
        </p:nvSpPr>
        <p:spPr>
          <a:xfrm>
            <a:off x="2000250" y="285750"/>
            <a:ext cx="6858000" cy="1071563"/>
          </a:xfrm>
        </p:spPr>
        <p:txBody>
          <a:bodyPr/>
          <a:lstStyle/>
          <a:p>
            <a:pPr eaLnBrk="1" hangingPunct="1"/>
            <a:r>
              <a:rPr lang="es-CO" sz="4200" u="sng" smtClean="0"/>
              <a:t>Potenciales problemas de aleatorización</a:t>
            </a:r>
            <a:endParaRPr lang="es-ES" sz="4200" u="sng" smtClean="0"/>
          </a:p>
        </p:txBody>
      </p:sp>
      <p:cxnSp>
        <p:nvCxnSpPr>
          <p:cNvPr id="8" name="7 Conector recto de flecha"/>
          <p:cNvCxnSpPr/>
          <p:nvPr/>
        </p:nvCxnSpPr>
        <p:spPr>
          <a:xfrm rot="5400000">
            <a:off x="4322762" y="4186238"/>
            <a:ext cx="500063"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rot="5400000">
            <a:off x="4429919" y="5085556"/>
            <a:ext cx="28575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5D3387D4-5115-40A8-ABD8-2968B3101C83}" type="slidenum">
              <a:rPr lang="es-CO" sz="1500">
                <a:solidFill>
                  <a:schemeClr val="tx1">
                    <a:lumMod val="50000"/>
                    <a:lumOff val="50000"/>
                  </a:schemeClr>
                </a:solidFill>
                <a:latin typeface="+mn-lt"/>
                <a:cs typeface="+mn-cs"/>
              </a:rPr>
              <a:pPr algn="ctr" fontAlgn="auto">
                <a:spcBef>
                  <a:spcPts val="0"/>
                </a:spcBef>
                <a:spcAft>
                  <a:spcPts val="0"/>
                </a:spcAft>
                <a:defRPr/>
              </a:pPr>
              <a:t>24</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2 Marcador de contenido"/>
          <p:cNvSpPr>
            <a:spLocks noGrp="1"/>
          </p:cNvSpPr>
          <p:nvPr>
            <p:ph idx="1"/>
          </p:nvPr>
        </p:nvSpPr>
        <p:spPr/>
        <p:txBody>
          <a:bodyPr/>
          <a:lstStyle/>
          <a:p>
            <a:pPr eaLnBrk="1" hangingPunct="1"/>
            <a:r>
              <a:rPr lang="es-CO" sz="2500" smtClean="0"/>
              <a:t>Si el tratamiento está asignado de manera aleatoria, no debe estar correlacionado con las características individuales, entonces:</a:t>
            </a:r>
          </a:p>
          <a:p>
            <a:pPr algn="just" eaLnBrk="1" hangingPunct="1"/>
            <a:endParaRPr lang="es-CO" sz="2500" smtClean="0"/>
          </a:p>
          <a:p>
            <a:pPr algn="just" eaLnBrk="1" hangingPunct="1"/>
            <a:endParaRPr lang="es-CO" sz="2500" smtClean="0"/>
          </a:p>
          <a:p>
            <a:pPr algn="just" eaLnBrk="1" hangingPunct="1"/>
            <a:endParaRPr lang="es-CO" sz="2500" smtClean="0"/>
          </a:p>
          <a:p>
            <a:pPr algn="just" eaLnBrk="1" hangingPunct="1">
              <a:buFont typeface="Arial" charset="0"/>
              <a:buNone/>
            </a:pPr>
            <a:r>
              <a:rPr lang="es-CO" sz="2500" smtClean="0"/>
              <a:t>	</a:t>
            </a:r>
          </a:p>
          <a:p>
            <a:pPr eaLnBrk="1" hangingPunct="1">
              <a:buFont typeface="Arial" charset="0"/>
              <a:buNone/>
            </a:pPr>
            <a:r>
              <a:rPr lang="es-CO" sz="2500" smtClean="0"/>
              <a:t>	Cuando       no está correlacionada con el tratamiento      los coeficientes que acompañan a       deben ser cero.  </a:t>
            </a:r>
          </a:p>
          <a:p>
            <a:pPr algn="just" eaLnBrk="1" hangingPunct="1">
              <a:buFont typeface="Arial" charset="0"/>
              <a:buNone/>
            </a:pPr>
            <a:r>
              <a:rPr lang="es-CO" sz="2500" smtClean="0"/>
              <a:t>	</a:t>
            </a:r>
          </a:p>
          <a:p>
            <a:pPr eaLnBrk="1" hangingPunct="1"/>
            <a:endParaRPr lang="es-CO" sz="2500" smtClean="0"/>
          </a:p>
          <a:p>
            <a:pPr eaLnBrk="1" hangingPunct="1"/>
            <a:endParaRPr lang="es-CO" sz="2500" smtClean="0"/>
          </a:p>
          <a:p>
            <a:pPr eaLnBrk="1" hangingPunct="1"/>
            <a:endParaRPr lang="es-CO" sz="2500" smtClean="0"/>
          </a:p>
          <a:p>
            <a:pPr eaLnBrk="1" hangingPunct="1">
              <a:buFont typeface="Arial" charset="0"/>
              <a:buNone/>
            </a:pPr>
            <a:endParaRPr lang="es-CO" sz="2500" smtClean="0"/>
          </a:p>
        </p:txBody>
      </p:sp>
      <p:pic>
        <p:nvPicPr>
          <p:cNvPr id="18439"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18440" name="1 Título"/>
          <p:cNvSpPr>
            <a:spLocks noGrp="1"/>
          </p:cNvSpPr>
          <p:nvPr>
            <p:ph type="title"/>
          </p:nvPr>
        </p:nvSpPr>
        <p:spPr>
          <a:xfrm>
            <a:off x="2071688" y="285750"/>
            <a:ext cx="6858000" cy="1071563"/>
          </a:xfrm>
        </p:spPr>
        <p:txBody>
          <a:bodyPr/>
          <a:lstStyle/>
          <a:p>
            <a:pPr eaLnBrk="1" hangingPunct="1"/>
            <a:r>
              <a:rPr lang="es-CO" sz="4200" u="sng" smtClean="0"/>
              <a:t>Para verificar la aleatorización</a:t>
            </a:r>
            <a:endParaRPr lang="es-ES" sz="4200" u="sng" smtClean="0"/>
          </a:p>
        </p:txBody>
      </p:sp>
      <p:sp>
        <p:nvSpPr>
          <p:cNvPr id="18441"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8442"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8443"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8444" name="Rectangle 6"/>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18445" name="16 Rectángulo"/>
          <p:cNvSpPr>
            <a:spLocks noChangeArrowheads="1"/>
          </p:cNvSpPr>
          <p:nvPr/>
        </p:nvSpPr>
        <p:spPr bwMode="auto">
          <a:xfrm>
            <a:off x="5072063" y="3352800"/>
            <a:ext cx="3500437" cy="862013"/>
          </a:xfrm>
          <a:prstGeom prst="rect">
            <a:avLst/>
          </a:prstGeom>
          <a:noFill/>
          <a:ln w="9525">
            <a:noFill/>
            <a:miter lim="800000"/>
            <a:headEnd/>
            <a:tailEnd/>
          </a:ln>
        </p:spPr>
        <p:txBody>
          <a:bodyPr>
            <a:spAutoFit/>
          </a:bodyPr>
          <a:lstStyle/>
          <a:p>
            <a:r>
              <a:rPr lang="es-CO" sz="2500">
                <a:latin typeface="Calibri" pitchFamily="34" charset="0"/>
              </a:rPr>
              <a:t>Matriz de características del individuo.</a:t>
            </a:r>
          </a:p>
        </p:txBody>
      </p:sp>
      <p:sp>
        <p:nvSpPr>
          <p:cNvPr id="18" name="17 Abrir llave"/>
          <p:cNvSpPr/>
          <p:nvPr/>
        </p:nvSpPr>
        <p:spPr>
          <a:xfrm rot="16200000">
            <a:off x="2798762" y="2298701"/>
            <a:ext cx="188913" cy="3643312"/>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dirty="0"/>
          </a:p>
        </p:txBody>
      </p:sp>
      <p:sp>
        <p:nvSpPr>
          <p:cNvPr id="18447"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18448"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29" name="28 Conector recto"/>
          <p:cNvCxnSpPr/>
          <p:nvPr/>
        </p:nvCxnSpPr>
        <p:spPr>
          <a:xfrm rot="5400000" flipH="1" flipV="1">
            <a:off x="4607719" y="3464719"/>
            <a:ext cx="50006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rot="10800000">
            <a:off x="3500438" y="3214688"/>
            <a:ext cx="1357312"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32 Conector recto de flecha"/>
          <p:cNvCxnSpPr/>
          <p:nvPr/>
        </p:nvCxnSpPr>
        <p:spPr>
          <a:xfrm rot="5400000">
            <a:off x="3391694" y="3321844"/>
            <a:ext cx="21590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a:off x="4857750" y="3714750"/>
            <a:ext cx="142875"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8434" name="Object 2"/>
          <p:cNvGraphicFramePr>
            <a:graphicFrameLocks noChangeAspect="1"/>
          </p:cNvGraphicFramePr>
          <p:nvPr/>
        </p:nvGraphicFramePr>
        <p:xfrm>
          <a:off x="1143000" y="3357563"/>
          <a:ext cx="3500438" cy="642937"/>
        </p:xfrm>
        <a:graphic>
          <a:graphicData uri="http://schemas.openxmlformats.org/presentationml/2006/ole">
            <p:oleObj spid="_x0000_s18434" name="Ecuación" r:id="rId5" imgW="1180800" imgH="228600" progId="Equation.3">
              <p:embed/>
            </p:oleObj>
          </a:graphicData>
        </a:graphic>
      </p:graphicFrame>
      <p:graphicFrame>
        <p:nvGraphicFramePr>
          <p:cNvPr id="18435" name="Object 4"/>
          <p:cNvGraphicFramePr>
            <a:graphicFrameLocks noChangeAspect="1"/>
          </p:cNvGraphicFramePr>
          <p:nvPr/>
        </p:nvGraphicFramePr>
        <p:xfrm>
          <a:off x="1928813" y="4643438"/>
          <a:ext cx="407987" cy="436562"/>
        </p:xfrm>
        <a:graphic>
          <a:graphicData uri="http://schemas.openxmlformats.org/presentationml/2006/ole">
            <p:oleObj spid="_x0000_s18435" name="Ecuación" r:id="rId6" imgW="203040" imgH="228600" progId="Equation.3">
              <p:embed/>
            </p:oleObj>
          </a:graphicData>
        </a:graphic>
      </p:graphicFrame>
      <p:graphicFrame>
        <p:nvGraphicFramePr>
          <p:cNvPr id="18436" name="Object 7"/>
          <p:cNvGraphicFramePr>
            <a:graphicFrameLocks noChangeAspect="1"/>
          </p:cNvGraphicFramePr>
          <p:nvPr/>
        </p:nvGraphicFramePr>
        <p:xfrm>
          <a:off x="4786313" y="5000625"/>
          <a:ext cx="407987" cy="436563"/>
        </p:xfrm>
        <a:graphic>
          <a:graphicData uri="http://schemas.openxmlformats.org/presentationml/2006/ole">
            <p:oleObj spid="_x0000_s18436" name="Ecuación" r:id="rId7" imgW="203040" imgH="228600" progId="Equation.3">
              <p:embed/>
            </p:oleObj>
          </a:graphicData>
        </a:graphic>
      </p:graphicFrame>
      <p:graphicFrame>
        <p:nvGraphicFramePr>
          <p:cNvPr id="18437" name="Object 8"/>
          <p:cNvGraphicFramePr>
            <a:graphicFrameLocks noChangeAspect="1"/>
          </p:cNvGraphicFramePr>
          <p:nvPr/>
        </p:nvGraphicFramePr>
        <p:xfrm>
          <a:off x="7786688" y="4643438"/>
          <a:ext cx="376237" cy="428625"/>
        </p:xfrm>
        <a:graphic>
          <a:graphicData uri="http://schemas.openxmlformats.org/presentationml/2006/ole">
            <p:oleObj spid="_x0000_s18437" name="Ecuación" r:id="rId8" imgW="190440" imgH="228600" progId="Equation.3">
              <p:embed/>
            </p:oleObj>
          </a:graphicData>
        </a:graphic>
      </p:graphicFrame>
      <p:sp>
        <p:nvSpPr>
          <p:cNvPr id="22" name="21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C18DBC76-019E-4076-8F65-DC7D11B06CBB}" type="slidenum">
              <a:rPr lang="es-CO" sz="1500">
                <a:solidFill>
                  <a:schemeClr val="tx1">
                    <a:lumMod val="50000"/>
                    <a:lumOff val="50000"/>
                  </a:schemeClr>
                </a:solidFill>
                <a:latin typeface="+mn-lt"/>
                <a:cs typeface="+mn-cs"/>
              </a:rPr>
              <a:pPr algn="ctr" fontAlgn="auto">
                <a:spcBef>
                  <a:spcPts val="0"/>
                </a:spcBef>
                <a:spcAft>
                  <a:spcPts val="0"/>
                </a:spcAft>
                <a:defRPr/>
              </a:pPr>
              <a:t>25</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r>
              <a:rPr lang="es-ES" sz="2500" dirty="0" smtClean="0"/>
              <a:t>Para determinar si la aleatorización de </a:t>
            </a:r>
            <a:r>
              <a:rPr lang="es-ES" sz="2500" i="1" dirty="0" smtClean="0"/>
              <a:t>Canasta </a:t>
            </a:r>
            <a:r>
              <a:rPr lang="es-ES" sz="2500" dirty="0" smtClean="0"/>
              <a:t>fue exitosa estimamos:</a:t>
            </a:r>
          </a:p>
          <a:p>
            <a:pPr lvl="1" eaLnBrk="1" fontAlgn="auto" hangingPunct="1">
              <a:spcAft>
                <a:spcPts val="0"/>
              </a:spcAft>
              <a:buFont typeface="Arial" pitchFamily="34" charset="0"/>
              <a:buNone/>
              <a:defRPr/>
            </a:pPr>
            <a:endParaRPr lang="es-AR" i="1" dirty="0"/>
          </a:p>
        </p:txBody>
      </p:sp>
      <p:pic>
        <p:nvPicPr>
          <p:cNvPr id="19460"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5" name="1 Título"/>
          <p:cNvSpPr>
            <a:spLocks noGrp="1"/>
          </p:cNvSpPr>
          <p:nvPr>
            <p:ph type="title"/>
          </p:nvPr>
        </p:nvSpPr>
        <p:spPr>
          <a:xfrm>
            <a:off x="1885950" y="285750"/>
            <a:ext cx="6972300" cy="1000125"/>
          </a:xfrm>
        </p:spPr>
        <p:txBody>
          <a:bodyPr rtlCol="0">
            <a:normAutofit fontScale="90000"/>
          </a:bodyPr>
          <a:lstStyle/>
          <a:p>
            <a:pPr eaLnBrk="1" fontAlgn="auto" hangingPunct="1">
              <a:spcAft>
                <a:spcPts val="0"/>
              </a:spcAft>
              <a:defRPr/>
            </a:pPr>
            <a:r>
              <a:rPr lang="es-CO" sz="4200" u="sng" dirty="0" smtClean="0"/>
              <a:t>Ejemplo: </a:t>
            </a:r>
            <a:r>
              <a:rPr lang="es-CO" sz="4200" i="1" u="sng" dirty="0" smtClean="0"/>
              <a:t>Canasta </a:t>
            </a:r>
            <a:r>
              <a:rPr lang="es-CO" sz="4200" u="sng" dirty="0" smtClean="0"/>
              <a:t>para</a:t>
            </a:r>
            <a:r>
              <a:rPr lang="es-CO" sz="4200" i="1" u="sng" dirty="0" smtClean="0"/>
              <a:t> </a:t>
            </a:r>
            <a:r>
              <a:rPr lang="es-CO" sz="4700" u="sng" dirty="0" smtClean="0"/>
              <a:t>verificar la aleatorización</a:t>
            </a:r>
            <a:endParaRPr lang="es-ES" sz="4700" u="sng" dirty="0"/>
          </a:p>
        </p:txBody>
      </p:sp>
      <p:sp>
        <p:nvSpPr>
          <p:cNvPr id="19462"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AR">
              <a:latin typeface="Calibri" pitchFamily="34" charset="0"/>
            </a:endParaRPr>
          </a:p>
        </p:txBody>
      </p:sp>
      <p:sp>
        <p:nvSpPr>
          <p:cNvPr id="19463"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AR"/>
          </a:p>
        </p:txBody>
      </p:sp>
      <p:sp>
        <p:nvSpPr>
          <p:cNvPr id="19464" name="9 CuadroTexto"/>
          <p:cNvSpPr txBox="1">
            <a:spLocks noChangeArrowheads="1"/>
          </p:cNvSpPr>
          <p:nvPr/>
        </p:nvSpPr>
        <p:spPr bwMode="auto">
          <a:xfrm>
            <a:off x="2071688" y="3357563"/>
            <a:ext cx="1843087" cy="477837"/>
          </a:xfrm>
          <a:prstGeom prst="rect">
            <a:avLst/>
          </a:prstGeom>
          <a:noFill/>
          <a:ln w="9525">
            <a:noFill/>
            <a:miter lim="800000"/>
            <a:headEnd/>
            <a:tailEnd/>
          </a:ln>
        </p:spPr>
        <p:txBody>
          <a:bodyPr wrap="none">
            <a:spAutoFit/>
          </a:bodyPr>
          <a:lstStyle/>
          <a:p>
            <a:r>
              <a:rPr lang="es-ES" sz="2500">
                <a:latin typeface="Calibri" pitchFamily="34" charset="0"/>
              </a:rPr>
              <a:t>Tratamiento.</a:t>
            </a:r>
            <a:endParaRPr lang="es-AR" sz="2500">
              <a:latin typeface="Calibri" pitchFamily="34" charset="0"/>
            </a:endParaRPr>
          </a:p>
        </p:txBody>
      </p:sp>
      <p:cxnSp>
        <p:nvCxnSpPr>
          <p:cNvPr id="12" name="11 Conector recto de flecha"/>
          <p:cNvCxnSpPr/>
          <p:nvPr/>
        </p:nvCxnSpPr>
        <p:spPr>
          <a:xfrm rot="5400000">
            <a:off x="2785269" y="3285331"/>
            <a:ext cx="28575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466" name="12 CuadroTexto"/>
          <p:cNvSpPr txBox="1">
            <a:spLocks noChangeArrowheads="1"/>
          </p:cNvSpPr>
          <p:nvPr/>
        </p:nvSpPr>
        <p:spPr bwMode="auto">
          <a:xfrm>
            <a:off x="4429125" y="3357563"/>
            <a:ext cx="2857500" cy="1246187"/>
          </a:xfrm>
          <a:prstGeom prst="rect">
            <a:avLst/>
          </a:prstGeom>
          <a:noFill/>
          <a:ln w="9525">
            <a:noFill/>
            <a:miter lim="800000"/>
            <a:headEnd/>
            <a:tailEnd/>
          </a:ln>
        </p:spPr>
        <p:txBody>
          <a:bodyPr>
            <a:spAutoFit/>
          </a:bodyPr>
          <a:lstStyle/>
          <a:p>
            <a:r>
              <a:rPr lang="es-ES" sz="2500">
                <a:latin typeface="Calibri" pitchFamily="34" charset="0"/>
              </a:rPr>
              <a:t>Características de los niños y de los hogares.</a:t>
            </a:r>
            <a:endParaRPr lang="es-AR" sz="2500">
              <a:latin typeface="Calibri" pitchFamily="34" charset="0"/>
            </a:endParaRPr>
          </a:p>
        </p:txBody>
      </p:sp>
      <p:cxnSp>
        <p:nvCxnSpPr>
          <p:cNvPr id="14" name="13 Conector recto de flecha"/>
          <p:cNvCxnSpPr/>
          <p:nvPr/>
        </p:nvCxnSpPr>
        <p:spPr>
          <a:xfrm rot="5400000">
            <a:off x="4928394" y="3285331"/>
            <a:ext cx="28575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468" name="14 CuadroTexto"/>
          <p:cNvSpPr txBox="1">
            <a:spLocks noChangeArrowheads="1"/>
          </p:cNvSpPr>
          <p:nvPr/>
        </p:nvSpPr>
        <p:spPr bwMode="auto">
          <a:xfrm>
            <a:off x="928688" y="4714875"/>
            <a:ext cx="7358062" cy="1246188"/>
          </a:xfrm>
          <a:prstGeom prst="rect">
            <a:avLst/>
          </a:prstGeom>
          <a:noFill/>
          <a:ln w="9525">
            <a:noFill/>
            <a:miter lim="800000"/>
            <a:headEnd/>
            <a:tailEnd/>
          </a:ln>
        </p:spPr>
        <p:txBody>
          <a:bodyPr>
            <a:spAutoFit/>
          </a:bodyPr>
          <a:lstStyle/>
          <a:p>
            <a:pPr algn="ctr"/>
            <a:r>
              <a:rPr lang="es-ES" sz="2500">
                <a:latin typeface="Calibri" pitchFamily="34" charset="0"/>
              </a:rPr>
              <a:t>Para que los resultados sean confiables, debemos rechazar la hipótesis sobre que el conjunto de la variables observables  explican el tratamiento.</a:t>
            </a:r>
            <a:endParaRPr lang="es-AR" sz="2500">
              <a:latin typeface="Calibri" pitchFamily="34" charset="0"/>
            </a:endParaRPr>
          </a:p>
        </p:txBody>
      </p:sp>
      <p:graphicFrame>
        <p:nvGraphicFramePr>
          <p:cNvPr id="19458" name="Object 4"/>
          <p:cNvGraphicFramePr>
            <a:graphicFrameLocks noChangeAspect="1"/>
          </p:cNvGraphicFramePr>
          <p:nvPr/>
        </p:nvGraphicFramePr>
        <p:xfrm>
          <a:off x="2643188" y="2428875"/>
          <a:ext cx="3500437" cy="642938"/>
        </p:xfrm>
        <a:graphic>
          <a:graphicData uri="http://schemas.openxmlformats.org/presentationml/2006/ole">
            <p:oleObj spid="_x0000_s19458" name="Ecuación" r:id="rId5" imgW="1180800" imgH="228600" progId="Equation.3">
              <p:embed/>
            </p:oleObj>
          </a:graphicData>
        </a:graphic>
      </p:graphicFrame>
      <p:sp>
        <p:nvSpPr>
          <p:cNvPr id="15" name="14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24E2AA64-4AB0-4F00-847C-5EBF9561F807}" type="slidenum">
              <a:rPr lang="es-CO" sz="1500">
                <a:solidFill>
                  <a:schemeClr val="tx1">
                    <a:lumMod val="50000"/>
                    <a:lumOff val="50000"/>
                  </a:schemeClr>
                </a:solidFill>
                <a:latin typeface="+mn-lt"/>
                <a:cs typeface="+mn-cs"/>
              </a:rPr>
              <a:pPr algn="ctr" fontAlgn="auto">
                <a:spcBef>
                  <a:spcPts val="0"/>
                </a:spcBef>
                <a:spcAft>
                  <a:spcPts val="0"/>
                </a:spcAft>
                <a:defRPr/>
              </a:pPr>
              <a:t>26</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r>
              <a:rPr lang="es-CO" sz="2500" u="sng" dirty="0" smtClean="0"/>
              <a:t>Objetivo:</a:t>
            </a:r>
            <a:r>
              <a:rPr lang="es-CO" sz="2500" dirty="0" smtClean="0"/>
              <a:t> Evaluar el efecto de pertenecer a un salón de tamaño pequeño (número de estudiantes) en el aprendizaje de los alumnos.</a:t>
            </a:r>
          </a:p>
          <a:p>
            <a:pPr eaLnBrk="1" fontAlgn="auto" hangingPunct="1">
              <a:spcAft>
                <a:spcPts val="0"/>
              </a:spcAft>
              <a:buFont typeface="Arial" pitchFamily="34" charset="0"/>
              <a:buChar char="•"/>
              <a:defRPr/>
            </a:pPr>
            <a:r>
              <a:rPr lang="es-CO" sz="2500" u="sng" dirty="0" smtClean="0"/>
              <a:t>Duración:</a:t>
            </a:r>
            <a:r>
              <a:rPr lang="es-CO" sz="2500" dirty="0" smtClean="0"/>
              <a:t>  Cuatro años, en la década de los ochenta.</a:t>
            </a:r>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Char char="•"/>
              <a:defRPr/>
            </a:pPr>
            <a:r>
              <a:rPr lang="es-CO" sz="2500" u="sng" dirty="0" smtClean="0"/>
              <a:t>Tipos de </a:t>
            </a:r>
          </a:p>
          <a:p>
            <a:pPr eaLnBrk="1" fontAlgn="auto" hangingPunct="1">
              <a:spcAft>
                <a:spcPts val="0"/>
              </a:spcAft>
              <a:buFont typeface="Arial" pitchFamily="34" charset="0"/>
              <a:buNone/>
              <a:defRPr/>
            </a:pPr>
            <a:r>
              <a:rPr lang="es-CO" sz="2500" dirty="0" smtClean="0"/>
              <a:t>	</a:t>
            </a:r>
            <a:r>
              <a:rPr lang="es-CO" sz="2500" u="sng" dirty="0" smtClean="0"/>
              <a:t>tratamiento</a:t>
            </a:r>
          </a:p>
          <a:p>
            <a:pPr eaLnBrk="1" fontAlgn="auto" hangingPunct="1">
              <a:spcAft>
                <a:spcPts val="0"/>
              </a:spcAft>
              <a:buFont typeface="Arial" pitchFamily="34" charset="0"/>
              <a:buNone/>
              <a:defRPr/>
            </a:pPr>
            <a:endParaRPr lang="es-CO" sz="2500" dirty="0" smtClean="0"/>
          </a:p>
          <a:p>
            <a:pPr eaLnBrk="1" fontAlgn="auto" hangingPunct="1">
              <a:spcAft>
                <a:spcPts val="0"/>
              </a:spcAft>
              <a:buFont typeface="Arial" pitchFamily="34" charset="0"/>
              <a:buNone/>
              <a:defRPr/>
            </a:pPr>
            <a:endParaRPr lang="es-CO" sz="2500" dirty="0" smtClean="0"/>
          </a:p>
          <a:p>
            <a:pPr eaLnBrk="1" fontAlgn="auto" hangingPunct="1">
              <a:spcAft>
                <a:spcPts val="0"/>
              </a:spcAft>
              <a:buFont typeface="Arial" pitchFamily="34" charset="0"/>
              <a:buNone/>
              <a:defRPr/>
            </a:pPr>
            <a:endParaRPr lang="es-ES" sz="2500" dirty="0"/>
          </a:p>
        </p:txBody>
      </p:sp>
      <p:pic>
        <p:nvPicPr>
          <p:cNvPr id="31747"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31748" name="1 Título"/>
          <p:cNvSpPr>
            <a:spLocks noGrp="1"/>
          </p:cNvSpPr>
          <p:nvPr>
            <p:ph type="title"/>
          </p:nvPr>
        </p:nvSpPr>
        <p:spPr>
          <a:xfrm>
            <a:off x="2000250" y="142875"/>
            <a:ext cx="6858000" cy="1071563"/>
          </a:xfrm>
        </p:spPr>
        <p:txBody>
          <a:bodyPr/>
          <a:lstStyle/>
          <a:p>
            <a:pPr eaLnBrk="1" hangingPunct="1"/>
            <a:r>
              <a:rPr lang="es-CO" sz="4200" u="sng" smtClean="0"/>
              <a:t>Ejemplo 1. STAR </a:t>
            </a:r>
            <a:br>
              <a:rPr lang="es-CO" sz="4200" u="sng" smtClean="0"/>
            </a:br>
            <a:r>
              <a:rPr lang="es-CO" sz="4200" u="sng" smtClean="0"/>
              <a:t>Descripción</a:t>
            </a:r>
            <a:endParaRPr lang="es-ES" sz="4200" u="sng" smtClean="0"/>
          </a:p>
        </p:txBody>
      </p:sp>
      <p:sp>
        <p:nvSpPr>
          <p:cNvPr id="6" name="5 Abrir llave"/>
          <p:cNvSpPr/>
          <p:nvPr/>
        </p:nvSpPr>
        <p:spPr>
          <a:xfrm>
            <a:off x="2428875" y="3571875"/>
            <a:ext cx="285750" cy="1571625"/>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dirty="0"/>
          </a:p>
        </p:txBody>
      </p:sp>
      <p:sp>
        <p:nvSpPr>
          <p:cNvPr id="31750" name="6 CuadroTexto"/>
          <p:cNvSpPr txBox="1">
            <a:spLocks noChangeArrowheads="1"/>
          </p:cNvSpPr>
          <p:nvPr/>
        </p:nvSpPr>
        <p:spPr bwMode="auto">
          <a:xfrm>
            <a:off x="2571750" y="3571875"/>
            <a:ext cx="6072188" cy="446088"/>
          </a:xfrm>
          <a:prstGeom prst="rect">
            <a:avLst/>
          </a:prstGeom>
          <a:noFill/>
          <a:ln w="9525">
            <a:noFill/>
            <a:miter lim="800000"/>
            <a:headEnd/>
            <a:tailEnd/>
          </a:ln>
        </p:spPr>
        <p:txBody>
          <a:bodyPr>
            <a:spAutoFit/>
          </a:bodyPr>
          <a:lstStyle/>
          <a:p>
            <a:r>
              <a:rPr lang="es-CO" sz="2300">
                <a:latin typeface="Calibri" pitchFamily="34" charset="0"/>
              </a:rPr>
              <a:t>Clases normales          22-25 estudiantes. </a:t>
            </a:r>
            <a:endParaRPr lang="es-ES">
              <a:latin typeface="Calibri" pitchFamily="34" charset="0"/>
            </a:endParaRPr>
          </a:p>
        </p:txBody>
      </p:sp>
      <p:sp>
        <p:nvSpPr>
          <p:cNvPr id="31751" name="9 CuadroTexto"/>
          <p:cNvSpPr txBox="1">
            <a:spLocks noChangeArrowheads="1"/>
          </p:cNvSpPr>
          <p:nvPr/>
        </p:nvSpPr>
        <p:spPr bwMode="auto">
          <a:xfrm>
            <a:off x="2571750" y="4125913"/>
            <a:ext cx="6308725" cy="446087"/>
          </a:xfrm>
          <a:prstGeom prst="rect">
            <a:avLst/>
          </a:prstGeom>
          <a:noFill/>
          <a:ln w="9525">
            <a:noFill/>
            <a:miter lim="800000"/>
            <a:headEnd/>
            <a:tailEnd/>
          </a:ln>
        </p:spPr>
        <p:txBody>
          <a:bodyPr wrap="none">
            <a:spAutoFit/>
          </a:bodyPr>
          <a:lstStyle/>
          <a:p>
            <a:r>
              <a:rPr lang="es-CO" sz="2300">
                <a:latin typeface="Calibri" pitchFamily="34" charset="0"/>
              </a:rPr>
              <a:t>Clases normales con asistente    22-25 estudiantes.</a:t>
            </a:r>
            <a:endParaRPr lang="es-ES" sz="2300">
              <a:latin typeface="Calibri" pitchFamily="34" charset="0"/>
            </a:endParaRPr>
          </a:p>
        </p:txBody>
      </p:sp>
      <p:cxnSp>
        <p:nvCxnSpPr>
          <p:cNvPr id="12" name="11 Conector recto de flecha"/>
          <p:cNvCxnSpPr/>
          <p:nvPr/>
        </p:nvCxnSpPr>
        <p:spPr>
          <a:xfrm>
            <a:off x="6286500" y="4357688"/>
            <a:ext cx="14287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4786313" y="3786188"/>
            <a:ext cx="14287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1754" name="16 CuadroTexto"/>
          <p:cNvSpPr txBox="1">
            <a:spLocks noChangeArrowheads="1"/>
          </p:cNvSpPr>
          <p:nvPr/>
        </p:nvSpPr>
        <p:spPr bwMode="auto">
          <a:xfrm>
            <a:off x="2609850" y="4697413"/>
            <a:ext cx="5062538" cy="446087"/>
          </a:xfrm>
          <a:prstGeom prst="rect">
            <a:avLst/>
          </a:prstGeom>
          <a:noFill/>
          <a:ln w="9525">
            <a:noFill/>
            <a:miter lim="800000"/>
            <a:headEnd/>
            <a:tailEnd/>
          </a:ln>
        </p:spPr>
        <p:txBody>
          <a:bodyPr wrap="none">
            <a:spAutoFit/>
          </a:bodyPr>
          <a:lstStyle/>
          <a:p>
            <a:r>
              <a:rPr lang="es-CO" sz="2300">
                <a:latin typeface="Calibri" pitchFamily="34" charset="0"/>
              </a:rPr>
              <a:t>Clase pequeñas           13-17 estudiantes.</a:t>
            </a:r>
            <a:endParaRPr lang="es-ES" sz="2300">
              <a:latin typeface="Calibri" pitchFamily="34" charset="0"/>
            </a:endParaRPr>
          </a:p>
        </p:txBody>
      </p:sp>
      <p:cxnSp>
        <p:nvCxnSpPr>
          <p:cNvPr id="18" name="17 Conector recto de flecha"/>
          <p:cNvCxnSpPr/>
          <p:nvPr/>
        </p:nvCxnSpPr>
        <p:spPr>
          <a:xfrm>
            <a:off x="4786313" y="4927600"/>
            <a:ext cx="142875"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13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2B12BCE7-583C-4D56-99D2-48635B2D7533}" type="slidenum">
              <a:rPr lang="es-CO" sz="1500">
                <a:solidFill>
                  <a:schemeClr val="tx1">
                    <a:lumMod val="50000"/>
                    <a:lumOff val="50000"/>
                  </a:schemeClr>
                </a:solidFill>
                <a:latin typeface="+mn-lt"/>
                <a:cs typeface="+mn-cs"/>
              </a:rPr>
              <a:pPr algn="ctr" fontAlgn="auto">
                <a:spcBef>
                  <a:spcPts val="0"/>
                </a:spcBef>
                <a:spcAft>
                  <a:spcPts val="0"/>
                </a:spcAft>
                <a:defRPr/>
              </a:pPr>
              <a:t>27</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28750"/>
            <a:ext cx="8229600" cy="4686300"/>
          </a:xfrm>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r>
              <a:rPr lang="es-CO" sz="2500" u="sng" dirty="0" smtClean="0"/>
              <a:t>Variable de interés:</a:t>
            </a:r>
            <a:r>
              <a:rPr lang="es-CO" sz="2500" dirty="0" smtClean="0"/>
              <a:t> Puntajes en los exámenes estandarizados de lectura y matemáticas (SAT), realizados anualmente.</a:t>
            </a:r>
          </a:p>
          <a:p>
            <a:pPr eaLnBrk="1" fontAlgn="auto" hangingPunct="1">
              <a:spcAft>
                <a:spcPts val="0"/>
              </a:spcAft>
              <a:buFont typeface="Arial" pitchFamily="34" charset="0"/>
              <a:buChar char="•"/>
              <a:defRPr/>
            </a:pPr>
            <a:r>
              <a:rPr lang="es-CO" sz="2500" u="sng" dirty="0" smtClean="0"/>
              <a:t>Asignación ideal</a:t>
            </a:r>
            <a:r>
              <a:rPr lang="es-CO" sz="2500" dirty="0" smtClean="0"/>
              <a:t>: Aleatoria para estudiantes y profesores, sin reasignación desde kínder a tercero.</a:t>
            </a:r>
          </a:p>
          <a:p>
            <a:pPr algn="just" eaLnBrk="1" fontAlgn="auto" hangingPunct="1">
              <a:spcAft>
                <a:spcPts val="0"/>
              </a:spcAft>
              <a:buFont typeface="Arial" pitchFamily="34" charset="0"/>
              <a:buChar char="•"/>
              <a:defRPr/>
            </a:pPr>
            <a:endParaRPr lang="es-CO" sz="2500" dirty="0" smtClean="0"/>
          </a:p>
          <a:p>
            <a:pPr algn="just" eaLnBrk="1" fontAlgn="auto" hangingPunct="1">
              <a:spcAft>
                <a:spcPts val="0"/>
              </a:spcAft>
              <a:buFont typeface="Arial" pitchFamily="34" charset="0"/>
              <a:buChar char="•"/>
              <a:defRPr/>
            </a:pPr>
            <a:r>
              <a:rPr lang="es-CO" sz="2500" u="sng" dirty="0" smtClean="0"/>
              <a:t>Problemas</a:t>
            </a:r>
          </a:p>
          <a:p>
            <a:pPr lvl="1" algn="just" eaLnBrk="1" fontAlgn="auto" hangingPunct="1">
              <a:spcAft>
                <a:spcPts val="0"/>
              </a:spcAft>
              <a:buFont typeface="Arial" pitchFamily="34" charset="0"/>
              <a:buNone/>
              <a:defRPr/>
            </a:pPr>
            <a:r>
              <a:rPr lang="es-CO" sz="2500" dirty="0" smtClean="0"/>
              <a:t>10% de reasignaciones</a:t>
            </a:r>
          </a:p>
          <a:p>
            <a:pPr lvl="1" algn="just" eaLnBrk="1" fontAlgn="auto" hangingPunct="1">
              <a:spcAft>
                <a:spcPts val="0"/>
              </a:spcAft>
              <a:buFont typeface="Arial" pitchFamily="34" charset="0"/>
              <a:buNone/>
              <a:defRPr/>
            </a:pPr>
            <a:endParaRPr lang="es-CO" sz="2100" dirty="0" smtClean="0"/>
          </a:p>
        </p:txBody>
      </p:sp>
      <p:pic>
        <p:nvPicPr>
          <p:cNvPr id="32771" name="Picture 1"/>
          <p:cNvPicPr>
            <a:picLocks noChangeAspect="1" noChangeArrowheads="1"/>
          </p:cNvPicPr>
          <p:nvPr/>
        </p:nvPicPr>
        <p:blipFill>
          <a:blip r:embed="rId3" cstate="print"/>
          <a:srcRect/>
          <a:stretch>
            <a:fillRect/>
          </a:stretch>
        </p:blipFill>
        <p:spPr bwMode="auto">
          <a:xfrm>
            <a:off x="0" y="0"/>
            <a:ext cx="2214563" cy="1054100"/>
          </a:xfrm>
          <a:prstGeom prst="rect">
            <a:avLst/>
          </a:prstGeom>
          <a:noFill/>
          <a:ln w="9525">
            <a:noFill/>
            <a:miter lim="800000"/>
            <a:headEnd/>
            <a:tailEnd/>
          </a:ln>
        </p:spPr>
      </p:pic>
      <p:sp>
        <p:nvSpPr>
          <p:cNvPr id="32772" name="1 Título"/>
          <p:cNvSpPr>
            <a:spLocks noGrp="1"/>
          </p:cNvSpPr>
          <p:nvPr>
            <p:ph type="title"/>
          </p:nvPr>
        </p:nvSpPr>
        <p:spPr>
          <a:xfrm>
            <a:off x="2000250" y="142875"/>
            <a:ext cx="6858000" cy="1071563"/>
          </a:xfrm>
        </p:spPr>
        <p:txBody>
          <a:bodyPr/>
          <a:lstStyle/>
          <a:p>
            <a:pPr eaLnBrk="1" hangingPunct="1"/>
            <a:r>
              <a:rPr lang="es-CO" sz="4200" u="sng" smtClean="0"/>
              <a:t>Ejemplo 1. STAR</a:t>
            </a:r>
            <a:br>
              <a:rPr lang="es-CO" sz="4200" u="sng" smtClean="0"/>
            </a:br>
            <a:r>
              <a:rPr lang="es-CO" sz="4200" u="sng" smtClean="0"/>
              <a:t>Descripción</a:t>
            </a:r>
            <a:endParaRPr lang="es-ES" sz="4200" u="sng" smtClean="0"/>
          </a:p>
        </p:txBody>
      </p:sp>
      <p:cxnSp>
        <p:nvCxnSpPr>
          <p:cNvPr id="11" name="10 Conector recto de flecha"/>
          <p:cNvCxnSpPr/>
          <p:nvPr/>
        </p:nvCxnSpPr>
        <p:spPr>
          <a:xfrm>
            <a:off x="4214813" y="4143375"/>
            <a:ext cx="428625"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4643438" y="3786188"/>
            <a:ext cx="4000500" cy="1154112"/>
          </a:xfrm>
          <a:prstGeom prst="rect">
            <a:avLst/>
          </a:prstGeom>
          <a:noFill/>
          <a:ln>
            <a:noFill/>
          </a:ln>
        </p:spPr>
        <p:txBody>
          <a:bodyPr>
            <a:spAutoFit/>
          </a:bodyPr>
          <a:lstStyle/>
          <a:p>
            <a:pPr fontAlgn="auto">
              <a:spcBef>
                <a:spcPts val="0"/>
              </a:spcBef>
              <a:spcAft>
                <a:spcPts val="0"/>
              </a:spcAft>
              <a:defRPr/>
            </a:pPr>
            <a:r>
              <a:rPr lang="es-CO" sz="2300" dirty="0">
                <a:latin typeface="+mn-lt"/>
                <a:cs typeface="+mn-cs"/>
              </a:rPr>
              <a:t>Por conflictos personales</a:t>
            </a:r>
          </a:p>
          <a:p>
            <a:pPr fontAlgn="auto">
              <a:spcBef>
                <a:spcPts val="0"/>
              </a:spcBef>
              <a:spcAft>
                <a:spcPts val="0"/>
              </a:spcAft>
              <a:defRPr/>
            </a:pPr>
            <a:r>
              <a:rPr lang="es-CO" sz="2300" dirty="0">
                <a:solidFill>
                  <a:schemeClr val="accent1">
                    <a:lumMod val="75000"/>
                  </a:schemeClr>
                </a:solidFill>
                <a:latin typeface="+mn-lt"/>
                <a:cs typeface="+mn-cs"/>
              </a:rPr>
              <a:t>(puede </a:t>
            </a:r>
            <a:r>
              <a:rPr lang="es-CO" sz="2300" u="sng" dirty="0">
                <a:solidFill>
                  <a:schemeClr val="accent1">
                    <a:lumMod val="75000"/>
                  </a:schemeClr>
                </a:solidFill>
                <a:latin typeface="+mn-lt"/>
                <a:cs typeface="+mn-cs"/>
              </a:rPr>
              <a:t>no</a:t>
            </a:r>
            <a:r>
              <a:rPr lang="es-CO" sz="2300" dirty="0">
                <a:solidFill>
                  <a:schemeClr val="accent1">
                    <a:lumMod val="75000"/>
                  </a:schemeClr>
                </a:solidFill>
                <a:latin typeface="+mn-lt"/>
                <a:cs typeface="+mn-cs"/>
              </a:rPr>
              <a:t> estar correlacionado con el experimento).</a:t>
            </a:r>
            <a:endParaRPr lang="es-ES" sz="2300" dirty="0">
              <a:solidFill>
                <a:schemeClr val="accent1">
                  <a:lumMod val="75000"/>
                </a:schemeClr>
              </a:solidFill>
              <a:latin typeface="+mn-lt"/>
              <a:cs typeface="+mn-cs"/>
            </a:endParaRPr>
          </a:p>
        </p:txBody>
      </p:sp>
      <p:sp>
        <p:nvSpPr>
          <p:cNvPr id="15" name="14 CuadroTexto"/>
          <p:cNvSpPr txBox="1"/>
          <p:nvPr/>
        </p:nvSpPr>
        <p:spPr>
          <a:xfrm>
            <a:off x="4643438" y="4929188"/>
            <a:ext cx="3951287" cy="1154112"/>
          </a:xfrm>
          <a:prstGeom prst="rect">
            <a:avLst/>
          </a:prstGeom>
          <a:noFill/>
          <a:ln>
            <a:noFill/>
          </a:ln>
        </p:spPr>
        <p:txBody>
          <a:bodyPr>
            <a:spAutoFit/>
          </a:bodyPr>
          <a:lstStyle/>
          <a:p>
            <a:pPr fontAlgn="auto">
              <a:spcBef>
                <a:spcPts val="0"/>
              </a:spcBef>
              <a:spcAft>
                <a:spcPts val="0"/>
              </a:spcAft>
              <a:defRPr/>
            </a:pPr>
            <a:r>
              <a:rPr lang="es-CO" sz="2300" dirty="0">
                <a:latin typeface="+mn-lt"/>
                <a:cs typeface="+mn-cs"/>
              </a:rPr>
              <a:t>Por preocupación de los padres</a:t>
            </a:r>
          </a:p>
          <a:p>
            <a:pPr fontAlgn="auto">
              <a:spcBef>
                <a:spcPts val="0"/>
              </a:spcBef>
              <a:spcAft>
                <a:spcPts val="0"/>
              </a:spcAft>
              <a:defRPr/>
            </a:pPr>
            <a:r>
              <a:rPr lang="es-CO" sz="2300" dirty="0">
                <a:solidFill>
                  <a:schemeClr val="accent1">
                    <a:lumMod val="75000"/>
                  </a:schemeClr>
                </a:solidFill>
                <a:latin typeface="+mn-lt"/>
                <a:cs typeface="+mn-cs"/>
              </a:rPr>
              <a:t>(puede estar correlacionado con el experimento).</a:t>
            </a:r>
            <a:endParaRPr lang="es-ES" sz="2300" dirty="0">
              <a:solidFill>
                <a:schemeClr val="accent1">
                  <a:lumMod val="75000"/>
                </a:schemeClr>
              </a:solidFill>
              <a:latin typeface="+mn-lt"/>
              <a:cs typeface="+mn-cs"/>
            </a:endParaRPr>
          </a:p>
        </p:txBody>
      </p:sp>
      <p:cxnSp>
        <p:nvCxnSpPr>
          <p:cNvPr id="17" name="16 Conector recto"/>
          <p:cNvCxnSpPr/>
          <p:nvPr/>
        </p:nvCxnSpPr>
        <p:spPr>
          <a:xfrm rot="5400000">
            <a:off x="3714750" y="4643438"/>
            <a:ext cx="1000125"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4214813" y="5143500"/>
            <a:ext cx="428625"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40340E22-F15E-44AA-8290-51FA420F10CF}" type="slidenum">
              <a:rPr lang="es-CO" sz="1500">
                <a:solidFill>
                  <a:schemeClr val="tx1">
                    <a:lumMod val="50000"/>
                    <a:lumOff val="50000"/>
                  </a:schemeClr>
                </a:solidFill>
                <a:latin typeface="+mn-lt"/>
                <a:cs typeface="+mn-cs"/>
              </a:rPr>
              <a:pPr algn="ctr" fontAlgn="auto">
                <a:spcBef>
                  <a:spcPts val="0"/>
                </a:spcBef>
                <a:spcAft>
                  <a:spcPts val="0"/>
                </a:spcAft>
                <a:defRPr/>
              </a:pPr>
              <a:t>28</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algn="just" eaLnBrk="1" fontAlgn="auto" hangingPunct="1">
              <a:spcAft>
                <a:spcPts val="0"/>
              </a:spcAft>
              <a:buFont typeface="Arial" pitchFamily="34" charset="0"/>
              <a:buChar char="•"/>
              <a:defRPr/>
            </a:pPr>
            <a:endParaRPr lang="es-CO" sz="2500" dirty="0" smtClean="0"/>
          </a:p>
          <a:p>
            <a:pPr algn="just" eaLnBrk="1" fontAlgn="auto" hangingPunct="1">
              <a:spcAft>
                <a:spcPts val="0"/>
              </a:spcAft>
              <a:buFont typeface="Arial" pitchFamily="34" charset="0"/>
              <a:buChar char="•"/>
              <a:defRPr/>
            </a:pPr>
            <a:r>
              <a:rPr lang="es-CO" sz="2500" dirty="0" smtClean="0"/>
              <a:t>Las reasignaciones, según la causa, podrían estar </a:t>
            </a:r>
            <a:r>
              <a:rPr lang="es-CO" sz="2500" u="sng" dirty="0" smtClean="0"/>
              <a:t>sobreestimando</a:t>
            </a:r>
            <a:r>
              <a:rPr lang="es-CO" sz="2500" dirty="0" smtClean="0"/>
              <a:t> el efecto de estar en una clase pequeña.</a:t>
            </a:r>
          </a:p>
          <a:p>
            <a:pPr algn="just" eaLnBrk="1" fontAlgn="auto" hangingPunct="1">
              <a:spcAft>
                <a:spcPts val="0"/>
              </a:spcAft>
              <a:buFont typeface="Arial" pitchFamily="34" charset="0"/>
              <a:buChar char="•"/>
              <a:defRPr/>
            </a:pPr>
            <a:endParaRPr lang="es-CO" sz="2500" dirty="0" smtClean="0"/>
          </a:p>
          <a:p>
            <a:pPr algn="just" eaLnBrk="1" fontAlgn="auto" hangingPunct="1">
              <a:spcAft>
                <a:spcPts val="0"/>
              </a:spcAft>
              <a:buFont typeface="Arial" pitchFamily="34" charset="0"/>
              <a:buChar char="•"/>
              <a:defRPr/>
            </a:pPr>
            <a:r>
              <a:rPr lang="es-CO" sz="2500" u="sng" dirty="0" smtClean="0"/>
              <a:t>Estimación del efecto del programa</a:t>
            </a:r>
          </a:p>
          <a:p>
            <a:pPr algn="just" eaLnBrk="1" fontAlgn="auto" hangingPunct="1">
              <a:spcAft>
                <a:spcPts val="0"/>
              </a:spcAft>
              <a:buFont typeface="Arial" pitchFamily="34" charset="0"/>
              <a:buChar char="•"/>
              <a:defRPr/>
            </a:pPr>
            <a:endParaRPr lang="es-CO" sz="2500" u="sng" dirty="0" smtClean="0"/>
          </a:p>
          <a:p>
            <a:pPr algn="just" eaLnBrk="1" fontAlgn="auto" hangingPunct="1">
              <a:spcAft>
                <a:spcPts val="0"/>
              </a:spcAft>
              <a:buFont typeface="Arial" pitchFamily="34" charset="0"/>
              <a:buChar char="•"/>
              <a:defRPr/>
            </a:pPr>
            <a:endParaRPr lang="es-CO" sz="2500" u="sng" dirty="0" smtClean="0"/>
          </a:p>
          <a:p>
            <a:pPr algn="just" eaLnBrk="1" fontAlgn="auto" hangingPunct="1">
              <a:spcAft>
                <a:spcPts val="0"/>
              </a:spcAft>
              <a:buFont typeface="Arial" pitchFamily="34" charset="0"/>
              <a:buChar char="•"/>
              <a:defRPr/>
            </a:pPr>
            <a:endParaRPr lang="es-CO" sz="2500" u="sng" dirty="0" smtClean="0"/>
          </a:p>
          <a:p>
            <a:pPr algn="just" eaLnBrk="1" fontAlgn="auto" hangingPunct="1">
              <a:spcAft>
                <a:spcPts val="0"/>
              </a:spcAft>
              <a:buFont typeface="Arial" pitchFamily="34" charset="0"/>
              <a:buChar char="•"/>
              <a:defRPr/>
            </a:pPr>
            <a:endParaRPr lang="es-CO" sz="2500" u="sng" dirty="0" smtClean="0"/>
          </a:p>
          <a:p>
            <a:pPr algn="just" eaLnBrk="1" fontAlgn="auto" hangingPunct="1">
              <a:spcAft>
                <a:spcPts val="0"/>
              </a:spcAft>
              <a:buFont typeface="Arial" pitchFamily="34" charset="0"/>
              <a:buNone/>
              <a:defRPr/>
            </a:pPr>
            <a:endParaRPr lang="es-ES" sz="2500" u="sng" dirty="0"/>
          </a:p>
        </p:txBody>
      </p:sp>
      <p:pic>
        <p:nvPicPr>
          <p:cNvPr id="20484"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20485" name="1 Título"/>
          <p:cNvSpPr>
            <a:spLocks noGrp="1"/>
          </p:cNvSpPr>
          <p:nvPr>
            <p:ph type="title"/>
          </p:nvPr>
        </p:nvSpPr>
        <p:spPr>
          <a:xfrm>
            <a:off x="2000250" y="285750"/>
            <a:ext cx="6858000" cy="1071563"/>
          </a:xfrm>
        </p:spPr>
        <p:txBody>
          <a:bodyPr/>
          <a:lstStyle/>
          <a:p>
            <a:pPr eaLnBrk="1" hangingPunct="1"/>
            <a:r>
              <a:rPr lang="es-CO" sz="4200" u="sng" smtClean="0"/>
              <a:t>Ejemplo 1. STAR</a:t>
            </a:r>
            <a:br>
              <a:rPr lang="es-CO" sz="4200" u="sng" smtClean="0"/>
            </a:br>
            <a:r>
              <a:rPr lang="es-CO" sz="4200" u="sng" smtClean="0"/>
              <a:t>Estimación</a:t>
            </a:r>
            <a:endParaRPr lang="es-ES" sz="4200" u="sng" smtClean="0"/>
          </a:p>
        </p:txBody>
      </p:sp>
      <p:sp>
        <p:nvSpPr>
          <p:cNvPr id="2048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0487" name="Rectangle 3"/>
          <p:cNvSpPr>
            <a:spLocks noChangeArrowheads="1"/>
          </p:cNvSpPr>
          <p:nvPr/>
        </p:nvSpPr>
        <p:spPr bwMode="auto">
          <a:xfrm>
            <a:off x="0" y="762000"/>
            <a:ext cx="9144000" cy="0"/>
          </a:xfrm>
          <a:prstGeom prst="rect">
            <a:avLst/>
          </a:prstGeom>
          <a:noFill/>
          <a:ln w="9525">
            <a:noFill/>
            <a:miter lim="800000"/>
            <a:headEnd/>
            <a:tailEnd/>
          </a:ln>
        </p:spPr>
        <p:txBody>
          <a:bodyPr wrap="none" anchor="ctr">
            <a:spAutoFit/>
          </a:bodyPr>
          <a:lstStyle/>
          <a:p>
            <a:endParaRPr lang="es-CO"/>
          </a:p>
        </p:txBody>
      </p:sp>
      <p:sp>
        <p:nvSpPr>
          <p:cNvPr id="20488" name="Rectangle 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0489" name="Rectangle 6"/>
          <p:cNvSpPr>
            <a:spLocks noChangeArrowheads="1"/>
          </p:cNvSpPr>
          <p:nvPr/>
        </p:nvSpPr>
        <p:spPr bwMode="auto">
          <a:xfrm>
            <a:off x="0" y="1209675"/>
            <a:ext cx="9144000" cy="0"/>
          </a:xfrm>
          <a:prstGeom prst="rect">
            <a:avLst/>
          </a:prstGeom>
          <a:noFill/>
          <a:ln w="9525">
            <a:noFill/>
            <a:miter lim="800000"/>
            <a:headEnd/>
            <a:tailEnd/>
          </a:ln>
        </p:spPr>
        <p:txBody>
          <a:bodyPr wrap="none" anchor="ctr">
            <a:spAutoFit/>
          </a:bodyPr>
          <a:lstStyle/>
          <a:p>
            <a:endParaRPr lang="es-CO"/>
          </a:p>
        </p:txBody>
      </p:sp>
      <p:sp>
        <p:nvSpPr>
          <p:cNvPr id="2049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graphicFrame>
        <p:nvGraphicFramePr>
          <p:cNvPr id="20482" name="Object 2"/>
          <p:cNvGraphicFramePr>
            <a:graphicFrameLocks noChangeAspect="1"/>
          </p:cNvGraphicFramePr>
          <p:nvPr/>
        </p:nvGraphicFramePr>
        <p:xfrm>
          <a:off x="928688" y="4143375"/>
          <a:ext cx="7072312" cy="1030288"/>
        </p:xfrm>
        <a:graphic>
          <a:graphicData uri="http://schemas.openxmlformats.org/presentationml/2006/ole">
            <p:oleObj spid="_x0000_s20482" name="Ecuación" r:id="rId5" imgW="3136680" imgH="457200" progId="Equation.3">
              <p:embed/>
            </p:oleObj>
          </a:graphicData>
        </a:graphic>
      </p:graphicFrame>
      <p:sp>
        <p:nvSpPr>
          <p:cNvPr id="13" name="12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7933E3D3-0F1F-4433-B515-56D9859096CA}" type="slidenum">
              <a:rPr lang="es-CO" sz="1500">
                <a:solidFill>
                  <a:schemeClr val="tx1">
                    <a:lumMod val="50000"/>
                    <a:lumOff val="50000"/>
                  </a:schemeClr>
                </a:solidFill>
                <a:latin typeface="+mn-lt"/>
                <a:cs typeface="+mn-cs"/>
              </a:rPr>
              <a:pPr algn="ctr" fontAlgn="auto">
                <a:spcBef>
                  <a:spcPts val="0"/>
                </a:spcBef>
                <a:spcAft>
                  <a:spcPts val="0"/>
                </a:spcAft>
                <a:defRPr/>
              </a:pPr>
              <a:t>29</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757738"/>
          </a:xfrm>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r>
              <a:rPr lang="es-CO" sz="2500" dirty="0" smtClean="0"/>
              <a:t>Donde:</a:t>
            </a:r>
          </a:p>
          <a:p>
            <a:pPr eaLnBrk="1" fontAlgn="auto" hangingPunct="1">
              <a:spcAft>
                <a:spcPts val="0"/>
              </a:spcAft>
              <a:buFont typeface="Arial" pitchFamily="34" charset="0"/>
              <a:buChar char="•"/>
              <a:defRPr/>
            </a:pPr>
            <a:endParaRPr lang="es-CO" sz="2500" u="sng" dirty="0" smtClean="0"/>
          </a:p>
          <a:p>
            <a:pPr lvl="1" eaLnBrk="1" fontAlgn="auto" hangingPunct="1">
              <a:spcAft>
                <a:spcPts val="0"/>
              </a:spcAft>
              <a:buFont typeface="Arial" pitchFamily="34" charset="0"/>
              <a:buNone/>
              <a:defRPr/>
            </a:pPr>
            <a:r>
              <a:rPr lang="es-CO" sz="2100" dirty="0" smtClean="0"/>
              <a:t>	</a:t>
            </a:r>
          </a:p>
          <a:p>
            <a:pPr lvl="1" eaLnBrk="1" fontAlgn="auto" hangingPunct="1">
              <a:spcAft>
                <a:spcPts val="0"/>
              </a:spcAft>
              <a:buFont typeface="Arial" pitchFamily="34" charset="0"/>
              <a:buNone/>
              <a:defRPr/>
            </a:pPr>
            <a:endParaRPr lang="es-CO" sz="2100" u="sng" dirty="0" smtClean="0"/>
          </a:p>
          <a:p>
            <a:pPr lvl="1" eaLnBrk="1" fontAlgn="auto" hangingPunct="1">
              <a:spcAft>
                <a:spcPts val="0"/>
              </a:spcAft>
              <a:buFont typeface="Arial" pitchFamily="34" charset="0"/>
              <a:buNone/>
              <a:defRPr/>
            </a:pPr>
            <a:r>
              <a:rPr lang="es-ES" sz="2100" u="sng" dirty="0" smtClean="0"/>
              <a:t>.</a:t>
            </a:r>
            <a:endParaRPr lang="es-ES" sz="2100" u="sng" dirty="0"/>
          </a:p>
        </p:txBody>
      </p:sp>
      <p:pic>
        <p:nvPicPr>
          <p:cNvPr id="21509" name="Picture 1"/>
          <p:cNvPicPr>
            <a:picLocks noChangeAspect="1" noChangeArrowheads="1"/>
          </p:cNvPicPr>
          <p:nvPr/>
        </p:nvPicPr>
        <p:blipFill>
          <a:blip r:embed="rId4" cstate="print"/>
          <a:srcRect/>
          <a:stretch>
            <a:fillRect/>
          </a:stretch>
        </p:blipFill>
        <p:spPr bwMode="auto">
          <a:xfrm>
            <a:off x="0" y="0"/>
            <a:ext cx="2214563" cy="1054100"/>
          </a:xfrm>
          <a:prstGeom prst="rect">
            <a:avLst/>
          </a:prstGeom>
          <a:noFill/>
          <a:ln w="9525">
            <a:noFill/>
            <a:miter lim="800000"/>
            <a:headEnd/>
            <a:tailEnd/>
          </a:ln>
        </p:spPr>
      </p:pic>
      <p:sp>
        <p:nvSpPr>
          <p:cNvPr id="21510" name="1 Título"/>
          <p:cNvSpPr>
            <a:spLocks noGrp="1"/>
          </p:cNvSpPr>
          <p:nvPr>
            <p:ph type="title"/>
          </p:nvPr>
        </p:nvSpPr>
        <p:spPr>
          <a:xfrm>
            <a:off x="2000250" y="142875"/>
            <a:ext cx="6858000" cy="1143000"/>
          </a:xfrm>
        </p:spPr>
        <p:txBody>
          <a:bodyPr/>
          <a:lstStyle/>
          <a:p>
            <a:pPr eaLnBrk="1" hangingPunct="1"/>
            <a:r>
              <a:rPr lang="es-CO" sz="4200" u="sng" smtClean="0"/>
              <a:t>Ejemplo 1. STAR</a:t>
            </a:r>
            <a:br>
              <a:rPr lang="es-CO" sz="4200" u="sng" smtClean="0"/>
            </a:br>
            <a:r>
              <a:rPr lang="es-CO" sz="4200" u="sng" smtClean="0"/>
              <a:t>Descripción de las variables</a:t>
            </a:r>
            <a:endParaRPr lang="es-ES" sz="4200" u="sng" smtClean="0"/>
          </a:p>
        </p:txBody>
      </p:sp>
      <p:sp>
        <p:nvSpPr>
          <p:cNvPr id="2151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1512" name="9 CuadroTexto"/>
          <p:cNvSpPr txBox="1">
            <a:spLocks noChangeArrowheads="1"/>
          </p:cNvSpPr>
          <p:nvPr/>
        </p:nvSpPr>
        <p:spPr bwMode="auto">
          <a:xfrm>
            <a:off x="2357438" y="2286000"/>
            <a:ext cx="2952750" cy="446088"/>
          </a:xfrm>
          <a:prstGeom prst="rect">
            <a:avLst/>
          </a:prstGeom>
          <a:noFill/>
          <a:ln w="9525">
            <a:noFill/>
            <a:miter lim="800000"/>
            <a:headEnd/>
            <a:tailEnd/>
          </a:ln>
        </p:spPr>
        <p:txBody>
          <a:bodyPr wrap="none">
            <a:spAutoFit/>
          </a:bodyPr>
          <a:lstStyle/>
          <a:p>
            <a:r>
              <a:rPr lang="es-CO" sz="2300">
                <a:latin typeface="Calibri" pitchFamily="34" charset="0"/>
              </a:rPr>
              <a:t>Puntaje del estudiante</a:t>
            </a:r>
            <a:endParaRPr lang="es-ES" sz="2300">
              <a:latin typeface="Calibri" pitchFamily="34" charset="0"/>
            </a:endParaRPr>
          </a:p>
        </p:txBody>
      </p:sp>
      <p:cxnSp>
        <p:nvCxnSpPr>
          <p:cNvPr id="12" name="11 Conector recto de flecha"/>
          <p:cNvCxnSpPr/>
          <p:nvPr/>
        </p:nvCxnSpPr>
        <p:spPr>
          <a:xfrm>
            <a:off x="1571625" y="2500313"/>
            <a:ext cx="642938"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5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pic>
        <p:nvPicPr>
          <p:cNvPr id="21515" name="Picture 3"/>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857250" y="3357563"/>
            <a:ext cx="1785938" cy="371475"/>
          </a:xfrm>
          <a:prstGeom prst="rect">
            <a:avLst/>
          </a:prstGeom>
          <a:noFill/>
          <a:ln w="9525">
            <a:noFill/>
            <a:miter lim="800000"/>
            <a:headEnd/>
            <a:tailEnd/>
          </a:ln>
        </p:spPr>
      </p:pic>
      <p:sp>
        <p:nvSpPr>
          <p:cNvPr id="15" name="14 Abrir llave"/>
          <p:cNvSpPr/>
          <p:nvPr/>
        </p:nvSpPr>
        <p:spPr>
          <a:xfrm>
            <a:off x="3000375" y="3071813"/>
            <a:ext cx="142875" cy="1000125"/>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dirty="0"/>
          </a:p>
        </p:txBody>
      </p:sp>
      <p:sp>
        <p:nvSpPr>
          <p:cNvPr id="21517" name="15 CuadroTexto"/>
          <p:cNvSpPr txBox="1">
            <a:spLocks noChangeArrowheads="1"/>
          </p:cNvSpPr>
          <p:nvPr/>
        </p:nvSpPr>
        <p:spPr bwMode="auto">
          <a:xfrm>
            <a:off x="3127375" y="3071813"/>
            <a:ext cx="4467225" cy="446087"/>
          </a:xfrm>
          <a:prstGeom prst="rect">
            <a:avLst/>
          </a:prstGeom>
          <a:noFill/>
          <a:ln w="9525">
            <a:noFill/>
            <a:miter lim="800000"/>
            <a:headEnd/>
            <a:tailEnd/>
          </a:ln>
        </p:spPr>
        <p:txBody>
          <a:bodyPr wrap="none">
            <a:spAutoFit/>
          </a:bodyPr>
          <a:lstStyle/>
          <a:p>
            <a:r>
              <a:rPr lang="es-CO" sz="2300">
                <a:latin typeface="Calibri" pitchFamily="34" charset="0"/>
              </a:rPr>
              <a:t>1 si pertenece a una clase pequeña</a:t>
            </a:r>
            <a:endParaRPr lang="es-ES" sz="2300">
              <a:latin typeface="Calibri" pitchFamily="34" charset="0"/>
            </a:endParaRPr>
          </a:p>
        </p:txBody>
      </p:sp>
      <p:sp>
        <p:nvSpPr>
          <p:cNvPr id="21518" name="16 CuadroTexto"/>
          <p:cNvSpPr txBox="1">
            <a:spLocks noChangeArrowheads="1"/>
          </p:cNvSpPr>
          <p:nvPr/>
        </p:nvSpPr>
        <p:spPr bwMode="auto">
          <a:xfrm>
            <a:off x="3143250" y="3643313"/>
            <a:ext cx="2228850" cy="446087"/>
          </a:xfrm>
          <a:prstGeom prst="rect">
            <a:avLst/>
          </a:prstGeom>
          <a:noFill/>
          <a:ln w="9525">
            <a:noFill/>
            <a:miter lim="800000"/>
            <a:headEnd/>
            <a:tailEnd/>
          </a:ln>
        </p:spPr>
        <p:txBody>
          <a:bodyPr wrap="none">
            <a:spAutoFit/>
          </a:bodyPr>
          <a:lstStyle/>
          <a:p>
            <a:r>
              <a:rPr lang="es-CO" sz="2300">
                <a:latin typeface="Calibri" pitchFamily="34" charset="0"/>
              </a:rPr>
              <a:t>0 de lo contrario</a:t>
            </a:r>
            <a:endParaRPr lang="es-ES" sz="2300">
              <a:latin typeface="Calibri" pitchFamily="34" charset="0"/>
            </a:endParaRPr>
          </a:p>
        </p:txBody>
      </p:sp>
      <p:sp>
        <p:nvSpPr>
          <p:cNvPr id="21519"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pic>
        <p:nvPicPr>
          <p:cNvPr id="21520" name="Picture 5"/>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874713" y="4643438"/>
            <a:ext cx="1125537" cy="360362"/>
          </a:xfrm>
          <a:prstGeom prst="rect">
            <a:avLst/>
          </a:prstGeom>
          <a:noFill/>
          <a:ln w="9525">
            <a:noFill/>
            <a:miter lim="800000"/>
            <a:headEnd/>
            <a:tailEnd/>
          </a:ln>
        </p:spPr>
      </p:pic>
      <p:sp>
        <p:nvSpPr>
          <p:cNvPr id="20" name="19 Abrir llave"/>
          <p:cNvSpPr/>
          <p:nvPr/>
        </p:nvSpPr>
        <p:spPr>
          <a:xfrm>
            <a:off x="3000375" y="4357688"/>
            <a:ext cx="142875" cy="1000125"/>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AR" dirty="0"/>
          </a:p>
        </p:txBody>
      </p:sp>
      <p:sp>
        <p:nvSpPr>
          <p:cNvPr id="21522" name="20 CuadroTexto"/>
          <p:cNvSpPr txBox="1">
            <a:spLocks noChangeArrowheads="1"/>
          </p:cNvSpPr>
          <p:nvPr/>
        </p:nvSpPr>
        <p:spPr bwMode="auto">
          <a:xfrm>
            <a:off x="3143250" y="4357688"/>
            <a:ext cx="4465638" cy="446087"/>
          </a:xfrm>
          <a:prstGeom prst="rect">
            <a:avLst/>
          </a:prstGeom>
          <a:noFill/>
          <a:ln w="9525">
            <a:noFill/>
            <a:miter lim="800000"/>
            <a:headEnd/>
            <a:tailEnd/>
          </a:ln>
        </p:spPr>
        <p:txBody>
          <a:bodyPr wrap="none">
            <a:spAutoFit/>
          </a:bodyPr>
          <a:lstStyle/>
          <a:p>
            <a:r>
              <a:rPr lang="es-CO" sz="2300">
                <a:latin typeface="Calibri" pitchFamily="34" charset="0"/>
              </a:rPr>
              <a:t>1 si pertenece a clase con asistente</a:t>
            </a:r>
            <a:endParaRPr lang="es-ES" sz="2300">
              <a:latin typeface="Calibri" pitchFamily="34" charset="0"/>
            </a:endParaRPr>
          </a:p>
        </p:txBody>
      </p:sp>
      <p:sp>
        <p:nvSpPr>
          <p:cNvPr id="21523" name="21 CuadroTexto"/>
          <p:cNvSpPr txBox="1">
            <a:spLocks noChangeArrowheads="1"/>
          </p:cNvSpPr>
          <p:nvPr/>
        </p:nvSpPr>
        <p:spPr bwMode="auto">
          <a:xfrm>
            <a:off x="3143250" y="4929188"/>
            <a:ext cx="2228850" cy="446087"/>
          </a:xfrm>
          <a:prstGeom prst="rect">
            <a:avLst/>
          </a:prstGeom>
          <a:noFill/>
          <a:ln w="9525">
            <a:noFill/>
            <a:miter lim="800000"/>
            <a:headEnd/>
            <a:tailEnd/>
          </a:ln>
        </p:spPr>
        <p:txBody>
          <a:bodyPr wrap="none">
            <a:spAutoFit/>
          </a:bodyPr>
          <a:lstStyle/>
          <a:p>
            <a:r>
              <a:rPr lang="es-CO" sz="2300">
                <a:latin typeface="Calibri" pitchFamily="34" charset="0"/>
              </a:rPr>
              <a:t>0 de lo contrario</a:t>
            </a:r>
            <a:endParaRPr lang="es-ES" sz="2300">
              <a:latin typeface="Calibri" pitchFamily="34" charset="0"/>
            </a:endParaRPr>
          </a:p>
        </p:txBody>
      </p:sp>
      <p:sp>
        <p:nvSpPr>
          <p:cNvPr id="21524"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25" name="24 Conector recto de flecha"/>
          <p:cNvCxnSpPr/>
          <p:nvPr/>
        </p:nvCxnSpPr>
        <p:spPr>
          <a:xfrm>
            <a:off x="1571625" y="5857875"/>
            <a:ext cx="642938"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526" name="25 CuadroTexto"/>
          <p:cNvSpPr txBox="1">
            <a:spLocks noChangeArrowheads="1"/>
          </p:cNvSpPr>
          <p:nvPr/>
        </p:nvSpPr>
        <p:spPr bwMode="auto">
          <a:xfrm>
            <a:off x="2357438" y="5643563"/>
            <a:ext cx="4670425" cy="446087"/>
          </a:xfrm>
          <a:prstGeom prst="rect">
            <a:avLst/>
          </a:prstGeom>
          <a:noFill/>
          <a:ln w="9525">
            <a:noFill/>
            <a:miter lim="800000"/>
            <a:headEnd/>
            <a:tailEnd/>
          </a:ln>
        </p:spPr>
        <p:txBody>
          <a:bodyPr wrap="none">
            <a:spAutoFit/>
          </a:bodyPr>
          <a:lstStyle/>
          <a:p>
            <a:r>
              <a:rPr lang="es-CO" sz="2300">
                <a:latin typeface="Calibri" pitchFamily="34" charset="0"/>
              </a:rPr>
              <a:t>Matriz de características observables</a:t>
            </a:r>
            <a:endParaRPr lang="es-ES" sz="2300">
              <a:latin typeface="Calibri" pitchFamily="34" charset="0"/>
            </a:endParaRPr>
          </a:p>
        </p:txBody>
      </p:sp>
      <p:graphicFrame>
        <p:nvGraphicFramePr>
          <p:cNvPr id="21506" name="Object 2"/>
          <p:cNvGraphicFramePr>
            <a:graphicFrameLocks noChangeAspect="1"/>
          </p:cNvGraphicFramePr>
          <p:nvPr/>
        </p:nvGraphicFramePr>
        <p:xfrm>
          <a:off x="928688" y="2214563"/>
          <a:ext cx="304800" cy="500062"/>
        </p:xfrm>
        <a:graphic>
          <a:graphicData uri="http://schemas.openxmlformats.org/presentationml/2006/ole">
            <p:oleObj spid="_x0000_s21506" name="Ecuación" r:id="rId7" imgW="139680" imgH="228600" progId="Equation.3">
              <p:embed/>
            </p:oleObj>
          </a:graphicData>
        </a:graphic>
      </p:graphicFrame>
      <p:graphicFrame>
        <p:nvGraphicFramePr>
          <p:cNvPr id="21507" name="Object 4"/>
          <p:cNvGraphicFramePr>
            <a:graphicFrameLocks noChangeAspect="1"/>
          </p:cNvGraphicFramePr>
          <p:nvPr/>
        </p:nvGraphicFramePr>
        <p:xfrm>
          <a:off x="928688" y="5572125"/>
          <a:ext cx="442912" cy="500063"/>
        </p:xfrm>
        <a:graphic>
          <a:graphicData uri="http://schemas.openxmlformats.org/presentationml/2006/ole">
            <p:oleObj spid="_x0000_s21507" name="Ecuación" r:id="rId8" imgW="203040" imgH="228600" progId="Equation.3">
              <p:embed/>
            </p:oleObj>
          </a:graphicData>
        </a:graphic>
      </p:graphicFrame>
      <p:sp>
        <p:nvSpPr>
          <p:cNvPr id="26" name="25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361DADAB-1516-4A82-A1FA-614AAF384CA0}" type="slidenum">
              <a:rPr lang="es-CO" sz="1500">
                <a:solidFill>
                  <a:schemeClr val="tx1">
                    <a:lumMod val="50000"/>
                    <a:lumOff val="50000"/>
                  </a:schemeClr>
                </a:solidFill>
                <a:latin typeface="+mn-lt"/>
                <a:cs typeface="+mn-cs"/>
              </a:rPr>
              <a:pPr algn="ctr" fontAlgn="auto">
                <a:spcBef>
                  <a:spcPts val="0"/>
                </a:spcBef>
                <a:spcAft>
                  <a:spcPts val="0"/>
                </a:spcAft>
                <a:defRPr/>
              </a:pPr>
              <a:t>30</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noChangeArrowheads="1"/>
          </p:cNvPicPr>
          <p:nvPr/>
        </p:nvPicPr>
        <p:blipFill>
          <a:blip r:embed="rId3" cstate="print"/>
          <a:srcRect/>
          <a:stretch>
            <a:fillRect/>
          </a:stretch>
        </p:blipFill>
        <p:spPr bwMode="auto">
          <a:xfrm>
            <a:off x="0" y="0"/>
            <a:ext cx="2500313" cy="1189038"/>
          </a:xfrm>
          <a:prstGeom prst="rect">
            <a:avLst/>
          </a:prstGeom>
          <a:noFill/>
          <a:ln w="9525">
            <a:noFill/>
            <a:miter lim="800000"/>
            <a:headEnd/>
            <a:tailEnd/>
          </a:ln>
        </p:spPr>
      </p:pic>
      <p:sp>
        <p:nvSpPr>
          <p:cNvPr id="33795" name="1 Título"/>
          <p:cNvSpPr>
            <a:spLocks noGrp="1"/>
          </p:cNvSpPr>
          <p:nvPr>
            <p:ph type="title"/>
          </p:nvPr>
        </p:nvSpPr>
        <p:spPr>
          <a:xfrm>
            <a:off x="1885950" y="71438"/>
            <a:ext cx="6972300" cy="1131887"/>
          </a:xfrm>
        </p:spPr>
        <p:txBody>
          <a:bodyPr/>
          <a:lstStyle/>
          <a:p>
            <a:pPr eaLnBrk="1" hangingPunct="1"/>
            <a:r>
              <a:rPr lang="es-CO" sz="4200" u="sng" smtClean="0"/>
              <a:t>Ejemplo 1. STAR</a:t>
            </a:r>
            <a:endParaRPr lang="es-ES" sz="4200" u="sng" smtClean="0"/>
          </a:p>
        </p:txBody>
      </p:sp>
      <p:graphicFrame>
        <p:nvGraphicFramePr>
          <p:cNvPr id="7" name="6 Tabla"/>
          <p:cNvGraphicFramePr>
            <a:graphicFrameLocks noGrp="1"/>
          </p:cNvGraphicFramePr>
          <p:nvPr/>
        </p:nvGraphicFramePr>
        <p:xfrm>
          <a:off x="928688" y="1143000"/>
          <a:ext cx="7429552" cy="5062761"/>
        </p:xfrm>
        <a:graphic>
          <a:graphicData uri="http://schemas.openxmlformats.org/drawingml/2006/table">
            <a:tbl>
              <a:tblPr/>
              <a:tblGrid>
                <a:gridCol w="4368002"/>
                <a:gridCol w="1594264"/>
                <a:gridCol w="1467286"/>
              </a:tblGrid>
              <a:tr h="305855">
                <a:tc>
                  <a:txBody>
                    <a:bodyPr/>
                    <a:lstStyle/>
                    <a:p>
                      <a:pPr algn="just">
                        <a:spcAft>
                          <a:spcPts val="0"/>
                        </a:spcAft>
                      </a:pPr>
                      <a:r>
                        <a:rPr lang="es-CO" sz="1800" dirty="0">
                          <a:latin typeface="Times New Roman"/>
                          <a:ea typeface="Times New Roman"/>
                          <a:cs typeface="Times New Roman"/>
                        </a:rPr>
                        <a:t>Variable explicativa</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(1)</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(2)</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1401">
                <a:tc>
                  <a:txBody>
                    <a:bodyPr/>
                    <a:lstStyle/>
                    <a:p>
                      <a:pPr algn="just">
                        <a:spcAft>
                          <a:spcPts val="0"/>
                        </a:spcAft>
                      </a:pPr>
                      <a:r>
                        <a:rPr lang="es-CO" sz="1800" dirty="0">
                          <a:latin typeface="Times New Roman"/>
                          <a:ea typeface="Times New Roman"/>
                          <a:cs typeface="Times New Roman"/>
                        </a:rPr>
                        <a:t>Clase </a:t>
                      </a:r>
                      <a:r>
                        <a:rPr lang="es-CO" sz="1800" dirty="0" smtClean="0">
                          <a:latin typeface="Times New Roman"/>
                          <a:ea typeface="Times New Roman"/>
                          <a:cs typeface="Times New Roman"/>
                        </a:rPr>
                        <a:t>pequeña</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      13.90</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(2.45)</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      15.89</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(2.16)</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Clase normal con asistente</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0.31</a:t>
                      </a:r>
                      <a:endParaRPr lang="es-ES" sz="18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(2.27)</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1.79</a:t>
                      </a:r>
                      <a:endParaRPr lang="es-ES" sz="18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(1.96)</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Niño</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s-CO"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-12.09</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(1.67)</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Afroamericano</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s-CO"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-25.43</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(3.50)</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Raza diferente a blanco o afroamericano</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s-CO"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-8.50</a:t>
                      </a:r>
                      <a:endParaRPr lang="es-ES" sz="18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(12.52)</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Años de experiencia del </a:t>
                      </a:r>
                      <a:r>
                        <a:rPr lang="es-CO" sz="1800" dirty="0" smtClean="0">
                          <a:latin typeface="Times New Roman"/>
                          <a:ea typeface="Times New Roman"/>
                          <a:cs typeface="Times New Roman"/>
                        </a:rPr>
                        <a:t>profesor</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s-CO"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    0.66</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lgn="ctr">
                        <a:spcAft>
                          <a:spcPts val="0"/>
                        </a:spcAft>
                      </a:pPr>
                      <a:r>
                        <a:rPr lang="es-CO" sz="1800" dirty="0">
                          <a:latin typeface="Times New Roman"/>
                          <a:ea typeface="Times New Roman"/>
                          <a:cs typeface="Times New Roman"/>
                        </a:rPr>
                        <a:t>(0.17)</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734">
                <a:tc>
                  <a:txBody>
                    <a:bodyPr/>
                    <a:lstStyle/>
                    <a:p>
                      <a:pPr algn="just">
                        <a:spcAft>
                          <a:spcPts val="0"/>
                        </a:spcAft>
                      </a:pPr>
                      <a:r>
                        <a:rPr lang="es-CO" sz="1800" dirty="0">
                          <a:latin typeface="Times New Roman"/>
                          <a:ea typeface="Times New Roman"/>
                          <a:cs typeface="Times New Roman"/>
                        </a:rPr>
                        <a:t>Intercepto</a:t>
                      </a:r>
                      <a:endParaRPr lang="es-ES" sz="18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 918.04</a:t>
                      </a:r>
                      <a:r>
                        <a:rPr lang="es-CO" sz="1800" baseline="30000" dirty="0">
                          <a:latin typeface="Times New Roman"/>
                          <a:ea typeface="Times New Roman"/>
                          <a:cs typeface="Times New Roman"/>
                        </a:rPr>
                        <a:t>***</a:t>
                      </a:r>
                      <a:endParaRPr lang="es-ES" sz="1800" baseline="30000" dirty="0">
                        <a:latin typeface="Times New Roman"/>
                        <a:ea typeface="Times New Roman"/>
                        <a:cs typeface="Times New Roman"/>
                      </a:endParaRPr>
                    </a:p>
                    <a:p>
                      <a:pPr>
                        <a:spcAft>
                          <a:spcPts val="0"/>
                        </a:spcAft>
                      </a:pPr>
                      <a:r>
                        <a:rPr lang="es-CO" sz="1800" dirty="0">
                          <a:latin typeface="Times New Roman"/>
                          <a:ea typeface="Times New Roman"/>
                          <a:cs typeface="Times New Roman"/>
                        </a:rPr>
                        <a:t>   </a:t>
                      </a:r>
                      <a:r>
                        <a:rPr lang="es-CO" sz="1800" dirty="0" smtClean="0">
                          <a:latin typeface="Times New Roman"/>
                          <a:ea typeface="Times New Roman"/>
                          <a:cs typeface="Times New Roman"/>
                        </a:rPr>
                        <a:t>   (</a:t>
                      </a:r>
                      <a:r>
                        <a:rPr lang="es-CO" sz="1800" dirty="0">
                          <a:latin typeface="Times New Roman"/>
                          <a:ea typeface="Times New Roman"/>
                          <a:cs typeface="Times New Roman"/>
                        </a:rPr>
                        <a:t>1.63)</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s-CO"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367">
                <a:tc>
                  <a:txBody>
                    <a:bodyPr/>
                    <a:lstStyle/>
                    <a:p>
                      <a:pPr algn="just">
                        <a:spcAft>
                          <a:spcPts val="0"/>
                        </a:spcAft>
                      </a:pPr>
                      <a:r>
                        <a:rPr lang="es-CO" sz="1800" dirty="0">
                          <a:latin typeface="Times New Roman"/>
                          <a:ea typeface="Times New Roman"/>
                          <a:cs typeface="Times New Roman"/>
                        </a:rPr>
                        <a:t>Variables dico</a:t>
                      </a:r>
                      <a:r>
                        <a:rPr lang="en-US" sz="1800" dirty="0">
                          <a:latin typeface="Times New Roman"/>
                          <a:ea typeface="Times New Roman"/>
                          <a:cs typeface="Times New Roman"/>
                        </a:rPr>
                        <a:t>t</a:t>
                      </a:r>
                      <a:r>
                        <a:rPr lang="es-CO" sz="1800" dirty="0" err="1">
                          <a:latin typeface="Times New Roman"/>
                          <a:ea typeface="Times New Roman"/>
                          <a:cs typeface="Times New Roman"/>
                        </a:rPr>
                        <a:t>ómicas</a:t>
                      </a:r>
                      <a:r>
                        <a:rPr lang="es-CO" sz="1800" dirty="0">
                          <a:latin typeface="Times New Roman"/>
                          <a:ea typeface="Times New Roman"/>
                          <a:cs typeface="Times New Roman"/>
                        </a:rPr>
                        <a:t> </a:t>
                      </a:r>
                      <a:r>
                        <a:rPr lang="es-CO" sz="1800" dirty="0" smtClean="0">
                          <a:latin typeface="Times New Roman"/>
                          <a:ea typeface="Times New Roman"/>
                          <a:cs typeface="Times New Roman"/>
                        </a:rPr>
                        <a:t>del </a:t>
                      </a:r>
                      <a:r>
                        <a:rPr lang="es-CO" sz="1800" dirty="0">
                          <a:latin typeface="Times New Roman"/>
                          <a:ea typeface="Times New Roman"/>
                          <a:cs typeface="Times New Roman"/>
                        </a:rPr>
                        <a:t>plantel</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No</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Sí</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367">
                <a:tc>
                  <a:txBody>
                    <a:bodyPr/>
                    <a:lstStyle/>
                    <a:p>
                      <a:pPr algn="just">
                        <a:spcAft>
                          <a:spcPts val="0"/>
                        </a:spcAft>
                      </a:pPr>
                      <a:r>
                        <a:rPr lang="es-CO" sz="1800" dirty="0">
                          <a:latin typeface="Times New Roman"/>
                          <a:ea typeface="Times New Roman"/>
                          <a:cs typeface="Times New Roman"/>
                        </a:rPr>
                        <a:t>R</a:t>
                      </a:r>
                      <a:r>
                        <a:rPr lang="es-CO" sz="1800" baseline="30000" dirty="0">
                          <a:latin typeface="Times New Roman"/>
                          <a:ea typeface="Times New Roman"/>
                          <a:cs typeface="Times New Roman"/>
                        </a:rPr>
                        <a:t>2</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0.01</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a:latin typeface="Times New Roman"/>
                          <a:ea typeface="Times New Roman"/>
                          <a:cs typeface="Times New Roman"/>
                        </a:rPr>
                        <a:t>0.28</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367">
                <a:tc>
                  <a:txBody>
                    <a:bodyPr/>
                    <a:lstStyle/>
                    <a:p>
                      <a:pPr algn="just">
                        <a:spcAft>
                          <a:spcPts val="0"/>
                        </a:spcAft>
                      </a:pPr>
                      <a:r>
                        <a:rPr lang="es-CO" sz="1800" dirty="0">
                          <a:latin typeface="Times New Roman"/>
                          <a:ea typeface="Times New Roman"/>
                          <a:cs typeface="Times New Roman"/>
                        </a:rPr>
                        <a:t>Número de observaciones</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5,786</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1800" dirty="0" smtClean="0">
                          <a:latin typeface="Times New Roman"/>
                          <a:ea typeface="Times New Roman"/>
                          <a:cs typeface="Times New Roman"/>
                        </a:rPr>
                        <a:t>5,748</a:t>
                      </a:r>
                      <a:endParaRPr lang="es-ES" sz="18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3846" name="Rectangle 3"/>
          <p:cNvSpPr>
            <a:spLocks noChangeArrowheads="1"/>
          </p:cNvSpPr>
          <p:nvPr/>
        </p:nvSpPr>
        <p:spPr bwMode="auto">
          <a:xfrm>
            <a:off x="912813" y="6215063"/>
            <a:ext cx="2027237" cy="323850"/>
          </a:xfrm>
          <a:prstGeom prst="rect">
            <a:avLst/>
          </a:prstGeom>
          <a:noFill/>
          <a:ln w="9525">
            <a:noFill/>
            <a:miter lim="800000"/>
            <a:headEnd/>
            <a:tailEnd/>
          </a:ln>
        </p:spPr>
        <p:txBody>
          <a:bodyPr wrap="none" anchor="ctr">
            <a:spAutoFit/>
          </a:bodyPr>
          <a:lstStyle/>
          <a:p>
            <a:pPr algn="just"/>
            <a:r>
              <a:rPr lang="es-CO" sz="1500">
                <a:cs typeface="Times New Roman" pitchFamily="18" charset="0"/>
              </a:rPr>
              <a:t>***Significativo al 1%.</a:t>
            </a:r>
            <a:endParaRPr lang="es-CO" sz="1500"/>
          </a:p>
        </p:txBody>
      </p:sp>
      <p:sp>
        <p:nvSpPr>
          <p:cNvPr id="19" name="18 Elipse"/>
          <p:cNvSpPr/>
          <p:nvPr/>
        </p:nvSpPr>
        <p:spPr>
          <a:xfrm>
            <a:off x="5643563" y="2000250"/>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20" name="19 Elipse"/>
          <p:cNvSpPr/>
          <p:nvPr/>
        </p:nvSpPr>
        <p:spPr>
          <a:xfrm>
            <a:off x="7143750" y="2000250"/>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21" name="20 Elipse"/>
          <p:cNvSpPr/>
          <p:nvPr/>
        </p:nvSpPr>
        <p:spPr>
          <a:xfrm>
            <a:off x="5643563" y="1428750"/>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22" name="21 Elipse"/>
          <p:cNvSpPr/>
          <p:nvPr/>
        </p:nvSpPr>
        <p:spPr>
          <a:xfrm>
            <a:off x="7143750" y="1428750"/>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2" name="11 Elipse"/>
          <p:cNvSpPr/>
          <p:nvPr/>
        </p:nvSpPr>
        <p:spPr>
          <a:xfrm>
            <a:off x="5643563" y="5643563"/>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3" name="12 Elipse"/>
          <p:cNvSpPr/>
          <p:nvPr/>
        </p:nvSpPr>
        <p:spPr>
          <a:xfrm>
            <a:off x="7143750" y="5643563"/>
            <a:ext cx="1000125" cy="285750"/>
          </a:xfrm>
          <a:prstGeom prst="ellipse">
            <a:avLst/>
          </a:prstGeom>
          <a:no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5" name="14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3DBE3EF2-4CE0-47B9-98EB-2329F30D2D96}" type="slidenum">
              <a:rPr lang="es-CO" sz="1500">
                <a:solidFill>
                  <a:schemeClr val="tx1">
                    <a:lumMod val="50000"/>
                    <a:lumOff val="50000"/>
                  </a:schemeClr>
                </a:solidFill>
                <a:latin typeface="+mn-lt"/>
                <a:cs typeface="+mn-cs"/>
              </a:rPr>
              <a:pPr algn="ctr" fontAlgn="auto">
                <a:spcBef>
                  <a:spcPts val="0"/>
                </a:spcBef>
                <a:spcAft>
                  <a:spcPts val="0"/>
                </a:spcAft>
                <a:defRPr/>
              </a:pPr>
              <a:t>31</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
          <p:cNvPicPr>
            <a:picLocks noChangeAspect="1" noChangeArrowheads="1"/>
          </p:cNvPicPr>
          <p:nvPr/>
        </p:nvPicPr>
        <p:blipFill>
          <a:blip r:embed="rId3" cstate="print"/>
          <a:srcRect/>
          <a:stretch>
            <a:fillRect/>
          </a:stretch>
        </p:blipFill>
        <p:spPr bwMode="auto">
          <a:xfrm>
            <a:off x="0" y="0"/>
            <a:ext cx="2500313" cy="1189038"/>
          </a:xfrm>
          <a:prstGeom prst="rect">
            <a:avLst/>
          </a:prstGeom>
          <a:noFill/>
          <a:ln w="9525">
            <a:noFill/>
            <a:miter lim="800000"/>
            <a:headEnd/>
            <a:tailEnd/>
          </a:ln>
        </p:spPr>
      </p:pic>
      <p:sp>
        <p:nvSpPr>
          <p:cNvPr id="34819" name="1 Título"/>
          <p:cNvSpPr>
            <a:spLocks noGrp="1"/>
          </p:cNvSpPr>
          <p:nvPr>
            <p:ph type="title"/>
          </p:nvPr>
        </p:nvSpPr>
        <p:spPr>
          <a:xfrm>
            <a:off x="1885950" y="71438"/>
            <a:ext cx="6972300" cy="1285875"/>
          </a:xfrm>
        </p:spPr>
        <p:txBody>
          <a:bodyPr/>
          <a:lstStyle/>
          <a:p>
            <a:pPr eaLnBrk="1" hangingPunct="1"/>
            <a:r>
              <a:rPr lang="es-CO" sz="4200" u="sng" smtClean="0"/>
              <a:t>Ejemplo 1. STAR</a:t>
            </a:r>
            <a:br>
              <a:rPr lang="es-CO" sz="4200" u="sng" smtClean="0"/>
            </a:br>
            <a:r>
              <a:rPr lang="es-CO" sz="4200" u="sng" smtClean="0"/>
              <a:t>Resultados</a:t>
            </a:r>
            <a:endParaRPr lang="es-ES" sz="4200" u="sng" smtClean="0"/>
          </a:p>
        </p:txBody>
      </p:sp>
      <p:cxnSp>
        <p:nvCxnSpPr>
          <p:cNvPr id="7" name="6 Conector recto de flecha"/>
          <p:cNvCxnSpPr/>
          <p:nvPr/>
        </p:nvCxnSpPr>
        <p:spPr>
          <a:xfrm rot="5400000">
            <a:off x="713581" y="2070894"/>
            <a:ext cx="428625" cy="1588"/>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3500438" y="1998663"/>
            <a:ext cx="500062"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rot="5400000" flipH="1" flipV="1">
            <a:off x="3929856" y="2070894"/>
            <a:ext cx="428625" cy="1588"/>
          </a:xfrm>
          <a:prstGeom prst="straightConnector1">
            <a:avLst/>
          </a:prstGeom>
          <a:ln w="28575">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4823" name="11 CuadroTexto"/>
          <p:cNvSpPr txBox="1">
            <a:spLocks noChangeArrowheads="1"/>
          </p:cNvSpPr>
          <p:nvPr/>
        </p:nvSpPr>
        <p:spPr bwMode="auto">
          <a:xfrm>
            <a:off x="4286250" y="1643063"/>
            <a:ext cx="4000500" cy="862012"/>
          </a:xfrm>
          <a:prstGeom prst="rect">
            <a:avLst/>
          </a:prstGeom>
          <a:noFill/>
          <a:ln w="9525">
            <a:noFill/>
            <a:miter lim="800000"/>
            <a:headEnd/>
            <a:tailEnd/>
          </a:ln>
        </p:spPr>
        <p:txBody>
          <a:bodyPr>
            <a:spAutoFit/>
          </a:bodyPr>
          <a:lstStyle/>
          <a:p>
            <a:pPr>
              <a:spcBef>
                <a:spcPts val="600"/>
              </a:spcBef>
            </a:pPr>
            <a:r>
              <a:rPr lang="es-ES" sz="2500">
                <a:latin typeface="Calibri" pitchFamily="34" charset="0"/>
              </a:rPr>
              <a:t>En 13.9 puntos el desempeño en los exámenes</a:t>
            </a:r>
          </a:p>
        </p:txBody>
      </p:sp>
      <p:sp>
        <p:nvSpPr>
          <p:cNvPr id="34824" name="12 CuadroTexto"/>
          <p:cNvSpPr txBox="1">
            <a:spLocks noChangeArrowheads="1"/>
          </p:cNvSpPr>
          <p:nvPr/>
        </p:nvSpPr>
        <p:spPr bwMode="auto">
          <a:xfrm>
            <a:off x="1000125" y="1709738"/>
            <a:ext cx="2571750" cy="862012"/>
          </a:xfrm>
          <a:prstGeom prst="rect">
            <a:avLst/>
          </a:prstGeom>
          <a:noFill/>
          <a:ln w="9525">
            <a:noFill/>
            <a:miter lim="800000"/>
            <a:headEnd/>
            <a:tailEnd/>
          </a:ln>
        </p:spPr>
        <p:txBody>
          <a:bodyPr>
            <a:spAutoFit/>
          </a:bodyPr>
          <a:lstStyle/>
          <a:p>
            <a:r>
              <a:rPr lang="es-ES" sz="2500">
                <a:latin typeface="Calibri" pitchFamily="34" charset="0"/>
              </a:rPr>
              <a:t>tamaño de la clase</a:t>
            </a:r>
          </a:p>
        </p:txBody>
      </p:sp>
      <p:sp>
        <p:nvSpPr>
          <p:cNvPr id="34825" name="15 Rectángulo"/>
          <p:cNvSpPr>
            <a:spLocks noChangeArrowheads="1"/>
          </p:cNvSpPr>
          <p:nvPr/>
        </p:nvSpPr>
        <p:spPr bwMode="auto">
          <a:xfrm>
            <a:off x="1000125" y="3143250"/>
            <a:ext cx="2357438" cy="862013"/>
          </a:xfrm>
          <a:prstGeom prst="rect">
            <a:avLst/>
          </a:prstGeom>
          <a:noFill/>
          <a:ln w="9525">
            <a:noFill/>
            <a:miter lim="800000"/>
            <a:headEnd/>
            <a:tailEnd/>
          </a:ln>
        </p:spPr>
        <p:txBody>
          <a:bodyPr>
            <a:spAutoFit/>
          </a:bodyPr>
          <a:lstStyle/>
          <a:p>
            <a:r>
              <a:rPr lang="es-ES" sz="2500">
                <a:latin typeface="Calibri" pitchFamily="34" charset="0"/>
              </a:rPr>
              <a:t>La presencia de asistente</a:t>
            </a:r>
          </a:p>
        </p:txBody>
      </p:sp>
      <p:cxnSp>
        <p:nvCxnSpPr>
          <p:cNvPr id="17" name="16 Conector recto de flecha"/>
          <p:cNvCxnSpPr/>
          <p:nvPr/>
        </p:nvCxnSpPr>
        <p:spPr>
          <a:xfrm>
            <a:off x="3500438" y="3498850"/>
            <a:ext cx="500062"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827" name="17 CuadroTexto"/>
          <p:cNvSpPr txBox="1">
            <a:spLocks noChangeArrowheads="1"/>
          </p:cNvSpPr>
          <p:nvPr/>
        </p:nvSpPr>
        <p:spPr bwMode="auto">
          <a:xfrm>
            <a:off x="4286250" y="3214688"/>
            <a:ext cx="4000500" cy="477837"/>
          </a:xfrm>
          <a:prstGeom prst="rect">
            <a:avLst/>
          </a:prstGeom>
          <a:noFill/>
          <a:ln w="9525">
            <a:noFill/>
            <a:miter lim="800000"/>
            <a:headEnd/>
            <a:tailEnd/>
          </a:ln>
        </p:spPr>
        <p:txBody>
          <a:bodyPr>
            <a:spAutoFit/>
          </a:bodyPr>
          <a:lstStyle/>
          <a:p>
            <a:pPr>
              <a:spcBef>
                <a:spcPts val="600"/>
              </a:spcBef>
            </a:pPr>
            <a:r>
              <a:rPr lang="es-ES" sz="2500">
                <a:latin typeface="Calibri" pitchFamily="34" charset="0"/>
              </a:rPr>
              <a:t>No tiene efecto</a:t>
            </a:r>
          </a:p>
        </p:txBody>
      </p:sp>
      <p:sp>
        <p:nvSpPr>
          <p:cNvPr id="34828" name="18 Rectángulo"/>
          <p:cNvSpPr>
            <a:spLocks noChangeArrowheads="1"/>
          </p:cNvSpPr>
          <p:nvPr/>
        </p:nvSpPr>
        <p:spPr bwMode="auto">
          <a:xfrm>
            <a:off x="1000125" y="4429125"/>
            <a:ext cx="7215188" cy="1631950"/>
          </a:xfrm>
          <a:prstGeom prst="rect">
            <a:avLst/>
          </a:prstGeom>
          <a:noFill/>
          <a:ln w="9525">
            <a:noFill/>
            <a:miter lim="800000"/>
            <a:headEnd/>
            <a:tailEnd/>
          </a:ln>
        </p:spPr>
        <p:txBody>
          <a:bodyPr>
            <a:spAutoFit/>
          </a:bodyPr>
          <a:lstStyle/>
          <a:p>
            <a:r>
              <a:rPr lang="es-ES" sz="2500">
                <a:latin typeface="Calibri" pitchFamily="34" charset="0"/>
              </a:rPr>
              <a:t>Los estimadores de diferencias en la regresión 1 y 2 son similares, lo que permite deducir que la asignación no depende de variables observables o no observables.</a:t>
            </a:r>
          </a:p>
        </p:txBody>
      </p:sp>
      <p:sp>
        <p:nvSpPr>
          <p:cNvPr id="23" name="22 Rectángulo"/>
          <p:cNvSpPr/>
          <p:nvPr/>
        </p:nvSpPr>
        <p:spPr>
          <a:xfrm>
            <a:off x="642938" y="1500188"/>
            <a:ext cx="8072437" cy="471487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16" name="15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6B75895B-FB0B-4E82-9196-27CB43EE6E7E}" type="slidenum">
              <a:rPr lang="es-CO" sz="1500">
                <a:solidFill>
                  <a:schemeClr val="tx1">
                    <a:lumMod val="50000"/>
                    <a:lumOff val="50000"/>
                  </a:schemeClr>
                </a:solidFill>
                <a:latin typeface="+mn-lt"/>
                <a:cs typeface="+mn-cs"/>
              </a:rPr>
              <a:pPr algn="ctr" fontAlgn="auto">
                <a:spcBef>
                  <a:spcPts val="0"/>
                </a:spcBef>
                <a:spcAft>
                  <a:spcPts val="0"/>
                </a:spcAft>
                <a:defRPr/>
              </a:pPr>
              <a:t>32</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50" y="1571625"/>
            <a:ext cx="8429625" cy="4857750"/>
          </a:xfrm>
          <a:ln w="28575">
            <a:solidFill>
              <a:schemeClr val="accent1">
                <a:lumMod val="75000"/>
              </a:schemeClr>
            </a:solidFill>
          </a:ln>
        </p:spPr>
        <p:txBody>
          <a:bodyPr rtlCol="0">
            <a:normAutofit lnSpcReduction="10000"/>
          </a:bodyPr>
          <a:lstStyle/>
          <a:p>
            <a:pPr eaLnBrk="1" fontAlgn="auto" hangingPunct="1">
              <a:spcAft>
                <a:spcPts val="0"/>
              </a:spcAft>
              <a:buFont typeface="Arial" pitchFamily="34" charset="0"/>
              <a:buChar char="•"/>
              <a:defRPr/>
            </a:pPr>
            <a:r>
              <a:rPr lang="es-ES" sz="2500" u="sng" dirty="0" smtClean="0"/>
              <a:t>PACES:</a:t>
            </a:r>
            <a:r>
              <a:rPr lang="es-ES" sz="2500" dirty="0" smtClean="0"/>
              <a:t> Programa para la Ampliación de la Cobertura para la Educación Secundaria.</a:t>
            </a:r>
          </a:p>
          <a:p>
            <a:pPr eaLnBrk="1" fontAlgn="auto" hangingPunct="1">
              <a:spcAft>
                <a:spcPts val="0"/>
              </a:spcAft>
              <a:buFont typeface="Arial" pitchFamily="34" charset="0"/>
              <a:buNone/>
              <a:defRPr/>
            </a:pPr>
            <a:endParaRPr lang="es-ES" sz="2500" u="sng" dirty="0" smtClean="0"/>
          </a:p>
          <a:p>
            <a:pPr eaLnBrk="1" fontAlgn="auto" hangingPunct="1">
              <a:spcAft>
                <a:spcPts val="0"/>
              </a:spcAft>
              <a:buFont typeface="Arial" pitchFamily="34" charset="0"/>
              <a:buChar char="•"/>
              <a:defRPr/>
            </a:pPr>
            <a:r>
              <a:rPr lang="es-ES" sz="2500" u="sng" dirty="0" smtClean="0"/>
              <a:t>Objetivo del programa</a:t>
            </a:r>
            <a:r>
              <a:rPr lang="es-ES" sz="2500" dirty="0" smtClean="0"/>
              <a:t>: Asignar vouchers a más de 125 mil estudiantes de primaria pública de estratos 1 y 2 para asistir a secundarias privadas.</a:t>
            </a:r>
          </a:p>
          <a:p>
            <a:pPr eaLnBrk="1" fontAlgn="auto" hangingPunct="1">
              <a:spcAft>
                <a:spcPts val="0"/>
              </a:spcAft>
              <a:buFont typeface="Arial" pitchFamily="34" charset="0"/>
              <a:buChar char="•"/>
              <a:defRPr/>
            </a:pPr>
            <a:endParaRPr lang="es-ES" sz="2500" dirty="0"/>
          </a:p>
          <a:p>
            <a:pPr eaLnBrk="1" fontAlgn="auto" hangingPunct="1">
              <a:spcAft>
                <a:spcPts val="0"/>
              </a:spcAft>
              <a:buFont typeface="Arial" pitchFamily="34" charset="0"/>
              <a:buChar char="•"/>
              <a:defRPr/>
            </a:pPr>
            <a:r>
              <a:rPr lang="es-ES" sz="2500" u="sng" dirty="0" smtClean="0"/>
              <a:t>3 cohortes</a:t>
            </a:r>
            <a:r>
              <a:rPr lang="es-ES" sz="2500" dirty="0" smtClean="0"/>
              <a:t>: En Bogotá y Jamundí.</a:t>
            </a:r>
          </a:p>
          <a:p>
            <a:pPr eaLnBrk="1" fontAlgn="auto" hangingPunct="1">
              <a:spcAft>
                <a:spcPts val="0"/>
              </a:spcAft>
              <a:buFont typeface="Arial" pitchFamily="34" charset="0"/>
              <a:buNone/>
              <a:defRPr/>
            </a:pPr>
            <a:endParaRPr lang="es-ES" sz="2500" dirty="0" smtClean="0"/>
          </a:p>
          <a:p>
            <a:pPr algn="just" eaLnBrk="1" fontAlgn="auto" hangingPunct="1">
              <a:spcAft>
                <a:spcPts val="0"/>
              </a:spcAft>
              <a:buFont typeface="Arial" pitchFamily="34" charset="0"/>
              <a:buChar char="•"/>
              <a:defRPr/>
            </a:pPr>
            <a:r>
              <a:rPr lang="es-ES" sz="2500" u="sng" dirty="0" smtClean="0"/>
              <a:t>Asignación:</a:t>
            </a:r>
            <a:r>
              <a:rPr lang="es-ES" sz="2500" dirty="0" smtClean="0"/>
              <a:t> Aleatoria.  </a:t>
            </a:r>
          </a:p>
          <a:p>
            <a:pPr eaLnBrk="1" fontAlgn="auto" hangingPunct="1">
              <a:spcAft>
                <a:spcPts val="0"/>
              </a:spcAft>
              <a:buFont typeface="Arial" pitchFamily="34" charset="0"/>
              <a:buNone/>
              <a:defRPr/>
            </a:pPr>
            <a:r>
              <a:rPr lang="es-ES" sz="2500" dirty="0" smtClean="0"/>
              <a:t>	Posible, dado que la demanda por educación secundaria  excede a la oferta.</a:t>
            </a:r>
          </a:p>
          <a:p>
            <a:pPr eaLnBrk="1" fontAlgn="auto" hangingPunct="1">
              <a:spcAft>
                <a:spcPts val="0"/>
              </a:spcAft>
              <a:buFont typeface="Arial" pitchFamily="34" charset="0"/>
              <a:buChar char="•"/>
              <a:defRPr/>
            </a:pPr>
            <a:endParaRPr lang="es-ES" sz="2500" dirty="0" smtClean="0"/>
          </a:p>
          <a:p>
            <a:pPr eaLnBrk="1" fontAlgn="auto" hangingPunct="1">
              <a:spcAft>
                <a:spcPts val="0"/>
              </a:spcAft>
              <a:buFont typeface="Arial" pitchFamily="34" charset="0"/>
              <a:buNone/>
              <a:defRPr/>
            </a:pPr>
            <a:endParaRPr lang="es-ES" sz="2500" dirty="0" smtClean="0"/>
          </a:p>
        </p:txBody>
      </p:sp>
      <p:pic>
        <p:nvPicPr>
          <p:cNvPr id="35843" name="Picture 1"/>
          <p:cNvPicPr>
            <a:picLocks noChangeAspect="1" noChangeArrowheads="1"/>
          </p:cNvPicPr>
          <p:nvPr/>
        </p:nvPicPr>
        <p:blipFill>
          <a:blip r:embed="rId3" cstate="print"/>
          <a:srcRect/>
          <a:stretch>
            <a:fillRect/>
          </a:stretch>
        </p:blipFill>
        <p:spPr bwMode="auto">
          <a:xfrm>
            <a:off x="0" y="0"/>
            <a:ext cx="2500313" cy="1189038"/>
          </a:xfrm>
          <a:prstGeom prst="rect">
            <a:avLst/>
          </a:prstGeom>
          <a:noFill/>
          <a:ln w="9525">
            <a:noFill/>
            <a:miter lim="800000"/>
            <a:headEnd/>
            <a:tailEnd/>
          </a:ln>
        </p:spPr>
      </p:pic>
      <p:sp>
        <p:nvSpPr>
          <p:cNvPr id="35844" name="1 Título"/>
          <p:cNvSpPr>
            <a:spLocks noGrp="1"/>
          </p:cNvSpPr>
          <p:nvPr>
            <p:ph type="title"/>
          </p:nvPr>
        </p:nvSpPr>
        <p:spPr>
          <a:xfrm>
            <a:off x="1885950" y="71438"/>
            <a:ext cx="6972300" cy="1357312"/>
          </a:xfrm>
        </p:spPr>
        <p:txBody>
          <a:bodyPr/>
          <a:lstStyle/>
          <a:p>
            <a:pPr eaLnBrk="1" hangingPunct="1"/>
            <a:r>
              <a:rPr lang="es-CO" sz="4200" u="sng" smtClean="0"/>
              <a:t>Ejemplo 2. PACES</a:t>
            </a:r>
            <a:br>
              <a:rPr lang="es-CO" sz="4200" u="sng" smtClean="0"/>
            </a:br>
            <a:r>
              <a:rPr lang="es-CO" sz="4200" u="sng" smtClean="0"/>
              <a:t>Descripción</a:t>
            </a:r>
            <a:endParaRPr lang="es-ES" sz="4200" u="sng" smtClean="0"/>
          </a:p>
        </p:txBody>
      </p:sp>
      <p:sp>
        <p:nvSpPr>
          <p:cNvPr id="6" name="5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BE225245-2722-476A-9A27-B4A295F0D096}" type="slidenum">
              <a:rPr lang="es-CO" sz="1500">
                <a:solidFill>
                  <a:schemeClr val="tx1">
                    <a:lumMod val="50000"/>
                    <a:lumOff val="50000"/>
                  </a:schemeClr>
                </a:solidFill>
                <a:latin typeface="+mn-lt"/>
                <a:cs typeface="+mn-cs"/>
              </a:rPr>
              <a:pPr algn="ctr" fontAlgn="auto">
                <a:spcBef>
                  <a:spcPts val="0"/>
                </a:spcBef>
                <a:spcAft>
                  <a:spcPts val="0"/>
                </a:spcAft>
                <a:defRPr/>
              </a:pPr>
              <a:t>33</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362950" cy="4686300"/>
          </a:xfrm>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endParaRPr lang="es-CO" sz="2500" dirty="0" smtClean="0"/>
          </a:p>
          <a:p>
            <a:pPr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None/>
              <a:defRPr/>
            </a:pPr>
            <a:r>
              <a:rPr lang="es-ES" sz="2500" dirty="0" smtClean="0"/>
              <a:t>	Donde:</a:t>
            </a:r>
          </a:p>
          <a:p>
            <a:pPr eaLnBrk="1" fontAlgn="auto" hangingPunct="1">
              <a:spcAft>
                <a:spcPts val="0"/>
              </a:spcAft>
              <a:buFont typeface="Arial" pitchFamily="34" charset="0"/>
              <a:buNone/>
              <a:defRPr/>
            </a:pPr>
            <a:r>
              <a:rPr lang="es-ES" sz="2500" dirty="0"/>
              <a:t>	</a:t>
            </a:r>
            <a:endParaRPr lang="es-ES" sz="2500" dirty="0" smtClean="0"/>
          </a:p>
        </p:txBody>
      </p:sp>
      <p:pic>
        <p:nvPicPr>
          <p:cNvPr id="22537" name="Picture 1"/>
          <p:cNvPicPr>
            <a:picLocks noChangeAspect="1" noChangeArrowheads="1"/>
          </p:cNvPicPr>
          <p:nvPr/>
        </p:nvPicPr>
        <p:blipFill>
          <a:blip r:embed="rId4" cstate="print"/>
          <a:srcRect/>
          <a:stretch>
            <a:fillRect/>
          </a:stretch>
        </p:blipFill>
        <p:spPr bwMode="auto">
          <a:xfrm>
            <a:off x="0" y="0"/>
            <a:ext cx="2500313" cy="1189038"/>
          </a:xfrm>
          <a:prstGeom prst="rect">
            <a:avLst/>
          </a:prstGeom>
          <a:noFill/>
          <a:ln w="9525">
            <a:noFill/>
            <a:miter lim="800000"/>
            <a:headEnd/>
            <a:tailEnd/>
          </a:ln>
        </p:spPr>
      </p:pic>
      <p:sp>
        <p:nvSpPr>
          <p:cNvPr id="22538" name="1 Título"/>
          <p:cNvSpPr>
            <a:spLocks noGrp="1"/>
          </p:cNvSpPr>
          <p:nvPr>
            <p:ph type="title"/>
          </p:nvPr>
        </p:nvSpPr>
        <p:spPr>
          <a:xfrm>
            <a:off x="1885950" y="71438"/>
            <a:ext cx="6972300" cy="1285875"/>
          </a:xfrm>
        </p:spPr>
        <p:txBody>
          <a:bodyPr/>
          <a:lstStyle/>
          <a:p>
            <a:pPr eaLnBrk="1" hangingPunct="1"/>
            <a:r>
              <a:rPr lang="es-CO" sz="4200" u="sng" smtClean="0"/>
              <a:t>Ejemplo 2. PACES</a:t>
            </a:r>
            <a:br>
              <a:rPr lang="es-CO" sz="4200" u="sng" smtClean="0"/>
            </a:br>
            <a:r>
              <a:rPr lang="es-CO" sz="4200" u="sng" smtClean="0"/>
              <a:t>Estimación</a:t>
            </a:r>
            <a:endParaRPr lang="es-ES" sz="4200" u="sng" smtClean="0"/>
          </a:p>
        </p:txBody>
      </p:sp>
      <p:sp>
        <p:nvSpPr>
          <p:cNvPr id="22539"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40" name="Rectangle 3"/>
          <p:cNvSpPr>
            <a:spLocks noChangeArrowheads="1"/>
          </p:cNvSpPr>
          <p:nvPr/>
        </p:nvSpPr>
        <p:spPr bwMode="auto">
          <a:xfrm>
            <a:off x="0" y="838200"/>
            <a:ext cx="9144000" cy="0"/>
          </a:xfrm>
          <a:prstGeom prst="rect">
            <a:avLst/>
          </a:prstGeom>
          <a:noFill/>
          <a:ln w="9525">
            <a:noFill/>
            <a:miter lim="800000"/>
            <a:headEnd/>
            <a:tailEnd/>
          </a:ln>
        </p:spPr>
        <p:txBody>
          <a:bodyPr wrap="none" anchor="ctr">
            <a:spAutoFit/>
          </a:bodyPr>
          <a:lstStyle/>
          <a:p>
            <a:endParaRPr lang="es-CO"/>
          </a:p>
        </p:txBody>
      </p:sp>
      <p:sp>
        <p:nvSpPr>
          <p:cNvPr id="2254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20" name="19 Conector recto de flecha"/>
          <p:cNvCxnSpPr/>
          <p:nvPr/>
        </p:nvCxnSpPr>
        <p:spPr>
          <a:xfrm>
            <a:off x="1428750" y="3214688"/>
            <a:ext cx="42862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543" name="20 CuadroTexto"/>
          <p:cNvSpPr txBox="1">
            <a:spLocks noChangeArrowheads="1"/>
          </p:cNvSpPr>
          <p:nvPr/>
        </p:nvSpPr>
        <p:spPr bwMode="auto">
          <a:xfrm>
            <a:off x="1857375" y="2928938"/>
            <a:ext cx="7000875" cy="477837"/>
          </a:xfrm>
          <a:prstGeom prst="rect">
            <a:avLst/>
          </a:prstGeom>
          <a:noFill/>
          <a:ln w="9525">
            <a:noFill/>
            <a:miter lim="800000"/>
            <a:headEnd/>
            <a:tailEnd/>
          </a:ln>
        </p:spPr>
        <p:txBody>
          <a:bodyPr>
            <a:spAutoFit/>
          </a:bodyPr>
          <a:lstStyle/>
          <a:p>
            <a:r>
              <a:rPr lang="es-ES" sz="2500">
                <a:latin typeface="Calibri" pitchFamily="34" charset="0"/>
              </a:rPr>
              <a:t>Variable de interés para el individuo </a:t>
            </a:r>
            <a:r>
              <a:rPr lang="es-ES" sz="2500" i="1">
                <a:latin typeface="Calibri" pitchFamily="34" charset="0"/>
              </a:rPr>
              <a:t>i</a:t>
            </a:r>
            <a:r>
              <a:rPr lang="es-ES" sz="2500">
                <a:latin typeface="Calibri" pitchFamily="34" charset="0"/>
              </a:rPr>
              <a:t> de la cohorte </a:t>
            </a:r>
            <a:r>
              <a:rPr lang="es-ES" sz="2500" i="1">
                <a:latin typeface="Calibri" pitchFamily="34" charset="0"/>
              </a:rPr>
              <a:t>c</a:t>
            </a:r>
            <a:r>
              <a:rPr lang="es-ES" sz="2500">
                <a:latin typeface="Calibri" pitchFamily="34" charset="0"/>
              </a:rPr>
              <a:t>  </a:t>
            </a:r>
          </a:p>
        </p:txBody>
      </p:sp>
      <p:sp>
        <p:nvSpPr>
          <p:cNvPr id="22544"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45"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46"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47" name="Rectangle 1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31" name="30 Conector recto de flecha"/>
          <p:cNvCxnSpPr/>
          <p:nvPr/>
        </p:nvCxnSpPr>
        <p:spPr>
          <a:xfrm>
            <a:off x="1428750" y="3859213"/>
            <a:ext cx="42862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549" name="32 CuadroTexto"/>
          <p:cNvSpPr txBox="1">
            <a:spLocks noChangeArrowheads="1"/>
          </p:cNvSpPr>
          <p:nvPr/>
        </p:nvSpPr>
        <p:spPr bwMode="auto">
          <a:xfrm>
            <a:off x="1857375" y="3600450"/>
            <a:ext cx="2859088" cy="476250"/>
          </a:xfrm>
          <a:prstGeom prst="rect">
            <a:avLst/>
          </a:prstGeom>
          <a:noFill/>
          <a:ln w="9525">
            <a:noFill/>
            <a:miter lim="800000"/>
            <a:headEnd/>
            <a:tailEnd/>
          </a:ln>
        </p:spPr>
        <p:txBody>
          <a:bodyPr wrap="none">
            <a:spAutoFit/>
          </a:bodyPr>
          <a:lstStyle/>
          <a:p>
            <a:r>
              <a:rPr lang="es-ES" sz="2500">
                <a:latin typeface="Calibri" pitchFamily="34" charset="0"/>
              </a:rPr>
              <a:t>Efecto de la cohorte</a:t>
            </a:r>
          </a:p>
        </p:txBody>
      </p:sp>
      <p:sp>
        <p:nvSpPr>
          <p:cNvPr id="22550"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cxnSp>
        <p:nvCxnSpPr>
          <p:cNvPr id="36" name="35 Conector recto de flecha"/>
          <p:cNvCxnSpPr/>
          <p:nvPr/>
        </p:nvCxnSpPr>
        <p:spPr>
          <a:xfrm>
            <a:off x="1428750" y="4356100"/>
            <a:ext cx="428625"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2552" name="36 CuadroTexto"/>
          <p:cNvSpPr txBox="1">
            <a:spLocks noChangeArrowheads="1"/>
          </p:cNvSpPr>
          <p:nvPr/>
        </p:nvSpPr>
        <p:spPr bwMode="auto">
          <a:xfrm>
            <a:off x="1857375" y="4094163"/>
            <a:ext cx="2924175" cy="477837"/>
          </a:xfrm>
          <a:prstGeom prst="rect">
            <a:avLst/>
          </a:prstGeom>
          <a:noFill/>
          <a:ln w="9525">
            <a:noFill/>
            <a:miter lim="800000"/>
            <a:headEnd/>
            <a:tailEnd/>
          </a:ln>
        </p:spPr>
        <p:txBody>
          <a:bodyPr wrap="none">
            <a:spAutoFit/>
          </a:bodyPr>
          <a:lstStyle/>
          <a:p>
            <a:r>
              <a:rPr lang="es-ES" sz="2500">
                <a:latin typeface="Calibri" pitchFamily="34" charset="0"/>
              </a:rPr>
              <a:t>Parámetro de interés</a:t>
            </a:r>
          </a:p>
        </p:txBody>
      </p:sp>
      <p:sp>
        <p:nvSpPr>
          <p:cNvPr id="22553" name="Rectangle 1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40" name="39 Abrir llave"/>
          <p:cNvSpPr/>
          <p:nvPr/>
        </p:nvSpPr>
        <p:spPr>
          <a:xfrm>
            <a:off x="1500188" y="4643438"/>
            <a:ext cx="71437" cy="1000125"/>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22555" name="40 CuadroTexto"/>
          <p:cNvSpPr txBox="1">
            <a:spLocks noChangeArrowheads="1"/>
          </p:cNvSpPr>
          <p:nvPr/>
        </p:nvSpPr>
        <p:spPr bwMode="auto">
          <a:xfrm>
            <a:off x="1571625" y="4643438"/>
            <a:ext cx="4476750" cy="461962"/>
          </a:xfrm>
          <a:prstGeom prst="rect">
            <a:avLst/>
          </a:prstGeom>
          <a:noFill/>
          <a:ln w="9525">
            <a:noFill/>
            <a:miter lim="800000"/>
            <a:headEnd/>
            <a:tailEnd/>
          </a:ln>
        </p:spPr>
        <p:txBody>
          <a:bodyPr wrap="none">
            <a:spAutoFit/>
          </a:bodyPr>
          <a:lstStyle/>
          <a:p>
            <a:r>
              <a:rPr lang="es-ES" sz="2400">
                <a:latin typeface="Calibri" pitchFamily="34" charset="0"/>
              </a:rPr>
              <a:t>1  si el individuo recibe el </a:t>
            </a:r>
            <a:r>
              <a:rPr lang="es-ES" sz="2400" i="1">
                <a:latin typeface="Calibri" pitchFamily="34" charset="0"/>
              </a:rPr>
              <a:t>voucher</a:t>
            </a:r>
            <a:endParaRPr lang="es-ES" sz="2400">
              <a:latin typeface="Calibri" pitchFamily="34" charset="0"/>
            </a:endParaRPr>
          </a:p>
        </p:txBody>
      </p:sp>
      <p:sp>
        <p:nvSpPr>
          <p:cNvPr id="22556" name="41 CuadroTexto"/>
          <p:cNvSpPr txBox="1">
            <a:spLocks noChangeArrowheads="1"/>
          </p:cNvSpPr>
          <p:nvPr/>
        </p:nvSpPr>
        <p:spPr bwMode="auto">
          <a:xfrm>
            <a:off x="1571625" y="5143500"/>
            <a:ext cx="2379663" cy="461963"/>
          </a:xfrm>
          <a:prstGeom prst="rect">
            <a:avLst/>
          </a:prstGeom>
          <a:noFill/>
          <a:ln w="9525">
            <a:noFill/>
            <a:miter lim="800000"/>
            <a:headEnd/>
            <a:tailEnd/>
          </a:ln>
        </p:spPr>
        <p:txBody>
          <a:bodyPr wrap="none">
            <a:spAutoFit/>
          </a:bodyPr>
          <a:lstStyle/>
          <a:p>
            <a:r>
              <a:rPr lang="es-ES" sz="2400">
                <a:latin typeface="Calibri" pitchFamily="34" charset="0"/>
              </a:rPr>
              <a:t>0  de lo contrario</a:t>
            </a:r>
          </a:p>
        </p:txBody>
      </p:sp>
      <p:sp>
        <p:nvSpPr>
          <p:cNvPr id="22557" name="Rectangle 1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58" name="Rectangle 2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s-CO">
              <a:latin typeface="Calibri" pitchFamily="34" charset="0"/>
            </a:endParaRPr>
          </a:p>
        </p:txBody>
      </p:sp>
      <p:sp>
        <p:nvSpPr>
          <p:cNvPr id="22559" name="34 Rectángulo"/>
          <p:cNvSpPr>
            <a:spLocks noChangeArrowheads="1"/>
          </p:cNvSpPr>
          <p:nvPr/>
        </p:nvSpPr>
        <p:spPr bwMode="auto">
          <a:xfrm>
            <a:off x="1928813" y="5667375"/>
            <a:ext cx="3775075" cy="476250"/>
          </a:xfrm>
          <a:prstGeom prst="rect">
            <a:avLst/>
          </a:prstGeom>
          <a:noFill/>
          <a:ln w="9525">
            <a:noFill/>
            <a:miter lim="800000"/>
            <a:headEnd/>
            <a:tailEnd/>
          </a:ln>
        </p:spPr>
        <p:txBody>
          <a:bodyPr wrap="none">
            <a:spAutoFit/>
          </a:bodyPr>
          <a:lstStyle/>
          <a:p>
            <a:r>
              <a:rPr lang="es-ES" sz="2500">
                <a:latin typeface="Calibri" pitchFamily="34" charset="0"/>
              </a:rPr>
              <a:t>Características individuales</a:t>
            </a:r>
          </a:p>
        </p:txBody>
      </p:sp>
      <p:cxnSp>
        <p:nvCxnSpPr>
          <p:cNvPr id="38" name="37 Conector recto de flecha"/>
          <p:cNvCxnSpPr/>
          <p:nvPr/>
        </p:nvCxnSpPr>
        <p:spPr>
          <a:xfrm>
            <a:off x="1500188" y="5929313"/>
            <a:ext cx="428625" cy="1587"/>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2530" name="Object 2"/>
          <p:cNvGraphicFramePr>
            <a:graphicFrameLocks noChangeAspect="1"/>
          </p:cNvGraphicFramePr>
          <p:nvPr/>
        </p:nvGraphicFramePr>
        <p:xfrm>
          <a:off x="2357438" y="1785938"/>
          <a:ext cx="4643437" cy="571500"/>
        </p:xfrm>
        <a:graphic>
          <a:graphicData uri="http://schemas.openxmlformats.org/presentationml/2006/ole">
            <p:oleObj spid="_x0000_s22530" name="Ecuación" r:id="rId5" imgW="1650960" imgH="228600" progId="Equation.3">
              <p:embed/>
            </p:oleObj>
          </a:graphicData>
        </a:graphic>
      </p:graphicFrame>
      <p:graphicFrame>
        <p:nvGraphicFramePr>
          <p:cNvPr id="22531" name="Object 3"/>
          <p:cNvGraphicFramePr>
            <a:graphicFrameLocks noChangeAspect="1"/>
          </p:cNvGraphicFramePr>
          <p:nvPr/>
        </p:nvGraphicFramePr>
        <p:xfrm>
          <a:off x="857250" y="2928938"/>
          <a:ext cx="500063" cy="571500"/>
        </p:xfrm>
        <a:graphic>
          <a:graphicData uri="http://schemas.openxmlformats.org/presentationml/2006/ole">
            <p:oleObj spid="_x0000_s22531" name="Ecuación" r:id="rId6" imgW="177480" imgH="228600" progId="Equation.3">
              <p:embed/>
            </p:oleObj>
          </a:graphicData>
        </a:graphic>
      </p:graphicFrame>
      <p:graphicFrame>
        <p:nvGraphicFramePr>
          <p:cNvPr id="22532" name="Object 4"/>
          <p:cNvGraphicFramePr>
            <a:graphicFrameLocks noChangeAspect="1"/>
          </p:cNvGraphicFramePr>
          <p:nvPr/>
        </p:nvGraphicFramePr>
        <p:xfrm>
          <a:off x="857250" y="3571875"/>
          <a:ext cx="534988" cy="571500"/>
        </p:xfrm>
        <a:graphic>
          <a:graphicData uri="http://schemas.openxmlformats.org/presentationml/2006/ole">
            <p:oleObj spid="_x0000_s22532" name="Ecuación" r:id="rId7" imgW="190440" imgH="228600" progId="Equation.3">
              <p:embed/>
            </p:oleObj>
          </a:graphicData>
        </a:graphic>
      </p:graphicFrame>
      <p:graphicFrame>
        <p:nvGraphicFramePr>
          <p:cNvPr id="22533" name="Object 6"/>
          <p:cNvGraphicFramePr>
            <a:graphicFrameLocks noChangeAspect="1"/>
          </p:cNvGraphicFramePr>
          <p:nvPr/>
        </p:nvGraphicFramePr>
        <p:xfrm>
          <a:off x="857250" y="4143375"/>
          <a:ext cx="500063" cy="539750"/>
        </p:xfrm>
        <a:graphic>
          <a:graphicData uri="http://schemas.openxmlformats.org/presentationml/2006/ole">
            <p:oleObj spid="_x0000_s22533" name="Ecuación" r:id="rId8" imgW="177480" imgH="215640" progId="Equation.3">
              <p:embed/>
            </p:oleObj>
          </a:graphicData>
        </a:graphic>
      </p:graphicFrame>
      <p:graphicFrame>
        <p:nvGraphicFramePr>
          <p:cNvPr id="22534" name="Object 7"/>
          <p:cNvGraphicFramePr>
            <a:graphicFrameLocks noChangeAspect="1"/>
          </p:cNvGraphicFramePr>
          <p:nvPr/>
        </p:nvGraphicFramePr>
        <p:xfrm>
          <a:off x="857250" y="4857750"/>
          <a:ext cx="536575" cy="571500"/>
        </p:xfrm>
        <a:graphic>
          <a:graphicData uri="http://schemas.openxmlformats.org/presentationml/2006/ole">
            <p:oleObj spid="_x0000_s22534" name="Ecuación" r:id="rId9" imgW="190440" imgH="228600" progId="Equation.3">
              <p:embed/>
            </p:oleObj>
          </a:graphicData>
        </a:graphic>
      </p:graphicFrame>
      <p:graphicFrame>
        <p:nvGraphicFramePr>
          <p:cNvPr id="22535" name="Object 8"/>
          <p:cNvGraphicFramePr>
            <a:graphicFrameLocks noChangeAspect="1"/>
          </p:cNvGraphicFramePr>
          <p:nvPr/>
        </p:nvGraphicFramePr>
        <p:xfrm>
          <a:off x="857250" y="5715000"/>
          <a:ext cx="571500" cy="571500"/>
        </p:xfrm>
        <a:graphic>
          <a:graphicData uri="http://schemas.openxmlformats.org/presentationml/2006/ole">
            <p:oleObj spid="_x0000_s22535" name="Ecuación" r:id="rId10" imgW="203040" imgH="228600" progId="Equation.3">
              <p:embed/>
            </p:oleObj>
          </a:graphicData>
        </a:graphic>
      </p:graphicFrame>
      <p:sp>
        <p:nvSpPr>
          <p:cNvPr id="34" name="33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E25F747F-0E99-423D-B986-4FDE8B972D84}" type="slidenum">
              <a:rPr lang="es-CO" sz="1500">
                <a:solidFill>
                  <a:schemeClr val="tx1">
                    <a:lumMod val="50000"/>
                    <a:lumOff val="50000"/>
                  </a:schemeClr>
                </a:solidFill>
                <a:latin typeface="+mn-lt"/>
                <a:cs typeface="+mn-cs"/>
              </a:rPr>
              <a:pPr algn="ctr" fontAlgn="auto">
                <a:spcBef>
                  <a:spcPts val="0"/>
                </a:spcBef>
                <a:spcAft>
                  <a:spcPts val="0"/>
                </a:spcAft>
                <a:defRPr/>
              </a:pPr>
              <a:t>34</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marL="342900" lvl="1" indent="-342900" eaLnBrk="1" fontAlgn="auto" hangingPunct="1">
              <a:spcAft>
                <a:spcPts val="0"/>
              </a:spcAft>
              <a:buFont typeface="Arial" pitchFamily="34" charset="0"/>
              <a:buNone/>
              <a:defRPr/>
            </a:pPr>
            <a:r>
              <a:rPr lang="es-ES" sz="2500" dirty="0" smtClean="0"/>
              <a:t>	Después de tres años no hay diferencias en número de matriculados entre los grupos de tratamiento y de control.</a:t>
            </a:r>
          </a:p>
          <a:p>
            <a:pPr marL="342900" lvl="1" indent="-342900" algn="just" eaLnBrk="1" fontAlgn="auto" hangingPunct="1">
              <a:spcAft>
                <a:spcPts val="0"/>
              </a:spcAft>
              <a:buFont typeface="Arial" pitchFamily="34" charset="0"/>
              <a:buNone/>
              <a:defRPr/>
            </a:pPr>
            <a:endParaRPr lang="es-CO" sz="2500" dirty="0" smtClean="0"/>
          </a:p>
          <a:p>
            <a:pPr marL="342900" lvl="1" indent="-342900" algn="just" eaLnBrk="1" fontAlgn="auto" hangingPunct="1">
              <a:spcAft>
                <a:spcPts val="0"/>
              </a:spcAft>
              <a:buFont typeface="Arial" pitchFamily="34" charset="0"/>
              <a:buNone/>
              <a:defRPr/>
            </a:pPr>
            <a:r>
              <a:rPr lang="es-ES" sz="2500" dirty="0" smtClean="0"/>
              <a:t>	Otros resultados:</a:t>
            </a:r>
          </a:p>
          <a:p>
            <a:pPr marL="342900" lvl="1" indent="-342900" algn="just" eaLnBrk="1" fontAlgn="auto" hangingPunct="1">
              <a:spcAft>
                <a:spcPts val="0"/>
              </a:spcAft>
              <a:buFont typeface="Arial" pitchFamily="34" charset="0"/>
              <a:buNone/>
              <a:defRPr/>
            </a:pPr>
            <a:endParaRPr lang="es-ES" sz="2500" dirty="0" smtClean="0"/>
          </a:p>
          <a:p>
            <a:pPr eaLnBrk="1" fontAlgn="auto" hangingPunct="1">
              <a:spcAft>
                <a:spcPts val="0"/>
              </a:spcAft>
              <a:buFont typeface="Arial" pitchFamily="34" charset="0"/>
              <a:buChar char="•"/>
              <a:defRPr/>
            </a:pPr>
            <a:endParaRPr lang="es-ES" dirty="0"/>
          </a:p>
        </p:txBody>
      </p:sp>
      <p:pic>
        <p:nvPicPr>
          <p:cNvPr id="36867" name="Picture 1"/>
          <p:cNvPicPr>
            <a:picLocks noChangeAspect="1" noChangeArrowheads="1"/>
          </p:cNvPicPr>
          <p:nvPr/>
        </p:nvPicPr>
        <p:blipFill>
          <a:blip r:embed="rId3" cstate="print"/>
          <a:srcRect/>
          <a:stretch>
            <a:fillRect/>
          </a:stretch>
        </p:blipFill>
        <p:spPr bwMode="auto">
          <a:xfrm>
            <a:off x="0" y="0"/>
            <a:ext cx="2500313" cy="1189038"/>
          </a:xfrm>
          <a:prstGeom prst="rect">
            <a:avLst/>
          </a:prstGeom>
          <a:noFill/>
          <a:ln w="9525">
            <a:noFill/>
            <a:miter lim="800000"/>
            <a:headEnd/>
            <a:tailEnd/>
          </a:ln>
        </p:spPr>
      </p:pic>
      <p:sp>
        <p:nvSpPr>
          <p:cNvPr id="5" name="1 Título"/>
          <p:cNvSpPr>
            <a:spLocks noGrp="1"/>
          </p:cNvSpPr>
          <p:nvPr>
            <p:ph type="title"/>
          </p:nvPr>
        </p:nvSpPr>
        <p:spPr>
          <a:xfrm>
            <a:off x="1885950" y="71438"/>
            <a:ext cx="6972300" cy="1131887"/>
          </a:xfrm>
        </p:spPr>
        <p:txBody>
          <a:bodyPr rtlCol="0">
            <a:normAutofit fontScale="90000"/>
          </a:bodyPr>
          <a:lstStyle/>
          <a:p>
            <a:pPr eaLnBrk="1" fontAlgn="auto" hangingPunct="1">
              <a:spcAft>
                <a:spcPts val="0"/>
              </a:spcAft>
              <a:defRPr/>
            </a:pPr>
            <a:r>
              <a:rPr lang="es-CO" sz="4200" u="sng" dirty="0" smtClean="0"/>
              <a:t>Ejemplo 2. PACES</a:t>
            </a:r>
            <a:br>
              <a:rPr lang="es-CO" sz="4200" u="sng" dirty="0" smtClean="0"/>
            </a:br>
            <a:r>
              <a:rPr lang="es-CO" sz="4200" u="sng" dirty="0" smtClean="0"/>
              <a:t>Resultados</a:t>
            </a:r>
            <a:endParaRPr lang="es-ES" sz="4200" u="sng" dirty="0"/>
          </a:p>
        </p:txBody>
      </p:sp>
      <p:sp>
        <p:nvSpPr>
          <p:cNvPr id="36869" name="5 Rectángulo"/>
          <p:cNvSpPr>
            <a:spLocks noChangeArrowheads="1"/>
          </p:cNvSpPr>
          <p:nvPr/>
        </p:nvSpPr>
        <p:spPr bwMode="auto">
          <a:xfrm>
            <a:off x="357188" y="3929063"/>
            <a:ext cx="2786062" cy="862012"/>
          </a:xfrm>
          <a:prstGeom prst="rect">
            <a:avLst/>
          </a:prstGeom>
          <a:noFill/>
          <a:ln w="9525">
            <a:noFill/>
            <a:miter lim="800000"/>
            <a:headEnd/>
            <a:tailEnd/>
          </a:ln>
        </p:spPr>
        <p:txBody>
          <a:bodyPr>
            <a:spAutoFit/>
          </a:bodyPr>
          <a:lstStyle/>
          <a:p>
            <a:pPr lvl="1" algn="just"/>
            <a:r>
              <a:rPr lang="es-ES" sz="2500">
                <a:latin typeface="Calibri" pitchFamily="34" charset="0"/>
              </a:rPr>
              <a:t>Los favorecidos </a:t>
            </a:r>
          </a:p>
          <a:p>
            <a:pPr lvl="1" algn="just"/>
            <a:r>
              <a:rPr lang="es-ES" sz="2500">
                <a:latin typeface="Calibri" pitchFamily="34" charset="0"/>
              </a:rPr>
              <a:t>por la lotería</a:t>
            </a:r>
          </a:p>
        </p:txBody>
      </p:sp>
      <p:sp>
        <p:nvSpPr>
          <p:cNvPr id="7" name="6 Abrir llave"/>
          <p:cNvSpPr/>
          <p:nvPr/>
        </p:nvSpPr>
        <p:spPr>
          <a:xfrm>
            <a:off x="3000375" y="3786188"/>
            <a:ext cx="142875" cy="1357312"/>
          </a:xfrm>
          <a:prstGeom prst="leftBrac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s-ES" dirty="0"/>
          </a:p>
        </p:txBody>
      </p:sp>
      <p:sp>
        <p:nvSpPr>
          <p:cNvPr id="36871" name="7 CuadroTexto"/>
          <p:cNvSpPr txBox="1">
            <a:spLocks noChangeArrowheads="1"/>
          </p:cNvSpPr>
          <p:nvPr/>
        </p:nvSpPr>
        <p:spPr bwMode="auto">
          <a:xfrm>
            <a:off x="3071813" y="3700463"/>
            <a:ext cx="5072062" cy="830262"/>
          </a:xfrm>
          <a:prstGeom prst="rect">
            <a:avLst/>
          </a:prstGeom>
          <a:noFill/>
          <a:ln w="9525">
            <a:noFill/>
            <a:miter lim="800000"/>
            <a:headEnd/>
            <a:tailEnd/>
          </a:ln>
        </p:spPr>
        <p:txBody>
          <a:bodyPr>
            <a:spAutoFit/>
          </a:bodyPr>
          <a:lstStyle/>
          <a:p>
            <a:r>
              <a:rPr lang="es-ES" sz="2400">
                <a:latin typeface="Calibri" pitchFamily="34" charset="0"/>
              </a:rPr>
              <a:t>Tuvieron una probabilidad más alta de asistir a colegio privado.</a:t>
            </a:r>
          </a:p>
        </p:txBody>
      </p:sp>
      <p:sp>
        <p:nvSpPr>
          <p:cNvPr id="36872" name="8 CuadroTexto"/>
          <p:cNvSpPr txBox="1">
            <a:spLocks noChangeArrowheads="1"/>
          </p:cNvSpPr>
          <p:nvPr/>
        </p:nvSpPr>
        <p:spPr bwMode="auto">
          <a:xfrm>
            <a:off x="3071813" y="4697413"/>
            <a:ext cx="5429250" cy="461962"/>
          </a:xfrm>
          <a:prstGeom prst="rect">
            <a:avLst/>
          </a:prstGeom>
          <a:noFill/>
          <a:ln w="9525">
            <a:noFill/>
            <a:miter lim="800000"/>
            <a:headEnd/>
            <a:tailEnd/>
          </a:ln>
        </p:spPr>
        <p:txBody>
          <a:bodyPr>
            <a:spAutoFit/>
          </a:bodyPr>
          <a:lstStyle/>
          <a:p>
            <a:r>
              <a:rPr lang="es-ES" sz="2400">
                <a:latin typeface="Calibri" pitchFamily="34" charset="0"/>
              </a:rPr>
              <a:t>Completaron 0.1 años más de educación.</a:t>
            </a:r>
          </a:p>
        </p:txBody>
      </p:sp>
      <p:sp>
        <p:nvSpPr>
          <p:cNvPr id="10" name="9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53244D41-DD0D-4E8B-9C7F-A1E50E7B7EBA}" type="slidenum">
              <a:rPr lang="es-CO" sz="1500">
                <a:solidFill>
                  <a:schemeClr val="tx1">
                    <a:lumMod val="50000"/>
                    <a:lumOff val="50000"/>
                  </a:schemeClr>
                </a:solidFill>
                <a:latin typeface="+mn-lt"/>
                <a:cs typeface="+mn-cs"/>
              </a:rPr>
              <a:pPr algn="ctr" fontAlgn="auto">
                <a:spcBef>
                  <a:spcPts val="0"/>
                </a:spcBef>
                <a:spcAft>
                  <a:spcPts val="0"/>
                </a:spcAft>
                <a:defRPr/>
              </a:pPr>
              <a:t>35</a:t>
            </a:fld>
            <a:endParaRPr lang="es-ES" sz="1500" dirty="0">
              <a:solidFill>
                <a:schemeClr val="tx1">
                  <a:lumMod val="50000"/>
                  <a:lumOff val="50000"/>
                </a:schemeClr>
              </a:solidFill>
              <a:latin typeface="+mn-lt"/>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rtlCol="0">
            <a:normAutofit/>
          </a:bodyPr>
          <a:lstStyle/>
          <a:p>
            <a:pPr eaLnBrk="1" fontAlgn="auto" hangingPunct="1">
              <a:spcAft>
                <a:spcPts val="0"/>
              </a:spcAft>
              <a:buFont typeface="Arial" pitchFamily="34" charset="0"/>
              <a:buChar char="•"/>
              <a:defRPr/>
            </a:pPr>
            <a:endParaRPr lang="es-ES" dirty="0" smtClean="0"/>
          </a:p>
          <a:p>
            <a:pPr eaLnBrk="1" fontAlgn="auto" hangingPunct="1">
              <a:spcAft>
                <a:spcPts val="0"/>
              </a:spcAft>
              <a:buFont typeface="Arial" pitchFamily="34" charset="0"/>
              <a:buNone/>
              <a:defRPr/>
            </a:pPr>
            <a:r>
              <a:rPr lang="es-ES" sz="2500" u="sng" dirty="0" smtClean="0"/>
              <a:t>Algunas dificultades</a:t>
            </a:r>
            <a:r>
              <a:rPr lang="es-ES" sz="2500" dirty="0" smtClean="0"/>
              <a:t>: </a:t>
            </a:r>
          </a:p>
          <a:p>
            <a:pPr lvl="1" eaLnBrk="1" fontAlgn="auto" hangingPunct="1">
              <a:spcAft>
                <a:spcPts val="0"/>
              </a:spcAft>
              <a:buFont typeface="Arial" pitchFamily="34" charset="0"/>
              <a:buChar char="–"/>
              <a:defRPr/>
            </a:pPr>
            <a:endParaRPr lang="es-ES" sz="2500" dirty="0" smtClean="0"/>
          </a:p>
          <a:p>
            <a:pPr lvl="1" eaLnBrk="1" fontAlgn="auto" hangingPunct="1">
              <a:spcAft>
                <a:spcPts val="0"/>
              </a:spcAft>
              <a:buFont typeface="Arial" pitchFamily="34" charset="0"/>
              <a:buChar char="–"/>
              <a:defRPr/>
            </a:pPr>
            <a:r>
              <a:rPr lang="es-ES" sz="2500" dirty="0" smtClean="0"/>
              <a:t>Sólo el 90% de quienes ganó la lotería usaron los </a:t>
            </a:r>
            <a:r>
              <a:rPr lang="es-ES" sz="2500" i="1" dirty="0" smtClean="0"/>
              <a:t>vouchers</a:t>
            </a:r>
            <a:r>
              <a:rPr lang="es-ES" sz="2500" dirty="0" smtClean="0"/>
              <a:t>.</a:t>
            </a:r>
          </a:p>
          <a:p>
            <a:pPr lvl="1" eaLnBrk="1" fontAlgn="auto" hangingPunct="1">
              <a:spcAft>
                <a:spcPts val="0"/>
              </a:spcAft>
              <a:buFont typeface="Arial" pitchFamily="34" charset="0"/>
              <a:buChar char="–"/>
              <a:defRPr/>
            </a:pPr>
            <a:r>
              <a:rPr lang="es-ES" sz="2500" dirty="0" smtClean="0"/>
              <a:t>El 24% de los que no salieron favorecidos por la lotería </a:t>
            </a:r>
            <a:r>
              <a:rPr lang="es-ES" sz="2500" smtClean="0"/>
              <a:t>recibió becas </a:t>
            </a:r>
            <a:r>
              <a:rPr lang="es-ES" sz="2500" dirty="0" smtClean="0"/>
              <a:t>de otras fuentes.</a:t>
            </a:r>
          </a:p>
          <a:p>
            <a:pPr lvl="1" algn="ctr" eaLnBrk="1" fontAlgn="auto" hangingPunct="1">
              <a:spcAft>
                <a:spcPts val="0"/>
              </a:spcAft>
              <a:buFont typeface="Arial" pitchFamily="34" charset="0"/>
              <a:buNone/>
              <a:defRPr/>
            </a:pPr>
            <a:endParaRPr lang="es-ES" sz="2500" dirty="0" smtClean="0"/>
          </a:p>
          <a:p>
            <a:pPr lvl="1" eaLnBrk="1" fontAlgn="auto" hangingPunct="1">
              <a:spcAft>
                <a:spcPts val="0"/>
              </a:spcAft>
              <a:buFont typeface="Arial" pitchFamily="34" charset="0"/>
              <a:buNone/>
              <a:defRPr/>
            </a:pPr>
            <a:r>
              <a:rPr lang="es-ES" sz="2500" dirty="0" smtClean="0"/>
              <a:t>			   Puede introducir sesgos.</a:t>
            </a:r>
          </a:p>
          <a:p>
            <a:pPr lvl="1" eaLnBrk="1" fontAlgn="auto" hangingPunct="1">
              <a:spcAft>
                <a:spcPts val="0"/>
              </a:spcAft>
              <a:buFont typeface="Arial" pitchFamily="34" charset="0"/>
              <a:buNone/>
              <a:defRPr/>
            </a:pPr>
            <a:endParaRPr lang="es-ES" dirty="0"/>
          </a:p>
        </p:txBody>
      </p:sp>
      <p:pic>
        <p:nvPicPr>
          <p:cNvPr id="37891" name="Picture 1"/>
          <p:cNvPicPr>
            <a:picLocks noChangeAspect="1" noChangeArrowheads="1"/>
          </p:cNvPicPr>
          <p:nvPr/>
        </p:nvPicPr>
        <p:blipFill>
          <a:blip r:embed="rId3" cstate="print"/>
          <a:srcRect/>
          <a:stretch>
            <a:fillRect/>
          </a:stretch>
        </p:blipFill>
        <p:spPr bwMode="auto">
          <a:xfrm>
            <a:off x="0" y="0"/>
            <a:ext cx="2500313" cy="1189038"/>
          </a:xfrm>
          <a:prstGeom prst="rect">
            <a:avLst/>
          </a:prstGeom>
          <a:noFill/>
          <a:ln w="9525">
            <a:noFill/>
            <a:miter lim="800000"/>
            <a:headEnd/>
            <a:tailEnd/>
          </a:ln>
        </p:spPr>
      </p:pic>
      <p:sp>
        <p:nvSpPr>
          <p:cNvPr id="37892" name="1 Título"/>
          <p:cNvSpPr>
            <a:spLocks noGrp="1"/>
          </p:cNvSpPr>
          <p:nvPr>
            <p:ph type="title"/>
          </p:nvPr>
        </p:nvSpPr>
        <p:spPr>
          <a:xfrm>
            <a:off x="1885950" y="71438"/>
            <a:ext cx="6972300" cy="1131887"/>
          </a:xfrm>
        </p:spPr>
        <p:txBody>
          <a:bodyPr/>
          <a:lstStyle/>
          <a:p>
            <a:pPr eaLnBrk="1" hangingPunct="1"/>
            <a:r>
              <a:rPr lang="es-CO" sz="4200" u="sng" smtClean="0"/>
              <a:t>Ejemplo 2. PACES</a:t>
            </a:r>
            <a:endParaRPr lang="es-ES" sz="4200" u="sng" smtClean="0"/>
          </a:p>
        </p:txBody>
      </p:sp>
      <p:sp>
        <p:nvSpPr>
          <p:cNvPr id="6" name="5 Flecha abajo"/>
          <p:cNvSpPr/>
          <p:nvPr/>
        </p:nvSpPr>
        <p:spPr>
          <a:xfrm>
            <a:off x="4000500" y="4857750"/>
            <a:ext cx="428625" cy="428625"/>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sp>
        <p:nvSpPr>
          <p:cNvPr id="7" name="6 Rectángulo"/>
          <p:cNvSpPr/>
          <p:nvPr/>
        </p:nvSpPr>
        <p:spPr>
          <a:xfrm>
            <a:off x="428625" y="6534150"/>
            <a:ext cx="8072438" cy="323850"/>
          </a:xfrm>
          <a:prstGeom prst="rect">
            <a:avLst/>
          </a:prstGeom>
        </p:spPr>
        <p:txBody>
          <a:bodyPr>
            <a:spAutoFit/>
          </a:bodyPr>
          <a:lstStyle/>
          <a:p>
            <a:pPr algn="ctr" fontAlgn="auto">
              <a:spcBef>
                <a:spcPts val="0"/>
              </a:spcBef>
              <a:spcAft>
                <a:spcPts val="0"/>
              </a:spcAft>
              <a:defRPr/>
            </a:pPr>
            <a:r>
              <a:rPr lang="es-MX" sz="1500" smtClean="0">
                <a:solidFill>
                  <a:schemeClr val="tx1">
                    <a:lumMod val="50000"/>
                    <a:lumOff val="50000"/>
                  </a:schemeClr>
                </a:solidFill>
                <a:latin typeface="+mn-lt"/>
                <a:cs typeface="+mn-cs"/>
              </a:rPr>
              <a:t>Guía práctica para la evaluación de impacto /</a:t>
            </a:r>
            <a:r>
              <a:rPr lang="es-CO" sz="1500" smtClean="0">
                <a:solidFill>
                  <a:schemeClr val="tx1">
                    <a:lumMod val="50000"/>
                    <a:lumOff val="50000"/>
                  </a:schemeClr>
                </a:solidFill>
                <a:latin typeface="+mn-lt"/>
                <a:cs typeface="+mn-cs"/>
              </a:rPr>
              <a:t>Capítulo </a:t>
            </a:r>
            <a:r>
              <a:rPr lang="es-CO" sz="1500" dirty="0">
                <a:solidFill>
                  <a:schemeClr val="tx1">
                    <a:lumMod val="50000"/>
                    <a:lumOff val="50000"/>
                  </a:schemeClr>
                </a:solidFill>
                <a:latin typeface="+mn-lt"/>
                <a:cs typeface="+mn-cs"/>
              </a:rPr>
              <a:t>4: Experimentos Aleatorios/</a:t>
            </a:r>
            <a:fld id="{AF90690E-B354-4530-AB43-C2431261822F}" type="slidenum">
              <a:rPr lang="es-CO" sz="1500">
                <a:solidFill>
                  <a:schemeClr val="tx1">
                    <a:lumMod val="50000"/>
                    <a:lumOff val="50000"/>
                  </a:schemeClr>
                </a:solidFill>
                <a:latin typeface="+mn-lt"/>
                <a:cs typeface="+mn-cs"/>
              </a:rPr>
              <a:pPr algn="ctr" fontAlgn="auto">
                <a:spcBef>
                  <a:spcPts val="0"/>
                </a:spcBef>
                <a:spcAft>
                  <a:spcPts val="0"/>
                </a:spcAft>
                <a:defRPr/>
              </a:pPr>
              <a:t>36</a:t>
            </a:fld>
            <a:endParaRPr lang="es-ES" sz="1500" dirty="0">
              <a:solidFill>
                <a:schemeClr val="tx1">
                  <a:lumMod val="50000"/>
                  <a:lumOff val="50000"/>
                </a:schemeClr>
              </a:solidFill>
              <a:latin typeface="+mn-lt"/>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1727</TotalTime>
  <Words>2324</Words>
  <Application>Microsoft Office PowerPoint</Application>
  <PresentationFormat>Presentación en pantalla (4:3)</PresentationFormat>
  <Paragraphs>448</Paragraphs>
  <Slides>36</Slides>
  <Notes>36</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36</vt:i4>
      </vt:variant>
    </vt:vector>
  </HeadingPairs>
  <TitlesOfParts>
    <vt:vector size="38" baseType="lpstr">
      <vt:lpstr>Tema de Office</vt:lpstr>
      <vt:lpstr>Ecuación</vt:lpstr>
      <vt:lpstr>Capítulo 4</vt:lpstr>
      <vt:lpstr>Notación</vt:lpstr>
      <vt:lpstr>Notación</vt:lpstr>
      <vt:lpstr>¿Para qué hacer experimentos aleatorios?</vt:lpstr>
      <vt:lpstr>¿Cómo hacer experimentos aleatorios?</vt:lpstr>
      <vt:lpstr>Ventajas y limitaciones</vt:lpstr>
      <vt:lpstr>Individuos vs. conglomerados</vt:lpstr>
      <vt:lpstr>Modelo en diferencias</vt:lpstr>
      <vt:lpstr>Ejemplo: Canasta  Resultados</vt:lpstr>
      <vt:lpstr>Ejemplo: Canasta ATT</vt:lpstr>
      <vt:lpstr>Ejemplo: Canasta ATT</vt:lpstr>
      <vt:lpstr>Estimador de diferencias con regresores adicionales</vt:lpstr>
      <vt:lpstr>Estimador de diferencias con regresores adicionales</vt:lpstr>
      <vt:lpstr>Ejemplo: Canasta con asignación aleatoria</vt:lpstr>
      <vt:lpstr>Ejemplo: Canasta con regresores adicionales</vt:lpstr>
      <vt:lpstr>Estimador de diferencias con efectos heterogéneos</vt:lpstr>
      <vt:lpstr>Ejemplo: Canasta con efectos heterogéneos</vt:lpstr>
      <vt:lpstr>Estimador de diferencias en el tiempo</vt:lpstr>
      <vt:lpstr>Diapositiva 19</vt:lpstr>
      <vt:lpstr>Estimador de diferencias en el tiempo</vt:lpstr>
      <vt:lpstr>Controlando por la tendencia</vt:lpstr>
      <vt:lpstr>Ejemplo: Canasta con diferencias en el tiempo</vt:lpstr>
      <vt:lpstr>Potenciales problemas de aleatorización</vt:lpstr>
      <vt:lpstr>Potenciales problemas de aleatorización</vt:lpstr>
      <vt:lpstr>Para verificar la aleatorización</vt:lpstr>
      <vt:lpstr>Ejemplo: Canasta para verificar la aleatorización</vt:lpstr>
      <vt:lpstr>Ejemplo 1. STAR  Descripción</vt:lpstr>
      <vt:lpstr>Ejemplo 1. STAR Descripción</vt:lpstr>
      <vt:lpstr>Ejemplo 1. STAR Estimación</vt:lpstr>
      <vt:lpstr>Ejemplo 1. STAR Descripción de las variables</vt:lpstr>
      <vt:lpstr>Ejemplo 1. STAR</vt:lpstr>
      <vt:lpstr>Ejemplo 1. STAR Resultados</vt:lpstr>
      <vt:lpstr>Ejemplo 2. PACES Descripción</vt:lpstr>
      <vt:lpstr>Ejemplo 2. PACES Estimación</vt:lpstr>
      <vt:lpstr>Ejemplo 2. PACES Resultados</vt:lpstr>
      <vt:lpstr>Ejemplo 2. PACES</vt:lpstr>
    </vt:vector>
  </TitlesOfParts>
  <Company>Universidad de los Andes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3</dc:title>
  <dc:creator>lo-caro</dc:creator>
  <cp:lastModifiedBy>profeivan</cp:lastModifiedBy>
  <cp:revision>168</cp:revision>
  <dcterms:created xsi:type="dcterms:W3CDTF">2009-09-09T15:08:50Z</dcterms:created>
  <dcterms:modified xsi:type="dcterms:W3CDTF">2011-04-10T13:17:39Z</dcterms:modified>
</cp:coreProperties>
</file>