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61" r:id="rId4"/>
    <p:sldId id="296" r:id="rId5"/>
    <p:sldId id="297" r:id="rId6"/>
    <p:sldId id="260" r:id="rId7"/>
    <p:sldId id="259" r:id="rId8"/>
    <p:sldId id="262" r:id="rId9"/>
    <p:sldId id="299" r:id="rId10"/>
    <p:sldId id="263" r:id="rId11"/>
    <p:sldId id="300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1" r:id="rId20"/>
    <p:sldId id="282" r:id="rId21"/>
    <p:sldId id="273" r:id="rId22"/>
    <p:sldId id="301" r:id="rId23"/>
    <p:sldId id="288" r:id="rId24"/>
    <p:sldId id="274" r:id="rId25"/>
    <p:sldId id="284" r:id="rId26"/>
    <p:sldId id="285" r:id="rId27"/>
    <p:sldId id="275" r:id="rId28"/>
    <p:sldId id="276" r:id="rId29"/>
    <p:sldId id="277" r:id="rId30"/>
    <p:sldId id="292" r:id="rId31"/>
    <p:sldId id="278" r:id="rId32"/>
    <p:sldId id="295" r:id="rId33"/>
    <p:sldId id="279" r:id="rId34"/>
    <p:sldId id="294" r:id="rId3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cos Vera Hernandez" initials="MV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2" autoAdjust="0"/>
    <p:restoredTop sz="83422" autoAdjust="0"/>
  </p:normalViewPr>
  <p:slideViewPr>
    <p:cSldViewPr>
      <p:cViewPr>
        <p:scale>
          <a:sx n="67" d="100"/>
          <a:sy n="67" d="100"/>
        </p:scale>
        <p:origin x="-136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F9DA8-381C-4591-BAC6-F8802964A171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C79A6-65A3-43FF-B863-88BC0F02BFDB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88454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*Problema: Evidentemente no se puede</a:t>
            </a:r>
            <a:r>
              <a:rPr lang="es-CO" baseline="0" dirty="0" smtClean="0"/>
              <a:t> observar los dos resultados para el mismo individuo al mismo tiempo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2</a:t>
            </a:fld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Desnutrición</a:t>
            </a:r>
            <a:r>
              <a:rPr lang="es-CO" baseline="0" dirty="0" smtClean="0"/>
              <a:t> Crónica: Indica si la talla para la edad y el sexo están por lo menos dos desviaciones estándar por debajo de la media poblacional.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5</a:t>
            </a:fld>
            <a:endParaRPr lang="es-E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6</a:t>
            </a:fld>
            <a:endParaRPr lang="es-E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7</a:t>
            </a:fld>
            <a:endParaRPr lang="es-E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En general el tratamiento o programa n</a:t>
            </a:r>
            <a:r>
              <a:rPr lang="es-CO" baseline="0" dirty="0" smtClean="0"/>
              <a:t>o es universal sino que solo esta disponible para un conjunto de individuos.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8</a:t>
            </a:fld>
            <a:endParaRPr lang="es-E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9</a:t>
            </a:fld>
            <a:endParaRPr lang="es-E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10</a:t>
            </a:fld>
            <a:endParaRPr lang="es-E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11</a:t>
            </a:fld>
            <a:endParaRPr lang="es-E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12</a:t>
            </a:fld>
            <a:endParaRPr lang="es-E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El ejemplo</a:t>
            </a:r>
            <a:r>
              <a:rPr lang="es-CO" baseline="0" dirty="0" smtClean="0"/>
              <a:t> en este caso: Niños con más desnutrición son los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13</a:t>
            </a:fld>
            <a:endParaRPr lang="es-E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15</a:t>
            </a:fld>
            <a:endParaRPr lang="es-E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Conocer D_i no</a:t>
            </a:r>
            <a:r>
              <a:rPr lang="es-CO" baseline="0" dirty="0" smtClean="0"/>
              <a:t> añade información adicional a cerca de </a:t>
            </a:r>
            <a:r>
              <a:rPr lang="es-CO" baseline="0" dirty="0" err="1" smtClean="0"/>
              <a:t>U_i</a:t>
            </a:r>
            <a:r>
              <a:rPr lang="es-CO" baseline="0" dirty="0" smtClean="0"/>
              <a:t>.</a:t>
            </a:r>
          </a:p>
          <a:p>
            <a:r>
              <a:rPr lang="es-CO" baseline="0" dirty="0" smtClean="0"/>
              <a:t>La participación es independiente de las características del individuo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16</a:t>
            </a:fld>
            <a:endParaRPr lang="es-E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Donde B1</a:t>
            </a:r>
            <a:r>
              <a:rPr lang="es-CO" baseline="0" dirty="0" smtClean="0"/>
              <a:t> es el efecto del programa de nutrición sobre el indicador antropométrico.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79A6-65A3-43FF-B863-88BC0F02BFDB}" type="slidenum">
              <a:rPr lang="es-ES" smtClean="0"/>
              <a:pPr/>
              <a:t>20</a:t>
            </a:fld>
            <a:endParaRPr lang="es-E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Existen características</a:t>
            </a:r>
            <a:r>
              <a:rPr lang="es-ES" baseline="0" dirty="0" smtClean="0"/>
              <a:t> observables ó no observables que hacen que unos individuos participen y otros no.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 smtClean="0"/>
              <a:t> Los participantes y no participantes son distintos, aún en ausencia del programa.</a:t>
            </a:r>
            <a:endParaRPr lang="es-AR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 smtClean="0"/>
              <a:t>Las diferencias pueden estar relacionadas con la variable de resultado objeto de la evaluación de impacto. </a:t>
            </a:r>
          </a:p>
          <a:p>
            <a:endParaRPr lang="es-ES" baseline="0" dirty="0" smtClean="0"/>
          </a:p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9A0BF5-914A-4BAD-BF34-D3BD55649CBA}" type="slidenum">
              <a:rPr lang="es-AR" smtClean="0"/>
              <a:pPr/>
              <a:t>24</a:t>
            </a:fld>
            <a:endParaRPr lang="es-AR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En general,</a:t>
            </a:r>
            <a:r>
              <a:rPr lang="es-ES" baseline="0" dirty="0" smtClean="0"/>
              <a:t> cuando hay sesgo se le puede estar atribuyendo al programa un efecto que en realidad se debe a las diferencias preexistentes entre le grupo de tratamiento y el de control.</a:t>
            </a:r>
            <a:br>
              <a:rPr lang="es-ES" baseline="0" dirty="0" smtClean="0"/>
            </a:br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9A0BF5-914A-4BAD-BF34-D3BD55649CBA}" type="slidenum">
              <a:rPr lang="es-AR" smtClean="0"/>
              <a:pPr/>
              <a:t>28</a:t>
            </a:fld>
            <a:endParaRPr lang="es-AR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9A0BF5-914A-4BAD-BF34-D3BD55649CBA}" type="slidenum">
              <a:rPr lang="es-AR" smtClean="0"/>
              <a:pPr/>
              <a:t>33</a:t>
            </a:fld>
            <a:endParaRPr lang="es-A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3BD8E-A17D-4263-869E-C8E9D1522EF3}" type="datetimeFigureOut">
              <a:rPr lang="es-ES" smtClean="0"/>
              <a:pPr/>
              <a:t>10/04/2011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9A7B7-D428-46C8-AC2C-4D5FC626424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2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Capítulo 2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s-CO" dirty="0" smtClean="0"/>
              <a:t>Definición de parámetros de impacto del tratamiento</a:t>
            </a:r>
            <a:endParaRPr lang="es-E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4 Objeto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1039" name="Ecuación" r:id="rId4" imgW="114151" imgH="215619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85960" y="285728"/>
            <a:ext cx="6972320" cy="1131910"/>
          </a:xfrm>
        </p:spPr>
        <p:txBody>
          <a:bodyPr>
            <a:normAutofit/>
          </a:bodyPr>
          <a:lstStyle/>
          <a:p>
            <a:r>
              <a:rPr lang="es-CO" sz="4200" u="sng" dirty="0" smtClean="0"/>
              <a:t>Objetivo y problema</a:t>
            </a:r>
            <a:endParaRPr lang="es-ES" sz="4200" u="sng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428736"/>
            <a:ext cx="8215370" cy="4643470"/>
          </a:xfrm>
          <a:solidFill>
            <a:schemeClr val="bg1"/>
          </a:solidFill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s-CO" sz="2500" u="sng" dirty="0" smtClean="0"/>
              <a:t>Objetivo:</a:t>
            </a:r>
          </a:p>
          <a:p>
            <a:pPr marL="342900" lvl="1" indent="-342900" algn="just">
              <a:buNone/>
            </a:pPr>
            <a:r>
              <a:rPr lang="es-CO" sz="2500" dirty="0" smtClean="0"/>
              <a:t>	Medir el impacto del tratamiento (p. ej., un programa) sobre una(s) variable(s) de resultado en un conjunto de individuos.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s-CO" sz="25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s-CO" sz="2500" u="sng" dirty="0" smtClean="0"/>
              <a:t>Problema</a:t>
            </a:r>
            <a:r>
              <a:rPr lang="es-CO" sz="2500" dirty="0" smtClean="0"/>
              <a:t>:</a:t>
            </a:r>
          </a:p>
          <a:p>
            <a:pPr marL="342900" lvl="1" indent="-342900" algn="just">
              <a:buNone/>
            </a:pPr>
            <a:r>
              <a:rPr lang="es-CO" sz="2500" dirty="0" smtClean="0"/>
              <a:t>	Para obtener el efecto del tratamiento, necesitaríamos evaluar la diferencia entre la variable de resultado de los participantes con programa  y la variable de resultado de los participantes en ausencia del programa, denominado </a:t>
            </a:r>
            <a:r>
              <a:rPr lang="es-CO" sz="2500" i="1" dirty="0" smtClean="0"/>
              <a:t>contrafactual</a:t>
            </a:r>
            <a:r>
              <a:rPr lang="es-CO" sz="2500" dirty="0" smtClean="0"/>
              <a:t>.</a:t>
            </a:r>
            <a:endParaRPr lang="es-ES" sz="2500" dirty="0" smtClean="0"/>
          </a:p>
          <a:p>
            <a:pPr>
              <a:buNone/>
            </a:pPr>
            <a:endParaRPr lang="es-E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2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43 CuadroTexto"/>
          <p:cNvSpPr txBox="1"/>
          <p:nvPr/>
        </p:nvSpPr>
        <p:spPr>
          <a:xfrm>
            <a:off x="611560" y="5301208"/>
            <a:ext cx="820891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50" dirty="0" smtClean="0"/>
              <a:t>          es la variable de resultado del individuo </a:t>
            </a:r>
            <a:r>
              <a:rPr lang="es-CO" sz="2450" i="1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s-CO" sz="2450" dirty="0" smtClean="0">
                <a:cs typeface="Times New Roman" pitchFamily="18" charset="0"/>
              </a:rPr>
              <a:t>si es tratado</a:t>
            </a:r>
          </a:p>
          <a:p>
            <a:r>
              <a:rPr lang="es-CO" sz="2450" dirty="0" smtClean="0">
                <a:cs typeface="Times New Roman" pitchFamily="18" charset="0"/>
              </a:rPr>
              <a:t>          es la variable de resultado del individuo </a:t>
            </a:r>
            <a:r>
              <a:rPr lang="es-CO" sz="245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CO" sz="2450" dirty="0" smtClean="0">
                <a:cs typeface="Times New Roman" pitchFamily="18" charset="0"/>
              </a:rPr>
              <a:t> si no es tratado.</a:t>
            </a:r>
            <a:endParaRPr lang="es-ES" sz="245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158" y="1500174"/>
            <a:ext cx="8329642" cy="4678953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endParaRPr lang="es-CO" dirty="0" smtClean="0"/>
          </a:p>
          <a:p>
            <a:pPr>
              <a:spcBef>
                <a:spcPts val="600"/>
              </a:spcBef>
            </a:pPr>
            <a:endParaRPr lang="es-CO" dirty="0" smtClean="0"/>
          </a:p>
          <a:p>
            <a:pPr>
              <a:spcBef>
                <a:spcPts val="600"/>
              </a:spcBef>
            </a:pPr>
            <a:endParaRPr lang="es-CO" dirty="0" smtClean="0"/>
          </a:p>
          <a:p>
            <a:pPr>
              <a:spcBef>
                <a:spcPts val="600"/>
              </a:spcBef>
            </a:pPr>
            <a:endParaRPr lang="es-CO" dirty="0" smtClean="0"/>
          </a:p>
          <a:p>
            <a:pPr>
              <a:spcBef>
                <a:spcPts val="600"/>
              </a:spcBef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CuadroTexto"/>
              <p:cNvSpPr txBox="1"/>
              <p:nvPr/>
            </p:nvSpPr>
            <p:spPr>
              <a:xfrm>
                <a:off x="287524" y="1772816"/>
                <a:ext cx="21392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CO" sz="2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s-CO" sz="2800" dirty="0">
                  <a:latin typeface="+mj-lt"/>
                </a:endParaRPr>
              </a:p>
            </p:txBody>
          </p:sp>
        </mc:Choice>
        <mc:Fallback>
          <p:sp>
            <p:nvSpPr>
              <p:cNvPr id="2" name="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772816"/>
                <a:ext cx="2139221" cy="52322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557374" y="274638"/>
            <a:ext cx="7372344" cy="1011222"/>
          </a:xfrm>
        </p:spPr>
        <p:txBody>
          <a:bodyPr>
            <a:normAutofit/>
          </a:bodyPr>
          <a:lstStyle/>
          <a:p>
            <a:r>
              <a:rPr lang="es-CO" sz="4200" u="sng" dirty="0" smtClean="0"/>
              <a:t>Notación</a:t>
            </a:r>
            <a:endParaRPr lang="es-ES" sz="4200" u="sng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8" name="17 CuadroTexto"/>
          <p:cNvSpPr txBox="1"/>
          <p:nvPr/>
        </p:nvSpPr>
        <p:spPr>
          <a:xfrm>
            <a:off x="1619672" y="1556792"/>
            <a:ext cx="493782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/>
              <a:t> </a:t>
            </a:r>
            <a:r>
              <a:rPr lang="es-CO" sz="2500" dirty="0" smtClean="0"/>
              <a:t>     </a:t>
            </a:r>
            <a:r>
              <a:rPr lang="es-CO" sz="2500" dirty="0"/>
              <a:t>1</a:t>
            </a:r>
            <a:r>
              <a:rPr lang="es-CO" sz="2500" dirty="0" smtClean="0"/>
              <a:t>    individuo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CO" sz="2500" dirty="0" smtClean="0"/>
              <a:t> recibe tratamiento</a:t>
            </a:r>
            <a:endParaRPr lang="es-ES" sz="250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1619672" y="2060848"/>
            <a:ext cx="297126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/>
              <a:t> </a:t>
            </a:r>
            <a:r>
              <a:rPr lang="es-CO" sz="2500" dirty="0" smtClean="0"/>
              <a:t>      0   de lo contrario</a:t>
            </a:r>
            <a:endParaRPr lang="es-ES" sz="2500" dirty="0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2051720" y="4149080"/>
            <a:ext cx="5604084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50" dirty="0" smtClean="0"/>
              <a:t>variable de resultado para cada individuo  </a:t>
            </a:r>
            <a:r>
              <a:rPr lang="es-CO" sz="2450" i="1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s-CO" sz="2450" dirty="0" smtClean="0"/>
              <a:t>dado su estado     </a:t>
            </a:r>
          </a:p>
          <a:p>
            <a:pPr algn="just"/>
            <a:r>
              <a:rPr lang="es-CO" sz="2450" dirty="0" smtClean="0"/>
              <a:t>           </a:t>
            </a:r>
            <a:endParaRPr lang="es-ES" sz="2450" dirty="0">
              <a:latin typeface="+mj-lt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2000232" y="2643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48" name="47 Abrir llave"/>
          <p:cNvSpPr/>
          <p:nvPr/>
        </p:nvSpPr>
        <p:spPr>
          <a:xfrm>
            <a:off x="1763688" y="4221088"/>
            <a:ext cx="288032" cy="792088"/>
          </a:xfrm>
          <a:prstGeom prst="leftBrace">
            <a:avLst/>
          </a:prstGeom>
          <a:solidFill>
            <a:schemeClr val="bg1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0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3968" y="4581128"/>
            <a:ext cx="300040" cy="428628"/>
          </a:xfrm>
          <a:prstGeom prst="rect">
            <a:avLst/>
          </a:prstGeom>
          <a:noFill/>
        </p:spPr>
      </p:pic>
      <p:sp>
        <p:nvSpPr>
          <p:cNvPr id="41" name="40 CuadroTexto"/>
          <p:cNvSpPr txBox="1"/>
          <p:nvPr/>
        </p:nvSpPr>
        <p:spPr>
          <a:xfrm>
            <a:off x="539552" y="2780928"/>
            <a:ext cx="7947304" cy="1223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50" u="sng" dirty="0" smtClean="0"/>
              <a:t>Definiciones</a:t>
            </a:r>
            <a:r>
              <a:rPr lang="es-MX" sz="2450" dirty="0" smtClean="0"/>
              <a:t>:  </a:t>
            </a:r>
            <a:r>
              <a:rPr lang="es-MX" sz="2450" dirty="0" smtClean="0">
                <a:solidFill>
                  <a:schemeClr val="accent5">
                    <a:lumMod val="75000"/>
                  </a:schemeClr>
                </a:solidFill>
              </a:rPr>
              <a:t>Grupo de tratamiento</a:t>
            </a:r>
            <a:r>
              <a:rPr lang="es-MX" sz="2450" dirty="0" smtClean="0"/>
              <a:t>: Grupo de individuos </a:t>
            </a:r>
          </a:p>
          <a:p>
            <a:r>
              <a:rPr lang="es-MX" sz="2450" dirty="0" smtClean="0"/>
              <a:t>participantes en el tratamiento. </a:t>
            </a:r>
            <a:r>
              <a:rPr lang="es-MX" sz="2450" dirty="0" smtClean="0">
                <a:solidFill>
                  <a:schemeClr val="accent5">
                    <a:lumMod val="75000"/>
                  </a:schemeClr>
                </a:solidFill>
              </a:rPr>
              <a:t>Grupo de control</a:t>
            </a:r>
            <a:r>
              <a:rPr lang="es-MX" sz="2450" dirty="0" smtClean="0"/>
              <a:t>:  Grupo de </a:t>
            </a:r>
          </a:p>
          <a:p>
            <a:r>
              <a:rPr lang="es-MX" sz="2450" dirty="0" smtClean="0"/>
              <a:t>individuos no participantes en el tratamiento.</a:t>
            </a:r>
            <a:endParaRPr lang="es-CO" sz="2450" dirty="0"/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5 Rectángulo"/>
              <p:cNvSpPr/>
              <p:nvPr/>
            </p:nvSpPr>
            <p:spPr>
              <a:xfrm>
                <a:off x="592856" y="4365104"/>
                <a:ext cx="1112228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25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sz="2500" i="1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sz="25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56" y="4365104"/>
                <a:ext cx="1112228" cy="477054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1" name="50 Rectángulo"/>
              <p:cNvSpPr/>
              <p:nvPr/>
            </p:nvSpPr>
            <p:spPr>
              <a:xfrm>
                <a:off x="493784" y="5301208"/>
                <a:ext cx="981872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MX" sz="2500" i="1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51" name="5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84" y="5301208"/>
                <a:ext cx="981872" cy="477054"/>
              </a:xfrm>
              <a:prstGeom prst="rect">
                <a:avLst/>
              </a:prstGeom>
              <a:blipFill rotWithShape="1">
                <a:blip r:embed="rId6" cstate="print"/>
                <a:stretch>
                  <a:fillRect r="-2484" b="-1794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7 Rectángulo"/>
              <p:cNvSpPr/>
              <p:nvPr/>
            </p:nvSpPr>
            <p:spPr>
              <a:xfrm>
                <a:off x="493784" y="5688250"/>
                <a:ext cx="981872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MX" sz="2500" i="1">
                          <a:latin typeface="Cambria Math"/>
                        </a:rPr>
                        <m:t>(0)</m:t>
                      </m:r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8" name="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84" y="5688250"/>
                <a:ext cx="981872" cy="477054"/>
              </a:xfrm>
              <a:prstGeom prst="rect">
                <a:avLst/>
              </a:prstGeom>
              <a:blipFill rotWithShape="1">
                <a:blip r:embed="rId7" cstate="print"/>
                <a:stretch>
                  <a:fillRect r="-2484" b="-1794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42 Abrir llave"/>
          <p:cNvSpPr/>
          <p:nvPr/>
        </p:nvSpPr>
        <p:spPr>
          <a:xfrm>
            <a:off x="1804565" y="1624854"/>
            <a:ext cx="288032" cy="792088"/>
          </a:xfrm>
          <a:prstGeom prst="leftBrace">
            <a:avLst/>
          </a:prstGeom>
          <a:solidFill>
            <a:schemeClr val="bg1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2" name="41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3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714488"/>
            <a:ext cx="8258204" cy="4357718"/>
          </a:xfrm>
          <a:ln w="38100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indent="-288000" algn="just">
              <a:spcBef>
                <a:spcPts val="0"/>
              </a:spcBef>
              <a:buNone/>
            </a:pPr>
            <a:r>
              <a:rPr lang="es-AR" dirty="0" smtClean="0"/>
              <a:t>	</a:t>
            </a:r>
            <a:r>
              <a:rPr lang="es-AR" sz="2500" dirty="0" smtClean="0"/>
              <a:t>Suponga que debemos evaluar el impacto del programa </a:t>
            </a:r>
            <a:r>
              <a:rPr lang="es-AR" sz="2500" i="1" dirty="0" smtClean="0"/>
              <a:t>Canasta</a:t>
            </a:r>
            <a:r>
              <a:rPr lang="es-AR" sz="2500" dirty="0" smtClean="0"/>
              <a:t>, que es un programa de nutrición.</a:t>
            </a:r>
          </a:p>
          <a:p>
            <a:pPr indent="-288000" algn="just"/>
            <a:endParaRPr lang="es-AR" sz="2500" u="sng" dirty="0" smtClean="0"/>
          </a:p>
          <a:p>
            <a:pPr indent="-288000" algn="just"/>
            <a:r>
              <a:rPr lang="es-AR" sz="2500" u="sng" dirty="0" smtClean="0"/>
              <a:t>Población objetivo:</a:t>
            </a:r>
            <a:r>
              <a:rPr lang="es-AR" sz="2500" dirty="0" smtClean="0"/>
              <a:t> Niños entre 0 y 6 años pertenecientes a 			   Sisben1 y 2.</a:t>
            </a:r>
            <a:endParaRPr lang="es-AR" sz="2500" i="1" dirty="0" smtClean="0"/>
          </a:p>
          <a:p>
            <a:pPr indent="-288000" algn="just"/>
            <a:endParaRPr lang="es-AR" sz="2500" u="sng" dirty="0" smtClean="0"/>
          </a:p>
          <a:p>
            <a:pPr indent="-288000" algn="just"/>
            <a:r>
              <a:rPr lang="es-AR" sz="2500" u="sng" dirty="0" smtClean="0"/>
              <a:t>Consiste en:</a:t>
            </a:r>
            <a:r>
              <a:rPr lang="es-AR" sz="2500" dirty="0" smtClean="0"/>
              <a:t> Proveer un mercado mensual por el valor de 		    $X, entregado a las madres de los niños 		  	    participantes.</a:t>
            </a:r>
            <a:endParaRPr lang="es-AR" sz="2500" u="sng" dirty="0" smtClean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141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1 Título"/>
          <p:cNvSpPr txBox="1">
            <a:spLocks/>
          </p:cNvSpPr>
          <p:nvPr/>
        </p:nvSpPr>
        <p:spPr>
          <a:xfrm>
            <a:off x="2386026" y="203200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</a:t>
            </a:r>
            <a:r>
              <a:rPr kumimoji="0" lang="es-ES" sz="44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Canasta</a:t>
            </a:r>
            <a:endParaRPr kumimoji="0" lang="es-AR" sz="44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4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7141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386026" y="203200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</a:t>
            </a:r>
            <a:r>
              <a:rPr kumimoji="0" lang="es-ES" sz="44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Canasta</a:t>
            </a:r>
            <a:endParaRPr kumimoji="0" lang="es-AR" sz="44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7158" y="1428737"/>
            <a:ext cx="8358246" cy="4500594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2880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A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s-AR" sz="25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Indicador</a:t>
            </a:r>
            <a:r>
              <a:rPr kumimoji="0" lang="es-AR" sz="2500" b="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participación definido como</a:t>
            </a:r>
            <a:r>
              <a:rPr kumimoji="0" lang="es-AR" sz="25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lvl="0" indent="-2880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AR" sz="3200" baseline="0" dirty="0" smtClean="0"/>
          </a:p>
          <a:p>
            <a:pPr marL="342900" marR="0" lvl="0" indent="-2880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AR" sz="3200" b="0" i="0" u="sng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2880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AR" sz="3200" u="sng" baseline="0" dirty="0" smtClean="0"/>
          </a:p>
          <a:p>
            <a:pPr marL="342900" marR="0" lvl="0" indent="-2880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AR" sz="3200" b="0" i="0" u="sng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2880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AR" sz="2500" dirty="0" smtClean="0"/>
              <a:t>	</a:t>
            </a:r>
            <a:r>
              <a:rPr lang="es-AR" sz="2500" u="sng" dirty="0" smtClean="0"/>
              <a:t>Variables de resultado: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1388944" y="2348880"/>
            <a:ext cx="699948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dirty="0" smtClean="0"/>
              <a:t>    si el niño elegible participa en el programa de nutrición</a:t>
            </a:r>
            <a:endParaRPr lang="es-AR" sz="2300" dirty="0"/>
          </a:p>
        </p:txBody>
      </p:sp>
      <p:sp>
        <p:nvSpPr>
          <p:cNvPr id="27" name="26 CuadroTexto"/>
          <p:cNvSpPr txBox="1"/>
          <p:nvPr/>
        </p:nvSpPr>
        <p:spPr>
          <a:xfrm>
            <a:off x="1393200" y="2751311"/>
            <a:ext cx="771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300" dirty="0" smtClean="0"/>
              <a:t>    si el niño elegible no participa en el programa de nutrición</a:t>
            </a:r>
            <a:endParaRPr lang="es-AR" sz="2300" dirty="0"/>
          </a:p>
        </p:txBody>
      </p:sp>
      <p:sp>
        <p:nvSpPr>
          <p:cNvPr id="28" name="27 CuadroTexto"/>
          <p:cNvSpPr txBox="1"/>
          <p:nvPr/>
        </p:nvSpPr>
        <p:spPr>
          <a:xfrm>
            <a:off x="1403648" y="4797152"/>
            <a:ext cx="2616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 smtClean="0"/>
              <a:t>Talla según la edad</a:t>
            </a:r>
            <a:endParaRPr lang="es-AR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2" name="31 CuadroTexto"/>
              <p:cNvSpPr txBox="1"/>
              <p:nvPr/>
            </p:nvSpPr>
            <p:spPr>
              <a:xfrm>
                <a:off x="35496" y="2348880"/>
                <a:ext cx="2139221" cy="785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7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27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CO" sz="27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CO" sz="27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CO" sz="2700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CO" sz="27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s-CO" sz="27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s-CO" sz="27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0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CO" sz="2700" dirty="0">
                  <a:latin typeface="+mj-lt"/>
                </a:endParaRPr>
              </a:p>
            </p:txBody>
          </p:sp>
        </mc:Choice>
        <mc:Fallback>
          <p:sp>
            <p:nvSpPr>
              <p:cNvPr id="32" name="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2348880"/>
                <a:ext cx="2139221" cy="785151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3" name="32 CuadroTexto"/>
              <p:cNvSpPr txBox="1"/>
              <p:nvPr/>
            </p:nvSpPr>
            <p:spPr>
              <a:xfrm>
                <a:off x="395536" y="4689140"/>
                <a:ext cx="2139221" cy="654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O" sz="2800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s-CO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s-CO" sz="2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s-CO" sz="2800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O" sz="28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s-CO" sz="28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,</m:t>
                            </m:r>
                          </m:e>
                          <m:e>
                            <m:r>
                              <a:rPr lang="es-CO" sz="28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,</m:t>
                            </m:r>
                          </m:e>
                        </m:eqArr>
                      </m:e>
                    </m:d>
                  </m:oMath>
                </a14:m>
                <a:r>
                  <a:rPr lang="es-CO" sz="2800" dirty="0" smtClean="0">
                    <a:latin typeface="+mj-lt"/>
                  </a:rPr>
                  <a:t> </a:t>
                </a:r>
                <a:endParaRPr lang="es-CO" sz="2800" dirty="0">
                  <a:latin typeface="+mj-lt"/>
                </a:endParaRPr>
              </a:p>
            </p:txBody>
          </p:sp>
        </mc:Choice>
        <mc:Fallback>
          <p:sp>
            <p:nvSpPr>
              <p:cNvPr id="33" name="3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689140"/>
                <a:ext cx="2139221" cy="654923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23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5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186766" cy="4686320"/>
          </a:xfrm>
        </p:spPr>
        <p:txBody>
          <a:bodyPr/>
          <a:lstStyle/>
          <a:p>
            <a:pPr marL="342900" lvl="1" indent="-342900">
              <a:buNone/>
            </a:pPr>
            <a:endParaRPr lang="es-ES" dirty="0" smtClean="0"/>
          </a:p>
          <a:p>
            <a:endParaRPr lang="es-E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7" name="6 Rectángulo"/>
          <p:cNvSpPr/>
          <p:nvPr/>
        </p:nvSpPr>
        <p:spPr>
          <a:xfrm>
            <a:off x="785786" y="1500174"/>
            <a:ext cx="774295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500" dirty="0" smtClean="0"/>
              <a:t>El efecto del tratamiento o programa sobre el individuo </a:t>
            </a:r>
            <a:r>
              <a:rPr lang="es-MX" sz="25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MX" sz="2500" dirty="0" smtClean="0"/>
              <a:t> </a:t>
            </a:r>
          </a:p>
          <a:p>
            <a:r>
              <a:rPr lang="es-MX" sz="2500" dirty="0" smtClean="0"/>
              <a:t>estaría dado por:</a:t>
            </a:r>
            <a:endParaRPr lang="es-CO" sz="2500" dirty="0"/>
          </a:p>
        </p:txBody>
      </p:sp>
      <p:sp>
        <p:nvSpPr>
          <p:cNvPr id="8" name="7 Rectángulo"/>
          <p:cNvSpPr/>
          <p:nvPr/>
        </p:nvSpPr>
        <p:spPr>
          <a:xfrm>
            <a:off x="2500298" y="2571744"/>
            <a:ext cx="3929090" cy="78581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1 Título"/>
          <p:cNvSpPr>
            <a:spLocks noGrp="1"/>
          </p:cNvSpPr>
          <p:nvPr>
            <p:ph type="title"/>
          </p:nvPr>
        </p:nvSpPr>
        <p:spPr>
          <a:xfrm>
            <a:off x="1557374" y="274638"/>
            <a:ext cx="7372344" cy="1011222"/>
          </a:xfrm>
        </p:spPr>
        <p:txBody>
          <a:bodyPr>
            <a:normAutofit/>
          </a:bodyPr>
          <a:lstStyle/>
          <a:p>
            <a:r>
              <a:rPr lang="es-CO" sz="4200" u="sng" dirty="0" smtClean="0"/>
              <a:t>Efecto del tratamiento</a:t>
            </a:r>
            <a:endParaRPr lang="es-ES" sz="4200" u="sng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42910" y="3645024"/>
            <a:ext cx="778674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CO" sz="2500" u="sng" dirty="0" smtClean="0"/>
          </a:p>
          <a:p>
            <a:pPr algn="just"/>
            <a:r>
              <a:rPr lang="es-CO" sz="2500" u="sng" dirty="0" smtClean="0"/>
              <a:t>Problema</a:t>
            </a:r>
            <a:r>
              <a:rPr lang="es-CO" sz="2500" dirty="0" smtClean="0"/>
              <a:t>:	Sólo se puede observar </a:t>
            </a:r>
            <a:r>
              <a:rPr lang="es-CO" sz="2500" b="1" dirty="0" smtClean="0"/>
              <a:t>uno</a:t>
            </a:r>
            <a:r>
              <a:rPr lang="es-CO" sz="2500" dirty="0" smtClean="0"/>
              <a:t> de los dos 			resultados  potenciales  para  cada </a:t>
            </a:r>
          </a:p>
          <a:p>
            <a:pPr algn="just"/>
            <a:r>
              <a:rPr lang="es-CO" sz="2500" dirty="0"/>
              <a:t>	</a:t>
            </a:r>
            <a:r>
              <a:rPr lang="es-CO" sz="2500" dirty="0" smtClean="0"/>
              <a:t>	individuo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CO" sz="2500" dirty="0" smtClean="0"/>
              <a:t> . El individuo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CO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CO" sz="2500" dirty="0" smtClean="0">
                <a:latin typeface="+mj-lt"/>
                <a:cs typeface="Times New Roman" pitchFamily="18" charset="0"/>
              </a:rPr>
              <a:t>sólo puede ser</a:t>
            </a:r>
          </a:p>
          <a:p>
            <a:pPr algn="just"/>
            <a:r>
              <a:rPr lang="es-CO" sz="2500" dirty="0" smtClean="0">
                <a:latin typeface="+mj-lt"/>
                <a:cs typeface="Times New Roman" pitchFamily="18" charset="0"/>
              </a:rPr>
              <a:t>                          participante </a:t>
            </a:r>
            <a:r>
              <a:rPr lang="es-CO" sz="2500" dirty="0" smtClean="0"/>
              <a:t> o no participante, pero </a:t>
            </a:r>
          </a:p>
          <a:p>
            <a:pPr algn="just"/>
            <a:r>
              <a:rPr lang="es-CO" sz="2500" dirty="0" smtClean="0"/>
              <a:t>                          no ambas al tiempo.  	   </a:t>
            </a:r>
            <a:endParaRPr lang="es-ES" sz="2500" dirty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2843808" y="2694982"/>
                <a:ext cx="3253263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30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MX" sz="3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MX" sz="3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3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30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3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3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sz="3000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s-MX" sz="30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s-CO" sz="3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30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3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3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sz="3000" i="1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CO" sz="30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2694982"/>
                <a:ext cx="3253263" cy="553998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15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6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6 Rectángulo"/>
              <p:cNvSpPr/>
              <p:nvPr/>
            </p:nvSpPr>
            <p:spPr>
              <a:xfrm>
                <a:off x="1655676" y="2658978"/>
                <a:ext cx="535980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32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32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MX" sz="32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32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MX" sz="32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O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32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32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sz="3200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s-MX" sz="32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s-CO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sz="3200" i="1"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CO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MX" sz="3200" i="1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sz="32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s-CO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32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32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sz="3200" i="1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CO" sz="3200" dirty="0"/>
              </a:p>
            </p:txBody>
          </p:sp>
        </mc:Choice>
        <mc:Fallback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676" y="2658978"/>
                <a:ext cx="5359801" cy="584775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Rectángulo"/>
          <p:cNvSpPr/>
          <p:nvPr/>
        </p:nvSpPr>
        <p:spPr>
          <a:xfrm>
            <a:off x="755576" y="1571612"/>
            <a:ext cx="746742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500" dirty="0" smtClean="0"/>
              <a:t>El resultado efectivamente observado se puede escribir:</a:t>
            </a:r>
            <a:endParaRPr lang="es-ES" sz="24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1 Título"/>
          <p:cNvSpPr txBox="1">
            <a:spLocks/>
          </p:cNvSpPr>
          <p:nvPr/>
        </p:nvSpPr>
        <p:spPr>
          <a:xfrm>
            <a:off x="1557374" y="274638"/>
            <a:ext cx="7372344" cy="1011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44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2" name="11 CuadroTexto"/>
          <p:cNvSpPr txBox="1"/>
          <p:nvPr/>
        </p:nvSpPr>
        <p:spPr>
          <a:xfrm>
            <a:off x="755576" y="3798048"/>
            <a:ext cx="7072362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CO" sz="2500" dirty="0" smtClean="0"/>
              <a:t>Dado que no se puede obtener el efecto del tratamiento para cada individuo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CO" sz="2500" dirty="0" smtClean="0"/>
              <a:t>. El análisis debe concentrarse en el </a:t>
            </a:r>
            <a:r>
              <a:rPr lang="es-CO" sz="2500" u="sng" dirty="0" smtClean="0"/>
              <a:t>impacto promedio</a:t>
            </a:r>
            <a:r>
              <a:rPr lang="es-CO" sz="2500" dirty="0" smtClean="0"/>
              <a:t> del programa en la población o en subconjuntos de la población.</a:t>
            </a:r>
            <a:endParaRPr lang="es-ES" sz="2500" dirty="0"/>
          </a:p>
        </p:txBody>
      </p:sp>
      <p:sp>
        <p:nvSpPr>
          <p:cNvPr id="9" name="8 Rectángulo"/>
          <p:cNvSpPr/>
          <p:nvPr/>
        </p:nvSpPr>
        <p:spPr>
          <a:xfrm>
            <a:off x="1857356" y="2643182"/>
            <a:ext cx="5357850" cy="71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7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2143116"/>
            <a:ext cx="8215370" cy="4929222"/>
          </a:xfrm>
          <a:noFill/>
          <a:ln>
            <a:noFill/>
          </a:ln>
        </p:spPr>
        <p:txBody>
          <a:bodyPr/>
          <a:lstStyle/>
          <a:p>
            <a:pPr marL="514350" indent="-514350" algn="ctr">
              <a:buNone/>
            </a:pPr>
            <a:r>
              <a:rPr lang="es-CO" sz="25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ATE: </a:t>
            </a:r>
            <a:r>
              <a:rPr lang="es-CO" sz="2500" u="sng" dirty="0" smtClean="0"/>
              <a:t>Efecto promedio del programa</a:t>
            </a:r>
          </a:p>
          <a:p>
            <a:pPr marL="514350" indent="-514350" algn="ctr">
              <a:buNone/>
            </a:pPr>
            <a:endParaRPr lang="es-CO" dirty="0" smtClean="0"/>
          </a:p>
          <a:p>
            <a:pPr marL="514350" indent="-514350" algn="just">
              <a:spcBef>
                <a:spcPts val="500"/>
              </a:spcBef>
            </a:pPr>
            <a:endParaRPr lang="es-CO" sz="2400" dirty="0" smtClean="0"/>
          </a:p>
          <a:p>
            <a:pPr marL="514350" indent="-468000">
              <a:spcBef>
                <a:spcPts val="500"/>
              </a:spcBef>
              <a:buNone/>
            </a:pPr>
            <a:r>
              <a:rPr lang="es-CO" sz="2500" dirty="0" smtClean="0"/>
              <a:t>	Se interpreta como el cambio en la variable resultado cuando un  individuo pasa aleatoriamente de ser participante a ser no participante.</a:t>
            </a:r>
          </a:p>
          <a:p>
            <a:pPr marL="514350" indent="-468000">
              <a:spcBef>
                <a:spcPts val="500"/>
              </a:spcBef>
              <a:buNone/>
            </a:pPr>
            <a:r>
              <a:rPr lang="es-CO" sz="2500" dirty="0" smtClean="0"/>
              <a:t>	Relevante particularmente para la evaluación de programas universales.</a:t>
            </a:r>
          </a:p>
          <a:p>
            <a:pPr marL="514350" indent="-468000" algn="just">
              <a:spcBef>
                <a:spcPts val="0"/>
              </a:spcBef>
              <a:buNone/>
            </a:pPr>
            <a:r>
              <a:rPr lang="es-CO" sz="2400" dirty="0" smtClean="0"/>
              <a:t>	</a:t>
            </a:r>
            <a:endParaRPr lang="es-CO" sz="800" dirty="0" smtClean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1439652" y="2921459"/>
                <a:ext cx="6248057" cy="6155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MX" sz="3400" i="1">
                            <a:latin typeface="Cambria Math"/>
                          </a:rPr>
                          <m:t>𝜏</m:t>
                        </m:r>
                      </m:e>
                      <m:sub>
                        <m:r>
                          <a:rPr lang="es-MX" sz="3400" i="1">
                            <a:latin typeface="Cambria Math"/>
                          </a:rPr>
                          <m:t>𝐴𝑇𝐸</m:t>
                        </m:r>
                      </m:sub>
                    </m:sSub>
                    <m:r>
                      <a:rPr lang="es-MX" sz="3400" i="1">
                        <a:latin typeface="Cambria Math"/>
                      </a:rPr>
                      <m:t>=</m:t>
                    </m:r>
                    <m:r>
                      <a:rPr lang="es-MX" sz="34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s-CO" sz="34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3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MX" sz="3400" i="1">
                                <a:latin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s-MX" sz="34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MX" sz="3400" i="1">
                        <a:latin typeface="Cambria Math"/>
                      </a:rPr>
                      <m:t>=</m:t>
                    </m:r>
                    <m:r>
                      <a:rPr lang="es-MX" sz="3400" i="1">
                        <a:latin typeface="Cambria Math"/>
                      </a:rPr>
                      <m:t>𝐸</m:t>
                    </m:r>
                    <m:r>
                      <a:rPr lang="es-MX" sz="3400" i="1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s-CO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MX" sz="3400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s-MX" sz="3400" i="1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CO" sz="3400" i="1">
                            <a:latin typeface="Cambria Math"/>
                          </a:rPr>
                        </m:ctrlPr>
                      </m:dPr>
                      <m:e>
                        <m:r>
                          <a:rPr lang="es-MX" sz="3400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s-MX" sz="3400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s-CO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MX" sz="3400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s-MX" sz="3400" i="1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CO" sz="3400" i="1">
                            <a:latin typeface="Cambria Math"/>
                          </a:rPr>
                        </m:ctrlPr>
                      </m:dPr>
                      <m:e>
                        <m:r>
                          <a:rPr lang="es-MX" sz="3400" i="1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s-MX" sz="3400" i="1">
                        <a:latin typeface="Cambria Math"/>
                      </a:rPr>
                      <m:t>]</m:t>
                    </m:r>
                  </m:oMath>
                </a14:m>
                <a:r>
                  <a:rPr lang="es-MX" sz="3400" dirty="0"/>
                  <a:t> </a:t>
                </a:r>
                <a:endParaRPr lang="es-CO" sz="34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652" y="2921459"/>
                <a:ext cx="6248057" cy="61555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1557374" y="488952"/>
            <a:ext cx="7372344" cy="101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s-CO" sz="4200" u="sng" dirty="0" smtClean="0">
                <a:latin typeface="+mj-lt"/>
                <a:ea typeface="+mj-ea"/>
                <a:cs typeface="+mj-cs"/>
              </a:rPr>
              <a:t>¿</a:t>
            </a:r>
            <a:r>
              <a:rPr lang="es-CO" sz="4200" u="sng" noProof="0" dirty="0" smtClean="0">
                <a:latin typeface="+mj-lt"/>
                <a:ea typeface="+mj-ea"/>
                <a:cs typeface="+mj-cs"/>
              </a:rPr>
              <a:t>Qué</a:t>
            </a:r>
            <a:r>
              <a:rPr lang="es-CO" sz="4200" u="sng" dirty="0" smtClean="0">
                <a:latin typeface="+mj-lt"/>
                <a:ea typeface="+mj-ea"/>
                <a:cs typeface="+mj-cs"/>
              </a:rPr>
              <a:t> se puede estimar?: </a:t>
            </a:r>
          </a:p>
          <a:p>
            <a:pPr lvl="0" algn="ctr">
              <a:spcBef>
                <a:spcPct val="0"/>
              </a:spcBef>
            </a:pPr>
            <a:r>
              <a:rPr lang="es-CO" sz="4200" u="sng" dirty="0" smtClean="0">
                <a:latin typeface="+mj-lt"/>
                <a:ea typeface="+mj-ea"/>
                <a:cs typeface="+mj-cs"/>
              </a:rPr>
              <a:t>ATE</a:t>
            </a:r>
            <a:endParaRPr kumimoji="0" lang="es-ES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93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" name="19 Rectángulo"/>
          <p:cNvSpPr/>
          <p:nvPr/>
        </p:nvSpPr>
        <p:spPr>
          <a:xfrm>
            <a:off x="1428728" y="2786058"/>
            <a:ext cx="6215106" cy="85725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28" name="27 Grupo"/>
          <p:cNvGrpSpPr/>
          <p:nvPr/>
        </p:nvGrpSpPr>
        <p:grpSpPr>
          <a:xfrm>
            <a:off x="428595" y="3427412"/>
            <a:ext cx="928694" cy="1573224"/>
            <a:chOff x="428595" y="2786058"/>
            <a:chExt cx="928694" cy="1573224"/>
          </a:xfrm>
        </p:grpSpPr>
        <p:cxnSp>
          <p:nvCxnSpPr>
            <p:cNvPr id="29" name="28 Conector recto"/>
            <p:cNvCxnSpPr/>
            <p:nvPr/>
          </p:nvCxnSpPr>
          <p:spPr>
            <a:xfrm rot="10800000">
              <a:off x="428595" y="2786058"/>
              <a:ext cx="928694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 rot="5400000">
              <a:off x="-357222" y="3571876"/>
              <a:ext cx="157163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 de flecha"/>
            <p:cNvCxnSpPr/>
            <p:nvPr/>
          </p:nvCxnSpPr>
          <p:spPr>
            <a:xfrm>
              <a:off x="428596" y="3213098"/>
              <a:ext cx="571504" cy="158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37 Conector recto de flecha"/>
            <p:cNvCxnSpPr/>
            <p:nvPr/>
          </p:nvCxnSpPr>
          <p:spPr>
            <a:xfrm>
              <a:off x="428596" y="4357694"/>
              <a:ext cx="571504" cy="158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20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8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CuadroTexto"/>
          <p:cNvSpPr txBox="1"/>
          <p:nvPr/>
        </p:nvSpPr>
        <p:spPr>
          <a:xfrm>
            <a:off x="827584" y="3645024"/>
            <a:ext cx="7416824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s-CO" sz="2500" dirty="0" smtClean="0"/>
              <a:t>                               como el promedio de la variable de resultado de individuos tratados si no hubieran participado en el tratamiento. Es decir, cómo les habría ido en el escenario </a:t>
            </a:r>
            <a:r>
              <a:rPr lang="es-CO" sz="2500" dirty="0" smtClean="0">
                <a:solidFill>
                  <a:srgbClr val="0070C0"/>
                </a:solidFill>
              </a:rPr>
              <a:t>hipotético</a:t>
            </a:r>
            <a:r>
              <a:rPr lang="es-CO" sz="2500" dirty="0" smtClean="0"/>
              <a:t> de que el programa no hubiera existido.</a:t>
            </a:r>
            <a:endParaRPr lang="es-ES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2 Rectángulo"/>
              <p:cNvSpPr/>
              <p:nvPr/>
            </p:nvSpPr>
            <p:spPr>
              <a:xfrm>
                <a:off x="755576" y="3609020"/>
                <a:ext cx="2410853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500" i="1">
                          <a:latin typeface="Cambria Math"/>
                        </a:rPr>
                        <m:t>𝐸</m:t>
                      </m:r>
                      <m:r>
                        <a:rPr lang="es-ES" sz="2500" i="1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5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ES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500" i="1">
                          <a:latin typeface="Cambria Math"/>
                        </a:rPr>
                        <m:t>(0)|</m:t>
                      </m:r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5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ES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500" i="1">
                          <a:latin typeface="Cambria Math"/>
                        </a:rPr>
                        <m:t>=1]</m:t>
                      </m:r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609020"/>
                <a:ext cx="2410853" cy="47705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r="-759" b="-1923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36 CuadroTexto"/>
          <p:cNvSpPr txBox="1"/>
          <p:nvPr/>
        </p:nvSpPr>
        <p:spPr>
          <a:xfrm>
            <a:off x="755576" y="2348880"/>
            <a:ext cx="7272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s-CO" sz="2500" dirty="0" smtClean="0"/>
              <a:t>                                como el promedio de la variable de resultado de individuos tratados dado que participaron en el programa.</a:t>
            </a:r>
            <a:endParaRPr lang="es-ES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755576" y="2375882"/>
                <a:ext cx="2411301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5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5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ES" sz="25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sSub>
                            <m:sSub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ES" sz="25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2500" i="1">
                              <a:latin typeface="Cambria Math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375882"/>
                <a:ext cx="2411301" cy="4770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1557374" y="274638"/>
            <a:ext cx="7372344" cy="101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s-CO" sz="4200" u="sng" noProof="0" dirty="0" smtClean="0">
                <a:latin typeface="+mj-lt"/>
                <a:ea typeface="+mj-ea"/>
                <a:cs typeface="+mj-cs"/>
              </a:rPr>
              <a:t>¿Qué</a:t>
            </a:r>
            <a:r>
              <a:rPr lang="es-CO" sz="4200" u="sng" dirty="0" smtClean="0">
                <a:latin typeface="+mj-lt"/>
                <a:ea typeface="+mj-ea"/>
                <a:cs typeface="+mj-cs"/>
              </a:rPr>
              <a:t> se puede estimar?:</a:t>
            </a:r>
          </a:p>
          <a:p>
            <a:pPr lvl="0" algn="ctr">
              <a:spcBef>
                <a:spcPct val="0"/>
              </a:spcBef>
            </a:pPr>
            <a:r>
              <a:rPr kumimoji="0" lang="es-CO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ATT</a:t>
            </a:r>
            <a:endParaRPr kumimoji="0" lang="es-ES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755576" y="1916832"/>
            <a:ext cx="111960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Defina:</a:t>
            </a:r>
            <a:endParaRPr lang="es-ES" sz="2500" dirty="0"/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1475656" y="1484784"/>
            <a:ext cx="633670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22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ATT: </a:t>
            </a:r>
            <a:r>
              <a:rPr lang="es-CO" sz="2200" u="sng" dirty="0" smtClean="0"/>
              <a:t>Efecto promedio del programa sobre los tratados</a:t>
            </a:r>
            <a:endParaRPr lang="es-CO" sz="2200" dirty="0" smtClean="0"/>
          </a:p>
        </p:txBody>
      </p:sp>
      <p:sp>
        <p:nvSpPr>
          <p:cNvPr id="29" name="28 CuadroTexto"/>
          <p:cNvSpPr txBox="1"/>
          <p:nvPr/>
        </p:nvSpPr>
        <p:spPr>
          <a:xfrm>
            <a:off x="2195736" y="5877272"/>
            <a:ext cx="554273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300" b="1" dirty="0" smtClean="0">
                <a:solidFill>
                  <a:srgbClr val="0070C0"/>
                </a:solidFill>
              </a:rPr>
              <a:t>Resultado CONTRAFACTUAL / no se observa</a:t>
            </a:r>
            <a:endParaRPr lang="es-CO" sz="2300" b="1" dirty="0">
              <a:solidFill>
                <a:srgbClr val="0070C0"/>
              </a:solidFill>
            </a:endParaRPr>
          </a:p>
        </p:txBody>
      </p:sp>
      <p:sp>
        <p:nvSpPr>
          <p:cNvPr id="30" name="29 Flecha abajo"/>
          <p:cNvSpPr/>
          <p:nvPr/>
        </p:nvSpPr>
        <p:spPr>
          <a:xfrm>
            <a:off x="4211960" y="5589240"/>
            <a:ext cx="28803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31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9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158" y="1500174"/>
            <a:ext cx="8501122" cy="4857784"/>
          </a:xfrm>
          <a:ln>
            <a:noFill/>
          </a:ln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s-CO" sz="25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ATT: </a:t>
            </a:r>
            <a:r>
              <a:rPr lang="es-CO" sz="2500" u="sng" dirty="0" smtClean="0"/>
              <a:t>Efecto promedio del programa sobre los tratados</a:t>
            </a:r>
            <a:endParaRPr lang="es-CO" sz="2500" dirty="0" smtClean="0"/>
          </a:p>
          <a:p>
            <a:pPr algn="ctr">
              <a:buNone/>
            </a:pPr>
            <a:endParaRPr lang="es-CO" dirty="0" smtClean="0"/>
          </a:p>
          <a:p>
            <a:pPr algn="ctr">
              <a:buNone/>
            </a:pPr>
            <a:endParaRPr lang="es-CO" dirty="0" smtClean="0"/>
          </a:p>
          <a:p>
            <a:pPr>
              <a:buNone/>
            </a:pPr>
            <a:r>
              <a:rPr lang="es-CO" dirty="0" smtClean="0"/>
              <a:t>	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sz="2600" dirty="0" smtClean="0"/>
              <a:t>	</a:t>
            </a:r>
            <a:r>
              <a:rPr lang="es-CO" sz="2500" dirty="0" smtClean="0"/>
              <a:t>Mide el impacto del programa sobre los tratados (el subconjunto de individuos que fueron efectivamente tratados).</a:t>
            </a:r>
          </a:p>
          <a:p>
            <a:pPr>
              <a:buNone/>
            </a:pPr>
            <a:r>
              <a:rPr lang="es-CO" sz="2500" dirty="0" smtClean="0"/>
              <a:t>	Parámetro de mayor interés en la evaluación de impacto, porque la mayoría de programas son focalizados y no universales.</a:t>
            </a:r>
          </a:p>
          <a:p>
            <a:pPr>
              <a:buNone/>
            </a:pPr>
            <a:endParaRPr lang="es-E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1557374" y="274638"/>
            <a:ext cx="7372344" cy="101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s-CO" sz="4200" u="sng" noProof="0" dirty="0" smtClean="0">
                <a:latin typeface="+mj-lt"/>
                <a:ea typeface="+mj-ea"/>
                <a:cs typeface="+mj-cs"/>
              </a:rPr>
              <a:t>¿Qué</a:t>
            </a:r>
            <a:r>
              <a:rPr lang="es-CO" sz="4200" u="sng" dirty="0" smtClean="0">
                <a:latin typeface="+mj-lt"/>
                <a:ea typeface="+mj-ea"/>
                <a:cs typeface="+mj-cs"/>
              </a:rPr>
              <a:t> se puede estimar?:</a:t>
            </a:r>
          </a:p>
          <a:p>
            <a:pPr lvl="0" algn="ctr">
              <a:spcBef>
                <a:spcPct val="0"/>
              </a:spcBef>
            </a:pPr>
            <a:r>
              <a:rPr kumimoji="0" lang="es-CO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ATT</a:t>
            </a:r>
            <a:endParaRPr kumimoji="0" lang="es-ES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714348" y="2285992"/>
            <a:ext cx="7786742" cy="71438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1" name="30 Conector recto"/>
          <p:cNvCxnSpPr/>
          <p:nvPr/>
        </p:nvCxnSpPr>
        <p:spPr>
          <a:xfrm rot="16200000" flipH="1">
            <a:off x="-1204124" y="4061588"/>
            <a:ext cx="2874050" cy="3723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>
            <a:off x="251520" y="4293096"/>
            <a:ext cx="571504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251520" y="5517232"/>
            <a:ext cx="571504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9" name="38 Conector recto"/>
          <p:cNvCxnSpPr>
            <a:endCxn id="21" idx="1"/>
          </p:cNvCxnSpPr>
          <p:nvPr/>
        </p:nvCxnSpPr>
        <p:spPr>
          <a:xfrm>
            <a:off x="214282" y="2643182"/>
            <a:ext cx="500066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CuadroTexto"/>
          <p:cNvSpPr txBox="1"/>
          <p:nvPr/>
        </p:nvSpPr>
        <p:spPr>
          <a:xfrm>
            <a:off x="6084168" y="3198748"/>
            <a:ext cx="230377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300" dirty="0" smtClean="0">
                <a:solidFill>
                  <a:srgbClr val="0070C0"/>
                </a:solidFill>
              </a:rPr>
              <a:t>CONTRAFACTUAL</a:t>
            </a:r>
            <a:endParaRPr lang="es-CO" sz="2300" dirty="0">
              <a:solidFill>
                <a:srgbClr val="0070C0"/>
              </a:solidFill>
            </a:endParaRPr>
          </a:p>
        </p:txBody>
      </p:sp>
      <p:sp>
        <p:nvSpPr>
          <p:cNvPr id="41" name="40 Flecha abajo"/>
          <p:cNvSpPr/>
          <p:nvPr/>
        </p:nvSpPr>
        <p:spPr>
          <a:xfrm>
            <a:off x="6948264" y="2996952"/>
            <a:ext cx="28803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598453" y="2384884"/>
                <a:ext cx="8078003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ES" sz="2400" i="1">
                              <a:latin typeface="Cambria Math"/>
                            </a:rPr>
                            <m:t>𝐴𝑇𝑇</m:t>
                          </m:r>
                        </m:sub>
                      </m:sSub>
                      <m:r>
                        <a:rPr lang="es-ES" sz="2400" i="1">
                          <a:latin typeface="Cambria Math"/>
                        </a:rPr>
                        <m:t>=</m:t>
                      </m:r>
                      <m:r>
                        <a:rPr lang="es-ES" sz="24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s-CO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i="1">
                              <a:latin typeface="Cambria Math"/>
                            </a:rPr>
                            <m:t>𝜏</m:t>
                          </m:r>
                        </m:e>
                        <m:e>
                          <m:r>
                            <a:rPr lang="es-CO" sz="24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4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ES" sz="2400" i="1">
                          <a:latin typeface="Cambria Math"/>
                        </a:rPr>
                        <m:t>=</m:t>
                      </m:r>
                      <m:r>
                        <a:rPr lang="es-ES" sz="24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4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4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ES" sz="2400" i="1">
                          <a:latin typeface="Cambria Math"/>
                        </a:rPr>
                        <m:t>−</m:t>
                      </m:r>
                      <m:r>
                        <a:rPr lang="es-ES" sz="2400" i="1">
                          <a:latin typeface="Cambria Math"/>
                        </a:rPr>
                        <m:t>𝐸</m:t>
                      </m:r>
                      <m:r>
                        <a:rPr lang="es-ES" sz="2400" i="1">
                          <a:latin typeface="Cambria Math"/>
                        </a:rPr>
                        <m:t>[</m:t>
                      </m:r>
                      <m:r>
                        <a:rPr lang="es-CO" sz="2400" b="0" i="1" smtClean="0">
                          <a:latin typeface="Cambria Math"/>
                        </a:rPr>
                        <m:t>𝑌</m:t>
                      </m:r>
                      <m:r>
                        <a:rPr lang="es-ES" sz="2400" i="1">
                          <a:latin typeface="Cambria Math"/>
                        </a:rPr>
                        <m:t>(0)|</m:t>
                      </m:r>
                      <m:r>
                        <a:rPr lang="es-CO" sz="2400" b="0" i="1" smtClean="0">
                          <a:latin typeface="Cambria Math"/>
                        </a:rPr>
                        <m:t>𝐷</m:t>
                      </m:r>
                      <m:r>
                        <a:rPr lang="es-ES" sz="2400" i="1">
                          <a:latin typeface="Cambria Math"/>
                        </a:rPr>
                        <m:t>=1]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53" y="2384884"/>
                <a:ext cx="8078003" cy="4770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33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10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36 CuadroTexto"/>
          <p:cNvSpPr txBox="1"/>
          <p:nvPr/>
        </p:nvSpPr>
        <p:spPr>
          <a:xfrm>
            <a:off x="755576" y="2348880"/>
            <a:ext cx="7272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s-CO" sz="2500" dirty="0" smtClean="0"/>
              <a:t>                               como el promedio de la variable de resultado de individuos no tratados dado que  no participaron en el programa.</a:t>
            </a:r>
            <a:endParaRPr lang="es-ES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2 Rectángulo"/>
              <p:cNvSpPr/>
              <p:nvPr/>
            </p:nvSpPr>
            <p:spPr>
              <a:xfrm>
                <a:off x="683568" y="2375882"/>
                <a:ext cx="2410853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500" i="1">
                          <a:latin typeface="Cambria Math"/>
                        </a:rPr>
                        <m:t>𝐸</m:t>
                      </m:r>
                      <m:r>
                        <a:rPr lang="es-ES" sz="2500" i="1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5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ES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500" i="1">
                          <a:latin typeface="Cambria Math"/>
                        </a:rPr>
                        <m:t>(0)|</m:t>
                      </m:r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5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ES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500" i="1">
                          <a:latin typeface="Cambria Math"/>
                        </a:rPr>
                        <m:t>=0]</m:t>
                      </m:r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375882"/>
                <a:ext cx="2410853" cy="47705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r="-758" b="-1923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1557374" y="274638"/>
            <a:ext cx="7372344" cy="101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s-CO" sz="4200" u="sng" noProof="0" dirty="0" smtClean="0">
                <a:latin typeface="+mj-lt"/>
                <a:ea typeface="+mj-ea"/>
                <a:cs typeface="+mj-cs"/>
              </a:rPr>
              <a:t>¿Qué</a:t>
            </a:r>
            <a:r>
              <a:rPr lang="es-CO" sz="4200" u="sng" dirty="0" smtClean="0">
                <a:latin typeface="+mj-lt"/>
                <a:ea typeface="+mj-ea"/>
                <a:cs typeface="+mj-cs"/>
              </a:rPr>
              <a:t> se puede estimar?:</a:t>
            </a:r>
          </a:p>
          <a:p>
            <a:pPr lvl="0" algn="ctr">
              <a:spcBef>
                <a:spcPct val="0"/>
              </a:spcBef>
            </a:pPr>
            <a:r>
              <a:rPr kumimoji="0" lang="es-CO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ATU</a:t>
            </a:r>
            <a:endParaRPr kumimoji="0" lang="es-ES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755576" y="1916832"/>
            <a:ext cx="111960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Defina:</a:t>
            </a:r>
            <a:endParaRPr lang="es-ES" sz="2500" dirty="0"/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5" name="24 CuadroTexto"/>
          <p:cNvSpPr txBox="1"/>
          <p:nvPr/>
        </p:nvSpPr>
        <p:spPr>
          <a:xfrm>
            <a:off x="827584" y="3645024"/>
            <a:ext cx="7416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s-CO" sz="2500" dirty="0" smtClean="0"/>
              <a:t>                              como el promedio de la variable de resultado de individuos no tratados si  hubieran  podido participar en el tratamiento. </a:t>
            </a:r>
            <a:endParaRPr lang="es-ES" sz="2500" dirty="0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1403648" y="1484784"/>
            <a:ext cx="69847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22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ATU: </a:t>
            </a:r>
            <a:r>
              <a:rPr lang="es-CO" sz="2200" u="sng" dirty="0" smtClean="0"/>
              <a:t>Efecto promedio del programa sobre los no tratados</a:t>
            </a:r>
            <a:endParaRPr lang="es-CO" sz="2200" dirty="0" smtClean="0"/>
          </a:p>
        </p:txBody>
      </p:sp>
      <p:sp>
        <p:nvSpPr>
          <p:cNvPr id="29" name="28 CuadroTexto"/>
          <p:cNvSpPr txBox="1"/>
          <p:nvPr/>
        </p:nvSpPr>
        <p:spPr>
          <a:xfrm>
            <a:off x="1835696" y="5373216"/>
            <a:ext cx="554273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300" b="1" dirty="0" smtClean="0">
                <a:solidFill>
                  <a:srgbClr val="0070C0"/>
                </a:solidFill>
              </a:rPr>
              <a:t>Resultado CONTRAFACTUAL / no se observa</a:t>
            </a:r>
            <a:endParaRPr lang="es-CO" sz="2300" b="1" dirty="0">
              <a:solidFill>
                <a:srgbClr val="0070C0"/>
              </a:solidFill>
            </a:endParaRPr>
          </a:p>
        </p:txBody>
      </p:sp>
      <p:sp>
        <p:nvSpPr>
          <p:cNvPr id="30" name="29 Flecha abajo"/>
          <p:cNvSpPr/>
          <p:nvPr/>
        </p:nvSpPr>
        <p:spPr>
          <a:xfrm>
            <a:off x="4572000" y="5013176"/>
            <a:ext cx="28803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5 Rectángulo"/>
              <p:cNvSpPr/>
              <p:nvPr/>
            </p:nvSpPr>
            <p:spPr>
              <a:xfrm>
                <a:off x="684535" y="3672026"/>
                <a:ext cx="2411301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5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5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ES" sz="25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sSub>
                            <m:sSub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ES" sz="25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2500" i="1">
                              <a:latin typeface="Cambria Math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5" y="3672026"/>
                <a:ext cx="2411301" cy="477054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33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11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71472" y="1522974"/>
            <a:ext cx="8115328" cy="4786346"/>
          </a:xfrm>
          <a:ln>
            <a:noFill/>
          </a:ln>
        </p:spPr>
        <p:txBody>
          <a:bodyPr>
            <a:normAutofit/>
          </a:bodyPr>
          <a:lstStyle/>
          <a:p>
            <a:pPr algn="ctr">
              <a:buNone/>
            </a:pPr>
            <a:r>
              <a:rPr lang="es-ES" sz="25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ATU: </a:t>
            </a:r>
            <a:r>
              <a:rPr lang="es-ES" sz="2500" u="sng" dirty="0" smtClean="0"/>
              <a:t>Efecto promedio del tratamiento sobre los no tratados</a:t>
            </a:r>
          </a:p>
          <a:p>
            <a:pPr algn="ctr"/>
            <a:endParaRPr lang="es-ES" dirty="0"/>
          </a:p>
          <a:p>
            <a:pPr algn="just">
              <a:buNone/>
            </a:pPr>
            <a:endParaRPr lang="es-ES" sz="2500" dirty="0" smtClean="0"/>
          </a:p>
          <a:p>
            <a:pPr algn="just">
              <a:buNone/>
            </a:pPr>
            <a:endParaRPr lang="es-AR" sz="2500" dirty="0" smtClean="0"/>
          </a:p>
          <a:p>
            <a:pPr algn="just">
              <a:buNone/>
            </a:pPr>
            <a:r>
              <a:rPr lang="es-ES" sz="2500" dirty="0" smtClean="0"/>
              <a:t>	</a:t>
            </a:r>
          </a:p>
          <a:p>
            <a:pPr>
              <a:buNone/>
            </a:pPr>
            <a:r>
              <a:rPr lang="es-ES" sz="2500" dirty="0" smtClean="0"/>
              <a:t>	Parámetro relevante para determinar si el programa se debe extender a otros subconjuntos de población fuera del que en la actualidad es elegible.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647564" y="2600908"/>
                <a:ext cx="8106124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𝐴𝑇𝑈</m:t>
                          </m:r>
                        </m:sub>
                      </m:sSub>
                      <m:r>
                        <a:rPr lang="es-MX" sz="2500" i="1">
                          <a:latin typeface="Cambria Math"/>
                        </a:rPr>
                        <m:t>=</m:t>
                      </m:r>
                      <m:r>
                        <a:rPr lang="es-ES" sz="25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s-CO" sz="25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500" i="1">
                              <a:latin typeface="Cambria Math"/>
                            </a:rPr>
                            <m:t>𝜏</m:t>
                          </m:r>
                        </m:e>
                        <m:e>
                          <m:r>
                            <a:rPr lang="es-CO" sz="25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500" i="1">
                              <a:latin typeface="Cambria Math"/>
                            </a:rPr>
                            <m:t>=0</m:t>
                          </m:r>
                        </m:e>
                      </m:d>
                      <m:r>
                        <a:rPr lang="es-ES" sz="2500" i="1">
                          <a:latin typeface="Cambria Math"/>
                        </a:rPr>
                        <m:t>=</m:t>
                      </m:r>
                      <m:r>
                        <a:rPr lang="es-ES" sz="25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5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5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5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500" i="1">
                              <a:latin typeface="Cambria Math"/>
                            </a:rPr>
                            <m:t>=0</m:t>
                          </m:r>
                        </m:e>
                      </m:d>
                      <m:r>
                        <a:rPr lang="es-ES" sz="2500" i="1">
                          <a:latin typeface="Cambria Math"/>
                        </a:rPr>
                        <m:t>−</m:t>
                      </m:r>
                      <m:r>
                        <a:rPr lang="es-ES" sz="2500" i="1">
                          <a:latin typeface="Cambria Math"/>
                        </a:rPr>
                        <m:t>𝐸</m:t>
                      </m:r>
                      <m:r>
                        <a:rPr lang="es-ES" sz="2500" i="1">
                          <a:latin typeface="Cambria Math"/>
                        </a:rPr>
                        <m:t>[</m:t>
                      </m:r>
                      <m:r>
                        <a:rPr lang="es-CO" sz="2500" b="0" i="1" smtClean="0">
                          <a:latin typeface="Cambria Math"/>
                        </a:rPr>
                        <m:t>𝑌</m:t>
                      </m:r>
                      <m:r>
                        <a:rPr lang="es-CO" sz="2500" i="1" smtClean="0">
                          <a:latin typeface="Cambria Math"/>
                        </a:rPr>
                        <m:t> </m:t>
                      </m:r>
                      <m:r>
                        <a:rPr lang="es-ES" sz="2500" i="1">
                          <a:latin typeface="Cambria Math"/>
                        </a:rPr>
                        <m:t>(0)|</m:t>
                      </m:r>
                      <m:r>
                        <a:rPr lang="es-CO" sz="2500" b="0" i="1" smtClean="0">
                          <a:latin typeface="Cambria Math"/>
                        </a:rPr>
                        <m:t>𝐷</m:t>
                      </m:r>
                      <m:r>
                        <a:rPr lang="es-ES" sz="2500" i="1">
                          <a:latin typeface="Cambria Math"/>
                        </a:rPr>
                        <m:t>=0]</m:t>
                      </m:r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64" y="2600908"/>
                <a:ext cx="8106124" cy="47705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8" name="17 Rectángulo"/>
          <p:cNvSpPr/>
          <p:nvPr/>
        </p:nvSpPr>
        <p:spPr>
          <a:xfrm>
            <a:off x="642910" y="2500306"/>
            <a:ext cx="8072494" cy="71438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2" name="31 Conector recto"/>
          <p:cNvCxnSpPr/>
          <p:nvPr/>
        </p:nvCxnSpPr>
        <p:spPr>
          <a:xfrm rot="10800000">
            <a:off x="285720" y="2928934"/>
            <a:ext cx="35719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/>
          <p:nvPr/>
        </p:nvCxnSpPr>
        <p:spPr>
          <a:xfrm>
            <a:off x="323528" y="4437112"/>
            <a:ext cx="571504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5" name="1 Título"/>
          <p:cNvSpPr txBox="1">
            <a:spLocks/>
          </p:cNvSpPr>
          <p:nvPr/>
        </p:nvSpPr>
        <p:spPr>
          <a:xfrm>
            <a:off x="1557374" y="274638"/>
            <a:ext cx="7372344" cy="101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s-CO" sz="4200" u="sng" noProof="0" dirty="0" smtClean="0">
                <a:latin typeface="+mj-lt"/>
                <a:ea typeface="+mj-ea"/>
                <a:cs typeface="+mj-cs"/>
              </a:rPr>
              <a:t>¿Qué</a:t>
            </a:r>
            <a:r>
              <a:rPr lang="es-CO" sz="4200" u="sng" dirty="0" smtClean="0">
                <a:latin typeface="+mj-lt"/>
                <a:ea typeface="+mj-ea"/>
                <a:cs typeface="+mj-cs"/>
              </a:rPr>
              <a:t> se puede estimar?:</a:t>
            </a:r>
          </a:p>
          <a:p>
            <a:pPr lvl="0" algn="ctr">
              <a:spcBef>
                <a:spcPct val="0"/>
              </a:spcBef>
            </a:pPr>
            <a:r>
              <a:rPr kumimoji="0" lang="es-CO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ATU</a:t>
            </a:r>
            <a:endParaRPr kumimoji="0" lang="es-ES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31" name="30 Conector recto"/>
          <p:cNvCxnSpPr/>
          <p:nvPr/>
        </p:nvCxnSpPr>
        <p:spPr>
          <a:xfrm rot="5400000">
            <a:off x="-432556" y="3681028"/>
            <a:ext cx="1512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CuadroTexto"/>
          <p:cNvSpPr txBox="1"/>
          <p:nvPr/>
        </p:nvSpPr>
        <p:spPr>
          <a:xfrm>
            <a:off x="3923928" y="3414772"/>
            <a:ext cx="230377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300" dirty="0" smtClean="0">
                <a:solidFill>
                  <a:srgbClr val="0070C0"/>
                </a:solidFill>
              </a:rPr>
              <a:t>CONTRAFACTUAL</a:t>
            </a:r>
            <a:endParaRPr lang="es-CO" sz="2300" dirty="0">
              <a:solidFill>
                <a:srgbClr val="0070C0"/>
              </a:solidFill>
            </a:endParaRPr>
          </a:p>
        </p:txBody>
      </p:sp>
      <p:sp>
        <p:nvSpPr>
          <p:cNvPr id="37" name="36 Flecha abajo"/>
          <p:cNvSpPr/>
          <p:nvPr/>
        </p:nvSpPr>
        <p:spPr>
          <a:xfrm>
            <a:off x="4788024" y="3212976"/>
            <a:ext cx="28803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23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12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785926"/>
            <a:ext cx="8358246" cy="428628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ES" sz="2500" dirty="0" smtClean="0"/>
              <a:t>     Para calcular ATT y ATU se debe encontrar una aproximación para el </a:t>
            </a:r>
            <a:r>
              <a:rPr lang="es-ES" sz="2500" i="1" dirty="0" smtClean="0"/>
              <a:t>contrafactual</a:t>
            </a:r>
            <a:r>
              <a:rPr lang="es-ES" sz="2500" dirty="0" smtClean="0"/>
              <a:t>.</a:t>
            </a:r>
          </a:p>
          <a:p>
            <a:pPr>
              <a:spcBef>
                <a:spcPts val="0"/>
              </a:spcBef>
              <a:buNone/>
            </a:pPr>
            <a:endParaRPr lang="es-ES" sz="2500" dirty="0"/>
          </a:p>
          <a:p>
            <a:pPr lvl="1">
              <a:buNone/>
            </a:pPr>
            <a:endParaRPr lang="es-ES" sz="2500" dirty="0"/>
          </a:p>
          <a:p>
            <a:pPr lvl="1">
              <a:buNone/>
            </a:pPr>
            <a:endParaRPr lang="es-ES" sz="2500" dirty="0" smtClean="0"/>
          </a:p>
          <a:p>
            <a:pPr lvl="1">
              <a:buNone/>
            </a:pPr>
            <a:r>
              <a:rPr lang="es-ES" sz="2500" dirty="0" smtClean="0"/>
              <a:t>	Podría ser una aproximación inexacta, dado que quienes participan en el programa, en general, son distintos de quienes no lo hacen; por lo tanto, la variable de resultado suele ser distinta entre el grupo de control y el de tratamiento, </a:t>
            </a:r>
            <a:r>
              <a:rPr lang="es-ES" sz="2500" u="sng" dirty="0" smtClean="0"/>
              <a:t>aun en ausencia </a:t>
            </a:r>
            <a:r>
              <a:rPr lang="es-ES" sz="2500" dirty="0" smtClean="0"/>
              <a:t>del programa.</a:t>
            </a:r>
            <a:endParaRPr lang="es-AR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0" name="29 Rectángulo"/>
              <p:cNvSpPr/>
              <p:nvPr/>
            </p:nvSpPr>
            <p:spPr>
              <a:xfrm>
                <a:off x="1797349" y="3248980"/>
                <a:ext cx="5579413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0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30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3000" b="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30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30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30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ES" sz="3000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s-ES" sz="3000" i="1">
                          <a:latin typeface="Cambria Math"/>
                        </a:rPr>
                        <m:t>𝐸</m:t>
                      </m:r>
                      <m:r>
                        <a:rPr lang="es-ES" sz="3000" i="1">
                          <a:latin typeface="Cambria Math"/>
                        </a:rPr>
                        <m:t>[</m:t>
                      </m:r>
                      <m:r>
                        <a:rPr lang="es-CO" sz="3000" i="1">
                          <a:latin typeface="Cambria Math"/>
                        </a:rPr>
                        <m:t>𝑌</m:t>
                      </m:r>
                      <m:r>
                        <a:rPr lang="es-ES" sz="3000" i="1">
                          <a:latin typeface="Cambria Math"/>
                        </a:rPr>
                        <m:t>(0)|</m:t>
                      </m:r>
                      <m:r>
                        <a:rPr lang="es-CO" sz="3000" i="1">
                          <a:latin typeface="Cambria Math"/>
                        </a:rPr>
                        <m:t>𝐷</m:t>
                      </m:r>
                      <m:r>
                        <a:rPr lang="es-ES" sz="3000" i="1" smtClean="0">
                          <a:latin typeface="Cambria Math"/>
                        </a:rPr>
                        <m:t>=</m:t>
                      </m:r>
                      <m:r>
                        <a:rPr lang="es-CO" sz="3000" b="0" i="1" smtClean="0">
                          <a:latin typeface="Cambria Math"/>
                        </a:rPr>
                        <m:t>0</m:t>
                      </m:r>
                      <m:r>
                        <a:rPr lang="es-ES" sz="3000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s-CO" sz="3000" dirty="0"/>
              </a:p>
            </p:txBody>
          </p:sp>
        </mc:Choice>
        <mc:Fallback>
          <p:sp>
            <p:nvSpPr>
              <p:cNvPr id="30" name="2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49" y="3248980"/>
                <a:ext cx="5579413" cy="55399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14290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785786" y="2571744"/>
            <a:ext cx="1428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s-ES" sz="2500" u="sng" dirty="0" smtClean="0"/>
              <a:t>Para ATT</a:t>
            </a:r>
            <a:r>
              <a:rPr lang="es-ES" sz="2500" dirty="0" smtClean="0"/>
              <a:t>:</a:t>
            </a:r>
            <a:endParaRPr lang="es-ES" dirty="0"/>
          </a:p>
        </p:txBody>
      </p:sp>
      <p:sp>
        <p:nvSpPr>
          <p:cNvPr id="23" name="1 Título"/>
          <p:cNvSpPr txBox="1">
            <a:spLocks/>
          </p:cNvSpPr>
          <p:nvPr/>
        </p:nvSpPr>
        <p:spPr>
          <a:xfrm>
            <a:off x="1557374" y="274638"/>
            <a:ext cx="7372344" cy="1225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s-CO" sz="4200" u="sng" dirty="0" smtClean="0">
                <a:latin typeface="+mj-lt"/>
                <a:ea typeface="+mj-ea"/>
                <a:cs typeface="+mj-cs"/>
              </a:rPr>
              <a:t>Aproximación  al </a:t>
            </a:r>
          </a:p>
          <a:p>
            <a:pPr lvl="0" algn="ctr">
              <a:spcBef>
                <a:spcPct val="0"/>
              </a:spcBef>
            </a:pPr>
            <a:r>
              <a:rPr lang="es-CO" sz="4200" i="1" u="sng" dirty="0" smtClean="0">
                <a:latin typeface="+mj-lt"/>
                <a:ea typeface="+mj-ea"/>
                <a:cs typeface="+mj-cs"/>
              </a:rPr>
              <a:t>contrafactual</a:t>
            </a:r>
            <a:endParaRPr kumimoji="0" lang="es-ES" sz="42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24" name="23 Conector recto"/>
          <p:cNvCxnSpPr/>
          <p:nvPr/>
        </p:nvCxnSpPr>
        <p:spPr>
          <a:xfrm rot="10800000">
            <a:off x="928662" y="3500438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rot="5400000">
            <a:off x="607191" y="3821909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>
            <a:off x="928662" y="4143380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4572000" y="3000372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 smtClean="0"/>
              <a:t>?</a:t>
            </a:r>
            <a:endParaRPr lang="es-CO" sz="2400" dirty="0"/>
          </a:p>
        </p:txBody>
      </p:sp>
      <p:sp>
        <p:nvSpPr>
          <p:cNvPr id="27" name="26 CuadroTexto"/>
          <p:cNvSpPr txBox="1"/>
          <p:nvPr/>
        </p:nvSpPr>
        <p:spPr>
          <a:xfrm>
            <a:off x="2500298" y="2928934"/>
            <a:ext cx="1635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5">
                    <a:lumMod val="75000"/>
                  </a:schemeClr>
                </a:solidFill>
              </a:rPr>
              <a:t>No observado</a:t>
            </a:r>
            <a:endParaRPr lang="es-CO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5643570" y="2928934"/>
            <a:ext cx="1313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5">
                    <a:lumMod val="75000"/>
                  </a:schemeClr>
                </a:solidFill>
              </a:rPr>
              <a:t>Observado</a:t>
            </a:r>
            <a:endParaRPr lang="es-CO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13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71472" y="1714488"/>
            <a:ext cx="8115328" cy="45720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dirty="0" smtClean="0"/>
              <a:t>	 </a:t>
            </a:r>
            <a:r>
              <a:rPr lang="es-ES" sz="2500" dirty="0" smtClean="0"/>
              <a:t>Para recuperar </a:t>
            </a:r>
            <a:r>
              <a:rPr lang="es-ES" sz="2600" dirty="0" smtClean="0"/>
              <a:t>       </a:t>
            </a:r>
            <a:r>
              <a:rPr lang="es-ES" sz="2500" dirty="0" smtClean="0"/>
              <a:t>   se requiere que:</a:t>
            </a:r>
          </a:p>
          <a:p>
            <a:endParaRPr lang="es-ES" sz="5900" dirty="0" smtClean="0"/>
          </a:p>
          <a:p>
            <a:endParaRPr lang="es-ES" sz="5900" dirty="0" smtClean="0"/>
          </a:p>
          <a:p>
            <a:pPr lvl="1"/>
            <a:endParaRPr lang="es-ES" sz="5900" dirty="0" smtClean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2960045" y="1785926"/>
                <a:ext cx="849143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𝐴𝑇</m:t>
                          </m:r>
                          <m:r>
                            <a:rPr lang="es-CO" sz="2500" b="0" i="1" smtClean="0">
                              <a:latin typeface="Cambria Math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045" y="1785926"/>
                <a:ext cx="849143" cy="477054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1428728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1 Título"/>
          <p:cNvSpPr txBox="1">
            <a:spLocks/>
          </p:cNvSpPr>
          <p:nvPr/>
        </p:nvSpPr>
        <p:spPr>
          <a:xfrm>
            <a:off x="2428860" y="274638"/>
            <a:ext cx="6500858" cy="1225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s-CO" sz="4200" u="sng" dirty="0" smtClean="0">
                <a:latin typeface="+mj-lt"/>
                <a:ea typeface="+mj-ea"/>
                <a:cs typeface="+mj-cs"/>
              </a:rPr>
              <a:t>Condición para la aproximación</a:t>
            </a:r>
            <a:endParaRPr kumimoji="0" lang="es-ES" sz="42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" name="21 Flecha abajo"/>
          <p:cNvSpPr/>
          <p:nvPr/>
        </p:nvSpPr>
        <p:spPr>
          <a:xfrm>
            <a:off x="4214810" y="3286124"/>
            <a:ext cx="428628" cy="428628"/>
          </a:xfrm>
          <a:prstGeom prst="downArrow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24 CuadroTexto"/>
          <p:cNvSpPr txBox="1"/>
          <p:nvPr/>
        </p:nvSpPr>
        <p:spPr>
          <a:xfrm>
            <a:off x="600828" y="3857628"/>
            <a:ext cx="7828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None/>
            </a:pPr>
            <a:r>
              <a:rPr lang="es-ES" sz="2500" dirty="0" smtClean="0"/>
              <a:t>Implica que la variable de resultado en ausencia del programa debe ser idéntica para los individuos tratados y los individuos no tratados.</a:t>
            </a:r>
          </a:p>
          <a:p>
            <a:pPr lvl="1">
              <a:buNone/>
            </a:pPr>
            <a:r>
              <a:rPr lang="es-ES" sz="2500" dirty="0" smtClean="0"/>
              <a:t>En otras palabras, la participación en el programa es independiente de las características de los individuos.	</a:t>
            </a:r>
            <a:endParaRPr lang="es-AR" sz="2500" dirty="0" smtClean="0"/>
          </a:p>
          <a:p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6" name="25 Rectángulo"/>
              <p:cNvSpPr/>
              <p:nvPr/>
            </p:nvSpPr>
            <p:spPr>
              <a:xfrm>
                <a:off x="1804645" y="2581744"/>
                <a:ext cx="51796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2800" b="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CO" sz="2800" b="0" i="1" smtClean="0">
                          <a:latin typeface="Cambria Math"/>
                        </a:rPr>
                        <m:t>−</m:t>
                      </m:r>
                      <m:r>
                        <a:rPr lang="es-ES" sz="2800" i="1">
                          <a:latin typeface="Cambria Math"/>
                        </a:rPr>
                        <m:t>𝐸</m:t>
                      </m:r>
                      <m:r>
                        <a:rPr lang="es-ES" sz="2800" i="1">
                          <a:latin typeface="Cambria Math"/>
                        </a:rPr>
                        <m:t>[</m:t>
                      </m:r>
                      <m:r>
                        <a:rPr lang="es-CO" sz="2800" i="1">
                          <a:latin typeface="Cambria Math"/>
                        </a:rPr>
                        <m:t>𝑌</m:t>
                      </m:r>
                      <m:r>
                        <a:rPr lang="es-ES" sz="2800" i="1">
                          <a:latin typeface="Cambria Math"/>
                        </a:rPr>
                        <m:t>(0)|</m:t>
                      </m:r>
                      <m:r>
                        <a:rPr lang="es-CO" sz="2800" i="1">
                          <a:latin typeface="Cambria Math"/>
                        </a:rPr>
                        <m:t>𝐷</m:t>
                      </m:r>
                      <m:r>
                        <a:rPr lang="es-ES" sz="2800" i="1" smtClean="0">
                          <a:latin typeface="Cambria Math"/>
                        </a:rPr>
                        <m:t>=</m:t>
                      </m:r>
                      <m:r>
                        <a:rPr lang="es-CO" sz="2800" b="0" i="1" smtClean="0">
                          <a:latin typeface="Cambria Math"/>
                        </a:rPr>
                        <m:t>0</m:t>
                      </m:r>
                      <m:r>
                        <a:rPr lang="es-ES" sz="2800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6" name="2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645" y="2581744"/>
                <a:ext cx="5179623" cy="52322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23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14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36 CuadroTexto"/>
          <p:cNvSpPr txBox="1"/>
          <p:nvPr/>
        </p:nvSpPr>
        <p:spPr>
          <a:xfrm>
            <a:off x="928663" y="5214950"/>
            <a:ext cx="75009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500" dirty="0" smtClean="0"/>
              <a:t>Donde    es el promedio muestral de la variable de resultado dado su estatus de participación.</a:t>
            </a:r>
            <a:endParaRPr lang="es-ES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7 Rectángulo"/>
              <p:cNvSpPr/>
              <p:nvPr/>
            </p:nvSpPr>
            <p:spPr>
              <a:xfrm>
                <a:off x="1943234" y="5240813"/>
                <a:ext cx="468526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O" sz="26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CO" sz="2600" i="1">
                              <a:latin typeface="Cambria Math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s-CO" sz="2600" dirty="0"/>
              </a:p>
            </p:txBody>
          </p:sp>
        </mc:Choice>
        <mc:Fallback>
          <p:sp>
            <p:nvSpPr>
              <p:cNvPr id="8" name="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234" y="5240813"/>
                <a:ext cx="468526" cy="49244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0034" y="1643050"/>
            <a:ext cx="8215370" cy="442915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500" dirty="0" smtClean="0"/>
              <a:t>	Asumiendo que  se cumple:          </a:t>
            </a:r>
          </a:p>
          <a:p>
            <a:pPr>
              <a:spcBef>
                <a:spcPts val="0"/>
              </a:spcBef>
            </a:pPr>
            <a:endParaRPr lang="es-CO" sz="2500" dirty="0" smtClean="0"/>
          </a:p>
          <a:p>
            <a:pPr>
              <a:spcBef>
                <a:spcPts val="0"/>
              </a:spcBef>
            </a:pPr>
            <a:endParaRPr lang="es-CO" sz="2500" dirty="0" smtClean="0"/>
          </a:p>
          <a:p>
            <a:pPr>
              <a:spcBef>
                <a:spcPts val="0"/>
              </a:spcBef>
              <a:buNone/>
            </a:pPr>
            <a:r>
              <a:rPr lang="es-CO" sz="2500" dirty="0" smtClean="0"/>
              <a:t>              se puede expresar como: </a:t>
            </a:r>
            <a:endParaRPr lang="es-ES" sz="2500" dirty="0" smtClean="0"/>
          </a:p>
          <a:p>
            <a:pPr>
              <a:buNone/>
            </a:pPr>
            <a:r>
              <a:rPr lang="es-ES" sz="2500" dirty="0" smtClean="0"/>
              <a:t> </a:t>
            </a:r>
          </a:p>
          <a:p>
            <a:pPr>
              <a:buNone/>
            </a:pPr>
            <a:r>
              <a:rPr lang="es-ES" sz="2500" dirty="0" smtClean="0"/>
              <a:t>    </a:t>
            </a:r>
          </a:p>
          <a:p>
            <a:pPr>
              <a:buNone/>
            </a:pPr>
            <a:endParaRPr lang="es-CO" sz="2500" dirty="0" smtClean="0"/>
          </a:p>
          <a:p>
            <a:pPr>
              <a:buNone/>
            </a:pPr>
            <a:endParaRPr lang="es-ES" sz="2500" dirty="0" smtClean="0"/>
          </a:p>
          <a:p>
            <a:pPr algn="just"/>
            <a:endParaRPr lang="es-ES" sz="2500" dirty="0" smtClean="0"/>
          </a:p>
          <a:p>
            <a:pPr algn="just">
              <a:buNone/>
            </a:pPr>
            <a:r>
              <a:rPr lang="es-ES" sz="2500" dirty="0" smtClean="0"/>
              <a:t>	</a:t>
            </a:r>
            <a:endParaRPr lang="es-AR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6" name="35 Rectángulo"/>
              <p:cNvSpPr/>
              <p:nvPr/>
            </p:nvSpPr>
            <p:spPr>
              <a:xfrm>
                <a:off x="719572" y="2708920"/>
                <a:ext cx="849143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𝐴𝑇</m:t>
                          </m:r>
                          <m:r>
                            <a:rPr lang="es-CO" sz="2500" b="0" i="1" smtClean="0">
                              <a:latin typeface="Cambria Math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36" name="3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72" y="2708920"/>
                <a:ext cx="849143" cy="4770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438" y="239435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781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5" name="1 Título"/>
          <p:cNvSpPr txBox="1">
            <a:spLocks/>
          </p:cNvSpPr>
          <p:nvPr/>
        </p:nvSpPr>
        <p:spPr>
          <a:xfrm>
            <a:off x="2571736" y="357166"/>
            <a:ext cx="6115064" cy="12858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ATT aproximado</a:t>
            </a:r>
            <a:endParaRPr kumimoji="0" lang="es-AR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8" name="37 CuadroTexto"/>
          <p:cNvSpPr txBox="1"/>
          <p:nvPr/>
        </p:nvSpPr>
        <p:spPr>
          <a:xfrm>
            <a:off x="799994" y="3952078"/>
            <a:ext cx="676415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dirty="0" smtClean="0"/>
              <a:t>Análogo </a:t>
            </a:r>
            <a:r>
              <a:rPr lang="es-ES" sz="2500" dirty="0" err="1" smtClean="0"/>
              <a:t>muestral</a:t>
            </a:r>
            <a:r>
              <a:rPr lang="es-ES" sz="2500" dirty="0" smtClean="0"/>
              <a:t> de ese momento poblacional es:</a:t>
            </a:r>
            <a:endParaRPr lang="es-ES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1" name="40 Rectángulo"/>
              <p:cNvSpPr/>
              <p:nvPr/>
            </p:nvSpPr>
            <p:spPr>
              <a:xfrm>
                <a:off x="25643" y="3248980"/>
                <a:ext cx="80780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𝐴𝑇𝑇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=</m:t>
                      </m:r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ES" sz="2800" i="1">
                          <a:latin typeface="Cambria Math"/>
                        </a:rPr>
                        <m:t>−</m:t>
                      </m:r>
                      <m:r>
                        <a:rPr lang="es-ES" sz="2800" i="1">
                          <a:latin typeface="Cambria Math"/>
                        </a:rPr>
                        <m:t>𝐸</m:t>
                      </m:r>
                      <m:r>
                        <a:rPr lang="es-ES" sz="2800" i="1">
                          <a:latin typeface="Cambria Math"/>
                        </a:rPr>
                        <m:t>[</m:t>
                      </m:r>
                      <m:r>
                        <a:rPr lang="es-CO" sz="2800" b="0" i="1" smtClean="0">
                          <a:latin typeface="Cambria Math"/>
                        </a:rPr>
                        <m:t>𝑌</m:t>
                      </m:r>
                      <m:r>
                        <a:rPr lang="es-ES" sz="2800" i="1">
                          <a:latin typeface="Cambria Math"/>
                        </a:rPr>
                        <m:t>(0)|</m:t>
                      </m:r>
                      <m:r>
                        <a:rPr lang="es-CO" sz="2800" b="0" i="1" smtClean="0">
                          <a:latin typeface="Cambria Math"/>
                        </a:rPr>
                        <m:t>𝐷</m:t>
                      </m:r>
                      <m:r>
                        <a:rPr lang="es-ES" sz="2800" i="1">
                          <a:latin typeface="Cambria Math"/>
                        </a:rPr>
                        <m:t>=</m:t>
                      </m:r>
                      <m:r>
                        <a:rPr lang="es-CO" sz="2800" b="0" i="1" smtClean="0">
                          <a:latin typeface="Cambria Math"/>
                        </a:rPr>
                        <m:t>0</m:t>
                      </m:r>
                      <m:r>
                        <a:rPr lang="es-ES" sz="2800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41" name="4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3" y="3248980"/>
                <a:ext cx="8078003" cy="52322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2" name="41 Rectángulo"/>
              <p:cNvSpPr/>
              <p:nvPr/>
            </p:nvSpPr>
            <p:spPr>
              <a:xfrm>
                <a:off x="359532" y="4525960"/>
                <a:ext cx="80780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𝐴𝑇𝑇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CO" sz="28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CO" sz="2800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</m:e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ES" sz="2800" i="1" smtClean="0">
                          <a:latin typeface="Cambria Math"/>
                        </a:rPr>
                        <m:t>−</m:t>
                      </m:r>
                      <m:r>
                        <a:rPr lang="es-ES" sz="2800" i="1">
                          <a:latin typeface="Cambria Math"/>
                        </a:rPr>
                        <m:t>[</m:t>
                      </m:r>
                      <m:acc>
                        <m:accPr>
                          <m:chr m:val="̅"/>
                          <m:ctrlPr>
                            <a:rPr lang="es-CO" sz="28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es-ES" sz="2800" i="1">
                          <a:latin typeface="Cambria Math"/>
                        </a:rPr>
                        <m:t>|</m:t>
                      </m:r>
                      <m:r>
                        <a:rPr lang="es-CO" sz="2800" b="0" i="1" smtClean="0">
                          <a:latin typeface="Cambria Math"/>
                        </a:rPr>
                        <m:t>𝐷</m:t>
                      </m:r>
                      <m:r>
                        <a:rPr lang="es-ES" sz="2800" i="1">
                          <a:latin typeface="Cambria Math"/>
                        </a:rPr>
                        <m:t>=</m:t>
                      </m:r>
                      <m:r>
                        <a:rPr lang="es-CO" sz="2800" b="0" i="1" smtClean="0">
                          <a:latin typeface="Cambria Math"/>
                        </a:rPr>
                        <m:t>0</m:t>
                      </m:r>
                      <m:r>
                        <a:rPr lang="es-ES" sz="2800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42" name="4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2" y="4525960"/>
                <a:ext cx="8078003" cy="523220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" name="39 Rectángulo"/>
              <p:cNvSpPr/>
              <p:nvPr/>
            </p:nvSpPr>
            <p:spPr>
              <a:xfrm>
                <a:off x="1043608" y="2132856"/>
                <a:ext cx="592527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2800" b="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CO" sz="2800" b="0" i="1" smtClean="0">
                          <a:latin typeface="Cambria Math"/>
                        </a:rPr>
                        <m:t>−</m:t>
                      </m:r>
                      <m:r>
                        <a:rPr lang="es-ES" sz="28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 smtClean="0">
                              <a:latin typeface="Cambria Math"/>
                            </a:rPr>
                            <m:t>=</m:t>
                          </m:r>
                          <m:r>
                            <a:rPr lang="es-CO" sz="28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s-CO" sz="2800" b="0" i="1" smtClean="0">
                          <a:latin typeface="Cambria Math"/>
                        </a:rPr>
                        <m:t>=0 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40" name="3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132856"/>
                <a:ext cx="5925276" cy="523220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42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15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85720" y="1643050"/>
            <a:ext cx="8472518" cy="45720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2500" dirty="0" smtClean="0"/>
              <a:t>	El estimador           se puede obtener de la siguiente regresión:</a:t>
            </a:r>
          </a:p>
          <a:p>
            <a:pPr>
              <a:buNone/>
            </a:pPr>
            <a:r>
              <a:rPr lang="es-ES" sz="2700" dirty="0" smtClean="0"/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s-ES" sz="2700" dirty="0" smtClean="0"/>
              <a:t> 	</a:t>
            </a:r>
            <a:endParaRPr lang="es-ES" sz="2500" dirty="0" smtClean="0"/>
          </a:p>
          <a:p>
            <a:pPr indent="-324000">
              <a:buNone/>
            </a:pPr>
            <a:endParaRPr lang="es-ES" sz="2700" dirty="0" smtClean="0"/>
          </a:p>
          <a:p>
            <a:pPr indent="-324000">
              <a:buNone/>
            </a:pPr>
            <a:endParaRPr lang="es-ES" sz="2700" dirty="0" smtClean="0"/>
          </a:p>
          <a:p>
            <a:pPr indent="-324000">
              <a:buNone/>
            </a:pPr>
            <a:r>
              <a:rPr lang="es-ES" sz="2700" dirty="0" smtClean="0"/>
              <a:t>	</a:t>
            </a:r>
            <a:endParaRPr lang="es-ES" sz="2500" dirty="0" smtClean="0"/>
          </a:p>
          <a:p>
            <a:pPr>
              <a:buNone/>
            </a:pPr>
            <a:endParaRPr lang="es-ES" sz="2700" dirty="0" smtClean="0"/>
          </a:p>
          <a:p>
            <a:pPr>
              <a:buNone/>
            </a:pPr>
            <a:r>
              <a:rPr lang="es-ES" sz="2700" dirty="0" smtClean="0"/>
              <a:t>    	</a:t>
            </a:r>
          </a:p>
          <a:p>
            <a:pPr>
              <a:buNone/>
            </a:pP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5 Rectángulo"/>
              <p:cNvSpPr/>
              <p:nvPr/>
            </p:nvSpPr>
            <p:spPr>
              <a:xfrm>
                <a:off x="1295636" y="4869160"/>
                <a:ext cx="2413096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30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|"/>
                          <m:ctrlPr>
                            <a:rPr lang="es-CO" sz="3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3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CO" sz="3000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CO" sz="3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s-CO" sz="3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30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CO" sz="3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CO" sz="3000" b="0" i="1" smtClean="0">
                          <a:latin typeface="Cambria Math"/>
                        </a:rPr>
                        <m:t>] </m:t>
                      </m:r>
                      <m:r>
                        <a:rPr lang="es-MX" sz="30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CO" sz="3000" dirty="0"/>
              </a:p>
            </p:txBody>
          </p:sp>
        </mc:Choice>
        <mc:Fallback>
          <p:sp>
            <p:nvSpPr>
              <p:cNvPr id="6" name="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636" y="4869160"/>
                <a:ext cx="2413096" cy="55399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4" name="43 Rectángulo"/>
              <p:cNvSpPr/>
              <p:nvPr/>
            </p:nvSpPr>
            <p:spPr>
              <a:xfrm>
                <a:off x="1185519" y="3368896"/>
                <a:ext cx="6950877" cy="6001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3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3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33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3300" b="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33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33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33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CO" sz="3300" b="0" i="1" smtClean="0">
                          <a:latin typeface="Cambria Math"/>
                        </a:rPr>
                        <m:t>−</m:t>
                      </m:r>
                      <m:r>
                        <a:rPr lang="es-ES" sz="33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3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33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33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33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3300" i="1">
                              <a:latin typeface="Cambria Math"/>
                            </a:rPr>
                            <m:t>𝐷</m:t>
                          </m:r>
                          <m:r>
                            <a:rPr lang="es-ES" sz="3300" i="1" smtClean="0">
                              <a:latin typeface="Cambria Math"/>
                            </a:rPr>
                            <m:t>=</m:t>
                          </m:r>
                          <m:r>
                            <a:rPr lang="es-CO" sz="33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s-CO" sz="3300" b="0" i="1" smtClean="0">
                          <a:latin typeface="Cambria Math"/>
                        </a:rPr>
                        <m:t>=0 </m:t>
                      </m:r>
                    </m:oMath>
                  </m:oMathPara>
                </a14:m>
                <a:endParaRPr lang="es-CO" sz="3300" dirty="0"/>
              </a:p>
            </p:txBody>
          </p:sp>
        </mc:Choice>
        <mc:Fallback>
          <p:sp>
            <p:nvSpPr>
              <p:cNvPr id="44" name="4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519" y="3368896"/>
                <a:ext cx="6950877" cy="60016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2397167" y="2273163"/>
                <a:ext cx="3867021" cy="6517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3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33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ES" sz="33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33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33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33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33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33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33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33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33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33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33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ES" sz="33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33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33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33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s-ES" sz="33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sz="33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167" y="2273163"/>
                <a:ext cx="3867021" cy="651781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438" y="239435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4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" name="19 Abrir llave"/>
          <p:cNvSpPr/>
          <p:nvPr/>
        </p:nvSpPr>
        <p:spPr>
          <a:xfrm rot="16200000">
            <a:off x="2428860" y="4286256"/>
            <a:ext cx="142876" cy="2428892"/>
          </a:xfrm>
          <a:prstGeom prst="leftBrac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642910" y="5572140"/>
            <a:ext cx="37582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dirty="0" smtClean="0"/>
              <a:t>Independencia condicional.</a:t>
            </a:r>
            <a:endParaRPr lang="es-AR" sz="2500" dirty="0"/>
          </a:p>
        </p:txBody>
      </p:sp>
      <p:sp>
        <p:nvSpPr>
          <p:cNvPr id="34" name="1 Título"/>
          <p:cNvSpPr txBox="1">
            <a:spLocks/>
          </p:cNvSpPr>
          <p:nvPr/>
        </p:nvSpPr>
        <p:spPr>
          <a:xfrm>
            <a:off x="2571736" y="357166"/>
            <a:ext cx="6115064" cy="12858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Independencia</a:t>
            </a:r>
            <a:r>
              <a:rPr kumimoji="0" lang="es-ES" sz="4200" b="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condicional</a:t>
            </a:r>
            <a:endParaRPr kumimoji="0" lang="es-AR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cxnSp>
        <p:nvCxnSpPr>
          <p:cNvPr id="36" name="35 Conector recto de flecha"/>
          <p:cNvCxnSpPr/>
          <p:nvPr/>
        </p:nvCxnSpPr>
        <p:spPr>
          <a:xfrm>
            <a:off x="4071934" y="5143512"/>
            <a:ext cx="500066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0" name="39 CuadroTexto"/>
          <p:cNvSpPr txBox="1"/>
          <p:nvPr/>
        </p:nvSpPr>
        <p:spPr>
          <a:xfrm>
            <a:off x="4786314" y="4357694"/>
            <a:ext cx="3786214" cy="201593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2500" dirty="0" smtClean="0"/>
              <a:t>Quienes participan en el programa no son sistemáticamente distintos de aquellos que no participan en el programa.</a:t>
            </a:r>
            <a:endParaRPr lang="es-ES" sz="2500" dirty="0"/>
          </a:p>
        </p:txBody>
      </p:sp>
      <p:sp>
        <p:nvSpPr>
          <p:cNvPr id="41" name="40 CuadroTexto"/>
          <p:cNvSpPr txBox="1"/>
          <p:nvPr/>
        </p:nvSpPr>
        <p:spPr>
          <a:xfrm>
            <a:off x="714348" y="2857496"/>
            <a:ext cx="212321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dirty="0" smtClean="0"/>
              <a:t>Si la condición:</a:t>
            </a:r>
            <a:endParaRPr lang="es-ES" sz="2500" dirty="0"/>
          </a:p>
        </p:txBody>
      </p:sp>
      <p:sp>
        <p:nvSpPr>
          <p:cNvPr id="42" name="41 CuadroTexto"/>
          <p:cNvSpPr txBox="1"/>
          <p:nvPr/>
        </p:nvSpPr>
        <p:spPr>
          <a:xfrm>
            <a:off x="642910" y="4000504"/>
            <a:ext cx="38733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dirty="0" smtClean="0"/>
              <a:t>se cumple, esto implica que:</a:t>
            </a:r>
            <a:endParaRPr lang="es-ES" sz="2500" dirty="0"/>
          </a:p>
        </p:txBody>
      </p:sp>
      <p:pic>
        <p:nvPicPr>
          <p:cNvPr id="43" name="Picture 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1700808"/>
            <a:ext cx="495055" cy="360040"/>
          </a:xfrm>
          <a:prstGeom prst="rect">
            <a:avLst/>
          </a:prstGeom>
          <a:noFill/>
        </p:spPr>
      </p:pic>
      <p:sp>
        <p:nvSpPr>
          <p:cNvPr id="38" name="37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16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2" name="21 CuadroTexto"/>
              <p:cNvSpPr txBox="1"/>
              <p:nvPr/>
            </p:nvSpPr>
            <p:spPr>
              <a:xfrm>
                <a:off x="3441023" y="3248980"/>
                <a:ext cx="1527021" cy="674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CO" sz="30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3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30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3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  <m:groupChr>
                      <m:groupChrPr>
                        <m:chr m:val="→"/>
                        <m:vertJc m:val="bot"/>
                        <m:ctrlPr>
                          <a:rPr lang="es-CO" sz="3000" b="0" i="1" smtClean="0">
                            <a:latin typeface="Cambria Math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s-CO" sz="3000" b="0" i="1" smtClean="0">
                            <a:latin typeface="Cambria Math"/>
                          </a:rPr>
                          <m:t>𝑝</m:t>
                        </m:r>
                      </m:e>
                    </m:groupChr>
                    <m:r>
                      <a:rPr lang="es-CO" sz="3000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s-CO" sz="3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30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3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dirty="0" smtClean="0"/>
                  <a:t> </a:t>
                </a:r>
                <a:endParaRPr lang="es-CO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023" y="3248980"/>
                <a:ext cx="1527021" cy="67480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785926"/>
            <a:ext cx="8258204" cy="435771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2700" dirty="0" smtClean="0"/>
              <a:t>	Bajo independencia condicional el estimador      de mínimos cuadrados ordinarios (MCO) de es:</a:t>
            </a:r>
          </a:p>
          <a:p>
            <a:endParaRPr lang="es-ES" sz="27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s-ES" sz="2700" dirty="0" smtClean="0"/>
              <a:t>Consistente: </a:t>
            </a:r>
          </a:p>
          <a:p>
            <a:pPr marL="971550" lvl="1" indent="-514350">
              <a:buFont typeface="+mj-lt"/>
              <a:buAutoNum type="arabicPeriod"/>
            </a:pPr>
            <a:endParaRPr lang="es-ES" sz="2700" dirty="0" smtClean="0"/>
          </a:p>
          <a:p>
            <a:pPr marL="971550" lvl="1" indent="-514350">
              <a:buFont typeface="+mj-lt"/>
              <a:buAutoNum type="arabicPeriod"/>
            </a:pPr>
            <a:endParaRPr lang="es-ES" sz="27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s-ES" sz="2700" dirty="0" smtClean="0"/>
              <a:t>Insesgado:</a:t>
            </a:r>
          </a:p>
          <a:p>
            <a:pPr marL="971550" lvl="1" indent="-514350">
              <a:buNone/>
            </a:pPr>
            <a:r>
              <a:rPr lang="es-ES" dirty="0" smtClean="0"/>
              <a:t>	</a:t>
            </a:r>
          </a:p>
          <a:p>
            <a:pPr marL="971550" lvl="1" indent="-514350">
              <a:buNone/>
            </a:pPr>
            <a:endParaRPr lang="es-ES" dirty="0" smtClean="0"/>
          </a:p>
          <a:p>
            <a:pPr marL="971550" lvl="1" indent="-514350" algn="just">
              <a:buNone/>
            </a:pPr>
            <a:r>
              <a:rPr lang="es-ES" dirty="0" smtClean="0"/>
              <a:t>       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CuadroTexto"/>
              <p:cNvSpPr txBox="1"/>
              <p:nvPr/>
            </p:nvSpPr>
            <p:spPr>
              <a:xfrm>
                <a:off x="3390890" y="4725144"/>
                <a:ext cx="2153218" cy="581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3000" b="0" i="1" smtClean="0">
                        <a:latin typeface="Cambria Math"/>
                      </a:rPr>
                      <m:t>𝐸</m:t>
                    </m:r>
                    <m:r>
                      <a:rPr lang="es-CO" sz="30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30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3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30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3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30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3000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s-CO" sz="3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30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3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dirty="0" smtClean="0"/>
                  <a:t> </a:t>
                </a:r>
                <a:endParaRPr lang="es-CO" dirty="0"/>
              </a:p>
            </p:txBody>
          </p:sp>
        </mc:Choice>
        <mc:Fallback>
          <p:sp>
            <p:nvSpPr>
              <p:cNvPr id="2" name="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90" y="4725144"/>
                <a:ext cx="2153218" cy="581121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38" y="239435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Propiedades</a:t>
            </a:r>
            <a:r>
              <a:rPr kumimoji="0" lang="es-ES" sz="4200" b="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del estimador</a:t>
            </a:r>
            <a:endParaRPr kumimoji="0" lang="es-AR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962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27046" y="1714488"/>
            <a:ext cx="345284" cy="500066"/>
          </a:xfrm>
          <a:prstGeom prst="rect">
            <a:avLst/>
          </a:prstGeom>
          <a:noFill/>
        </p:spPr>
      </p:pic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17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643470"/>
          </a:xfrm>
        </p:spPr>
        <p:txBody>
          <a:bodyPr/>
          <a:lstStyle/>
          <a:p>
            <a:pPr algn="just">
              <a:buNone/>
            </a:pPr>
            <a:r>
              <a:rPr lang="es-ES" dirty="0" smtClean="0"/>
              <a:t>        </a:t>
            </a:r>
            <a:r>
              <a:rPr lang="es-ES" sz="2500" dirty="0" smtClean="0"/>
              <a:t>Efecto del programa </a:t>
            </a:r>
          </a:p>
          <a:p>
            <a:pPr lvl="1" algn="just">
              <a:buNone/>
            </a:pPr>
            <a:r>
              <a:rPr lang="es-ES" sz="2500" dirty="0" smtClean="0"/>
              <a:t>	Diferencia de medias de la variable de resultado entre el grupo de tratamiento y el grupo de control</a:t>
            </a:r>
            <a:endParaRPr lang="es-ES" dirty="0" smtClean="0"/>
          </a:p>
          <a:p>
            <a:pPr lvl="1" algn="just">
              <a:buNone/>
            </a:pPr>
            <a:endParaRPr lang="es-ES" dirty="0" smtClean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 	</a:t>
            </a:r>
          </a:p>
          <a:p>
            <a:pPr>
              <a:buNone/>
            </a:pPr>
            <a:r>
              <a:rPr lang="es-ES" dirty="0" smtClean="0"/>
              <a:t>	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13 Rectángulo"/>
              <p:cNvSpPr/>
              <p:nvPr/>
            </p:nvSpPr>
            <p:spPr>
              <a:xfrm>
                <a:off x="1979712" y="5315164"/>
                <a:ext cx="4725909" cy="5981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|"/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CO" sz="2800" b="0" i="1" smtClean="0">
                          <a:latin typeface="Cambria Math"/>
                        </a:rPr>
                        <m:t>𝐷</m:t>
                      </m:r>
                      <m:r>
                        <a:rPr lang="es-CO" sz="2800" b="0" i="1" smtClean="0">
                          <a:latin typeface="Cambria Math"/>
                        </a:rPr>
                        <m:t>=1]−</m:t>
                      </m:r>
                      <m:d>
                        <m:dPr>
                          <m:begChr m:val="["/>
                          <m:endChr m:val="|"/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CO" sz="28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CO" sz="2800" b="0" i="1" smtClean="0">
                          <a:latin typeface="Cambria Math"/>
                        </a:rPr>
                        <m:t>𝐷</m:t>
                      </m:r>
                      <m:r>
                        <a:rPr lang="es-CO" sz="2800" b="0" i="1" smtClean="0">
                          <a:latin typeface="Cambria Math"/>
                        </a:rPr>
                        <m:t>=0]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14" name="1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5315164"/>
                <a:ext cx="4725909" cy="598112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1 Título"/>
              <p:cNvSpPr txBox="1">
                <a:spLocks/>
              </p:cNvSpPr>
              <p:nvPr/>
            </p:nvSpPr>
            <p:spPr>
              <a:xfrm>
                <a:off x="2571736" y="274638"/>
                <a:ext cx="6115064" cy="115409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ES" sz="4400" u="sng" dirty="0" smtClean="0">
                    <a:latin typeface="+mj-lt"/>
                    <a:ea typeface="+mj-ea"/>
                    <a:cs typeface="+mj-cs"/>
                  </a:rPr>
                  <a:t>¿Qué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4400" b="0" i="1" u="sng" smtClean="0">
                            <a:latin typeface="Cambria Math"/>
                            <a:ea typeface="Cambria Math"/>
                            <a:cs typeface="+mj-cs"/>
                          </a:rPr>
                        </m:ctrlPr>
                      </m:sSubPr>
                      <m:e>
                        <m:r>
                          <a:rPr lang="es-ES" sz="4400" i="1" u="sng" smtClean="0">
                            <a:latin typeface="Cambria Math"/>
                            <a:ea typeface="Cambria Math"/>
                            <a:cs typeface="+mj-cs"/>
                          </a:rPr>
                          <m:t>𝛽</m:t>
                        </m:r>
                      </m:e>
                      <m:sub>
                        <m:r>
                          <a:rPr lang="es-CO" sz="4400" b="0" i="1" u="sng" smtClean="0">
                            <a:latin typeface="Cambria Math"/>
                            <a:ea typeface="Cambria Math"/>
                            <a:cs typeface="+mj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4400" u="sng" dirty="0" smtClean="0">
                    <a:latin typeface="+mj-lt"/>
                    <a:ea typeface="+mj-ea"/>
                    <a:cs typeface="+mj-cs"/>
                  </a:rPr>
                  <a:t>?  </a:t>
                </a:r>
                <a:endParaRPr kumimoji="0" lang="es-AR" sz="4400" b="0" i="0" u="sng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</mc:Choice>
        <mc:Fallback>
          <p:sp>
            <p:nvSpPr>
              <p:cNvPr id="6" name="1 Títul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36" y="274638"/>
                <a:ext cx="6115064" cy="115409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846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10 Rectángulo"/>
              <p:cNvSpPr/>
              <p:nvPr/>
            </p:nvSpPr>
            <p:spPr>
              <a:xfrm>
                <a:off x="791580" y="3454247"/>
                <a:ext cx="6643734" cy="1018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 smtClean="0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/>
                            </a:rPr>
                            <m:t>𝐴𝑇𝑇</m:t>
                          </m:r>
                        </m:sub>
                      </m:sSub>
                      <m:r>
                        <a:rPr lang="es-ES" sz="2800" i="1" smtClean="0">
                          <a:latin typeface="Cambria Math"/>
                        </a:rPr>
                        <m:t>=</m:t>
                      </m:r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ES" sz="2800" i="1">
                          <a:latin typeface="Cambria Math"/>
                        </a:rPr>
                        <m:t>−</m:t>
                      </m:r>
                      <m:r>
                        <a:rPr lang="es-ES" sz="28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=0</m:t>
                          </m:r>
                        </m:e>
                      </m:d>
                      <m:r>
                        <a:rPr lang="es-E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11" name="1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80" y="3454247"/>
                <a:ext cx="6643734" cy="1018869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3 Rectángulo"/>
              <p:cNvSpPr/>
              <p:nvPr/>
            </p:nvSpPr>
            <p:spPr>
              <a:xfrm>
                <a:off x="359532" y="2035882"/>
                <a:ext cx="675121" cy="598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30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30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3000" dirty="0"/>
              </a:p>
            </p:txBody>
          </p:sp>
        </mc:Choice>
        <mc:Fallback>
          <p:sp>
            <p:nvSpPr>
              <p:cNvPr id="4" name="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2" y="2035882"/>
                <a:ext cx="675121" cy="598818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438" y="239435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857224" y="4786322"/>
            <a:ext cx="74069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Por lo tanto, el estimador de       estaría dado por:</a:t>
            </a:r>
            <a:endParaRPr lang="es-AR" sz="2500" dirty="0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43438" y="4786322"/>
            <a:ext cx="339300" cy="468000"/>
          </a:xfrm>
          <a:prstGeom prst="rect">
            <a:avLst/>
          </a:prstGeom>
          <a:noFill/>
        </p:spPr>
      </p:pic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7" name="26 Abrir llave"/>
          <p:cNvSpPr/>
          <p:nvPr/>
        </p:nvSpPr>
        <p:spPr>
          <a:xfrm>
            <a:off x="1000100" y="1643050"/>
            <a:ext cx="285752" cy="1428760"/>
          </a:xfrm>
          <a:prstGeom prst="leftBrac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18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770970" y="1448780"/>
                <a:ext cx="24328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70" y="1448780"/>
                <a:ext cx="2432878" cy="52322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0066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pPr>
              <a:buNone/>
            </a:pPr>
            <a:r>
              <a:rPr lang="es-CO" dirty="0" smtClean="0"/>
              <a:t>                               </a:t>
            </a:r>
            <a:endParaRPr lang="es-E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7141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386026" y="203200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</a:t>
            </a:r>
            <a:r>
              <a:rPr kumimoji="0" lang="es-ES" sz="44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Canasta</a:t>
            </a:r>
            <a:endParaRPr kumimoji="0" lang="es-AR" sz="44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857620" y="1428736"/>
            <a:ext cx="4714908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Corresponde al promedio de la talla según la edad entre los participantes, en presencia del programa.</a:t>
            </a:r>
            <a:endParaRPr lang="es-ES" sz="2500" dirty="0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3428992" y="1712900"/>
            <a:ext cx="357190" cy="1588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3857620" y="3071810"/>
            <a:ext cx="4714908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Corresponde al promedio de la talla según la edad entre los participantes en ausencia del programa. El </a:t>
            </a:r>
            <a:r>
              <a:rPr lang="es-CO" sz="2500" dirty="0" err="1" smtClean="0">
                <a:solidFill>
                  <a:schemeClr val="accent5">
                    <a:lumMod val="75000"/>
                  </a:schemeClr>
                </a:solidFill>
              </a:rPr>
              <a:t>contrafactual</a:t>
            </a:r>
            <a:r>
              <a:rPr lang="es-CO" sz="2500" dirty="0" smtClean="0"/>
              <a:t>.</a:t>
            </a:r>
            <a:endParaRPr lang="es-ES" sz="2500" i="1" dirty="0"/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46089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3857620" y="4714884"/>
            <a:ext cx="4714908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Corresponde al promedio de la talla según la edad en el grupo de no participantes. Promedio en el </a:t>
            </a:r>
            <a:r>
              <a:rPr lang="es-CO" sz="2500" dirty="0" smtClean="0">
                <a:solidFill>
                  <a:schemeClr val="accent5">
                    <a:lumMod val="75000"/>
                  </a:schemeClr>
                </a:solidFill>
              </a:rPr>
              <a:t>grupo de control</a:t>
            </a:r>
            <a:r>
              <a:rPr lang="es-CO" sz="2500" dirty="0" smtClean="0"/>
              <a:t>.</a:t>
            </a:r>
            <a:endParaRPr lang="es-ES" sz="2500" i="1" dirty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6" name="25 Conector recto de flecha"/>
          <p:cNvCxnSpPr/>
          <p:nvPr/>
        </p:nvCxnSpPr>
        <p:spPr>
          <a:xfrm>
            <a:off x="3428992" y="3357562"/>
            <a:ext cx="357190" cy="1588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>
            <a:off x="3428992" y="4929198"/>
            <a:ext cx="357190" cy="1588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929058" y="3071810"/>
            <a:ext cx="4572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3929058" y="4643446"/>
            <a:ext cx="4572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8" name="27 Rectángulo"/>
              <p:cNvSpPr/>
              <p:nvPr/>
            </p:nvSpPr>
            <p:spPr>
              <a:xfrm>
                <a:off x="755576" y="3032956"/>
                <a:ext cx="24328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CO" sz="28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8" name="2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032956"/>
                <a:ext cx="2432878" cy="52322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2" name="31 Rectángulo"/>
              <p:cNvSpPr/>
              <p:nvPr/>
            </p:nvSpPr>
            <p:spPr>
              <a:xfrm>
                <a:off x="755576" y="4669976"/>
                <a:ext cx="24328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CO" sz="28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</m:t>
                          </m:r>
                          <m:r>
                            <a:rPr lang="es-CO" sz="28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32" name="3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669976"/>
                <a:ext cx="2432878" cy="52322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33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19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786346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>
              <a:spcBef>
                <a:spcPts val="0"/>
              </a:spcBef>
            </a:pPr>
            <a:r>
              <a:rPr lang="es-CO" sz="2500" dirty="0" smtClean="0"/>
              <a:t>Si se cumple que: </a:t>
            </a:r>
          </a:p>
          <a:p>
            <a:pPr>
              <a:spcBef>
                <a:spcPts val="0"/>
              </a:spcBef>
            </a:pPr>
            <a:endParaRPr lang="es-CO" sz="2500" dirty="0" smtClean="0"/>
          </a:p>
          <a:p>
            <a:pPr>
              <a:spcBef>
                <a:spcPts val="0"/>
              </a:spcBef>
            </a:pPr>
            <a:endParaRPr lang="es-CO" sz="2500" dirty="0" smtClean="0"/>
          </a:p>
          <a:p>
            <a:pPr algn="just">
              <a:spcBef>
                <a:spcPts val="0"/>
              </a:spcBef>
              <a:buNone/>
            </a:pPr>
            <a:r>
              <a:rPr lang="es-CO" sz="2500" dirty="0" smtClean="0"/>
              <a:t>	</a:t>
            </a:r>
          </a:p>
          <a:p>
            <a:pPr algn="just">
              <a:spcBef>
                <a:spcPts val="0"/>
              </a:spcBef>
              <a:buNone/>
            </a:pPr>
            <a:r>
              <a:rPr lang="es-CO" sz="2500" dirty="0" smtClean="0"/>
              <a:t>	Entonces el efecto del programa se podría estimar a través de la comparación de medias de la variable de resultado del grupo de tratamiento y el grupo de control.</a:t>
            </a:r>
          </a:p>
          <a:p>
            <a:pPr algn="just">
              <a:buNone/>
            </a:pPr>
            <a:r>
              <a:rPr lang="es-CO" sz="2500" dirty="0" smtClean="0"/>
              <a:t>	</a:t>
            </a:r>
          </a:p>
          <a:p>
            <a:pPr algn="just">
              <a:buNone/>
            </a:pPr>
            <a:r>
              <a:rPr lang="es-CO" sz="2500" dirty="0" smtClean="0"/>
              <a:t>	El efecto se puede estimar con la regresión</a:t>
            </a:r>
          </a:p>
          <a:p>
            <a:pPr algn="just">
              <a:buNone/>
            </a:pPr>
            <a:r>
              <a:rPr lang="es-CO" sz="2800" dirty="0" smtClean="0"/>
              <a:t>		</a:t>
            </a:r>
          </a:p>
          <a:p>
            <a:pPr>
              <a:buNone/>
            </a:pP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1439652" y="2132856"/>
                <a:ext cx="602799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3000" i="1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ES" sz="3000" i="1">
                            <a:latin typeface="Cambria Math"/>
                          </a:rPr>
                        </m:ctrlPr>
                      </m:dPr>
                      <m:e>
                        <m:r>
                          <a:rPr lang="es-CO" sz="3000" i="1">
                            <a:latin typeface="Cambria Math"/>
                          </a:rPr>
                          <m:t>𝑌</m:t>
                        </m:r>
                        <m:d>
                          <m:dPr>
                            <m:ctrlPr>
                              <a:rPr lang="es-ES" sz="3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ES" sz="3000" i="1">
                                <a:latin typeface="Cambria Math"/>
                              </a:rPr>
                              <m:t>0</m:t>
                            </m:r>
                          </m:e>
                        </m:d>
                      </m:e>
                      <m:e>
                        <m:r>
                          <a:rPr lang="es-CO" sz="3000" i="1">
                            <a:latin typeface="Cambria Math"/>
                          </a:rPr>
                          <m:t>𝐷</m:t>
                        </m:r>
                        <m:r>
                          <a:rPr lang="es-ES" sz="3000" i="1">
                            <a:latin typeface="Cambria Math"/>
                          </a:rPr>
                          <m:t>=1</m:t>
                        </m:r>
                      </m:e>
                    </m:d>
                    <m:r>
                      <a:rPr lang="es-CO" sz="3000" i="1">
                        <a:latin typeface="Cambria Math"/>
                      </a:rPr>
                      <m:t>−</m:t>
                    </m:r>
                    <m:r>
                      <a:rPr lang="es-ES" sz="3000" i="1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ES" sz="3000" i="1">
                            <a:latin typeface="Cambria Math"/>
                          </a:rPr>
                        </m:ctrlPr>
                      </m:dPr>
                      <m:e>
                        <m:r>
                          <a:rPr lang="es-CO" sz="3000" i="1">
                            <a:latin typeface="Cambria Math"/>
                          </a:rPr>
                          <m:t>𝑌</m:t>
                        </m:r>
                        <m:d>
                          <m:dPr>
                            <m:ctrlPr>
                              <a:rPr lang="es-ES" sz="3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ES" sz="3000" i="1">
                                <a:latin typeface="Cambria Math"/>
                              </a:rPr>
                              <m:t>0</m:t>
                            </m:r>
                          </m:e>
                        </m:d>
                      </m:e>
                      <m:e>
                        <m:r>
                          <a:rPr lang="es-CO" sz="3000" i="1">
                            <a:latin typeface="Cambria Math"/>
                          </a:rPr>
                          <m:t>𝐷</m:t>
                        </m:r>
                        <m:r>
                          <a:rPr lang="es-ES" sz="3000" i="1">
                            <a:latin typeface="Cambria Math"/>
                          </a:rPr>
                          <m:t>=</m:t>
                        </m:r>
                        <m:r>
                          <a:rPr lang="es-CO" sz="3000" i="1">
                            <a:latin typeface="Cambria Math"/>
                          </a:rPr>
                          <m:t>0</m:t>
                        </m:r>
                      </m:e>
                    </m:d>
                  </m:oMath>
                </a14:m>
                <a:r>
                  <a:rPr lang="es-CO" sz="3000" dirty="0" smtClean="0"/>
                  <a:t> = 0</a:t>
                </a:r>
                <a:endParaRPr lang="es-CO" sz="30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652" y="2132856"/>
                <a:ext cx="6027997" cy="55399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t="-13187" r="-1416" b="-3406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13 Rectángulo"/>
              <p:cNvSpPr/>
              <p:nvPr/>
            </p:nvSpPr>
            <p:spPr>
              <a:xfrm>
                <a:off x="2375756" y="5058166"/>
                <a:ext cx="3311996" cy="5670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14" name="1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756" y="5058166"/>
                <a:ext cx="3311996" cy="567078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 txBox="1">
            <a:spLocks/>
          </p:cNvSpPr>
          <p:nvPr/>
        </p:nvSpPr>
        <p:spPr>
          <a:xfrm>
            <a:off x="2386026" y="203200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</a:t>
            </a:r>
            <a:r>
              <a:rPr kumimoji="0" lang="es-ES" sz="44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Canasta</a:t>
            </a:r>
            <a:endParaRPr kumimoji="0" lang="es-AR" sz="44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44" y="7141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1" name="10 Conector recto de flecha"/>
          <p:cNvCxnSpPr/>
          <p:nvPr/>
        </p:nvCxnSpPr>
        <p:spPr>
          <a:xfrm rot="5400000" flipH="1" flipV="1">
            <a:off x="4215604" y="5642784"/>
            <a:ext cx="142876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4286248" y="5715016"/>
            <a:ext cx="278608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CuadroTexto"/>
          <p:cNvSpPr txBox="1"/>
          <p:nvPr/>
        </p:nvSpPr>
        <p:spPr>
          <a:xfrm>
            <a:off x="5873367" y="5715016"/>
            <a:ext cx="28014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Efecto del programa</a:t>
            </a:r>
            <a:endParaRPr lang="es-ES" sz="2500" dirty="0"/>
          </a:p>
        </p:txBody>
      </p:sp>
      <p:sp>
        <p:nvSpPr>
          <p:cNvPr id="15" name="14 Rectángulo"/>
          <p:cNvSpPr/>
          <p:nvPr/>
        </p:nvSpPr>
        <p:spPr>
          <a:xfrm>
            <a:off x="144016" y="6453336"/>
            <a:ext cx="88204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715963" algn="l"/>
              </a:tabLst>
            </a:pP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Definición de parámetros de impacto del tratamiento/</a:t>
            </a:r>
            <a:fld id="{BD21B608-AEE6-4166-8E76-D737B860FDE5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lvl="1">
                <a:tabLst>
                  <a:tab pos="715963" algn="l"/>
                </a:tabLst>
              </a:pPr>
              <a:t>20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Capítulo 3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789040"/>
            <a:ext cx="6400800" cy="1752600"/>
          </a:xfrm>
        </p:spPr>
        <p:txBody>
          <a:bodyPr/>
          <a:lstStyle/>
          <a:p>
            <a:pPr algn="r"/>
            <a:r>
              <a:rPr lang="es-AR" dirty="0" smtClean="0"/>
              <a:t>Sesgo de selección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6 Rectángulo"/>
              <p:cNvSpPr/>
              <p:nvPr/>
            </p:nvSpPr>
            <p:spPr>
              <a:xfrm>
                <a:off x="5045964" y="5157192"/>
                <a:ext cx="2982420" cy="5757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MX" sz="2800" i="1" smtClean="0">
                            <a:latin typeface="Cambria Math"/>
                          </a:rPr>
                          <m:t>𝜏</m:t>
                        </m:r>
                      </m:e>
                      <m:sub>
                        <m:r>
                          <a:rPr lang="es-CO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CO" sz="2800" dirty="0" smtClean="0"/>
                  <a:t>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8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O" sz="2800" i="1" dirty="0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s-CO" sz="280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s-CO" sz="2800" i="1" dirty="0" smtClean="0">
                        <a:latin typeface="Cambria Math"/>
                      </a:rPr>
                      <m:t> (1) – </m:t>
                    </m:r>
                    <m:sSub>
                      <m:sSubPr>
                        <m:ctrlPr>
                          <a:rPr lang="es-CO" sz="2800" i="1" dirty="0" err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O" sz="2800" i="1" dirty="0" err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s-CO" sz="2800" i="1" dirty="0" err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s-CO" sz="2800" i="1" dirty="0" smtClean="0">
                        <a:latin typeface="Cambria Math"/>
                      </a:rPr>
                      <m:t>(0) </m:t>
                    </m:r>
                  </m:oMath>
                </a14:m>
                <a:endParaRPr lang="es-CO" sz="2800" dirty="0"/>
              </a:p>
            </p:txBody>
          </p:sp>
        </mc:Choice>
        <mc:Fallback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64" y="5157192"/>
                <a:ext cx="2982420" cy="575799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b="-3085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457780" y="4113076"/>
                <a:ext cx="981872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25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sz="2500" i="1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80" y="4113076"/>
                <a:ext cx="981872" cy="47705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3" name="52 Rectángulo"/>
              <p:cNvSpPr/>
              <p:nvPr/>
            </p:nvSpPr>
            <p:spPr>
              <a:xfrm>
                <a:off x="457780" y="4536122"/>
                <a:ext cx="981872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MX" sz="25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MX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25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5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53" name="5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80" y="4536122"/>
                <a:ext cx="981872" cy="4770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2" name="51 CuadroTexto"/>
              <p:cNvSpPr txBox="1"/>
              <p:nvPr/>
            </p:nvSpPr>
            <p:spPr>
              <a:xfrm>
                <a:off x="35496" y="3068960"/>
                <a:ext cx="3096857" cy="808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CO" sz="2800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8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sz="28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endChr m:val=""/>
                          <m:ctrlPr>
                            <a:rPr lang="es-CO" sz="28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CO" sz="28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s-CO" sz="28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s-CO" sz="28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.</m:t>
                              </m:r>
                            </m:e>
                            <m:e>
                              <m:r>
                                <a:rPr lang="es-CO" sz="28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s-CO" sz="28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.</m:t>
                              </m:r>
                              <m:r>
                                <a:rPr lang="es-CO" sz="28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𝟐</m:t>
                              </m:r>
                              <m:r>
                                <a:rPr lang="es-CO" sz="28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CO" sz="2800" b="1" dirty="0">
                  <a:latin typeface="+mj-lt"/>
                </a:endParaRPr>
              </a:p>
            </p:txBody>
          </p:sp>
        </mc:Choice>
        <mc:Fallback>
          <p:sp>
            <p:nvSpPr>
              <p:cNvPr id="52" name="5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3068960"/>
                <a:ext cx="3096857" cy="80817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6" name="45 CuadroTexto"/>
              <p:cNvSpPr txBox="1"/>
              <p:nvPr/>
            </p:nvSpPr>
            <p:spPr>
              <a:xfrm>
                <a:off x="478053" y="1574085"/>
                <a:ext cx="2139221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CO" sz="2800" b="0" i="1" smtClean="0">
                          <a:latin typeface="Cambria Math"/>
                        </a:rPr>
                        <m:t>=  </m:t>
                      </m:r>
                      <m:d>
                        <m:dPr>
                          <m:begChr m:val="{"/>
                          <m:endChr m:val=""/>
                          <m:ctrlPr>
                            <a:rPr lang="es-CO" sz="2800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CO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s-CO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s-CO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0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CO" sz="2800" dirty="0">
                  <a:latin typeface="+mj-lt"/>
                </a:endParaRPr>
              </a:p>
            </p:txBody>
          </p:sp>
        </mc:Choice>
        <mc:Fallback>
          <p:sp>
            <p:nvSpPr>
              <p:cNvPr id="46" name="4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53" y="1574085"/>
                <a:ext cx="2139221" cy="810799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158" y="1500174"/>
            <a:ext cx="8329642" cy="4678953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endParaRPr lang="es-CO" dirty="0"/>
          </a:p>
          <a:p>
            <a:pPr>
              <a:spcBef>
                <a:spcPts val="600"/>
              </a:spcBef>
            </a:pPr>
            <a:endParaRPr lang="es-CO" dirty="0" smtClean="0"/>
          </a:p>
          <a:p>
            <a:pPr>
              <a:spcBef>
                <a:spcPts val="600"/>
              </a:spcBef>
            </a:pPr>
            <a:endParaRPr lang="es-CO" dirty="0"/>
          </a:p>
          <a:p>
            <a:pPr>
              <a:spcBef>
                <a:spcPts val="600"/>
              </a:spcBef>
            </a:pPr>
            <a:endParaRPr lang="es-CO" dirty="0" smtClean="0"/>
          </a:p>
          <a:p>
            <a:pPr>
              <a:spcBef>
                <a:spcPts val="600"/>
              </a:spcBef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E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557374" y="274638"/>
            <a:ext cx="7372344" cy="1011222"/>
          </a:xfrm>
        </p:spPr>
        <p:txBody>
          <a:bodyPr>
            <a:normAutofit/>
          </a:bodyPr>
          <a:lstStyle/>
          <a:p>
            <a:r>
              <a:rPr lang="es-CO" sz="4200" u="sng" dirty="0" smtClean="0"/>
              <a:t>Notación</a:t>
            </a:r>
            <a:endParaRPr lang="es-ES" sz="4200" u="sng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1619672" y="1547790"/>
            <a:ext cx="472783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         individuo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CO" sz="2500" dirty="0" smtClean="0"/>
              <a:t> recibe tratamiento</a:t>
            </a:r>
            <a:endParaRPr lang="es-ES" sz="250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1619672" y="1988840"/>
            <a:ext cx="27372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         de lo contrario</a:t>
            </a:r>
            <a:endParaRPr lang="es-ES" sz="2500" dirty="0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5" name="34 CuadroTexto"/>
              <p:cNvSpPr txBox="1"/>
              <p:nvPr/>
            </p:nvSpPr>
            <p:spPr>
              <a:xfrm>
                <a:off x="2123728" y="3068960"/>
                <a:ext cx="5604084" cy="1223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450" dirty="0" smtClean="0"/>
                  <a:t>Variable de resultado para cada individuo  </a:t>
                </a:r>
                <a:r>
                  <a:rPr lang="es-CO" sz="2450" i="1" dirty="0" smtClean="0">
                    <a:latin typeface="Times New Roman" pitchFamily="18" charset="0"/>
                    <a:cs typeface="Times New Roman" pitchFamily="18" charset="0"/>
                  </a:rPr>
                  <a:t>i </a:t>
                </a:r>
                <a:r>
                  <a:rPr lang="es-CO" sz="2450" dirty="0" smtClean="0"/>
                  <a:t>dado su estado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45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O" sz="245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s-CO" sz="245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s-CO" sz="2450" dirty="0" smtClean="0"/>
              </a:p>
              <a:p>
                <a:pPr algn="just"/>
                <a:r>
                  <a:rPr lang="es-CO" sz="2450" dirty="0" smtClean="0"/>
                  <a:t>           </a:t>
                </a:r>
                <a:endParaRPr lang="es-ES" sz="2450" dirty="0">
                  <a:latin typeface="+mj-lt"/>
                </a:endParaRPr>
              </a:p>
            </p:txBody>
          </p:sp>
        </mc:Choice>
        <mc:Fallback>
          <p:sp>
            <p:nvSpPr>
              <p:cNvPr id="35" name="3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3068960"/>
                <a:ext cx="5604084" cy="1223412"/>
              </a:xfrm>
              <a:prstGeom prst="rect">
                <a:avLst/>
              </a:prstGeom>
              <a:blipFill rotWithShape="1">
                <a:blip r:embed="rId8" cstate="print"/>
                <a:stretch>
                  <a:fillRect l="-1630" t="-3483" r="-6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2000232" y="2643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4" name="43 CuadroTexto"/>
          <p:cNvSpPr txBox="1"/>
          <p:nvPr/>
        </p:nvSpPr>
        <p:spPr>
          <a:xfrm>
            <a:off x="539552" y="4149080"/>
            <a:ext cx="820891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50" dirty="0" smtClean="0"/>
              <a:t>          es la variable de resultado del individuo </a:t>
            </a:r>
            <a:r>
              <a:rPr lang="es-CO" sz="2450" i="1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s-CO" sz="2450" dirty="0" smtClean="0">
                <a:cs typeface="Times New Roman" pitchFamily="18" charset="0"/>
              </a:rPr>
              <a:t>si es tratado</a:t>
            </a:r>
          </a:p>
          <a:p>
            <a:r>
              <a:rPr lang="es-CO" sz="2450" dirty="0" smtClean="0">
                <a:cs typeface="Times New Roman" pitchFamily="18" charset="0"/>
              </a:rPr>
              <a:t>           es la variable de resultado del individuo </a:t>
            </a:r>
            <a:r>
              <a:rPr lang="es-CO" sz="245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CO" sz="2450" dirty="0" smtClean="0">
                <a:cs typeface="Times New Roman" pitchFamily="18" charset="0"/>
              </a:rPr>
              <a:t> si no es tratado</a:t>
            </a:r>
            <a:endParaRPr lang="es-ES" sz="2450" dirty="0"/>
          </a:p>
        </p:txBody>
      </p:sp>
      <p:sp>
        <p:nvSpPr>
          <p:cNvPr id="49" name="48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22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50 CuadroTexto"/>
          <p:cNvSpPr txBox="1"/>
          <p:nvPr/>
        </p:nvSpPr>
        <p:spPr>
          <a:xfrm>
            <a:off x="899592" y="5229200"/>
            <a:ext cx="4143955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50" dirty="0" smtClean="0"/>
              <a:t>Efecto individual del programa:</a:t>
            </a:r>
            <a:endParaRPr lang="es-CO" sz="2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-24"/>
            <a:ext cx="2214546" cy="105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557374" y="274638"/>
            <a:ext cx="7372344" cy="1011222"/>
          </a:xfrm>
        </p:spPr>
        <p:txBody>
          <a:bodyPr>
            <a:normAutofit/>
          </a:bodyPr>
          <a:lstStyle/>
          <a:p>
            <a:r>
              <a:rPr lang="es-CO" sz="4200" u="sng" dirty="0" smtClean="0"/>
              <a:t>Notación</a:t>
            </a:r>
            <a:endParaRPr lang="es-ES" sz="4200" u="sng" dirty="0"/>
          </a:p>
        </p:txBody>
      </p:sp>
      <p:sp>
        <p:nvSpPr>
          <p:cNvPr id="7" name="6 CuadroTexto"/>
          <p:cNvSpPr txBox="1"/>
          <p:nvPr/>
        </p:nvSpPr>
        <p:spPr>
          <a:xfrm>
            <a:off x="3286116" y="1643050"/>
            <a:ext cx="521497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Media de la variable de resultado en el grupo de participantes.</a:t>
            </a:r>
          </a:p>
          <a:p>
            <a:endParaRPr lang="es-ES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2500298" y="1928802"/>
            <a:ext cx="714380" cy="158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3214678" y="2643182"/>
            <a:ext cx="535785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500" dirty="0" smtClean="0"/>
              <a:t>Media que hubieran obtenido los participantes si el programa no hubiera existido. </a:t>
            </a:r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2500298" y="2928934"/>
            <a:ext cx="714380" cy="158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2500298" y="4214818"/>
            <a:ext cx="714380" cy="158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>
            <a:off x="2500298" y="5500702"/>
            <a:ext cx="714380" cy="158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Rectángulo"/>
          <p:cNvSpPr/>
          <p:nvPr/>
        </p:nvSpPr>
        <p:spPr>
          <a:xfrm>
            <a:off x="3214710" y="3929066"/>
            <a:ext cx="535781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00" dirty="0" smtClean="0"/>
              <a:t>Media de la variable de resultado entre los no participantes en el programa, si hubieran podido participar.</a:t>
            </a:r>
            <a:endParaRPr lang="es-AR" sz="2500" dirty="0"/>
          </a:p>
        </p:txBody>
      </p:sp>
      <p:sp>
        <p:nvSpPr>
          <p:cNvPr id="21" name="20 Rectángulo"/>
          <p:cNvSpPr/>
          <p:nvPr/>
        </p:nvSpPr>
        <p:spPr>
          <a:xfrm>
            <a:off x="3214678" y="5214950"/>
            <a:ext cx="542928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00" dirty="0" smtClean="0"/>
              <a:t>Media de la variable de resultado de  quienes no participaron en el programa.</a:t>
            </a:r>
            <a:endParaRPr lang="es-ES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0" name="19 Rectángulo"/>
              <p:cNvSpPr/>
              <p:nvPr/>
            </p:nvSpPr>
            <p:spPr>
              <a:xfrm>
                <a:off x="122898" y="1628800"/>
                <a:ext cx="24328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0" name="1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98" y="1628800"/>
                <a:ext cx="2432878" cy="52322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22 Rectángulo"/>
              <p:cNvSpPr/>
              <p:nvPr/>
            </p:nvSpPr>
            <p:spPr>
              <a:xfrm>
                <a:off x="143508" y="2636912"/>
                <a:ext cx="24328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CO" sz="28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3" name="2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08" y="2636912"/>
                <a:ext cx="2432878" cy="52322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23 Rectángulo"/>
              <p:cNvSpPr/>
              <p:nvPr/>
            </p:nvSpPr>
            <p:spPr>
              <a:xfrm>
                <a:off x="158902" y="3933056"/>
                <a:ext cx="24328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</m:t>
                          </m:r>
                          <m:r>
                            <a:rPr lang="es-CO" sz="28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4" name="2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02" y="3933056"/>
                <a:ext cx="2432878" cy="52322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5" name="24 Rectángulo"/>
              <p:cNvSpPr/>
              <p:nvPr/>
            </p:nvSpPr>
            <p:spPr>
              <a:xfrm>
                <a:off x="158902" y="5210036"/>
                <a:ext cx="24328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8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CO" sz="28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2800" i="1">
                              <a:latin typeface="Cambria Math"/>
                            </a:rPr>
                            <m:t>𝐷</m:t>
                          </m:r>
                          <m:r>
                            <a:rPr lang="es-ES" sz="2800" i="1">
                              <a:latin typeface="Cambria Math"/>
                            </a:rPr>
                            <m:t>=</m:t>
                          </m:r>
                          <m:r>
                            <a:rPr lang="es-CO" sz="28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5" name="2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02" y="5210036"/>
                <a:ext cx="2432878" cy="52322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5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23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8" name="27 Rectángulo"/>
              <p:cNvSpPr/>
              <p:nvPr/>
            </p:nvSpPr>
            <p:spPr>
              <a:xfrm>
                <a:off x="2159732" y="3780038"/>
                <a:ext cx="505253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500" i="1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ES" sz="2500" i="1">
                            <a:latin typeface="Cambria Math"/>
                          </a:rPr>
                        </m:ctrlPr>
                      </m:dPr>
                      <m:e>
                        <m:r>
                          <a:rPr lang="es-CO" sz="2500" i="1">
                            <a:latin typeface="Cambria Math"/>
                          </a:rPr>
                          <m:t>𝑌</m:t>
                        </m:r>
                        <m:d>
                          <m:dPr>
                            <m:ctrlPr>
                              <a:rPr lang="es-ES" sz="25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ES" sz="2500" i="1">
                                <a:latin typeface="Cambria Math"/>
                              </a:rPr>
                              <m:t>0</m:t>
                            </m:r>
                          </m:e>
                        </m:d>
                      </m:e>
                      <m:e>
                        <m:r>
                          <a:rPr lang="es-CO" sz="2500" i="1">
                            <a:latin typeface="Cambria Math"/>
                          </a:rPr>
                          <m:t>𝐷</m:t>
                        </m:r>
                        <m:r>
                          <a:rPr lang="es-ES" sz="2500" i="1">
                            <a:latin typeface="Cambria Math"/>
                          </a:rPr>
                          <m:t>=1</m:t>
                        </m:r>
                      </m:e>
                    </m:d>
                    <m:r>
                      <a:rPr lang="es-CO" sz="2500" i="1">
                        <a:latin typeface="Cambria Math"/>
                      </a:rPr>
                      <m:t>−</m:t>
                    </m:r>
                    <m:r>
                      <a:rPr lang="es-ES" sz="2500" i="1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ES" sz="2500" i="1">
                            <a:latin typeface="Cambria Math"/>
                          </a:rPr>
                        </m:ctrlPr>
                      </m:dPr>
                      <m:e>
                        <m:r>
                          <a:rPr lang="es-CO" sz="2500" i="1">
                            <a:latin typeface="Cambria Math"/>
                          </a:rPr>
                          <m:t>𝑌</m:t>
                        </m:r>
                        <m:d>
                          <m:dPr>
                            <m:ctrlPr>
                              <a:rPr lang="es-ES" sz="25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ES" sz="2500" i="1">
                                <a:latin typeface="Cambria Math"/>
                              </a:rPr>
                              <m:t>0</m:t>
                            </m:r>
                          </m:e>
                        </m:d>
                      </m:e>
                      <m:e>
                        <m:r>
                          <a:rPr lang="es-CO" sz="2500" i="1">
                            <a:latin typeface="Cambria Math"/>
                          </a:rPr>
                          <m:t>𝐷</m:t>
                        </m:r>
                        <m:r>
                          <a:rPr lang="es-ES" sz="2500" i="1">
                            <a:latin typeface="Cambria Math"/>
                          </a:rPr>
                          <m:t>=</m:t>
                        </m:r>
                        <m:r>
                          <a:rPr lang="es-CO" sz="2500" i="1">
                            <a:latin typeface="Cambria Math"/>
                          </a:rPr>
                          <m:t>0</m:t>
                        </m:r>
                      </m:e>
                    </m:d>
                  </m:oMath>
                </a14:m>
                <a:r>
                  <a:rPr lang="es-CO" sz="2500" dirty="0" smtClean="0"/>
                  <a:t> = 0</a:t>
                </a:r>
                <a:endParaRPr lang="es-CO" sz="2500" dirty="0"/>
              </a:p>
            </p:txBody>
          </p:sp>
        </mc:Choice>
        <mc:Fallback>
          <p:sp>
            <p:nvSpPr>
              <p:cNvPr id="28" name="2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732" y="3780038"/>
                <a:ext cx="5052537" cy="47705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241" t="-8974" r="-965" b="-3076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7" name="26 Rectángulo"/>
              <p:cNvSpPr/>
              <p:nvPr/>
            </p:nvSpPr>
            <p:spPr>
              <a:xfrm>
                <a:off x="359532" y="2132856"/>
                <a:ext cx="8078003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5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500" i="1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s-ES" sz="2500" i="1">
                              <a:latin typeface="Cambria Math"/>
                            </a:rPr>
                            <m:t>𝐴𝑇𝑇</m:t>
                          </m:r>
                        </m:sub>
                      </m:sSub>
                      <m:r>
                        <a:rPr lang="es-ES" sz="2500" i="1">
                          <a:latin typeface="Cambria Math"/>
                        </a:rPr>
                        <m:t>=</m:t>
                      </m:r>
                      <m:r>
                        <a:rPr lang="es-CO" sz="25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5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500" i="1">
                              <a:latin typeface="Cambria Math"/>
                            </a:rPr>
                            <m:t>𝜏</m:t>
                          </m:r>
                        </m:e>
                        <m:e>
                          <m:r>
                            <a:rPr lang="es-CO" sz="25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CO" sz="2500" b="0" i="1" smtClean="0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CO" sz="2500" b="0" i="1" smtClean="0">
                          <a:latin typeface="Cambria Math"/>
                        </a:rPr>
                        <m:t>= </m:t>
                      </m:r>
                      <m:r>
                        <a:rPr lang="es-ES" sz="25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5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25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CO" sz="2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5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s-CO" sz="25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s-ES" sz="25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ES" sz="2500" i="1">
                          <a:latin typeface="Cambria Math"/>
                        </a:rPr>
                        <m:t>−</m:t>
                      </m:r>
                      <m:r>
                        <a:rPr lang="es-ES" sz="2500" i="1">
                          <a:latin typeface="Cambria Math"/>
                        </a:rPr>
                        <m:t>𝐸</m:t>
                      </m:r>
                      <m:r>
                        <a:rPr lang="es-ES" sz="2500" i="1">
                          <a:latin typeface="Cambria Math"/>
                        </a:rPr>
                        <m:t>[</m:t>
                      </m:r>
                      <m:r>
                        <a:rPr lang="es-CO" sz="2500" b="0" i="1" smtClean="0">
                          <a:latin typeface="Cambria Math"/>
                        </a:rPr>
                        <m:t>𝑌</m:t>
                      </m:r>
                      <m:r>
                        <a:rPr lang="es-ES" sz="2500" i="1">
                          <a:latin typeface="Cambria Math"/>
                        </a:rPr>
                        <m:t>(0)|</m:t>
                      </m:r>
                      <m:r>
                        <a:rPr lang="es-CO" sz="2500" b="0" i="1" smtClean="0">
                          <a:latin typeface="Cambria Math"/>
                        </a:rPr>
                        <m:t>𝐷</m:t>
                      </m:r>
                      <m:r>
                        <a:rPr lang="es-ES" sz="2500" i="1">
                          <a:latin typeface="Cambria Math"/>
                        </a:rPr>
                        <m:t>=</m:t>
                      </m:r>
                      <m:r>
                        <a:rPr lang="es-CO" sz="2500" b="0" i="1" smtClean="0">
                          <a:latin typeface="Cambria Math"/>
                        </a:rPr>
                        <m:t>1</m:t>
                      </m:r>
                      <m:r>
                        <a:rPr lang="es-ES" sz="2500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s-CO" sz="2500" dirty="0"/>
              </a:p>
            </p:txBody>
          </p:sp>
        </mc:Choice>
        <mc:Fallback>
          <p:sp>
            <p:nvSpPr>
              <p:cNvPr id="27" name="2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2" y="2132856"/>
                <a:ext cx="8078003" cy="4770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4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714348" y="3237698"/>
            <a:ext cx="516186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Para calcularlo podemos suponer que:</a:t>
            </a:r>
            <a:endParaRPr lang="es-AR" sz="2500" dirty="0"/>
          </a:p>
        </p:txBody>
      </p:sp>
      <p:sp>
        <p:nvSpPr>
          <p:cNvPr id="9" name="8 CuadroTexto"/>
          <p:cNvSpPr txBox="1"/>
          <p:nvPr/>
        </p:nvSpPr>
        <p:spPr>
          <a:xfrm>
            <a:off x="500034" y="1523186"/>
            <a:ext cx="652640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dirty="0" smtClean="0"/>
              <a:t>El objeto de la evaluación de impacto es estimar:</a:t>
            </a:r>
            <a:endParaRPr lang="es-AR" sz="25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714348" y="4569607"/>
            <a:ext cx="778674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500" dirty="0" smtClean="0"/>
              <a:t>El principal reto es determinar bajo qué condiciones este supuesto sería válido.	</a:t>
            </a:r>
          </a:p>
          <a:p>
            <a:pPr algn="ctr"/>
            <a:endParaRPr lang="es-ES" sz="1200" dirty="0" smtClean="0"/>
          </a:p>
          <a:p>
            <a:pPr algn="ctr"/>
            <a:r>
              <a:rPr lang="es-ES" sz="2500" dirty="0" smtClean="0"/>
              <a:t>   El supuesto se viola cuando           hay autoselección.</a:t>
            </a:r>
          </a:p>
        </p:txBody>
      </p:sp>
      <p:sp>
        <p:nvSpPr>
          <p:cNvPr id="11" name="10 Abrir llave"/>
          <p:cNvSpPr/>
          <p:nvPr/>
        </p:nvSpPr>
        <p:spPr>
          <a:xfrm rot="16200000">
            <a:off x="4536282" y="1178701"/>
            <a:ext cx="214314" cy="6429423"/>
          </a:xfrm>
          <a:prstGeom prst="leftBrac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17 Abrir llave"/>
          <p:cNvSpPr/>
          <p:nvPr/>
        </p:nvSpPr>
        <p:spPr>
          <a:xfrm rot="16200000">
            <a:off x="6982792" y="1767824"/>
            <a:ext cx="117158" cy="2062183"/>
          </a:xfrm>
          <a:prstGeom prst="leftBrac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9" name="18 CuadroTexto"/>
          <p:cNvSpPr txBox="1"/>
          <p:nvPr/>
        </p:nvSpPr>
        <p:spPr>
          <a:xfrm>
            <a:off x="6163277" y="2855237"/>
            <a:ext cx="17816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200" dirty="0" smtClean="0"/>
              <a:t>No observado</a:t>
            </a:r>
            <a:endParaRPr lang="es-ES" sz="2200" dirty="0"/>
          </a:p>
        </p:txBody>
      </p:sp>
      <p:cxnSp>
        <p:nvCxnSpPr>
          <p:cNvPr id="21" name="20 Conector recto de flecha"/>
          <p:cNvCxnSpPr/>
          <p:nvPr/>
        </p:nvCxnSpPr>
        <p:spPr>
          <a:xfrm>
            <a:off x="5000628" y="5786454"/>
            <a:ext cx="500066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" name="1 Título"/>
          <p:cNvSpPr>
            <a:spLocks noGrp="1"/>
          </p:cNvSpPr>
          <p:nvPr>
            <p:ph type="title"/>
          </p:nvPr>
        </p:nvSpPr>
        <p:spPr>
          <a:xfrm>
            <a:off x="2428860" y="274638"/>
            <a:ext cx="6500858" cy="1011222"/>
          </a:xfrm>
        </p:spPr>
        <p:txBody>
          <a:bodyPr>
            <a:normAutofit/>
          </a:bodyPr>
          <a:lstStyle/>
          <a:p>
            <a:r>
              <a:rPr lang="es-CO" sz="4200" u="sng" dirty="0" smtClean="0"/>
              <a:t>Reto de la evaluación</a:t>
            </a:r>
            <a:endParaRPr lang="es-ES" sz="4200" u="sng" dirty="0"/>
          </a:p>
        </p:txBody>
      </p:sp>
      <p:sp>
        <p:nvSpPr>
          <p:cNvPr id="25" name="24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24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374779"/>
            <a:ext cx="8258204" cy="4768865"/>
          </a:xfrm>
        </p:spPr>
        <p:txBody>
          <a:bodyPr/>
          <a:lstStyle/>
          <a:p>
            <a:pPr>
              <a:buNone/>
            </a:pPr>
            <a:r>
              <a:rPr lang="es-CO" sz="2500" dirty="0" smtClean="0"/>
              <a:t>	Cuando los individuos se autoseleccionan en el programa:</a:t>
            </a:r>
          </a:p>
          <a:p>
            <a:pPr lvl="1"/>
            <a:r>
              <a:rPr lang="es-CO" sz="2500" dirty="0" smtClean="0"/>
              <a:t>Existen </a:t>
            </a:r>
            <a:r>
              <a:rPr lang="es-CO" sz="2500" u="sng" dirty="0" smtClean="0"/>
              <a:t>características observadas y no observadas</a:t>
            </a:r>
            <a:r>
              <a:rPr lang="es-CO" sz="2500" dirty="0" smtClean="0"/>
              <a:t> que causan que unos individuos decidan participar y otros decidan no hacerlo. Por lo tanto, los dos grupos podrían ser sistemáticamente diferentes.</a:t>
            </a:r>
          </a:p>
          <a:p>
            <a:pPr lvl="1" indent="-17463">
              <a:buNone/>
            </a:pPr>
            <a:r>
              <a:rPr lang="es-CO" sz="2500" dirty="0" smtClean="0"/>
              <a:t>(Características </a:t>
            </a:r>
            <a:r>
              <a:rPr lang="es-CO" sz="2500" i="1" dirty="0" smtClean="0"/>
              <a:t>no observadas </a:t>
            </a:r>
            <a:r>
              <a:rPr lang="es-CO" sz="2500" dirty="0" smtClean="0"/>
              <a:t>son aquellas que no se miden o no quedaron registradas en la base de datos)</a:t>
            </a:r>
          </a:p>
          <a:p>
            <a:pPr lvl="1"/>
            <a:r>
              <a:rPr lang="es-CO" sz="2500" dirty="0" smtClean="0"/>
              <a:t>El grupo de tratamiento y el de control son generalmente distintos, aun en ausencia del programa</a:t>
            </a:r>
            <a:r>
              <a:rPr lang="es-CO" dirty="0" smtClean="0"/>
              <a:t>.</a:t>
            </a:r>
          </a:p>
          <a:p>
            <a:pPr lvl="1" algn="just">
              <a:buNone/>
            </a:pPr>
            <a:endParaRPr lang="es-CO" dirty="0" smtClean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Sesgo de selección</a:t>
            </a:r>
            <a:endParaRPr kumimoji="0" lang="es-AR" sz="44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7 Flecha abajo"/>
          <p:cNvSpPr/>
          <p:nvPr/>
        </p:nvSpPr>
        <p:spPr>
          <a:xfrm>
            <a:off x="4216520" y="5161752"/>
            <a:ext cx="427488" cy="427488"/>
          </a:xfrm>
          <a:prstGeom prst="downArrow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624100" y="5375538"/>
            <a:ext cx="1571636" cy="86177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Sesgo de selección </a:t>
            </a:r>
            <a:endParaRPr lang="es-ES" sz="2500" dirty="0"/>
          </a:p>
        </p:txBody>
      </p:sp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cxnSp>
        <p:nvCxnSpPr>
          <p:cNvPr id="13" name="12 Conector recto de flecha"/>
          <p:cNvCxnSpPr/>
          <p:nvPr/>
        </p:nvCxnSpPr>
        <p:spPr>
          <a:xfrm flipV="1">
            <a:off x="2214547" y="5730997"/>
            <a:ext cx="571503" cy="225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16 Rectángulo"/>
              <p:cNvSpPr/>
              <p:nvPr/>
            </p:nvSpPr>
            <p:spPr>
              <a:xfrm>
                <a:off x="2735796" y="5517232"/>
                <a:ext cx="5809539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0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30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3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30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3000" i="1">
                              <a:latin typeface="Cambria Math"/>
                            </a:rPr>
                            <m:t>𝐷</m:t>
                          </m:r>
                          <m:r>
                            <a:rPr lang="es-ES" sz="30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CO" sz="3000" i="1" smtClean="0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s-ES" sz="30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30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3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30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3000" i="1">
                              <a:latin typeface="Cambria Math"/>
                            </a:rPr>
                            <m:t>𝐷</m:t>
                          </m:r>
                          <m:r>
                            <a:rPr lang="es-ES" sz="3000" i="1">
                              <a:latin typeface="Cambria Math"/>
                            </a:rPr>
                            <m:t>=</m:t>
                          </m:r>
                          <m:r>
                            <a:rPr lang="es-CO" sz="3000" i="1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CO" sz="3000" dirty="0"/>
              </a:p>
            </p:txBody>
          </p:sp>
        </mc:Choice>
        <mc:Fallback>
          <p:sp>
            <p:nvSpPr>
              <p:cNvPr id="17" name="1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796" y="5517232"/>
                <a:ext cx="5809539" cy="55399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17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25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7298"/>
            <a:ext cx="8401080" cy="4929222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s-CO" sz="2500" dirty="0" smtClean="0"/>
              <a:t>	Suponga que en el programa </a:t>
            </a:r>
            <a:r>
              <a:rPr lang="es-CO" sz="2500" i="1" dirty="0" smtClean="0"/>
              <a:t>Canasta</a:t>
            </a:r>
            <a:r>
              <a:rPr lang="es-CO" sz="2500" dirty="0" smtClean="0"/>
              <a:t> los individuos deben decidir si participar o no (p. ej., el programa no es obligatorio).</a:t>
            </a:r>
          </a:p>
          <a:p>
            <a:pPr algn="just">
              <a:buNone/>
            </a:pPr>
            <a:r>
              <a:rPr lang="es-CO" sz="2500" dirty="0" smtClean="0"/>
              <a:t>	Participar tiene un costo:</a:t>
            </a:r>
          </a:p>
          <a:p>
            <a:pPr lvl="1" algn="just"/>
            <a:r>
              <a:rPr lang="es-CO" sz="2500" dirty="0" smtClean="0"/>
              <a:t>Tiempo </a:t>
            </a:r>
          </a:p>
          <a:p>
            <a:pPr lvl="1" algn="just"/>
            <a:r>
              <a:rPr lang="es-CO" sz="2500" dirty="0" smtClean="0"/>
              <a:t>Trámites</a:t>
            </a:r>
          </a:p>
          <a:p>
            <a:pPr>
              <a:buNone/>
            </a:pPr>
            <a:r>
              <a:rPr lang="es-CO" sz="2500" dirty="0" smtClean="0"/>
              <a:t>	Lo que puede generar que existan diferencias entre el perfil de las madres de los niños elegibles, que aplican y las que no aplican para participar.</a:t>
            </a:r>
          </a:p>
          <a:p>
            <a:pPr algn="just">
              <a:buNone/>
            </a:pPr>
            <a:r>
              <a:rPr lang="es-CO" sz="2500" dirty="0" smtClean="0"/>
              <a:t> </a:t>
            </a:r>
          </a:p>
          <a:p>
            <a:pPr algn="just"/>
            <a:endParaRPr lang="es-CO" sz="2700" dirty="0" smtClean="0"/>
          </a:p>
          <a:p>
            <a:pPr algn="just"/>
            <a:endParaRPr lang="es-CO" dirty="0" smtClean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428860" y="142852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</a:t>
            </a:r>
            <a:r>
              <a:rPr kumimoji="0" lang="es-ES" sz="44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Canasta</a:t>
            </a:r>
            <a:endParaRPr kumimoji="0" lang="es-AR" sz="44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6 Cerrar llave"/>
          <p:cNvSpPr/>
          <p:nvPr/>
        </p:nvSpPr>
        <p:spPr>
          <a:xfrm>
            <a:off x="2428860" y="3075230"/>
            <a:ext cx="142876" cy="785818"/>
          </a:xfrm>
          <a:prstGeom prst="righ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2627784" y="3270756"/>
            <a:ext cx="532859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300" dirty="0" smtClean="0"/>
              <a:t>P. ej., formularios, controles médicos, etc.</a:t>
            </a:r>
            <a:endParaRPr lang="es-ES" sz="2300" dirty="0"/>
          </a:p>
        </p:txBody>
      </p:sp>
      <p:cxnSp>
        <p:nvCxnSpPr>
          <p:cNvPr id="11" name="10 Conector recto de flecha"/>
          <p:cNvCxnSpPr/>
          <p:nvPr/>
        </p:nvCxnSpPr>
        <p:spPr>
          <a:xfrm flipV="1">
            <a:off x="3923928" y="5514973"/>
            <a:ext cx="1143007" cy="225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5076056" y="4918809"/>
            <a:ext cx="3357586" cy="124649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Puede incidir en el estado nutricional de los niños.</a:t>
            </a:r>
            <a:endParaRPr lang="es-ES" sz="2500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57225" y="5157192"/>
            <a:ext cx="3071834" cy="86177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P. ej.: Madres más o menos proactivas.</a:t>
            </a:r>
            <a:endParaRPr lang="es-ES" sz="2500" dirty="0"/>
          </a:p>
        </p:txBody>
      </p:sp>
      <p:sp>
        <p:nvSpPr>
          <p:cNvPr id="13" name="12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26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1571612"/>
                <a:ext cx="8535322" cy="502574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s-ES" sz="2500" dirty="0" smtClean="0"/>
                  <a:t>Al violarse el supuesto:     </a:t>
                </a:r>
              </a:p>
              <a:p>
                <a:pPr>
                  <a:buNone/>
                </a:pPr>
                <a:r>
                  <a:rPr lang="es-ES" dirty="0" smtClean="0"/>
                  <a:t>	</a:t>
                </a:r>
              </a:p>
              <a:p>
                <a:pPr>
                  <a:buNone/>
                </a:pPr>
                <a:endParaRPr lang="es-ES" dirty="0" smtClean="0"/>
              </a:p>
              <a:p>
                <a:pPr algn="just">
                  <a:buNone/>
                </a:pPr>
                <a:r>
                  <a:rPr lang="es-ES" sz="3000" dirty="0" smtClean="0"/>
                  <a:t>    </a:t>
                </a:r>
              </a:p>
              <a:p>
                <a:pPr algn="just">
                  <a:buNone/>
                </a:pPr>
                <a:r>
                  <a:rPr lang="es-ES" sz="2500" dirty="0" smtClean="0"/>
                  <a:t>	</a:t>
                </a:r>
                <a:r>
                  <a:rPr lang="es-ES" sz="2900" dirty="0" smtClean="0"/>
                  <a:t>en la regresión                                                  implica:</a:t>
                </a:r>
              </a:p>
              <a:p>
                <a:pPr algn="just">
                  <a:buNone/>
                </a:pPr>
                <a:r>
                  <a:rPr lang="es-ES" sz="2500" dirty="0" smtClean="0"/>
                  <a:t>	</a:t>
                </a:r>
              </a:p>
              <a:p>
                <a:pPr algn="just">
                  <a:buNone/>
                </a:pPr>
                <a:endParaRPr lang="es-ES" sz="2500" dirty="0" smtClean="0"/>
              </a:p>
              <a:p>
                <a:pPr algn="just">
                  <a:buNone/>
                </a:pPr>
                <a:endParaRPr lang="es-ES" sz="2500" dirty="0" smtClean="0"/>
              </a:p>
              <a:p>
                <a:pPr>
                  <a:lnSpc>
                    <a:spcPct val="120000"/>
                  </a:lnSpc>
                  <a:buNone/>
                </a:pPr>
                <a:r>
                  <a:rPr lang="es-ES" sz="2700" dirty="0" smtClean="0"/>
                  <a:t>     Existen características observadas y no observadas de los individuos contenidas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O" sz="27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s-CO" sz="27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2700" dirty="0" smtClean="0"/>
                  <a:t> que explican tanto la decisión de participar en el programa,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O" sz="2700" b="0" i="1" smtClean="0">
                            <a:latin typeface="Cambria Math"/>
                          </a:rPr>
                          <m:t> </m:t>
                        </m:r>
                        <m:r>
                          <a:rPr lang="es-CO" sz="270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s-CO" sz="27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2700" dirty="0" smtClean="0"/>
                  <a:t> , como la variable de resultado </a:t>
                </a:r>
                <a:r>
                  <a:rPr lang="es-ES" sz="2700" i="1" dirty="0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s-ES" sz="2700" i="1" baseline="-25000" dirty="0" smtClean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s-ES" sz="2700" dirty="0" smtClean="0"/>
                  <a:t>.  </a:t>
                </a:r>
              </a:p>
              <a:p>
                <a:pPr algn="just">
                  <a:buNone/>
                </a:pPr>
                <a:r>
                  <a:rPr lang="es-ES" sz="3000" dirty="0" smtClean="0"/>
                  <a:t>	</a:t>
                </a:r>
              </a:p>
            </p:txBody>
          </p:sp>
        </mc:Choice>
        <mc:Fallback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1571612"/>
                <a:ext cx="8535322" cy="5025740"/>
              </a:xfrm>
              <a:blipFill rotWithShape="1">
                <a:blip r:embed="rId2" cstate="print"/>
                <a:stretch>
                  <a:fillRect l="-714" t="-133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3491880" y="3877888"/>
                <a:ext cx="22783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𝐸</m:t>
                          </m:r>
                          <m:r>
                            <a:rPr lang="es-CO" sz="2800" b="0" i="1" smtClean="0">
                              <a:latin typeface="Cambria Math"/>
                            </a:rPr>
                            <m:t>[</m:t>
                          </m:r>
                          <m:r>
                            <a:rPr lang="es-E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|"/>
                          <m:endChr m:val="]"/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CO" sz="28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s-CO" sz="2800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8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sz="2800" b="0" i="1" smtClean="0">
                          <a:latin typeface="Cambria Math"/>
                          <a:ea typeface="Cambria Math"/>
                        </a:rPr>
                        <m:t>≠0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3877888"/>
                <a:ext cx="2278381" cy="52322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6" name="35 Rectángulo"/>
              <p:cNvSpPr/>
              <p:nvPr/>
            </p:nvSpPr>
            <p:spPr>
              <a:xfrm>
                <a:off x="2700164" y="3257966"/>
                <a:ext cx="3311996" cy="5670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36" name="3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164" y="3257966"/>
                <a:ext cx="3311996" cy="567078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Consecuencia del sesgo de selección</a:t>
            </a:r>
            <a:endParaRPr kumimoji="0" lang="es-AR" sz="44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0497" name="Rectangle 17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" name="29 Flecha abajo"/>
          <p:cNvSpPr/>
          <p:nvPr/>
        </p:nvSpPr>
        <p:spPr>
          <a:xfrm>
            <a:off x="4429124" y="2780928"/>
            <a:ext cx="500066" cy="428628"/>
          </a:xfrm>
          <a:prstGeom prst="downArrow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5" name="34 Rectángulo"/>
              <p:cNvSpPr/>
              <p:nvPr/>
            </p:nvSpPr>
            <p:spPr>
              <a:xfrm>
                <a:off x="1856024" y="2096852"/>
                <a:ext cx="6352380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00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30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3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30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3000" i="1">
                              <a:latin typeface="Cambria Math"/>
                            </a:rPr>
                            <m:t>𝐷</m:t>
                          </m:r>
                          <m:r>
                            <a:rPr lang="es-ES" sz="3000" i="1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s-CO" sz="3000" i="1">
                          <a:latin typeface="Cambria Math"/>
                        </a:rPr>
                        <m:t>−</m:t>
                      </m:r>
                      <m:r>
                        <a:rPr lang="es-ES" sz="30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O" sz="3000" i="1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s-ES" sz="3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3000" i="1">
                                  <a:latin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s-CO" sz="3000" i="1">
                              <a:latin typeface="Cambria Math"/>
                            </a:rPr>
                            <m:t>𝐷</m:t>
                          </m:r>
                          <m:r>
                            <a:rPr lang="es-ES" sz="3000" i="1">
                              <a:latin typeface="Cambria Math"/>
                            </a:rPr>
                            <m:t>=</m:t>
                          </m:r>
                          <m:r>
                            <a:rPr lang="es-CO" sz="3000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s-CO" sz="3000" b="0" i="1" smtClean="0">
                          <a:latin typeface="Cambria Math"/>
                        </a:rPr>
                        <m:t> </m:t>
                      </m:r>
                      <m:r>
                        <a:rPr lang="es-CO" sz="3000" b="0" i="1" smtClean="0">
                          <a:latin typeface="Cambria Math"/>
                          <a:ea typeface="Cambria Math"/>
                        </a:rPr>
                        <m:t>≠0</m:t>
                      </m:r>
                    </m:oMath>
                  </m:oMathPara>
                </a14:m>
                <a:endParaRPr lang="es-CO" sz="3000" dirty="0"/>
              </a:p>
            </p:txBody>
          </p:sp>
        </mc:Choice>
        <mc:Fallback>
          <p:sp>
            <p:nvSpPr>
              <p:cNvPr id="35" name="3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024" y="2096852"/>
                <a:ext cx="6352380" cy="553998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30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27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71612"/>
            <a:ext cx="8258204" cy="4357718"/>
          </a:xfrm>
        </p:spPr>
        <p:txBody>
          <a:bodyPr>
            <a:normAutofit fontScale="92500" lnSpcReduction="10000"/>
          </a:bodyPr>
          <a:lstStyle/>
          <a:p>
            <a:pPr algn="just"/>
            <a:endParaRPr lang="es-ES" sz="2500" dirty="0" smtClean="0"/>
          </a:p>
          <a:p>
            <a:r>
              <a:rPr lang="es-ES" sz="2500" dirty="0" smtClean="0"/>
              <a:t>Cuando se viola el supuesto de </a:t>
            </a:r>
            <a:r>
              <a:rPr lang="es-ES" sz="2500" u="sng" dirty="0" smtClean="0"/>
              <a:t>independencia condicional</a:t>
            </a:r>
            <a:r>
              <a:rPr lang="es-ES" sz="2500" dirty="0" smtClean="0"/>
              <a:t>, el estimador        de mínimos cuadrados ordinarios (MCO) deja de ser insesgado.</a:t>
            </a:r>
          </a:p>
          <a:p>
            <a:pPr algn="just"/>
            <a:endParaRPr lang="es-ES" sz="2500" dirty="0" smtClean="0"/>
          </a:p>
          <a:p>
            <a:pPr algn="just"/>
            <a:endParaRPr lang="es-ES" sz="2500" dirty="0" smtClean="0"/>
          </a:p>
          <a:p>
            <a:r>
              <a:rPr lang="es-ES" sz="2500" dirty="0" smtClean="0"/>
              <a:t>Por ende, el efecto del programa no se puede obtener de la comparación de las medias de la variable de resultado entre los tratados y no tratados.     captura tanto el efecto directo del programa como el efecto que tienen otros factores no medidos (p. ej., </a:t>
            </a:r>
            <a:r>
              <a:rPr lang="es-ES" sz="2500" dirty="0" err="1" smtClean="0"/>
              <a:t>proactividad</a:t>
            </a:r>
            <a:r>
              <a:rPr lang="es-ES" sz="2500" dirty="0" smtClean="0"/>
              <a:t> y motivación de la madre) sobre el estado nutricional del niño… y ¡no se pueden separar!</a:t>
            </a:r>
          </a:p>
          <a:p>
            <a:pPr>
              <a:buNone/>
            </a:pPr>
            <a:endParaRPr lang="es-AR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00298" y="214290"/>
            <a:ext cx="6286544" cy="12858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Consecuencias</a:t>
            </a:r>
            <a:r>
              <a:rPr kumimoji="0" lang="es-ES" sz="4200" b="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en las propiedades del estimador</a:t>
            </a:r>
            <a:endParaRPr kumimoji="0" lang="es-AR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10" name="9 Flecha abajo"/>
          <p:cNvSpPr/>
          <p:nvPr/>
        </p:nvSpPr>
        <p:spPr>
          <a:xfrm>
            <a:off x="4286248" y="2928934"/>
            <a:ext cx="500066" cy="571504"/>
          </a:xfrm>
          <a:prstGeom prst="downArrow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aphicFrame>
        <p:nvGraphicFramePr>
          <p:cNvPr id="11" name="10 Objeto"/>
          <p:cNvGraphicFramePr>
            <a:graphicFrameLocks noChangeAspect="1"/>
          </p:cNvGraphicFramePr>
          <p:nvPr/>
        </p:nvGraphicFramePr>
        <p:xfrm>
          <a:off x="2195736" y="2232925"/>
          <a:ext cx="374652" cy="481695"/>
        </p:xfrm>
        <a:graphic>
          <a:graphicData uri="http://schemas.openxmlformats.org/presentationml/2006/ole">
            <p:oleObj spid="_x0000_s15389" name="Ecuación" r:id="rId5" imgW="177646" imgH="228402" progId="Equation.3">
              <p:embed/>
            </p:oleObj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3563888" y="4316139"/>
          <a:ext cx="374650" cy="481013"/>
        </p:xfrm>
        <a:graphic>
          <a:graphicData uri="http://schemas.openxmlformats.org/presentationml/2006/ole">
            <p:oleObj spid="_x0000_s15390" name="Ecuación" r:id="rId6" imgW="177646" imgH="228402" progId="Equation.3">
              <p:embed/>
            </p:oleObj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28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017721"/>
            <a:ext cx="8229600" cy="4340237"/>
          </a:xfrm>
        </p:spPr>
        <p:txBody>
          <a:bodyPr/>
          <a:lstStyle/>
          <a:p>
            <a:r>
              <a:rPr lang="es-ES" sz="2500" dirty="0" smtClean="0"/>
              <a:t>Si las características del individuo que explican tanto la participación en el programa como la relación con la variable de resultado son observadas y están contenidas en la base de datos, se deben introducir explícitamente en la regresión, para eliminar el sesgo, así:</a:t>
            </a:r>
          </a:p>
          <a:p>
            <a:pPr algn="just">
              <a:buNone/>
            </a:pPr>
            <a:r>
              <a:rPr lang="es-ES" dirty="0" smtClean="0"/>
              <a:t>    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22 Rectángulo"/>
              <p:cNvSpPr/>
              <p:nvPr/>
            </p:nvSpPr>
            <p:spPr>
              <a:xfrm>
                <a:off x="2375756" y="4194070"/>
                <a:ext cx="4591257" cy="5670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CO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O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s-ES" sz="28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3" name="2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756" y="4194070"/>
                <a:ext cx="4591257" cy="567078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¿Cómo eliminar el </a:t>
            </a:r>
            <a:r>
              <a:rPr lang="es-ES" sz="4200" u="sng" dirty="0" smtClean="0">
                <a:latin typeface="+mj-lt"/>
                <a:ea typeface="+mj-ea"/>
                <a:cs typeface="+mj-cs"/>
              </a:rPr>
              <a:t>s</a:t>
            </a:r>
            <a:r>
              <a:rPr kumimoji="0" lang="es-ES" sz="4200" b="0" i="0" u="sng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esgo</a:t>
            </a: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200" u="sng" noProof="0" dirty="0" smtClean="0">
                <a:latin typeface="+mj-lt"/>
                <a:ea typeface="+mj-ea"/>
                <a:cs typeface="+mj-cs"/>
              </a:rPr>
              <a:t>Variables observadas</a:t>
            </a: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s-AR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714612" y="5214950"/>
            <a:ext cx="58181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dirty="0" smtClean="0"/>
              <a:t>Características observadas del individuo </a:t>
            </a:r>
            <a:r>
              <a:rPr lang="es-ES" sz="25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ES" sz="2500" dirty="0" smtClean="0"/>
              <a:t>.</a:t>
            </a:r>
            <a:endParaRPr lang="es-AR" sz="2500" dirty="0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7" name="26 Conector recto de flecha"/>
          <p:cNvCxnSpPr/>
          <p:nvPr/>
        </p:nvCxnSpPr>
        <p:spPr>
          <a:xfrm rot="5400000">
            <a:off x="5536413" y="4964123"/>
            <a:ext cx="500066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29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s-CO" sz="2500" dirty="0" smtClean="0"/>
              <a:t>	Si los individuos más pobres son aquellos que deciden participar en el programa, mientras que los más ricos deciden no hacerlo</a:t>
            </a:r>
          </a:p>
          <a:p>
            <a:pPr lvl="1" algn="just">
              <a:buNone/>
            </a:pPr>
            <a:endParaRPr lang="es-ES" sz="2100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428860" y="142852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</a:t>
            </a:r>
            <a:r>
              <a:rPr kumimoji="0" lang="es-ES" sz="44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Canasta</a:t>
            </a:r>
            <a:endParaRPr kumimoji="0" lang="es-AR" sz="44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5 Flecha abajo"/>
          <p:cNvSpPr/>
          <p:nvPr/>
        </p:nvSpPr>
        <p:spPr>
          <a:xfrm>
            <a:off x="4071934" y="2928934"/>
            <a:ext cx="500066" cy="357190"/>
          </a:xfrm>
          <a:prstGeom prst="downArrow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6 CuadroTexto"/>
              <p:cNvSpPr txBox="1"/>
              <p:nvPr/>
            </p:nvSpPr>
            <p:spPr>
              <a:xfrm>
                <a:off x="928662" y="3396951"/>
                <a:ext cx="7416197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2500" dirty="0" smtClean="0"/>
                  <a:t>Entonces la variable de control incluida en la regresión:</a:t>
                </a:r>
              </a:p>
              <a:p>
                <a:endParaRPr lang="es-CO" sz="2500" i="1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25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O" sz="25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s-CO" sz="25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CO" sz="2500" i="1" dirty="0" smtClean="0"/>
                  <a:t>	</a:t>
                </a:r>
                <a:r>
                  <a:rPr lang="es-CO" sz="2500" dirty="0" smtClean="0"/>
                  <a:t>es el ingreso de las familias</a:t>
                </a:r>
                <a:endParaRPr lang="es-ES" sz="2500" dirty="0"/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62" y="3396951"/>
                <a:ext cx="7416197" cy="1246495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l="-1315" t="-3415" b="-107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1500166" y="4427544"/>
            <a:ext cx="357190" cy="158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857224" y="4929198"/>
            <a:ext cx="77867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De esta manera se elimina el sesgo de selección y      es un estimador insesgado y consistente del programa. </a:t>
            </a:r>
            <a:endParaRPr lang="es-ES" sz="2500" dirty="0"/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7286644" y="4929198"/>
          <a:ext cx="374650" cy="481012"/>
        </p:xfrm>
        <a:graphic>
          <a:graphicData uri="http://schemas.openxmlformats.org/presentationml/2006/ole">
            <p:oleObj spid="_x0000_s16400" name="Ecuación" r:id="rId5" imgW="177646" imgH="228402" progId="Equation.3">
              <p:embed/>
            </p:oleObj>
          </a:graphicData>
        </a:graphic>
      </p:graphicFrame>
      <p:sp>
        <p:nvSpPr>
          <p:cNvPr id="13" name="12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30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643051"/>
            <a:ext cx="8229600" cy="4071966"/>
          </a:xfrm>
        </p:spPr>
        <p:txBody>
          <a:bodyPr>
            <a:normAutofit/>
          </a:bodyPr>
          <a:lstStyle/>
          <a:p>
            <a:r>
              <a:rPr lang="es-ES" sz="2500" dirty="0" smtClean="0"/>
              <a:t>Si las variables que determinan la participación en el programa no se observan o no están registradas en la base</a:t>
            </a:r>
          </a:p>
          <a:p>
            <a:pPr>
              <a:buNone/>
            </a:pPr>
            <a:r>
              <a:rPr lang="es-ES" sz="2500" dirty="0" smtClean="0"/>
              <a:t>	</a:t>
            </a:r>
          </a:p>
          <a:p>
            <a:pPr>
              <a:buNone/>
            </a:pPr>
            <a:endParaRPr lang="es-ES" sz="2500" dirty="0" smtClean="0"/>
          </a:p>
          <a:p>
            <a:pPr>
              <a:buNone/>
            </a:pPr>
            <a:r>
              <a:rPr lang="es-ES" sz="2500" dirty="0" smtClean="0"/>
              <a:t>	Suponiendo que </a:t>
            </a:r>
            <a:r>
              <a:rPr lang="es-ES" sz="2500" i="1" dirty="0" smtClean="0"/>
              <a:t>w</a:t>
            </a:r>
            <a:r>
              <a:rPr lang="es-ES" sz="2500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s-ES" sz="2500" dirty="0" smtClean="0"/>
              <a:t> es la variable omitida, es decir: </a:t>
            </a:r>
            <a:endParaRPr lang="es-AR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1" name="20 CuadroTexto"/>
              <p:cNvSpPr txBox="1"/>
              <p:nvPr/>
            </p:nvSpPr>
            <p:spPr>
              <a:xfrm>
                <a:off x="3491880" y="2528900"/>
                <a:ext cx="2153218" cy="581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3000" b="0" i="1" smtClean="0">
                        <a:latin typeface="Cambria Math"/>
                      </a:rPr>
                      <m:t>𝐸</m:t>
                    </m:r>
                    <m:r>
                      <a:rPr lang="es-CO" sz="30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30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3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30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3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30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3000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s-CO" sz="3000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s-CO" sz="3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30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3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dirty="0" smtClean="0"/>
                  <a:t> </a:t>
                </a:r>
                <a:endParaRPr lang="es-CO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528900"/>
                <a:ext cx="2153218" cy="581121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215106" cy="1225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200" u="sng" noProof="0" dirty="0" smtClean="0">
                <a:latin typeface="+mj-lt"/>
                <a:ea typeface="+mj-ea"/>
                <a:cs typeface="+mj-cs"/>
              </a:rPr>
              <a:t>V</a:t>
            </a:r>
            <a:r>
              <a:rPr kumimoji="0" lang="es-ES" sz="4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ariables no observadas</a:t>
            </a:r>
            <a:endParaRPr kumimoji="0" lang="es-AR" sz="42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4286248" y="4714884"/>
            <a:ext cx="307622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dirty="0" smtClean="0"/>
              <a:t>Variable no observada</a:t>
            </a:r>
            <a:endParaRPr lang="es-AR" sz="2500" dirty="0"/>
          </a:p>
        </p:txBody>
      </p:sp>
      <p:cxnSp>
        <p:nvCxnSpPr>
          <p:cNvPr id="19" name="18 Conector recto de flecha"/>
          <p:cNvCxnSpPr/>
          <p:nvPr/>
        </p:nvCxnSpPr>
        <p:spPr>
          <a:xfrm rot="5400000">
            <a:off x="5670213" y="4527213"/>
            <a:ext cx="507689" cy="1052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642910" y="5286388"/>
            <a:ext cx="8143932" cy="86177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Al no poder incluir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s-CO" sz="2500" i="1" dirty="0" smtClean="0"/>
              <a:t> </a:t>
            </a:r>
            <a:r>
              <a:rPr lang="es-CO" sz="2500" dirty="0" smtClean="0"/>
              <a:t>en la regresión, le estamos atribuyendo al programa parte del efecto que tiene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s-CO" sz="2500" i="1" dirty="0" smtClean="0"/>
              <a:t> </a:t>
            </a:r>
            <a:r>
              <a:rPr lang="es-CO" sz="2500" dirty="0" smtClean="0"/>
              <a:t>sobre </a:t>
            </a:r>
            <a:r>
              <a:rPr lang="es-CO" sz="2500" i="1" dirty="0" smtClean="0">
                <a:latin typeface="Times New Roman" pitchFamily="18" charset="0"/>
                <a:cs typeface="Times New Roman" pitchFamily="18" charset="0"/>
              </a:rPr>
              <a:t>Y.</a:t>
            </a:r>
            <a:endParaRPr lang="es-ES" sz="25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62465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20828" y="2060848"/>
            <a:ext cx="327636" cy="50405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20" name="19 Rectángulo"/>
              <p:cNvSpPr/>
              <p:nvPr/>
            </p:nvSpPr>
            <p:spPr>
              <a:xfrm>
                <a:off x="2771800" y="3861048"/>
                <a:ext cx="4195058" cy="533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6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6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s-ES" sz="26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6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CO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6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6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6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ES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6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ES" sz="26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CO" sz="26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6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CO" sz="2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O" sz="2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O" sz="26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CO" sz="26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CO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6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s-ES" sz="26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sz="2600" dirty="0"/>
              </a:p>
            </p:txBody>
          </p:sp>
        </mc:Choice>
        <mc:Fallback>
          <p:sp>
            <p:nvSpPr>
              <p:cNvPr id="20" name="1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861048"/>
                <a:ext cx="4195058" cy="533159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17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31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algn="ctr">
              <a:buNone/>
            </a:pPr>
            <a:r>
              <a:rPr lang="es-CO" sz="2500" dirty="0" smtClean="0"/>
              <a:t>	Si, por ejemplo, la diferencia entre los niños participantes y no participantes es la dedicación de la madre</a:t>
            </a:r>
          </a:p>
          <a:p>
            <a:pPr>
              <a:buNone/>
            </a:pPr>
            <a:r>
              <a:rPr lang="es-CO" sz="2500" dirty="0" smtClean="0"/>
              <a:t>	</a:t>
            </a:r>
          </a:p>
          <a:p>
            <a:pPr>
              <a:buNone/>
            </a:pPr>
            <a:r>
              <a:rPr lang="es-CO" sz="2500" dirty="0" smtClean="0"/>
              <a:t>		</a:t>
            </a:r>
          </a:p>
          <a:p>
            <a:pPr>
              <a:buNone/>
            </a:pPr>
            <a:r>
              <a:rPr lang="es-CO" sz="2500" dirty="0" smtClean="0"/>
              <a:t>	</a:t>
            </a:r>
            <a:endParaRPr lang="es-ES" sz="2500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428860" y="142852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</a:t>
            </a:r>
            <a:r>
              <a:rPr kumimoji="0" lang="es-ES" sz="4400" b="0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Canasta</a:t>
            </a:r>
            <a:endParaRPr kumimoji="0" lang="es-AR" sz="44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785786" y="3286124"/>
            <a:ext cx="77153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500" dirty="0" smtClean="0"/>
              <a:t>La dedicación de la madre no es una variable medida y registrada dentro de su encuesta, entonces:</a:t>
            </a:r>
            <a:endParaRPr lang="es-ES" sz="2500" dirty="0"/>
          </a:p>
        </p:txBody>
      </p:sp>
      <p:sp>
        <p:nvSpPr>
          <p:cNvPr id="23" name="22 Flecha abajo"/>
          <p:cNvSpPr/>
          <p:nvPr/>
        </p:nvSpPr>
        <p:spPr>
          <a:xfrm>
            <a:off x="4500562" y="4429132"/>
            <a:ext cx="428628" cy="428628"/>
          </a:xfrm>
          <a:prstGeom prst="downArrow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4283968" y="2636912"/>
            <a:ext cx="3305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y</a:t>
            </a:r>
            <a:endParaRPr lang="es-CO" sz="25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13 CuadroTexto"/>
              <p:cNvSpPr txBox="1"/>
              <p:nvPr/>
            </p:nvSpPr>
            <p:spPr>
              <a:xfrm>
                <a:off x="3767534" y="5121188"/>
                <a:ext cx="1920590" cy="515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600" b="0" i="1" smtClean="0">
                        <a:latin typeface="Cambria Math"/>
                      </a:rPr>
                      <m:t>𝐸</m:t>
                    </m:r>
                    <m:r>
                      <a:rPr lang="es-CO" sz="26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26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2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26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2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26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2600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s-CO" sz="2600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s-CO" sz="26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26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26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sz="2600" dirty="0" smtClean="0"/>
                  <a:t> </a:t>
                </a:r>
                <a:endParaRPr lang="es-CO" sz="2600" dirty="0"/>
              </a:p>
            </p:txBody>
          </p:sp>
        </mc:Choice>
        <mc:Fallback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534" y="5121188"/>
                <a:ext cx="1920590" cy="515975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14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32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r>
              <a:rPr lang="es-ES" sz="2500" dirty="0" smtClean="0"/>
              <a:t>La dirección del sesgo depende de la correlación entre la variable no observada (omitida) y la participación del individuo en el programa:</a:t>
            </a:r>
          </a:p>
          <a:p>
            <a:endParaRPr lang="es-ES" dirty="0" smtClean="0"/>
          </a:p>
          <a:p>
            <a:pPr>
              <a:buNone/>
            </a:pPr>
            <a:r>
              <a:rPr lang="es-ES" dirty="0" smtClean="0"/>
              <a:t>	</a:t>
            </a:r>
            <a:endParaRPr lang="es-AR" dirty="0"/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u="sng" dirty="0" smtClean="0">
                <a:latin typeface="+mj-lt"/>
                <a:ea typeface="+mj-ea"/>
                <a:cs typeface="+mj-cs"/>
              </a:rPr>
              <a:t>Dirección del s</a:t>
            </a:r>
            <a:r>
              <a:rPr kumimoji="0" lang="es-ES" sz="4400" b="0" i="0" u="sng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esgo</a:t>
            </a:r>
            <a:endParaRPr kumimoji="0" lang="es-AR" sz="44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1500166" y="3745239"/>
          <a:ext cx="6429420" cy="175546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43140"/>
                <a:gridCol w="2143140"/>
                <a:gridCol w="2143140"/>
              </a:tblGrid>
              <a:tr h="655129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 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AR" dirty="0"/>
                    </a:p>
                  </a:txBody>
                  <a:tcPr/>
                </a:tc>
              </a:tr>
              <a:tr h="550167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</a:tr>
              <a:tr h="550167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3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39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40" name="Rectangle 20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42" name="Rectangle 2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52" name="Rectangle 32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54" name="Rectangle 3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30755" name="Rectangle 35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1 Rectángulo"/>
              <p:cNvSpPr/>
              <p:nvPr/>
            </p:nvSpPr>
            <p:spPr>
              <a:xfrm>
                <a:off x="1943708" y="4365104"/>
                <a:ext cx="1296445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CO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s-CO" sz="2800" b="0" i="0" smtClean="0">
                          <a:latin typeface="Cambria Math"/>
                        </a:rPr>
                        <m:t>&gt;</m:t>
                      </m:r>
                      <m:r>
                        <a:rPr lang="es-CO" sz="280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CO" sz="2800" dirty="0"/>
              </a:p>
              <a:p>
                <a:endParaRPr lang="es-CO" sz="2800" dirty="0"/>
              </a:p>
            </p:txBody>
          </p:sp>
        </mc:Choice>
        <mc:Fallback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708" y="4365104"/>
                <a:ext cx="1296445" cy="954107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3 Rectángulo"/>
              <p:cNvSpPr/>
              <p:nvPr/>
            </p:nvSpPr>
            <p:spPr>
              <a:xfrm>
                <a:off x="1907403" y="4869160"/>
                <a:ext cx="12964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CO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s-CO" sz="2800" b="0" i="0" smtClean="0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4" name="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403" y="4869160"/>
                <a:ext cx="1296445" cy="52322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9" name="38 CuadroTexto"/>
              <p:cNvSpPr txBox="1"/>
              <p:nvPr/>
            </p:nvSpPr>
            <p:spPr>
              <a:xfrm>
                <a:off x="3806409" y="4413223"/>
                <a:ext cx="1922193" cy="515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500" b="0" i="1" smtClean="0">
                        <a:latin typeface="Cambria Math"/>
                      </a:rPr>
                      <m:t>𝐸</m:t>
                    </m:r>
                    <m:r>
                      <a:rPr lang="es-CO" sz="25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25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25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25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25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25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2500" b="0" i="1" smtClean="0">
                        <a:latin typeface="Cambria Math"/>
                      </a:rPr>
                      <m:t>&gt; </m:t>
                    </m:r>
                    <m:sSub>
                      <m:sSubPr>
                        <m:ctrlPr>
                          <a:rPr lang="es-CO" sz="25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sz="2500" dirty="0" smtClean="0"/>
                  <a:t> </a:t>
                </a:r>
                <a:endParaRPr lang="es-CO" sz="2500" dirty="0"/>
              </a:p>
            </p:txBody>
          </p:sp>
        </mc:Choice>
        <mc:Fallback>
          <p:sp>
            <p:nvSpPr>
              <p:cNvPr id="39" name="3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09" y="4413223"/>
                <a:ext cx="1922193" cy="515975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" name="39 CuadroTexto"/>
              <p:cNvSpPr txBox="1"/>
              <p:nvPr/>
            </p:nvSpPr>
            <p:spPr>
              <a:xfrm>
                <a:off x="5906451" y="4953445"/>
                <a:ext cx="1922193" cy="515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500" b="0" i="1" smtClean="0">
                        <a:latin typeface="Cambria Math"/>
                      </a:rPr>
                      <m:t>𝐸</m:t>
                    </m:r>
                    <m:r>
                      <a:rPr lang="es-CO" sz="25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25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25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25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25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25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2500" b="0" i="1" smtClean="0">
                        <a:latin typeface="Cambria Math"/>
                      </a:rPr>
                      <m:t>&gt; </m:t>
                    </m:r>
                    <m:sSub>
                      <m:sSubPr>
                        <m:ctrlPr>
                          <a:rPr lang="es-CO" sz="25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sz="2500" dirty="0" smtClean="0"/>
                  <a:t> </a:t>
                </a:r>
                <a:endParaRPr lang="es-CO" sz="2500" dirty="0"/>
              </a:p>
            </p:txBody>
          </p:sp>
        </mc:Choice>
        <mc:Fallback>
          <p:sp>
            <p:nvSpPr>
              <p:cNvPr id="40" name="3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451" y="4953445"/>
                <a:ext cx="1922193" cy="515975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2" name="41 CuadroTexto"/>
              <p:cNvSpPr txBox="1"/>
              <p:nvPr/>
            </p:nvSpPr>
            <p:spPr>
              <a:xfrm>
                <a:off x="5926171" y="4401108"/>
                <a:ext cx="1853264" cy="499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500" b="0" i="1" smtClean="0">
                        <a:latin typeface="Cambria Math"/>
                      </a:rPr>
                      <m:t>𝐸</m:t>
                    </m:r>
                    <m:r>
                      <a:rPr lang="es-CO" sz="25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25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25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25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25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25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2500" b="0" i="1" smtClean="0">
                        <a:latin typeface="Cambria Math"/>
                      </a:rPr>
                      <m:t>&lt; </m:t>
                    </m:r>
                    <m:sSub>
                      <m:sSubPr>
                        <m:ctrlPr>
                          <a:rPr lang="es-CO" sz="25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sz="2500" dirty="0" smtClean="0"/>
                  <a:t> </a:t>
                </a:r>
                <a:endParaRPr lang="es-CO" sz="2500" dirty="0"/>
              </a:p>
            </p:txBody>
          </p:sp>
        </mc:Choice>
        <mc:Fallback>
          <p:sp>
            <p:nvSpPr>
              <p:cNvPr id="42" name="4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171" y="4401108"/>
                <a:ext cx="1853264" cy="499624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3" name="42 CuadroTexto"/>
              <p:cNvSpPr txBox="1"/>
              <p:nvPr/>
            </p:nvSpPr>
            <p:spPr>
              <a:xfrm>
                <a:off x="3815916" y="4981604"/>
                <a:ext cx="1853264" cy="499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500" b="0" i="1" smtClean="0">
                        <a:latin typeface="Cambria Math"/>
                      </a:rPr>
                      <m:t>𝐸</m:t>
                    </m:r>
                    <m:r>
                      <a:rPr lang="es-CO" sz="25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25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25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25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25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25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2500" b="0" i="1" smtClean="0">
                        <a:latin typeface="Cambria Math"/>
                      </a:rPr>
                      <m:t>&lt; </m:t>
                    </m:r>
                    <m:sSub>
                      <m:sSubPr>
                        <m:ctrlPr>
                          <a:rPr lang="es-CO" sz="25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25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sz="2500" dirty="0" smtClean="0"/>
                  <a:t> </a:t>
                </a:r>
                <a:endParaRPr lang="es-CO" sz="2500" dirty="0"/>
              </a:p>
            </p:txBody>
          </p:sp>
        </mc:Choice>
        <mc:Fallback>
          <p:sp>
            <p:nvSpPr>
              <p:cNvPr id="43" name="4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916" y="4981604"/>
                <a:ext cx="1853264" cy="499624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4" name="43 CuadroTexto"/>
              <p:cNvSpPr txBox="1"/>
              <p:nvPr/>
            </p:nvSpPr>
            <p:spPr>
              <a:xfrm>
                <a:off x="3703477" y="3886146"/>
                <a:ext cx="1996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latin typeface="Cambria Math"/>
                        </a:rPr>
                        <m:t>𝐶𝑜𝑟𝑟</m:t>
                      </m:r>
                      <m:d>
                        <m:dPr>
                          <m:ctrlPr>
                            <a:rPr lang="es-CO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s-CO" sz="2000" b="0" i="0" smtClean="0"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44" name="4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477" y="3886146"/>
                <a:ext cx="1996700" cy="400110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5" name="44 CuadroTexto"/>
              <p:cNvSpPr txBox="1"/>
              <p:nvPr/>
            </p:nvSpPr>
            <p:spPr>
              <a:xfrm>
                <a:off x="5868144" y="3892986"/>
                <a:ext cx="1996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latin typeface="Cambria Math"/>
                        </a:rPr>
                        <m:t>𝐶𝑜𝑟𝑟</m:t>
                      </m:r>
                      <m:d>
                        <m:dPr>
                          <m:ctrlPr>
                            <a:rPr lang="es-CO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s-CO" sz="2000" b="0" i="0" smtClean="0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45" name="4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3892986"/>
                <a:ext cx="1996700" cy="400110"/>
              </a:xfrm>
              <a:prstGeom prst="rect">
                <a:avLst/>
              </a:prstGeom>
              <a:blipFill rotWithShape="1">
                <a:blip r:embed="rId11" cstate="print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35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33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85720" y="1357298"/>
            <a:ext cx="8643998" cy="5214974"/>
          </a:xfrm>
        </p:spPr>
        <p:txBody>
          <a:bodyPr/>
          <a:lstStyle/>
          <a:p>
            <a:pPr>
              <a:buNone/>
            </a:pPr>
            <a:r>
              <a:rPr lang="es-CO" dirty="0" smtClean="0"/>
              <a:t>	  </a:t>
            </a:r>
            <a:r>
              <a:rPr lang="es-CO" sz="2500" dirty="0" smtClean="0"/>
              <a:t>Si la dedicación de la madre </a:t>
            </a:r>
            <a:endParaRPr lang="es-ES" sz="2500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-24"/>
            <a:ext cx="2500298" cy="118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2571736" y="274638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44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2643174" y="203200"/>
            <a:ext cx="6115064" cy="1154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u="sng" dirty="0" smtClean="0">
                <a:latin typeface="+mj-lt"/>
                <a:ea typeface="+mj-ea"/>
                <a:cs typeface="+mj-cs"/>
              </a:rPr>
              <a:t>Ejemplo </a:t>
            </a:r>
            <a:r>
              <a:rPr lang="es-ES" sz="4400" i="1" u="sng" dirty="0" smtClean="0">
                <a:latin typeface="+mj-lt"/>
                <a:ea typeface="+mj-ea"/>
                <a:cs typeface="+mj-cs"/>
              </a:rPr>
              <a:t>Canasta</a:t>
            </a:r>
            <a:endParaRPr kumimoji="0" lang="es-AR" sz="4400" b="0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857224" y="2071678"/>
            <a:ext cx="3857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aumenta la probabilidad de participar en el programa</a:t>
            </a:r>
            <a:endParaRPr lang="es-ES" sz="2500" dirty="0"/>
          </a:p>
        </p:txBody>
      </p:sp>
      <p:sp>
        <p:nvSpPr>
          <p:cNvPr id="14" name="13 CuadroTexto"/>
          <p:cNvSpPr txBox="1"/>
          <p:nvPr/>
        </p:nvSpPr>
        <p:spPr>
          <a:xfrm>
            <a:off x="857224" y="4424614"/>
            <a:ext cx="38576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 </a:t>
            </a:r>
            <a:endParaRPr lang="es-ES" sz="2500" dirty="0"/>
          </a:p>
        </p:txBody>
      </p:sp>
      <p:cxnSp>
        <p:nvCxnSpPr>
          <p:cNvPr id="16" name="15 Conector recto"/>
          <p:cNvCxnSpPr/>
          <p:nvPr/>
        </p:nvCxnSpPr>
        <p:spPr>
          <a:xfrm rot="10800000">
            <a:off x="642910" y="1714488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rot="5400000">
            <a:off x="-178627" y="2536025"/>
            <a:ext cx="16430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 de flecha"/>
          <p:cNvCxnSpPr/>
          <p:nvPr/>
        </p:nvCxnSpPr>
        <p:spPr>
          <a:xfrm>
            <a:off x="642910" y="3357562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857224" y="2928934"/>
            <a:ext cx="3857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 y aumenta el peso por talla del niño</a:t>
            </a:r>
            <a:endParaRPr lang="es-ES" sz="25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642910" y="2500306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" name="25 Cerrar llave"/>
          <p:cNvSpPr/>
          <p:nvPr/>
        </p:nvSpPr>
        <p:spPr>
          <a:xfrm>
            <a:off x="6948264" y="2357430"/>
            <a:ext cx="142876" cy="11430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100"/>
          </a:p>
        </p:txBody>
      </p:sp>
      <p:cxnSp>
        <p:nvCxnSpPr>
          <p:cNvPr id="32" name="31 Conector recto de flecha"/>
          <p:cNvCxnSpPr/>
          <p:nvPr/>
        </p:nvCxnSpPr>
        <p:spPr>
          <a:xfrm>
            <a:off x="4572000" y="2428868"/>
            <a:ext cx="285752" cy="22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 de flecha"/>
          <p:cNvCxnSpPr/>
          <p:nvPr/>
        </p:nvCxnSpPr>
        <p:spPr>
          <a:xfrm>
            <a:off x="4643438" y="3429000"/>
            <a:ext cx="285752" cy="22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CuadroTexto"/>
          <p:cNvSpPr txBox="1"/>
          <p:nvPr/>
        </p:nvSpPr>
        <p:spPr>
          <a:xfrm>
            <a:off x="857224" y="4071942"/>
            <a:ext cx="38021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00" dirty="0" smtClean="0"/>
              <a:t>Si la dedicación de la madre</a:t>
            </a:r>
            <a:endParaRPr lang="es-ES" sz="2500" dirty="0"/>
          </a:p>
        </p:txBody>
      </p:sp>
      <p:sp>
        <p:nvSpPr>
          <p:cNvPr id="38" name="37 CuadroTexto"/>
          <p:cNvSpPr txBox="1"/>
          <p:nvPr/>
        </p:nvSpPr>
        <p:spPr>
          <a:xfrm>
            <a:off x="928662" y="4710366"/>
            <a:ext cx="40005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disminuye la probabilidad de participar en el programa</a:t>
            </a:r>
            <a:endParaRPr lang="es-ES" dirty="0"/>
          </a:p>
        </p:txBody>
      </p:sp>
      <p:sp>
        <p:nvSpPr>
          <p:cNvPr id="40" name="39 CuadroTexto"/>
          <p:cNvSpPr txBox="1"/>
          <p:nvPr/>
        </p:nvSpPr>
        <p:spPr>
          <a:xfrm>
            <a:off x="928662" y="5500702"/>
            <a:ext cx="3857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dirty="0" smtClean="0"/>
              <a:t>pero aumenta el peso por talla del niño</a:t>
            </a:r>
            <a:endParaRPr lang="es-ES" sz="2500" dirty="0"/>
          </a:p>
        </p:txBody>
      </p:sp>
      <p:cxnSp>
        <p:nvCxnSpPr>
          <p:cNvPr id="41" name="40 Conector recto"/>
          <p:cNvCxnSpPr/>
          <p:nvPr/>
        </p:nvCxnSpPr>
        <p:spPr>
          <a:xfrm rot="5400000">
            <a:off x="-178627" y="5107793"/>
            <a:ext cx="16430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 rot="10800000">
            <a:off x="642911" y="4286256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 de flecha"/>
          <p:cNvCxnSpPr/>
          <p:nvPr/>
        </p:nvCxnSpPr>
        <p:spPr>
          <a:xfrm>
            <a:off x="642910" y="5141924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/>
          <p:nvPr/>
        </p:nvCxnSpPr>
        <p:spPr>
          <a:xfrm>
            <a:off x="642910" y="5929330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 de flecha"/>
          <p:cNvCxnSpPr/>
          <p:nvPr/>
        </p:nvCxnSpPr>
        <p:spPr>
          <a:xfrm>
            <a:off x="4714876" y="5214950"/>
            <a:ext cx="285752" cy="22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/>
          <p:nvPr/>
        </p:nvCxnSpPr>
        <p:spPr>
          <a:xfrm>
            <a:off x="4714876" y="5929330"/>
            <a:ext cx="285752" cy="22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49 Cerrar llave"/>
          <p:cNvSpPr/>
          <p:nvPr/>
        </p:nvSpPr>
        <p:spPr>
          <a:xfrm>
            <a:off x="6949404" y="5166312"/>
            <a:ext cx="142876" cy="11430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100"/>
          </a:p>
        </p:txBody>
      </p:sp>
      <p:sp>
        <p:nvSpPr>
          <p:cNvPr id="52" name="51 Rectángulo"/>
          <p:cNvSpPr/>
          <p:nvPr/>
        </p:nvSpPr>
        <p:spPr>
          <a:xfrm>
            <a:off x="214282" y="1340768"/>
            <a:ext cx="8715436" cy="521497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9" name="38 CuadroTexto"/>
              <p:cNvSpPr txBox="1"/>
              <p:nvPr/>
            </p:nvSpPr>
            <p:spPr>
              <a:xfrm>
                <a:off x="4855617" y="2204864"/>
                <a:ext cx="208845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100" b="0" i="1" smtClean="0">
                          <a:latin typeface="Cambria Math"/>
                        </a:rPr>
                        <m:t>𝐶𝑜𝑟𝑟</m:t>
                      </m:r>
                      <m:d>
                        <m:dPr>
                          <m:ctrlPr>
                            <a:rPr lang="es-CO" sz="21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1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sz="21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s-CO" sz="2100" b="0" i="0" smtClean="0"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es-CO" sz="2100" dirty="0"/>
              </a:p>
            </p:txBody>
          </p:sp>
        </mc:Choice>
        <mc:Fallback>
          <p:sp>
            <p:nvSpPr>
              <p:cNvPr id="39" name="3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617" y="2204864"/>
                <a:ext cx="2088457" cy="41549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8" name="47 CuadroTexto"/>
              <p:cNvSpPr txBox="1"/>
              <p:nvPr/>
            </p:nvSpPr>
            <p:spPr>
              <a:xfrm>
                <a:off x="4932040" y="4983559"/>
                <a:ext cx="208845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100" b="0" i="1" smtClean="0">
                          <a:latin typeface="Cambria Math"/>
                        </a:rPr>
                        <m:t>𝐶𝑜𝑟𝑟</m:t>
                      </m:r>
                      <m:d>
                        <m:dPr>
                          <m:ctrlPr>
                            <a:rPr lang="es-CO" sz="21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1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sz="21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O" sz="2100" b="0" i="0" smtClean="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s-CO" sz="2100" b="0" i="0" smtClean="0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es-CO" sz="2100" dirty="0"/>
              </a:p>
            </p:txBody>
          </p:sp>
        </mc:Choice>
        <mc:Fallback>
          <p:sp>
            <p:nvSpPr>
              <p:cNvPr id="48" name="4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4983559"/>
                <a:ext cx="2088457" cy="415498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3" name="52 CuadroTexto"/>
              <p:cNvSpPr txBox="1"/>
              <p:nvPr/>
            </p:nvSpPr>
            <p:spPr>
              <a:xfrm>
                <a:off x="7236296" y="2708920"/>
                <a:ext cx="1590051" cy="434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100" b="0" i="1" smtClean="0">
                        <a:latin typeface="Cambria Math"/>
                      </a:rPr>
                      <m:t>𝐸</m:t>
                    </m:r>
                    <m:r>
                      <a:rPr lang="es-CO" sz="21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21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21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21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21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21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2100" b="0" i="1" smtClean="0">
                        <a:latin typeface="Cambria Math"/>
                      </a:rPr>
                      <m:t>&gt; </m:t>
                    </m:r>
                    <m:sSub>
                      <m:sSubPr>
                        <m:ctrlPr>
                          <a:rPr lang="es-CO" sz="21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21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21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sz="2100" dirty="0" smtClean="0"/>
                  <a:t> </a:t>
                </a:r>
                <a:endParaRPr lang="es-CO" sz="2100" dirty="0"/>
              </a:p>
            </p:txBody>
          </p:sp>
        </mc:Choice>
        <mc:Fallback>
          <p:sp>
            <p:nvSpPr>
              <p:cNvPr id="53" name="5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2708920"/>
                <a:ext cx="1590051" cy="434414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t="-8333" b="-138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4" name="53 CuadroTexto"/>
              <p:cNvSpPr txBox="1"/>
              <p:nvPr/>
            </p:nvSpPr>
            <p:spPr>
              <a:xfrm>
                <a:off x="7272300" y="5517232"/>
                <a:ext cx="1590051" cy="434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100" b="0" i="1" smtClean="0">
                        <a:latin typeface="Cambria Math"/>
                      </a:rPr>
                      <m:t>𝐸</m:t>
                    </m:r>
                    <m:r>
                      <a:rPr lang="es-CO" sz="2100" b="0" i="1" smtClean="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es-CO" sz="2100" b="0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O" sz="21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O" sz="210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s-CO" sz="21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s-CO" sz="2100" b="0" i="1" smtClean="0">
                            <a:latin typeface="Cambria Math"/>
                          </a:rPr>
                          <m:t>)</m:t>
                        </m:r>
                      </m:e>
                    </m:acc>
                    <m:r>
                      <a:rPr lang="es-CO" sz="2100" b="0" i="1" smtClean="0">
                        <a:latin typeface="Cambria Math"/>
                      </a:rPr>
                      <m:t>&lt; </m:t>
                    </m:r>
                    <m:sSub>
                      <m:sSubPr>
                        <m:ctrlPr>
                          <a:rPr lang="es-CO" sz="21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s-CO" sz="21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s-CO" sz="21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sz="2100" dirty="0" smtClean="0"/>
                  <a:t> </a:t>
                </a:r>
                <a:endParaRPr lang="es-CO" sz="2100" dirty="0"/>
              </a:p>
            </p:txBody>
          </p:sp>
        </mc:Choice>
        <mc:Fallback>
          <p:sp>
            <p:nvSpPr>
              <p:cNvPr id="54" name="5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300" y="5517232"/>
                <a:ext cx="1590051" cy="434414"/>
              </a:xfrm>
              <a:prstGeom prst="rect">
                <a:avLst/>
              </a:prstGeom>
              <a:blipFill rotWithShape="1">
                <a:blip r:embed="rId6" cstate="print"/>
                <a:stretch>
                  <a:fillRect l="-383" t="-8451" b="-1549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5" name="54 Rectángulo"/>
              <p:cNvSpPr/>
              <p:nvPr/>
            </p:nvSpPr>
            <p:spPr>
              <a:xfrm>
                <a:off x="4854696" y="3230396"/>
                <a:ext cx="1193468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1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1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CO" sz="21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s-CO" sz="2100" b="0" i="0" smtClean="0">
                          <a:latin typeface="Cambria Math"/>
                        </a:rPr>
                        <m:t>&gt;</m:t>
                      </m:r>
                      <m:r>
                        <a:rPr lang="es-CO" sz="210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CO" sz="2100" dirty="0"/>
              </a:p>
              <a:p>
                <a:endParaRPr lang="es-CO" sz="2100" dirty="0"/>
              </a:p>
            </p:txBody>
          </p:sp>
        </mc:Choice>
        <mc:Fallback>
          <p:sp>
            <p:nvSpPr>
              <p:cNvPr id="55" name="5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696" y="3230396"/>
                <a:ext cx="1193468" cy="738664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6" name="55 Rectángulo"/>
              <p:cNvSpPr/>
              <p:nvPr/>
            </p:nvSpPr>
            <p:spPr>
              <a:xfrm>
                <a:off x="4958505" y="5750676"/>
                <a:ext cx="1017651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1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1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s-CO" sz="21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s-CO" sz="2100" b="0" i="0" smtClean="0">
                          <a:latin typeface="Cambria Math"/>
                        </a:rPr>
                        <m:t>&gt;</m:t>
                      </m:r>
                      <m:r>
                        <a:rPr lang="es-CO" sz="210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CO" sz="2100" dirty="0"/>
              </a:p>
              <a:p>
                <a:endParaRPr lang="es-CO" sz="2100" dirty="0"/>
              </a:p>
            </p:txBody>
          </p:sp>
        </mc:Choice>
        <mc:Fallback>
          <p:sp>
            <p:nvSpPr>
              <p:cNvPr id="56" name="5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05" y="5750676"/>
                <a:ext cx="1017651" cy="738664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44 CuadroTexto"/>
          <p:cNvSpPr txBox="1"/>
          <p:nvPr/>
        </p:nvSpPr>
        <p:spPr>
          <a:xfrm>
            <a:off x="899592" y="6534835"/>
            <a:ext cx="6372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5963" algn="l"/>
              </a:tabLst>
            </a:pPr>
            <a:r>
              <a:rPr lang="es-CO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s-MX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Guía práctica para la evaluación de impacto /</a:t>
            </a:r>
            <a:r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Capítulo </a:t>
            </a:r>
            <a:r>
              <a:rPr lang="es-CO" sz="1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3: Sesgo de Selección/</a:t>
            </a:r>
            <a:fld id="{9F21E184-65ED-49CA-9A84-0C888E16BCE2}" type="slidenum">
              <a:rPr lang="es-CO" sz="13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tabLst>
                  <a:tab pos="715963" algn="l"/>
                </a:tabLst>
              </a:pPr>
              <a:t>34</a:t>
            </a:fld>
            <a:endParaRPr lang="es-E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1661</Words>
  <Application>Microsoft Office PowerPoint</Application>
  <PresentationFormat>Presentación en pantalla (4:3)</PresentationFormat>
  <Paragraphs>384</Paragraphs>
  <Slides>34</Slides>
  <Notes>16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6" baseType="lpstr">
      <vt:lpstr>Tema de Office</vt:lpstr>
      <vt:lpstr>Ecuación</vt:lpstr>
      <vt:lpstr>Capítulo 2</vt:lpstr>
      <vt:lpstr>Objetivo y problema</vt:lpstr>
      <vt:lpstr>Notación</vt:lpstr>
      <vt:lpstr>Diapositiva 4</vt:lpstr>
      <vt:lpstr>Diapositiva 5</vt:lpstr>
      <vt:lpstr>Efecto del tratamiento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Capítulo 3</vt:lpstr>
      <vt:lpstr>Notación</vt:lpstr>
      <vt:lpstr>Notación</vt:lpstr>
      <vt:lpstr>Reto de la evaluación</vt:lpstr>
      <vt:lpstr>Diapositiva 25</vt:lpstr>
      <vt:lpstr>Diapositiva 26</vt:lpstr>
      <vt:lpstr>Diapositiva 27</vt:lpstr>
      <vt:lpstr>Diapositiva 28</vt:lpstr>
      <vt:lpstr>Diapositiva 29</vt:lpstr>
      <vt:lpstr>Diapositiva 30</vt:lpstr>
      <vt:lpstr>Diapositiva 31</vt:lpstr>
      <vt:lpstr>Diapositiva 32</vt:lpstr>
      <vt:lpstr>Diapositiva 33</vt:lpstr>
      <vt:lpstr>Diapositiva 34</vt:lpstr>
    </vt:vector>
  </TitlesOfParts>
  <Company>Universidad de los Andes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2</dc:title>
  <dc:creator>lo-caro</dc:creator>
  <cp:lastModifiedBy>profeivan</cp:lastModifiedBy>
  <cp:revision>350</cp:revision>
  <dcterms:created xsi:type="dcterms:W3CDTF">2009-09-03T14:07:59Z</dcterms:created>
  <dcterms:modified xsi:type="dcterms:W3CDTF">2011-04-10T13:15:20Z</dcterms:modified>
</cp:coreProperties>
</file>