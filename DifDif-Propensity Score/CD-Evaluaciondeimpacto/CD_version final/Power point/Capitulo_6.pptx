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Layouts/slideLayout6.xml" ContentType="application/vnd.openxmlformats-officedocument.presentationml.slideLayout+xml"/>
  <Override PartName="/ppt/slides/slide25.xml" ContentType="application/vnd.openxmlformats-officedocument.presentationml.slide+xml"/>
  <Override PartName="/ppt/slides/slide43.xml" ContentType="application/vnd.openxmlformats-officedocument.presentationml.slide+xml"/>
  <Override PartName="/ppt/slides/slide7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27.xml" ContentType="application/vnd.openxmlformats-officedocument.presentationml.notesSlide+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Default Extension="docx" ContentType="application/vnd.openxmlformats-officedocument.wordprocessingml.document"/>
  <Override PartName="/ppt/notesSlides/notesSlide16.xml" ContentType="application/vnd.openxmlformats-officedocument.presentationml.notesSlide+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notesSlides/notesSlide23.xml" ContentType="application/vnd.openxmlformats-officedocument.presentationml.notesSlide+xml"/>
  <Override PartName="/ppt/notesSlides/notesSlide12.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slides/slide68.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s/slide66.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slides/slide64.xml" ContentType="application/vnd.openxmlformats-officedocument.presentationml.slide+xml"/>
  <Override PartName="/ppt/slides/slide73.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notesSlides/notesSlide1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s/slide71.xml" ContentType="application/vnd.openxmlformats-officedocument.presentationml.slide+xml"/>
  <Override PartName="/ppt/slideLayouts/slideLayout3.xml" ContentType="application/vnd.openxmlformats-officedocument.presentationml.slideLayout+xml"/>
  <Default Extension="emf" ContentType="image/x-emf"/>
  <Override PartName="/ppt/notesSlides/notesSlide17.xml" ContentType="application/vnd.openxmlformats-officedocument.presentationml.notesSlide+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notesSlides/notesSlide13.xml" ContentType="application/vnd.openxmlformats-officedocument.presentationml.notesSlide+xml"/>
  <Override PartName="/ppt/notesSlides/notesSlide22.xml" ContentType="application/vnd.openxmlformats-officedocument.presentationml.notesSlide+xml"/>
  <Override PartName="/ppt/slideLayouts/slideLayout10.xml" ContentType="application/vnd.openxmlformats-officedocument.presentationml.slideLayout+xml"/>
  <Default Extension="vml" ContentType="application/vnd.openxmlformats-officedocument.vmlDrawing"/>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20.xml" ContentType="application/vnd.openxmlformats-officedocument.presentationml.notesSlide+xml"/>
  <Override PartName="/ppt/notesSlides/notesSlide6.xml" ContentType="application/vnd.openxmlformats-officedocument.presentationml.notesSlide+xml"/>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notesSlides/notesSlide18.xml" ContentType="application/vnd.openxmlformats-officedocument.presentationml.notes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notesSlides/notesSlide25.xml" ContentType="application/vnd.openxmlformats-officedocument.presentationml.notesSlid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commentAuthors.xml" ContentType="application/vnd.openxmlformats-officedocument.presentationml.commentAuthors+xml"/>
  <Override PartName="/ppt/notesSlides/notesSlide9.xml" ContentType="application/vnd.openxmlformats-officedocument.presentationml.notesSlide+xml"/>
  <Override PartName="/ppt/notesSlides/notesSlide21.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5"/>
  </p:notesMasterIdLst>
  <p:sldIdLst>
    <p:sldId id="256" r:id="rId2"/>
    <p:sldId id="257" r:id="rId3"/>
    <p:sldId id="311" r:id="rId4"/>
    <p:sldId id="258" r:id="rId5"/>
    <p:sldId id="259" r:id="rId6"/>
    <p:sldId id="260" r:id="rId7"/>
    <p:sldId id="261" r:id="rId8"/>
    <p:sldId id="262" r:id="rId9"/>
    <p:sldId id="263" r:id="rId10"/>
    <p:sldId id="309" r:id="rId11"/>
    <p:sldId id="264" r:id="rId12"/>
    <p:sldId id="266" r:id="rId13"/>
    <p:sldId id="267" r:id="rId14"/>
    <p:sldId id="355" r:id="rId15"/>
    <p:sldId id="269" r:id="rId16"/>
    <p:sldId id="310" r:id="rId17"/>
    <p:sldId id="270" r:id="rId18"/>
    <p:sldId id="296" r:id="rId19"/>
    <p:sldId id="297" r:id="rId20"/>
    <p:sldId id="317" r:id="rId21"/>
    <p:sldId id="313" r:id="rId22"/>
    <p:sldId id="271" r:id="rId23"/>
    <p:sldId id="272" r:id="rId24"/>
    <p:sldId id="273" r:id="rId25"/>
    <p:sldId id="293" r:id="rId26"/>
    <p:sldId id="294" r:id="rId27"/>
    <p:sldId id="295" r:id="rId28"/>
    <p:sldId id="318" r:id="rId29"/>
    <p:sldId id="276" r:id="rId30"/>
    <p:sldId id="277" r:id="rId31"/>
    <p:sldId id="278" r:id="rId32"/>
    <p:sldId id="279" r:id="rId33"/>
    <p:sldId id="335" r:id="rId34"/>
    <p:sldId id="336" r:id="rId35"/>
    <p:sldId id="337" r:id="rId36"/>
    <p:sldId id="280" r:id="rId37"/>
    <p:sldId id="333" r:id="rId38"/>
    <p:sldId id="334" r:id="rId39"/>
    <p:sldId id="331" r:id="rId40"/>
    <p:sldId id="282" r:id="rId41"/>
    <p:sldId id="319" r:id="rId42"/>
    <p:sldId id="320" r:id="rId43"/>
    <p:sldId id="321" r:id="rId44"/>
    <p:sldId id="322" r:id="rId45"/>
    <p:sldId id="323" r:id="rId46"/>
    <p:sldId id="350" r:id="rId47"/>
    <p:sldId id="351" r:id="rId48"/>
    <p:sldId id="327" r:id="rId49"/>
    <p:sldId id="287" r:id="rId50"/>
    <p:sldId id="288" r:id="rId51"/>
    <p:sldId id="289" r:id="rId52"/>
    <p:sldId id="343" r:id="rId53"/>
    <p:sldId id="341" r:id="rId54"/>
    <p:sldId id="342" r:id="rId55"/>
    <p:sldId id="345" r:id="rId56"/>
    <p:sldId id="346" r:id="rId57"/>
    <p:sldId id="290" r:id="rId58"/>
    <p:sldId id="347" r:id="rId59"/>
    <p:sldId id="348" r:id="rId60"/>
    <p:sldId id="349" r:id="rId61"/>
    <p:sldId id="316" r:id="rId62"/>
    <p:sldId id="291" r:id="rId63"/>
    <p:sldId id="292" r:id="rId64"/>
    <p:sldId id="352" r:id="rId65"/>
    <p:sldId id="353" r:id="rId66"/>
    <p:sldId id="354" r:id="rId67"/>
    <p:sldId id="338" r:id="rId68"/>
    <p:sldId id="339" r:id="rId69"/>
    <p:sldId id="340" r:id="rId70"/>
    <p:sldId id="304" r:id="rId71"/>
    <p:sldId id="305" r:id="rId72"/>
    <p:sldId id="306" r:id="rId73"/>
    <p:sldId id="307" r:id="rId74"/>
  </p:sldIdLst>
  <p:sldSz cx="9144000" cy="6858000" type="screen4x3"/>
  <p:notesSz cx="6858000" cy="9144000"/>
  <p:defaultText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Marcos Vera Hernandez" initials="MVH" lastIdx="4" clrIdx="0"/>
  <p:cmAuthor id="1" name="Ximena Peña" initials="XP"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672" autoAdjust="0"/>
    <p:restoredTop sz="81302" autoAdjust="0"/>
  </p:normalViewPr>
  <p:slideViewPr>
    <p:cSldViewPr snapToGrid="0">
      <p:cViewPr>
        <p:scale>
          <a:sx n="81" d="100"/>
          <a:sy n="81" d="100"/>
        </p:scale>
        <p:origin x="-948" y="-78"/>
      </p:cViewPr>
      <p:guideLst>
        <p:guide orient="horz" pos="2160"/>
        <p:guide pos="2880"/>
      </p:guideLst>
    </p:cSldViewPr>
  </p:slideViewPr>
  <p:outlineViewPr>
    <p:cViewPr>
      <p:scale>
        <a:sx n="33" d="100"/>
        <a:sy n="33" d="100"/>
      </p:scale>
      <p:origin x="30" y="8982"/>
    </p:cViewPr>
  </p:outlin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commentAuthors" Target="commentAuthor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emf"/><Relationship Id="rId1" Type="http://schemas.openxmlformats.org/officeDocument/2006/relationships/image" Target="../media/image2.e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image" Target="../media/image7.e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10.emf"/><Relationship Id="rId1" Type="http://schemas.openxmlformats.org/officeDocument/2006/relationships/image" Target="../media/image9.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2.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4.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2.v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image" Target="../media/image18.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14.v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image" Target="../media/image21.e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17.vml.rels><?xml version="1.0" encoding="UTF-8" standalone="yes"?>
<Relationships xmlns="http://schemas.openxmlformats.org/package/2006/relationships"><Relationship Id="rId2" Type="http://schemas.openxmlformats.org/officeDocument/2006/relationships/image" Target="../media/image29.emf"/><Relationship Id="rId1" Type="http://schemas.openxmlformats.org/officeDocument/2006/relationships/image" Target="../media/image28.emf"/></Relationships>
</file>

<file path=ppt/drawings/_rels/vmlDrawing18.vml.rels><?xml version="1.0" encoding="UTF-8" standalone="yes"?>
<Relationships xmlns="http://schemas.openxmlformats.org/package/2006/relationships"><Relationship Id="rId2" Type="http://schemas.openxmlformats.org/officeDocument/2006/relationships/image" Target="../media/image33.emf"/><Relationship Id="rId1" Type="http://schemas.openxmlformats.org/officeDocument/2006/relationships/image" Target="../media/image32.e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34.emf"/></Relationships>
</file>

<file path=ppt/drawings/_rels/vmlDrawing20.vml.rels><?xml version="1.0" encoding="UTF-8" standalone="yes"?>
<Relationships xmlns="http://schemas.openxmlformats.org/package/2006/relationships"><Relationship Id="rId3" Type="http://schemas.openxmlformats.org/officeDocument/2006/relationships/image" Target="../media/image37.emf"/><Relationship Id="rId2" Type="http://schemas.openxmlformats.org/officeDocument/2006/relationships/image" Target="../media/image36.emf"/><Relationship Id="rId1" Type="http://schemas.openxmlformats.org/officeDocument/2006/relationships/image" Target="../media/image35.emf"/><Relationship Id="rId4" Type="http://schemas.openxmlformats.org/officeDocument/2006/relationships/image" Target="../media/image38.emf"/></Relationships>
</file>

<file path=ppt/drawings/_rels/vmlDrawing21.vml.rels><?xml version="1.0" encoding="UTF-8" standalone="yes"?>
<Relationships xmlns="http://schemas.openxmlformats.org/package/2006/relationships"><Relationship Id="rId2" Type="http://schemas.openxmlformats.org/officeDocument/2006/relationships/image" Target="../media/image40.emf"/><Relationship Id="rId1" Type="http://schemas.openxmlformats.org/officeDocument/2006/relationships/image" Target="../media/image39.emf"/></Relationships>
</file>

<file path=ppt/drawings/_rels/vmlDrawing22.vml.rels><?xml version="1.0" encoding="UTF-8" standalone="yes"?>
<Relationships xmlns="http://schemas.openxmlformats.org/package/2006/relationships"><Relationship Id="rId3" Type="http://schemas.openxmlformats.org/officeDocument/2006/relationships/image" Target="../media/image43.emf"/><Relationship Id="rId2" Type="http://schemas.openxmlformats.org/officeDocument/2006/relationships/image" Target="../media/image42.emf"/><Relationship Id="rId1" Type="http://schemas.openxmlformats.org/officeDocument/2006/relationships/image" Target="../media/image41.e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44.e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45.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AR" dirty="0"/>
          </a:p>
        </p:txBody>
      </p:sp>
      <p:sp>
        <p:nvSpPr>
          <p:cNvPr id="3" name="2 Marcador de fecha"/>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DFA331D-B266-4EF3-8762-EDFAFD4023F9}" type="datetimeFigureOut">
              <a:rPr lang="es-AR" smtClean="0"/>
              <a:pPr/>
              <a:t>10/04/2011</a:t>
            </a:fld>
            <a:endParaRPr lang="es-AR" dirty="0"/>
          </a:p>
        </p:txBody>
      </p:sp>
      <p:sp>
        <p:nvSpPr>
          <p:cNvPr id="4" name="3 Marcador de imagen de diapositiva"/>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s-AR" dirty="0"/>
          </a:p>
        </p:txBody>
      </p:sp>
      <p:sp>
        <p:nvSpPr>
          <p:cNvPr id="5" name="4 Marcador de notas"/>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AR"/>
          </a:p>
        </p:txBody>
      </p:sp>
      <p:sp>
        <p:nvSpPr>
          <p:cNvPr id="6" name="5 Marcador de pie de página"/>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s-AR" dirty="0"/>
          </a:p>
        </p:txBody>
      </p:sp>
      <p:sp>
        <p:nvSpPr>
          <p:cNvPr id="7" name="6 Marcador de número de diapositiva"/>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92FDB85-A060-4792-A60B-FF3E087276EE}" type="slidenum">
              <a:rPr lang="es-AR" smtClean="0"/>
              <a:pPr/>
              <a:t>‹Nº›</a:t>
            </a:fld>
            <a:endParaRPr lang="es-AR" dirty="0"/>
          </a:p>
        </p:txBody>
      </p:sp>
    </p:spTree>
    <p:extLst>
      <p:ext uri="{BB962C8B-B14F-4D97-AF65-F5344CB8AC3E}">
        <p14:creationId xmlns="" xmlns:p14="http://schemas.microsoft.com/office/powerpoint/2010/main" val="30713183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r>
              <a:rPr lang="es-ES" dirty="0" smtClean="0"/>
              <a:t>Dado</a:t>
            </a:r>
            <a:r>
              <a:rPr lang="es-ES" baseline="0" dirty="0" smtClean="0"/>
              <a:t> que el conjunto de variables observables X no están determinadas por el tratamiento, los resultados potenciales Y(1)  Y(0), son independientes de la asignación del tratamiento.</a:t>
            </a:r>
            <a:endParaRPr lang="es-AR" dirty="0"/>
          </a:p>
        </p:txBody>
      </p:sp>
      <p:sp>
        <p:nvSpPr>
          <p:cNvPr id="4" name="3 Marcador de número de diapositiva"/>
          <p:cNvSpPr>
            <a:spLocks noGrp="1"/>
          </p:cNvSpPr>
          <p:nvPr>
            <p:ph type="sldNum" sz="quarter" idx="10"/>
          </p:nvPr>
        </p:nvSpPr>
        <p:spPr/>
        <p:txBody>
          <a:bodyPr/>
          <a:lstStyle/>
          <a:p>
            <a:fld id="{E92FDB85-A060-4792-A60B-FF3E087276EE}" type="slidenum">
              <a:rPr lang="es-AR" smtClean="0"/>
              <a:pPr/>
              <a:t>4</a:t>
            </a:fld>
            <a:endParaRPr lang="es-A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endParaRPr lang="es-ES" dirty="0"/>
          </a:p>
        </p:txBody>
      </p:sp>
      <p:sp>
        <p:nvSpPr>
          <p:cNvPr id="4" name="3 Marcador de número de diapositiva"/>
          <p:cNvSpPr>
            <a:spLocks noGrp="1"/>
          </p:cNvSpPr>
          <p:nvPr>
            <p:ph type="sldNum" sz="quarter" idx="10"/>
          </p:nvPr>
        </p:nvSpPr>
        <p:spPr/>
        <p:txBody>
          <a:bodyPr/>
          <a:lstStyle/>
          <a:p>
            <a:fld id="{E92FDB85-A060-4792-A60B-FF3E087276EE}" type="slidenum">
              <a:rPr lang="es-AR" smtClean="0"/>
              <a:pPr/>
              <a:t>5</a:t>
            </a:fld>
            <a:endParaRPr lang="es-A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endParaRPr lang="es-AR" dirty="0"/>
          </a:p>
        </p:txBody>
      </p:sp>
      <p:sp>
        <p:nvSpPr>
          <p:cNvPr id="4" name="3 Marcador de número de diapositiva"/>
          <p:cNvSpPr>
            <a:spLocks noGrp="1"/>
          </p:cNvSpPr>
          <p:nvPr>
            <p:ph type="sldNum" sz="quarter" idx="10"/>
          </p:nvPr>
        </p:nvSpPr>
        <p:spPr/>
        <p:txBody>
          <a:bodyPr/>
          <a:lstStyle/>
          <a:p>
            <a:fld id="{E92FDB85-A060-4792-A60B-FF3E087276EE}" type="slidenum">
              <a:rPr lang="es-AR" smtClean="0"/>
              <a:pPr/>
              <a:t>8</a:t>
            </a:fld>
            <a:endParaRPr lang="es-A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r>
              <a:rPr lang="es-ES" baseline="0" dirty="0" smtClean="0"/>
              <a:t>No se pueden utilizar individuos con combinaciones de X tal que exhiben probabilidades positivas de ser participantes pero NO de no ser participantes.</a:t>
            </a:r>
            <a:endParaRPr lang="es-AR" dirty="0"/>
          </a:p>
        </p:txBody>
      </p:sp>
      <p:sp>
        <p:nvSpPr>
          <p:cNvPr id="4" name="3 Marcador de número de diapositiva"/>
          <p:cNvSpPr>
            <a:spLocks noGrp="1"/>
          </p:cNvSpPr>
          <p:nvPr>
            <p:ph type="sldNum" sz="quarter" idx="10"/>
          </p:nvPr>
        </p:nvSpPr>
        <p:spPr/>
        <p:txBody>
          <a:bodyPr/>
          <a:lstStyle/>
          <a:p>
            <a:fld id="{E92FDB85-A060-4792-A60B-FF3E087276EE}" type="slidenum">
              <a:rPr lang="es-AR" smtClean="0"/>
              <a:pPr/>
              <a:t>9</a:t>
            </a:fld>
            <a:endParaRPr lang="es-A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ES" dirty="0" smtClean="0"/>
              <a:t>E_p(x)</a:t>
            </a:r>
            <a:r>
              <a:rPr lang="es-ES" dirty="0" err="1" smtClean="0"/>
              <a:t>lD</a:t>
            </a:r>
            <a:r>
              <a:rPr lang="es-ES" dirty="0" smtClean="0"/>
              <a:t>=1 :</a:t>
            </a:r>
            <a:r>
              <a:rPr lang="es-ES" baseline="0" dirty="0" smtClean="0"/>
              <a:t> </a:t>
            </a:r>
            <a:r>
              <a:rPr lang="es-ES" sz="1200" dirty="0" smtClean="0"/>
              <a:t>Valor esperado de la probabilidad de participar condicional en ser participante.</a:t>
            </a:r>
          </a:p>
          <a:p>
            <a:pPr marL="0" marR="0" indent="0" algn="l" defTabSz="914400" rtl="0" eaLnBrk="1" fontAlgn="auto" latinLnBrk="0" hangingPunct="1">
              <a:lnSpc>
                <a:spcPct val="100000"/>
              </a:lnSpc>
              <a:spcBef>
                <a:spcPts val="0"/>
              </a:spcBef>
              <a:spcAft>
                <a:spcPts val="0"/>
              </a:spcAft>
              <a:buClrTx/>
              <a:buSzTx/>
              <a:buFontTx/>
              <a:buNone/>
              <a:tabLst/>
              <a:defRPr/>
            </a:pPr>
            <a:r>
              <a:rPr lang="es-ES" sz="1200" dirty="0" smtClean="0"/>
              <a:t>Tao^PSM_ATT:</a:t>
            </a:r>
            <a:r>
              <a:rPr lang="es-ES" sz="1200" baseline="0" dirty="0" smtClean="0"/>
              <a:t> Diferencia media en la variable de resultado entre grupo de tratamiento y control en el soporte común ponderada por la distribución de la probabilidad de participar en el programa de los participantes.</a:t>
            </a:r>
            <a:endParaRPr lang="es-AR" sz="1200" dirty="0" smtClean="0"/>
          </a:p>
          <a:p>
            <a:endParaRPr lang="es-AR" dirty="0"/>
          </a:p>
        </p:txBody>
      </p:sp>
      <p:sp>
        <p:nvSpPr>
          <p:cNvPr id="4" name="3 Marcador de número de diapositiva"/>
          <p:cNvSpPr>
            <a:spLocks noGrp="1"/>
          </p:cNvSpPr>
          <p:nvPr>
            <p:ph type="sldNum" sz="quarter" idx="10"/>
          </p:nvPr>
        </p:nvSpPr>
        <p:spPr/>
        <p:txBody>
          <a:bodyPr/>
          <a:lstStyle/>
          <a:p>
            <a:fld id="{E92FDB85-A060-4792-A60B-FF3E087276EE}" type="slidenum">
              <a:rPr lang="es-AR" smtClean="0"/>
              <a:pPr/>
              <a:t>11</a:t>
            </a:fld>
            <a:endParaRPr lang="es-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r>
              <a:rPr lang="es-ES" sz="1200" dirty="0" smtClean="0"/>
              <a:t>Los métodos de emparejamiento son confiables siempre que </a:t>
            </a:r>
            <a:r>
              <a:rPr lang="es-ES" sz="1200" u="sng" dirty="0" smtClean="0"/>
              <a:t>no</a:t>
            </a:r>
            <a:r>
              <a:rPr lang="es-ES" sz="1200" dirty="0" smtClean="0"/>
              <a:t> existan razones para pensar que las variables no observables determinan fundamentalmente la participación en el programa.</a:t>
            </a:r>
            <a:endParaRPr lang="es-AR" dirty="0"/>
          </a:p>
        </p:txBody>
      </p:sp>
      <p:sp>
        <p:nvSpPr>
          <p:cNvPr id="4" name="3 Marcador de número de diapositiva"/>
          <p:cNvSpPr>
            <a:spLocks noGrp="1"/>
          </p:cNvSpPr>
          <p:nvPr>
            <p:ph type="sldNum" sz="quarter" idx="10"/>
          </p:nvPr>
        </p:nvSpPr>
        <p:spPr/>
        <p:txBody>
          <a:bodyPr/>
          <a:lstStyle/>
          <a:p>
            <a:fld id="{E92FDB85-A060-4792-A60B-FF3E087276EE}" type="slidenum">
              <a:rPr lang="es-AR" smtClean="0"/>
              <a:pPr/>
              <a:t>12</a:t>
            </a:fld>
            <a:endParaRPr lang="es-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pPr>
              <a:buNone/>
            </a:pPr>
            <a:r>
              <a:rPr lang="es-ES" sz="1200" b="0" dirty="0" smtClean="0"/>
              <a:t>	</a:t>
            </a:r>
          </a:p>
          <a:p>
            <a:pPr>
              <a:buNone/>
            </a:pPr>
            <a:r>
              <a:rPr lang="es-ES" sz="1200" dirty="0" smtClean="0"/>
              <a:t>	</a:t>
            </a:r>
            <a:endParaRPr lang="es-ES" dirty="0"/>
          </a:p>
        </p:txBody>
      </p:sp>
      <p:sp>
        <p:nvSpPr>
          <p:cNvPr id="4" name="3 Marcador de número de diapositiva"/>
          <p:cNvSpPr>
            <a:spLocks noGrp="1"/>
          </p:cNvSpPr>
          <p:nvPr>
            <p:ph type="sldNum" sz="quarter" idx="10"/>
          </p:nvPr>
        </p:nvSpPr>
        <p:spPr/>
        <p:txBody>
          <a:bodyPr/>
          <a:lstStyle/>
          <a:p>
            <a:fld id="{E92FDB85-A060-4792-A60B-FF3E087276EE}" type="slidenum">
              <a:rPr lang="es-AR" smtClean="0"/>
              <a:pPr/>
              <a:t>15</a:t>
            </a:fld>
            <a:endParaRPr lang="es-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endParaRPr lang="es-ES" dirty="0"/>
          </a:p>
        </p:txBody>
      </p:sp>
      <p:sp>
        <p:nvSpPr>
          <p:cNvPr id="4" name="3 Marcador de número de diapositiva"/>
          <p:cNvSpPr>
            <a:spLocks noGrp="1"/>
          </p:cNvSpPr>
          <p:nvPr>
            <p:ph type="sldNum" sz="quarter" idx="10"/>
          </p:nvPr>
        </p:nvSpPr>
        <p:spPr/>
        <p:txBody>
          <a:bodyPr/>
          <a:lstStyle/>
          <a:p>
            <a:fld id="{E92FDB85-A060-4792-A60B-FF3E087276EE}" type="slidenum">
              <a:rPr lang="es-AR" smtClean="0"/>
              <a:pPr/>
              <a:t>16</a:t>
            </a:fld>
            <a:endParaRPr lang="es-AR"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endParaRPr lang="es-ES" dirty="0"/>
          </a:p>
        </p:txBody>
      </p:sp>
      <p:sp>
        <p:nvSpPr>
          <p:cNvPr id="4" name="3 Marcador de número de diapositiva"/>
          <p:cNvSpPr>
            <a:spLocks noGrp="1"/>
          </p:cNvSpPr>
          <p:nvPr>
            <p:ph type="sldNum" sz="quarter" idx="10"/>
          </p:nvPr>
        </p:nvSpPr>
        <p:spPr/>
        <p:txBody>
          <a:bodyPr/>
          <a:lstStyle/>
          <a:p>
            <a:fld id="{E92FDB85-A060-4792-A60B-FF3E087276EE}" type="slidenum">
              <a:rPr lang="es-AR" smtClean="0"/>
              <a:pPr/>
              <a:t>19</a:t>
            </a:fld>
            <a:endParaRPr lang="es-AR"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r>
              <a:rPr lang="es-ES_tradnl" dirty="0" smtClean="0"/>
              <a:t>Las</a:t>
            </a:r>
            <a:r>
              <a:rPr lang="es-ES_tradnl" baseline="0" dirty="0" smtClean="0"/>
              <a:t> dos son distribuciones de la probabilidad de participar para los grupos de control y de tratamiento.</a:t>
            </a:r>
            <a:endParaRPr lang="es-ES" dirty="0"/>
          </a:p>
        </p:txBody>
      </p:sp>
      <p:sp>
        <p:nvSpPr>
          <p:cNvPr id="4" name="3 Marcador de número de diapositiva"/>
          <p:cNvSpPr>
            <a:spLocks noGrp="1"/>
          </p:cNvSpPr>
          <p:nvPr>
            <p:ph type="sldNum" sz="quarter" idx="10"/>
          </p:nvPr>
        </p:nvSpPr>
        <p:spPr/>
        <p:txBody>
          <a:bodyPr/>
          <a:lstStyle/>
          <a:p>
            <a:fld id="{E92FDB85-A060-4792-A60B-FF3E087276EE}" type="slidenum">
              <a:rPr lang="es-AR" smtClean="0"/>
              <a:pPr/>
              <a:t>23</a:t>
            </a:fld>
            <a:endParaRPr lang="es-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r>
              <a:rPr lang="es-ES_tradnl" dirty="0" smtClean="0"/>
              <a:t>El criterio de mínimo</a:t>
            </a:r>
            <a:r>
              <a:rPr lang="es-ES_tradnl" baseline="0" dirty="0" smtClean="0"/>
              <a:t> y máximo, presenta fallas si hay áreas dentro del soporte común donde no hay observaciones para uno de los dos grupos.</a:t>
            </a:r>
          </a:p>
          <a:p>
            <a:endParaRPr lang="es-ES_tradnl" baseline="0" dirty="0" smtClean="0"/>
          </a:p>
          <a:p>
            <a:r>
              <a:rPr lang="es-ES_tradnl" baseline="0" dirty="0" smtClean="0"/>
              <a:t>Independientemente del criterio escogido si la proporción de individuos eliminados es alta, esta genera dudas sobre la posibilidad de generalizar el efecto estimado con los individuos restantes, al total de la población.</a:t>
            </a:r>
          </a:p>
          <a:p>
            <a:endParaRPr lang="es-ES" dirty="0"/>
          </a:p>
        </p:txBody>
      </p:sp>
      <p:sp>
        <p:nvSpPr>
          <p:cNvPr id="4" name="3 Marcador de número de diapositiva"/>
          <p:cNvSpPr>
            <a:spLocks noGrp="1"/>
          </p:cNvSpPr>
          <p:nvPr>
            <p:ph type="sldNum" sz="quarter" idx="10"/>
          </p:nvPr>
        </p:nvSpPr>
        <p:spPr/>
        <p:txBody>
          <a:bodyPr/>
          <a:lstStyle/>
          <a:p>
            <a:fld id="{E92FDB85-A060-4792-A60B-FF3E087276EE}" type="slidenum">
              <a:rPr lang="es-AR" smtClean="0"/>
              <a:pPr/>
              <a:t>24</a:t>
            </a:fld>
            <a:endParaRPr lang="es-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r>
              <a:rPr lang="es-ES_tradnl" dirty="0" smtClean="0"/>
              <a:t>Cuando</a:t>
            </a:r>
            <a:r>
              <a:rPr lang="es-ES_tradnl" baseline="0" dirty="0" smtClean="0"/>
              <a:t> solo se toma 1 vecino, es simplemente la diferencia entre variables de resultados.</a:t>
            </a:r>
          </a:p>
          <a:p>
            <a:r>
              <a:rPr lang="es-ES_tradnl" baseline="0" dirty="0" smtClean="0"/>
              <a:t>Si existe mas de un vecino cercano, se debe decidir cuantos vecinos cercanos elegir para cada observación del grupo de tratamiento y que peso darle a cada una de las observaciones</a:t>
            </a:r>
            <a:endParaRPr lang="es-ES" dirty="0"/>
          </a:p>
        </p:txBody>
      </p:sp>
      <p:sp>
        <p:nvSpPr>
          <p:cNvPr id="4" name="3 Marcador de número de diapositiva"/>
          <p:cNvSpPr>
            <a:spLocks noGrp="1"/>
          </p:cNvSpPr>
          <p:nvPr>
            <p:ph type="sldNum" sz="quarter" idx="10"/>
          </p:nvPr>
        </p:nvSpPr>
        <p:spPr/>
        <p:txBody>
          <a:bodyPr/>
          <a:lstStyle/>
          <a:p>
            <a:fld id="{E92FDB85-A060-4792-A60B-FF3E087276EE}" type="slidenum">
              <a:rPr lang="es-AR" smtClean="0"/>
              <a:pPr/>
              <a:t>30</a:t>
            </a:fld>
            <a:endParaRPr lang="es-AR"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r>
              <a:rPr lang="es-ES_tradnl" dirty="0" smtClean="0"/>
              <a:t>Al</a:t>
            </a:r>
            <a:r>
              <a:rPr lang="es-ES_tradnl" baseline="0" dirty="0" smtClean="0"/>
              <a:t> tener mas de una observación en el grupo de control el emparejamiento es peor, lo que puede generar sesgo.</a:t>
            </a:r>
          </a:p>
          <a:p>
            <a:endParaRPr lang="es-ES_tradnl" baseline="0" dirty="0" smtClean="0"/>
          </a:p>
          <a:p>
            <a:r>
              <a:rPr lang="es-ES_tradnl" baseline="0" dirty="0" smtClean="0"/>
              <a:t>Si se permite reemplazo, es decir, que en individuo de control puede ser el vecino más cercano para más de un individuo de tratamiento, se genera un </a:t>
            </a:r>
            <a:r>
              <a:rPr lang="es-ES_tradnl" baseline="0" dirty="0" err="1" smtClean="0"/>
              <a:t>trade</a:t>
            </a:r>
            <a:r>
              <a:rPr lang="es-ES_tradnl" baseline="0" dirty="0" smtClean="0"/>
              <a:t> off entre sesgo y varianza.</a:t>
            </a:r>
          </a:p>
          <a:p>
            <a:r>
              <a:rPr lang="es-ES_tradnl" baseline="0" dirty="0" smtClean="0"/>
              <a:t>Cuando hay reemplazo aumenta la calidad del emparejamiento y por ende el sesgo disminuye. Pero al mismo tiempo se reduce el numero de individuos diferentes que se usan para calcular el contrafactual y por tanto las estimaciones son menos precisas. </a:t>
            </a:r>
            <a:endParaRPr lang="es-ES" dirty="0"/>
          </a:p>
        </p:txBody>
      </p:sp>
      <p:sp>
        <p:nvSpPr>
          <p:cNvPr id="4" name="3 Marcador de número de diapositiva"/>
          <p:cNvSpPr>
            <a:spLocks noGrp="1"/>
          </p:cNvSpPr>
          <p:nvPr>
            <p:ph type="sldNum" sz="quarter" idx="10"/>
          </p:nvPr>
        </p:nvSpPr>
        <p:spPr/>
        <p:txBody>
          <a:bodyPr/>
          <a:lstStyle/>
          <a:p>
            <a:fld id="{E92FDB85-A060-4792-A60B-FF3E087276EE}" type="slidenum">
              <a:rPr lang="es-AR" smtClean="0"/>
              <a:pPr/>
              <a:t>31</a:t>
            </a:fld>
            <a:endParaRPr lang="es-AR"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r>
              <a:rPr lang="es-CO" dirty="0" smtClean="0"/>
              <a:t>La</a:t>
            </a:r>
            <a:r>
              <a:rPr lang="es-CO" baseline="0" dirty="0" smtClean="0"/>
              <a:t> tabla contiene información restringida al soporte común tanto de la probabilidad</a:t>
            </a:r>
            <a:endParaRPr lang="es-ES" dirty="0"/>
          </a:p>
        </p:txBody>
      </p:sp>
      <p:sp>
        <p:nvSpPr>
          <p:cNvPr id="4" name="3 Marcador de número de diapositiva"/>
          <p:cNvSpPr>
            <a:spLocks noGrp="1"/>
          </p:cNvSpPr>
          <p:nvPr>
            <p:ph type="sldNum" sz="quarter" idx="10"/>
          </p:nvPr>
        </p:nvSpPr>
        <p:spPr/>
        <p:txBody>
          <a:bodyPr/>
          <a:lstStyle/>
          <a:p>
            <a:fld id="{E92FDB85-A060-4792-A60B-FF3E087276EE}" type="slidenum">
              <a:rPr lang="es-AR" smtClean="0"/>
              <a:pPr/>
              <a:t>33</a:t>
            </a:fld>
            <a:endParaRPr lang="es-AR"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r>
              <a:rPr lang="es-CO" dirty="0" smtClean="0"/>
              <a:t>La</a:t>
            </a:r>
            <a:r>
              <a:rPr lang="es-CO" baseline="0" dirty="0" smtClean="0"/>
              <a:t> tabla contiene información restringida al soporte común tanto de la probabilidad</a:t>
            </a:r>
            <a:endParaRPr lang="es-ES" dirty="0"/>
          </a:p>
        </p:txBody>
      </p:sp>
      <p:sp>
        <p:nvSpPr>
          <p:cNvPr id="4" name="3 Marcador de número de diapositiva"/>
          <p:cNvSpPr>
            <a:spLocks noGrp="1"/>
          </p:cNvSpPr>
          <p:nvPr>
            <p:ph type="sldNum" sz="quarter" idx="10"/>
          </p:nvPr>
        </p:nvSpPr>
        <p:spPr/>
        <p:txBody>
          <a:bodyPr/>
          <a:lstStyle/>
          <a:p>
            <a:fld id="{E92FDB85-A060-4792-A60B-FF3E087276EE}" type="slidenum">
              <a:rPr lang="es-AR" smtClean="0"/>
              <a:pPr/>
              <a:t>38</a:t>
            </a:fld>
            <a:endParaRPr lang="es-AR"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endParaRPr lang="es-ES" dirty="0"/>
          </a:p>
        </p:txBody>
      </p:sp>
      <p:sp>
        <p:nvSpPr>
          <p:cNvPr id="4" name="3 Marcador de número de diapositiva"/>
          <p:cNvSpPr>
            <a:spLocks noGrp="1"/>
          </p:cNvSpPr>
          <p:nvPr>
            <p:ph type="sldNum" sz="quarter" idx="10"/>
          </p:nvPr>
        </p:nvSpPr>
        <p:spPr/>
        <p:txBody>
          <a:bodyPr/>
          <a:lstStyle/>
          <a:p>
            <a:fld id="{E92FDB85-A060-4792-A60B-FF3E087276EE}" type="slidenum">
              <a:rPr lang="es-AR" smtClean="0"/>
              <a:pPr/>
              <a:t>41</a:t>
            </a:fld>
            <a:endParaRPr lang="es-AR"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endParaRPr lang="es-ES" dirty="0"/>
          </a:p>
        </p:txBody>
      </p:sp>
      <p:sp>
        <p:nvSpPr>
          <p:cNvPr id="4" name="3 Marcador de número de diapositiva"/>
          <p:cNvSpPr>
            <a:spLocks noGrp="1"/>
          </p:cNvSpPr>
          <p:nvPr>
            <p:ph type="sldNum" sz="quarter" idx="10"/>
          </p:nvPr>
        </p:nvSpPr>
        <p:spPr/>
        <p:txBody>
          <a:bodyPr/>
          <a:lstStyle/>
          <a:p>
            <a:fld id="{E92FDB85-A060-4792-A60B-FF3E087276EE}" type="slidenum">
              <a:rPr lang="es-AR" smtClean="0"/>
              <a:pPr/>
              <a:t>43</a:t>
            </a:fld>
            <a:endParaRPr lang="es-AR"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r>
              <a:rPr lang="es-ES_tradnl" dirty="0" smtClean="0"/>
              <a:t>Existen</a:t>
            </a:r>
            <a:r>
              <a:rPr lang="es-ES_tradnl" baseline="0" dirty="0" smtClean="0"/>
              <a:t> distintos tipo de Kernel</a:t>
            </a:r>
          </a:p>
          <a:p>
            <a:r>
              <a:rPr lang="es-ES_tradnl" baseline="0" dirty="0" smtClean="0"/>
              <a:t>Uniforme: asigna el mismo peso a todas las observaciones del grupo de control</a:t>
            </a:r>
          </a:p>
          <a:p>
            <a:r>
              <a:rPr lang="es-ES_tradnl" baseline="0" dirty="0" smtClean="0"/>
              <a:t>Otros Kernel: Asignan pesos inversamente proporcionales a la distancia entre la probabilidad de participación de cada individuo del grupo de control y la probabilidad de participación del individuo tratado para el cual se esta estimando el contrafactual.</a:t>
            </a:r>
            <a:endParaRPr lang="es-ES" dirty="0"/>
          </a:p>
        </p:txBody>
      </p:sp>
      <p:sp>
        <p:nvSpPr>
          <p:cNvPr id="4" name="3 Marcador de número de diapositiva"/>
          <p:cNvSpPr>
            <a:spLocks noGrp="1"/>
          </p:cNvSpPr>
          <p:nvPr>
            <p:ph type="sldNum" sz="quarter" idx="10"/>
          </p:nvPr>
        </p:nvSpPr>
        <p:spPr/>
        <p:txBody>
          <a:bodyPr/>
          <a:lstStyle/>
          <a:p>
            <a:fld id="{E92FDB85-A060-4792-A60B-FF3E087276EE}" type="slidenum">
              <a:rPr lang="es-AR" smtClean="0"/>
              <a:pPr/>
              <a:t>44</a:t>
            </a:fld>
            <a:endParaRPr lang="es-AR"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endParaRPr lang="es-ES" dirty="0"/>
          </a:p>
        </p:txBody>
      </p:sp>
      <p:sp>
        <p:nvSpPr>
          <p:cNvPr id="4" name="3 Marcador de número de diapositiva"/>
          <p:cNvSpPr>
            <a:spLocks noGrp="1"/>
          </p:cNvSpPr>
          <p:nvPr>
            <p:ph type="sldNum" sz="quarter" idx="10"/>
          </p:nvPr>
        </p:nvSpPr>
        <p:spPr/>
        <p:txBody>
          <a:bodyPr/>
          <a:lstStyle/>
          <a:p>
            <a:fld id="{E92FDB85-A060-4792-A60B-FF3E087276EE}" type="slidenum">
              <a:rPr lang="es-AR" smtClean="0"/>
              <a:pPr/>
              <a:t>51</a:t>
            </a:fld>
            <a:endParaRPr lang="es-AR"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endParaRPr lang="es-ES" dirty="0"/>
          </a:p>
        </p:txBody>
      </p:sp>
      <p:sp>
        <p:nvSpPr>
          <p:cNvPr id="4" name="3 Marcador de número de diapositiva"/>
          <p:cNvSpPr>
            <a:spLocks noGrp="1"/>
          </p:cNvSpPr>
          <p:nvPr>
            <p:ph type="sldNum" sz="quarter" idx="10"/>
          </p:nvPr>
        </p:nvSpPr>
        <p:spPr/>
        <p:txBody>
          <a:bodyPr/>
          <a:lstStyle/>
          <a:p>
            <a:fld id="{E92FDB85-A060-4792-A60B-FF3E087276EE}" type="slidenum">
              <a:rPr lang="es-AR" smtClean="0"/>
              <a:pPr/>
              <a:t>59</a:t>
            </a:fld>
            <a:endParaRPr lang="es-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r>
              <a:rPr lang="es-ES_tradnl" dirty="0" smtClean="0"/>
              <a:t>Si la condición</a:t>
            </a:r>
            <a:r>
              <a:rPr lang="es-ES_tradnl" baseline="0" dirty="0" smtClean="0"/>
              <a:t> no se cumple puede ser por:</a:t>
            </a:r>
          </a:p>
          <a:p>
            <a:r>
              <a:rPr lang="es-ES_tradnl" baseline="0" dirty="0" smtClean="0"/>
              <a:t>1. Mala especificación del modelo usado para calcular la probabilidad de participación.</a:t>
            </a:r>
          </a:p>
          <a:p>
            <a:r>
              <a:rPr lang="es-ES_tradnl" baseline="0" dirty="0" smtClean="0"/>
              <a:t>2. No se cumple el supuesto de Independencia Condicional</a:t>
            </a:r>
          </a:p>
        </p:txBody>
      </p:sp>
      <p:sp>
        <p:nvSpPr>
          <p:cNvPr id="4" name="3 Marcador de número de diapositiva"/>
          <p:cNvSpPr>
            <a:spLocks noGrp="1"/>
          </p:cNvSpPr>
          <p:nvPr>
            <p:ph type="sldNum" sz="quarter" idx="10"/>
          </p:nvPr>
        </p:nvSpPr>
        <p:spPr/>
        <p:txBody>
          <a:bodyPr/>
          <a:lstStyle/>
          <a:p>
            <a:fld id="{E92FDB85-A060-4792-A60B-FF3E087276EE}" type="slidenum">
              <a:rPr lang="es-AR" smtClean="0"/>
              <a:pPr/>
              <a:t>60</a:t>
            </a:fld>
            <a:endParaRPr lang="es-AR"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endParaRPr lang="es-ES" dirty="0"/>
          </a:p>
        </p:txBody>
      </p:sp>
      <p:sp>
        <p:nvSpPr>
          <p:cNvPr id="4" name="3 Marcador de número de diapositiva"/>
          <p:cNvSpPr>
            <a:spLocks noGrp="1"/>
          </p:cNvSpPr>
          <p:nvPr>
            <p:ph type="sldNum" sz="quarter" idx="10"/>
          </p:nvPr>
        </p:nvSpPr>
        <p:spPr/>
        <p:txBody>
          <a:bodyPr/>
          <a:lstStyle/>
          <a:p>
            <a:fld id="{E92FDB85-A060-4792-A60B-FF3E087276EE}" type="slidenum">
              <a:rPr lang="es-AR" smtClean="0"/>
              <a:pPr/>
              <a:t>63</a:t>
            </a:fld>
            <a:endParaRPr lang="es-AR"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endParaRPr lang="es-ES" dirty="0"/>
          </a:p>
        </p:txBody>
      </p:sp>
      <p:sp>
        <p:nvSpPr>
          <p:cNvPr id="4" name="3 Marcador de número de diapositiva"/>
          <p:cNvSpPr>
            <a:spLocks noGrp="1"/>
          </p:cNvSpPr>
          <p:nvPr>
            <p:ph type="sldNum" sz="quarter" idx="10"/>
          </p:nvPr>
        </p:nvSpPr>
        <p:spPr/>
        <p:txBody>
          <a:bodyPr/>
          <a:lstStyle/>
          <a:p>
            <a:fld id="{E92FDB85-A060-4792-A60B-FF3E087276EE}" type="slidenum">
              <a:rPr lang="es-AR" smtClean="0"/>
              <a:pPr/>
              <a:t>64</a:t>
            </a:fld>
            <a:endParaRPr lang="es-AR"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endParaRPr lang="es-ES" dirty="0"/>
          </a:p>
        </p:txBody>
      </p:sp>
      <p:sp>
        <p:nvSpPr>
          <p:cNvPr id="4" name="3 Marcador de número de diapositiva"/>
          <p:cNvSpPr>
            <a:spLocks noGrp="1"/>
          </p:cNvSpPr>
          <p:nvPr>
            <p:ph type="sldNum" sz="quarter" idx="10"/>
          </p:nvPr>
        </p:nvSpPr>
        <p:spPr/>
        <p:txBody>
          <a:bodyPr/>
          <a:lstStyle/>
          <a:p>
            <a:fld id="{E92FDB85-A060-4792-A60B-FF3E087276EE}" type="slidenum">
              <a:rPr lang="es-AR" smtClean="0"/>
              <a:pPr/>
              <a:t>65</a:t>
            </a:fld>
            <a:endParaRPr lang="es-AR"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r>
              <a:rPr lang="es-CO" dirty="0" smtClean="0"/>
              <a:t>Primera</a:t>
            </a:r>
            <a:r>
              <a:rPr lang="es-CO" baseline="0" dirty="0" smtClean="0"/>
              <a:t> columna: Impacto del programa usando los datos experimentales (tratamiento vs. Controles).</a:t>
            </a:r>
          </a:p>
          <a:p>
            <a:r>
              <a:rPr lang="es-CO" baseline="0" dirty="0" smtClean="0"/>
              <a:t>Entonces los hombres adultos que se beneficiaron del programa ganan en promedio $44 más por mes que los no beneficiarios.</a:t>
            </a:r>
          </a:p>
          <a:p>
            <a:endParaRPr lang="es-CO" baseline="0" dirty="0" smtClean="0"/>
          </a:p>
          <a:p>
            <a:r>
              <a:rPr lang="es-CO" baseline="0" dirty="0" smtClean="0"/>
              <a:t>Segunda columna: Sólo para el soporte común.</a:t>
            </a:r>
          </a:p>
          <a:p>
            <a:r>
              <a:rPr lang="es-CO" baseline="0" dirty="0" smtClean="0"/>
              <a:t>Los hombres adultos tratados ganan $61 más al mes que los controles.</a:t>
            </a:r>
          </a:p>
          <a:p>
            <a:endParaRPr lang="es-CO" baseline="0" dirty="0" smtClean="0"/>
          </a:p>
          <a:p>
            <a:r>
              <a:rPr lang="es-CO" baseline="0" dirty="0" smtClean="0"/>
              <a:t>Tercera columna: Sesgo generado por no restringir al soporte común a como porcentaje del impacto experimental.</a:t>
            </a:r>
          </a:p>
          <a:p>
            <a:endParaRPr lang="es-CO" baseline="0" dirty="0" smtClean="0"/>
          </a:p>
          <a:p>
            <a:r>
              <a:rPr lang="es-CO" baseline="0" dirty="0" smtClean="0"/>
              <a:t>Las últimas 4 columnas presenta el sesgo generado por los resultados del impacto según diferentes métodos de pareo, como porcentaje del impacto experimenta.</a:t>
            </a:r>
          </a:p>
          <a:p>
            <a:endParaRPr lang="es-CO" baseline="0" dirty="0" smtClean="0"/>
          </a:p>
          <a:p>
            <a:r>
              <a:rPr lang="es-CO" baseline="0" dirty="0" smtClean="0"/>
              <a:t>Los resultados sugieren que en muestras pequeñas hay mucha heterogeneidad en el impacto</a:t>
            </a:r>
            <a:endParaRPr lang="es-ES" dirty="0"/>
          </a:p>
        </p:txBody>
      </p:sp>
      <p:sp>
        <p:nvSpPr>
          <p:cNvPr id="4" name="3 Marcador de número de diapositiva"/>
          <p:cNvSpPr>
            <a:spLocks noGrp="1"/>
          </p:cNvSpPr>
          <p:nvPr>
            <p:ph type="sldNum" sz="quarter" idx="10"/>
          </p:nvPr>
        </p:nvSpPr>
        <p:spPr/>
        <p:txBody>
          <a:bodyPr/>
          <a:lstStyle/>
          <a:p>
            <a:fld id="{E92FDB85-A060-4792-A60B-FF3E087276EE}" type="slidenum">
              <a:rPr lang="es-AR" smtClean="0"/>
              <a:pPr/>
              <a:t>69</a:t>
            </a:fld>
            <a:endParaRPr lang="es-AR"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r>
              <a:rPr lang="es-CO" dirty="0" smtClean="0"/>
              <a:t>Resultados en cuanto a la promoción de educación.</a:t>
            </a:r>
            <a:endParaRPr lang="es-CO" baseline="0" dirty="0" smtClean="0"/>
          </a:p>
          <a:p>
            <a:r>
              <a:rPr lang="es-CO" baseline="0" dirty="0" smtClean="0"/>
              <a:t>La tabla corresponde a los efectos preliminares sobre la probabilidad de estar matriculado.</a:t>
            </a:r>
          </a:p>
          <a:p>
            <a:r>
              <a:rPr lang="es-CO" baseline="0" dirty="0" smtClean="0"/>
              <a:t>La primera columna muestra el impacto del programa y su error estándar.</a:t>
            </a:r>
          </a:p>
          <a:p>
            <a:r>
              <a:rPr lang="es-CO" baseline="0" dirty="0" smtClean="0"/>
              <a:t>En la segunda columna el porcentaje de hogares de Tratamiento con Pago emparejados, que es un indicador de la calidad del emparejamiento.</a:t>
            </a:r>
            <a:endParaRPr lang="es-ES" dirty="0"/>
          </a:p>
        </p:txBody>
      </p:sp>
      <p:sp>
        <p:nvSpPr>
          <p:cNvPr id="4" name="3 Marcador de número de diapositiva"/>
          <p:cNvSpPr>
            <a:spLocks noGrp="1"/>
          </p:cNvSpPr>
          <p:nvPr>
            <p:ph type="sldNum" sz="quarter" idx="10"/>
          </p:nvPr>
        </p:nvSpPr>
        <p:spPr/>
        <p:txBody>
          <a:bodyPr/>
          <a:lstStyle/>
          <a:p>
            <a:fld id="{E92FDB85-A060-4792-A60B-FF3E087276EE}" type="slidenum">
              <a:rPr lang="es-AR" smtClean="0"/>
              <a:pPr/>
              <a:t>72</a:t>
            </a:fld>
            <a:endParaRPr lang="es-AR"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r>
              <a:rPr lang="es-CO" dirty="0" smtClean="0"/>
              <a:t>Impacto</a:t>
            </a:r>
            <a:r>
              <a:rPr lang="es-CO" baseline="0" dirty="0" smtClean="0"/>
              <a:t> sobre la nutrición de los niños de 0 a 6 años.</a:t>
            </a:r>
          </a:p>
          <a:p>
            <a:r>
              <a:rPr lang="es-CO" baseline="0" dirty="0" smtClean="0"/>
              <a:t>Los resultados nutricionales son medidos como peso por edad y peso por talla.</a:t>
            </a:r>
          </a:p>
          <a:p>
            <a:r>
              <a:rPr lang="es-CO" baseline="0" dirty="0" smtClean="0"/>
              <a:t>La primera columna: Resultados del emparejamiento</a:t>
            </a:r>
          </a:p>
          <a:p>
            <a:r>
              <a:rPr lang="es-CO" baseline="0" dirty="0" smtClean="0"/>
              <a:t>La segunda columna: Porcentaje de la muestra emparejada.</a:t>
            </a:r>
            <a:endParaRPr lang="es-ES" dirty="0"/>
          </a:p>
        </p:txBody>
      </p:sp>
      <p:sp>
        <p:nvSpPr>
          <p:cNvPr id="4" name="3 Marcador de número de diapositiva"/>
          <p:cNvSpPr>
            <a:spLocks noGrp="1"/>
          </p:cNvSpPr>
          <p:nvPr>
            <p:ph type="sldNum" sz="quarter" idx="10"/>
          </p:nvPr>
        </p:nvSpPr>
        <p:spPr/>
        <p:txBody>
          <a:bodyPr/>
          <a:lstStyle/>
          <a:p>
            <a:fld id="{E92FDB85-A060-4792-A60B-FF3E087276EE}" type="slidenum">
              <a:rPr lang="es-AR" smtClean="0"/>
              <a:pPr/>
              <a:t>73</a:t>
            </a:fld>
            <a:endParaRPr lang="es-A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685800" y="2130425"/>
            <a:ext cx="7772400" cy="1470025"/>
          </a:xfrm>
        </p:spPr>
        <p:txBody>
          <a:bodyPr/>
          <a:lstStyle/>
          <a:p>
            <a:r>
              <a:rPr lang="es-ES" smtClean="0"/>
              <a:t>Haga clic para modificar el estilo de título del patrón</a:t>
            </a:r>
            <a:endParaRPr lang="es-AR"/>
          </a:p>
        </p:txBody>
      </p:sp>
      <p:sp>
        <p:nvSpPr>
          <p:cNvPr id="3" name="2 Subtítulo"/>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smtClean="0"/>
              <a:t>Haga clic para modificar el estilo de subtítulo del patrón</a:t>
            </a:r>
            <a:endParaRPr lang="es-AR"/>
          </a:p>
        </p:txBody>
      </p:sp>
      <p:sp>
        <p:nvSpPr>
          <p:cNvPr id="4" name="3 Marcador de fecha"/>
          <p:cNvSpPr>
            <a:spLocks noGrp="1"/>
          </p:cNvSpPr>
          <p:nvPr>
            <p:ph type="dt" sz="half" idx="10"/>
          </p:nvPr>
        </p:nvSpPr>
        <p:spPr/>
        <p:txBody>
          <a:bodyPr/>
          <a:lstStyle/>
          <a:p>
            <a:fld id="{A01BE55F-1FE8-4FAD-AAED-EFBD2DE81CAA}" type="datetimeFigureOut">
              <a:rPr lang="es-AR" smtClean="0"/>
              <a:pPr/>
              <a:t>10/04/2011</a:t>
            </a:fld>
            <a:endParaRPr lang="es-AR" dirty="0"/>
          </a:p>
        </p:txBody>
      </p:sp>
      <p:sp>
        <p:nvSpPr>
          <p:cNvPr id="5" name="4 Marcador de pie de página"/>
          <p:cNvSpPr>
            <a:spLocks noGrp="1"/>
          </p:cNvSpPr>
          <p:nvPr>
            <p:ph type="ftr" sz="quarter" idx="11"/>
          </p:nvPr>
        </p:nvSpPr>
        <p:spPr/>
        <p:txBody>
          <a:bodyPr/>
          <a:lstStyle/>
          <a:p>
            <a:endParaRPr lang="es-AR" dirty="0"/>
          </a:p>
        </p:txBody>
      </p:sp>
      <p:sp>
        <p:nvSpPr>
          <p:cNvPr id="6" name="5 Marcador de número de diapositiva"/>
          <p:cNvSpPr>
            <a:spLocks noGrp="1"/>
          </p:cNvSpPr>
          <p:nvPr>
            <p:ph type="sldNum" sz="quarter" idx="12"/>
          </p:nvPr>
        </p:nvSpPr>
        <p:spPr/>
        <p:txBody>
          <a:bodyPr/>
          <a:lstStyle/>
          <a:p>
            <a:fld id="{64133B23-5F55-4D96-8425-FA32FB0BF94B}" type="slidenum">
              <a:rPr lang="es-AR" smtClean="0"/>
              <a:pPr/>
              <a:t>‹Nº›</a:t>
            </a:fld>
            <a:endParaRPr lang="es-A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AR"/>
          </a:p>
        </p:txBody>
      </p:sp>
      <p:sp>
        <p:nvSpPr>
          <p:cNvPr id="3" name="2 Marcador de contenido"/>
          <p:cNvSpPr>
            <a:spLocks noGrp="1"/>
          </p:cNvSpPr>
          <p:nvPr>
            <p:ph idx="1"/>
          </p:nvPr>
        </p:nvSpPr>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AR"/>
          </a:p>
        </p:txBody>
      </p:sp>
      <p:sp>
        <p:nvSpPr>
          <p:cNvPr id="4" name="3 Marcador de fecha"/>
          <p:cNvSpPr>
            <a:spLocks noGrp="1"/>
          </p:cNvSpPr>
          <p:nvPr>
            <p:ph type="dt" sz="half" idx="10"/>
          </p:nvPr>
        </p:nvSpPr>
        <p:spPr/>
        <p:txBody>
          <a:bodyPr/>
          <a:lstStyle/>
          <a:p>
            <a:fld id="{A01BE55F-1FE8-4FAD-AAED-EFBD2DE81CAA}" type="datetimeFigureOut">
              <a:rPr lang="es-AR" smtClean="0"/>
              <a:pPr/>
              <a:t>10/04/2011</a:t>
            </a:fld>
            <a:endParaRPr lang="es-AR" dirty="0"/>
          </a:p>
        </p:txBody>
      </p:sp>
      <p:sp>
        <p:nvSpPr>
          <p:cNvPr id="5" name="4 Marcador de pie de página"/>
          <p:cNvSpPr>
            <a:spLocks noGrp="1"/>
          </p:cNvSpPr>
          <p:nvPr>
            <p:ph type="ftr" sz="quarter" idx="11"/>
          </p:nvPr>
        </p:nvSpPr>
        <p:spPr/>
        <p:txBody>
          <a:bodyPr/>
          <a:lstStyle/>
          <a:p>
            <a:endParaRPr lang="es-AR" dirty="0"/>
          </a:p>
        </p:txBody>
      </p:sp>
      <p:sp>
        <p:nvSpPr>
          <p:cNvPr id="6" name="5 Marcador de número de diapositiva"/>
          <p:cNvSpPr>
            <a:spLocks noGrp="1"/>
          </p:cNvSpPr>
          <p:nvPr>
            <p:ph type="sldNum" sz="quarter" idx="12"/>
          </p:nvPr>
        </p:nvSpPr>
        <p:spPr/>
        <p:txBody>
          <a:bodyPr/>
          <a:lstStyle/>
          <a:p>
            <a:fld id="{64133B23-5F55-4D96-8425-FA32FB0BF94B}" type="slidenum">
              <a:rPr lang="es-AR" smtClean="0"/>
              <a:pPr/>
              <a:t>‹Nº›</a:t>
            </a:fld>
            <a:endParaRPr lang="es-A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4406900"/>
            <a:ext cx="7772400" cy="1362075"/>
          </a:xfrm>
        </p:spPr>
        <p:txBody>
          <a:bodyPr anchor="t"/>
          <a:lstStyle>
            <a:lvl1pPr algn="l">
              <a:defRPr sz="4000" b="1" cap="all"/>
            </a:lvl1pPr>
          </a:lstStyle>
          <a:p>
            <a:r>
              <a:rPr lang="es-ES" smtClean="0"/>
              <a:t>Haga clic para modificar el estilo de título del patrón</a:t>
            </a:r>
            <a:endParaRPr lang="es-AR"/>
          </a:p>
        </p:txBody>
      </p:sp>
      <p:sp>
        <p:nvSpPr>
          <p:cNvPr id="3" name="2 Marcador de texto"/>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3 Marcador de fecha"/>
          <p:cNvSpPr>
            <a:spLocks noGrp="1"/>
          </p:cNvSpPr>
          <p:nvPr>
            <p:ph type="dt" sz="half" idx="10"/>
          </p:nvPr>
        </p:nvSpPr>
        <p:spPr/>
        <p:txBody>
          <a:bodyPr/>
          <a:lstStyle/>
          <a:p>
            <a:fld id="{A01BE55F-1FE8-4FAD-AAED-EFBD2DE81CAA}" type="datetimeFigureOut">
              <a:rPr lang="es-AR" smtClean="0"/>
              <a:pPr/>
              <a:t>10/04/2011</a:t>
            </a:fld>
            <a:endParaRPr lang="es-AR" dirty="0"/>
          </a:p>
        </p:txBody>
      </p:sp>
      <p:sp>
        <p:nvSpPr>
          <p:cNvPr id="5" name="4 Marcador de pie de página"/>
          <p:cNvSpPr>
            <a:spLocks noGrp="1"/>
          </p:cNvSpPr>
          <p:nvPr>
            <p:ph type="ftr" sz="quarter" idx="11"/>
          </p:nvPr>
        </p:nvSpPr>
        <p:spPr/>
        <p:txBody>
          <a:bodyPr/>
          <a:lstStyle/>
          <a:p>
            <a:endParaRPr lang="es-AR" dirty="0"/>
          </a:p>
        </p:txBody>
      </p:sp>
      <p:sp>
        <p:nvSpPr>
          <p:cNvPr id="6" name="5 Marcador de número de diapositiva"/>
          <p:cNvSpPr>
            <a:spLocks noGrp="1"/>
          </p:cNvSpPr>
          <p:nvPr>
            <p:ph type="sldNum" sz="quarter" idx="12"/>
          </p:nvPr>
        </p:nvSpPr>
        <p:spPr/>
        <p:txBody>
          <a:bodyPr/>
          <a:lstStyle/>
          <a:p>
            <a:fld id="{64133B23-5F55-4D96-8425-FA32FB0BF94B}" type="slidenum">
              <a:rPr lang="es-AR" smtClean="0"/>
              <a:pPr/>
              <a:t>‹Nº›</a:t>
            </a:fld>
            <a:endParaRPr lang="es-A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AR"/>
          </a:p>
        </p:txBody>
      </p:sp>
      <p:sp>
        <p:nvSpPr>
          <p:cNvPr id="3" name="2 Marcador de contenido"/>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AR"/>
          </a:p>
        </p:txBody>
      </p:sp>
      <p:sp>
        <p:nvSpPr>
          <p:cNvPr id="4" name="3 Marcador de contenido"/>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AR"/>
          </a:p>
        </p:txBody>
      </p:sp>
      <p:sp>
        <p:nvSpPr>
          <p:cNvPr id="5" name="4 Marcador de fecha"/>
          <p:cNvSpPr>
            <a:spLocks noGrp="1"/>
          </p:cNvSpPr>
          <p:nvPr>
            <p:ph type="dt" sz="half" idx="10"/>
          </p:nvPr>
        </p:nvSpPr>
        <p:spPr/>
        <p:txBody>
          <a:bodyPr/>
          <a:lstStyle/>
          <a:p>
            <a:fld id="{A01BE55F-1FE8-4FAD-AAED-EFBD2DE81CAA}" type="datetimeFigureOut">
              <a:rPr lang="es-AR" smtClean="0"/>
              <a:pPr/>
              <a:t>10/04/2011</a:t>
            </a:fld>
            <a:endParaRPr lang="es-AR" dirty="0"/>
          </a:p>
        </p:txBody>
      </p:sp>
      <p:sp>
        <p:nvSpPr>
          <p:cNvPr id="6" name="5 Marcador de pie de página"/>
          <p:cNvSpPr>
            <a:spLocks noGrp="1"/>
          </p:cNvSpPr>
          <p:nvPr>
            <p:ph type="ftr" sz="quarter" idx="11"/>
          </p:nvPr>
        </p:nvSpPr>
        <p:spPr/>
        <p:txBody>
          <a:bodyPr/>
          <a:lstStyle/>
          <a:p>
            <a:endParaRPr lang="es-AR" dirty="0"/>
          </a:p>
        </p:txBody>
      </p:sp>
      <p:sp>
        <p:nvSpPr>
          <p:cNvPr id="7" name="6 Marcador de número de diapositiva"/>
          <p:cNvSpPr>
            <a:spLocks noGrp="1"/>
          </p:cNvSpPr>
          <p:nvPr>
            <p:ph type="sldNum" sz="quarter" idx="12"/>
          </p:nvPr>
        </p:nvSpPr>
        <p:spPr/>
        <p:txBody>
          <a:bodyPr/>
          <a:lstStyle/>
          <a:p>
            <a:fld id="{64133B23-5F55-4D96-8425-FA32FB0BF94B}" type="slidenum">
              <a:rPr lang="es-AR" smtClean="0"/>
              <a:pPr/>
              <a:t>‹Nº›</a:t>
            </a:fld>
            <a:endParaRPr lang="es-A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defRPr/>
            </a:lvl1pPr>
          </a:lstStyle>
          <a:p>
            <a:r>
              <a:rPr lang="es-ES" smtClean="0"/>
              <a:t>Haga clic para modificar el estilo de título del patrón</a:t>
            </a:r>
            <a:endParaRPr lang="es-AR"/>
          </a:p>
        </p:txBody>
      </p:sp>
      <p:sp>
        <p:nvSpPr>
          <p:cNvPr id="3" name="2 Marcador de texto"/>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4" name="3 Marcador de contenido"/>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AR"/>
          </a:p>
        </p:txBody>
      </p:sp>
      <p:sp>
        <p:nvSpPr>
          <p:cNvPr id="5" name="4 Marcador de texto"/>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6" name="5 Marcador de contenido"/>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AR"/>
          </a:p>
        </p:txBody>
      </p:sp>
      <p:sp>
        <p:nvSpPr>
          <p:cNvPr id="7" name="6 Marcador de fecha"/>
          <p:cNvSpPr>
            <a:spLocks noGrp="1"/>
          </p:cNvSpPr>
          <p:nvPr>
            <p:ph type="dt" sz="half" idx="10"/>
          </p:nvPr>
        </p:nvSpPr>
        <p:spPr/>
        <p:txBody>
          <a:bodyPr/>
          <a:lstStyle/>
          <a:p>
            <a:fld id="{A01BE55F-1FE8-4FAD-AAED-EFBD2DE81CAA}" type="datetimeFigureOut">
              <a:rPr lang="es-AR" smtClean="0"/>
              <a:pPr/>
              <a:t>10/04/2011</a:t>
            </a:fld>
            <a:endParaRPr lang="es-AR" dirty="0"/>
          </a:p>
        </p:txBody>
      </p:sp>
      <p:sp>
        <p:nvSpPr>
          <p:cNvPr id="8" name="7 Marcador de pie de página"/>
          <p:cNvSpPr>
            <a:spLocks noGrp="1"/>
          </p:cNvSpPr>
          <p:nvPr>
            <p:ph type="ftr" sz="quarter" idx="11"/>
          </p:nvPr>
        </p:nvSpPr>
        <p:spPr/>
        <p:txBody>
          <a:bodyPr/>
          <a:lstStyle/>
          <a:p>
            <a:endParaRPr lang="es-AR" dirty="0"/>
          </a:p>
        </p:txBody>
      </p:sp>
      <p:sp>
        <p:nvSpPr>
          <p:cNvPr id="9" name="8 Marcador de número de diapositiva"/>
          <p:cNvSpPr>
            <a:spLocks noGrp="1"/>
          </p:cNvSpPr>
          <p:nvPr>
            <p:ph type="sldNum" sz="quarter" idx="12"/>
          </p:nvPr>
        </p:nvSpPr>
        <p:spPr/>
        <p:txBody>
          <a:bodyPr/>
          <a:lstStyle/>
          <a:p>
            <a:fld id="{64133B23-5F55-4D96-8425-FA32FB0BF94B}" type="slidenum">
              <a:rPr lang="es-AR" smtClean="0"/>
              <a:pPr/>
              <a:t>‹Nº›</a:t>
            </a:fld>
            <a:endParaRPr lang="es-AR"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AR"/>
          </a:p>
        </p:txBody>
      </p:sp>
      <p:sp>
        <p:nvSpPr>
          <p:cNvPr id="3" name="2 Marcador de fecha"/>
          <p:cNvSpPr>
            <a:spLocks noGrp="1"/>
          </p:cNvSpPr>
          <p:nvPr>
            <p:ph type="dt" sz="half" idx="10"/>
          </p:nvPr>
        </p:nvSpPr>
        <p:spPr/>
        <p:txBody>
          <a:bodyPr/>
          <a:lstStyle/>
          <a:p>
            <a:fld id="{A01BE55F-1FE8-4FAD-AAED-EFBD2DE81CAA}" type="datetimeFigureOut">
              <a:rPr lang="es-AR" smtClean="0"/>
              <a:pPr/>
              <a:t>10/04/2011</a:t>
            </a:fld>
            <a:endParaRPr lang="es-AR" dirty="0"/>
          </a:p>
        </p:txBody>
      </p:sp>
      <p:sp>
        <p:nvSpPr>
          <p:cNvPr id="4" name="3 Marcador de pie de página"/>
          <p:cNvSpPr>
            <a:spLocks noGrp="1"/>
          </p:cNvSpPr>
          <p:nvPr>
            <p:ph type="ftr" sz="quarter" idx="11"/>
          </p:nvPr>
        </p:nvSpPr>
        <p:spPr/>
        <p:txBody>
          <a:bodyPr/>
          <a:lstStyle/>
          <a:p>
            <a:endParaRPr lang="es-AR" dirty="0"/>
          </a:p>
        </p:txBody>
      </p:sp>
      <p:sp>
        <p:nvSpPr>
          <p:cNvPr id="5" name="4 Marcador de número de diapositiva"/>
          <p:cNvSpPr>
            <a:spLocks noGrp="1"/>
          </p:cNvSpPr>
          <p:nvPr>
            <p:ph type="sldNum" sz="quarter" idx="12"/>
          </p:nvPr>
        </p:nvSpPr>
        <p:spPr/>
        <p:txBody>
          <a:bodyPr/>
          <a:lstStyle/>
          <a:p>
            <a:fld id="{64133B23-5F55-4D96-8425-FA32FB0BF94B}" type="slidenum">
              <a:rPr lang="es-AR" smtClean="0"/>
              <a:pPr/>
              <a:t>‹Nº›</a:t>
            </a:fld>
            <a:endParaRPr lang="es-AR"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A01BE55F-1FE8-4FAD-AAED-EFBD2DE81CAA}" type="datetimeFigureOut">
              <a:rPr lang="es-AR" smtClean="0"/>
              <a:pPr/>
              <a:t>10/04/2011</a:t>
            </a:fld>
            <a:endParaRPr lang="es-AR" dirty="0"/>
          </a:p>
        </p:txBody>
      </p:sp>
      <p:sp>
        <p:nvSpPr>
          <p:cNvPr id="3" name="2 Marcador de pie de página"/>
          <p:cNvSpPr>
            <a:spLocks noGrp="1"/>
          </p:cNvSpPr>
          <p:nvPr>
            <p:ph type="ftr" sz="quarter" idx="11"/>
          </p:nvPr>
        </p:nvSpPr>
        <p:spPr/>
        <p:txBody>
          <a:bodyPr/>
          <a:lstStyle/>
          <a:p>
            <a:endParaRPr lang="es-AR" dirty="0"/>
          </a:p>
        </p:txBody>
      </p:sp>
      <p:sp>
        <p:nvSpPr>
          <p:cNvPr id="4" name="3 Marcador de número de diapositiva"/>
          <p:cNvSpPr>
            <a:spLocks noGrp="1"/>
          </p:cNvSpPr>
          <p:nvPr>
            <p:ph type="sldNum" sz="quarter" idx="12"/>
          </p:nvPr>
        </p:nvSpPr>
        <p:spPr/>
        <p:txBody>
          <a:bodyPr/>
          <a:lstStyle/>
          <a:p>
            <a:fld id="{64133B23-5F55-4D96-8425-FA32FB0BF94B}" type="slidenum">
              <a:rPr lang="es-AR" smtClean="0"/>
              <a:pPr/>
              <a:t>‹Nº›</a:t>
            </a:fld>
            <a:endParaRPr lang="es-AR"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3008313" cy="1162050"/>
          </a:xfrm>
        </p:spPr>
        <p:txBody>
          <a:bodyPr anchor="b"/>
          <a:lstStyle>
            <a:lvl1pPr algn="l">
              <a:defRPr sz="2000" b="1"/>
            </a:lvl1pPr>
          </a:lstStyle>
          <a:p>
            <a:r>
              <a:rPr lang="es-ES" smtClean="0"/>
              <a:t>Haga clic para modificar el estilo de título del patrón</a:t>
            </a:r>
            <a:endParaRPr lang="es-AR"/>
          </a:p>
        </p:txBody>
      </p:sp>
      <p:sp>
        <p:nvSpPr>
          <p:cNvPr id="3" name="2 Marcador de contenido"/>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AR"/>
          </a:p>
        </p:txBody>
      </p:sp>
      <p:sp>
        <p:nvSpPr>
          <p:cNvPr id="4" name="3 Marcador de texto"/>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4 Marcador de fecha"/>
          <p:cNvSpPr>
            <a:spLocks noGrp="1"/>
          </p:cNvSpPr>
          <p:nvPr>
            <p:ph type="dt" sz="half" idx="10"/>
          </p:nvPr>
        </p:nvSpPr>
        <p:spPr/>
        <p:txBody>
          <a:bodyPr/>
          <a:lstStyle/>
          <a:p>
            <a:fld id="{A01BE55F-1FE8-4FAD-AAED-EFBD2DE81CAA}" type="datetimeFigureOut">
              <a:rPr lang="es-AR" smtClean="0"/>
              <a:pPr/>
              <a:t>10/04/2011</a:t>
            </a:fld>
            <a:endParaRPr lang="es-AR" dirty="0"/>
          </a:p>
        </p:txBody>
      </p:sp>
      <p:sp>
        <p:nvSpPr>
          <p:cNvPr id="6" name="5 Marcador de pie de página"/>
          <p:cNvSpPr>
            <a:spLocks noGrp="1"/>
          </p:cNvSpPr>
          <p:nvPr>
            <p:ph type="ftr" sz="quarter" idx="11"/>
          </p:nvPr>
        </p:nvSpPr>
        <p:spPr/>
        <p:txBody>
          <a:bodyPr/>
          <a:lstStyle/>
          <a:p>
            <a:endParaRPr lang="es-AR" dirty="0"/>
          </a:p>
        </p:txBody>
      </p:sp>
      <p:sp>
        <p:nvSpPr>
          <p:cNvPr id="7" name="6 Marcador de número de diapositiva"/>
          <p:cNvSpPr>
            <a:spLocks noGrp="1"/>
          </p:cNvSpPr>
          <p:nvPr>
            <p:ph type="sldNum" sz="quarter" idx="12"/>
          </p:nvPr>
        </p:nvSpPr>
        <p:spPr/>
        <p:txBody>
          <a:bodyPr/>
          <a:lstStyle/>
          <a:p>
            <a:fld id="{64133B23-5F55-4D96-8425-FA32FB0BF94B}" type="slidenum">
              <a:rPr lang="es-AR" smtClean="0"/>
              <a:pPr/>
              <a:t>‹Nº›</a:t>
            </a:fld>
            <a:endParaRPr lang="es-AR"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4800600"/>
            <a:ext cx="5486400" cy="566738"/>
          </a:xfrm>
        </p:spPr>
        <p:txBody>
          <a:bodyPr anchor="b"/>
          <a:lstStyle>
            <a:lvl1pPr algn="l">
              <a:defRPr sz="2000" b="1"/>
            </a:lvl1pPr>
          </a:lstStyle>
          <a:p>
            <a:r>
              <a:rPr lang="es-ES" smtClean="0"/>
              <a:t>Haga clic para modificar el estilo de título del patrón</a:t>
            </a:r>
            <a:endParaRPr lang="es-AR"/>
          </a:p>
        </p:txBody>
      </p:sp>
      <p:sp>
        <p:nvSpPr>
          <p:cNvPr id="3" name="2 Marcador de posición de imagen"/>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AR" dirty="0"/>
          </a:p>
        </p:txBody>
      </p:sp>
      <p:sp>
        <p:nvSpPr>
          <p:cNvPr id="4" name="3 Marcador de texto"/>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4 Marcador de fecha"/>
          <p:cNvSpPr>
            <a:spLocks noGrp="1"/>
          </p:cNvSpPr>
          <p:nvPr>
            <p:ph type="dt" sz="half" idx="10"/>
          </p:nvPr>
        </p:nvSpPr>
        <p:spPr/>
        <p:txBody>
          <a:bodyPr/>
          <a:lstStyle/>
          <a:p>
            <a:fld id="{A01BE55F-1FE8-4FAD-AAED-EFBD2DE81CAA}" type="datetimeFigureOut">
              <a:rPr lang="es-AR" smtClean="0"/>
              <a:pPr/>
              <a:t>10/04/2011</a:t>
            </a:fld>
            <a:endParaRPr lang="es-AR" dirty="0"/>
          </a:p>
        </p:txBody>
      </p:sp>
      <p:sp>
        <p:nvSpPr>
          <p:cNvPr id="6" name="5 Marcador de pie de página"/>
          <p:cNvSpPr>
            <a:spLocks noGrp="1"/>
          </p:cNvSpPr>
          <p:nvPr>
            <p:ph type="ftr" sz="quarter" idx="11"/>
          </p:nvPr>
        </p:nvSpPr>
        <p:spPr/>
        <p:txBody>
          <a:bodyPr/>
          <a:lstStyle/>
          <a:p>
            <a:endParaRPr lang="es-AR" dirty="0"/>
          </a:p>
        </p:txBody>
      </p:sp>
      <p:sp>
        <p:nvSpPr>
          <p:cNvPr id="7" name="6 Marcador de número de diapositiva"/>
          <p:cNvSpPr>
            <a:spLocks noGrp="1"/>
          </p:cNvSpPr>
          <p:nvPr>
            <p:ph type="sldNum" sz="quarter" idx="12"/>
          </p:nvPr>
        </p:nvSpPr>
        <p:spPr/>
        <p:txBody>
          <a:bodyPr/>
          <a:lstStyle/>
          <a:p>
            <a:fld id="{64133B23-5F55-4D96-8425-FA32FB0BF94B}" type="slidenum">
              <a:rPr lang="es-AR" smtClean="0"/>
              <a:pPr/>
              <a:t>‹Nº›</a:t>
            </a:fld>
            <a:endParaRPr lang="es-AR"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AR"/>
          </a:p>
        </p:txBody>
      </p:sp>
      <p:sp>
        <p:nvSpPr>
          <p:cNvPr id="3" name="2 Marcador de texto vertical"/>
          <p:cNvSpPr>
            <a:spLocks noGrp="1"/>
          </p:cNvSpPr>
          <p:nvPr>
            <p:ph type="body" orient="vert" idx="1"/>
          </p:nvPr>
        </p:nvSpPr>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AR"/>
          </a:p>
        </p:txBody>
      </p:sp>
      <p:sp>
        <p:nvSpPr>
          <p:cNvPr id="4" name="3 Marcador de fecha"/>
          <p:cNvSpPr>
            <a:spLocks noGrp="1"/>
          </p:cNvSpPr>
          <p:nvPr>
            <p:ph type="dt" sz="half" idx="10"/>
          </p:nvPr>
        </p:nvSpPr>
        <p:spPr/>
        <p:txBody>
          <a:bodyPr/>
          <a:lstStyle/>
          <a:p>
            <a:fld id="{A01BE55F-1FE8-4FAD-AAED-EFBD2DE81CAA}" type="datetimeFigureOut">
              <a:rPr lang="es-AR" smtClean="0"/>
              <a:pPr/>
              <a:t>10/04/2011</a:t>
            </a:fld>
            <a:endParaRPr lang="es-AR" dirty="0"/>
          </a:p>
        </p:txBody>
      </p:sp>
      <p:sp>
        <p:nvSpPr>
          <p:cNvPr id="5" name="4 Marcador de pie de página"/>
          <p:cNvSpPr>
            <a:spLocks noGrp="1"/>
          </p:cNvSpPr>
          <p:nvPr>
            <p:ph type="ftr" sz="quarter" idx="11"/>
          </p:nvPr>
        </p:nvSpPr>
        <p:spPr/>
        <p:txBody>
          <a:bodyPr/>
          <a:lstStyle/>
          <a:p>
            <a:endParaRPr lang="es-AR" dirty="0"/>
          </a:p>
        </p:txBody>
      </p:sp>
      <p:sp>
        <p:nvSpPr>
          <p:cNvPr id="6" name="5 Marcador de número de diapositiva"/>
          <p:cNvSpPr>
            <a:spLocks noGrp="1"/>
          </p:cNvSpPr>
          <p:nvPr>
            <p:ph type="sldNum" sz="quarter" idx="12"/>
          </p:nvPr>
        </p:nvSpPr>
        <p:spPr/>
        <p:txBody>
          <a:bodyPr/>
          <a:lstStyle/>
          <a:p>
            <a:fld id="{64133B23-5F55-4D96-8425-FA32FB0BF94B}" type="slidenum">
              <a:rPr lang="es-AR" smtClean="0"/>
              <a:pPr/>
              <a:t>‹Nº›</a:t>
            </a:fld>
            <a:endParaRPr lang="es-AR"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4638"/>
            <a:ext cx="2057400" cy="5851525"/>
          </a:xfrm>
        </p:spPr>
        <p:txBody>
          <a:bodyPr vert="eaVert"/>
          <a:lstStyle/>
          <a:p>
            <a:r>
              <a:rPr lang="es-ES" smtClean="0"/>
              <a:t>Haga clic para modificar el estilo de título del patrón</a:t>
            </a:r>
            <a:endParaRPr lang="es-AR"/>
          </a:p>
        </p:txBody>
      </p:sp>
      <p:sp>
        <p:nvSpPr>
          <p:cNvPr id="3" name="2 Marcador de texto vertical"/>
          <p:cNvSpPr>
            <a:spLocks noGrp="1"/>
          </p:cNvSpPr>
          <p:nvPr>
            <p:ph type="body" orient="vert" idx="1"/>
          </p:nvPr>
        </p:nvSpPr>
        <p:spPr>
          <a:xfrm>
            <a:off x="457200" y="274638"/>
            <a:ext cx="6019800" cy="5851525"/>
          </a:xfr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AR"/>
          </a:p>
        </p:txBody>
      </p:sp>
      <p:sp>
        <p:nvSpPr>
          <p:cNvPr id="4" name="3 Marcador de fecha"/>
          <p:cNvSpPr>
            <a:spLocks noGrp="1"/>
          </p:cNvSpPr>
          <p:nvPr>
            <p:ph type="dt" sz="half" idx="10"/>
          </p:nvPr>
        </p:nvSpPr>
        <p:spPr/>
        <p:txBody>
          <a:bodyPr/>
          <a:lstStyle/>
          <a:p>
            <a:fld id="{A01BE55F-1FE8-4FAD-AAED-EFBD2DE81CAA}" type="datetimeFigureOut">
              <a:rPr lang="es-AR" smtClean="0"/>
              <a:pPr/>
              <a:t>10/04/2011</a:t>
            </a:fld>
            <a:endParaRPr lang="es-AR" dirty="0"/>
          </a:p>
        </p:txBody>
      </p:sp>
      <p:sp>
        <p:nvSpPr>
          <p:cNvPr id="5" name="4 Marcador de pie de página"/>
          <p:cNvSpPr>
            <a:spLocks noGrp="1"/>
          </p:cNvSpPr>
          <p:nvPr>
            <p:ph type="ftr" sz="quarter" idx="11"/>
          </p:nvPr>
        </p:nvSpPr>
        <p:spPr/>
        <p:txBody>
          <a:bodyPr/>
          <a:lstStyle/>
          <a:p>
            <a:endParaRPr lang="es-AR" dirty="0"/>
          </a:p>
        </p:txBody>
      </p:sp>
      <p:sp>
        <p:nvSpPr>
          <p:cNvPr id="6" name="5 Marcador de número de diapositiva"/>
          <p:cNvSpPr>
            <a:spLocks noGrp="1"/>
          </p:cNvSpPr>
          <p:nvPr>
            <p:ph type="sldNum" sz="quarter" idx="12"/>
          </p:nvPr>
        </p:nvSpPr>
        <p:spPr/>
        <p:txBody>
          <a:bodyPr/>
          <a:lstStyle/>
          <a:p>
            <a:fld id="{64133B23-5F55-4D96-8425-FA32FB0BF94B}" type="slidenum">
              <a:rPr lang="es-AR" smtClean="0"/>
              <a:pPr/>
              <a:t>‹Nº›</a:t>
            </a:fld>
            <a:endParaRPr lang="es-AR"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título"/>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s-ES" smtClean="0"/>
              <a:t>Haga clic para modificar el estilo de título del patrón</a:t>
            </a:r>
            <a:endParaRPr lang="es-AR"/>
          </a:p>
        </p:txBody>
      </p:sp>
      <p:sp>
        <p:nvSpPr>
          <p:cNvPr id="3" name="2 Marcador de texto"/>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AR"/>
          </a:p>
        </p:txBody>
      </p:sp>
      <p:sp>
        <p:nvSpPr>
          <p:cNvPr id="4" name="3 Marcador de fecha"/>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01BE55F-1FE8-4FAD-AAED-EFBD2DE81CAA}" type="datetimeFigureOut">
              <a:rPr lang="es-AR" smtClean="0"/>
              <a:pPr/>
              <a:t>10/04/2011</a:t>
            </a:fld>
            <a:endParaRPr lang="es-AR" dirty="0"/>
          </a:p>
        </p:txBody>
      </p:sp>
      <p:sp>
        <p:nvSpPr>
          <p:cNvPr id="5" name="4 Marcador de pie de página"/>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AR" dirty="0"/>
          </a:p>
        </p:txBody>
      </p:sp>
      <p:sp>
        <p:nvSpPr>
          <p:cNvPr id="6" name="5 Marcador de número de diapositiva"/>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4133B23-5F55-4D96-8425-FA32FB0BF94B}" type="slidenum">
              <a:rPr lang="es-AR" smtClean="0"/>
              <a:pPr/>
              <a:t>‹Nº›</a:t>
            </a:fld>
            <a:endParaRPr lang="es-AR"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package" Target="../embeddings/Documento_de_Word_20071.docx"/><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package" Target="../embeddings/Documento_de_Word_20072.docx"/></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vmlDrawing" Target="../drawings/vmlDrawing3.vml"/><Relationship Id="rId5" Type="http://schemas.openxmlformats.org/officeDocument/2006/relationships/package" Target="../embeddings/Documento_de_Word_20073.docx"/><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5.xml"/><Relationship Id="rId7" Type="http://schemas.openxmlformats.org/officeDocument/2006/relationships/package" Target="../embeddings/Documento_de_Word_20076.docx"/><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package" Target="../embeddings/Documento_de_Word_20075.docx"/><Relationship Id="rId5" Type="http://schemas.openxmlformats.org/officeDocument/2006/relationships/package" Target="../embeddings/Documento_de_Word_20074.docx"/><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package" Target="../embeddings/Documento_de_Word_20078.docx"/><Relationship Id="rId5" Type="http://schemas.openxmlformats.org/officeDocument/2006/relationships/package" Target="../embeddings/Documento_de_Word_20077.docx"/><Relationship Id="rId4" Type="http://schemas.openxmlformats.org/officeDocument/2006/relationships/image" Target="../media/image1.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vmlDrawing" Target="../drawings/vmlDrawing6.vml"/><Relationship Id="rId6" Type="http://schemas.openxmlformats.org/officeDocument/2006/relationships/package" Target="../embeddings/Documento_de_Word_200711.docx"/><Relationship Id="rId5" Type="http://schemas.openxmlformats.org/officeDocument/2006/relationships/package" Target="../embeddings/Documento_de_Word_200710.docx"/><Relationship Id="rId4" Type="http://schemas.openxmlformats.org/officeDocument/2006/relationships/package" Target="../embeddings/Documento_de_Word_20079.docx"/></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vmlDrawing" Target="../drawings/vmlDrawing7.vml"/><Relationship Id="rId4" Type="http://schemas.openxmlformats.org/officeDocument/2006/relationships/package" Target="../embeddings/Documento_de_Word_200712.docx"/></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vmlDrawing" Target="../drawings/vmlDrawing8.vml"/><Relationship Id="rId4" Type="http://schemas.openxmlformats.org/officeDocument/2006/relationships/package" Target="../embeddings/Documento_de_Word_200713.docx"/></Relationships>
</file>

<file path=ppt/slides/_rels/slide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vmlDrawing" Target="../drawings/vmlDrawing9.vml"/><Relationship Id="rId4" Type="http://schemas.openxmlformats.org/officeDocument/2006/relationships/package" Target="../embeddings/Documento_de_Word_200714.docx"/></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vmlDrawing" Target="../drawings/vmlDrawing10.vml"/><Relationship Id="rId5" Type="http://schemas.openxmlformats.org/officeDocument/2006/relationships/package" Target="../embeddings/Documento_de_Word_200715.docx"/><Relationship Id="rId4" Type="http://schemas.openxmlformats.org/officeDocument/2006/relationships/image" Target="../media/image1.png"/></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vmlDrawing" Target="../drawings/vmlDrawing11.vml"/><Relationship Id="rId4" Type="http://schemas.openxmlformats.org/officeDocument/2006/relationships/package" Target="../embeddings/Documento_de_Word_200716.docx"/></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vmlDrawing" Target="../drawings/vmlDrawing12.vml"/><Relationship Id="rId5" Type="http://schemas.openxmlformats.org/officeDocument/2006/relationships/package" Target="../embeddings/Documento_de_Word_200718.docx"/><Relationship Id="rId4" Type="http://schemas.openxmlformats.org/officeDocument/2006/relationships/package" Target="../embeddings/Documento_de_Word_200717.docx"/></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vmlDrawing" Target="../drawings/vmlDrawing13.vml"/><Relationship Id="rId4" Type="http://schemas.openxmlformats.org/officeDocument/2006/relationships/package" Target="../embeddings/Documento_de_Word_200719.docx"/></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vmlDrawing" Target="../drawings/vmlDrawing14.vml"/><Relationship Id="rId5" Type="http://schemas.openxmlformats.org/officeDocument/2006/relationships/package" Target="../embeddings/Documento_de_Word_200721.docx"/><Relationship Id="rId4" Type="http://schemas.openxmlformats.org/officeDocument/2006/relationships/package" Target="../embeddings/Documento_de_Word_200720.docx"/></Relationships>
</file>

<file path=ppt/slides/_rels/slide3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vmlDrawing" Target="../drawings/vmlDrawing15.vml"/><Relationship Id="rId5" Type="http://schemas.openxmlformats.org/officeDocument/2006/relationships/package" Target="../embeddings/Documento_de_Word_200722.docx"/><Relationship Id="rId4" Type="http://schemas.openxmlformats.org/officeDocument/2006/relationships/image" Target="../media/image1.png"/></Relationships>
</file>

<file path=ppt/slides/_rels/slide44.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notesSlide" Target="../notesSlides/notesSlide18.xml"/><Relationship Id="rId7" Type="http://schemas.openxmlformats.org/officeDocument/2006/relationships/image" Target="../media/image26.png"/><Relationship Id="rId2" Type="http://schemas.openxmlformats.org/officeDocument/2006/relationships/slideLayout" Target="../slideLayouts/slideLayout2.xml"/><Relationship Id="rId1" Type="http://schemas.openxmlformats.org/officeDocument/2006/relationships/vmlDrawing" Target="../drawings/vmlDrawing16.vml"/><Relationship Id="rId6" Type="http://schemas.openxmlformats.org/officeDocument/2006/relationships/image" Target="../media/image25.png"/><Relationship Id="rId5" Type="http://schemas.openxmlformats.org/officeDocument/2006/relationships/package" Target="../embeddings/Documento_de_Word_200723.docx"/><Relationship Id="rId4" Type="http://schemas.openxmlformats.org/officeDocument/2006/relationships/image" Target="../media/image1.png"/></Relationships>
</file>

<file path=ppt/slides/_rels/slide4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vmlDrawing" Target="../drawings/vmlDrawing17.vml"/><Relationship Id="rId5" Type="http://schemas.openxmlformats.org/officeDocument/2006/relationships/package" Target="../embeddings/Documento_de_Word_200725.docx"/><Relationship Id="rId4" Type="http://schemas.openxmlformats.org/officeDocument/2006/relationships/package" Target="../embeddings/Documento_de_Word_200724.docx"/></Relationships>
</file>

<file path=ppt/slides/_rels/slide4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vmlDrawing" Target="../drawings/vmlDrawing18.vml"/><Relationship Id="rId5" Type="http://schemas.openxmlformats.org/officeDocument/2006/relationships/package" Target="../embeddings/Documento_de_Word_200727.docx"/><Relationship Id="rId4" Type="http://schemas.openxmlformats.org/officeDocument/2006/relationships/package" Target="../embeddings/Documento_de_Word_200726.docx"/></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vmlDrawing" Target="../drawings/vmlDrawing19.vml"/><Relationship Id="rId5" Type="http://schemas.openxmlformats.org/officeDocument/2006/relationships/package" Target="../embeddings/Documento_de_Word_200728.docx"/><Relationship Id="rId4" Type="http://schemas.openxmlformats.org/officeDocument/2006/relationships/image" Target="../media/image1.png"/></Relationships>
</file>

<file path=ppt/slides/_rels/slide5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package" Target="../embeddings/Documento_de_Word_200732.docx"/><Relationship Id="rId2" Type="http://schemas.openxmlformats.org/officeDocument/2006/relationships/slideLayout" Target="../slideLayouts/slideLayout2.xml"/><Relationship Id="rId1" Type="http://schemas.openxmlformats.org/officeDocument/2006/relationships/vmlDrawing" Target="../drawings/vmlDrawing20.vml"/><Relationship Id="rId6" Type="http://schemas.openxmlformats.org/officeDocument/2006/relationships/package" Target="../embeddings/Documento_de_Word_200731.docx"/><Relationship Id="rId5" Type="http://schemas.openxmlformats.org/officeDocument/2006/relationships/package" Target="../embeddings/Documento_de_Word_200730.docx"/><Relationship Id="rId4" Type="http://schemas.openxmlformats.org/officeDocument/2006/relationships/package" Target="../embeddings/Documento_de_Word_200729.docx"/></Relationships>
</file>

<file path=ppt/slides/_rels/slide5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vmlDrawing" Target="../drawings/vmlDrawing21.vml"/><Relationship Id="rId5" Type="http://schemas.openxmlformats.org/officeDocument/2006/relationships/package" Target="../embeddings/Documento_de_Word_200734.docx"/><Relationship Id="rId4" Type="http://schemas.openxmlformats.org/officeDocument/2006/relationships/package" Target="../embeddings/Documento_de_Word_200733.docx"/></Relationships>
</file>

<file path=ppt/slides/_rels/slide5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vmlDrawing" Target="../drawings/vmlDrawing22.vml"/><Relationship Id="rId6" Type="http://schemas.openxmlformats.org/officeDocument/2006/relationships/package" Target="../embeddings/Documento_de_Word_200737.docx"/><Relationship Id="rId5" Type="http://schemas.openxmlformats.org/officeDocument/2006/relationships/package" Target="../embeddings/Documento_de_Word_200736.docx"/><Relationship Id="rId4" Type="http://schemas.openxmlformats.org/officeDocument/2006/relationships/package" Target="../embeddings/Documento_de_Word_200735.docx"/></Relationships>
</file>

<file path=ppt/slides/_rels/slide5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vmlDrawing" Target="../drawings/vmlDrawing23.vml"/><Relationship Id="rId4" Type="http://schemas.openxmlformats.org/officeDocument/2006/relationships/package" Target="../embeddings/Documento_de_Word_200738.docx"/></Relationships>
</file>

<file path=ppt/slides/_rels/slide5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vmlDrawing" Target="../drawings/vmlDrawing24.vml"/><Relationship Id="rId6" Type="http://schemas.openxmlformats.org/officeDocument/2006/relationships/package" Target="../embeddings/Documento_de_Word_200739.docx"/><Relationship Id="rId5" Type="http://schemas.openxmlformats.org/officeDocument/2006/relationships/image" Target="../media/image1.png"/><Relationship Id="rId4" Type="http://schemas.openxmlformats.org/officeDocument/2006/relationships/image" Target="../media/image46.png"/></Relationships>
</file>

<file path=ppt/slides/_rels/slide6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p:txBody>
          <a:bodyPr/>
          <a:lstStyle/>
          <a:p>
            <a:r>
              <a:rPr lang="es-ES" dirty="0" smtClean="0"/>
              <a:t>Capítulo 6</a:t>
            </a:r>
            <a:endParaRPr lang="es-AR" dirty="0"/>
          </a:p>
        </p:txBody>
      </p:sp>
      <p:sp>
        <p:nvSpPr>
          <p:cNvPr id="3" name="2 Subtítulo"/>
          <p:cNvSpPr>
            <a:spLocks noGrp="1"/>
          </p:cNvSpPr>
          <p:nvPr>
            <p:ph type="subTitle" idx="1"/>
          </p:nvPr>
        </p:nvSpPr>
        <p:spPr/>
        <p:txBody>
          <a:bodyPr/>
          <a:lstStyle/>
          <a:p>
            <a:r>
              <a:rPr lang="es-ES" dirty="0" smtClean="0"/>
              <a:t>Estudios no experimentales: método de emparejamiento</a:t>
            </a:r>
            <a:endParaRPr lang="es-AR" dirty="0"/>
          </a:p>
        </p:txBody>
      </p:sp>
      <p:pic>
        <p:nvPicPr>
          <p:cNvPr id="4" name="Picture 1"/>
          <p:cNvPicPr>
            <a:picLocks noChangeAspect="1" noChangeArrowheads="1"/>
          </p:cNvPicPr>
          <p:nvPr/>
        </p:nvPicPr>
        <p:blipFill>
          <a:blip r:embed="rId2" cstate="print"/>
          <a:srcRect/>
          <a:stretch>
            <a:fillRect/>
          </a:stretch>
        </p:blipFill>
        <p:spPr bwMode="auto">
          <a:xfrm>
            <a:off x="-32" y="-24"/>
            <a:ext cx="2500298" cy="1189301"/>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786050" y="274638"/>
            <a:ext cx="5900750" cy="1582726"/>
          </a:xfrm>
        </p:spPr>
        <p:txBody>
          <a:bodyPr>
            <a:noAutofit/>
          </a:bodyPr>
          <a:lstStyle/>
          <a:p>
            <a:r>
              <a:rPr lang="es-CO" sz="4200" u="sng" dirty="0" smtClean="0"/>
              <a:t>Características de los estudios no experimentales</a:t>
            </a:r>
            <a:endParaRPr lang="es-AR" sz="4200" u="sng" dirty="0"/>
          </a:p>
        </p:txBody>
      </p:sp>
      <p:sp>
        <p:nvSpPr>
          <p:cNvPr id="3" name="2 Marcador de contenido"/>
          <p:cNvSpPr>
            <a:spLocks noGrp="1"/>
          </p:cNvSpPr>
          <p:nvPr>
            <p:ph idx="1"/>
          </p:nvPr>
        </p:nvSpPr>
        <p:spPr/>
        <p:txBody>
          <a:bodyPr>
            <a:normAutofit/>
          </a:bodyPr>
          <a:lstStyle/>
          <a:p>
            <a:endParaRPr lang="es-ES" sz="2500" dirty="0" smtClean="0"/>
          </a:p>
          <a:p>
            <a:endParaRPr lang="es-ES" sz="2500" dirty="0" smtClean="0"/>
          </a:p>
          <a:p>
            <a:r>
              <a:rPr lang="es-ES" sz="2500" dirty="0" smtClean="0"/>
              <a:t>Los datos no provienen de una asignación aleatoria al programa.</a:t>
            </a:r>
          </a:p>
          <a:p>
            <a:pPr>
              <a:buNone/>
            </a:pPr>
            <a:endParaRPr lang="es-ES" sz="2500" dirty="0" smtClean="0"/>
          </a:p>
          <a:p>
            <a:r>
              <a:rPr lang="es-ES" sz="2500" dirty="0" smtClean="0"/>
              <a:t>Requieren supuestos de identificación que permitan solucionar el sesgo de selección.</a:t>
            </a:r>
            <a:endParaRPr lang="es-AR" sz="2500" dirty="0"/>
          </a:p>
        </p:txBody>
      </p:sp>
      <p:pic>
        <p:nvPicPr>
          <p:cNvPr id="5" name="Picture 1"/>
          <p:cNvPicPr>
            <a:picLocks noChangeAspect="1" noChangeArrowheads="1"/>
          </p:cNvPicPr>
          <p:nvPr/>
        </p:nvPicPr>
        <p:blipFill>
          <a:blip r:embed="rId2" cstate="print"/>
          <a:srcRect/>
          <a:stretch>
            <a:fillRect/>
          </a:stretch>
        </p:blipFill>
        <p:spPr bwMode="auto">
          <a:xfrm>
            <a:off x="-32" y="-24"/>
            <a:ext cx="2500298" cy="1189301"/>
          </a:xfrm>
          <a:prstGeom prst="rect">
            <a:avLst/>
          </a:prstGeom>
          <a:noFill/>
          <a:ln w="9525">
            <a:noFill/>
            <a:miter lim="800000"/>
            <a:headEnd/>
            <a:tailEnd/>
          </a:ln>
          <a:effectLst/>
        </p:spPr>
      </p:pic>
      <p:sp>
        <p:nvSpPr>
          <p:cNvPr id="6" name="5 Rectángulo"/>
          <p:cNvSpPr/>
          <p:nvPr/>
        </p:nvSpPr>
        <p:spPr>
          <a:xfrm>
            <a:off x="0" y="6543979"/>
            <a:ext cx="9144000" cy="323165"/>
          </a:xfrm>
          <a:prstGeom prst="rect">
            <a:avLst/>
          </a:prstGeom>
        </p:spPr>
        <p:txBody>
          <a:bodyPr wrap="square">
            <a:spAutoFit/>
          </a:bodyPr>
          <a:lstStyle/>
          <a:p>
            <a:pPr algn="ctr">
              <a:tabLst>
                <a:tab pos="712788" algn="l"/>
              </a:tabLst>
            </a:pPr>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6: Emparejamiento /  2</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557242" y="4071942"/>
            <a:ext cx="8229600" cy="1714512"/>
          </a:xfrm>
          <a:ln>
            <a:solidFill>
              <a:schemeClr val="accent1">
                <a:lumMod val="60000"/>
                <a:lumOff val="40000"/>
              </a:schemeClr>
            </a:solidFill>
          </a:ln>
        </p:spPr>
        <p:txBody>
          <a:bodyPr>
            <a:normAutofit/>
          </a:bodyPr>
          <a:lstStyle/>
          <a:p>
            <a:pPr marL="0" indent="15875" algn="ctr">
              <a:buNone/>
            </a:pPr>
            <a:r>
              <a:rPr lang="es-ES_tradnl" sz="2500" dirty="0" smtClean="0"/>
              <a:t>Intuitivamente, el método de emparejamiento permite encontrar para cada individuo en el programa (tratado), otro “idéntico”, excepto por la participación en el programa (control).	</a:t>
            </a:r>
          </a:p>
        </p:txBody>
      </p:sp>
      <p:pic>
        <p:nvPicPr>
          <p:cNvPr id="4" name="Picture 1"/>
          <p:cNvPicPr>
            <a:picLocks noChangeAspect="1" noChangeArrowheads="1"/>
          </p:cNvPicPr>
          <p:nvPr/>
        </p:nvPicPr>
        <p:blipFill>
          <a:blip r:embed="rId2" cstate="print"/>
          <a:srcRect/>
          <a:stretch>
            <a:fillRect/>
          </a:stretch>
        </p:blipFill>
        <p:spPr bwMode="auto">
          <a:xfrm>
            <a:off x="-32" y="-24"/>
            <a:ext cx="2500298" cy="1189301"/>
          </a:xfrm>
          <a:prstGeom prst="rect">
            <a:avLst/>
          </a:prstGeom>
          <a:noFill/>
          <a:ln w="9525">
            <a:noFill/>
            <a:miter lim="800000"/>
            <a:headEnd/>
            <a:tailEnd/>
          </a:ln>
          <a:effectLst/>
        </p:spPr>
      </p:pic>
      <p:sp>
        <p:nvSpPr>
          <p:cNvPr id="5" name="1 Título"/>
          <p:cNvSpPr>
            <a:spLocks noGrp="1"/>
          </p:cNvSpPr>
          <p:nvPr>
            <p:ph type="title"/>
          </p:nvPr>
        </p:nvSpPr>
        <p:spPr>
          <a:xfrm>
            <a:off x="2500298" y="142852"/>
            <a:ext cx="6186502" cy="1582726"/>
          </a:xfrm>
        </p:spPr>
        <p:txBody>
          <a:bodyPr>
            <a:noAutofit/>
          </a:bodyPr>
          <a:lstStyle/>
          <a:p>
            <a:r>
              <a:rPr lang="es-CO" sz="4200" u="sng" dirty="0" smtClean="0"/>
              <a:t>Estudios no experimentales y método de emparejamiento</a:t>
            </a:r>
            <a:endParaRPr lang="es-AR" sz="4200" u="sng" dirty="0"/>
          </a:p>
        </p:txBody>
      </p:sp>
      <p:sp>
        <p:nvSpPr>
          <p:cNvPr id="10" name="9 CuadroTexto"/>
          <p:cNvSpPr txBox="1"/>
          <p:nvPr/>
        </p:nvSpPr>
        <p:spPr>
          <a:xfrm>
            <a:off x="2626119" y="2285992"/>
            <a:ext cx="3946145" cy="477054"/>
          </a:xfrm>
          <a:prstGeom prst="rect">
            <a:avLst/>
          </a:prstGeom>
          <a:noFill/>
        </p:spPr>
        <p:txBody>
          <a:bodyPr wrap="none" rtlCol="0">
            <a:spAutoFit/>
          </a:bodyPr>
          <a:lstStyle/>
          <a:p>
            <a:r>
              <a:rPr lang="es-ES_tradnl" sz="2500" dirty="0" smtClean="0"/>
              <a:t>Método de emparejamiento</a:t>
            </a:r>
            <a:endParaRPr lang="es-ES" dirty="0"/>
          </a:p>
        </p:txBody>
      </p:sp>
      <p:cxnSp>
        <p:nvCxnSpPr>
          <p:cNvPr id="11" name="10 Conector recto de flecha"/>
          <p:cNvCxnSpPr/>
          <p:nvPr/>
        </p:nvCxnSpPr>
        <p:spPr>
          <a:xfrm rot="5400000">
            <a:off x="4428330" y="2928140"/>
            <a:ext cx="285752"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2" name="11 CuadroTexto"/>
          <p:cNvSpPr txBox="1"/>
          <p:nvPr/>
        </p:nvSpPr>
        <p:spPr>
          <a:xfrm>
            <a:off x="2499499" y="3214686"/>
            <a:ext cx="4215641" cy="477054"/>
          </a:xfrm>
          <a:prstGeom prst="rect">
            <a:avLst/>
          </a:prstGeom>
          <a:noFill/>
        </p:spPr>
        <p:txBody>
          <a:bodyPr wrap="none" rtlCol="0">
            <a:spAutoFit/>
          </a:bodyPr>
          <a:lstStyle/>
          <a:p>
            <a:r>
              <a:rPr lang="es-ES_tradnl" sz="2500" dirty="0" smtClean="0"/>
              <a:t>Solución al sesgo de selección</a:t>
            </a:r>
            <a:endParaRPr lang="es-ES" sz="2500" dirty="0"/>
          </a:p>
        </p:txBody>
      </p:sp>
      <p:sp>
        <p:nvSpPr>
          <p:cNvPr id="15" name="14 Rectángulo"/>
          <p:cNvSpPr/>
          <p:nvPr/>
        </p:nvSpPr>
        <p:spPr>
          <a:xfrm>
            <a:off x="0" y="6534859"/>
            <a:ext cx="9144000" cy="553998"/>
          </a:xfrm>
          <a:prstGeom prst="rect">
            <a:avLst/>
          </a:prstGeom>
        </p:spPr>
        <p:txBody>
          <a:bodyPr wrap="square">
            <a:spAutoFit/>
          </a:bodyPr>
          <a:lstStyle/>
          <a:p>
            <a:pPr algn="ctr"/>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6: Emparejamiento /  3</a:t>
            </a:r>
          </a:p>
          <a:p>
            <a:pPr algn="ctr"/>
            <a:endParaRPr lang="es-ES" sz="1500" dirty="0">
              <a:solidFill>
                <a:schemeClr val="tx1">
                  <a:lumMod val="50000"/>
                  <a:lumOff val="50000"/>
                </a:schemeClr>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571736" y="274638"/>
            <a:ext cx="6115064" cy="1143000"/>
          </a:xfrm>
        </p:spPr>
        <p:txBody>
          <a:bodyPr>
            <a:noAutofit/>
          </a:bodyPr>
          <a:lstStyle/>
          <a:p>
            <a:r>
              <a:rPr lang="es-ES" sz="4200" u="sng" dirty="0" smtClean="0"/>
              <a:t>Estrategia del método de emparejamiento</a:t>
            </a:r>
            <a:endParaRPr lang="es-AR" sz="4200" u="sng" dirty="0"/>
          </a:p>
        </p:txBody>
      </p:sp>
      <p:sp>
        <p:nvSpPr>
          <p:cNvPr id="3" name="2 Marcador de contenido"/>
          <p:cNvSpPr>
            <a:spLocks noGrp="1"/>
          </p:cNvSpPr>
          <p:nvPr>
            <p:ph idx="1"/>
          </p:nvPr>
        </p:nvSpPr>
        <p:spPr>
          <a:xfrm>
            <a:off x="285720" y="1760557"/>
            <a:ext cx="8501122" cy="4525963"/>
          </a:xfrm>
        </p:spPr>
        <p:txBody>
          <a:bodyPr>
            <a:normAutofit/>
          </a:bodyPr>
          <a:lstStyle/>
          <a:p>
            <a:pPr algn="just"/>
            <a:r>
              <a:rPr lang="es-ES" sz="2500" dirty="0" smtClean="0"/>
              <a:t>Asume que:</a:t>
            </a:r>
          </a:p>
          <a:p>
            <a:pPr algn="just">
              <a:buNone/>
            </a:pPr>
            <a:r>
              <a:rPr lang="es-ES" sz="2500" dirty="0"/>
              <a:t>	</a:t>
            </a:r>
            <a:r>
              <a:rPr lang="es-ES" sz="2500" dirty="0" smtClean="0"/>
              <a:t>La selección en el programa se basa en características o variables observables únicamente.       </a:t>
            </a:r>
          </a:p>
          <a:p>
            <a:pPr algn="just">
              <a:buNone/>
            </a:pPr>
            <a:r>
              <a:rPr lang="es-ES" sz="2500" dirty="0"/>
              <a:t>	</a:t>
            </a:r>
            <a:endParaRPr lang="es-ES" sz="2500" dirty="0" smtClean="0"/>
          </a:p>
          <a:p>
            <a:pPr algn="just">
              <a:buNone/>
            </a:pPr>
            <a:r>
              <a:rPr lang="es-ES" sz="2500" dirty="0"/>
              <a:t>	</a:t>
            </a:r>
            <a:r>
              <a:rPr lang="es-ES" sz="2500" dirty="0" smtClean="0"/>
              <a:t>Adicionalmente, todas las variables observables que afectan:</a:t>
            </a:r>
          </a:p>
          <a:p>
            <a:pPr>
              <a:buNone/>
            </a:pPr>
            <a:r>
              <a:rPr lang="es-ES" sz="2500" dirty="0" smtClean="0"/>
              <a:t>		La asignación del tratamiento .</a:t>
            </a:r>
          </a:p>
          <a:p>
            <a:pPr>
              <a:buNone/>
            </a:pPr>
            <a:r>
              <a:rPr lang="es-ES" sz="2500" dirty="0" smtClean="0"/>
              <a:t>		Los resultados potenciales.</a:t>
            </a:r>
          </a:p>
          <a:p>
            <a:pPr algn="ctr">
              <a:buNone/>
            </a:pPr>
            <a:endParaRPr lang="es-ES" sz="2500" dirty="0" smtClean="0"/>
          </a:p>
        </p:txBody>
      </p:sp>
      <p:cxnSp>
        <p:nvCxnSpPr>
          <p:cNvPr id="5" name="4 Conector recto de flecha"/>
          <p:cNvCxnSpPr/>
          <p:nvPr/>
        </p:nvCxnSpPr>
        <p:spPr>
          <a:xfrm>
            <a:off x="857224" y="4213230"/>
            <a:ext cx="357190" cy="1588"/>
          </a:xfrm>
          <a:prstGeom prst="straightConnector1">
            <a:avLst/>
          </a:prstGeom>
          <a:ln>
            <a:solidFill>
              <a:schemeClr val="accent1">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sp>
        <p:nvSpPr>
          <p:cNvPr id="4098"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AR" dirty="0"/>
          </a:p>
        </p:txBody>
      </p:sp>
      <p:sp>
        <p:nvSpPr>
          <p:cNvPr id="4100"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AR" dirty="0"/>
          </a:p>
        </p:txBody>
      </p:sp>
      <p:pic>
        <p:nvPicPr>
          <p:cNvPr id="9" name="Picture 1"/>
          <p:cNvPicPr>
            <a:picLocks noChangeAspect="1" noChangeArrowheads="1"/>
          </p:cNvPicPr>
          <p:nvPr/>
        </p:nvPicPr>
        <p:blipFill>
          <a:blip r:embed="rId3" cstate="print"/>
          <a:srcRect/>
          <a:stretch>
            <a:fillRect/>
          </a:stretch>
        </p:blipFill>
        <p:spPr bwMode="auto">
          <a:xfrm>
            <a:off x="0" y="-24"/>
            <a:ext cx="2500298" cy="1189301"/>
          </a:xfrm>
          <a:prstGeom prst="rect">
            <a:avLst/>
          </a:prstGeom>
          <a:noFill/>
          <a:ln w="9525">
            <a:noFill/>
            <a:miter lim="800000"/>
            <a:headEnd/>
            <a:tailEnd/>
          </a:ln>
          <a:effectLst/>
        </p:spPr>
      </p:pic>
      <p:sp>
        <p:nvSpPr>
          <p:cNvPr id="11" name="10 Flecha derecha"/>
          <p:cNvSpPr/>
          <p:nvPr/>
        </p:nvSpPr>
        <p:spPr>
          <a:xfrm>
            <a:off x="5500694" y="4357694"/>
            <a:ext cx="428628" cy="285752"/>
          </a:xfrm>
          <a:prstGeom prst="rightArrow">
            <a:avLst/>
          </a:prstGeom>
          <a:solidFill>
            <a:schemeClr val="bg1"/>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dirty="0" smtClean="0"/>
              <a:t>  </a:t>
            </a:r>
            <a:endParaRPr lang="es-ES" dirty="0"/>
          </a:p>
        </p:txBody>
      </p:sp>
      <p:sp>
        <p:nvSpPr>
          <p:cNvPr id="12" name="11 CuadroTexto"/>
          <p:cNvSpPr txBox="1"/>
          <p:nvPr/>
        </p:nvSpPr>
        <p:spPr>
          <a:xfrm>
            <a:off x="6143636" y="4214818"/>
            <a:ext cx="2214578" cy="1246495"/>
          </a:xfrm>
          <a:prstGeom prst="rect">
            <a:avLst/>
          </a:prstGeom>
          <a:noFill/>
        </p:spPr>
        <p:txBody>
          <a:bodyPr wrap="square" rtlCol="0">
            <a:spAutoFit/>
          </a:bodyPr>
          <a:lstStyle/>
          <a:p>
            <a:r>
              <a:rPr lang="es-ES" sz="2500" dirty="0" smtClean="0"/>
              <a:t>Son observadas por el investigador.</a:t>
            </a:r>
            <a:endParaRPr lang="es-ES" dirty="0"/>
          </a:p>
        </p:txBody>
      </p:sp>
      <p:cxnSp>
        <p:nvCxnSpPr>
          <p:cNvPr id="13" name="12 Conector recto de flecha"/>
          <p:cNvCxnSpPr/>
          <p:nvPr/>
        </p:nvCxnSpPr>
        <p:spPr>
          <a:xfrm>
            <a:off x="857224" y="4713296"/>
            <a:ext cx="357190" cy="1588"/>
          </a:xfrm>
          <a:prstGeom prst="straightConnector1">
            <a:avLst/>
          </a:prstGeom>
          <a:ln>
            <a:solidFill>
              <a:schemeClr val="accent1">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sp>
        <p:nvSpPr>
          <p:cNvPr id="16" name="15 Rectángulo"/>
          <p:cNvSpPr/>
          <p:nvPr/>
        </p:nvSpPr>
        <p:spPr>
          <a:xfrm>
            <a:off x="0" y="6534859"/>
            <a:ext cx="9144000" cy="323141"/>
          </a:xfrm>
          <a:prstGeom prst="rect">
            <a:avLst/>
          </a:prstGeom>
        </p:spPr>
        <p:txBody>
          <a:bodyPr wrap="square">
            <a:spAutoFit/>
          </a:bodyPr>
          <a:lstStyle/>
          <a:p>
            <a:pPr algn="ctr"/>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6: Emparejamiento /  </a:t>
            </a:r>
            <a:r>
              <a:rPr lang="es-CO" sz="1500" dirty="0">
                <a:solidFill>
                  <a:schemeClr val="tx1">
                    <a:lumMod val="50000"/>
                    <a:lumOff val="50000"/>
                  </a:schemeClr>
                </a:solidFill>
              </a:rPr>
              <a:t>4</a:t>
            </a:r>
            <a:endParaRPr lang="es-ES" sz="1500" dirty="0">
              <a:solidFill>
                <a:schemeClr val="tx1">
                  <a:lumMod val="50000"/>
                  <a:lumOff val="50000"/>
                </a:schemeClr>
              </a:solidFill>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786050" y="214290"/>
            <a:ext cx="5900750" cy="1143000"/>
          </a:xfrm>
        </p:spPr>
        <p:txBody>
          <a:bodyPr>
            <a:noAutofit/>
          </a:bodyPr>
          <a:lstStyle/>
          <a:p>
            <a:r>
              <a:rPr lang="es-ES" sz="4200" u="sng" dirty="0" smtClean="0"/>
              <a:t>Supuesto del método de emparejamiento</a:t>
            </a:r>
            <a:endParaRPr lang="es-AR" sz="4200" u="sng" dirty="0"/>
          </a:p>
        </p:txBody>
      </p:sp>
      <p:sp>
        <p:nvSpPr>
          <p:cNvPr id="3" name="2 Marcador de contenido"/>
          <p:cNvSpPr>
            <a:spLocks noGrp="1"/>
          </p:cNvSpPr>
          <p:nvPr>
            <p:ph idx="1"/>
          </p:nvPr>
        </p:nvSpPr>
        <p:spPr>
          <a:xfrm>
            <a:off x="457200" y="1643050"/>
            <a:ext cx="8229600" cy="4500594"/>
          </a:xfrm>
        </p:spPr>
        <p:txBody>
          <a:bodyPr/>
          <a:lstStyle/>
          <a:p>
            <a:r>
              <a:rPr lang="es-ES" sz="2500" dirty="0" smtClean="0"/>
              <a:t>Independencia condicional (CI):</a:t>
            </a:r>
          </a:p>
          <a:p>
            <a:endParaRPr lang="es-ES" sz="2500" dirty="0"/>
          </a:p>
          <a:p>
            <a:endParaRPr lang="es-ES" sz="2500" dirty="0" smtClean="0"/>
          </a:p>
          <a:p>
            <a:endParaRPr lang="es-ES" sz="2500" dirty="0"/>
          </a:p>
          <a:p>
            <a:endParaRPr lang="es-ES" sz="2500" dirty="0"/>
          </a:p>
          <a:p>
            <a:pPr>
              <a:buNone/>
            </a:pPr>
            <a:r>
              <a:rPr lang="es-ES" sz="2500" dirty="0" smtClean="0"/>
              <a:t>	</a:t>
            </a:r>
            <a:endParaRPr lang="es-AR" sz="2500" dirty="0"/>
          </a:p>
        </p:txBody>
      </p:sp>
      <p:sp>
        <p:nvSpPr>
          <p:cNvPr id="3074"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AR" dirty="0"/>
          </a:p>
        </p:txBody>
      </p:sp>
      <p:sp>
        <p:nvSpPr>
          <p:cNvPr id="3075" name="Rectangle 3"/>
          <p:cNvSpPr>
            <a:spLocks noChangeArrowheads="1"/>
          </p:cNvSpPr>
          <p:nvPr/>
        </p:nvSpPr>
        <p:spPr bwMode="auto">
          <a:xfrm>
            <a:off x="0" y="8382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AR" sz="1800" b="0" i="0" u="none" strike="noStrike" cap="none" normalizeH="0" baseline="0" dirty="0" smtClean="0">
              <a:ln>
                <a:noFill/>
              </a:ln>
              <a:solidFill>
                <a:schemeClr val="tx1"/>
              </a:solidFill>
              <a:effectLst/>
              <a:latin typeface="Arial" pitchFamily="34" charset="0"/>
            </a:endParaRPr>
          </a:p>
        </p:txBody>
      </p:sp>
      <p:sp>
        <p:nvSpPr>
          <p:cNvPr id="7" name="6 Flecha abajo"/>
          <p:cNvSpPr/>
          <p:nvPr/>
        </p:nvSpPr>
        <p:spPr>
          <a:xfrm>
            <a:off x="4143372" y="2857496"/>
            <a:ext cx="500066" cy="357190"/>
          </a:xfrm>
          <a:prstGeom prst="downArrow">
            <a:avLst/>
          </a:prstGeom>
          <a:no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8" name="7 CuadroTexto"/>
          <p:cNvSpPr txBox="1"/>
          <p:nvPr/>
        </p:nvSpPr>
        <p:spPr>
          <a:xfrm>
            <a:off x="571472" y="3254075"/>
            <a:ext cx="8001056" cy="1246495"/>
          </a:xfrm>
          <a:prstGeom prst="rect">
            <a:avLst/>
          </a:prstGeom>
          <a:noFill/>
          <a:ln>
            <a:solidFill>
              <a:schemeClr val="accent1">
                <a:lumMod val="60000"/>
                <a:lumOff val="40000"/>
              </a:schemeClr>
            </a:solidFill>
          </a:ln>
        </p:spPr>
        <p:txBody>
          <a:bodyPr wrap="square" rtlCol="0">
            <a:spAutoFit/>
          </a:bodyPr>
          <a:lstStyle/>
          <a:p>
            <a:pPr algn="ctr"/>
            <a:r>
              <a:rPr lang="es-ES" sz="2500" dirty="0"/>
              <a:t>L</a:t>
            </a:r>
            <a:r>
              <a:rPr lang="es-ES" sz="2500" dirty="0" smtClean="0"/>
              <a:t>a participación </a:t>
            </a:r>
            <a:r>
              <a:rPr lang="es-ES" sz="2500" u="sng" dirty="0" smtClean="0"/>
              <a:t>no</a:t>
            </a:r>
            <a:r>
              <a:rPr lang="es-ES" sz="2500" dirty="0" smtClean="0"/>
              <a:t> está determinada por variables no observadas, sino que se atribuyen exclusivamente a variables observables del individuo.</a:t>
            </a:r>
            <a:endParaRPr lang="es-AR" dirty="0"/>
          </a:p>
        </p:txBody>
      </p:sp>
      <p:sp>
        <p:nvSpPr>
          <p:cNvPr id="11" name="10 CuadroTexto"/>
          <p:cNvSpPr txBox="1"/>
          <p:nvPr/>
        </p:nvSpPr>
        <p:spPr>
          <a:xfrm>
            <a:off x="1285852" y="5067556"/>
            <a:ext cx="6429420" cy="861774"/>
          </a:xfrm>
          <a:prstGeom prst="rect">
            <a:avLst/>
          </a:prstGeom>
          <a:noFill/>
        </p:spPr>
        <p:txBody>
          <a:bodyPr wrap="square" rtlCol="0">
            <a:spAutoFit/>
          </a:bodyPr>
          <a:lstStyle/>
          <a:p>
            <a:pPr algn="ctr"/>
            <a:r>
              <a:rPr lang="es-ES_tradnl" sz="2500" dirty="0" smtClean="0"/>
              <a:t>Supuesto muy fuerte; su violación puede inducir a sesgos en el estimador de emparejamiento.</a:t>
            </a:r>
            <a:endParaRPr lang="es-ES" sz="2500" dirty="0"/>
          </a:p>
        </p:txBody>
      </p:sp>
      <p:pic>
        <p:nvPicPr>
          <p:cNvPr id="12" name="Picture 1"/>
          <p:cNvPicPr>
            <a:picLocks noChangeAspect="1" noChangeArrowheads="1"/>
          </p:cNvPicPr>
          <p:nvPr/>
        </p:nvPicPr>
        <p:blipFill>
          <a:blip r:embed="rId4" cstate="print"/>
          <a:srcRect/>
          <a:stretch>
            <a:fillRect/>
          </a:stretch>
        </p:blipFill>
        <p:spPr bwMode="auto">
          <a:xfrm>
            <a:off x="0" y="-24"/>
            <a:ext cx="2500298" cy="1189301"/>
          </a:xfrm>
          <a:prstGeom prst="rect">
            <a:avLst/>
          </a:prstGeom>
          <a:noFill/>
          <a:ln w="9525">
            <a:noFill/>
            <a:miter lim="800000"/>
            <a:headEnd/>
            <a:tailEnd/>
          </a:ln>
          <a:effectLst/>
        </p:spPr>
      </p:pic>
      <p:cxnSp>
        <p:nvCxnSpPr>
          <p:cNvPr id="16" name="15 Conector recto de flecha"/>
          <p:cNvCxnSpPr/>
          <p:nvPr/>
        </p:nvCxnSpPr>
        <p:spPr>
          <a:xfrm rot="5400000">
            <a:off x="4214810" y="4786322"/>
            <a:ext cx="428628"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aphicFrame>
        <p:nvGraphicFramePr>
          <p:cNvPr id="1026" name="Object 2"/>
          <p:cNvGraphicFramePr>
            <a:graphicFrameLocks noChangeAspect="1"/>
          </p:cNvGraphicFramePr>
          <p:nvPr>
            <p:extLst>
              <p:ext uri="{D42A27DB-BD31-4B8C-83A1-F6EECF244321}">
                <p14:modId xmlns="" xmlns:p14="http://schemas.microsoft.com/office/powerpoint/2010/main" val="1780249751"/>
              </p:ext>
            </p:extLst>
          </p:nvPr>
        </p:nvGraphicFramePr>
        <p:xfrm>
          <a:off x="1214414" y="2246934"/>
          <a:ext cx="6266671" cy="682000"/>
        </p:xfrm>
        <a:graphic>
          <a:graphicData uri="http://schemas.openxmlformats.org/presentationml/2006/ole">
            <p:oleObj spid="_x0000_s1031" name="Documento" r:id="rId5" imgW="5402470" imgH="588439" progId="Word.Document.12">
              <p:embed/>
            </p:oleObj>
          </a:graphicData>
        </a:graphic>
      </p:graphicFrame>
      <p:sp>
        <p:nvSpPr>
          <p:cNvPr id="17" name="16 Rectángulo"/>
          <p:cNvSpPr/>
          <p:nvPr/>
        </p:nvSpPr>
        <p:spPr>
          <a:xfrm>
            <a:off x="0" y="6534859"/>
            <a:ext cx="9144000" cy="323141"/>
          </a:xfrm>
          <a:prstGeom prst="rect">
            <a:avLst/>
          </a:prstGeom>
        </p:spPr>
        <p:txBody>
          <a:bodyPr wrap="square">
            <a:spAutoFit/>
          </a:bodyPr>
          <a:lstStyle/>
          <a:p>
            <a:pPr algn="ctr"/>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6: Emparejamiento /  </a:t>
            </a:r>
            <a:r>
              <a:rPr lang="es-CO" sz="1500" dirty="0">
                <a:solidFill>
                  <a:schemeClr val="tx1">
                    <a:lumMod val="50000"/>
                    <a:lumOff val="50000"/>
                  </a:schemeClr>
                </a:solidFill>
              </a:rPr>
              <a:t>5</a:t>
            </a:r>
            <a:endParaRPr lang="es-ES" sz="1500" dirty="0">
              <a:solidFill>
                <a:schemeClr val="tx1">
                  <a:lumMod val="50000"/>
                  <a:lumOff val="50000"/>
                </a:schemeClr>
              </a:solidFill>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57200" y="2071678"/>
            <a:ext cx="8229600" cy="4214842"/>
          </a:xfrm>
        </p:spPr>
        <p:txBody>
          <a:bodyPr/>
          <a:lstStyle/>
          <a:p>
            <a:pPr algn="ctr">
              <a:buNone/>
            </a:pPr>
            <a:r>
              <a:rPr lang="es-ES" sz="2500" dirty="0" smtClean="0"/>
              <a:t>	La implementación del estimador puede resultar compleja cuando el vector de variables observables</a:t>
            </a:r>
            <a:r>
              <a:rPr lang="es-ES" sz="2500" i="1" dirty="0" smtClean="0"/>
              <a:t> X </a:t>
            </a:r>
            <a:r>
              <a:rPr lang="es-ES" sz="2500" dirty="0" smtClean="0"/>
              <a:t>tiene una dimensión muy grande.   </a:t>
            </a:r>
          </a:p>
          <a:p>
            <a:endParaRPr lang="es-ES" sz="2500" dirty="0"/>
          </a:p>
          <a:p>
            <a:pPr algn="just">
              <a:buNone/>
            </a:pPr>
            <a:r>
              <a:rPr lang="es-ES" sz="2500" dirty="0"/>
              <a:t>	</a:t>
            </a:r>
            <a:r>
              <a:rPr lang="es-ES" sz="2500" dirty="0" smtClean="0"/>
              <a:t>		</a:t>
            </a:r>
            <a:endParaRPr lang="es-AR" sz="2500" dirty="0"/>
          </a:p>
        </p:txBody>
      </p:sp>
      <p:sp>
        <p:nvSpPr>
          <p:cNvPr id="4" name="1 Título"/>
          <p:cNvSpPr txBox="1">
            <a:spLocks/>
          </p:cNvSpPr>
          <p:nvPr/>
        </p:nvSpPr>
        <p:spPr>
          <a:xfrm>
            <a:off x="2000232" y="274638"/>
            <a:ext cx="6686568" cy="1154098"/>
          </a:xfrm>
          <a:prstGeom prst="rect">
            <a:avLst/>
          </a:prstGeom>
        </p:spPr>
        <p:txBody>
          <a:bodyPr vert="horz" lIns="91440" tIns="45720" rIns="91440" bIns="45720" rtlCol="0" anchor="ctr">
            <a:normAutofit fontScale="97500"/>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s-AR" sz="4400" b="0" i="0" u="none" strike="noStrike" kern="1200" cap="none" spc="0" normalizeH="0" baseline="0" noProof="0" dirty="0" smtClean="0">
              <a:ln>
                <a:noFill/>
              </a:ln>
              <a:solidFill>
                <a:schemeClr val="tx1"/>
              </a:solidFill>
              <a:effectLst/>
              <a:uLnTx/>
              <a:uFillTx/>
              <a:latin typeface="+mj-lt"/>
              <a:ea typeface="+mj-ea"/>
              <a:cs typeface="+mj-cs"/>
            </a:endParaRPr>
          </a:p>
        </p:txBody>
      </p:sp>
      <p:sp>
        <p:nvSpPr>
          <p:cNvPr id="19458"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AR" dirty="0"/>
          </a:p>
        </p:txBody>
      </p:sp>
      <p:sp>
        <p:nvSpPr>
          <p:cNvPr id="19460"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AR" dirty="0"/>
          </a:p>
        </p:txBody>
      </p:sp>
      <p:cxnSp>
        <p:nvCxnSpPr>
          <p:cNvPr id="10" name="9 Conector recto"/>
          <p:cNvCxnSpPr/>
          <p:nvPr/>
        </p:nvCxnSpPr>
        <p:spPr>
          <a:xfrm rot="16200000" flipH="1">
            <a:off x="4608135" y="3464302"/>
            <a:ext cx="214314" cy="832"/>
          </a:xfrm>
          <a:prstGeom prst="line">
            <a:avLst/>
          </a:prstGeom>
          <a:ln>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11" name="10 CuadroTexto"/>
          <p:cNvSpPr txBox="1"/>
          <p:nvPr/>
        </p:nvSpPr>
        <p:spPr>
          <a:xfrm>
            <a:off x="4071934" y="3452012"/>
            <a:ext cx="1289135" cy="477054"/>
          </a:xfrm>
          <a:prstGeom prst="rect">
            <a:avLst/>
          </a:prstGeom>
          <a:noFill/>
        </p:spPr>
        <p:txBody>
          <a:bodyPr wrap="none" rtlCol="0">
            <a:spAutoFit/>
          </a:bodyPr>
          <a:lstStyle/>
          <a:p>
            <a:r>
              <a:rPr lang="es-ES" sz="2500" dirty="0" smtClean="0"/>
              <a:t>Solución</a:t>
            </a:r>
            <a:endParaRPr lang="es-AR" sz="2500" dirty="0"/>
          </a:p>
        </p:txBody>
      </p:sp>
      <p:cxnSp>
        <p:nvCxnSpPr>
          <p:cNvPr id="15" name="14 Conector recto de flecha"/>
          <p:cNvCxnSpPr/>
          <p:nvPr/>
        </p:nvCxnSpPr>
        <p:spPr>
          <a:xfrm rot="5400000">
            <a:off x="4608116" y="3964388"/>
            <a:ext cx="214314" cy="794"/>
          </a:xfrm>
          <a:prstGeom prst="straightConnector1">
            <a:avLst/>
          </a:prstGeom>
          <a:ln>
            <a:solidFill>
              <a:schemeClr val="accent1">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sp>
        <p:nvSpPr>
          <p:cNvPr id="19462" name="Rectangle 6"/>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AR" dirty="0"/>
          </a:p>
        </p:txBody>
      </p:sp>
      <p:sp>
        <p:nvSpPr>
          <p:cNvPr id="19463" name="Rectangle 7"/>
          <p:cNvSpPr>
            <a:spLocks noChangeArrowheads="1"/>
          </p:cNvSpPr>
          <p:nvPr/>
        </p:nvSpPr>
        <p:spPr bwMode="auto">
          <a:xfrm>
            <a:off x="0" y="8382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AR" sz="1800" b="0" i="0" u="none" strike="noStrike" cap="none" normalizeH="0" baseline="0" dirty="0" smtClean="0">
              <a:ln>
                <a:noFill/>
              </a:ln>
              <a:solidFill>
                <a:schemeClr val="tx1"/>
              </a:solidFill>
              <a:effectLst/>
              <a:latin typeface="Arial" pitchFamily="34" charset="0"/>
            </a:endParaRPr>
          </a:p>
        </p:txBody>
      </p:sp>
      <p:sp>
        <p:nvSpPr>
          <p:cNvPr id="21" name="20 Cerrar llave"/>
          <p:cNvSpPr/>
          <p:nvPr/>
        </p:nvSpPr>
        <p:spPr>
          <a:xfrm rot="5400000">
            <a:off x="4643438" y="3714752"/>
            <a:ext cx="214314" cy="3071834"/>
          </a:xfrm>
          <a:prstGeom prst="rightBrace">
            <a:avLst/>
          </a:prstGeom>
          <a:ln>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AR" dirty="0"/>
          </a:p>
        </p:txBody>
      </p:sp>
      <p:sp>
        <p:nvSpPr>
          <p:cNvPr id="22" name="21 CuadroTexto"/>
          <p:cNvSpPr txBox="1"/>
          <p:nvPr/>
        </p:nvSpPr>
        <p:spPr>
          <a:xfrm>
            <a:off x="785786" y="5429264"/>
            <a:ext cx="7929618" cy="861774"/>
          </a:xfrm>
          <a:prstGeom prst="rect">
            <a:avLst/>
          </a:prstGeom>
          <a:noFill/>
          <a:ln>
            <a:solidFill>
              <a:schemeClr val="accent1">
                <a:lumMod val="60000"/>
                <a:lumOff val="40000"/>
              </a:schemeClr>
            </a:solidFill>
          </a:ln>
        </p:spPr>
        <p:txBody>
          <a:bodyPr wrap="square" rtlCol="0">
            <a:spAutoFit/>
          </a:bodyPr>
          <a:lstStyle/>
          <a:p>
            <a:pPr algn="just"/>
            <a:r>
              <a:rPr lang="es-ES" sz="2500" dirty="0" smtClean="0"/>
              <a:t>Probabilidad estimada de participación en el programa dadas sus características observables (</a:t>
            </a:r>
            <a:r>
              <a:rPr lang="es-ES" sz="2500" i="1" dirty="0" err="1" smtClean="0"/>
              <a:t>propensity</a:t>
            </a:r>
            <a:r>
              <a:rPr lang="es-ES" sz="2500" i="1" dirty="0" smtClean="0"/>
              <a:t> score</a:t>
            </a:r>
            <a:r>
              <a:rPr lang="es-ES" sz="2500" dirty="0" smtClean="0"/>
              <a:t>).</a:t>
            </a:r>
            <a:endParaRPr lang="es-AR" sz="2500" dirty="0"/>
          </a:p>
        </p:txBody>
      </p:sp>
      <p:cxnSp>
        <p:nvCxnSpPr>
          <p:cNvPr id="24" name="23 Conector recto de flecha"/>
          <p:cNvCxnSpPr/>
          <p:nvPr/>
        </p:nvCxnSpPr>
        <p:spPr>
          <a:xfrm>
            <a:off x="2143108" y="4714884"/>
            <a:ext cx="785818" cy="357190"/>
          </a:xfrm>
          <a:prstGeom prst="straightConnector1">
            <a:avLst/>
          </a:prstGeom>
          <a:ln>
            <a:solidFill>
              <a:schemeClr val="accent1">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sp>
        <p:nvSpPr>
          <p:cNvPr id="25" name="24 CuadroTexto"/>
          <p:cNvSpPr txBox="1"/>
          <p:nvPr/>
        </p:nvSpPr>
        <p:spPr>
          <a:xfrm>
            <a:off x="1052673" y="4554360"/>
            <a:ext cx="1018997" cy="446276"/>
          </a:xfrm>
          <a:prstGeom prst="rect">
            <a:avLst/>
          </a:prstGeom>
          <a:noFill/>
          <a:ln>
            <a:solidFill>
              <a:schemeClr val="accent1">
                <a:lumMod val="60000"/>
                <a:lumOff val="40000"/>
              </a:schemeClr>
            </a:solidFill>
          </a:ln>
        </p:spPr>
        <p:txBody>
          <a:bodyPr wrap="none" rtlCol="0">
            <a:spAutoFit/>
          </a:bodyPr>
          <a:lstStyle/>
          <a:p>
            <a:r>
              <a:rPr lang="es-ES" sz="2300" dirty="0" smtClean="0"/>
              <a:t>Escalar</a:t>
            </a:r>
            <a:endParaRPr lang="es-AR" sz="2300" dirty="0"/>
          </a:p>
        </p:txBody>
      </p:sp>
      <p:sp>
        <p:nvSpPr>
          <p:cNvPr id="27" name="1 Título"/>
          <p:cNvSpPr>
            <a:spLocks noGrp="1"/>
          </p:cNvSpPr>
          <p:nvPr>
            <p:ph type="title"/>
          </p:nvPr>
        </p:nvSpPr>
        <p:spPr>
          <a:xfrm>
            <a:off x="2571736" y="346076"/>
            <a:ext cx="6143668" cy="1225536"/>
          </a:xfrm>
        </p:spPr>
        <p:txBody>
          <a:bodyPr>
            <a:noAutofit/>
          </a:bodyPr>
          <a:lstStyle/>
          <a:p>
            <a:r>
              <a:rPr lang="es-ES" sz="4200" u="sng" dirty="0" smtClean="0"/>
              <a:t>Probabilidad estimada de participación en el programa</a:t>
            </a:r>
            <a:endParaRPr lang="es-AR" sz="4200" u="sng" dirty="0"/>
          </a:p>
        </p:txBody>
      </p:sp>
      <p:pic>
        <p:nvPicPr>
          <p:cNvPr id="19" name="Picture 1"/>
          <p:cNvPicPr>
            <a:picLocks noChangeAspect="1" noChangeArrowheads="1"/>
          </p:cNvPicPr>
          <p:nvPr/>
        </p:nvPicPr>
        <p:blipFill>
          <a:blip r:embed="rId3" cstate="print"/>
          <a:srcRect/>
          <a:stretch>
            <a:fillRect/>
          </a:stretch>
        </p:blipFill>
        <p:spPr bwMode="auto">
          <a:xfrm>
            <a:off x="0" y="-24"/>
            <a:ext cx="2500298" cy="1189301"/>
          </a:xfrm>
          <a:prstGeom prst="rect">
            <a:avLst/>
          </a:prstGeom>
          <a:noFill/>
          <a:ln w="9525">
            <a:noFill/>
            <a:miter lim="800000"/>
            <a:headEnd/>
            <a:tailEnd/>
          </a:ln>
          <a:effectLst/>
        </p:spPr>
      </p:pic>
      <p:sp>
        <p:nvSpPr>
          <p:cNvPr id="26" name="25 CuadroTexto"/>
          <p:cNvSpPr txBox="1"/>
          <p:nvPr/>
        </p:nvSpPr>
        <p:spPr>
          <a:xfrm>
            <a:off x="2451065" y="4094954"/>
            <a:ext cx="4621265" cy="477054"/>
          </a:xfrm>
          <a:prstGeom prst="rect">
            <a:avLst/>
          </a:prstGeom>
          <a:noFill/>
        </p:spPr>
        <p:txBody>
          <a:bodyPr wrap="none" rtlCol="0">
            <a:spAutoFit/>
          </a:bodyPr>
          <a:lstStyle/>
          <a:p>
            <a:r>
              <a:rPr lang="es-ES" sz="2500" dirty="0" smtClean="0"/>
              <a:t>Emparejar individuos con base en</a:t>
            </a:r>
            <a:r>
              <a:rPr lang="es-ES" dirty="0" smtClean="0"/>
              <a:t>:</a:t>
            </a:r>
            <a:endParaRPr lang="es-ES" dirty="0"/>
          </a:p>
        </p:txBody>
      </p:sp>
      <p:graphicFrame>
        <p:nvGraphicFramePr>
          <p:cNvPr id="2050" name="Object 2"/>
          <p:cNvGraphicFramePr>
            <a:graphicFrameLocks noChangeAspect="1"/>
          </p:cNvGraphicFramePr>
          <p:nvPr>
            <p:extLst>
              <p:ext uri="{D42A27DB-BD31-4B8C-83A1-F6EECF244321}">
                <p14:modId xmlns="" xmlns:p14="http://schemas.microsoft.com/office/powerpoint/2010/main" val="2298320095"/>
              </p:ext>
            </p:extLst>
          </p:nvPr>
        </p:nvGraphicFramePr>
        <p:xfrm>
          <a:off x="2000232" y="4822847"/>
          <a:ext cx="5572164" cy="606417"/>
        </p:xfrm>
        <a:graphic>
          <a:graphicData uri="http://schemas.openxmlformats.org/presentationml/2006/ole">
            <p:oleObj spid="_x0000_s2055" name="Documento" r:id="rId4" imgW="5402470" imgH="588439" progId="Word.Document.12">
              <p:embed/>
            </p:oleObj>
          </a:graphicData>
        </a:graphic>
      </p:graphicFrame>
      <p:sp>
        <p:nvSpPr>
          <p:cNvPr id="23" name="22 Rectángulo"/>
          <p:cNvSpPr/>
          <p:nvPr/>
        </p:nvSpPr>
        <p:spPr>
          <a:xfrm>
            <a:off x="0" y="6534859"/>
            <a:ext cx="9144000" cy="323141"/>
          </a:xfrm>
          <a:prstGeom prst="rect">
            <a:avLst/>
          </a:prstGeom>
        </p:spPr>
        <p:txBody>
          <a:bodyPr wrap="square">
            <a:spAutoFit/>
          </a:bodyPr>
          <a:lstStyle/>
          <a:p>
            <a:pPr algn="ctr"/>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6: Emparejamiento /  6</a:t>
            </a:r>
            <a:endParaRPr lang="es-ES" sz="1500" dirty="0">
              <a:solidFill>
                <a:schemeClr val="tx1">
                  <a:lumMod val="50000"/>
                  <a:lumOff val="50000"/>
                </a:schemeClr>
              </a:solidFill>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5 Conector recto de flecha"/>
          <p:cNvCxnSpPr/>
          <p:nvPr/>
        </p:nvCxnSpPr>
        <p:spPr>
          <a:xfrm>
            <a:off x="2071670" y="2643182"/>
            <a:ext cx="571504" cy="1588"/>
          </a:xfrm>
          <a:prstGeom prst="straightConnector1">
            <a:avLst/>
          </a:prstGeom>
          <a:ln>
            <a:solidFill>
              <a:schemeClr val="accent1">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sp>
        <p:nvSpPr>
          <p:cNvPr id="7" name="6 CuadroTexto"/>
          <p:cNvSpPr txBox="1"/>
          <p:nvPr/>
        </p:nvSpPr>
        <p:spPr>
          <a:xfrm>
            <a:off x="2786050" y="2396819"/>
            <a:ext cx="5429288" cy="1246495"/>
          </a:xfrm>
          <a:prstGeom prst="rect">
            <a:avLst/>
          </a:prstGeom>
          <a:noFill/>
        </p:spPr>
        <p:txBody>
          <a:bodyPr wrap="square" rtlCol="0">
            <a:spAutoFit/>
          </a:bodyPr>
          <a:lstStyle/>
          <a:p>
            <a:r>
              <a:rPr lang="es-ES" sz="2500" dirty="0" smtClean="0"/>
              <a:t>Si emparejar con base en las variables observables (</a:t>
            </a:r>
            <a:r>
              <a:rPr lang="es-ES" sz="2500" i="1" dirty="0" smtClean="0"/>
              <a:t>X</a:t>
            </a:r>
            <a:r>
              <a:rPr lang="es-ES" sz="2500" dirty="0" smtClean="0"/>
              <a:t>) genera un estimador consistente</a:t>
            </a:r>
            <a:endParaRPr lang="es-AR" sz="2500" dirty="0"/>
          </a:p>
        </p:txBody>
      </p:sp>
      <p:sp>
        <p:nvSpPr>
          <p:cNvPr id="8" name="7 CuadroTexto"/>
          <p:cNvSpPr txBox="1"/>
          <p:nvPr/>
        </p:nvSpPr>
        <p:spPr>
          <a:xfrm>
            <a:off x="571472" y="2357430"/>
            <a:ext cx="1643074" cy="861774"/>
          </a:xfrm>
          <a:prstGeom prst="rect">
            <a:avLst/>
          </a:prstGeom>
          <a:noFill/>
        </p:spPr>
        <p:txBody>
          <a:bodyPr wrap="square" rtlCol="0">
            <a:spAutoFit/>
          </a:bodyPr>
          <a:lstStyle/>
          <a:p>
            <a:r>
              <a:rPr lang="es-ES" sz="2500" dirty="0" smtClean="0"/>
              <a:t>Sobre el estimador</a:t>
            </a:r>
            <a:endParaRPr lang="es-AR" sz="2500" dirty="0"/>
          </a:p>
        </p:txBody>
      </p:sp>
      <p:cxnSp>
        <p:nvCxnSpPr>
          <p:cNvPr id="10" name="9 Conector recto"/>
          <p:cNvCxnSpPr/>
          <p:nvPr/>
        </p:nvCxnSpPr>
        <p:spPr>
          <a:xfrm rot="5400000">
            <a:off x="4965306" y="3678636"/>
            <a:ext cx="214314" cy="794"/>
          </a:xfrm>
          <a:prstGeom prst="line">
            <a:avLst/>
          </a:prstGeom>
        </p:spPr>
        <p:style>
          <a:lnRef idx="1">
            <a:schemeClr val="accent1"/>
          </a:lnRef>
          <a:fillRef idx="0">
            <a:schemeClr val="accent1"/>
          </a:fillRef>
          <a:effectRef idx="0">
            <a:schemeClr val="accent1"/>
          </a:effectRef>
          <a:fontRef idx="minor">
            <a:schemeClr val="tx1"/>
          </a:fontRef>
        </p:style>
      </p:cxnSp>
      <p:sp>
        <p:nvSpPr>
          <p:cNvPr id="11" name="10 CuadroTexto"/>
          <p:cNvSpPr txBox="1"/>
          <p:nvPr/>
        </p:nvSpPr>
        <p:spPr>
          <a:xfrm>
            <a:off x="4413634" y="3666326"/>
            <a:ext cx="1372812" cy="477054"/>
          </a:xfrm>
          <a:prstGeom prst="rect">
            <a:avLst/>
          </a:prstGeom>
          <a:noFill/>
        </p:spPr>
        <p:txBody>
          <a:bodyPr wrap="none" rtlCol="0">
            <a:spAutoFit/>
          </a:bodyPr>
          <a:lstStyle/>
          <a:p>
            <a:r>
              <a:rPr lang="es-ES" sz="2500" dirty="0"/>
              <a:t>e</a:t>
            </a:r>
            <a:r>
              <a:rPr lang="es-ES" sz="2500" dirty="0" smtClean="0"/>
              <a:t>ntonces</a:t>
            </a:r>
            <a:endParaRPr lang="es-AR" sz="2500" dirty="0"/>
          </a:p>
        </p:txBody>
      </p:sp>
      <p:cxnSp>
        <p:nvCxnSpPr>
          <p:cNvPr id="16" name="15 Conector recto de flecha"/>
          <p:cNvCxnSpPr/>
          <p:nvPr/>
        </p:nvCxnSpPr>
        <p:spPr>
          <a:xfrm rot="5400000">
            <a:off x="4928396" y="4285462"/>
            <a:ext cx="285752"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7" name="16 CuadroTexto"/>
          <p:cNvSpPr txBox="1"/>
          <p:nvPr/>
        </p:nvSpPr>
        <p:spPr>
          <a:xfrm>
            <a:off x="2786050" y="4424614"/>
            <a:ext cx="5715040" cy="861774"/>
          </a:xfrm>
          <a:prstGeom prst="rect">
            <a:avLst/>
          </a:prstGeom>
          <a:noFill/>
        </p:spPr>
        <p:txBody>
          <a:bodyPr wrap="square" rtlCol="0">
            <a:spAutoFit/>
          </a:bodyPr>
          <a:lstStyle/>
          <a:p>
            <a:r>
              <a:rPr lang="es-ES" sz="2500" dirty="0" smtClean="0"/>
              <a:t>el emparejamiento con base en la </a:t>
            </a:r>
            <a:r>
              <a:rPr lang="es-ES" sz="2500" i="1" dirty="0" smtClean="0"/>
              <a:t>P(X)</a:t>
            </a:r>
            <a:r>
              <a:rPr lang="es-ES" sz="2500" dirty="0" smtClean="0"/>
              <a:t>   también lo hace</a:t>
            </a:r>
            <a:r>
              <a:rPr lang="es-ES" dirty="0" smtClean="0"/>
              <a:t>.</a:t>
            </a:r>
            <a:endParaRPr lang="es-AR" dirty="0"/>
          </a:p>
        </p:txBody>
      </p:sp>
      <p:sp>
        <p:nvSpPr>
          <p:cNvPr id="2048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AR" dirty="0"/>
          </a:p>
        </p:txBody>
      </p:sp>
      <p:sp>
        <p:nvSpPr>
          <p:cNvPr id="20484"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AR" dirty="0"/>
          </a:p>
        </p:txBody>
      </p:sp>
      <p:pic>
        <p:nvPicPr>
          <p:cNvPr id="14" name="Picture 1"/>
          <p:cNvPicPr>
            <a:picLocks noChangeAspect="1" noChangeArrowheads="1"/>
          </p:cNvPicPr>
          <p:nvPr/>
        </p:nvPicPr>
        <p:blipFill>
          <a:blip r:embed="rId2" cstate="print"/>
          <a:srcRect/>
          <a:stretch>
            <a:fillRect/>
          </a:stretch>
        </p:blipFill>
        <p:spPr bwMode="auto">
          <a:xfrm>
            <a:off x="0" y="-24"/>
            <a:ext cx="2500298" cy="1189301"/>
          </a:xfrm>
          <a:prstGeom prst="rect">
            <a:avLst/>
          </a:prstGeom>
          <a:noFill/>
          <a:ln w="9525">
            <a:noFill/>
            <a:miter lim="800000"/>
            <a:headEnd/>
            <a:tailEnd/>
          </a:ln>
          <a:effectLst/>
        </p:spPr>
      </p:pic>
      <p:sp>
        <p:nvSpPr>
          <p:cNvPr id="19" name="1 Título"/>
          <p:cNvSpPr>
            <a:spLocks noGrp="1"/>
          </p:cNvSpPr>
          <p:nvPr>
            <p:ph type="title"/>
          </p:nvPr>
        </p:nvSpPr>
        <p:spPr>
          <a:xfrm>
            <a:off x="2571736" y="346076"/>
            <a:ext cx="6143668" cy="1225536"/>
          </a:xfrm>
        </p:spPr>
        <p:txBody>
          <a:bodyPr>
            <a:noAutofit/>
          </a:bodyPr>
          <a:lstStyle/>
          <a:p>
            <a:r>
              <a:rPr lang="es-ES" sz="4200" u="sng" dirty="0" smtClean="0"/>
              <a:t>Probabilidad estimada de participación en el programa</a:t>
            </a:r>
            <a:endParaRPr lang="es-AR" sz="4200" u="sng" dirty="0"/>
          </a:p>
        </p:txBody>
      </p:sp>
      <p:sp>
        <p:nvSpPr>
          <p:cNvPr id="20" name="19 Rectángulo"/>
          <p:cNvSpPr/>
          <p:nvPr/>
        </p:nvSpPr>
        <p:spPr>
          <a:xfrm>
            <a:off x="0" y="6534859"/>
            <a:ext cx="9144000" cy="323141"/>
          </a:xfrm>
          <a:prstGeom prst="rect">
            <a:avLst/>
          </a:prstGeom>
        </p:spPr>
        <p:txBody>
          <a:bodyPr wrap="square">
            <a:spAutoFit/>
          </a:bodyPr>
          <a:lstStyle/>
          <a:p>
            <a:pPr algn="ctr"/>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6: Emparejamiento /  7</a:t>
            </a:r>
            <a:endParaRPr lang="es-ES" sz="1500" dirty="0">
              <a:solidFill>
                <a:schemeClr val="tx1">
                  <a:lumMod val="50000"/>
                  <a:lumOff val="50000"/>
                </a:schemeClr>
              </a:solidFill>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571736" y="274638"/>
            <a:ext cx="6115064" cy="1143000"/>
          </a:xfrm>
        </p:spPr>
        <p:txBody>
          <a:bodyPr>
            <a:noAutofit/>
          </a:bodyPr>
          <a:lstStyle/>
          <a:p>
            <a:r>
              <a:rPr lang="es-ES" sz="4200" u="sng" dirty="0" smtClean="0"/>
              <a:t>Condición para construir un buen grupo de control</a:t>
            </a:r>
            <a:endParaRPr lang="es-AR" sz="4200" u="sng" dirty="0"/>
          </a:p>
        </p:txBody>
      </p:sp>
      <p:sp>
        <p:nvSpPr>
          <p:cNvPr id="3" name="2 Marcador de contenido"/>
          <p:cNvSpPr>
            <a:spLocks noGrp="1"/>
          </p:cNvSpPr>
          <p:nvPr>
            <p:ph idx="1"/>
          </p:nvPr>
        </p:nvSpPr>
        <p:spPr/>
        <p:txBody>
          <a:bodyPr/>
          <a:lstStyle/>
          <a:p>
            <a:endParaRPr lang="es-ES" sz="2500" dirty="0" smtClean="0"/>
          </a:p>
          <a:p>
            <a:pPr algn="just">
              <a:buNone/>
            </a:pPr>
            <a:r>
              <a:rPr lang="es-ES" sz="2500" dirty="0" smtClean="0"/>
              <a:t>	</a:t>
            </a:r>
          </a:p>
          <a:p>
            <a:pPr algn="just">
              <a:buNone/>
            </a:pPr>
            <a:r>
              <a:rPr lang="es-ES" sz="2500" dirty="0" smtClean="0"/>
              <a:t>	</a:t>
            </a:r>
            <a:endParaRPr lang="es-AR" sz="2500" dirty="0"/>
          </a:p>
        </p:txBody>
      </p:sp>
      <p:sp>
        <p:nvSpPr>
          <p:cNvPr id="4" name="3 Flecha abajo"/>
          <p:cNvSpPr/>
          <p:nvPr/>
        </p:nvSpPr>
        <p:spPr>
          <a:xfrm>
            <a:off x="4357686" y="3857628"/>
            <a:ext cx="428628" cy="500066"/>
          </a:xfrm>
          <a:prstGeom prst="downArrow">
            <a:avLst/>
          </a:prstGeom>
          <a:no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5" name="4 CuadroTexto"/>
          <p:cNvSpPr txBox="1"/>
          <p:nvPr/>
        </p:nvSpPr>
        <p:spPr>
          <a:xfrm>
            <a:off x="857224" y="4325645"/>
            <a:ext cx="7429552" cy="1246495"/>
          </a:xfrm>
          <a:prstGeom prst="rect">
            <a:avLst/>
          </a:prstGeom>
          <a:noFill/>
        </p:spPr>
        <p:txBody>
          <a:bodyPr wrap="square" rtlCol="0">
            <a:spAutoFit/>
          </a:bodyPr>
          <a:lstStyle/>
          <a:p>
            <a:pPr algn="just"/>
            <a:r>
              <a:rPr lang="es-ES" sz="2500" dirty="0" smtClean="0"/>
              <a:t>Un control adecuado para un individuo en el grupo de tratamiento es aquel que tiene una probabilidad de participar en el programa muy parecida.</a:t>
            </a:r>
            <a:endParaRPr lang="es-AR" sz="2500" dirty="0"/>
          </a:p>
        </p:txBody>
      </p:sp>
      <p:pic>
        <p:nvPicPr>
          <p:cNvPr id="6" name="Picture 1"/>
          <p:cNvPicPr>
            <a:picLocks noChangeAspect="1" noChangeArrowheads="1"/>
          </p:cNvPicPr>
          <p:nvPr/>
        </p:nvPicPr>
        <p:blipFill>
          <a:blip r:embed="rId3" cstate="print"/>
          <a:srcRect/>
          <a:stretch>
            <a:fillRect/>
          </a:stretch>
        </p:blipFill>
        <p:spPr bwMode="auto">
          <a:xfrm>
            <a:off x="0" y="-24"/>
            <a:ext cx="2500298" cy="1189301"/>
          </a:xfrm>
          <a:prstGeom prst="rect">
            <a:avLst/>
          </a:prstGeom>
          <a:noFill/>
          <a:ln w="9525">
            <a:noFill/>
            <a:miter lim="800000"/>
            <a:headEnd/>
            <a:tailEnd/>
          </a:ln>
          <a:effectLst/>
        </p:spPr>
      </p:pic>
      <p:sp>
        <p:nvSpPr>
          <p:cNvPr id="8" name="7 Rectángulo"/>
          <p:cNvSpPr/>
          <p:nvPr/>
        </p:nvSpPr>
        <p:spPr>
          <a:xfrm>
            <a:off x="714348" y="2357430"/>
            <a:ext cx="8001056" cy="135732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 name="8 CuadroTexto"/>
          <p:cNvSpPr txBox="1"/>
          <p:nvPr/>
        </p:nvSpPr>
        <p:spPr>
          <a:xfrm>
            <a:off x="785786" y="2398529"/>
            <a:ext cx="7786742" cy="1246495"/>
          </a:xfrm>
          <a:prstGeom prst="rect">
            <a:avLst/>
          </a:prstGeom>
          <a:noFill/>
        </p:spPr>
        <p:txBody>
          <a:bodyPr wrap="square" rtlCol="0">
            <a:spAutoFit/>
          </a:bodyPr>
          <a:lstStyle/>
          <a:p>
            <a:pPr algn="ctr"/>
            <a:r>
              <a:rPr lang="es-ES" sz="2500" dirty="0" smtClean="0"/>
              <a:t>Cualquier combinación de características observadas en el grupo de tratamiento debe existir también en el grupo de control.</a:t>
            </a:r>
            <a:endParaRPr lang="es-ES" sz="2500" dirty="0"/>
          </a:p>
        </p:txBody>
      </p:sp>
      <p:sp>
        <p:nvSpPr>
          <p:cNvPr id="12" name="11 Rectángulo"/>
          <p:cNvSpPr/>
          <p:nvPr/>
        </p:nvSpPr>
        <p:spPr>
          <a:xfrm>
            <a:off x="0" y="6534859"/>
            <a:ext cx="9144000" cy="323141"/>
          </a:xfrm>
          <a:prstGeom prst="rect">
            <a:avLst/>
          </a:prstGeom>
        </p:spPr>
        <p:txBody>
          <a:bodyPr wrap="square">
            <a:spAutoFit/>
          </a:bodyPr>
          <a:lstStyle/>
          <a:p>
            <a:pPr algn="ctr"/>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6: Emparejamiento /  8</a:t>
            </a:r>
            <a:endParaRPr lang="es-ES" sz="1500" dirty="0">
              <a:solidFill>
                <a:schemeClr val="tx1">
                  <a:lumMod val="50000"/>
                  <a:lumOff val="50000"/>
                </a:schemeClr>
              </a:solidFill>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57200" y="1500174"/>
            <a:ext cx="8229600" cy="4625989"/>
          </a:xfrm>
        </p:spPr>
        <p:txBody>
          <a:bodyPr/>
          <a:lstStyle/>
          <a:p>
            <a:pPr>
              <a:buNone/>
            </a:pPr>
            <a:r>
              <a:rPr lang="es-ES" sz="2500" dirty="0" smtClean="0"/>
              <a:t>La condición anterior implica que:</a:t>
            </a:r>
          </a:p>
          <a:p>
            <a:pPr>
              <a:buNone/>
            </a:pPr>
            <a:endParaRPr lang="es-AR" dirty="0"/>
          </a:p>
        </p:txBody>
      </p:sp>
      <p:sp>
        <p:nvSpPr>
          <p:cNvPr id="4" name="1 Título"/>
          <p:cNvSpPr>
            <a:spLocks noGrp="1"/>
          </p:cNvSpPr>
          <p:nvPr>
            <p:ph type="title"/>
          </p:nvPr>
        </p:nvSpPr>
        <p:spPr>
          <a:xfrm>
            <a:off x="2571736" y="142852"/>
            <a:ext cx="6115064" cy="1000132"/>
          </a:xfrm>
        </p:spPr>
        <p:txBody>
          <a:bodyPr>
            <a:normAutofit/>
          </a:bodyPr>
          <a:lstStyle/>
          <a:p>
            <a:r>
              <a:rPr lang="es-ES" sz="4200" u="sng" dirty="0" smtClean="0"/>
              <a:t>Soporte común (SC)</a:t>
            </a:r>
            <a:endParaRPr lang="es-AR" sz="4200" u="sng" dirty="0"/>
          </a:p>
        </p:txBody>
      </p:sp>
      <p:sp>
        <p:nvSpPr>
          <p:cNvPr id="5" name="4 CuadroTexto"/>
          <p:cNvSpPr txBox="1"/>
          <p:nvPr/>
        </p:nvSpPr>
        <p:spPr>
          <a:xfrm>
            <a:off x="500034" y="2143116"/>
            <a:ext cx="8143932" cy="861774"/>
          </a:xfrm>
          <a:prstGeom prst="rect">
            <a:avLst/>
          </a:prstGeom>
          <a:noFill/>
        </p:spPr>
        <p:txBody>
          <a:bodyPr wrap="square" rtlCol="0">
            <a:spAutoFit/>
          </a:bodyPr>
          <a:lstStyle/>
          <a:p>
            <a:r>
              <a:rPr lang="es-ES" sz="2500" dirty="0" smtClean="0"/>
              <a:t>El emparejamiento por probabilidad de participación (PSM) sólo puede calcularse sobre la </a:t>
            </a:r>
            <a:r>
              <a:rPr lang="es-ES" sz="2500" u="sng" dirty="0" smtClean="0"/>
              <a:t>región de soporte común</a:t>
            </a:r>
            <a:r>
              <a:rPr lang="es-ES" sz="2500" dirty="0" smtClean="0"/>
              <a:t>.</a:t>
            </a:r>
            <a:endParaRPr lang="es-AR" sz="2500" dirty="0"/>
          </a:p>
        </p:txBody>
      </p:sp>
      <p:cxnSp>
        <p:nvCxnSpPr>
          <p:cNvPr id="7" name="6 Conector recto de flecha"/>
          <p:cNvCxnSpPr/>
          <p:nvPr/>
        </p:nvCxnSpPr>
        <p:spPr>
          <a:xfrm rot="5400000">
            <a:off x="4214413" y="3142851"/>
            <a:ext cx="285752" cy="794"/>
          </a:xfrm>
          <a:prstGeom prst="straightConnector1">
            <a:avLst/>
          </a:prstGeom>
          <a:ln>
            <a:solidFill>
              <a:schemeClr val="accent1">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sp>
        <p:nvSpPr>
          <p:cNvPr id="8" name="7 CuadroTexto"/>
          <p:cNvSpPr txBox="1"/>
          <p:nvPr/>
        </p:nvSpPr>
        <p:spPr>
          <a:xfrm>
            <a:off x="500034" y="3357562"/>
            <a:ext cx="8215370" cy="861774"/>
          </a:xfrm>
          <a:prstGeom prst="rect">
            <a:avLst/>
          </a:prstGeom>
          <a:noFill/>
          <a:ln>
            <a:solidFill>
              <a:schemeClr val="accent1">
                <a:lumMod val="60000"/>
                <a:lumOff val="40000"/>
              </a:schemeClr>
            </a:solidFill>
          </a:ln>
        </p:spPr>
        <p:txBody>
          <a:bodyPr wrap="square" rtlCol="0">
            <a:spAutoFit/>
          </a:bodyPr>
          <a:lstStyle/>
          <a:p>
            <a:r>
              <a:rPr lang="es-ES" sz="2500" dirty="0" smtClean="0"/>
              <a:t>Asegura que el grupo de tratamiento y el de control sean parecidos.</a:t>
            </a:r>
            <a:endParaRPr lang="es-AR" sz="2500" dirty="0"/>
          </a:p>
        </p:txBody>
      </p:sp>
      <p:sp>
        <p:nvSpPr>
          <p:cNvPr id="22530"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AR" dirty="0"/>
          </a:p>
        </p:txBody>
      </p:sp>
      <p:sp>
        <p:nvSpPr>
          <p:cNvPr id="22531" name="Rectangle 3"/>
          <p:cNvSpPr>
            <a:spLocks noChangeArrowheads="1"/>
          </p:cNvSpPr>
          <p:nvPr/>
        </p:nvSpPr>
        <p:spPr bwMode="auto">
          <a:xfrm>
            <a:off x="0" y="8382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AR" sz="1800" b="0" i="0" u="none" strike="noStrike" cap="none" normalizeH="0" baseline="0" dirty="0" smtClean="0">
              <a:ln>
                <a:noFill/>
              </a:ln>
              <a:solidFill>
                <a:schemeClr val="tx1"/>
              </a:solidFill>
              <a:effectLst/>
              <a:latin typeface="Arial" pitchFamily="34" charset="0"/>
            </a:endParaRPr>
          </a:p>
        </p:txBody>
      </p:sp>
      <p:sp>
        <p:nvSpPr>
          <p:cNvPr id="12" name="11 CuadroTexto"/>
          <p:cNvSpPr txBox="1"/>
          <p:nvPr/>
        </p:nvSpPr>
        <p:spPr>
          <a:xfrm>
            <a:off x="467544" y="4248090"/>
            <a:ext cx="2392431" cy="477054"/>
          </a:xfrm>
          <a:prstGeom prst="rect">
            <a:avLst/>
          </a:prstGeom>
          <a:noFill/>
        </p:spPr>
        <p:txBody>
          <a:bodyPr wrap="square" rtlCol="0">
            <a:spAutoFit/>
          </a:bodyPr>
          <a:lstStyle/>
          <a:p>
            <a:r>
              <a:rPr lang="es-ES" sz="2500" u="sng" dirty="0" smtClean="0"/>
              <a:t>Condición de SC</a:t>
            </a:r>
            <a:r>
              <a:rPr lang="es-ES" sz="2500" dirty="0" smtClean="0"/>
              <a:t>:</a:t>
            </a:r>
            <a:endParaRPr lang="es-AR" sz="2500" dirty="0"/>
          </a:p>
        </p:txBody>
      </p:sp>
      <p:pic>
        <p:nvPicPr>
          <p:cNvPr id="11" name="Picture 1"/>
          <p:cNvPicPr>
            <a:picLocks noChangeAspect="1" noChangeArrowheads="1"/>
          </p:cNvPicPr>
          <p:nvPr/>
        </p:nvPicPr>
        <p:blipFill>
          <a:blip r:embed="rId4" cstate="print"/>
          <a:srcRect/>
          <a:stretch>
            <a:fillRect/>
          </a:stretch>
        </p:blipFill>
        <p:spPr bwMode="auto">
          <a:xfrm>
            <a:off x="0" y="-24"/>
            <a:ext cx="2500298" cy="1189301"/>
          </a:xfrm>
          <a:prstGeom prst="rect">
            <a:avLst/>
          </a:prstGeom>
          <a:noFill/>
          <a:ln w="9525">
            <a:noFill/>
            <a:miter lim="800000"/>
            <a:headEnd/>
            <a:tailEnd/>
          </a:ln>
          <a:effectLst/>
        </p:spPr>
      </p:pic>
      <p:sp>
        <p:nvSpPr>
          <p:cNvPr id="20" name="19 Flecha derecha"/>
          <p:cNvSpPr/>
          <p:nvPr/>
        </p:nvSpPr>
        <p:spPr>
          <a:xfrm>
            <a:off x="4000496" y="5072074"/>
            <a:ext cx="285752" cy="357190"/>
          </a:xfrm>
          <a:prstGeom prst="rightArrow">
            <a:avLst/>
          </a:prstGeom>
          <a:no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2" name="21 CuadroTexto"/>
          <p:cNvSpPr txBox="1"/>
          <p:nvPr/>
        </p:nvSpPr>
        <p:spPr>
          <a:xfrm>
            <a:off x="4500562" y="4357694"/>
            <a:ext cx="4071966" cy="2015936"/>
          </a:xfrm>
          <a:prstGeom prst="rect">
            <a:avLst/>
          </a:prstGeom>
          <a:noFill/>
          <a:ln>
            <a:solidFill>
              <a:schemeClr val="accent1">
                <a:lumMod val="60000"/>
                <a:lumOff val="40000"/>
              </a:schemeClr>
            </a:solidFill>
          </a:ln>
        </p:spPr>
        <p:txBody>
          <a:bodyPr wrap="square" rtlCol="0">
            <a:spAutoFit/>
          </a:bodyPr>
          <a:lstStyle/>
          <a:p>
            <a:r>
              <a:rPr lang="es-ES" sz="2500" dirty="0" smtClean="0"/>
              <a:t>El individuo con el mismo vector de variables </a:t>
            </a:r>
            <a:r>
              <a:rPr lang="es-ES" sz="2500" i="1" dirty="0" smtClean="0"/>
              <a:t>X</a:t>
            </a:r>
            <a:r>
              <a:rPr lang="es-ES" sz="2500" dirty="0" smtClean="0"/>
              <a:t> tiene probabilidad positiva de ser tanto participante como no participante en el programa.</a:t>
            </a:r>
            <a:endParaRPr lang="es-ES" sz="2500" dirty="0"/>
          </a:p>
        </p:txBody>
      </p:sp>
      <p:graphicFrame>
        <p:nvGraphicFramePr>
          <p:cNvPr id="3074" name="Object 2"/>
          <p:cNvGraphicFramePr>
            <a:graphicFrameLocks noChangeAspect="1"/>
          </p:cNvGraphicFramePr>
          <p:nvPr>
            <p:extLst>
              <p:ext uri="{D42A27DB-BD31-4B8C-83A1-F6EECF244321}">
                <p14:modId xmlns="" xmlns:p14="http://schemas.microsoft.com/office/powerpoint/2010/main" val="4172211111"/>
              </p:ext>
            </p:extLst>
          </p:nvPr>
        </p:nvGraphicFramePr>
        <p:xfrm>
          <a:off x="-785850" y="5000636"/>
          <a:ext cx="5907782" cy="642942"/>
        </p:xfrm>
        <a:graphic>
          <a:graphicData uri="http://schemas.openxmlformats.org/presentationml/2006/ole">
            <p:oleObj spid="_x0000_s3079" name="Documento" r:id="rId5" imgW="5402470" imgH="588439" progId="Word.Document.12">
              <p:embed/>
            </p:oleObj>
          </a:graphicData>
        </a:graphic>
      </p:graphicFrame>
      <p:sp>
        <p:nvSpPr>
          <p:cNvPr id="17" name="16 Rectángulo"/>
          <p:cNvSpPr/>
          <p:nvPr/>
        </p:nvSpPr>
        <p:spPr>
          <a:xfrm>
            <a:off x="0" y="6534859"/>
            <a:ext cx="9144000" cy="323141"/>
          </a:xfrm>
          <a:prstGeom prst="rect">
            <a:avLst/>
          </a:prstGeom>
        </p:spPr>
        <p:txBody>
          <a:bodyPr wrap="square">
            <a:spAutoFit/>
          </a:bodyPr>
          <a:lstStyle/>
          <a:p>
            <a:pPr algn="ctr"/>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6: Emparejamiento /  9</a:t>
            </a:r>
            <a:endParaRPr lang="es-ES" sz="1500" dirty="0">
              <a:solidFill>
                <a:schemeClr val="tx1">
                  <a:lumMod val="50000"/>
                  <a:lumOff val="50000"/>
                </a:schemeClr>
              </a:solidFill>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57200" y="1785926"/>
            <a:ext cx="8229600" cy="4340237"/>
          </a:xfrm>
        </p:spPr>
        <p:txBody>
          <a:bodyPr/>
          <a:lstStyle/>
          <a:p>
            <a:pPr>
              <a:buNone/>
            </a:pPr>
            <a:r>
              <a:rPr lang="es-CO" dirty="0" smtClean="0"/>
              <a:t>	</a:t>
            </a:r>
            <a:endParaRPr lang="es-CO" sz="2500" dirty="0" smtClean="0"/>
          </a:p>
          <a:p>
            <a:r>
              <a:rPr lang="es-CO" sz="2500" dirty="0" smtClean="0"/>
              <a:t>Para la estimación se toman aquellos individuos que de acuerdo con sus variables observables muestran probabilidades no cero de ser tanto participantes como no participantes.</a:t>
            </a:r>
          </a:p>
          <a:p>
            <a:pPr>
              <a:buNone/>
            </a:pPr>
            <a:endParaRPr lang="es-CO" sz="2500" dirty="0" smtClean="0"/>
          </a:p>
          <a:p>
            <a:r>
              <a:rPr lang="es-CO" sz="2500" dirty="0" smtClean="0"/>
              <a:t>Los individuos del </a:t>
            </a:r>
            <a:r>
              <a:rPr lang="es-ES" sz="2500" dirty="0" smtClean="0"/>
              <a:t>grupo de control son aquellos que tienen probabilidades de participación parecidas a las de los individuos en el grupo de tratamiento.</a:t>
            </a:r>
            <a:endParaRPr lang="es-ES" sz="2500" dirty="0"/>
          </a:p>
        </p:txBody>
      </p:sp>
      <p:pic>
        <p:nvPicPr>
          <p:cNvPr id="4" name="Picture 1"/>
          <p:cNvPicPr>
            <a:picLocks noChangeAspect="1" noChangeArrowheads="1"/>
          </p:cNvPicPr>
          <p:nvPr/>
        </p:nvPicPr>
        <p:blipFill>
          <a:blip r:embed="rId2" cstate="print"/>
          <a:srcRect/>
          <a:stretch>
            <a:fillRect/>
          </a:stretch>
        </p:blipFill>
        <p:spPr bwMode="auto">
          <a:xfrm>
            <a:off x="0" y="-24"/>
            <a:ext cx="2500298" cy="1189301"/>
          </a:xfrm>
          <a:prstGeom prst="rect">
            <a:avLst/>
          </a:prstGeom>
          <a:noFill/>
          <a:ln w="9525">
            <a:noFill/>
            <a:miter lim="800000"/>
            <a:headEnd/>
            <a:tailEnd/>
          </a:ln>
          <a:effectLst/>
        </p:spPr>
      </p:pic>
      <p:sp>
        <p:nvSpPr>
          <p:cNvPr id="5" name="1 Título"/>
          <p:cNvSpPr>
            <a:spLocks noGrp="1"/>
          </p:cNvSpPr>
          <p:nvPr>
            <p:ph type="title"/>
          </p:nvPr>
        </p:nvSpPr>
        <p:spPr>
          <a:xfrm>
            <a:off x="2571736" y="142852"/>
            <a:ext cx="6115064" cy="1214446"/>
          </a:xfrm>
        </p:spPr>
        <p:txBody>
          <a:bodyPr>
            <a:noAutofit/>
          </a:bodyPr>
          <a:lstStyle/>
          <a:p>
            <a:r>
              <a:rPr lang="es-ES" sz="4200" u="sng" dirty="0" smtClean="0"/>
              <a:t>¿Qué implica la condición de soporte común (SC)?</a:t>
            </a:r>
            <a:endParaRPr lang="es-AR" sz="4200" u="sng" dirty="0"/>
          </a:p>
        </p:txBody>
      </p:sp>
      <p:sp>
        <p:nvSpPr>
          <p:cNvPr id="8" name="7 Rectángulo"/>
          <p:cNvSpPr/>
          <p:nvPr/>
        </p:nvSpPr>
        <p:spPr>
          <a:xfrm>
            <a:off x="0" y="6534859"/>
            <a:ext cx="9144000" cy="323141"/>
          </a:xfrm>
          <a:prstGeom prst="rect">
            <a:avLst/>
          </a:prstGeom>
        </p:spPr>
        <p:txBody>
          <a:bodyPr wrap="square">
            <a:spAutoFit/>
          </a:bodyPr>
          <a:lstStyle/>
          <a:p>
            <a:pPr algn="ctr"/>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6: Emparejamiento /  10</a:t>
            </a:r>
            <a:endParaRPr lang="es-ES" sz="1500" dirty="0">
              <a:solidFill>
                <a:schemeClr val="tx1">
                  <a:lumMod val="50000"/>
                  <a:lumOff val="50000"/>
                </a:schemeClr>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285984" y="274638"/>
            <a:ext cx="6400816" cy="1143000"/>
          </a:xfrm>
        </p:spPr>
        <p:txBody>
          <a:bodyPr>
            <a:normAutofit/>
          </a:bodyPr>
          <a:lstStyle/>
          <a:p>
            <a:r>
              <a:rPr lang="es-ES" sz="4200" u="sng" dirty="0" smtClean="0"/>
              <a:t>Estimador de PSM</a:t>
            </a:r>
            <a:endParaRPr lang="es-AR" sz="4200" u="sng" dirty="0"/>
          </a:p>
        </p:txBody>
      </p:sp>
      <p:sp>
        <p:nvSpPr>
          <p:cNvPr id="3" name="2 Marcador de contenido"/>
          <p:cNvSpPr>
            <a:spLocks noGrp="1"/>
          </p:cNvSpPr>
          <p:nvPr>
            <p:ph idx="1"/>
          </p:nvPr>
        </p:nvSpPr>
        <p:spPr>
          <a:xfrm>
            <a:off x="457200" y="1500174"/>
            <a:ext cx="8229600" cy="4625989"/>
          </a:xfrm>
        </p:spPr>
        <p:txBody>
          <a:bodyPr>
            <a:normAutofit/>
          </a:bodyPr>
          <a:lstStyle/>
          <a:p>
            <a:pPr>
              <a:spcBef>
                <a:spcPts val="0"/>
              </a:spcBef>
            </a:pPr>
            <a:r>
              <a:rPr lang="es-ES" sz="2500" dirty="0" smtClean="0"/>
              <a:t>Asumiendo que se cumplen:</a:t>
            </a:r>
          </a:p>
          <a:p>
            <a:pPr>
              <a:spcBef>
                <a:spcPts val="0"/>
              </a:spcBef>
            </a:pPr>
            <a:endParaRPr lang="es-ES" sz="2500" dirty="0" smtClean="0"/>
          </a:p>
          <a:p>
            <a:pPr>
              <a:spcBef>
                <a:spcPts val="0"/>
              </a:spcBef>
            </a:pPr>
            <a:endParaRPr lang="es-ES" sz="2500" dirty="0"/>
          </a:p>
          <a:p>
            <a:pPr>
              <a:spcBef>
                <a:spcPts val="0"/>
              </a:spcBef>
              <a:buNone/>
            </a:pPr>
            <a:r>
              <a:rPr lang="es-ES" sz="2500" dirty="0"/>
              <a:t>	</a:t>
            </a:r>
            <a:r>
              <a:rPr lang="es-ES" sz="2500" dirty="0" smtClean="0"/>
              <a:t>				 </a:t>
            </a:r>
            <a:endParaRPr lang="es-ES" sz="2500" dirty="0"/>
          </a:p>
          <a:p>
            <a:pPr>
              <a:spcBef>
                <a:spcPts val="0"/>
              </a:spcBef>
              <a:buNone/>
            </a:pPr>
            <a:r>
              <a:rPr lang="es-ES" sz="2500" dirty="0" smtClean="0"/>
              <a:t>	</a:t>
            </a:r>
          </a:p>
          <a:p>
            <a:pPr>
              <a:spcBef>
                <a:spcPts val="0"/>
              </a:spcBef>
              <a:buNone/>
            </a:pPr>
            <a:r>
              <a:rPr lang="es-ES" sz="2500" dirty="0"/>
              <a:t>	</a:t>
            </a:r>
            <a:r>
              <a:rPr lang="es-ES" sz="2500" dirty="0" smtClean="0"/>
              <a:t>El </a:t>
            </a:r>
            <a:r>
              <a:rPr lang="es-ES" sz="2500" u="sng" dirty="0" smtClean="0"/>
              <a:t>estimador del efecto promedio del programa sobre los tratados de PSM</a:t>
            </a:r>
            <a:r>
              <a:rPr lang="es-ES" sz="2500" dirty="0" smtClean="0"/>
              <a:t> está dado por:</a:t>
            </a:r>
          </a:p>
          <a:p>
            <a:pPr>
              <a:buNone/>
            </a:pPr>
            <a:endParaRPr lang="es-ES" sz="2500" dirty="0"/>
          </a:p>
          <a:p>
            <a:pPr>
              <a:buNone/>
            </a:pPr>
            <a:endParaRPr lang="es-ES" sz="2500" dirty="0" smtClean="0"/>
          </a:p>
          <a:p>
            <a:pPr>
              <a:buNone/>
            </a:pPr>
            <a:r>
              <a:rPr lang="es-ES" sz="2500" dirty="0"/>
              <a:t> </a:t>
            </a:r>
            <a:endParaRPr lang="es-AR" sz="2500" dirty="0"/>
          </a:p>
        </p:txBody>
      </p:sp>
      <p:sp>
        <p:nvSpPr>
          <p:cNvPr id="24578"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AR" dirty="0"/>
          </a:p>
        </p:txBody>
      </p:sp>
      <p:sp>
        <p:nvSpPr>
          <p:cNvPr id="24579" name="Rectangle 3"/>
          <p:cNvSpPr>
            <a:spLocks noChangeArrowheads="1"/>
          </p:cNvSpPr>
          <p:nvPr/>
        </p:nvSpPr>
        <p:spPr bwMode="auto">
          <a:xfrm>
            <a:off x="0" y="8763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AR" sz="1800" b="0" i="0" u="none" strike="noStrike" cap="none" normalizeH="0" baseline="0" dirty="0" smtClean="0">
              <a:ln>
                <a:noFill/>
              </a:ln>
              <a:solidFill>
                <a:schemeClr val="tx1"/>
              </a:solidFill>
              <a:effectLst/>
              <a:latin typeface="Arial" pitchFamily="34" charset="0"/>
            </a:endParaRPr>
          </a:p>
        </p:txBody>
      </p:sp>
      <p:sp>
        <p:nvSpPr>
          <p:cNvPr id="24581"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AR" dirty="0"/>
          </a:p>
        </p:txBody>
      </p:sp>
      <p:pic>
        <p:nvPicPr>
          <p:cNvPr id="10" name="Picture 1"/>
          <p:cNvPicPr>
            <a:picLocks noChangeAspect="1" noChangeArrowheads="1"/>
          </p:cNvPicPr>
          <p:nvPr/>
        </p:nvPicPr>
        <p:blipFill>
          <a:blip r:embed="rId4" cstate="print"/>
          <a:srcRect/>
          <a:stretch>
            <a:fillRect/>
          </a:stretch>
        </p:blipFill>
        <p:spPr bwMode="auto">
          <a:xfrm>
            <a:off x="0" y="-24"/>
            <a:ext cx="2500298" cy="1189301"/>
          </a:xfrm>
          <a:prstGeom prst="rect">
            <a:avLst/>
          </a:prstGeom>
          <a:noFill/>
          <a:ln w="9525">
            <a:noFill/>
            <a:miter lim="800000"/>
            <a:headEnd/>
            <a:tailEnd/>
          </a:ln>
          <a:effectLst/>
        </p:spPr>
      </p:pic>
      <p:graphicFrame>
        <p:nvGraphicFramePr>
          <p:cNvPr id="4098" name="Object 2"/>
          <p:cNvGraphicFramePr>
            <a:graphicFrameLocks noChangeAspect="1"/>
          </p:cNvGraphicFramePr>
          <p:nvPr>
            <p:extLst>
              <p:ext uri="{D42A27DB-BD31-4B8C-83A1-F6EECF244321}">
                <p14:modId xmlns="" xmlns:p14="http://schemas.microsoft.com/office/powerpoint/2010/main" val="1971912731"/>
              </p:ext>
            </p:extLst>
          </p:nvPr>
        </p:nvGraphicFramePr>
        <p:xfrm>
          <a:off x="1357290" y="2103433"/>
          <a:ext cx="6265862" cy="682625"/>
        </p:xfrm>
        <a:graphic>
          <a:graphicData uri="http://schemas.openxmlformats.org/presentationml/2006/ole">
            <p:oleObj spid="_x0000_s4113" name="Documento" r:id="rId5" imgW="5402470" imgH="588439" progId="Word.Document.12">
              <p:embed/>
            </p:oleObj>
          </a:graphicData>
        </a:graphic>
      </p:graphicFrame>
      <p:graphicFrame>
        <p:nvGraphicFramePr>
          <p:cNvPr id="4099" name="Object 3"/>
          <p:cNvGraphicFramePr>
            <a:graphicFrameLocks noChangeAspect="1"/>
          </p:cNvGraphicFramePr>
          <p:nvPr>
            <p:extLst>
              <p:ext uri="{D42A27DB-BD31-4B8C-83A1-F6EECF244321}">
                <p14:modId xmlns="" xmlns:p14="http://schemas.microsoft.com/office/powerpoint/2010/main" val="3783068848"/>
              </p:ext>
            </p:extLst>
          </p:nvPr>
        </p:nvGraphicFramePr>
        <p:xfrm>
          <a:off x="1643042" y="2857500"/>
          <a:ext cx="5907088" cy="642938"/>
        </p:xfrm>
        <a:graphic>
          <a:graphicData uri="http://schemas.openxmlformats.org/presentationml/2006/ole">
            <p:oleObj spid="_x0000_s4114" name="Documento" r:id="rId6" imgW="5402470" imgH="588439" progId="Word.Document.12">
              <p:embed/>
            </p:oleObj>
          </a:graphicData>
        </a:graphic>
      </p:graphicFrame>
      <p:graphicFrame>
        <p:nvGraphicFramePr>
          <p:cNvPr id="4100" name="Object 4"/>
          <p:cNvGraphicFramePr>
            <a:graphicFrameLocks noChangeAspect="1"/>
          </p:cNvGraphicFramePr>
          <p:nvPr>
            <p:extLst>
              <p:ext uri="{D42A27DB-BD31-4B8C-83A1-F6EECF244321}">
                <p14:modId xmlns="" xmlns:p14="http://schemas.microsoft.com/office/powerpoint/2010/main" val="110787889"/>
              </p:ext>
            </p:extLst>
          </p:nvPr>
        </p:nvGraphicFramePr>
        <p:xfrm>
          <a:off x="714348" y="4588731"/>
          <a:ext cx="7772284" cy="1340599"/>
        </p:xfrm>
        <a:graphic>
          <a:graphicData uri="http://schemas.openxmlformats.org/presentationml/2006/ole">
            <p:oleObj spid="_x0000_s4115" name="Documento" r:id="rId7" imgW="5402470" imgH="932084" progId="Word.Document.12">
              <p:embed/>
            </p:oleObj>
          </a:graphicData>
        </a:graphic>
      </p:graphicFrame>
      <p:sp>
        <p:nvSpPr>
          <p:cNvPr id="13" name="12 Rectángulo"/>
          <p:cNvSpPr/>
          <p:nvPr/>
        </p:nvSpPr>
        <p:spPr>
          <a:xfrm>
            <a:off x="0" y="6534859"/>
            <a:ext cx="9144000" cy="323141"/>
          </a:xfrm>
          <a:prstGeom prst="rect">
            <a:avLst/>
          </a:prstGeom>
        </p:spPr>
        <p:txBody>
          <a:bodyPr wrap="square">
            <a:spAutoFit/>
          </a:bodyPr>
          <a:lstStyle/>
          <a:p>
            <a:pPr algn="ctr"/>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6: Emparejamiento /  11</a:t>
            </a:r>
            <a:endParaRPr lang="es-ES" sz="1500" dirty="0">
              <a:solidFill>
                <a:schemeClr val="tx1">
                  <a:lumMod val="50000"/>
                  <a:lumOff val="50000"/>
                </a:schemeClr>
              </a:solidFill>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57200" y="1600200"/>
            <a:ext cx="8229600" cy="4757758"/>
          </a:xfrm>
        </p:spPr>
        <p:txBody>
          <a:bodyPr>
            <a:normAutofit fontScale="77500" lnSpcReduction="20000"/>
          </a:bodyPr>
          <a:lstStyle/>
          <a:p>
            <a:pPr algn="just"/>
            <a:endParaRPr lang="es-ES" sz="2500" dirty="0" smtClean="0"/>
          </a:p>
          <a:p>
            <a:pPr algn="just">
              <a:buNone/>
            </a:pPr>
            <a:endParaRPr lang="es-ES" sz="2700" dirty="0" smtClean="0"/>
          </a:p>
          <a:p>
            <a:pPr algn="just">
              <a:buNone/>
            </a:pPr>
            <a:r>
              <a:rPr lang="es-ES" sz="2700" dirty="0" smtClean="0"/>
              <a:t>	</a:t>
            </a:r>
            <a:r>
              <a:rPr lang="es-ES" dirty="0" smtClean="0"/>
              <a:t>En términos de datos para que el PSM funcione:</a:t>
            </a:r>
          </a:p>
          <a:p>
            <a:pPr algn="just"/>
            <a:endParaRPr lang="es-ES" dirty="0" smtClean="0"/>
          </a:p>
          <a:p>
            <a:pPr marL="514350" indent="-514350">
              <a:buFont typeface="+mj-lt"/>
              <a:buAutoNum type="arabicPeriod"/>
            </a:pPr>
            <a:r>
              <a:rPr lang="es-ES" dirty="0" smtClean="0"/>
              <a:t>Debe contener </a:t>
            </a:r>
            <a:r>
              <a:rPr lang="es-ES" dirty="0"/>
              <a:t>l</a:t>
            </a:r>
            <a:r>
              <a:rPr lang="es-ES" dirty="0" smtClean="0"/>
              <a:t>a información de las variables independientes relevantes.</a:t>
            </a:r>
          </a:p>
          <a:p>
            <a:pPr marL="514350" indent="-514350" algn="just">
              <a:buFont typeface="+mj-lt"/>
              <a:buAutoNum type="arabicPeriod"/>
            </a:pPr>
            <a:endParaRPr lang="es-ES" dirty="0" smtClean="0"/>
          </a:p>
          <a:p>
            <a:pPr marL="514350" indent="-514350">
              <a:buFont typeface="+mj-lt"/>
              <a:buAutoNum type="arabicPeriod"/>
            </a:pPr>
            <a:r>
              <a:rPr lang="es-ES" dirty="0" smtClean="0"/>
              <a:t>La evidencia preliminar debe indicar que no hay muchas diferencias entre los dos grupos en términos de las variables observables; de lo contrario, habría evidencia de que también pueden ser diferentes en variables no observables.</a:t>
            </a:r>
          </a:p>
          <a:p>
            <a:pPr>
              <a:buNone/>
            </a:pPr>
            <a:endParaRPr lang="es-ES" sz="2500" dirty="0"/>
          </a:p>
          <a:p>
            <a:pPr algn="just">
              <a:buNone/>
            </a:pPr>
            <a:r>
              <a:rPr lang="es-ES" sz="2500" dirty="0" smtClean="0"/>
              <a:t>	</a:t>
            </a:r>
            <a:endParaRPr lang="es-AR" sz="2500" dirty="0"/>
          </a:p>
        </p:txBody>
      </p:sp>
      <p:sp>
        <p:nvSpPr>
          <p:cNvPr id="4" name="1 Título"/>
          <p:cNvSpPr>
            <a:spLocks noGrp="1"/>
          </p:cNvSpPr>
          <p:nvPr>
            <p:ph type="title"/>
          </p:nvPr>
        </p:nvSpPr>
        <p:spPr>
          <a:xfrm>
            <a:off x="2928926" y="274638"/>
            <a:ext cx="5757874" cy="1143000"/>
          </a:xfrm>
        </p:spPr>
        <p:txBody>
          <a:bodyPr>
            <a:noAutofit/>
          </a:bodyPr>
          <a:lstStyle/>
          <a:p>
            <a:r>
              <a:rPr lang="es-ES" sz="4200" u="sng" dirty="0" smtClean="0"/>
              <a:t>Condiciones sobre los datos</a:t>
            </a:r>
            <a:endParaRPr lang="es-AR" sz="4200" u="sng" dirty="0"/>
          </a:p>
        </p:txBody>
      </p:sp>
      <p:pic>
        <p:nvPicPr>
          <p:cNvPr id="5" name="Picture 1"/>
          <p:cNvPicPr>
            <a:picLocks noChangeAspect="1" noChangeArrowheads="1"/>
          </p:cNvPicPr>
          <p:nvPr/>
        </p:nvPicPr>
        <p:blipFill>
          <a:blip r:embed="rId3" cstate="print"/>
          <a:srcRect/>
          <a:stretch>
            <a:fillRect/>
          </a:stretch>
        </p:blipFill>
        <p:spPr bwMode="auto">
          <a:xfrm>
            <a:off x="0" y="-24"/>
            <a:ext cx="2500298" cy="1189301"/>
          </a:xfrm>
          <a:prstGeom prst="rect">
            <a:avLst/>
          </a:prstGeom>
          <a:noFill/>
          <a:ln w="9525">
            <a:noFill/>
            <a:miter lim="800000"/>
            <a:headEnd/>
            <a:tailEnd/>
          </a:ln>
          <a:effectLst/>
        </p:spPr>
      </p:pic>
      <p:sp>
        <p:nvSpPr>
          <p:cNvPr id="7" name="6 Rectángulo"/>
          <p:cNvSpPr/>
          <p:nvPr/>
        </p:nvSpPr>
        <p:spPr>
          <a:xfrm>
            <a:off x="0" y="6534859"/>
            <a:ext cx="9144000" cy="323141"/>
          </a:xfrm>
          <a:prstGeom prst="rect">
            <a:avLst/>
          </a:prstGeom>
        </p:spPr>
        <p:txBody>
          <a:bodyPr wrap="square">
            <a:spAutoFit/>
          </a:bodyPr>
          <a:lstStyle/>
          <a:p>
            <a:pPr algn="ctr"/>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6: Emparejamiento /  12</a:t>
            </a:r>
            <a:endParaRPr lang="es-ES" sz="1500" dirty="0">
              <a:solidFill>
                <a:schemeClr val="tx1">
                  <a:lumMod val="50000"/>
                  <a:lumOff val="50000"/>
                </a:schemeClr>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571736" y="274638"/>
            <a:ext cx="6115064" cy="939784"/>
          </a:xfrm>
        </p:spPr>
        <p:txBody>
          <a:bodyPr>
            <a:normAutofit/>
          </a:bodyPr>
          <a:lstStyle/>
          <a:p>
            <a:r>
              <a:rPr lang="es-ES" sz="4200" u="sng" dirty="0" smtClean="0"/>
              <a:t>Algoritmo de PSM</a:t>
            </a:r>
            <a:endParaRPr lang="es-AR" sz="4200" u="sng" dirty="0"/>
          </a:p>
        </p:txBody>
      </p:sp>
      <p:sp>
        <p:nvSpPr>
          <p:cNvPr id="3" name="2 Marcador de contenido"/>
          <p:cNvSpPr>
            <a:spLocks noGrp="1"/>
          </p:cNvSpPr>
          <p:nvPr>
            <p:ph idx="1"/>
          </p:nvPr>
        </p:nvSpPr>
        <p:spPr>
          <a:xfrm>
            <a:off x="500034" y="1500174"/>
            <a:ext cx="8258204" cy="4572032"/>
          </a:xfrm>
        </p:spPr>
        <p:txBody>
          <a:bodyPr>
            <a:normAutofit fontScale="92500"/>
          </a:bodyPr>
          <a:lstStyle/>
          <a:p>
            <a:pPr marL="457200" indent="-457200" algn="just">
              <a:buAutoNum type="arabicPeriod"/>
            </a:pPr>
            <a:r>
              <a:rPr lang="es-ES" sz="2500" dirty="0" smtClean="0"/>
              <a:t>Estimar la probabilidad de participar en el programa, utilizando tanto el grupo de tratamiento como el de control.</a:t>
            </a:r>
          </a:p>
          <a:p>
            <a:pPr marL="457200" indent="-457200" algn="just">
              <a:buAutoNum type="arabicPeriod"/>
            </a:pPr>
            <a:r>
              <a:rPr lang="es-ES_tradnl" sz="2500" dirty="0" smtClean="0"/>
              <a:t>Estimar la probabilidad de participación predicha para cada individuo.</a:t>
            </a:r>
          </a:p>
          <a:p>
            <a:pPr marL="457200" indent="-457200" algn="just">
              <a:buAutoNum type="arabicPeriod"/>
            </a:pPr>
            <a:r>
              <a:rPr lang="es-ES" sz="2500" dirty="0" smtClean="0"/>
              <a:t>Restringir la muestra al soporte común.</a:t>
            </a:r>
          </a:p>
          <a:p>
            <a:pPr marL="457200" indent="-457200" algn="just">
              <a:buFont typeface="Arial" pitchFamily="34" charset="0"/>
              <a:buAutoNum type="arabicPeriod"/>
            </a:pPr>
            <a:r>
              <a:rPr lang="es-ES_tradnl" sz="2500" dirty="0" smtClean="0"/>
              <a:t>Seleccionar el algoritmo de emparejamiento.</a:t>
            </a:r>
          </a:p>
          <a:p>
            <a:pPr marL="457200" indent="-457200" algn="just">
              <a:buFont typeface="Arial" pitchFamily="34" charset="0"/>
              <a:buAutoNum type="arabicPeriod"/>
            </a:pPr>
            <a:r>
              <a:rPr lang="es-ES" sz="2500" dirty="0" smtClean="0"/>
              <a:t>Observar que las variables observables entre el grupo de control y de tratamiento estén balanceadas en términos de probabilidades.</a:t>
            </a:r>
          </a:p>
          <a:p>
            <a:pPr marL="457200" indent="-457200" algn="just">
              <a:buFont typeface="Arial" pitchFamily="34" charset="0"/>
              <a:buAutoNum type="arabicPeriod"/>
            </a:pPr>
            <a:r>
              <a:rPr lang="es-ES_tradnl" sz="2500" dirty="0" smtClean="0"/>
              <a:t>Calcular el impacto del programa.</a:t>
            </a:r>
          </a:p>
          <a:p>
            <a:pPr marL="457200" indent="-457200" algn="just">
              <a:buFont typeface="Arial" pitchFamily="34" charset="0"/>
              <a:buAutoNum type="arabicPeriod"/>
            </a:pPr>
            <a:r>
              <a:rPr lang="es-ES_tradnl" sz="2500" dirty="0" smtClean="0"/>
              <a:t>Calcular los errores estándar y los intervalos de confianza.</a:t>
            </a:r>
            <a:endParaRPr lang="es-ES" sz="2500" dirty="0" smtClean="0"/>
          </a:p>
          <a:p>
            <a:pPr marL="457200" indent="-457200" algn="just">
              <a:buFont typeface="Arial" pitchFamily="34" charset="0"/>
              <a:buAutoNum type="arabicPeriod"/>
            </a:pPr>
            <a:endParaRPr lang="es-ES" sz="2500" dirty="0" smtClean="0"/>
          </a:p>
          <a:p>
            <a:pPr marL="457200" indent="-457200" algn="just">
              <a:buAutoNum type="arabicPeriod"/>
            </a:pPr>
            <a:endParaRPr lang="es-ES" sz="2500" dirty="0" smtClean="0"/>
          </a:p>
          <a:p>
            <a:pPr marL="457200" indent="-457200" algn="just">
              <a:buAutoNum type="arabicPeriod"/>
            </a:pPr>
            <a:endParaRPr lang="es-ES" sz="2500" dirty="0"/>
          </a:p>
          <a:p>
            <a:pPr marL="457200" indent="-457200" algn="just">
              <a:buAutoNum type="arabicPeriod"/>
            </a:pPr>
            <a:endParaRPr lang="es-ES" sz="2500" dirty="0" smtClean="0"/>
          </a:p>
          <a:p>
            <a:pPr marL="457200" indent="-457200" algn="just">
              <a:buAutoNum type="arabicPeriod"/>
            </a:pPr>
            <a:endParaRPr lang="es-ES" sz="2500" dirty="0" smtClean="0"/>
          </a:p>
          <a:p>
            <a:pPr marL="457200" indent="-457200">
              <a:buAutoNum type="arabicPeriod"/>
            </a:pPr>
            <a:endParaRPr lang="es-AR" sz="2500" dirty="0"/>
          </a:p>
        </p:txBody>
      </p:sp>
      <p:pic>
        <p:nvPicPr>
          <p:cNvPr id="4" name="Picture 1"/>
          <p:cNvPicPr>
            <a:picLocks noChangeAspect="1" noChangeArrowheads="1"/>
          </p:cNvPicPr>
          <p:nvPr/>
        </p:nvPicPr>
        <p:blipFill>
          <a:blip r:embed="rId2" cstate="print"/>
          <a:srcRect/>
          <a:stretch>
            <a:fillRect/>
          </a:stretch>
        </p:blipFill>
        <p:spPr bwMode="auto">
          <a:xfrm>
            <a:off x="0" y="-24"/>
            <a:ext cx="2500298" cy="1189301"/>
          </a:xfrm>
          <a:prstGeom prst="rect">
            <a:avLst/>
          </a:prstGeom>
          <a:noFill/>
          <a:ln w="9525">
            <a:noFill/>
            <a:miter lim="800000"/>
            <a:headEnd/>
            <a:tailEnd/>
          </a:ln>
          <a:effectLst/>
        </p:spPr>
      </p:pic>
      <p:sp>
        <p:nvSpPr>
          <p:cNvPr id="6" name="5 Rectángulo"/>
          <p:cNvSpPr/>
          <p:nvPr/>
        </p:nvSpPr>
        <p:spPr>
          <a:xfrm>
            <a:off x="0" y="6534859"/>
            <a:ext cx="9144000" cy="323141"/>
          </a:xfrm>
          <a:prstGeom prst="rect">
            <a:avLst/>
          </a:prstGeom>
        </p:spPr>
        <p:txBody>
          <a:bodyPr wrap="square">
            <a:spAutoFit/>
          </a:bodyPr>
          <a:lstStyle/>
          <a:p>
            <a:pPr algn="ctr"/>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6: Emparejamiento /  13</a:t>
            </a:r>
            <a:endParaRPr lang="es-ES" sz="1500" dirty="0">
              <a:solidFill>
                <a:schemeClr val="tx1">
                  <a:lumMod val="50000"/>
                  <a:lumOff val="50000"/>
                </a:schemeClr>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571736" y="274638"/>
            <a:ext cx="6115064" cy="939784"/>
          </a:xfrm>
        </p:spPr>
        <p:txBody>
          <a:bodyPr>
            <a:normAutofit/>
          </a:bodyPr>
          <a:lstStyle/>
          <a:p>
            <a:r>
              <a:rPr lang="es-ES" sz="4200" u="sng" dirty="0" smtClean="0"/>
              <a:t>Algoritmo de PSM</a:t>
            </a:r>
            <a:endParaRPr lang="es-AR" sz="4200" u="sng" dirty="0"/>
          </a:p>
        </p:txBody>
      </p:sp>
      <p:sp>
        <p:nvSpPr>
          <p:cNvPr id="3" name="2 Marcador de contenido"/>
          <p:cNvSpPr>
            <a:spLocks noGrp="1"/>
          </p:cNvSpPr>
          <p:nvPr>
            <p:ph idx="1"/>
          </p:nvPr>
        </p:nvSpPr>
        <p:spPr>
          <a:xfrm>
            <a:off x="500034" y="1500174"/>
            <a:ext cx="8258204" cy="4572032"/>
          </a:xfrm>
        </p:spPr>
        <p:txBody>
          <a:bodyPr>
            <a:normAutofit fontScale="92500"/>
          </a:bodyPr>
          <a:lstStyle/>
          <a:p>
            <a:pPr marL="457200" indent="-457200" algn="just">
              <a:buAutoNum type="arabicPeriod"/>
            </a:pPr>
            <a:r>
              <a:rPr lang="es-ES" sz="2500" dirty="0" smtClean="0">
                <a:solidFill>
                  <a:schemeClr val="accent1">
                    <a:lumMod val="75000"/>
                  </a:schemeClr>
                </a:solidFill>
              </a:rPr>
              <a:t>Estimar la probabilidad de participar en el programa, utilizando tanto el grupo de tratamiento como el de control.</a:t>
            </a:r>
          </a:p>
          <a:p>
            <a:pPr marL="457200" indent="-457200" algn="just">
              <a:buAutoNum type="arabicPeriod"/>
            </a:pPr>
            <a:r>
              <a:rPr lang="es-ES_tradnl" sz="2500" dirty="0" smtClean="0">
                <a:solidFill>
                  <a:schemeClr val="accent1">
                    <a:lumMod val="75000"/>
                  </a:schemeClr>
                </a:solidFill>
              </a:rPr>
              <a:t>Estimar la probabilidad de participación predicha para cada individuo.</a:t>
            </a:r>
          </a:p>
          <a:p>
            <a:pPr marL="457200" indent="-457200" algn="just">
              <a:buAutoNum type="arabicPeriod"/>
            </a:pPr>
            <a:r>
              <a:rPr lang="es-ES" sz="2500" dirty="0" smtClean="0"/>
              <a:t>Restringir la muestra al soporte común.</a:t>
            </a:r>
          </a:p>
          <a:p>
            <a:pPr marL="457200" indent="-457200" algn="just">
              <a:buFont typeface="Arial" pitchFamily="34" charset="0"/>
              <a:buAutoNum type="arabicPeriod"/>
            </a:pPr>
            <a:r>
              <a:rPr lang="es-ES_tradnl" sz="2500" dirty="0" smtClean="0"/>
              <a:t>Seleccionar el algoritmo de emparejamiento.</a:t>
            </a:r>
          </a:p>
          <a:p>
            <a:pPr marL="457200" indent="-457200" algn="just">
              <a:buFont typeface="Arial" pitchFamily="34" charset="0"/>
              <a:buAutoNum type="arabicPeriod"/>
            </a:pPr>
            <a:r>
              <a:rPr lang="es-ES" sz="2500" dirty="0" smtClean="0"/>
              <a:t>Observar que las variables observables entre el grupo de control y de tratamiento estén balanceadas en términos de probabilidades. </a:t>
            </a:r>
          </a:p>
          <a:p>
            <a:pPr marL="457200" indent="-457200" algn="just">
              <a:buFont typeface="Arial" pitchFamily="34" charset="0"/>
              <a:buAutoNum type="arabicPeriod"/>
            </a:pPr>
            <a:r>
              <a:rPr lang="es-ES_tradnl" sz="2500" dirty="0" smtClean="0"/>
              <a:t>Calcular el impacto del programa.</a:t>
            </a:r>
          </a:p>
          <a:p>
            <a:pPr marL="457200" indent="-457200" algn="just">
              <a:buFont typeface="Arial" pitchFamily="34" charset="0"/>
              <a:buAutoNum type="arabicPeriod"/>
            </a:pPr>
            <a:r>
              <a:rPr lang="es-ES_tradnl" sz="2500" dirty="0" smtClean="0"/>
              <a:t>Calcular los errores estándar y los intervalos de confianza.</a:t>
            </a:r>
            <a:endParaRPr lang="es-ES" sz="2500" dirty="0" smtClean="0"/>
          </a:p>
          <a:p>
            <a:pPr marL="457200" indent="-457200" algn="just">
              <a:buFont typeface="Arial" pitchFamily="34" charset="0"/>
              <a:buAutoNum type="arabicPeriod"/>
            </a:pPr>
            <a:endParaRPr lang="es-ES" sz="2500" dirty="0" smtClean="0"/>
          </a:p>
          <a:p>
            <a:pPr marL="457200" indent="-457200" algn="just">
              <a:buAutoNum type="arabicPeriod"/>
            </a:pPr>
            <a:endParaRPr lang="es-ES" sz="2500" dirty="0" smtClean="0"/>
          </a:p>
          <a:p>
            <a:pPr marL="457200" indent="-457200" algn="just">
              <a:buAutoNum type="arabicPeriod"/>
            </a:pPr>
            <a:endParaRPr lang="es-ES" sz="2500" dirty="0"/>
          </a:p>
          <a:p>
            <a:pPr marL="457200" indent="-457200" algn="just">
              <a:buAutoNum type="arabicPeriod"/>
            </a:pPr>
            <a:endParaRPr lang="es-ES" sz="2500" dirty="0" smtClean="0"/>
          </a:p>
          <a:p>
            <a:pPr marL="457200" indent="-457200" algn="just">
              <a:buAutoNum type="arabicPeriod"/>
            </a:pPr>
            <a:endParaRPr lang="es-ES" sz="2500" dirty="0" smtClean="0"/>
          </a:p>
          <a:p>
            <a:pPr marL="457200" indent="-457200">
              <a:buAutoNum type="arabicPeriod"/>
            </a:pPr>
            <a:endParaRPr lang="es-AR" sz="2500" dirty="0"/>
          </a:p>
        </p:txBody>
      </p:sp>
      <p:pic>
        <p:nvPicPr>
          <p:cNvPr id="4" name="Picture 1"/>
          <p:cNvPicPr>
            <a:picLocks noChangeAspect="1" noChangeArrowheads="1"/>
          </p:cNvPicPr>
          <p:nvPr/>
        </p:nvPicPr>
        <p:blipFill>
          <a:blip r:embed="rId2" cstate="print"/>
          <a:srcRect/>
          <a:stretch>
            <a:fillRect/>
          </a:stretch>
        </p:blipFill>
        <p:spPr bwMode="auto">
          <a:xfrm>
            <a:off x="0" y="-24"/>
            <a:ext cx="2500298" cy="1189301"/>
          </a:xfrm>
          <a:prstGeom prst="rect">
            <a:avLst/>
          </a:prstGeom>
          <a:noFill/>
          <a:ln w="9525">
            <a:noFill/>
            <a:miter lim="800000"/>
            <a:headEnd/>
            <a:tailEnd/>
          </a:ln>
          <a:effectLst/>
        </p:spPr>
      </p:pic>
      <p:sp>
        <p:nvSpPr>
          <p:cNvPr id="6" name="5 Rectángulo"/>
          <p:cNvSpPr/>
          <p:nvPr/>
        </p:nvSpPr>
        <p:spPr>
          <a:xfrm>
            <a:off x="0" y="6534859"/>
            <a:ext cx="9144000" cy="323141"/>
          </a:xfrm>
          <a:prstGeom prst="rect">
            <a:avLst/>
          </a:prstGeom>
        </p:spPr>
        <p:txBody>
          <a:bodyPr wrap="square">
            <a:spAutoFit/>
          </a:bodyPr>
          <a:lstStyle/>
          <a:p>
            <a:pPr algn="ctr"/>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6: Emparejamiento /  14</a:t>
            </a:r>
            <a:endParaRPr lang="es-ES" sz="1500" dirty="0">
              <a:solidFill>
                <a:schemeClr val="tx1">
                  <a:lumMod val="50000"/>
                  <a:lumOff val="50000"/>
                </a:schemeClr>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428860" y="71414"/>
            <a:ext cx="6572296" cy="1439850"/>
          </a:xfrm>
        </p:spPr>
        <p:txBody>
          <a:bodyPr>
            <a:noAutofit/>
          </a:bodyPr>
          <a:lstStyle/>
          <a:p>
            <a:r>
              <a:rPr lang="es-ES" sz="4200" u="sng" dirty="0" smtClean="0"/>
              <a:t>Estimación de  la probabilidad de participación</a:t>
            </a:r>
            <a:endParaRPr lang="es-AR" sz="4200" u="sng" dirty="0"/>
          </a:p>
        </p:txBody>
      </p:sp>
      <p:sp>
        <p:nvSpPr>
          <p:cNvPr id="3" name="2 Marcador de contenido"/>
          <p:cNvSpPr>
            <a:spLocks noGrp="1"/>
          </p:cNvSpPr>
          <p:nvPr>
            <p:ph idx="1"/>
          </p:nvPr>
        </p:nvSpPr>
        <p:spPr>
          <a:xfrm>
            <a:off x="385762" y="1500174"/>
            <a:ext cx="8329642" cy="4929222"/>
          </a:xfrm>
        </p:spPr>
        <p:txBody>
          <a:bodyPr>
            <a:normAutofit/>
          </a:bodyPr>
          <a:lstStyle/>
          <a:p>
            <a:pPr>
              <a:buNone/>
            </a:pPr>
            <a:r>
              <a:rPr lang="es-ES" sz="2500" dirty="0"/>
              <a:t>	</a:t>
            </a:r>
            <a:r>
              <a:rPr lang="es-ES" sz="2500" dirty="0" smtClean="0"/>
              <a:t>Dos decisiones fundamentales: </a:t>
            </a:r>
          </a:p>
          <a:p>
            <a:pPr>
              <a:buNone/>
            </a:pPr>
            <a:r>
              <a:rPr lang="es-CO" sz="2500" dirty="0" smtClean="0"/>
              <a:t>	</a:t>
            </a:r>
            <a:endParaRPr lang="es-CO" sz="2500" u="sng" dirty="0" smtClean="0"/>
          </a:p>
          <a:p>
            <a:pPr>
              <a:buNone/>
            </a:pPr>
            <a:r>
              <a:rPr lang="es-CO" sz="2500" dirty="0" smtClean="0"/>
              <a:t>	</a:t>
            </a:r>
            <a:r>
              <a:rPr lang="es-CO" sz="2500" u="sng" dirty="0" smtClean="0"/>
              <a:t>1. ¿Qué modelo usar?</a:t>
            </a:r>
          </a:p>
          <a:p>
            <a:pPr>
              <a:buNone/>
            </a:pPr>
            <a:r>
              <a:rPr lang="es-CO" sz="2500" dirty="0" smtClean="0"/>
              <a:t>	</a:t>
            </a:r>
          </a:p>
          <a:p>
            <a:pPr>
              <a:buNone/>
            </a:pPr>
            <a:endParaRPr lang="es-ES" sz="2500" dirty="0" smtClean="0"/>
          </a:p>
          <a:p>
            <a:pPr algn="just">
              <a:buNone/>
            </a:pPr>
            <a:r>
              <a:rPr lang="es-ES" sz="2500" dirty="0" smtClean="0"/>
              <a:t>	</a:t>
            </a:r>
          </a:p>
          <a:p>
            <a:pPr algn="just">
              <a:buNone/>
            </a:pPr>
            <a:endParaRPr lang="es-ES" sz="2500" dirty="0" smtClean="0"/>
          </a:p>
          <a:p>
            <a:pPr algn="just">
              <a:buNone/>
            </a:pPr>
            <a:endParaRPr lang="es-ES" sz="2500" dirty="0" smtClean="0"/>
          </a:p>
        </p:txBody>
      </p:sp>
      <p:sp>
        <p:nvSpPr>
          <p:cNvPr id="2765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AR"/>
          </a:p>
        </p:txBody>
      </p:sp>
      <p:sp>
        <p:nvSpPr>
          <p:cNvPr id="8" name="7 CuadroTexto"/>
          <p:cNvSpPr txBox="1"/>
          <p:nvPr/>
        </p:nvSpPr>
        <p:spPr>
          <a:xfrm>
            <a:off x="857224" y="2841824"/>
            <a:ext cx="4071966" cy="2015936"/>
          </a:xfrm>
          <a:prstGeom prst="rect">
            <a:avLst/>
          </a:prstGeom>
          <a:noFill/>
        </p:spPr>
        <p:txBody>
          <a:bodyPr wrap="square" rtlCol="0">
            <a:spAutoFit/>
          </a:bodyPr>
          <a:lstStyle/>
          <a:p>
            <a:r>
              <a:rPr lang="es-ES_tradnl" sz="2500" dirty="0" smtClean="0"/>
              <a:t>Se puede estimar a través de:</a:t>
            </a:r>
          </a:p>
          <a:p>
            <a:pPr>
              <a:buNone/>
            </a:pPr>
            <a:endParaRPr lang="es-ES" sz="2500" dirty="0" smtClean="0"/>
          </a:p>
          <a:p>
            <a:pPr>
              <a:buNone/>
            </a:pPr>
            <a:r>
              <a:rPr lang="es-ES" sz="2500" dirty="0" smtClean="0"/>
              <a:t>- Probabilidad lineal.</a:t>
            </a:r>
          </a:p>
          <a:p>
            <a:pPr>
              <a:buFontTx/>
              <a:buChar char="-"/>
            </a:pPr>
            <a:r>
              <a:rPr lang="es-ES" sz="2500" dirty="0" smtClean="0"/>
              <a:t> Probit.</a:t>
            </a:r>
          </a:p>
          <a:p>
            <a:pPr>
              <a:buFontTx/>
              <a:buChar char="-"/>
            </a:pPr>
            <a:r>
              <a:rPr lang="es-ES" sz="2500" dirty="0" smtClean="0"/>
              <a:t> Logit.</a:t>
            </a:r>
            <a:endParaRPr lang="es-ES" dirty="0"/>
          </a:p>
        </p:txBody>
      </p:sp>
      <p:sp>
        <p:nvSpPr>
          <p:cNvPr id="9" name="8 CuadroTexto"/>
          <p:cNvSpPr txBox="1"/>
          <p:nvPr/>
        </p:nvSpPr>
        <p:spPr>
          <a:xfrm>
            <a:off x="4969600" y="3571876"/>
            <a:ext cx="2888548" cy="861774"/>
          </a:xfrm>
          <a:prstGeom prst="rect">
            <a:avLst/>
          </a:prstGeom>
          <a:noFill/>
        </p:spPr>
        <p:txBody>
          <a:bodyPr wrap="none" rtlCol="0">
            <a:spAutoFit/>
          </a:bodyPr>
          <a:lstStyle/>
          <a:p>
            <a:r>
              <a:rPr lang="es-ES" sz="2500" dirty="0" smtClean="0"/>
              <a:t>- </a:t>
            </a:r>
            <a:r>
              <a:rPr lang="es-ES" sz="2500" dirty="0" err="1" smtClean="0"/>
              <a:t>Probit</a:t>
            </a:r>
            <a:r>
              <a:rPr lang="es-ES" sz="2500" dirty="0" smtClean="0"/>
              <a:t> </a:t>
            </a:r>
            <a:r>
              <a:rPr lang="es-ES" sz="2500" dirty="0" err="1" smtClean="0"/>
              <a:t>multinomial</a:t>
            </a:r>
            <a:r>
              <a:rPr lang="es-ES" sz="2500" dirty="0" smtClean="0"/>
              <a:t>.</a:t>
            </a:r>
          </a:p>
          <a:p>
            <a:pPr>
              <a:buNone/>
            </a:pPr>
            <a:r>
              <a:rPr lang="es-ES" sz="2500" dirty="0" smtClean="0"/>
              <a:t>- </a:t>
            </a:r>
            <a:r>
              <a:rPr lang="es-ES" sz="2500" dirty="0" err="1" smtClean="0"/>
              <a:t>Logit</a:t>
            </a:r>
            <a:r>
              <a:rPr lang="es-ES" sz="2500" dirty="0" smtClean="0"/>
              <a:t> </a:t>
            </a:r>
            <a:r>
              <a:rPr lang="es-ES" sz="2500" dirty="0" err="1" smtClean="0"/>
              <a:t>multinomial</a:t>
            </a:r>
            <a:r>
              <a:rPr lang="es-ES" sz="2500" dirty="0" smtClean="0"/>
              <a:t>.</a:t>
            </a:r>
            <a:r>
              <a:rPr lang="es-ES_tradnl" sz="2500" dirty="0" smtClean="0"/>
              <a:t> </a:t>
            </a:r>
            <a:endParaRPr lang="es-ES" dirty="0"/>
          </a:p>
        </p:txBody>
      </p:sp>
      <p:pic>
        <p:nvPicPr>
          <p:cNvPr id="10" name="Picture 1"/>
          <p:cNvPicPr>
            <a:picLocks noChangeAspect="1" noChangeArrowheads="1"/>
          </p:cNvPicPr>
          <p:nvPr/>
        </p:nvPicPr>
        <p:blipFill>
          <a:blip r:embed="rId3" cstate="print"/>
          <a:srcRect/>
          <a:stretch>
            <a:fillRect/>
          </a:stretch>
        </p:blipFill>
        <p:spPr bwMode="auto">
          <a:xfrm>
            <a:off x="0" y="-24"/>
            <a:ext cx="2500298" cy="1189301"/>
          </a:xfrm>
          <a:prstGeom prst="rect">
            <a:avLst/>
          </a:prstGeom>
          <a:noFill/>
          <a:ln w="9525">
            <a:noFill/>
            <a:miter lim="800000"/>
            <a:headEnd/>
            <a:tailEnd/>
          </a:ln>
          <a:effectLst/>
        </p:spPr>
      </p:pic>
      <p:sp>
        <p:nvSpPr>
          <p:cNvPr id="13" name="12 CuadroTexto"/>
          <p:cNvSpPr txBox="1"/>
          <p:nvPr/>
        </p:nvSpPr>
        <p:spPr>
          <a:xfrm>
            <a:off x="857224" y="5067556"/>
            <a:ext cx="7858180" cy="861774"/>
          </a:xfrm>
          <a:prstGeom prst="rect">
            <a:avLst/>
          </a:prstGeom>
          <a:noFill/>
        </p:spPr>
        <p:txBody>
          <a:bodyPr wrap="square" rtlCol="0">
            <a:spAutoFit/>
          </a:bodyPr>
          <a:lstStyle/>
          <a:p>
            <a:r>
              <a:rPr lang="es-CO" sz="2500" dirty="0" smtClean="0"/>
              <a:t>La decisión de ajuste del modelo es crítica cuando existen varias categorías del tratamiento.</a:t>
            </a:r>
            <a:endParaRPr lang="es-ES" sz="2500" dirty="0"/>
          </a:p>
        </p:txBody>
      </p:sp>
      <p:sp>
        <p:nvSpPr>
          <p:cNvPr id="12" name="11 Rectángulo"/>
          <p:cNvSpPr/>
          <p:nvPr/>
        </p:nvSpPr>
        <p:spPr>
          <a:xfrm>
            <a:off x="0" y="6534859"/>
            <a:ext cx="9144000" cy="323141"/>
          </a:xfrm>
          <a:prstGeom prst="rect">
            <a:avLst/>
          </a:prstGeom>
        </p:spPr>
        <p:txBody>
          <a:bodyPr wrap="square">
            <a:spAutoFit/>
          </a:bodyPr>
          <a:lstStyle/>
          <a:p>
            <a:pPr algn="ctr"/>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6: Emparejamiento /  15</a:t>
            </a:r>
            <a:endParaRPr lang="es-ES" sz="1500" dirty="0">
              <a:solidFill>
                <a:schemeClr val="tx1">
                  <a:lumMod val="50000"/>
                  <a:lumOff val="50000"/>
                </a:schemeClr>
              </a:solidFill>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57200" y="1785926"/>
            <a:ext cx="8229600" cy="4340237"/>
          </a:xfrm>
        </p:spPr>
        <p:txBody>
          <a:bodyPr/>
          <a:lstStyle/>
          <a:p>
            <a:pPr algn="just">
              <a:buNone/>
            </a:pPr>
            <a:r>
              <a:rPr lang="es-CO" sz="2500" u="sng" dirty="0" smtClean="0"/>
              <a:t>2. ¿Qué variables incluir?</a:t>
            </a:r>
            <a:endParaRPr lang="es-ES" sz="2500" u="sng" dirty="0" smtClean="0"/>
          </a:p>
          <a:p>
            <a:pPr algn="just">
              <a:buNone/>
            </a:pPr>
            <a:endParaRPr lang="es-ES" sz="2500" dirty="0" smtClean="0"/>
          </a:p>
          <a:p>
            <a:pPr>
              <a:buNone/>
            </a:pPr>
            <a:r>
              <a:rPr lang="es-ES" sz="2500" dirty="0" smtClean="0"/>
              <a:t>	La estimación de </a:t>
            </a:r>
            <a:r>
              <a:rPr lang="es-ES" sz="2500" i="1" dirty="0" smtClean="0"/>
              <a:t>P(X)</a:t>
            </a:r>
            <a:r>
              <a:rPr lang="es-ES" sz="2500" dirty="0" smtClean="0"/>
              <a:t> sólo debe incluir variables que afectan la decisión de participación y la variable de resultado.</a:t>
            </a:r>
          </a:p>
          <a:p>
            <a:pPr>
              <a:buNone/>
            </a:pPr>
            <a:endParaRPr lang="es-ES" dirty="0"/>
          </a:p>
        </p:txBody>
      </p:sp>
      <p:pic>
        <p:nvPicPr>
          <p:cNvPr id="4" name="Picture 1"/>
          <p:cNvPicPr>
            <a:picLocks noChangeAspect="1" noChangeArrowheads="1"/>
          </p:cNvPicPr>
          <p:nvPr/>
        </p:nvPicPr>
        <p:blipFill>
          <a:blip r:embed="rId3" cstate="print"/>
          <a:srcRect/>
          <a:stretch>
            <a:fillRect/>
          </a:stretch>
        </p:blipFill>
        <p:spPr bwMode="auto">
          <a:xfrm>
            <a:off x="0" y="-24"/>
            <a:ext cx="2500298" cy="1189301"/>
          </a:xfrm>
          <a:prstGeom prst="rect">
            <a:avLst/>
          </a:prstGeom>
          <a:noFill/>
          <a:ln w="9525">
            <a:noFill/>
            <a:miter lim="800000"/>
            <a:headEnd/>
            <a:tailEnd/>
          </a:ln>
          <a:effectLst/>
        </p:spPr>
      </p:pic>
      <p:sp>
        <p:nvSpPr>
          <p:cNvPr id="5" name="1 Título"/>
          <p:cNvSpPr>
            <a:spLocks noGrp="1"/>
          </p:cNvSpPr>
          <p:nvPr>
            <p:ph type="title"/>
          </p:nvPr>
        </p:nvSpPr>
        <p:spPr>
          <a:xfrm>
            <a:off x="2428860" y="71414"/>
            <a:ext cx="6572296" cy="1439850"/>
          </a:xfrm>
        </p:spPr>
        <p:txBody>
          <a:bodyPr>
            <a:noAutofit/>
          </a:bodyPr>
          <a:lstStyle/>
          <a:p>
            <a:r>
              <a:rPr lang="es-ES" sz="4200" u="sng" dirty="0" smtClean="0"/>
              <a:t>Estimación de  la probabilidad de participación</a:t>
            </a:r>
            <a:endParaRPr lang="es-AR" sz="4200" u="sng" dirty="0"/>
          </a:p>
        </p:txBody>
      </p:sp>
      <p:sp>
        <p:nvSpPr>
          <p:cNvPr id="1026"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1027" name="Rectangle 3"/>
          <p:cNvSpPr>
            <a:spLocks noChangeArrowheads="1"/>
          </p:cNvSpPr>
          <p:nvPr/>
        </p:nvSpPr>
        <p:spPr bwMode="auto">
          <a:xfrm>
            <a:off x="0" y="8382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800" b="0" i="0" u="none" strike="noStrike" cap="none" normalizeH="0" baseline="0" smtClean="0">
              <a:ln>
                <a:noFill/>
              </a:ln>
              <a:solidFill>
                <a:schemeClr val="tx1"/>
              </a:solidFill>
              <a:effectLst/>
              <a:latin typeface="Arial" pitchFamily="34" charset="0"/>
            </a:endParaRPr>
          </a:p>
        </p:txBody>
      </p:sp>
      <p:sp>
        <p:nvSpPr>
          <p:cNvPr id="9" name="8 Flecha abajo"/>
          <p:cNvSpPr/>
          <p:nvPr/>
        </p:nvSpPr>
        <p:spPr>
          <a:xfrm>
            <a:off x="4357686" y="3929066"/>
            <a:ext cx="571504" cy="500066"/>
          </a:xfrm>
          <a:prstGeom prst="downArrow">
            <a:avLst/>
          </a:prstGeom>
          <a:no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 name="9 CuadroTexto"/>
          <p:cNvSpPr txBox="1"/>
          <p:nvPr/>
        </p:nvSpPr>
        <p:spPr>
          <a:xfrm>
            <a:off x="500034" y="4539959"/>
            <a:ext cx="8143932" cy="1246495"/>
          </a:xfrm>
          <a:prstGeom prst="rect">
            <a:avLst/>
          </a:prstGeom>
          <a:noFill/>
          <a:ln>
            <a:solidFill>
              <a:schemeClr val="accent1">
                <a:lumMod val="60000"/>
                <a:lumOff val="40000"/>
              </a:schemeClr>
            </a:solidFill>
          </a:ln>
        </p:spPr>
        <p:txBody>
          <a:bodyPr wrap="square" rtlCol="0">
            <a:spAutoFit/>
          </a:bodyPr>
          <a:lstStyle/>
          <a:p>
            <a:pPr algn="ctr"/>
            <a:r>
              <a:rPr lang="es-CO" sz="2500" dirty="0" smtClean="0"/>
              <a:t>Dado </a:t>
            </a:r>
            <a:r>
              <a:rPr lang="es-ES" sz="2500" dirty="0" smtClean="0"/>
              <a:t>que las variables de resultado deben ser independientes del tratamiento, una vez se condiciona por la probabilidad de participación (independencia condicional).</a:t>
            </a:r>
            <a:endParaRPr lang="es-ES" sz="2500" dirty="0"/>
          </a:p>
        </p:txBody>
      </p:sp>
      <p:sp>
        <p:nvSpPr>
          <p:cNvPr id="12" name="11 Rectángulo"/>
          <p:cNvSpPr/>
          <p:nvPr/>
        </p:nvSpPr>
        <p:spPr>
          <a:xfrm>
            <a:off x="0" y="6534859"/>
            <a:ext cx="9144000" cy="323141"/>
          </a:xfrm>
          <a:prstGeom prst="rect">
            <a:avLst/>
          </a:prstGeom>
        </p:spPr>
        <p:txBody>
          <a:bodyPr wrap="square">
            <a:spAutoFit/>
          </a:bodyPr>
          <a:lstStyle/>
          <a:p>
            <a:pPr algn="ctr"/>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6: Emparejamiento /  16</a:t>
            </a:r>
            <a:endParaRPr lang="es-ES" sz="1500" dirty="0">
              <a:solidFill>
                <a:schemeClr val="tx1">
                  <a:lumMod val="50000"/>
                  <a:lumOff val="50000"/>
                </a:schemeClr>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643174" y="214290"/>
            <a:ext cx="6072230" cy="1714512"/>
          </a:xfrm>
        </p:spPr>
        <p:txBody>
          <a:bodyPr>
            <a:noAutofit/>
          </a:bodyPr>
          <a:lstStyle/>
          <a:p>
            <a:r>
              <a:rPr lang="es-ES" sz="4200" dirty="0" smtClean="0"/>
              <a:t>Para elegir las variables que se van a incluir dentro de la estimación</a:t>
            </a:r>
            <a:endParaRPr lang="es-AR" sz="4200" dirty="0"/>
          </a:p>
        </p:txBody>
      </p:sp>
      <p:sp>
        <p:nvSpPr>
          <p:cNvPr id="3" name="2 Marcador de contenido"/>
          <p:cNvSpPr>
            <a:spLocks noGrp="1"/>
          </p:cNvSpPr>
          <p:nvPr>
            <p:ph idx="1"/>
          </p:nvPr>
        </p:nvSpPr>
        <p:spPr>
          <a:xfrm>
            <a:off x="457200" y="2143116"/>
            <a:ext cx="8229600" cy="3983047"/>
          </a:xfrm>
        </p:spPr>
        <p:txBody>
          <a:bodyPr>
            <a:normAutofit/>
          </a:bodyPr>
          <a:lstStyle/>
          <a:p>
            <a:pPr algn="just"/>
            <a:endParaRPr lang="es-ES" sz="2500" dirty="0" smtClean="0"/>
          </a:p>
          <a:p>
            <a:pPr algn="just"/>
            <a:r>
              <a:rPr lang="es-ES" sz="2500" dirty="0" smtClean="0"/>
              <a:t>Iniciar con una especificación parsimoniosa, es decir, incluir una constante y alguna variable vital en el emparejamiento. </a:t>
            </a:r>
          </a:p>
          <a:p>
            <a:pPr algn="just"/>
            <a:endParaRPr lang="es-ES" sz="2500" dirty="0" smtClean="0"/>
          </a:p>
          <a:p>
            <a:pPr algn="just"/>
            <a:r>
              <a:rPr lang="es-ES" sz="2500" dirty="0" smtClean="0"/>
              <a:t>Después añadir una a una las variables deseadas y dejarlas sólo si son significativas a niveles estándar.</a:t>
            </a:r>
          </a:p>
          <a:p>
            <a:pPr algn="just"/>
            <a:endParaRPr lang="es-ES" sz="2500" dirty="0" smtClean="0"/>
          </a:p>
          <a:p>
            <a:r>
              <a:rPr lang="es-ES" sz="2500" dirty="0" smtClean="0"/>
              <a:t>Hacer lo mismo con términos de segundo orden (interacciones y términos cuadráticos).</a:t>
            </a:r>
            <a:endParaRPr lang="es-AR" sz="2500" dirty="0"/>
          </a:p>
        </p:txBody>
      </p:sp>
      <p:pic>
        <p:nvPicPr>
          <p:cNvPr id="4" name="Picture 1"/>
          <p:cNvPicPr>
            <a:picLocks noChangeAspect="1" noChangeArrowheads="1"/>
          </p:cNvPicPr>
          <p:nvPr/>
        </p:nvPicPr>
        <p:blipFill>
          <a:blip r:embed="rId2" cstate="print"/>
          <a:srcRect/>
          <a:stretch>
            <a:fillRect/>
          </a:stretch>
        </p:blipFill>
        <p:spPr bwMode="auto">
          <a:xfrm>
            <a:off x="0" y="-24"/>
            <a:ext cx="2500298" cy="1189301"/>
          </a:xfrm>
          <a:prstGeom prst="rect">
            <a:avLst/>
          </a:prstGeom>
          <a:noFill/>
          <a:ln w="9525">
            <a:noFill/>
            <a:miter lim="800000"/>
            <a:headEnd/>
            <a:tailEnd/>
          </a:ln>
          <a:effectLst/>
        </p:spPr>
      </p:pic>
      <p:sp>
        <p:nvSpPr>
          <p:cNvPr id="6" name="5 Rectángulo"/>
          <p:cNvSpPr/>
          <p:nvPr/>
        </p:nvSpPr>
        <p:spPr>
          <a:xfrm>
            <a:off x="0" y="6534859"/>
            <a:ext cx="9144000" cy="323141"/>
          </a:xfrm>
          <a:prstGeom prst="rect">
            <a:avLst/>
          </a:prstGeom>
        </p:spPr>
        <p:txBody>
          <a:bodyPr wrap="square">
            <a:spAutoFit/>
          </a:bodyPr>
          <a:lstStyle/>
          <a:p>
            <a:pPr algn="ctr"/>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6: Emparejamiento /  17</a:t>
            </a:r>
            <a:endParaRPr lang="es-ES" sz="1500" dirty="0">
              <a:solidFill>
                <a:schemeClr val="tx1">
                  <a:lumMod val="50000"/>
                  <a:lumOff val="50000"/>
                </a:schemeClr>
              </a:solidFill>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3000364" y="274638"/>
            <a:ext cx="5686436" cy="1143000"/>
          </a:xfrm>
          <a:ln>
            <a:solidFill>
              <a:schemeClr val="bg1"/>
            </a:solidFill>
          </a:ln>
        </p:spPr>
        <p:txBody>
          <a:bodyPr/>
          <a:lstStyle/>
          <a:p>
            <a:r>
              <a:rPr lang="es-CO" dirty="0" smtClean="0"/>
              <a:t>Ejemplo: </a:t>
            </a:r>
            <a:r>
              <a:rPr lang="es-CO" i="1" dirty="0" smtClean="0"/>
              <a:t>Canasta</a:t>
            </a:r>
            <a:endParaRPr lang="es-ES" i="1" dirty="0"/>
          </a:p>
        </p:txBody>
      </p:sp>
      <p:sp>
        <p:nvSpPr>
          <p:cNvPr id="3" name="2 Marcador de contenido"/>
          <p:cNvSpPr>
            <a:spLocks noGrp="1"/>
          </p:cNvSpPr>
          <p:nvPr>
            <p:ph idx="1"/>
          </p:nvPr>
        </p:nvSpPr>
        <p:spPr>
          <a:ln w="28575">
            <a:solidFill>
              <a:schemeClr val="accent1">
                <a:lumMod val="75000"/>
              </a:schemeClr>
            </a:solidFill>
          </a:ln>
        </p:spPr>
        <p:txBody>
          <a:bodyPr/>
          <a:lstStyle/>
          <a:p>
            <a:pPr algn="just"/>
            <a:endParaRPr lang="es-CO" sz="2500" dirty="0" smtClean="0"/>
          </a:p>
          <a:p>
            <a:pPr algn="just"/>
            <a:r>
              <a:rPr lang="es-CO" sz="2500" dirty="0" smtClean="0"/>
              <a:t>Si participar en el programa no fuera costoso para las familias. </a:t>
            </a:r>
          </a:p>
          <a:p>
            <a:pPr algn="just"/>
            <a:endParaRPr lang="es-CO" sz="2500" dirty="0" smtClean="0"/>
          </a:p>
          <a:p>
            <a:pPr algn="just">
              <a:buNone/>
            </a:pPr>
            <a:r>
              <a:rPr lang="es-CO" sz="2500" dirty="0" smtClean="0"/>
              <a:t>	 No participar 	    Falta de información (más aleatorio).</a:t>
            </a:r>
            <a:endParaRPr lang="es-ES" sz="2500" dirty="0"/>
          </a:p>
        </p:txBody>
      </p:sp>
      <p:cxnSp>
        <p:nvCxnSpPr>
          <p:cNvPr id="5" name="4 Conector recto de flecha"/>
          <p:cNvCxnSpPr/>
          <p:nvPr/>
        </p:nvCxnSpPr>
        <p:spPr>
          <a:xfrm>
            <a:off x="2857488" y="3643314"/>
            <a:ext cx="500066"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7" name="6 Abrir llave"/>
          <p:cNvSpPr/>
          <p:nvPr/>
        </p:nvSpPr>
        <p:spPr>
          <a:xfrm rot="16200000">
            <a:off x="3143241" y="2571745"/>
            <a:ext cx="142875" cy="2714644"/>
          </a:xfrm>
          <a:prstGeom prst="leftBrace">
            <a:avLst/>
          </a:prstGeom>
          <a:ln>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
          </a:p>
        </p:txBody>
      </p:sp>
      <p:sp>
        <p:nvSpPr>
          <p:cNvPr id="8" name="7 CuadroTexto"/>
          <p:cNvSpPr txBox="1"/>
          <p:nvPr/>
        </p:nvSpPr>
        <p:spPr>
          <a:xfrm>
            <a:off x="1071538" y="4353176"/>
            <a:ext cx="6643734" cy="861774"/>
          </a:xfrm>
          <a:prstGeom prst="rect">
            <a:avLst/>
          </a:prstGeom>
          <a:noFill/>
        </p:spPr>
        <p:txBody>
          <a:bodyPr wrap="square" rtlCol="0">
            <a:spAutoFit/>
          </a:bodyPr>
          <a:lstStyle/>
          <a:p>
            <a:pPr algn="ctr"/>
            <a:r>
              <a:rPr lang="es-CO" sz="2500" dirty="0" smtClean="0"/>
              <a:t>La decisión de participar estaría determinada por características observables.</a:t>
            </a:r>
            <a:endParaRPr lang="es-ES" sz="2500" dirty="0"/>
          </a:p>
        </p:txBody>
      </p:sp>
      <p:pic>
        <p:nvPicPr>
          <p:cNvPr id="10" name="Picture 1"/>
          <p:cNvPicPr>
            <a:picLocks noChangeAspect="1" noChangeArrowheads="1"/>
          </p:cNvPicPr>
          <p:nvPr/>
        </p:nvPicPr>
        <p:blipFill>
          <a:blip r:embed="rId2" cstate="print"/>
          <a:srcRect/>
          <a:stretch>
            <a:fillRect/>
          </a:stretch>
        </p:blipFill>
        <p:spPr bwMode="auto">
          <a:xfrm>
            <a:off x="0" y="-24"/>
            <a:ext cx="2500298" cy="1189301"/>
          </a:xfrm>
          <a:prstGeom prst="rect">
            <a:avLst/>
          </a:prstGeom>
          <a:noFill/>
          <a:ln w="9525">
            <a:noFill/>
            <a:miter lim="800000"/>
            <a:headEnd/>
            <a:tailEnd/>
          </a:ln>
          <a:effectLst/>
        </p:spPr>
      </p:pic>
      <p:sp>
        <p:nvSpPr>
          <p:cNvPr id="11" name="10 Rectángulo"/>
          <p:cNvSpPr/>
          <p:nvPr/>
        </p:nvSpPr>
        <p:spPr>
          <a:xfrm>
            <a:off x="0" y="6534859"/>
            <a:ext cx="9144000" cy="323141"/>
          </a:xfrm>
          <a:prstGeom prst="rect">
            <a:avLst/>
          </a:prstGeom>
        </p:spPr>
        <p:txBody>
          <a:bodyPr wrap="square">
            <a:spAutoFit/>
          </a:bodyPr>
          <a:lstStyle/>
          <a:p>
            <a:pPr algn="ctr"/>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6: Emparejamiento /  18</a:t>
            </a:r>
            <a:endParaRPr lang="es-ES" sz="1500" dirty="0">
              <a:solidFill>
                <a:schemeClr val="tx1">
                  <a:lumMod val="50000"/>
                  <a:lumOff val="50000"/>
                </a:schemeClr>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714612" y="274638"/>
            <a:ext cx="5972188" cy="1143000"/>
          </a:xfrm>
        </p:spPr>
        <p:txBody>
          <a:bodyPr/>
          <a:lstStyle/>
          <a:p>
            <a:r>
              <a:rPr lang="es-CO" dirty="0" smtClean="0"/>
              <a:t>Ejemplo: </a:t>
            </a:r>
            <a:r>
              <a:rPr lang="es-CO" i="1" dirty="0" smtClean="0"/>
              <a:t>Canasta</a:t>
            </a:r>
            <a:endParaRPr lang="es-ES" i="1" dirty="0"/>
          </a:p>
        </p:txBody>
      </p:sp>
      <p:sp>
        <p:nvSpPr>
          <p:cNvPr id="3" name="2 Marcador de contenido"/>
          <p:cNvSpPr>
            <a:spLocks noGrp="1"/>
          </p:cNvSpPr>
          <p:nvPr>
            <p:ph idx="1"/>
          </p:nvPr>
        </p:nvSpPr>
        <p:spPr>
          <a:ln w="28575">
            <a:solidFill>
              <a:schemeClr val="accent1">
                <a:lumMod val="75000"/>
              </a:schemeClr>
            </a:solidFill>
          </a:ln>
        </p:spPr>
        <p:txBody>
          <a:bodyPr/>
          <a:lstStyle/>
          <a:p>
            <a:r>
              <a:rPr lang="es-CO" sz="2500" dirty="0" smtClean="0"/>
              <a:t>La decisión de participar o no:</a:t>
            </a:r>
          </a:p>
          <a:p>
            <a:endParaRPr lang="es-CO" sz="2500" dirty="0" smtClean="0"/>
          </a:p>
          <a:p>
            <a:endParaRPr lang="es-CO" sz="2500" dirty="0" smtClean="0"/>
          </a:p>
          <a:p>
            <a:endParaRPr lang="es-CO" sz="2500" dirty="0" smtClean="0"/>
          </a:p>
          <a:p>
            <a:endParaRPr lang="es-CO" sz="2500" dirty="0" smtClean="0"/>
          </a:p>
          <a:p>
            <a:pPr>
              <a:buNone/>
            </a:pPr>
            <a:endParaRPr lang="es-ES_tradnl" dirty="0" smtClean="0"/>
          </a:p>
          <a:p>
            <a:pPr>
              <a:buNone/>
            </a:pPr>
            <a:r>
              <a:rPr lang="es-ES_tradnl" sz="2300" dirty="0" smtClean="0"/>
              <a:t>	Donde:</a:t>
            </a:r>
          </a:p>
          <a:p>
            <a:pPr>
              <a:buNone/>
            </a:pPr>
            <a:r>
              <a:rPr lang="es-ES_tradnl" sz="2500" dirty="0" smtClean="0"/>
              <a:t>	</a:t>
            </a:r>
          </a:p>
        </p:txBody>
      </p:sp>
      <p:sp>
        <p:nvSpPr>
          <p:cNvPr id="73730"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73731" name="Rectangle 3"/>
          <p:cNvSpPr>
            <a:spLocks noChangeArrowheads="1"/>
          </p:cNvSpPr>
          <p:nvPr/>
        </p:nvSpPr>
        <p:spPr bwMode="auto">
          <a:xfrm>
            <a:off x="0" y="8382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800" b="0" i="0" u="none" strike="noStrike" cap="none" normalizeH="0" baseline="0" smtClean="0">
              <a:ln>
                <a:noFill/>
              </a:ln>
              <a:solidFill>
                <a:schemeClr val="tx1"/>
              </a:solidFill>
              <a:effectLst/>
              <a:latin typeface="Arial" pitchFamily="34" charset="0"/>
            </a:endParaRPr>
          </a:p>
        </p:txBody>
      </p:sp>
      <p:cxnSp>
        <p:nvCxnSpPr>
          <p:cNvPr id="8" name="7 Conector recto de flecha"/>
          <p:cNvCxnSpPr/>
          <p:nvPr/>
        </p:nvCxnSpPr>
        <p:spPr>
          <a:xfrm rot="5400000" flipH="1" flipV="1">
            <a:off x="1679158" y="2964256"/>
            <a:ext cx="214314" cy="79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9" name="8 CuadroTexto"/>
          <p:cNvSpPr txBox="1"/>
          <p:nvPr/>
        </p:nvSpPr>
        <p:spPr>
          <a:xfrm>
            <a:off x="714348" y="3143248"/>
            <a:ext cx="2286016" cy="1154162"/>
          </a:xfrm>
          <a:prstGeom prst="rect">
            <a:avLst/>
          </a:prstGeom>
          <a:noFill/>
        </p:spPr>
        <p:txBody>
          <a:bodyPr wrap="square" rtlCol="0">
            <a:spAutoFit/>
          </a:bodyPr>
          <a:lstStyle/>
          <a:p>
            <a:pPr algn="ctr"/>
            <a:r>
              <a:rPr lang="es-CO" sz="2300" i="1" dirty="0" smtClean="0"/>
              <a:t>Dummy</a:t>
            </a:r>
            <a:r>
              <a:rPr lang="es-CO" sz="2300" dirty="0" smtClean="0"/>
              <a:t> si la familia es beneficiaria.</a:t>
            </a:r>
            <a:endParaRPr lang="es-ES" sz="2300" dirty="0"/>
          </a:p>
        </p:txBody>
      </p:sp>
      <p:sp>
        <p:nvSpPr>
          <p:cNvPr id="10" name="9 Abrir llave"/>
          <p:cNvSpPr/>
          <p:nvPr/>
        </p:nvSpPr>
        <p:spPr>
          <a:xfrm rot="16200000">
            <a:off x="5036347" y="1607331"/>
            <a:ext cx="285752" cy="2786082"/>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
          </a:p>
        </p:txBody>
      </p:sp>
      <p:sp>
        <p:nvSpPr>
          <p:cNvPr id="11" name="10 CuadroTexto"/>
          <p:cNvSpPr txBox="1"/>
          <p:nvPr/>
        </p:nvSpPr>
        <p:spPr>
          <a:xfrm>
            <a:off x="3286116" y="3143248"/>
            <a:ext cx="3571900" cy="446276"/>
          </a:xfrm>
          <a:prstGeom prst="rect">
            <a:avLst/>
          </a:prstGeom>
          <a:noFill/>
        </p:spPr>
        <p:txBody>
          <a:bodyPr wrap="square" rtlCol="0">
            <a:spAutoFit/>
          </a:bodyPr>
          <a:lstStyle/>
          <a:p>
            <a:pPr algn="ctr"/>
            <a:r>
              <a:rPr lang="es-CO" sz="2300" dirty="0" smtClean="0"/>
              <a:t>Características individuales.</a:t>
            </a:r>
            <a:endParaRPr lang="es-ES" sz="2300" dirty="0"/>
          </a:p>
        </p:txBody>
      </p:sp>
      <p:sp>
        <p:nvSpPr>
          <p:cNvPr id="73733" name="Rectangle 5"/>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73734" name="Rectangle 6"/>
          <p:cNvSpPr>
            <a:spLocks noChangeArrowheads="1"/>
          </p:cNvSpPr>
          <p:nvPr/>
        </p:nvSpPr>
        <p:spPr bwMode="auto">
          <a:xfrm>
            <a:off x="0" y="85725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800" b="0" i="0" u="none" strike="noStrike" cap="none" normalizeH="0" baseline="0" smtClean="0">
              <a:ln>
                <a:noFill/>
              </a:ln>
              <a:solidFill>
                <a:schemeClr val="tx1"/>
              </a:solidFill>
              <a:effectLst/>
              <a:latin typeface="Arial" pitchFamily="34" charset="0"/>
            </a:endParaRPr>
          </a:p>
        </p:txBody>
      </p:sp>
      <p:pic>
        <p:nvPicPr>
          <p:cNvPr id="15" name="Picture 1"/>
          <p:cNvPicPr>
            <a:picLocks noChangeAspect="1" noChangeArrowheads="1"/>
          </p:cNvPicPr>
          <p:nvPr/>
        </p:nvPicPr>
        <p:blipFill>
          <a:blip r:embed="rId4" cstate="print"/>
          <a:srcRect/>
          <a:stretch>
            <a:fillRect/>
          </a:stretch>
        </p:blipFill>
        <p:spPr bwMode="auto">
          <a:xfrm>
            <a:off x="0" y="-24"/>
            <a:ext cx="2500298" cy="1189301"/>
          </a:xfrm>
          <a:prstGeom prst="rect">
            <a:avLst/>
          </a:prstGeom>
          <a:noFill/>
          <a:ln w="9525">
            <a:noFill/>
            <a:miter lim="800000"/>
            <a:headEnd/>
            <a:tailEnd/>
          </a:ln>
          <a:effectLst/>
        </p:spPr>
      </p:pic>
      <p:sp>
        <p:nvSpPr>
          <p:cNvPr id="17" name="16 Rectángulo"/>
          <p:cNvSpPr/>
          <p:nvPr/>
        </p:nvSpPr>
        <p:spPr>
          <a:xfrm>
            <a:off x="0" y="6534859"/>
            <a:ext cx="9144000" cy="323141"/>
          </a:xfrm>
          <a:prstGeom prst="rect">
            <a:avLst/>
          </a:prstGeom>
        </p:spPr>
        <p:txBody>
          <a:bodyPr wrap="square">
            <a:spAutoFit/>
          </a:bodyPr>
          <a:lstStyle/>
          <a:p>
            <a:pPr algn="ctr"/>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6: Emparejamiento /  19</a:t>
            </a:r>
            <a:endParaRPr lang="es-ES" sz="1500" dirty="0">
              <a:solidFill>
                <a:schemeClr val="tx1">
                  <a:lumMod val="50000"/>
                  <a:lumOff val="50000"/>
                </a:schemeClr>
              </a:solidFill>
            </a:endParaRPr>
          </a:p>
        </p:txBody>
      </p:sp>
      <p:sp>
        <p:nvSpPr>
          <p:cNvPr id="60418"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60420" name="Rectangle 4"/>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60421" name="Rectangle 5"/>
          <p:cNvSpPr>
            <a:spLocks noChangeArrowheads="1"/>
          </p:cNvSpPr>
          <p:nvPr/>
        </p:nvSpPr>
        <p:spPr bwMode="auto">
          <a:xfrm>
            <a:off x="0" y="8382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800" b="0" i="0" u="none" strike="noStrike" cap="none" normalizeH="0" baseline="0" smtClean="0">
              <a:ln>
                <a:noFill/>
              </a:ln>
              <a:solidFill>
                <a:schemeClr val="tx1"/>
              </a:solidFill>
              <a:effectLst/>
              <a:latin typeface="Arial" pitchFamily="34" charset="0"/>
            </a:endParaRPr>
          </a:p>
        </p:txBody>
      </p:sp>
      <p:sp>
        <p:nvSpPr>
          <p:cNvPr id="60423" name="Rectangle 7"/>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60424" name="Rectangle 8"/>
          <p:cNvSpPr>
            <a:spLocks noChangeArrowheads="1"/>
          </p:cNvSpPr>
          <p:nvPr/>
        </p:nvSpPr>
        <p:spPr bwMode="auto">
          <a:xfrm>
            <a:off x="0" y="8382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800" b="0" i="0" u="none" strike="noStrike" cap="none" normalizeH="0" baseline="0" smtClean="0">
              <a:ln>
                <a:noFill/>
              </a:ln>
              <a:solidFill>
                <a:schemeClr val="tx1"/>
              </a:solidFill>
              <a:effectLst/>
              <a:latin typeface="Arial" pitchFamily="34" charset="0"/>
            </a:endParaRPr>
          </a:p>
        </p:txBody>
      </p:sp>
      <p:cxnSp>
        <p:nvCxnSpPr>
          <p:cNvPr id="25" name="24 Conector recto de flecha"/>
          <p:cNvCxnSpPr/>
          <p:nvPr/>
        </p:nvCxnSpPr>
        <p:spPr>
          <a:xfrm>
            <a:off x="1857356" y="5141924"/>
            <a:ext cx="428628"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7" name="26 CuadroTexto"/>
          <p:cNvSpPr txBox="1"/>
          <p:nvPr/>
        </p:nvSpPr>
        <p:spPr>
          <a:xfrm>
            <a:off x="2285984" y="4775168"/>
            <a:ext cx="6064609" cy="1154162"/>
          </a:xfrm>
          <a:prstGeom prst="rect">
            <a:avLst/>
          </a:prstGeom>
          <a:noFill/>
        </p:spPr>
        <p:txBody>
          <a:bodyPr wrap="none" rtlCol="0">
            <a:spAutoFit/>
          </a:bodyPr>
          <a:lstStyle/>
          <a:p>
            <a:r>
              <a:rPr lang="es-ES_tradnl" sz="2300" dirty="0" smtClean="0"/>
              <a:t>Individuales: Edad, género del niño.</a:t>
            </a:r>
          </a:p>
          <a:p>
            <a:r>
              <a:rPr lang="es-ES_tradnl" sz="2300" dirty="0" smtClean="0"/>
              <a:t>Hogar:  Ocupación de los padres, nivel educativo,</a:t>
            </a:r>
          </a:p>
          <a:p>
            <a:r>
              <a:rPr lang="es-ES_tradnl" sz="2300" dirty="0" smtClean="0"/>
              <a:t>	ingreso del hogar.</a:t>
            </a:r>
            <a:endParaRPr lang="es-ES" sz="2300" dirty="0"/>
          </a:p>
        </p:txBody>
      </p:sp>
      <p:graphicFrame>
        <p:nvGraphicFramePr>
          <p:cNvPr id="5122" name="Object 2"/>
          <p:cNvGraphicFramePr>
            <a:graphicFrameLocks noChangeAspect="1"/>
          </p:cNvGraphicFramePr>
          <p:nvPr>
            <p:extLst>
              <p:ext uri="{D42A27DB-BD31-4B8C-83A1-F6EECF244321}">
                <p14:modId xmlns="" xmlns:p14="http://schemas.microsoft.com/office/powerpoint/2010/main" val="1025310790"/>
              </p:ext>
            </p:extLst>
          </p:nvPr>
        </p:nvGraphicFramePr>
        <p:xfrm>
          <a:off x="1357290" y="2387648"/>
          <a:ext cx="6286544" cy="684162"/>
        </p:xfrm>
        <a:graphic>
          <a:graphicData uri="http://schemas.openxmlformats.org/presentationml/2006/ole">
            <p:oleObj spid="_x0000_s5132" name="Documento" r:id="rId5" imgW="5402470" imgH="588439" progId="Word.Document.12">
              <p:embed/>
            </p:oleObj>
          </a:graphicData>
        </a:graphic>
      </p:graphicFrame>
      <p:graphicFrame>
        <p:nvGraphicFramePr>
          <p:cNvPr id="5123" name="Object 3"/>
          <p:cNvGraphicFramePr>
            <a:graphicFrameLocks noChangeAspect="1"/>
          </p:cNvGraphicFramePr>
          <p:nvPr>
            <p:extLst>
              <p:ext uri="{D42A27DB-BD31-4B8C-83A1-F6EECF244321}">
                <p14:modId xmlns="" xmlns:p14="http://schemas.microsoft.com/office/powerpoint/2010/main" val="3461770234"/>
              </p:ext>
            </p:extLst>
          </p:nvPr>
        </p:nvGraphicFramePr>
        <p:xfrm>
          <a:off x="-1857420" y="4857760"/>
          <a:ext cx="6929486" cy="644366"/>
        </p:xfrm>
        <a:graphic>
          <a:graphicData uri="http://schemas.openxmlformats.org/presentationml/2006/ole">
            <p:oleObj spid="_x0000_s5133" name="Documento" r:id="rId6" imgW="5402470" imgH="502887" progId="Word.Document.12">
              <p:embed/>
            </p:oleObj>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85804" y="1600200"/>
            <a:ext cx="8229600" cy="4525963"/>
          </a:xfrm>
          <a:ln w="28575">
            <a:solidFill>
              <a:schemeClr val="accent1">
                <a:lumMod val="75000"/>
              </a:schemeClr>
            </a:solidFill>
          </a:ln>
        </p:spPr>
        <p:txBody>
          <a:bodyPr/>
          <a:lstStyle/>
          <a:p>
            <a:r>
              <a:rPr lang="es-CO" sz="2500" dirty="0" smtClean="0"/>
              <a:t>Probabilidad estimada de participación:</a:t>
            </a:r>
          </a:p>
          <a:p>
            <a:endParaRPr lang="es-CO" sz="2500" dirty="0" smtClean="0"/>
          </a:p>
          <a:p>
            <a:endParaRPr lang="es-CO" sz="2500" dirty="0" smtClean="0"/>
          </a:p>
          <a:p>
            <a:endParaRPr lang="es-CO" sz="2500" dirty="0" smtClean="0"/>
          </a:p>
          <a:p>
            <a:endParaRPr lang="es-CO" sz="2500" dirty="0" smtClean="0"/>
          </a:p>
          <a:p>
            <a:endParaRPr lang="es-CO" sz="2500" dirty="0" smtClean="0"/>
          </a:p>
          <a:p>
            <a:r>
              <a:rPr lang="es-CO" sz="2500" dirty="0" smtClean="0"/>
              <a:t>Si                edad del niño en años y                     , entonces la probabilidad estimada de participación aumenta en 0.32 cuando la edad del niño se incrementa en un año.                               </a:t>
            </a:r>
          </a:p>
          <a:p>
            <a:pPr>
              <a:buNone/>
            </a:pPr>
            <a:endParaRPr lang="es-CO" sz="2500" dirty="0" smtClean="0"/>
          </a:p>
          <a:p>
            <a:endParaRPr lang="es-ES" dirty="0"/>
          </a:p>
        </p:txBody>
      </p:sp>
      <p:pic>
        <p:nvPicPr>
          <p:cNvPr id="4" name="Picture 1"/>
          <p:cNvPicPr>
            <a:picLocks noChangeAspect="1" noChangeArrowheads="1"/>
          </p:cNvPicPr>
          <p:nvPr/>
        </p:nvPicPr>
        <p:blipFill>
          <a:blip r:embed="rId3" cstate="print"/>
          <a:srcRect/>
          <a:stretch>
            <a:fillRect/>
          </a:stretch>
        </p:blipFill>
        <p:spPr bwMode="auto">
          <a:xfrm>
            <a:off x="0" y="-24"/>
            <a:ext cx="2500298" cy="1189301"/>
          </a:xfrm>
          <a:prstGeom prst="rect">
            <a:avLst/>
          </a:prstGeom>
          <a:noFill/>
          <a:ln w="9525">
            <a:noFill/>
            <a:miter lim="800000"/>
            <a:headEnd/>
            <a:tailEnd/>
          </a:ln>
          <a:effectLst/>
        </p:spPr>
      </p:pic>
      <p:sp>
        <p:nvSpPr>
          <p:cNvPr id="5" name="1 Título"/>
          <p:cNvSpPr>
            <a:spLocks noGrp="1"/>
          </p:cNvSpPr>
          <p:nvPr>
            <p:ph type="title"/>
          </p:nvPr>
        </p:nvSpPr>
        <p:spPr>
          <a:xfrm>
            <a:off x="2714612" y="274638"/>
            <a:ext cx="5972188" cy="1143000"/>
          </a:xfrm>
        </p:spPr>
        <p:txBody>
          <a:bodyPr/>
          <a:lstStyle/>
          <a:p>
            <a:r>
              <a:rPr lang="es-CO" dirty="0" smtClean="0"/>
              <a:t>Ejemplo: </a:t>
            </a:r>
            <a:r>
              <a:rPr lang="es-CO" i="1" dirty="0" smtClean="0"/>
              <a:t>Canasta</a:t>
            </a:r>
            <a:endParaRPr lang="es-ES" i="1" dirty="0"/>
          </a:p>
        </p:txBody>
      </p:sp>
      <p:sp>
        <p:nvSpPr>
          <p:cNvPr id="10" name="9 Flecha abajo"/>
          <p:cNvSpPr/>
          <p:nvPr/>
        </p:nvSpPr>
        <p:spPr>
          <a:xfrm>
            <a:off x="4143372" y="2786058"/>
            <a:ext cx="500066" cy="357190"/>
          </a:xfrm>
          <a:prstGeom prst="downArrow">
            <a:avLst/>
          </a:prstGeom>
          <a:solidFill>
            <a:schemeClr val="bg1"/>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1" name="10 CuadroTexto"/>
          <p:cNvSpPr txBox="1"/>
          <p:nvPr/>
        </p:nvSpPr>
        <p:spPr>
          <a:xfrm>
            <a:off x="1214414" y="3143248"/>
            <a:ext cx="6357982" cy="861774"/>
          </a:xfrm>
          <a:prstGeom prst="rect">
            <a:avLst/>
          </a:prstGeom>
          <a:noFill/>
          <a:ln>
            <a:solidFill>
              <a:schemeClr val="accent1"/>
            </a:solidFill>
          </a:ln>
        </p:spPr>
        <p:txBody>
          <a:bodyPr wrap="square" rtlCol="0">
            <a:spAutoFit/>
          </a:bodyPr>
          <a:lstStyle/>
          <a:p>
            <a:pPr algn="ctr"/>
            <a:r>
              <a:rPr lang="es-ES_tradnl" sz="2500" dirty="0" smtClean="0"/>
              <a:t>Caracterización de la familia según su probabilidad de participación en el programa.</a:t>
            </a:r>
            <a:endParaRPr lang="es-ES" sz="2500" dirty="0"/>
          </a:p>
        </p:txBody>
      </p:sp>
      <p:sp>
        <p:nvSpPr>
          <p:cNvPr id="1026"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1027" name="Rectangle 3"/>
          <p:cNvSpPr>
            <a:spLocks noChangeArrowheads="1"/>
          </p:cNvSpPr>
          <p:nvPr/>
        </p:nvSpPr>
        <p:spPr bwMode="auto">
          <a:xfrm>
            <a:off x="0" y="85725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800" b="0" i="0" u="none" strike="noStrike" cap="none" normalizeH="0" baseline="0" smtClean="0">
              <a:ln>
                <a:noFill/>
              </a:ln>
              <a:solidFill>
                <a:schemeClr val="tx1"/>
              </a:solidFill>
              <a:effectLst/>
              <a:latin typeface="Arial" pitchFamily="34" charset="0"/>
            </a:endParaRPr>
          </a:p>
        </p:txBody>
      </p:sp>
      <p:sp>
        <p:nvSpPr>
          <p:cNvPr id="1029" name="Rectangle 5"/>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1030" name="Rectangle 6"/>
          <p:cNvSpPr>
            <a:spLocks noChangeArrowheads="1"/>
          </p:cNvSpPr>
          <p:nvPr/>
        </p:nvSpPr>
        <p:spPr bwMode="auto">
          <a:xfrm>
            <a:off x="0" y="85725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800" b="0" i="0" u="none" strike="noStrike" cap="none" normalizeH="0" baseline="0" smtClean="0">
              <a:ln>
                <a:noFill/>
              </a:ln>
              <a:solidFill>
                <a:schemeClr val="tx1"/>
              </a:solidFill>
              <a:effectLst/>
              <a:latin typeface="Arial" pitchFamily="34" charset="0"/>
            </a:endParaRPr>
          </a:p>
        </p:txBody>
      </p:sp>
      <p:cxnSp>
        <p:nvCxnSpPr>
          <p:cNvPr id="19" name="18 Conector recto de flecha"/>
          <p:cNvCxnSpPr/>
          <p:nvPr/>
        </p:nvCxnSpPr>
        <p:spPr>
          <a:xfrm>
            <a:off x="1785918" y="4572008"/>
            <a:ext cx="35719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032" name="Rectangle 8"/>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1033" name="Rectangle 9"/>
          <p:cNvSpPr>
            <a:spLocks noChangeArrowheads="1"/>
          </p:cNvSpPr>
          <p:nvPr/>
        </p:nvSpPr>
        <p:spPr bwMode="auto">
          <a:xfrm>
            <a:off x="0" y="8763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800" b="0" i="0" u="none" strike="noStrike" cap="none" normalizeH="0" baseline="0" smtClean="0">
              <a:ln>
                <a:noFill/>
              </a:ln>
              <a:solidFill>
                <a:schemeClr val="tx1"/>
              </a:solidFill>
              <a:effectLst/>
              <a:latin typeface="Arial" pitchFamily="34" charset="0"/>
            </a:endParaRPr>
          </a:p>
        </p:txBody>
      </p:sp>
      <p:sp>
        <p:nvSpPr>
          <p:cNvPr id="24" name="23 Rectángulo"/>
          <p:cNvSpPr/>
          <p:nvPr/>
        </p:nvSpPr>
        <p:spPr>
          <a:xfrm>
            <a:off x="0" y="6534859"/>
            <a:ext cx="9144000" cy="323165"/>
          </a:xfrm>
          <a:prstGeom prst="rect">
            <a:avLst/>
          </a:prstGeom>
        </p:spPr>
        <p:txBody>
          <a:bodyPr wrap="square">
            <a:spAutoFit/>
          </a:bodyPr>
          <a:lstStyle/>
          <a:p>
            <a:pPr algn="ctr"/>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6: Emparejamiento /  20</a:t>
            </a:r>
          </a:p>
        </p:txBody>
      </p:sp>
      <p:graphicFrame>
        <p:nvGraphicFramePr>
          <p:cNvPr id="6146" name="Object 2"/>
          <p:cNvGraphicFramePr>
            <a:graphicFrameLocks noChangeAspect="1"/>
          </p:cNvGraphicFramePr>
          <p:nvPr>
            <p:extLst>
              <p:ext uri="{D42A27DB-BD31-4B8C-83A1-F6EECF244321}">
                <p14:modId xmlns="" xmlns:p14="http://schemas.microsoft.com/office/powerpoint/2010/main" val="1916414971"/>
              </p:ext>
            </p:extLst>
          </p:nvPr>
        </p:nvGraphicFramePr>
        <p:xfrm>
          <a:off x="1517667" y="2143116"/>
          <a:ext cx="6126167" cy="702649"/>
        </p:xfrm>
        <a:graphic>
          <a:graphicData uri="http://schemas.openxmlformats.org/presentationml/2006/ole">
            <p:oleObj spid="_x0000_s6161" name="Documento" r:id="rId4" imgW="5402470" imgH="620071" progId="Word.Document.12">
              <p:embed/>
            </p:oleObj>
          </a:graphicData>
        </a:graphic>
      </p:graphicFrame>
      <p:graphicFrame>
        <p:nvGraphicFramePr>
          <p:cNvPr id="6147" name="Object 3"/>
          <p:cNvGraphicFramePr>
            <a:graphicFrameLocks noChangeAspect="1"/>
          </p:cNvGraphicFramePr>
          <p:nvPr>
            <p:extLst>
              <p:ext uri="{D42A27DB-BD31-4B8C-83A1-F6EECF244321}">
                <p14:modId xmlns="" xmlns:p14="http://schemas.microsoft.com/office/powerpoint/2010/main" val="923559502"/>
              </p:ext>
            </p:extLst>
          </p:nvPr>
        </p:nvGraphicFramePr>
        <p:xfrm>
          <a:off x="-1143040" y="4357694"/>
          <a:ext cx="5411787" cy="588963"/>
        </p:xfrm>
        <a:graphic>
          <a:graphicData uri="http://schemas.openxmlformats.org/presentationml/2006/ole">
            <p:oleObj spid="_x0000_s6162" name="Documento" r:id="rId5" imgW="5402470" imgH="588439" progId="Word.Document.12">
              <p:embed/>
            </p:oleObj>
          </a:graphicData>
        </a:graphic>
      </p:graphicFrame>
      <p:graphicFrame>
        <p:nvGraphicFramePr>
          <p:cNvPr id="6148" name="Object 4"/>
          <p:cNvGraphicFramePr>
            <a:graphicFrameLocks noChangeAspect="1"/>
          </p:cNvGraphicFramePr>
          <p:nvPr>
            <p:extLst>
              <p:ext uri="{D42A27DB-BD31-4B8C-83A1-F6EECF244321}">
                <p14:modId xmlns="" xmlns:p14="http://schemas.microsoft.com/office/powerpoint/2010/main" val="2303217275"/>
              </p:ext>
            </p:extLst>
          </p:nvPr>
        </p:nvGraphicFramePr>
        <p:xfrm>
          <a:off x="3446493" y="4357694"/>
          <a:ext cx="5411787" cy="620713"/>
        </p:xfrm>
        <a:graphic>
          <a:graphicData uri="http://schemas.openxmlformats.org/presentationml/2006/ole">
            <p:oleObj spid="_x0000_s6163" name="Documento" r:id="rId6" imgW="5402470" imgH="620071" progId="Word.Document.12">
              <p:embed/>
            </p:oleObj>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571736" y="274638"/>
            <a:ext cx="6115064" cy="939784"/>
          </a:xfrm>
        </p:spPr>
        <p:txBody>
          <a:bodyPr>
            <a:normAutofit/>
          </a:bodyPr>
          <a:lstStyle/>
          <a:p>
            <a:r>
              <a:rPr lang="es-ES" sz="4200" u="sng" dirty="0" smtClean="0"/>
              <a:t>Algoritmo de PSM</a:t>
            </a:r>
            <a:endParaRPr lang="es-AR" sz="4200" u="sng" dirty="0"/>
          </a:p>
        </p:txBody>
      </p:sp>
      <p:sp>
        <p:nvSpPr>
          <p:cNvPr id="3" name="2 Marcador de contenido"/>
          <p:cNvSpPr>
            <a:spLocks noGrp="1"/>
          </p:cNvSpPr>
          <p:nvPr>
            <p:ph idx="1"/>
          </p:nvPr>
        </p:nvSpPr>
        <p:spPr>
          <a:xfrm>
            <a:off x="500034" y="1500174"/>
            <a:ext cx="8258204" cy="4572032"/>
          </a:xfrm>
        </p:spPr>
        <p:txBody>
          <a:bodyPr>
            <a:normAutofit/>
          </a:bodyPr>
          <a:lstStyle/>
          <a:p>
            <a:pPr marL="457200" indent="-457200" algn="just">
              <a:buAutoNum type="arabicPeriod"/>
            </a:pPr>
            <a:r>
              <a:rPr lang="es-ES" sz="2500" dirty="0" smtClean="0"/>
              <a:t>Estimar la probabilidad de participar en el programa, para el grupo de control y el de tratamiento.</a:t>
            </a:r>
          </a:p>
          <a:p>
            <a:pPr marL="457200" indent="-457200" algn="just">
              <a:buAutoNum type="arabicPeriod"/>
            </a:pPr>
            <a:r>
              <a:rPr lang="es-ES_tradnl" sz="2500" dirty="0" smtClean="0"/>
              <a:t>Estimar la probabilidad de participación de cada individuo.</a:t>
            </a:r>
          </a:p>
          <a:p>
            <a:pPr marL="457200" indent="-457200" algn="just">
              <a:buAutoNum type="arabicPeriod"/>
            </a:pPr>
            <a:r>
              <a:rPr lang="es-ES" sz="2500" dirty="0" smtClean="0">
                <a:solidFill>
                  <a:schemeClr val="accent1">
                    <a:lumMod val="75000"/>
                  </a:schemeClr>
                </a:solidFill>
              </a:rPr>
              <a:t>Restringir la muestra al soporte común.</a:t>
            </a:r>
          </a:p>
          <a:p>
            <a:pPr marL="457200" indent="-457200" algn="just">
              <a:buFont typeface="Arial" pitchFamily="34" charset="0"/>
              <a:buAutoNum type="arabicPeriod"/>
            </a:pPr>
            <a:r>
              <a:rPr lang="es-ES_tradnl" sz="2500" dirty="0" smtClean="0"/>
              <a:t>Seleccionar el algoritmo de emparejamiento.</a:t>
            </a:r>
          </a:p>
          <a:p>
            <a:pPr marL="457200" indent="-457200" algn="just">
              <a:buFont typeface="Arial" pitchFamily="34" charset="0"/>
              <a:buAutoNum type="arabicPeriod"/>
            </a:pPr>
            <a:r>
              <a:rPr lang="es-ES" sz="2500" dirty="0" smtClean="0"/>
              <a:t>Observar que las variables observables entre el grupo de control y de tratamiento estén balanceadas en términos de probabilidades. </a:t>
            </a:r>
          </a:p>
          <a:p>
            <a:pPr marL="457200" indent="-457200" algn="just">
              <a:buFont typeface="Arial" pitchFamily="34" charset="0"/>
              <a:buAutoNum type="arabicPeriod"/>
            </a:pPr>
            <a:r>
              <a:rPr lang="es-ES_tradnl" sz="2500" dirty="0" smtClean="0"/>
              <a:t>Calcular el impacto del programa.</a:t>
            </a:r>
          </a:p>
          <a:p>
            <a:pPr marL="457200" indent="-457200" algn="just">
              <a:buFont typeface="Arial" pitchFamily="34" charset="0"/>
              <a:buAutoNum type="arabicPeriod"/>
            </a:pPr>
            <a:r>
              <a:rPr lang="es-ES_tradnl" sz="2500" dirty="0" smtClean="0"/>
              <a:t>Calcular los errores estándar y los intervalos de confianza.</a:t>
            </a:r>
            <a:endParaRPr lang="es-ES" sz="2500" dirty="0" smtClean="0"/>
          </a:p>
          <a:p>
            <a:pPr marL="457200" indent="-457200" algn="just">
              <a:buFont typeface="Arial" pitchFamily="34" charset="0"/>
              <a:buAutoNum type="arabicPeriod"/>
            </a:pPr>
            <a:endParaRPr lang="es-ES" sz="2500" dirty="0" smtClean="0"/>
          </a:p>
          <a:p>
            <a:pPr marL="457200" indent="-457200" algn="just">
              <a:buAutoNum type="arabicPeriod"/>
            </a:pPr>
            <a:endParaRPr lang="es-ES" sz="2500" dirty="0" smtClean="0"/>
          </a:p>
          <a:p>
            <a:pPr marL="457200" indent="-457200" algn="just">
              <a:buAutoNum type="arabicPeriod"/>
            </a:pPr>
            <a:endParaRPr lang="es-ES" sz="2500" dirty="0"/>
          </a:p>
          <a:p>
            <a:pPr marL="457200" indent="-457200" algn="just">
              <a:buAutoNum type="arabicPeriod"/>
            </a:pPr>
            <a:endParaRPr lang="es-ES" sz="2500" dirty="0" smtClean="0"/>
          </a:p>
          <a:p>
            <a:pPr marL="457200" indent="-457200" algn="just">
              <a:buAutoNum type="arabicPeriod"/>
            </a:pPr>
            <a:endParaRPr lang="es-ES" sz="2500" dirty="0" smtClean="0"/>
          </a:p>
          <a:p>
            <a:pPr marL="457200" indent="-457200">
              <a:buAutoNum type="arabicPeriod"/>
            </a:pPr>
            <a:endParaRPr lang="es-AR" sz="2500" dirty="0"/>
          </a:p>
        </p:txBody>
      </p:sp>
      <p:pic>
        <p:nvPicPr>
          <p:cNvPr id="4" name="Picture 1"/>
          <p:cNvPicPr>
            <a:picLocks noChangeAspect="1" noChangeArrowheads="1"/>
          </p:cNvPicPr>
          <p:nvPr/>
        </p:nvPicPr>
        <p:blipFill>
          <a:blip r:embed="rId2" cstate="print"/>
          <a:srcRect/>
          <a:stretch>
            <a:fillRect/>
          </a:stretch>
        </p:blipFill>
        <p:spPr bwMode="auto">
          <a:xfrm>
            <a:off x="0" y="-24"/>
            <a:ext cx="2500298" cy="1189301"/>
          </a:xfrm>
          <a:prstGeom prst="rect">
            <a:avLst/>
          </a:prstGeom>
          <a:noFill/>
          <a:ln w="9525">
            <a:noFill/>
            <a:miter lim="800000"/>
            <a:headEnd/>
            <a:tailEnd/>
          </a:ln>
          <a:effectLst/>
        </p:spPr>
      </p:pic>
      <p:sp>
        <p:nvSpPr>
          <p:cNvPr id="6" name="5 Rectángulo"/>
          <p:cNvSpPr/>
          <p:nvPr/>
        </p:nvSpPr>
        <p:spPr>
          <a:xfrm>
            <a:off x="0" y="6534859"/>
            <a:ext cx="9144000" cy="323141"/>
          </a:xfrm>
          <a:prstGeom prst="rect">
            <a:avLst/>
          </a:prstGeom>
        </p:spPr>
        <p:txBody>
          <a:bodyPr wrap="square">
            <a:spAutoFit/>
          </a:bodyPr>
          <a:lstStyle/>
          <a:p>
            <a:pPr algn="ctr"/>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6: Emparejamiento /  21</a:t>
            </a:r>
            <a:endParaRPr lang="es-ES" sz="1500" dirty="0">
              <a:solidFill>
                <a:schemeClr val="tx1">
                  <a:lumMod val="50000"/>
                  <a:lumOff val="50000"/>
                </a:schemeClr>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3571868" y="274638"/>
            <a:ext cx="5114932" cy="1154098"/>
          </a:xfrm>
        </p:spPr>
        <p:txBody>
          <a:bodyPr>
            <a:normAutofit/>
          </a:bodyPr>
          <a:lstStyle/>
          <a:p>
            <a:r>
              <a:rPr lang="es-ES" sz="4200" u="sng" dirty="0" smtClean="0"/>
              <a:t>Soporte común</a:t>
            </a:r>
            <a:endParaRPr lang="es-AR" sz="4200" u="sng" dirty="0"/>
          </a:p>
        </p:txBody>
      </p:sp>
      <p:sp>
        <p:nvSpPr>
          <p:cNvPr id="3" name="2 Marcador de contenido"/>
          <p:cNvSpPr>
            <a:spLocks noGrp="1"/>
          </p:cNvSpPr>
          <p:nvPr>
            <p:ph idx="1"/>
          </p:nvPr>
        </p:nvSpPr>
        <p:spPr>
          <a:ln w="28575">
            <a:solidFill>
              <a:schemeClr val="bg1"/>
            </a:solidFill>
          </a:ln>
        </p:spPr>
        <p:txBody>
          <a:bodyPr>
            <a:normAutofit lnSpcReduction="10000"/>
          </a:bodyPr>
          <a:lstStyle/>
          <a:p>
            <a:endParaRPr lang="es-ES" sz="2500" dirty="0" smtClean="0"/>
          </a:p>
          <a:p>
            <a:r>
              <a:rPr lang="es-ES" sz="2500" dirty="0" smtClean="0"/>
              <a:t>Para estimar ATT usando PSM necesitamos asegurar que se cumple la condición de SC.</a:t>
            </a:r>
          </a:p>
          <a:p>
            <a:endParaRPr lang="es-ES" sz="2500" dirty="0"/>
          </a:p>
          <a:p>
            <a:endParaRPr lang="es-ES" sz="2500" dirty="0" smtClean="0"/>
          </a:p>
          <a:p>
            <a:endParaRPr lang="es-ES" sz="2500" dirty="0" smtClean="0"/>
          </a:p>
          <a:p>
            <a:r>
              <a:rPr lang="es-ES" sz="2500" dirty="0" smtClean="0"/>
              <a:t>Formas de hacerlo:</a:t>
            </a:r>
          </a:p>
          <a:p>
            <a:pPr>
              <a:buNone/>
            </a:pPr>
            <a:r>
              <a:rPr lang="es-ES" sz="2500" dirty="0" smtClean="0"/>
              <a:t>	</a:t>
            </a:r>
          </a:p>
          <a:p>
            <a:pPr marL="906463" indent="-457200">
              <a:buFont typeface="+mj-lt"/>
              <a:buAutoNum type="arabicPeriod"/>
              <a:tabLst>
                <a:tab pos="900113" algn="l"/>
              </a:tabLst>
            </a:pPr>
            <a:r>
              <a:rPr lang="es-ES" sz="2500" dirty="0" smtClean="0"/>
              <a:t>Inspección visual de las distribuciones de densidad de la probabilidad estimada de participación.</a:t>
            </a:r>
          </a:p>
          <a:p>
            <a:pPr>
              <a:buNone/>
            </a:pPr>
            <a:r>
              <a:rPr lang="es-ES" sz="2500" dirty="0"/>
              <a:t>	</a:t>
            </a:r>
            <a:endParaRPr lang="es-AR" sz="2500" dirty="0"/>
          </a:p>
        </p:txBody>
      </p:sp>
      <p:pic>
        <p:nvPicPr>
          <p:cNvPr id="6" name="Picture 1"/>
          <p:cNvPicPr>
            <a:picLocks noChangeAspect="1" noChangeArrowheads="1"/>
          </p:cNvPicPr>
          <p:nvPr/>
        </p:nvPicPr>
        <p:blipFill>
          <a:blip r:embed="rId3" cstate="print"/>
          <a:srcRect/>
          <a:stretch>
            <a:fillRect/>
          </a:stretch>
        </p:blipFill>
        <p:spPr bwMode="auto">
          <a:xfrm>
            <a:off x="0" y="-24"/>
            <a:ext cx="2500298" cy="1189301"/>
          </a:xfrm>
          <a:prstGeom prst="rect">
            <a:avLst/>
          </a:prstGeom>
          <a:noFill/>
          <a:ln w="9525">
            <a:noFill/>
            <a:miter lim="800000"/>
            <a:headEnd/>
            <a:tailEnd/>
          </a:ln>
          <a:effectLst/>
        </p:spPr>
      </p:pic>
      <p:sp>
        <p:nvSpPr>
          <p:cNvPr id="8" name="7 Rectángulo"/>
          <p:cNvSpPr/>
          <p:nvPr/>
        </p:nvSpPr>
        <p:spPr>
          <a:xfrm>
            <a:off x="0" y="6534859"/>
            <a:ext cx="9144000" cy="323165"/>
          </a:xfrm>
          <a:prstGeom prst="rect">
            <a:avLst/>
          </a:prstGeom>
        </p:spPr>
        <p:txBody>
          <a:bodyPr wrap="square">
            <a:spAutoFit/>
          </a:bodyPr>
          <a:lstStyle/>
          <a:p>
            <a:pPr algn="ctr"/>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6: Emparejamiento /  22</a:t>
            </a:r>
            <a:endParaRPr lang="es-ES" sz="1500" dirty="0">
              <a:solidFill>
                <a:schemeClr val="tx1">
                  <a:lumMod val="50000"/>
                  <a:lumOff val="50000"/>
                </a:schemeClr>
              </a:solidFill>
            </a:endParaRPr>
          </a:p>
        </p:txBody>
      </p:sp>
      <p:graphicFrame>
        <p:nvGraphicFramePr>
          <p:cNvPr id="7170" name="Object 2"/>
          <p:cNvGraphicFramePr>
            <a:graphicFrameLocks noChangeAspect="1"/>
          </p:cNvGraphicFramePr>
          <p:nvPr>
            <p:extLst>
              <p:ext uri="{D42A27DB-BD31-4B8C-83A1-F6EECF244321}">
                <p14:modId xmlns="" xmlns:p14="http://schemas.microsoft.com/office/powerpoint/2010/main" val="3667869802"/>
              </p:ext>
            </p:extLst>
          </p:nvPr>
        </p:nvGraphicFramePr>
        <p:xfrm>
          <a:off x="1500166" y="3214690"/>
          <a:ext cx="5907087" cy="642938"/>
        </p:xfrm>
        <a:graphic>
          <a:graphicData uri="http://schemas.openxmlformats.org/presentationml/2006/ole">
            <p:oleObj spid="_x0000_s7175" name="Documento" r:id="rId4" imgW="5402470" imgH="588439" progId="Word.Document.12">
              <p:embed/>
            </p:oleObj>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786050" y="274638"/>
            <a:ext cx="5900750" cy="939784"/>
          </a:xfrm>
        </p:spPr>
        <p:txBody>
          <a:bodyPr>
            <a:noAutofit/>
          </a:bodyPr>
          <a:lstStyle/>
          <a:p>
            <a:r>
              <a:rPr lang="es-AR" sz="4200" u="sng" dirty="0" smtClean="0"/>
              <a:t>Condición de soporte común</a:t>
            </a:r>
            <a:endParaRPr lang="es-AR" sz="4200" u="sng" dirty="0"/>
          </a:p>
        </p:txBody>
      </p:sp>
      <p:pic>
        <p:nvPicPr>
          <p:cNvPr id="4" name="Picture 11"/>
          <p:cNvPicPr/>
          <p:nvPr/>
        </p:nvPicPr>
        <p:blipFill>
          <a:blip r:embed="rId3" cstate="print"/>
          <a:srcRect/>
          <a:stretch>
            <a:fillRect/>
          </a:stretch>
        </p:blipFill>
        <p:spPr bwMode="auto">
          <a:xfrm>
            <a:off x="500034" y="1357298"/>
            <a:ext cx="7929618" cy="4214842"/>
          </a:xfrm>
          <a:prstGeom prst="rect">
            <a:avLst/>
          </a:prstGeom>
          <a:noFill/>
          <a:ln w="9525">
            <a:noFill/>
            <a:miter lim="800000"/>
            <a:headEnd/>
            <a:tailEnd/>
          </a:ln>
        </p:spPr>
      </p:pic>
      <p:sp>
        <p:nvSpPr>
          <p:cNvPr id="5" name="4 Rectángulo"/>
          <p:cNvSpPr/>
          <p:nvPr/>
        </p:nvSpPr>
        <p:spPr>
          <a:xfrm>
            <a:off x="2285984" y="1500174"/>
            <a:ext cx="2857520" cy="28575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050"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2051" name="Rectangle 3"/>
          <p:cNvSpPr>
            <a:spLocks noChangeArrowheads="1"/>
          </p:cNvSpPr>
          <p:nvPr/>
        </p:nvSpPr>
        <p:spPr bwMode="auto">
          <a:xfrm>
            <a:off x="0" y="8382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800" b="0" i="0" u="none" strike="noStrike" cap="none" normalizeH="0" baseline="0" smtClean="0">
              <a:ln>
                <a:noFill/>
              </a:ln>
              <a:solidFill>
                <a:schemeClr val="tx1"/>
              </a:solidFill>
              <a:effectLst/>
              <a:latin typeface="Arial" pitchFamily="34" charset="0"/>
            </a:endParaRPr>
          </a:p>
        </p:txBody>
      </p:sp>
      <p:sp>
        <p:nvSpPr>
          <p:cNvPr id="11" name="10 Abrir llave"/>
          <p:cNvSpPr/>
          <p:nvPr/>
        </p:nvSpPr>
        <p:spPr>
          <a:xfrm rot="16200000">
            <a:off x="1678761" y="4679165"/>
            <a:ext cx="142876" cy="642942"/>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
          </a:p>
        </p:txBody>
      </p:sp>
      <p:sp>
        <p:nvSpPr>
          <p:cNvPr id="12" name="11 CuadroTexto"/>
          <p:cNvSpPr txBox="1"/>
          <p:nvPr/>
        </p:nvSpPr>
        <p:spPr>
          <a:xfrm>
            <a:off x="571472" y="5067556"/>
            <a:ext cx="3500462" cy="861774"/>
          </a:xfrm>
          <a:prstGeom prst="rect">
            <a:avLst/>
          </a:prstGeom>
          <a:noFill/>
        </p:spPr>
        <p:txBody>
          <a:bodyPr wrap="square" rtlCol="0">
            <a:spAutoFit/>
          </a:bodyPr>
          <a:lstStyle/>
          <a:p>
            <a:r>
              <a:rPr lang="es-ES_tradnl" sz="2500" dirty="0" smtClean="0"/>
              <a:t>No existen observaciones del grupo de tratamiento.</a:t>
            </a:r>
            <a:endParaRPr lang="es-ES" sz="2500" dirty="0"/>
          </a:p>
        </p:txBody>
      </p:sp>
      <p:sp>
        <p:nvSpPr>
          <p:cNvPr id="14" name="13 Rectángulo"/>
          <p:cNvSpPr/>
          <p:nvPr/>
        </p:nvSpPr>
        <p:spPr>
          <a:xfrm>
            <a:off x="4714876" y="5138994"/>
            <a:ext cx="3857652" cy="861774"/>
          </a:xfrm>
          <a:prstGeom prst="rect">
            <a:avLst/>
          </a:prstGeom>
        </p:spPr>
        <p:txBody>
          <a:bodyPr wrap="square">
            <a:spAutoFit/>
          </a:bodyPr>
          <a:lstStyle/>
          <a:p>
            <a:r>
              <a:rPr lang="es-ES_tradnl" sz="2500" dirty="0" smtClean="0"/>
              <a:t>No existen observaciones del grupo de control.</a:t>
            </a:r>
            <a:endParaRPr lang="es-ES" sz="2500" dirty="0"/>
          </a:p>
        </p:txBody>
      </p:sp>
      <p:sp>
        <p:nvSpPr>
          <p:cNvPr id="15" name="14 Abrir llave"/>
          <p:cNvSpPr/>
          <p:nvPr/>
        </p:nvSpPr>
        <p:spPr>
          <a:xfrm rot="16200000">
            <a:off x="5750727" y="4679165"/>
            <a:ext cx="142876" cy="642942"/>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
          </a:p>
        </p:txBody>
      </p:sp>
      <p:pic>
        <p:nvPicPr>
          <p:cNvPr id="16" name="Picture 1"/>
          <p:cNvPicPr>
            <a:picLocks noChangeAspect="1" noChangeArrowheads="1"/>
          </p:cNvPicPr>
          <p:nvPr/>
        </p:nvPicPr>
        <p:blipFill>
          <a:blip r:embed="rId4" cstate="print"/>
          <a:srcRect/>
          <a:stretch>
            <a:fillRect/>
          </a:stretch>
        </p:blipFill>
        <p:spPr bwMode="auto">
          <a:xfrm>
            <a:off x="0" y="-24"/>
            <a:ext cx="2500298" cy="1189301"/>
          </a:xfrm>
          <a:prstGeom prst="rect">
            <a:avLst/>
          </a:prstGeom>
          <a:noFill/>
          <a:ln w="9525">
            <a:noFill/>
            <a:miter lim="800000"/>
            <a:headEnd/>
            <a:tailEnd/>
          </a:ln>
          <a:effectLst/>
        </p:spPr>
      </p:pic>
      <p:sp>
        <p:nvSpPr>
          <p:cNvPr id="17" name="16 Rectángulo"/>
          <p:cNvSpPr/>
          <p:nvPr/>
        </p:nvSpPr>
        <p:spPr>
          <a:xfrm>
            <a:off x="0" y="6534859"/>
            <a:ext cx="9144000" cy="323141"/>
          </a:xfrm>
          <a:prstGeom prst="rect">
            <a:avLst/>
          </a:prstGeom>
        </p:spPr>
        <p:txBody>
          <a:bodyPr wrap="square">
            <a:spAutoFit/>
          </a:bodyPr>
          <a:lstStyle/>
          <a:p>
            <a:pPr algn="ctr"/>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6: Emparejamiento /  23</a:t>
            </a:r>
            <a:endParaRPr lang="es-ES" sz="1500" dirty="0">
              <a:solidFill>
                <a:schemeClr val="tx1">
                  <a:lumMod val="50000"/>
                  <a:lumOff val="50000"/>
                </a:schemeClr>
              </a:solidFill>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928926" y="274638"/>
            <a:ext cx="5757874" cy="1143000"/>
          </a:xfrm>
        </p:spPr>
        <p:txBody>
          <a:bodyPr>
            <a:noAutofit/>
          </a:bodyPr>
          <a:lstStyle/>
          <a:p>
            <a:r>
              <a:rPr lang="es-ES_tradnl" sz="4200" u="sng" dirty="0" smtClean="0"/>
              <a:t>Formas de identificar el soporte común</a:t>
            </a:r>
            <a:endParaRPr lang="es-ES" sz="4200" u="sng" dirty="0"/>
          </a:p>
        </p:txBody>
      </p:sp>
      <p:sp>
        <p:nvSpPr>
          <p:cNvPr id="3" name="2 Marcador de contenido"/>
          <p:cNvSpPr>
            <a:spLocks noGrp="1"/>
          </p:cNvSpPr>
          <p:nvPr>
            <p:ph idx="1"/>
          </p:nvPr>
        </p:nvSpPr>
        <p:spPr/>
        <p:txBody>
          <a:bodyPr>
            <a:normAutofit/>
          </a:bodyPr>
          <a:lstStyle/>
          <a:p>
            <a:pPr marL="514350" indent="-514350">
              <a:buFont typeface="+mj-lt"/>
              <a:buAutoNum type="arabicPeriod" startAt="2"/>
            </a:pPr>
            <a:endParaRPr lang="es-ES_tradnl" sz="2500" dirty="0" smtClean="0"/>
          </a:p>
          <a:p>
            <a:pPr marL="514350" indent="-514350" algn="just">
              <a:buFont typeface="+mj-lt"/>
              <a:buAutoNum type="arabicPeriod" startAt="2"/>
            </a:pPr>
            <a:endParaRPr lang="es-ES_tradnl" sz="2500" dirty="0" smtClean="0"/>
          </a:p>
          <a:p>
            <a:pPr marL="1166813" indent="-514350">
              <a:buFont typeface="+mj-lt"/>
              <a:buAutoNum type="arabicPeriod" startAt="2"/>
            </a:pPr>
            <a:r>
              <a:rPr lang="es-ES_tradnl" sz="2500" dirty="0" smtClean="0"/>
              <a:t>Criterio de mínimo y máximo: Elimina observaciones inferiores al mínimo y mayores al máximo del otro grupo.</a:t>
            </a:r>
          </a:p>
          <a:p>
            <a:pPr marL="1166813" indent="-514350" algn="just">
              <a:buFont typeface="+mj-lt"/>
              <a:buAutoNum type="arabicPeriod" startAt="2"/>
            </a:pPr>
            <a:endParaRPr lang="es-ES_tradnl" sz="2500" dirty="0" smtClean="0"/>
          </a:p>
          <a:p>
            <a:pPr marL="1166813" indent="-514350">
              <a:buFont typeface="+mj-lt"/>
              <a:buAutoNum type="arabicPeriod" startAt="2"/>
            </a:pPr>
            <a:r>
              <a:rPr lang="es-ES_tradnl" sz="2500" dirty="0" smtClean="0"/>
              <a:t>Elegir variables de la probabilidad estimada de participación para los cuales hay densidad positiva en los dos grupos.</a:t>
            </a:r>
            <a:endParaRPr lang="es-ES" sz="2500" dirty="0"/>
          </a:p>
        </p:txBody>
      </p:sp>
      <p:pic>
        <p:nvPicPr>
          <p:cNvPr id="4" name="Picture 1"/>
          <p:cNvPicPr>
            <a:picLocks noChangeAspect="1" noChangeArrowheads="1"/>
          </p:cNvPicPr>
          <p:nvPr/>
        </p:nvPicPr>
        <p:blipFill>
          <a:blip r:embed="rId3" cstate="print"/>
          <a:srcRect/>
          <a:stretch>
            <a:fillRect/>
          </a:stretch>
        </p:blipFill>
        <p:spPr bwMode="auto">
          <a:xfrm>
            <a:off x="0" y="-24"/>
            <a:ext cx="2500298" cy="1189301"/>
          </a:xfrm>
          <a:prstGeom prst="rect">
            <a:avLst/>
          </a:prstGeom>
          <a:noFill/>
          <a:ln w="9525">
            <a:noFill/>
            <a:miter lim="800000"/>
            <a:headEnd/>
            <a:tailEnd/>
          </a:ln>
          <a:effectLst/>
        </p:spPr>
      </p:pic>
      <p:sp>
        <p:nvSpPr>
          <p:cNvPr id="7" name="6 Rectángulo"/>
          <p:cNvSpPr/>
          <p:nvPr/>
        </p:nvSpPr>
        <p:spPr>
          <a:xfrm>
            <a:off x="0" y="6534859"/>
            <a:ext cx="9144000" cy="323141"/>
          </a:xfrm>
          <a:prstGeom prst="rect">
            <a:avLst/>
          </a:prstGeom>
        </p:spPr>
        <p:txBody>
          <a:bodyPr wrap="square">
            <a:spAutoFit/>
          </a:bodyPr>
          <a:lstStyle/>
          <a:p>
            <a:pPr algn="ctr"/>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6: Emparejamiento /  24</a:t>
            </a:r>
            <a:endParaRPr lang="es-ES" sz="1500" dirty="0">
              <a:solidFill>
                <a:schemeClr val="tx1">
                  <a:lumMod val="50000"/>
                  <a:lumOff val="50000"/>
                </a:schemeClr>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857488" y="274638"/>
            <a:ext cx="5829312" cy="1143000"/>
          </a:xfrm>
        </p:spPr>
        <p:txBody>
          <a:bodyPr/>
          <a:lstStyle/>
          <a:p>
            <a:r>
              <a:rPr lang="es-CO" u="sng" dirty="0" smtClean="0"/>
              <a:t>Ejemplo: </a:t>
            </a:r>
            <a:r>
              <a:rPr lang="es-CO" i="1" u="sng" dirty="0" smtClean="0"/>
              <a:t>Canasta</a:t>
            </a:r>
            <a:endParaRPr lang="es-ES" u="sng" dirty="0"/>
          </a:p>
        </p:txBody>
      </p:sp>
      <p:sp>
        <p:nvSpPr>
          <p:cNvPr id="3" name="2 Marcador de contenido"/>
          <p:cNvSpPr>
            <a:spLocks noGrp="1"/>
          </p:cNvSpPr>
          <p:nvPr>
            <p:ph idx="1"/>
          </p:nvPr>
        </p:nvSpPr>
        <p:spPr>
          <a:xfrm>
            <a:off x="357158" y="1600200"/>
            <a:ext cx="8501122" cy="4525963"/>
          </a:xfrm>
          <a:ln w="28575">
            <a:solidFill>
              <a:schemeClr val="accent1">
                <a:lumMod val="75000"/>
              </a:schemeClr>
            </a:solidFill>
          </a:ln>
        </p:spPr>
        <p:txBody>
          <a:bodyPr>
            <a:normAutofit/>
          </a:bodyPr>
          <a:lstStyle/>
          <a:p>
            <a:r>
              <a:rPr lang="es-CO" sz="2500" u="sng" dirty="0" err="1" smtClean="0"/>
              <a:t>Submuestra</a:t>
            </a:r>
            <a:r>
              <a:rPr lang="es-CO" sz="2500" u="sng" dirty="0" smtClean="0"/>
              <a:t>:</a:t>
            </a:r>
            <a:r>
              <a:rPr lang="es-CO" sz="2500" dirty="0" smtClean="0"/>
              <a:t> 10 familias del grupo de tratamiento.</a:t>
            </a:r>
            <a:endParaRPr lang="es-ES" sz="1300" u="sng" dirty="0" smtClean="0"/>
          </a:p>
          <a:p>
            <a:pPr>
              <a:buNone/>
            </a:pPr>
            <a:r>
              <a:rPr lang="es-CO" sz="1300" dirty="0" smtClean="0"/>
              <a:t>    			         </a:t>
            </a:r>
            <a:r>
              <a:rPr lang="es-CO" sz="2500" dirty="0" smtClean="0"/>
              <a:t>10 familias del grupo de control.</a:t>
            </a:r>
          </a:p>
          <a:p>
            <a:pPr>
              <a:buNone/>
            </a:pPr>
            <a:endParaRPr lang="es-CO" sz="2500" dirty="0" smtClean="0"/>
          </a:p>
          <a:p>
            <a:pPr>
              <a:buNone/>
            </a:pPr>
            <a:endParaRPr lang="es-CO" sz="2500" dirty="0" smtClean="0"/>
          </a:p>
        </p:txBody>
      </p:sp>
      <p:graphicFrame>
        <p:nvGraphicFramePr>
          <p:cNvPr id="4" name="3 Tabla"/>
          <p:cNvGraphicFramePr>
            <a:graphicFrameLocks noGrp="1"/>
          </p:cNvGraphicFramePr>
          <p:nvPr/>
        </p:nvGraphicFramePr>
        <p:xfrm>
          <a:off x="500034" y="4103382"/>
          <a:ext cx="8286807" cy="1325882"/>
        </p:xfrm>
        <a:graphic>
          <a:graphicData uri="http://schemas.openxmlformats.org/drawingml/2006/table">
            <a:tbl>
              <a:tblPr/>
              <a:tblGrid>
                <a:gridCol w="1428758"/>
                <a:gridCol w="715134"/>
                <a:gridCol w="618375"/>
                <a:gridCol w="743688"/>
                <a:gridCol w="637447"/>
                <a:gridCol w="743688"/>
                <a:gridCol w="743688"/>
                <a:gridCol w="743688"/>
                <a:gridCol w="637447"/>
                <a:gridCol w="637447"/>
                <a:gridCol w="637447"/>
              </a:tblGrid>
              <a:tr h="209555">
                <a:tc>
                  <a:txBody>
                    <a:bodyPr/>
                    <a:lstStyle/>
                    <a:p>
                      <a:pPr algn="just">
                        <a:spcAft>
                          <a:spcPts val="0"/>
                        </a:spcAft>
                      </a:pPr>
                      <a:endParaRPr lang="es-ES" sz="2000" dirty="0">
                        <a:latin typeface="Times New Roman"/>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2000" dirty="0">
                          <a:latin typeface="Times New Roman"/>
                          <a:ea typeface="Times New Roman"/>
                          <a:cs typeface="Times New Roman"/>
                        </a:rPr>
                        <a:t>1</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2000" dirty="0">
                          <a:latin typeface="Times New Roman"/>
                          <a:ea typeface="Times New Roman"/>
                          <a:cs typeface="Times New Roman"/>
                        </a:rPr>
                        <a:t>2</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2000" dirty="0">
                          <a:latin typeface="Times New Roman"/>
                          <a:ea typeface="Times New Roman"/>
                          <a:cs typeface="Times New Roman"/>
                        </a:rPr>
                        <a:t>3</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2000" dirty="0">
                          <a:latin typeface="Times New Roman"/>
                          <a:ea typeface="Times New Roman"/>
                          <a:cs typeface="Times New Roman"/>
                        </a:rPr>
                        <a:t>4</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2000" dirty="0">
                          <a:latin typeface="Times New Roman"/>
                          <a:ea typeface="Times New Roman"/>
                          <a:cs typeface="Times New Roman"/>
                        </a:rPr>
                        <a:t>5</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2000" dirty="0">
                          <a:latin typeface="Times New Roman"/>
                          <a:ea typeface="Times New Roman"/>
                          <a:cs typeface="Times New Roman"/>
                        </a:rPr>
                        <a:t>6</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2000" dirty="0">
                          <a:latin typeface="Times New Roman"/>
                          <a:ea typeface="Times New Roman"/>
                          <a:cs typeface="Times New Roman"/>
                        </a:rPr>
                        <a:t>7</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2000" dirty="0">
                          <a:latin typeface="Times New Roman"/>
                          <a:ea typeface="Times New Roman"/>
                          <a:cs typeface="Times New Roman"/>
                        </a:rPr>
                        <a:t>8</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2000" dirty="0">
                          <a:latin typeface="Times New Roman"/>
                          <a:ea typeface="Times New Roman"/>
                          <a:cs typeface="Times New Roman"/>
                        </a:rPr>
                        <a:t>9</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2000" dirty="0">
                          <a:latin typeface="Times New Roman"/>
                          <a:ea typeface="Times New Roman"/>
                          <a:cs typeface="Times New Roman"/>
                        </a:rPr>
                        <a:t>10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04825">
                <a:tc>
                  <a:txBody>
                    <a:bodyPr/>
                    <a:lstStyle/>
                    <a:p>
                      <a:pPr algn="l">
                        <a:spcAft>
                          <a:spcPts val="0"/>
                        </a:spcAft>
                      </a:pPr>
                      <a:r>
                        <a:rPr lang="es-ES" sz="2000" dirty="0">
                          <a:latin typeface="Times New Roman"/>
                          <a:ea typeface="Times New Roman"/>
                          <a:cs typeface="Times New Roman"/>
                        </a:rPr>
                        <a:t>Tratamiento</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2000" dirty="0">
                          <a:latin typeface="Times New Roman"/>
                          <a:ea typeface="Times New Roman"/>
                          <a:cs typeface="Times New Roman"/>
                        </a:rPr>
                        <a:t>0.40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2000" dirty="0">
                          <a:latin typeface="Times New Roman"/>
                          <a:ea typeface="Times New Roman"/>
                          <a:cs typeface="Times New Roman"/>
                        </a:rPr>
                        <a:t>0.48</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2000" dirty="0">
                          <a:latin typeface="Times New Roman"/>
                          <a:ea typeface="Times New Roman"/>
                          <a:cs typeface="Times New Roman"/>
                        </a:rPr>
                        <a:t>0.54</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2000" dirty="0">
                          <a:latin typeface="Times New Roman"/>
                          <a:ea typeface="Times New Roman"/>
                          <a:cs typeface="Times New Roman"/>
                        </a:rPr>
                        <a:t>0.65</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2000" dirty="0">
                          <a:latin typeface="Times New Roman"/>
                          <a:ea typeface="Times New Roman"/>
                          <a:cs typeface="Times New Roman"/>
                        </a:rPr>
                        <a:t>0.75</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2000" dirty="0">
                          <a:latin typeface="Times New Roman"/>
                          <a:ea typeface="Times New Roman"/>
                          <a:cs typeface="Times New Roman"/>
                        </a:rPr>
                        <a:t>0.76</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2000" dirty="0">
                          <a:latin typeface="Times New Roman"/>
                          <a:ea typeface="Times New Roman"/>
                          <a:cs typeface="Times New Roman"/>
                        </a:rPr>
                        <a:t>0.77</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2000" dirty="0">
                          <a:latin typeface="Times New Roman"/>
                          <a:ea typeface="Times New Roman"/>
                          <a:cs typeface="Times New Roman"/>
                        </a:rPr>
                        <a:t>0.8</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2000" dirty="0">
                          <a:latin typeface="Times New Roman"/>
                          <a:ea typeface="Times New Roman"/>
                          <a:cs typeface="Times New Roman"/>
                        </a:rPr>
                        <a:t>0.86</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2000">
                          <a:latin typeface="Times New Roman"/>
                          <a:ea typeface="Times New Roman"/>
                          <a:cs typeface="Times New Roman"/>
                        </a:rPr>
                        <a:t>0.9</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16257">
                <a:tc>
                  <a:txBody>
                    <a:bodyPr/>
                    <a:lstStyle/>
                    <a:p>
                      <a:pPr algn="l">
                        <a:spcAft>
                          <a:spcPts val="0"/>
                        </a:spcAft>
                      </a:pPr>
                      <a:r>
                        <a:rPr lang="es-ES" sz="2000" dirty="0">
                          <a:latin typeface="Times New Roman"/>
                          <a:ea typeface="Times New Roman"/>
                          <a:cs typeface="Times New Roman"/>
                        </a:rPr>
                        <a:t>Control</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2000" dirty="0">
                          <a:latin typeface="Times New Roman"/>
                          <a:ea typeface="Times New Roman"/>
                          <a:cs typeface="Times New Roman"/>
                        </a:rPr>
                        <a:t>0.21</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2000" dirty="0">
                          <a:latin typeface="Times New Roman"/>
                          <a:ea typeface="Times New Roman"/>
                          <a:cs typeface="Times New Roman"/>
                        </a:rPr>
                        <a:t>0.30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2000" dirty="0">
                          <a:latin typeface="Times New Roman"/>
                          <a:ea typeface="Times New Roman"/>
                          <a:cs typeface="Times New Roman"/>
                        </a:rPr>
                        <a:t>0.38</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2000" dirty="0">
                          <a:latin typeface="Times New Roman"/>
                          <a:ea typeface="Times New Roman"/>
                          <a:cs typeface="Times New Roman"/>
                        </a:rPr>
                        <a:t>0.42</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2000" dirty="0">
                          <a:latin typeface="Times New Roman"/>
                          <a:ea typeface="Times New Roman"/>
                          <a:cs typeface="Times New Roman"/>
                        </a:rPr>
                        <a:t>0.52</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2000" dirty="0">
                          <a:latin typeface="Times New Roman"/>
                          <a:ea typeface="Times New Roman"/>
                          <a:cs typeface="Times New Roman"/>
                        </a:rPr>
                        <a:t>0.55</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2000" dirty="0">
                          <a:latin typeface="Times New Roman"/>
                          <a:ea typeface="Times New Roman"/>
                          <a:cs typeface="Times New Roman"/>
                        </a:rPr>
                        <a:t>0.59</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2000" dirty="0">
                          <a:latin typeface="Times New Roman"/>
                          <a:ea typeface="Times New Roman"/>
                          <a:cs typeface="Times New Roman"/>
                        </a:rPr>
                        <a:t>0.62</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2000" dirty="0">
                          <a:latin typeface="Times New Roman"/>
                          <a:ea typeface="Times New Roman"/>
                          <a:cs typeface="Times New Roman"/>
                        </a:rPr>
                        <a:t>0.65</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2000" dirty="0">
                          <a:latin typeface="Times New Roman"/>
                          <a:ea typeface="Times New Roman"/>
                          <a:cs typeface="Times New Roman"/>
                        </a:rPr>
                        <a:t>0.77</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5" name="4 CuadroTexto"/>
          <p:cNvSpPr txBox="1"/>
          <p:nvPr/>
        </p:nvSpPr>
        <p:spPr>
          <a:xfrm>
            <a:off x="756809" y="3452012"/>
            <a:ext cx="5672579" cy="477054"/>
          </a:xfrm>
          <a:prstGeom prst="rect">
            <a:avLst/>
          </a:prstGeom>
          <a:noFill/>
        </p:spPr>
        <p:txBody>
          <a:bodyPr wrap="none" rtlCol="0">
            <a:spAutoFit/>
          </a:bodyPr>
          <a:lstStyle/>
          <a:p>
            <a:r>
              <a:rPr lang="es-CO" sz="2500" dirty="0" smtClean="0"/>
              <a:t>Probabilidades estimadas de participación</a:t>
            </a:r>
            <a:endParaRPr lang="es-ES" sz="2500" dirty="0"/>
          </a:p>
        </p:txBody>
      </p:sp>
      <p:pic>
        <p:nvPicPr>
          <p:cNvPr id="6" name="Picture 1"/>
          <p:cNvPicPr>
            <a:picLocks noChangeAspect="1" noChangeArrowheads="1"/>
          </p:cNvPicPr>
          <p:nvPr/>
        </p:nvPicPr>
        <p:blipFill>
          <a:blip r:embed="rId2" cstate="print"/>
          <a:srcRect/>
          <a:stretch>
            <a:fillRect/>
          </a:stretch>
        </p:blipFill>
        <p:spPr bwMode="auto">
          <a:xfrm>
            <a:off x="0" y="-24"/>
            <a:ext cx="2500298" cy="1189301"/>
          </a:xfrm>
          <a:prstGeom prst="rect">
            <a:avLst/>
          </a:prstGeom>
          <a:noFill/>
          <a:ln w="9525">
            <a:noFill/>
            <a:miter lim="800000"/>
            <a:headEnd/>
            <a:tailEnd/>
          </a:ln>
          <a:effectLst/>
        </p:spPr>
      </p:pic>
      <p:sp>
        <p:nvSpPr>
          <p:cNvPr id="8" name="7 Rectángulo"/>
          <p:cNvSpPr/>
          <p:nvPr/>
        </p:nvSpPr>
        <p:spPr>
          <a:xfrm>
            <a:off x="0" y="6534859"/>
            <a:ext cx="9144000" cy="323141"/>
          </a:xfrm>
          <a:prstGeom prst="rect">
            <a:avLst/>
          </a:prstGeom>
        </p:spPr>
        <p:txBody>
          <a:bodyPr wrap="square">
            <a:spAutoFit/>
          </a:bodyPr>
          <a:lstStyle/>
          <a:p>
            <a:pPr algn="ctr"/>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6: Emparejamiento /  25</a:t>
            </a:r>
            <a:endParaRPr lang="es-ES" sz="1500" dirty="0">
              <a:solidFill>
                <a:schemeClr val="tx1">
                  <a:lumMod val="50000"/>
                  <a:lumOff val="50000"/>
                </a:schemeClr>
              </a:solidFill>
            </a:endParaRPr>
          </a:p>
        </p:txBody>
      </p:sp>
      <p:sp>
        <p:nvSpPr>
          <p:cNvPr id="9" name="8 Elipse"/>
          <p:cNvSpPr/>
          <p:nvPr/>
        </p:nvSpPr>
        <p:spPr>
          <a:xfrm>
            <a:off x="1996812" y="4945158"/>
            <a:ext cx="2143140" cy="500066"/>
          </a:xfrm>
          <a:prstGeom prst="ellipse">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lang="es-CO"/>
          </a:p>
        </p:txBody>
      </p:sp>
      <p:sp>
        <p:nvSpPr>
          <p:cNvPr id="10" name="9 Elipse"/>
          <p:cNvSpPr/>
          <p:nvPr/>
        </p:nvSpPr>
        <p:spPr>
          <a:xfrm>
            <a:off x="6821348" y="4441102"/>
            <a:ext cx="2143140" cy="500066"/>
          </a:xfrm>
          <a:prstGeom prst="ellipse">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lang="es-CO"/>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28596" y="1785926"/>
            <a:ext cx="8229600" cy="4240211"/>
          </a:xfrm>
          <a:ln w="28575">
            <a:solidFill>
              <a:schemeClr val="accent1">
                <a:lumMod val="75000"/>
              </a:schemeClr>
            </a:solidFill>
          </a:ln>
        </p:spPr>
        <p:txBody>
          <a:bodyPr>
            <a:normAutofit/>
          </a:bodyPr>
          <a:lstStyle/>
          <a:p>
            <a:r>
              <a:rPr lang="es-CO" sz="2500" u="sng" dirty="0" smtClean="0"/>
              <a:t>Zona de soporte común</a:t>
            </a:r>
            <a:r>
              <a:rPr lang="es-CO" sz="2500" dirty="0" smtClean="0"/>
              <a:t>:  </a:t>
            </a:r>
            <a:endParaRPr lang="es-ES" sz="2500" dirty="0"/>
          </a:p>
        </p:txBody>
      </p:sp>
      <p:sp>
        <p:nvSpPr>
          <p:cNvPr id="71682"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71684" name="Rectangle 4"/>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71685" name="Rectangle 5"/>
          <p:cNvSpPr>
            <a:spLocks noChangeArrowheads="1"/>
          </p:cNvSpPr>
          <p:nvPr/>
        </p:nvSpPr>
        <p:spPr bwMode="auto">
          <a:xfrm>
            <a:off x="0" y="8477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800" b="0" i="0" u="none" strike="noStrike" cap="none" normalizeH="0" baseline="0" smtClean="0">
              <a:ln>
                <a:noFill/>
              </a:ln>
              <a:solidFill>
                <a:schemeClr val="tx1"/>
              </a:solidFill>
              <a:effectLst/>
              <a:latin typeface="Arial" pitchFamily="34" charset="0"/>
            </a:endParaRPr>
          </a:p>
        </p:txBody>
      </p:sp>
      <p:sp>
        <p:nvSpPr>
          <p:cNvPr id="71687" name="Rectangle 7"/>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71688" name="Rectangle 8"/>
          <p:cNvSpPr>
            <a:spLocks noChangeArrowheads="1"/>
          </p:cNvSpPr>
          <p:nvPr/>
        </p:nvSpPr>
        <p:spPr bwMode="auto">
          <a:xfrm>
            <a:off x="0" y="8477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800" b="0" i="0" u="none" strike="noStrike" cap="none" normalizeH="0" baseline="0" smtClean="0">
              <a:ln>
                <a:noFill/>
              </a:ln>
              <a:solidFill>
                <a:schemeClr val="tx1"/>
              </a:solidFill>
              <a:effectLst/>
              <a:latin typeface="Arial" pitchFamily="34" charset="0"/>
            </a:endParaRPr>
          </a:p>
        </p:txBody>
      </p:sp>
      <p:graphicFrame>
        <p:nvGraphicFramePr>
          <p:cNvPr id="12" name="11 Tabla"/>
          <p:cNvGraphicFramePr>
            <a:graphicFrameLocks noGrp="1"/>
          </p:cNvGraphicFramePr>
          <p:nvPr/>
        </p:nvGraphicFramePr>
        <p:xfrm>
          <a:off x="857224" y="3786190"/>
          <a:ext cx="7429553" cy="1417326"/>
        </p:xfrm>
        <a:graphic>
          <a:graphicData uri="http://schemas.openxmlformats.org/drawingml/2006/table">
            <a:tbl>
              <a:tblPr/>
              <a:tblGrid>
                <a:gridCol w="1598211"/>
                <a:gridCol w="831898"/>
                <a:gridCol w="833049"/>
                <a:gridCol w="833049"/>
                <a:gridCol w="833049"/>
                <a:gridCol w="833049"/>
                <a:gridCol w="833049"/>
                <a:gridCol w="834199"/>
              </a:tblGrid>
              <a:tr h="472442">
                <a:tc>
                  <a:txBody>
                    <a:bodyPr/>
                    <a:lstStyle/>
                    <a:p>
                      <a:pPr algn="l">
                        <a:spcAft>
                          <a:spcPts val="0"/>
                        </a:spcAft>
                      </a:pPr>
                      <a:endParaRPr lang="es-ES" sz="2000" dirty="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2000" dirty="0">
                          <a:latin typeface="Times New Roman"/>
                          <a:ea typeface="Times New Roman"/>
                          <a:cs typeface="Times New Roman"/>
                        </a:rPr>
                        <a:t>1</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2000">
                          <a:latin typeface="Times New Roman"/>
                          <a:ea typeface="Times New Roman"/>
                          <a:cs typeface="Times New Roman"/>
                        </a:rPr>
                        <a:t>2</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2000">
                          <a:latin typeface="Times New Roman"/>
                          <a:ea typeface="Times New Roman"/>
                          <a:cs typeface="Times New Roman"/>
                        </a:rPr>
                        <a:t>3</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2000">
                          <a:latin typeface="Times New Roman"/>
                          <a:ea typeface="Times New Roman"/>
                          <a:cs typeface="Times New Roman"/>
                        </a:rPr>
                        <a:t>4</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2000">
                          <a:latin typeface="Times New Roman"/>
                          <a:ea typeface="Times New Roman"/>
                          <a:cs typeface="Times New Roman"/>
                        </a:rPr>
                        <a:t>5</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2000">
                          <a:latin typeface="Times New Roman"/>
                          <a:ea typeface="Times New Roman"/>
                          <a:cs typeface="Times New Roman"/>
                        </a:rPr>
                        <a:t>6</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2000" dirty="0">
                          <a:latin typeface="Times New Roman"/>
                          <a:ea typeface="Times New Roman"/>
                          <a:cs typeface="Times New Roman"/>
                        </a:rPr>
                        <a:t>7</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72442">
                <a:tc>
                  <a:txBody>
                    <a:bodyPr/>
                    <a:lstStyle/>
                    <a:p>
                      <a:pPr algn="l">
                        <a:spcAft>
                          <a:spcPts val="0"/>
                        </a:spcAft>
                      </a:pPr>
                      <a:r>
                        <a:rPr lang="es-ES" sz="2000" dirty="0">
                          <a:latin typeface="Times New Roman"/>
                          <a:ea typeface="Times New Roman"/>
                          <a:cs typeface="Times New Roman"/>
                        </a:rPr>
                        <a:t>Tratamiento</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2000" dirty="0">
                          <a:latin typeface="Times New Roman"/>
                          <a:ea typeface="Times New Roman"/>
                          <a:cs typeface="Times New Roman"/>
                        </a:rPr>
                        <a:t>0.40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2000" dirty="0">
                          <a:latin typeface="Times New Roman"/>
                          <a:ea typeface="Times New Roman"/>
                          <a:cs typeface="Times New Roman"/>
                        </a:rPr>
                        <a:t>0.48</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2000" dirty="0">
                          <a:latin typeface="Times New Roman"/>
                          <a:ea typeface="Times New Roman"/>
                          <a:cs typeface="Times New Roman"/>
                        </a:rPr>
                        <a:t>0.54</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2000" dirty="0">
                          <a:latin typeface="Times New Roman"/>
                          <a:ea typeface="Times New Roman"/>
                          <a:cs typeface="Times New Roman"/>
                        </a:rPr>
                        <a:t>0.65</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2000" dirty="0">
                          <a:latin typeface="Times New Roman"/>
                          <a:ea typeface="Times New Roman"/>
                          <a:cs typeface="Times New Roman"/>
                        </a:rPr>
                        <a:t>0.75</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2000" dirty="0">
                          <a:latin typeface="Times New Roman"/>
                          <a:ea typeface="Times New Roman"/>
                          <a:cs typeface="Times New Roman"/>
                        </a:rPr>
                        <a:t>0.76</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2000" dirty="0">
                          <a:latin typeface="Times New Roman"/>
                          <a:ea typeface="Times New Roman"/>
                          <a:cs typeface="Times New Roman"/>
                        </a:rPr>
                        <a:t>0.77</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72442">
                <a:tc>
                  <a:txBody>
                    <a:bodyPr/>
                    <a:lstStyle/>
                    <a:p>
                      <a:pPr algn="l">
                        <a:spcAft>
                          <a:spcPts val="0"/>
                        </a:spcAft>
                      </a:pPr>
                      <a:r>
                        <a:rPr lang="es-ES" sz="2000" dirty="0">
                          <a:latin typeface="Times New Roman"/>
                          <a:ea typeface="Times New Roman"/>
                          <a:cs typeface="Times New Roman"/>
                        </a:rPr>
                        <a:t>Control</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2000" dirty="0">
                          <a:latin typeface="Times New Roman"/>
                          <a:ea typeface="Times New Roman"/>
                          <a:cs typeface="Times New Roman"/>
                        </a:rPr>
                        <a:t>0.42</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2000" dirty="0">
                          <a:latin typeface="Times New Roman"/>
                          <a:ea typeface="Times New Roman"/>
                          <a:cs typeface="Times New Roman"/>
                        </a:rPr>
                        <a:t>0.52</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2000" dirty="0">
                          <a:latin typeface="Times New Roman"/>
                          <a:ea typeface="Times New Roman"/>
                          <a:cs typeface="Times New Roman"/>
                        </a:rPr>
                        <a:t>0.55</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2000" dirty="0">
                          <a:latin typeface="Times New Roman"/>
                          <a:ea typeface="Times New Roman"/>
                          <a:cs typeface="Times New Roman"/>
                        </a:rPr>
                        <a:t>0.59</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2000" dirty="0">
                          <a:latin typeface="Times New Roman"/>
                          <a:ea typeface="Times New Roman"/>
                          <a:cs typeface="Times New Roman"/>
                        </a:rPr>
                        <a:t>0.62</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2000" dirty="0">
                          <a:latin typeface="Times New Roman"/>
                          <a:ea typeface="Times New Roman"/>
                          <a:cs typeface="Times New Roman"/>
                        </a:rPr>
                        <a:t>0.65</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2000" dirty="0">
                          <a:latin typeface="Times New Roman"/>
                          <a:ea typeface="Times New Roman"/>
                          <a:cs typeface="Times New Roman"/>
                        </a:rPr>
                        <a:t>0.77</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pic>
        <p:nvPicPr>
          <p:cNvPr id="11" name="Picture 1"/>
          <p:cNvPicPr>
            <a:picLocks noChangeAspect="1" noChangeArrowheads="1"/>
          </p:cNvPicPr>
          <p:nvPr/>
        </p:nvPicPr>
        <p:blipFill>
          <a:blip r:embed="rId3" cstate="print"/>
          <a:srcRect/>
          <a:stretch>
            <a:fillRect/>
          </a:stretch>
        </p:blipFill>
        <p:spPr bwMode="auto">
          <a:xfrm>
            <a:off x="0" y="-24"/>
            <a:ext cx="2500298" cy="1189301"/>
          </a:xfrm>
          <a:prstGeom prst="rect">
            <a:avLst/>
          </a:prstGeom>
          <a:noFill/>
          <a:ln w="9525">
            <a:noFill/>
            <a:miter lim="800000"/>
            <a:headEnd/>
            <a:tailEnd/>
          </a:ln>
          <a:effectLst/>
        </p:spPr>
      </p:pic>
      <p:sp>
        <p:nvSpPr>
          <p:cNvPr id="15" name="1 Título"/>
          <p:cNvSpPr txBox="1">
            <a:spLocks/>
          </p:cNvSpPr>
          <p:nvPr/>
        </p:nvSpPr>
        <p:spPr>
          <a:xfrm>
            <a:off x="2857488" y="274638"/>
            <a:ext cx="5829312" cy="1143000"/>
          </a:xfrm>
          <a:prstGeom prst="rect">
            <a:avLst/>
          </a:prstGeom>
        </p:spPr>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s-CO" sz="4400" b="0" i="0" u="sng" strike="noStrike" kern="1200" cap="none" spc="0" normalizeH="0" baseline="0" noProof="0" dirty="0" smtClean="0">
                <a:ln>
                  <a:noFill/>
                </a:ln>
                <a:solidFill>
                  <a:schemeClr val="tx1"/>
                </a:solidFill>
                <a:effectLst/>
                <a:uLnTx/>
                <a:uFillTx/>
                <a:latin typeface="+mj-lt"/>
                <a:ea typeface="+mj-ea"/>
                <a:cs typeface="+mj-cs"/>
              </a:rPr>
              <a:t>Ejemplo: </a:t>
            </a:r>
            <a:r>
              <a:rPr kumimoji="0" lang="es-CO" sz="4400" b="0" i="1" u="sng" strike="noStrike" kern="1200" cap="none" spc="0" normalizeH="0" baseline="0" noProof="0" dirty="0" smtClean="0">
                <a:ln>
                  <a:noFill/>
                </a:ln>
                <a:solidFill>
                  <a:schemeClr val="tx1"/>
                </a:solidFill>
                <a:effectLst/>
                <a:uLnTx/>
                <a:uFillTx/>
                <a:latin typeface="+mj-lt"/>
                <a:ea typeface="+mj-ea"/>
                <a:cs typeface="+mj-cs"/>
              </a:rPr>
              <a:t>Canasta</a:t>
            </a:r>
            <a:endParaRPr kumimoji="0" lang="es-ES" sz="4400" b="0" i="0" u="sng" strike="noStrike" kern="1200" cap="none" spc="0" normalizeH="0" baseline="0" noProof="0" dirty="0">
              <a:ln>
                <a:noFill/>
              </a:ln>
              <a:solidFill>
                <a:schemeClr val="tx1"/>
              </a:solidFill>
              <a:effectLst/>
              <a:uLnTx/>
              <a:uFillTx/>
              <a:latin typeface="+mj-lt"/>
              <a:ea typeface="+mj-ea"/>
              <a:cs typeface="+mj-cs"/>
            </a:endParaRPr>
          </a:p>
        </p:txBody>
      </p:sp>
      <p:sp>
        <p:nvSpPr>
          <p:cNvPr id="14" name="13 Rectángulo"/>
          <p:cNvSpPr/>
          <p:nvPr/>
        </p:nvSpPr>
        <p:spPr>
          <a:xfrm>
            <a:off x="0" y="6534859"/>
            <a:ext cx="9144000" cy="323141"/>
          </a:xfrm>
          <a:prstGeom prst="rect">
            <a:avLst/>
          </a:prstGeom>
        </p:spPr>
        <p:txBody>
          <a:bodyPr wrap="square">
            <a:spAutoFit/>
          </a:bodyPr>
          <a:lstStyle/>
          <a:p>
            <a:pPr algn="ctr"/>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6: Emparejamiento /  26</a:t>
            </a:r>
            <a:endParaRPr lang="es-ES" sz="1500" dirty="0">
              <a:solidFill>
                <a:schemeClr val="tx1">
                  <a:lumMod val="50000"/>
                  <a:lumOff val="50000"/>
                </a:schemeClr>
              </a:solidFill>
            </a:endParaRPr>
          </a:p>
        </p:txBody>
      </p:sp>
      <p:graphicFrame>
        <p:nvGraphicFramePr>
          <p:cNvPr id="8194" name="Object 2"/>
          <p:cNvGraphicFramePr>
            <a:graphicFrameLocks noChangeAspect="1"/>
          </p:cNvGraphicFramePr>
          <p:nvPr>
            <p:extLst>
              <p:ext uri="{D42A27DB-BD31-4B8C-83A1-F6EECF244321}">
                <p14:modId xmlns="" xmlns:p14="http://schemas.microsoft.com/office/powerpoint/2010/main" val="669005033"/>
              </p:ext>
            </p:extLst>
          </p:nvPr>
        </p:nvGraphicFramePr>
        <p:xfrm>
          <a:off x="2071670" y="2817813"/>
          <a:ext cx="5411787" cy="611187"/>
        </p:xfrm>
        <a:graphic>
          <a:graphicData uri="http://schemas.openxmlformats.org/presentationml/2006/ole">
            <p:oleObj spid="_x0000_s8199" name="Documento" r:id="rId4" imgW="5402470" imgH="610366" progId="Word.Document.12">
              <p:embed/>
            </p:oleObj>
          </a:graphicData>
        </a:graphic>
      </p:graphicFrame>
      <p:sp>
        <p:nvSpPr>
          <p:cNvPr id="13" name="12 Elipse"/>
          <p:cNvSpPr/>
          <p:nvPr/>
        </p:nvSpPr>
        <p:spPr>
          <a:xfrm>
            <a:off x="4929190" y="4714884"/>
            <a:ext cx="1714512" cy="428628"/>
          </a:xfrm>
          <a:prstGeom prst="ellipse">
            <a:avLst/>
          </a:prstGeom>
          <a:noFill/>
        </p:spPr>
        <p:style>
          <a:lnRef idx="2">
            <a:schemeClr val="accent1"/>
          </a:lnRef>
          <a:fillRef idx="1">
            <a:schemeClr val="lt1"/>
          </a:fillRef>
          <a:effectRef idx="0">
            <a:schemeClr val="accent1"/>
          </a:effectRef>
          <a:fontRef idx="minor">
            <a:schemeClr val="dk1"/>
          </a:fontRef>
        </p:style>
        <p:txBody>
          <a:bodyPr rtlCol="0" anchor="ctr"/>
          <a:lstStyle/>
          <a:p>
            <a:pPr algn="ctr"/>
            <a:endParaRPr lang="es-CO"/>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4 Marcador de contenido"/>
          <p:cNvGraphicFramePr>
            <a:graphicFrameLocks noGrp="1"/>
          </p:cNvGraphicFramePr>
          <p:nvPr>
            <p:ph idx="1"/>
          </p:nvPr>
        </p:nvGraphicFramePr>
        <p:xfrm>
          <a:off x="857224" y="4005064"/>
          <a:ext cx="7215238" cy="1285884"/>
        </p:xfrm>
        <a:graphic>
          <a:graphicData uri="http://schemas.openxmlformats.org/drawingml/2006/table">
            <a:tbl>
              <a:tblPr/>
              <a:tblGrid>
                <a:gridCol w="1551868"/>
                <a:gridCol w="807776"/>
                <a:gridCol w="808893"/>
                <a:gridCol w="808893"/>
                <a:gridCol w="808893"/>
                <a:gridCol w="810011"/>
                <a:gridCol w="808893"/>
                <a:gridCol w="810011"/>
              </a:tblGrid>
              <a:tr h="428628">
                <a:tc>
                  <a:txBody>
                    <a:bodyPr/>
                    <a:lstStyle/>
                    <a:p>
                      <a:pPr algn="just">
                        <a:spcAft>
                          <a:spcPts val="0"/>
                        </a:spcAft>
                      </a:pPr>
                      <a:endParaRPr lang="es-ES" sz="2000" dirty="0">
                        <a:latin typeface="Times New Roman"/>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2000" dirty="0">
                          <a:latin typeface="Times New Roman"/>
                          <a:ea typeface="Times New Roman"/>
                          <a:cs typeface="Times New Roman"/>
                        </a:rPr>
                        <a:t>1</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2000" dirty="0">
                          <a:latin typeface="Times New Roman"/>
                          <a:ea typeface="Times New Roman"/>
                          <a:cs typeface="Times New Roman"/>
                        </a:rPr>
                        <a:t>2</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2000">
                          <a:latin typeface="Times New Roman"/>
                          <a:ea typeface="Times New Roman"/>
                          <a:cs typeface="Times New Roman"/>
                        </a:rPr>
                        <a:t>3</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2000">
                          <a:latin typeface="Times New Roman"/>
                          <a:ea typeface="Times New Roman"/>
                          <a:cs typeface="Times New Roman"/>
                        </a:rPr>
                        <a:t>4</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2000">
                          <a:latin typeface="Times New Roman"/>
                          <a:ea typeface="Times New Roman"/>
                          <a:cs typeface="Times New Roman"/>
                        </a:rPr>
                        <a:t>5</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2000">
                          <a:latin typeface="Times New Roman"/>
                          <a:ea typeface="Times New Roman"/>
                          <a:cs typeface="Times New Roman"/>
                        </a:rPr>
                        <a:t>6</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2000" dirty="0">
                          <a:latin typeface="Times New Roman"/>
                          <a:ea typeface="Times New Roman"/>
                          <a:cs typeface="Times New Roman"/>
                        </a:rPr>
                        <a:t>7</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28628">
                <a:tc>
                  <a:txBody>
                    <a:bodyPr/>
                    <a:lstStyle/>
                    <a:p>
                      <a:pPr algn="just">
                        <a:spcAft>
                          <a:spcPts val="0"/>
                        </a:spcAft>
                      </a:pPr>
                      <a:r>
                        <a:rPr lang="es-ES" sz="2000" dirty="0">
                          <a:latin typeface="Times New Roman"/>
                          <a:ea typeface="Times New Roman"/>
                          <a:cs typeface="Times New Roman"/>
                        </a:rPr>
                        <a:t>Tratamiento</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2000">
                          <a:latin typeface="Times New Roman"/>
                          <a:ea typeface="Times New Roman"/>
                          <a:cs typeface="Times New Roman"/>
                        </a:rPr>
                        <a:t>0.40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2000" dirty="0">
                          <a:latin typeface="Times New Roman"/>
                          <a:ea typeface="Times New Roman"/>
                          <a:cs typeface="Times New Roman"/>
                        </a:rPr>
                        <a:t>0.48</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2000">
                          <a:latin typeface="Times New Roman"/>
                          <a:ea typeface="Times New Roman"/>
                          <a:cs typeface="Times New Roman"/>
                        </a:rPr>
                        <a:t>0.54</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2000">
                          <a:latin typeface="Times New Roman"/>
                          <a:ea typeface="Times New Roman"/>
                          <a:cs typeface="Times New Roman"/>
                        </a:rPr>
                        <a:t>0.65</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2000">
                          <a:latin typeface="Times New Roman"/>
                          <a:ea typeface="Times New Roman"/>
                          <a:cs typeface="Times New Roman"/>
                        </a:rPr>
                        <a:t>0.75</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2000">
                          <a:latin typeface="Times New Roman"/>
                          <a:ea typeface="Times New Roman"/>
                          <a:cs typeface="Times New Roman"/>
                        </a:rPr>
                        <a:t>0.76</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2000" dirty="0">
                          <a:latin typeface="Times New Roman"/>
                          <a:ea typeface="Times New Roman"/>
                          <a:cs typeface="Times New Roman"/>
                        </a:rPr>
                        <a:t>0.77</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28628">
                <a:tc>
                  <a:txBody>
                    <a:bodyPr/>
                    <a:lstStyle/>
                    <a:p>
                      <a:pPr algn="just">
                        <a:spcAft>
                          <a:spcPts val="0"/>
                        </a:spcAft>
                      </a:pPr>
                      <a:r>
                        <a:rPr lang="es-ES" sz="2000" dirty="0">
                          <a:latin typeface="Times New Roman"/>
                          <a:ea typeface="Times New Roman"/>
                          <a:cs typeface="Times New Roman"/>
                        </a:rPr>
                        <a:t>Control</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2000">
                          <a:latin typeface="Times New Roman"/>
                          <a:ea typeface="Times New Roman"/>
                          <a:cs typeface="Times New Roman"/>
                        </a:rPr>
                        <a:t>0.42</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2000" dirty="0">
                          <a:latin typeface="Times New Roman"/>
                          <a:ea typeface="Times New Roman"/>
                          <a:cs typeface="Times New Roman"/>
                        </a:rPr>
                        <a:t>0.52</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2000" dirty="0">
                          <a:latin typeface="Times New Roman"/>
                          <a:ea typeface="Times New Roman"/>
                          <a:cs typeface="Times New Roman"/>
                        </a:rPr>
                        <a:t>0.55</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2000" dirty="0">
                          <a:latin typeface="Times New Roman"/>
                          <a:ea typeface="Times New Roman"/>
                          <a:cs typeface="Times New Roman"/>
                        </a:rPr>
                        <a:t>0.65</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2000" dirty="0">
                          <a:latin typeface="Times New Roman"/>
                          <a:ea typeface="Times New Roman"/>
                          <a:cs typeface="Times New Roman"/>
                        </a:rPr>
                        <a:t>0.77</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a:txBody>
                    <a:bodyPr/>
                    <a:lstStyle/>
                    <a:p>
                      <a:pPr algn="ctr">
                        <a:spcAft>
                          <a:spcPts val="0"/>
                        </a:spcAft>
                      </a:pPr>
                      <a:r>
                        <a:rPr lang="es-ES" sz="2000" dirty="0">
                          <a:latin typeface="Times New Roman"/>
                          <a:ea typeface="Times New Roman"/>
                          <a:cs typeface="Times New Roman"/>
                        </a:rPr>
                        <a:t> </a:t>
                      </a:r>
                    </a:p>
                  </a:txBody>
                  <a:tcPr marL="0" marR="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tcPr>
                </a:tc>
                <a:tc hMerge="1">
                  <a:txBody>
                    <a:bodyPr/>
                    <a:lstStyle/>
                    <a:p>
                      <a:endParaRPr lang="es-ES"/>
                    </a:p>
                  </a:txBody>
                  <a:tcPr/>
                </a:tc>
              </a:tr>
            </a:tbl>
          </a:graphicData>
        </a:graphic>
      </p:graphicFrame>
      <p:sp>
        <p:nvSpPr>
          <p:cNvPr id="72707" name="Rectangle 3"/>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800" b="0" i="0" u="none" strike="noStrike" cap="none" normalizeH="0" baseline="0" smtClean="0">
              <a:ln>
                <a:noFill/>
              </a:ln>
              <a:solidFill>
                <a:schemeClr val="tx1"/>
              </a:solidFill>
              <a:effectLst/>
              <a:latin typeface="Arial" pitchFamily="34" charset="0"/>
            </a:endParaRPr>
          </a:p>
        </p:txBody>
      </p:sp>
      <p:sp>
        <p:nvSpPr>
          <p:cNvPr id="7" name="6 CuadroTexto"/>
          <p:cNvSpPr txBox="1"/>
          <p:nvPr/>
        </p:nvSpPr>
        <p:spPr>
          <a:xfrm>
            <a:off x="785786" y="2012098"/>
            <a:ext cx="7572428" cy="1631216"/>
          </a:xfrm>
          <a:prstGeom prst="rect">
            <a:avLst/>
          </a:prstGeom>
          <a:noFill/>
        </p:spPr>
        <p:txBody>
          <a:bodyPr wrap="square" rtlCol="0">
            <a:spAutoFit/>
          </a:bodyPr>
          <a:lstStyle/>
          <a:p>
            <a:r>
              <a:rPr lang="es-CO" sz="2500" u="sng" dirty="0" smtClean="0"/>
              <a:t>Soporte común</a:t>
            </a:r>
            <a:r>
              <a:rPr lang="es-CO" sz="2500" dirty="0" smtClean="0"/>
              <a:t> tomando las zonas para las cuales existe probabilidad positiva en ambos grupos, es decir, elegir el rango de probabilidades de participación para el cual existen observaciones en los dos grupos.</a:t>
            </a:r>
            <a:endParaRPr lang="es-ES" sz="2500" dirty="0"/>
          </a:p>
        </p:txBody>
      </p:sp>
      <p:sp>
        <p:nvSpPr>
          <p:cNvPr id="8" name="7 Rectángulo"/>
          <p:cNvSpPr/>
          <p:nvPr/>
        </p:nvSpPr>
        <p:spPr>
          <a:xfrm>
            <a:off x="357158" y="1500174"/>
            <a:ext cx="8429684" cy="48577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 name="1 Título"/>
          <p:cNvSpPr>
            <a:spLocks noGrp="1"/>
          </p:cNvSpPr>
          <p:nvPr>
            <p:ph type="title"/>
          </p:nvPr>
        </p:nvSpPr>
        <p:spPr>
          <a:xfrm>
            <a:off x="2857488" y="274638"/>
            <a:ext cx="5829312" cy="1143000"/>
          </a:xfrm>
        </p:spPr>
        <p:txBody>
          <a:bodyPr/>
          <a:lstStyle/>
          <a:p>
            <a:r>
              <a:rPr lang="es-CO" u="sng" dirty="0" smtClean="0"/>
              <a:t>Ejemplo: </a:t>
            </a:r>
            <a:r>
              <a:rPr lang="es-CO" i="1" u="sng" dirty="0" smtClean="0"/>
              <a:t>Canasta</a:t>
            </a:r>
            <a:endParaRPr lang="es-ES" u="sng" dirty="0"/>
          </a:p>
        </p:txBody>
      </p:sp>
      <p:pic>
        <p:nvPicPr>
          <p:cNvPr id="11" name="Picture 1"/>
          <p:cNvPicPr>
            <a:picLocks noChangeAspect="1" noChangeArrowheads="1"/>
          </p:cNvPicPr>
          <p:nvPr/>
        </p:nvPicPr>
        <p:blipFill>
          <a:blip r:embed="rId2" cstate="print"/>
          <a:srcRect/>
          <a:stretch>
            <a:fillRect/>
          </a:stretch>
        </p:blipFill>
        <p:spPr bwMode="auto">
          <a:xfrm>
            <a:off x="0" y="-24"/>
            <a:ext cx="2500298" cy="1189301"/>
          </a:xfrm>
          <a:prstGeom prst="rect">
            <a:avLst/>
          </a:prstGeom>
          <a:noFill/>
          <a:ln w="9525">
            <a:noFill/>
            <a:miter lim="800000"/>
            <a:headEnd/>
            <a:tailEnd/>
          </a:ln>
          <a:effectLst/>
        </p:spPr>
      </p:pic>
      <p:sp>
        <p:nvSpPr>
          <p:cNvPr id="9" name="8 Rectángulo"/>
          <p:cNvSpPr/>
          <p:nvPr/>
        </p:nvSpPr>
        <p:spPr>
          <a:xfrm>
            <a:off x="0" y="6534859"/>
            <a:ext cx="9144000" cy="323165"/>
          </a:xfrm>
          <a:prstGeom prst="rect">
            <a:avLst/>
          </a:prstGeom>
        </p:spPr>
        <p:txBody>
          <a:bodyPr wrap="square">
            <a:spAutoFit/>
          </a:bodyPr>
          <a:lstStyle/>
          <a:p>
            <a:pPr algn="ctr"/>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6: Emparejamiento /  27</a:t>
            </a:r>
            <a:endParaRPr lang="es-ES" sz="1500" dirty="0">
              <a:solidFill>
                <a:schemeClr val="tx1">
                  <a:lumMod val="50000"/>
                  <a:lumOff val="50000"/>
                </a:schemeClr>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571736" y="274638"/>
            <a:ext cx="6115064" cy="939784"/>
          </a:xfrm>
        </p:spPr>
        <p:txBody>
          <a:bodyPr>
            <a:normAutofit/>
          </a:bodyPr>
          <a:lstStyle/>
          <a:p>
            <a:r>
              <a:rPr lang="es-ES" sz="4200" u="sng" dirty="0" smtClean="0"/>
              <a:t>Algoritmo de PSM</a:t>
            </a:r>
            <a:endParaRPr lang="es-AR" sz="4200" u="sng" dirty="0"/>
          </a:p>
        </p:txBody>
      </p:sp>
      <p:sp>
        <p:nvSpPr>
          <p:cNvPr id="3" name="2 Marcador de contenido"/>
          <p:cNvSpPr>
            <a:spLocks noGrp="1"/>
          </p:cNvSpPr>
          <p:nvPr>
            <p:ph idx="1"/>
          </p:nvPr>
        </p:nvSpPr>
        <p:spPr>
          <a:xfrm>
            <a:off x="500034" y="1500174"/>
            <a:ext cx="8258204" cy="4572032"/>
          </a:xfrm>
        </p:spPr>
        <p:txBody>
          <a:bodyPr>
            <a:normAutofit/>
          </a:bodyPr>
          <a:lstStyle/>
          <a:p>
            <a:pPr marL="457200" indent="-457200" algn="just">
              <a:buAutoNum type="arabicPeriod"/>
            </a:pPr>
            <a:r>
              <a:rPr lang="es-ES" sz="2500" dirty="0" smtClean="0"/>
              <a:t>Estimar la probabilidad de participar en el programa, para el grupo de control y el de tratamiento.</a:t>
            </a:r>
          </a:p>
          <a:p>
            <a:pPr marL="457200" indent="-457200" algn="just">
              <a:buAutoNum type="arabicPeriod"/>
            </a:pPr>
            <a:r>
              <a:rPr lang="es-ES_tradnl" sz="2500" dirty="0" smtClean="0"/>
              <a:t>Estimar la probabilidad de participación de cada individuo.</a:t>
            </a:r>
          </a:p>
          <a:p>
            <a:pPr marL="457200" indent="-457200" algn="just">
              <a:buAutoNum type="arabicPeriod"/>
            </a:pPr>
            <a:r>
              <a:rPr lang="es-ES" sz="2500" dirty="0" smtClean="0"/>
              <a:t>Restringir la muestra al soporte común.</a:t>
            </a:r>
          </a:p>
          <a:p>
            <a:pPr marL="457200" indent="-457200" algn="just">
              <a:buFont typeface="Arial" pitchFamily="34" charset="0"/>
              <a:buAutoNum type="arabicPeriod"/>
            </a:pPr>
            <a:r>
              <a:rPr lang="es-ES_tradnl" sz="2500" dirty="0" smtClean="0">
                <a:solidFill>
                  <a:schemeClr val="accent1">
                    <a:lumMod val="75000"/>
                  </a:schemeClr>
                </a:solidFill>
              </a:rPr>
              <a:t>Seleccionar el algoritmo de emparejamiento.</a:t>
            </a:r>
          </a:p>
          <a:p>
            <a:pPr marL="457200" indent="-457200" algn="just">
              <a:buFont typeface="Arial" pitchFamily="34" charset="0"/>
              <a:buAutoNum type="arabicPeriod"/>
            </a:pPr>
            <a:r>
              <a:rPr lang="es-ES" sz="2500" dirty="0" smtClean="0"/>
              <a:t>Observar que las variables observables entre el grupo de control y de tratamiento estén balanceadas en términos de probabilidades. </a:t>
            </a:r>
          </a:p>
          <a:p>
            <a:pPr marL="457200" indent="-457200" algn="just">
              <a:buFont typeface="Arial" pitchFamily="34" charset="0"/>
              <a:buAutoNum type="arabicPeriod"/>
            </a:pPr>
            <a:r>
              <a:rPr lang="es-ES_tradnl" sz="2500" dirty="0" smtClean="0">
                <a:solidFill>
                  <a:schemeClr val="accent1">
                    <a:lumMod val="75000"/>
                  </a:schemeClr>
                </a:solidFill>
              </a:rPr>
              <a:t>Calcular el impacto del programa.</a:t>
            </a:r>
          </a:p>
          <a:p>
            <a:pPr marL="457200" indent="-457200" algn="just">
              <a:buFont typeface="Arial" pitchFamily="34" charset="0"/>
              <a:buAutoNum type="arabicPeriod"/>
            </a:pPr>
            <a:r>
              <a:rPr lang="es-ES_tradnl" sz="2500" dirty="0" smtClean="0"/>
              <a:t>Calcular los errores estándar y los intervalos de confianza.</a:t>
            </a:r>
            <a:endParaRPr lang="es-ES" sz="2500" dirty="0" smtClean="0"/>
          </a:p>
          <a:p>
            <a:pPr marL="457200" indent="-457200" algn="just">
              <a:buFont typeface="Arial" pitchFamily="34" charset="0"/>
              <a:buAutoNum type="arabicPeriod"/>
            </a:pPr>
            <a:endParaRPr lang="es-ES" sz="2500" dirty="0" smtClean="0"/>
          </a:p>
          <a:p>
            <a:pPr marL="457200" indent="-457200" algn="just">
              <a:buAutoNum type="arabicPeriod"/>
            </a:pPr>
            <a:endParaRPr lang="es-ES" sz="2500" dirty="0" smtClean="0"/>
          </a:p>
          <a:p>
            <a:pPr marL="457200" indent="-457200" algn="just">
              <a:buAutoNum type="arabicPeriod"/>
            </a:pPr>
            <a:endParaRPr lang="es-ES" sz="2500" dirty="0"/>
          </a:p>
          <a:p>
            <a:pPr marL="457200" indent="-457200" algn="just">
              <a:buAutoNum type="arabicPeriod"/>
            </a:pPr>
            <a:endParaRPr lang="es-ES" sz="2500" dirty="0" smtClean="0"/>
          </a:p>
          <a:p>
            <a:pPr marL="457200" indent="-457200" algn="just">
              <a:buAutoNum type="arabicPeriod"/>
            </a:pPr>
            <a:endParaRPr lang="es-ES" sz="2500" dirty="0" smtClean="0"/>
          </a:p>
          <a:p>
            <a:pPr marL="457200" indent="-457200">
              <a:buAutoNum type="arabicPeriod"/>
            </a:pPr>
            <a:endParaRPr lang="es-AR" sz="2500" dirty="0"/>
          </a:p>
        </p:txBody>
      </p:sp>
      <p:pic>
        <p:nvPicPr>
          <p:cNvPr id="4" name="Picture 1"/>
          <p:cNvPicPr>
            <a:picLocks noChangeAspect="1" noChangeArrowheads="1"/>
          </p:cNvPicPr>
          <p:nvPr/>
        </p:nvPicPr>
        <p:blipFill>
          <a:blip r:embed="rId2" cstate="print"/>
          <a:srcRect/>
          <a:stretch>
            <a:fillRect/>
          </a:stretch>
        </p:blipFill>
        <p:spPr bwMode="auto">
          <a:xfrm>
            <a:off x="0" y="-24"/>
            <a:ext cx="2500298" cy="1189301"/>
          </a:xfrm>
          <a:prstGeom prst="rect">
            <a:avLst/>
          </a:prstGeom>
          <a:noFill/>
          <a:ln w="9525">
            <a:noFill/>
            <a:miter lim="800000"/>
            <a:headEnd/>
            <a:tailEnd/>
          </a:ln>
          <a:effectLst/>
        </p:spPr>
      </p:pic>
      <p:sp>
        <p:nvSpPr>
          <p:cNvPr id="6" name="5 Rectángulo"/>
          <p:cNvSpPr/>
          <p:nvPr/>
        </p:nvSpPr>
        <p:spPr>
          <a:xfrm>
            <a:off x="0" y="6534859"/>
            <a:ext cx="9144000" cy="323141"/>
          </a:xfrm>
          <a:prstGeom prst="rect">
            <a:avLst/>
          </a:prstGeom>
        </p:spPr>
        <p:txBody>
          <a:bodyPr wrap="square">
            <a:spAutoFit/>
          </a:bodyPr>
          <a:lstStyle/>
          <a:p>
            <a:pPr algn="ctr"/>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6: Emparejamiento /  28</a:t>
            </a:r>
            <a:endParaRPr lang="es-ES" sz="1500" dirty="0">
              <a:solidFill>
                <a:schemeClr val="tx1">
                  <a:lumMod val="50000"/>
                  <a:lumOff val="50000"/>
                </a:schemeClr>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3143240" y="274638"/>
            <a:ext cx="5543560" cy="1143000"/>
          </a:xfrm>
        </p:spPr>
        <p:txBody>
          <a:bodyPr>
            <a:noAutofit/>
          </a:bodyPr>
          <a:lstStyle/>
          <a:p>
            <a:r>
              <a:rPr lang="es-ES_tradnl" sz="4200" u="sng" dirty="0" smtClean="0"/>
              <a:t>Selección del algoritmo de emparejamiento</a:t>
            </a:r>
            <a:endParaRPr lang="es-ES" sz="4200" u="sng" dirty="0"/>
          </a:p>
        </p:txBody>
      </p:sp>
      <p:sp>
        <p:nvSpPr>
          <p:cNvPr id="3" name="2 Marcador de contenido"/>
          <p:cNvSpPr>
            <a:spLocks noGrp="1"/>
          </p:cNvSpPr>
          <p:nvPr>
            <p:ph idx="1"/>
          </p:nvPr>
        </p:nvSpPr>
        <p:spPr>
          <a:xfrm>
            <a:off x="457200" y="1785926"/>
            <a:ext cx="8229600" cy="4340237"/>
          </a:xfrm>
        </p:spPr>
        <p:txBody>
          <a:bodyPr>
            <a:normAutofit/>
          </a:bodyPr>
          <a:lstStyle/>
          <a:p>
            <a:pPr marL="514350" indent="-514350">
              <a:buFont typeface="+mj-lt"/>
              <a:buAutoNum type="arabicPeriod"/>
            </a:pPr>
            <a:r>
              <a:rPr lang="es-ES_tradnl" sz="2500" u="sng" dirty="0" smtClean="0"/>
              <a:t>Estimar PSM por el vecino más cercano</a:t>
            </a:r>
            <a:r>
              <a:rPr lang="es-ES_tradnl" sz="2500" dirty="0" smtClean="0"/>
              <a:t>:</a:t>
            </a:r>
          </a:p>
          <a:p>
            <a:pPr marL="514350" indent="-514350">
              <a:buNone/>
            </a:pPr>
            <a:r>
              <a:rPr lang="es-ES_tradnl" sz="2500" dirty="0" smtClean="0"/>
              <a:t>	Intuitivamente:</a:t>
            </a:r>
          </a:p>
          <a:p>
            <a:pPr marL="514350" indent="-514350">
              <a:buNone/>
            </a:pPr>
            <a:r>
              <a:rPr lang="es-ES_tradnl" sz="2500" dirty="0" smtClean="0"/>
              <a:t>	Toma cada individuo del grupo de tratamiento y busca un individuo de control con la probabilidad de participar más cercana.</a:t>
            </a:r>
            <a:endParaRPr lang="es-ES" sz="2500" dirty="0"/>
          </a:p>
        </p:txBody>
      </p:sp>
      <p:sp>
        <p:nvSpPr>
          <p:cNvPr id="45058"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45059" name="Rectangle 3"/>
          <p:cNvSpPr>
            <a:spLocks noChangeArrowheads="1"/>
          </p:cNvSpPr>
          <p:nvPr/>
        </p:nvSpPr>
        <p:spPr bwMode="auto">
          <a:xfrm>
            <a:off x="0" y="104775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800" b="0" i="0" u="none" strike="noStrike" cap="none" normalizeH="0" baseline="0" smtClean="0">
              <a:ln>
                <a:noFill/>
              </a:ln>
              <a:solidFill>
                <a:schemeClr val="tx1"/>
              </a:solidFill>
              <a:effectLst/>
              <a:latin typeface="Arial" pitchFamily="34" charset="0"/>
            </a:endParaRPr>
          </a:p>
        </p:txBody>
      </p:sp>
      <p:pic>
        <p:nvPicPr>
          <p:cNvPr id="9" name="Picture 1"/>
          <p:cNvPicPr>
            <a:picLocks noChangeAspect="1" noChangeArrowheads="1"/>
          </p:cNvPicPr>
          <p:nvPr/>
        </p:nvPicPr>
        <p:blipFill>
          <a:blip r:embed="rId3" cstate="print"/>
          <a:srcRect/>
          <a:stretch>
            <a:fillRect/>
          </a:stretch>
        </p:blipFill>
        <p:spPr bwMode="auto">
          <a:xfrm>
            <a:off x="0" y="-24"/>
            <a:ext cx="2500298" cy="1189301"/>
          </a:xfrm>
          <a:prstGeom prst="rect">
            <a:avLst/>
          </a:prstGeom>
          <a:noFill/>
          <a:ln w="9525">
            <a:noFill/>
            <a:miter lim="800000"/>
            <a:headEnd/>
            <a:tailEnd/>
          </a:ln>
          <a:effectLst/>
        </p:spPr>
      </p:pic>
      <p:sp>
        <p:nvSpPr>
          <p:cNvPr id="11" name="10 Rectángulo"/>
          <p:cNvSpPr/>
          <p:nvPr/>
        </p:nvSpPr>
        <p:spPr>
          <a:xfrm>
            <a:off x="0" y="6534859"/>
            <a:ext cx="9144000" cy="323165"/>
          </a:xfrm>
          <a:prstGeom prst="rect">
            <a:avLst/>
          </a:prstGeom>
        </p:spPr>
        <p:txBody>
          <a:bodyPr wrap="square">
            <a:spAutoFit/>
          </a:bodyPr>
          <a:lstStyle/>
          <a:p>
            <a:pPr algn="ctr"/>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6: Emparejamiento /  29</a:t>
            </a:r>
          </a:p>
        </p:txBody>
      </p:sp>
      <p:cxnSp>
        <p:nvCxnSpPr>
          <p:cNvPr id="13" name="12 Conector recto"/>
          <p:cNvCxnSpPr/>
          <p:nvPr/>
        </p:nvCxnSpPr>
        <p:spPr>
          <a:xfrm rot="10800000">
            <a:off x="785786" y="2500306"/>
            <a:ext cx="214314" cy="0"/>
          </a:xfrm>
          <a:prstGeom prst="line">
            <a:avLst/>
          </a:prstGeom>
          <a:ln>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5" name="14 Conector recto"/>
          <p:cNvCxnSpPr/>
          <p:nvPr/>
        </p:nvCxnSpPr>
        <p:spPr>
          <a:xfrm rot="5400000">
            <a:off x="571472" y="2714620"/>
            <a:ext cx="428628" cy="0"/>
          </a:xfrm>
          <a:prstGeom prst="line">
            <a:avLst/>
          </a:prstGeom>
          <a:ln>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9" name="18 Conector recto de flecha"/>
          <p:cNvCxnSpPr/>
          <p:nvPr/>
        </p:nvCxnSpPr>
        <p:spPr>
          <a:xfrm>
            <a:off x="785786" y="2928934"/>
            <a:ext cx="214314" cy="1588"/>
          </a:xfrm>
          <a:prstGeom prst="straightConnector1">
            <a:avLst/>
          </a:prstGeom>
          <a:ln>
            <a:solidFill>
              <a:schemeClr val="accent1">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graphicFrame>
        <p:nvGraphicFramePr>
          <p:cNvPr id="10242" name="Object 2"/>
          <p:cNvGraphicFramePr>
            <a:graphicFrameLocks noChangeAspect="1"/>
          </p:cNvGraphicFramePr>
          <p:nvPr>
            <p:extLst>
              <p:ext uri="{D42A27DB-BD31-4B8C-83A1-F6EECF244321}">
                <p14:modId xmlns="" xmlns:p14="http://schemas.microsoft.com/office/powerpoint/2010/main" val="2418942606"/>
              </p:ext>
            </p:extLst>
          </p:nvPr>
        </p:nvGraphicFramePr>
        <p:xfrm>
          <a:off x="1071538" y="4357694"/>
          <a:ext cx="7269175" cy="1053381"/>
        </p:xfrm>
        <a:graphic>
          <a:graphicData uri="http://schemas.openxmlformats.org/presentationml/2006/ole">
            <p:oleObj spid="_x0000_s10247" name="Documento" r:id="rId4" imgW="5402470" imgH="782907" progId="Word.Document.12">
              <p:embed/>
            </p:oleObj>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3071802" y="214290"/>
            <a:ext cx="5614998" cy="1203348"/>
          </a:xfrm>
        </p:spPr>
        <p:txBody>
          <a:bodyPr>
            <a:normAutofit/>
          </a:bodyPr>
          <a:lstStyle/>
          <a:p>
            <a:r>
              <a:rPr lang="es-ES_tradnl" sz="4200" u="sng" dirty="0" smtClean="0"/>
              <a:t>Estimador ATT</a:t>
            </a:r>
            <a:endParaRPr lang="es-ES" sz="4200" u="sng" dirty="0"/>
          </a:p>
        </p:txBody>
      </p:sp>
      <p:sp>
        <p:nvSpPr>
          <p:cNvPr id="3" name="2 Marcador de contenido"/>
          <p:cNvSpPr>
            <a:spLocks noGrp="1"/>
          </p:cNvSpPr>
          <p:nvPr>
            <p:ph idx="1"/>
          </p:nvPr>
        </p:nvSpPr>
        <p:spPr>
          <a:xfrm>
            <a:off x="457200" y="1571612"/>
            <a:ext cx="8229600" cy="4554551"/>
          </a:xfrm>
        </p:spPr>
        <p:txBody>
          <a:bodyPr>
            <a:normAutofit/>
          </a:bodyPr>
          <a:lstStyle/>
          <a:p>
            <a:endParaRPr lang="es-ES_tradnl" sz="2500" dirty="0" smtClean="0"/>
          </a:p>
          <a:p>
            <a:pPr>
              <a:buNone/>
            </a:pPr>
            <a:r>
              <a:rPr lang="es-ES_tradnl" sz="2500" dirty="0" smtClean="0"/>
              <a:t>	Usando el estimador de emparejamiento por vecino más cercano:</a:t>
            </a:r>
            <a:endParaRPr lang="es-ES" sz="2500" dirty="0"/>
          </a:p>
        </p:txBody>
      </p:sp>
      <p:sp>
        <p:nvSpPr>
          <p:cNvPr id="47106"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47107" name="Rectangle 3"/>
          <p:cNvSpPr>
            <a:spLocks noChangeArrowheads="1"/>
          </p:cNvSpPr>
          <p:nvPr/>
        </p:nvSpPr>
        <p:spPr bwMode="auto">
          <a:xfrm>
            <a:off x="0" y="131445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800" b="0" i="0" u="none" strike="noStrike" cap="none" normalizeH="0" baseline="0" smtClean="0">
              <a:ln>
                <a:noFill/>
              </a:ln>
              <a:solidFill>
                <a:schemeClr val="tx1"/>
              </a:solidFill>
              <a:effectLst/>
              <a:latin typeface="Arial" pitchFamily="34" charset="0"/>
            </a:endParaRPr>
          </a:p>
        </p:txBody>
      </p:sp>
      <p:cxnSp>
        <p:nvCxnSpPr>
          <p:cNvPr id="8" name="7 Conector recto de flecha"/>
          <p:cNvCxnSpPr/>
          <p:nvPr/>
        </p:nvCxnSpPr>
        <p:spPr>
          <a:xfrm rot="5400000">
            <a:off x="6536545" y="4536289"/>
            <a:ext cx="35719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9" name="8 CuadroTexto"/>
          <p:cNvSpPr txBox="1"/>
          <p:nvPr/>
        </p:nvSpPr>
        <p:spPr>
          <a:xfrm>
            <a:off x="4714876" y="4643446"/>
            <a:ext cx="4000528" cy="446276"/>
          </a:xfrm>
          <a:prstGeom prst="rect">
            <a:avLst/>
          </a:prstGeom>
          <a:noFill/>
        </p:spPr>
        <p:txBody>
          <a:bodyPr wrap="square" rtlCol="0">
            <a:spAutoFit/>
          </a:bodyPr>
          <a:lstStyle/>
          <a:p>
            <a:r>
              <a:rPr lang="es-ES_tradnl" sz="2300" dirty="0" smtClean="0"/>
              <a:t>Conjunto de vecinos de control</a:t>
            </a:r>
            <a:endParaRPr lang="es-ES" sz="2300" dirty="0"/>
          </a:p>
        </p:txBody>
      </p:sp>
      <p:pic>
        <p:nvPicPr>
          <p:cNvPr id="10" name="Picture 1"/>
          <p:cNvPicPr>
            <a:picLocks noChangeAspect="1" noChangeArrowheads="1"/>
          </p:cNvPicPr>
          <p:nvPr/>
        </p:nvPicPr>
        <p:blipFill>
          <a:blip r:embed="rId4" cstate="print"/>
          <a:srcRect/>
          <a:stretch>
            <a:fillRect/>
          </a:stretch>
        </p:blipFill>
        <p:spPr bwMode="auto">
          <a:xfrm>
            <a:off x="0" y="-24"/>
            <a:ext cx="2500298" cy="1189301"/>
          </a:xfrm>
          <a:prstGeom prst="rect">
            <a:avLst/>
          </a:prstGeom>
          <a:noFill/>
          <a:ln w="9525">
            <a:noFill/>
            <a:miter lim="800000"/>
            <a:headEnd/>
            <a:tailEnd/>
          </a:ln>
          <a:effectLst/>
        </p:spPr>
      </p:pic>
      <p:sp>
        <p:nvSpPr>
          <p:cNvPr id="11" name="10 Rectángulo"/>
          <p:cNvSpPr/>
          <p:nvPr/>
        </p:nvSpPr>
        <p:spPr>
          <a:xfrm>
            <a:off x="0" y="6534859"/>
            <a:ext cx="9144000" cy="323141"/>
          </a:xfrm>
          <a:prstGeom prst="rect">
            <a:avLst/>
          </a:prstGeom>
        </p:spPr>
        <p:txBody>
          <a:bodyPr wrap="square">
            <a:spAutoFit/>
          </a:bodyPr>
          <a:lstStyle/>
          <a:p>
            <a:pPr algn="ctr"/>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6: Emparejamiento /  30</a:t>
            </a:r>
            <a:endParaRPr lang="es-ES" sz="1500" dirty="0">
              <a:solidFill>
                <a:schemeClr val="tx1">
                  <a:lumMod val="50000"/>
                  <a:lumOff val="50000"/>
                </a:schemeClr>
              </a:solidFill>
            </a:endParaRPr>
          </a:p>
        </p:txBody>
      </p:sp>
      <p:graphicFrame>
        <p:nvGraphicFramePr>
          <p:cNvPr id="11266" name="Object 2"/>
          <p:cNvGraphicFramePr>
            <a:graphicFrameLocks noChangeAspect="1"/>
          </p:cNvGraphicFramePr>
          <p:nvPr>
            <p:extLst>
              <p:ext uri="{D42A27DB-BD31-4B8C-83A1-F6EECF244321}">
                <p14:modId xmlns="" xmlns:p14="http://schemas.microsoft.com/office/powerpoint/2010/main" val="1588679506"/>
              </p:ext>
            </p:extLst>
          </p:nvPr>
        </p:nvGraphicFramePr>
        <p:xfrm>
          <a:off x="772136" y="3429000"/>
          <a:ext cx="7800392" cy="1233327"/>
        </p:xfrm>
        <a:graphic>
          <a:graphicData uri="http://schemas.openxmlformats.org/presentationml/2006/ole">
            <p:oleObj spid="_x0000_s11271" name="Documento" r:id="rId5" imgW="5402470" imgH="854440" progId="Word.Document.12">
              <p:embed/>
            </p:oleObj>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786050" y="274638"/>
            <a:ext cx="5900750" cy="1143000"/>
          </a:xfrm>
        </p:spPr>
        <p:txBody>
          <a:bodyPr>
            <a:normAutofit/>
          </a:bodyPr>
          <a:lstStyle/>
          <a:p>
            <a:r>
              <a:rPr lang="es-ES_tradnl" sz="4200" u="sng" dirty="0" smtClean="0"/>
              <a:t>¿Cuántos vecinos usar?</a:t>
            </a:r>
            <a:endParaRPr lang="es-ES" sz="4200" u="sng" dirty="0"/>
          </a:p>
        </p:txBody>
      </p:sp>
      <p:sp>
        <p:nvSpPr>
          <p:cNvPr id="3" name="2 Marcador de contenido"/>
          <p:cNvSpPr>
            <a:spLocks noGrp="1"/>
          </p:cNvSpPr>
          <p:nvPr>
            <p:ph idx="1"/>
          </p:nvPr>
        </p:nvSpPr>
        <p:spPr/>
        <p:txBody>
          <a:bodyPr>
            <a:normAutofit/>
          </a:bodyPr>
          <a:lstStyle/>
          <a:p>
            <a:pPr>
              <a:buNone/>
            </a:pPr>
            <a:endParaRPr lang="es-ES_tradnl" sz="2500" dirty="0" smtClean="0"/>
          </a:p>
          <a:p>
            <a:pPr>
              <a:buNone/>
            </a:pPr>
            <a:r>
              <a:rPr lang="es-ES_tradnl" sz="2500" dirty="0" smtClean="0"/>
              <a:t>	La decisión de </a:t>
            </a:r>
            <a:r>
              <a:rPr lang="es-ES_tradnl" sz="2500" u="sng" dirty="0" smtClean="0"/>
              <a:t>cuántos vecinos </a:t>
            </a:r>
            <a:r>
              <a:rPr lang="es-ES_tradnl" sz="2500" dirty="0" smtClean="0"/>
              <a:t>usar genera tensión entre:</a:t>
            </a:r>
          </a:p>
          <a:p>
            <a:pPr lvl="1"/>
            <a:r>
              <a:rPr lang="es-ES_tradnl" sz="2500" dirty="0" smtClean="0"/>
              <a:t>Sesgo del estimador.</a:t>
            </a:r>
          </a:p>
          <a:p>
            <a:pPr lvl="1"/>
            <a:r>
              <a:rPr lang="es-ES_tradnl" sz="2500" dirty="0" smtClean="0"/>
              <a:t>Varianza.</a:t>
            </a:r>
          </a:p>
          <a:p>
            <a:pPr lvl="1"/>
            <a:endParaRPr lang="es-ES_tradnl" sz="2500" dirty="0" smtClean="0"/>
          </a:p>
          <a:p>
            <a:pPr lvl="1"/>
            <a:endParaRPr lang="es-ES_tradnl" sz="2500" dirty="0" smtClean="0"/>
          </a:p>
          <a:p>
            <a:pPr lvl="1"/>
            <a:endParaRPr lang="es-ES_tradnl" sz="2500" dirty="0" smtClean="0"/>
          </a:p>
          <a:p>
            <a:pPr lvl="1"/>
            <a:r>
              <a:rPr lang="es-ES_tradnl" sz="2500" dirty="0" smtClean="0"/>
              <a:t>Sesgo del estimador.</a:t>
            </a:r>
          </a:p>
          <a:p>
            <a:pPr lvl="1"/>
            <a:r>
              <a:rPr lang="es-ES_tradnl" sz="2500" dirty="0" smtClean="0"/>
              <a:t>Varianza.</a:t>
            </a:r>
            <a:endParaRPr lang="es-ES" sz="2500" dirty="0" smtClean="0"/>
          </a:p>
          <a:p>
            <a:pPr lvl="1">
              <a:buNone/>
            </a:pPr>
            <a:endParaRPr lang="es-ES_tradnl" sz="2500" dirty="0" smtClean="0"/>
          </a:p>
          <a:p>
            <a:pPr lvl="1">
              <a:buNone/>
            </a:pPr>
            <a:endParaRPr lang="es-ES_tradnl" sz="2500" dirty="0" smtClean="0"/>
          </a:p>
        </p:txBody>
      </p:sp>
      <p:sp>
        <p:nvSpPr>
          <p:cNvPr id="4" name="3 CuadroTexto"/>
          <p:cNvSpPr txBox="1"/>
          <p:nvPr/>
        </p:nvSpPr>
        <p:spPr>
          <a:xfrm>
            <a:off x="857224" y="4000504"/>
            <a:ext cx="7715304" cy="1138773"/>
          </a:xfrm>
          <a:prstGeom prst="rect">
            <a:avLst/>
          </a:prstGeom>
          <a:noFill/>
        </p:spPr>
        <p:txBody>
          <a:bodyPr wrap="square" rtlCol="0">
            <a:spAutoFit/>
          </a:bodyPr>
          <a:lstStyle/>
          <a:p>
            <a:pPr marL="0" lvl="1"/>
            <a:r>
              <a:rPr lang="es-ES_tradnl" sz="2500" dirty="0" smtClean="0"/>
              <a:t>Se puede permitir </a:t>
            </a:r>
            <a:r>
              <a:rPr lang="es-ES_tradnl" sz="2500" u="sng" dirty="0" smtClean="0"/>
              <a:t>reemplazo</a:t>
            </a:r>
            <a:r>
              <a:rPr lang="es-ES_tradnl" sz="2500" dirty="0" smtClean="0"/>
              <a:t>, pero esto genera tensión entre:</a:t>
            </a:r>
          </a:p>
          <a:p>
            <a:endParaRPr lang="es-ES" dirty="0"/>
          </a:p>
        </p:txBody>
      </p:sp>
      <p:pic>
        <p:nvPicPr>
          <p:cNvPr id="6" name="Picture 1"/>
          <p:cNvPicPr>
            <a:picLocks noChangeAspect="1" noChangeArrowheads="1"/>
          </p:cNvPicPr>
          <p:nvPr/>
        </p:nvPicPr>
        <p:blipFill>
          <a:blip r:embed="rId3" cstate="print"/>
          <a:srcRect/>
          <a:stretch>
            <a:fillRect/>
          </a:stretch>
        </p:blipFill>
        <p:spPr bwMode="auto">
          <a:xfrm>
            <a:off x="0" y="-24"/>
            <a:ext cx="2500298" cy="1189301"/>
          </a:xfrm>
          <a:prstGeom prst="rect">
            <a:avLst/>
          </a:prstGeom>
          <a:noFill/>
          <a:ln w="9525">
            <a:noFill/>
            <a:miter lim="800000"/>
            <a:headEnd/>
            <a:tailEnd/>
          </a:ln>
          <a:effectLst/>
        </p:spPr>
      </p:pic>
      <p:sp>
        <p:nvSpPr>
          <p:cNvPr id="7" name="6 Rectángulo"/>
          <p:cNvSpPr/>
          <p:nvPr/>
        </p:nvSpPr>
        <p:spPr>
          <a:xfrm>
            <a:off x="0" y="6534859"/>
            <a:ext cx="9144000" cy="323141"/>
          </a:xfrm>
          <a:prstGeom prst="rect">
            <a:avLst/>
          </a:prstGeom>
        </p:spPr>
        <p:txBody>
          <a:bodyPr wrap="square">
            <a:spAutoFit/>
          </a:bodyPr>
          <a:lstStyle/>
          <a:p>
            <a:pPr algn="ctr"/>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6: Emparejamiento /  31</a:t>
            </a:r>
            <a:endParaRPr lang="es-ES" sz="1500" dirty="0">
              <a:solidFill>
                <a:schemeClr val="tx1">
                  <a:lumMod val="50000"/>
                  <a:lumOff val="50000"/>
                </a:schemeClr>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57200" y="1500174"/>
            <a:ext cx="8186766" cy="4857784"/>
          </a:xfrm>
        </p:spPr>
        <p:txBody>
          <a:bodyPr>
            <a:normAutofit/>
          </a:bodyPr>
          <a:lstStyle/>
          <a:p>
            <a:pPr marL="514350" indent="-514350">
              <a:buFont typeface="+mj-lt"/>
              <a:buAutoNum type="arabicPeriod" startAt="2"/>
            </a:pPr>
            <a:r>
              <a:rPr lang="es-ES_tradnl" sz="2500" u="sng" dirty="0" smtClean="0"/>
              <a:t>Emparejamiento de distancia máxima:</a:t>
            </a:r>
          </a:p>
          <a:p>
            <a:pPr marL="514350" indent="-514350" algn="just">
              <a:buNone/>
            </a:pPr>
            <a:r>
              <a:rPr lang="es-ES_tradnl" sz="2500" dirty="0" smtClean="0"/>
              <a:t>	Intuitivamente:</a:t>
            </a:r>
          </a:p>
          <a:p>
            <a:pPr marL="514350" indent="-514350">
              <a:buNone/>
            </a:pPr>
            <a:r>
              <a:rPr lang="es-ES_tradnl" sz="2500" dirty="0" smtClean="0"/>
              <a:t>	Fija la distancia máxima entre las probabilidades de participación entre el individuo del grupo de tratamiento y control para hacer el emparejamiento.</a:t>
            </a:r>
            <a:endParaRPr lang="es-ES" sz="2500" dirty="0"/>
          </a:p>
        </p:txBody>
      </p:sp>
      <p:sp>
        <p:nvSpPr>
          <p:cNvPr id="4" name="1 Título"/>
          <p:cNvSpPr>
            <a:spLocks noGrp="1"/>
          </p:cNvSpPr>
          <p:nvPr>
            <p:ph type="title"/>
          </p:nvPr>
        </p:nvSpPr>
        <p:spPr>
          <a:xfrm>
            <a:off x="2857488" y="274638"/>
            <a:ext cx="5829312" cy="1143000"/>
          </a:xfrm>
        </p:spPr>
        <p:txBody>
          <a:bodyPr>
            <a:noAutofit/>
          </a:bodyPr>
          <a:lstStyle/>
          <a:p>
            <a:r>
              <a:rPr lang="es-ES_tradnl" sz="4200" u="sng" dirty="0" smtClean="0"/>
              <a:t>Selección del algoritmo de emparejamiento</a:t>
            </a:r>
            <a:endParaRPr lang="es-ES" sz="4200" u="sng" dirty="0"/>
          </a:p>
        </p:txBody>
      </p:sp>
      <p:sp>
        <p:nvSpPr>
          <p:cNvPr id="48130"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48131" name="Rectangle 3"/>
          <p:cNvSpPr>
            <a:spLocks noChangeArrowheads="1"/>
          </p:cNvSpPr>
          <p:nvPr/>
        </p:nvSpPr>
        <p:spPr bwMode="auto">
          <a:xfrm>
            <a:off x="0" y="85725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800" b="0" i="0" u="none" strike="noStrike" cap="none" normalizeH="0" baseline="0" smtClean="0">
              <a:ln>
                <a:noFill/>
              </a:ln>
              <a:solidFill>
                <a:schemeClr val="tx1"/>
              </a:solidFill>
              <a:effectLst/>
              <a:latin typeface="Arial" pitchFamily="34" charset="0"/>
            </a:endParaRPr>
          </a:p>
        </p:txBody>
      </p:sp>
      <p:cxnSp>
        <p:nvCxnSpPr>
          <p:cNvPr id="9" name="8 Conector recto de flecha"/>
          <p:cNvCxnSpPr/>
          <p:nvPr/>
        </p:nvCxnSpPr>
        <p:spPr>
          <a:xfrm rot="5400000">
            <a:off x="2356628" y="4499776"/>
            <a:ext cx="285752"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0" name="9 CuadroTexto"/>
          <p:cNvSpPr txBox="1"/>
          <p:nvPr/>
        </p:nvSpPr>
        <p:spPr>
          <a:xfrm>
            <a:off x="1000100" y="4714884"/>
            <a:ext cx="3429024" cy="1508105"/>
          </a:xfrm>
          <a:prstGeom prst="rect">
            <a:avLst/>
          </a:prstGeom>
          <a:noFill/>
        </p:spPr>
        <p:txBody>
          <a:bodyPr wrap="square" rtlCol="0">
            <a:spAutoFit/>
          </a:bodyPr>
          <a:lstStyle/>
          <a:p>
            <a:r>
              <a:rPr lang="es-ES_tradnl" sz="2300" dirty="0" smtClean="0"/>
              <a:t>Conjunto de vecinos, a la distancia máxima establecida, del individuo de tratamiento.</a:t>
            </a:r>
            <a:endParaRPr lang="es-ES" sz="2300" dirty="0"/>
          </a:p>
        </p:txBody>
      </p:sp>
      <p:sp>
        <p:nvSpPr>
          <p:cNvPr id="12" name="11 Abrir llave"/>
          <p:cNvSpPr/>
          <p:nvPr/>
        </p:nvSpPr>
        <p:spPr>
          <a:xfrm rot="16200000">
            <a:off x="6072198" y="3321844"/>
            <a:ext cx="107157" cy="2321735"/>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
          </a:p>
        </p:txBody>
      </p:sp>
      <p:sp>
        <p:nvSpPr>
          <p:cNvPr id="13" name="12 CuadroTexto"/>
          <p:cNvSpPr txBox="1"/>
          <p:nvPr/>
        </p:nvSpPr>
        <p:spPr>
          <a:xfrm>
            <a:off x="4643438" y="4643446"/>
            <a:ext cx="3643338" cy="1508105"/>
          </a:xfrm>
          <a:prstGeom prst="rect">
            <a:avLst/>
          </a:prstGeom>
          <a:noFill/>
        </p:spPr>
        <p:txBody>
          <a:bodyPr wrap="square" rtlCol="0">
            <a:spAutoFit/>
          </a:bodyPr>
          <a:lstStyle/>
          <a:p>
            <a:r>
              <a:rPr lang="es-ES_tradnl" sz="2300" dirty="0" smtClean="0"/>
              <a:t>Contendrá tantos elementos como individuos del grupo de control haya dentro del nivel de tolerancia.</a:t>
            </a:r>
            <a:endParaRPr lang="es-ES" sz="2300" dirty="0"/>
          </a:p>
        </p:txBody>
      </p:sp>
      <p:pic>
        <p:nvPicPr>
          <p:cNvPr id="14" name="Picture 1"/>
          <p:cNvPicPr>
            <a:picLocks noChangeAspect="1" noChangeArrowheads="1"/>
          </p:cNvPicPr>
          <p:nvPr/>
        </p:nvPicPr>
        <p:blipFill>
          <a:blip r:embed="rId3" cstate="print"/>
          <a:srcRect/>
          <a:stretch>
            <a:fillRect/>
          </a:stretch>
        </p:blipFill>
        <p:spPr bwMode="auto">
          <a:xfrm>
            <a:off x="0" y="-24"/>
            <a:ext cx="2500298" cy="1189301"/>
          </a:xfrm>
          <a:prstGeom prst="rect">
            <a:avLst/>
          </a:prstGeom>
          <a:noFill/>
          <a:ln w="9525">
            <a:noFill/>
            <a:miter lim="800000"/>
            <a:headEnd/>
            <a:tailEnd/>
          </a:ln>
          <a:effectLst/>
        </p:spPr>
      </p:pic>
      <p:sp>
        <p:nvSpPr>
          <p:cNvPr id="15" name="14 Rectángulo"/>
          <p:cNvSpPr/>
          <p:nvPr/>
        </p:nvSpPr>
        <p:spPr>
          <a:xfrm>
            <a:off x="0" y="6534859"/>
            <a:ext cx="9144000" cy="323141"/>
          </a:xfrm>
          <a:prstGeom prst="rect">
            <a:avLst/>
          </a:prstGeom>
        </p:spPr>
        <p:txBody>
          <a:bodyPr wrap="square">
            <a:spAutoFit/>
          </a:bodyPr>
          <a:lstStyle/>
          <a:p>
            <a:pPr algn="ctr"/>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6: Emparejamiento /  32</a:t>
            </a:r>
            <a:endParaRPr lang="es-ES" sz="1500" dirty="0">
              <a:solidFill>
                <a:schemeClr val="tx1">
                  <a:lumMod val="50000"/>
                  <a:lumOff val="50000"/>
                </a:schemeClr>
              </a:solidFill>
            </a:endParaRPr>
          </a:p>
        </p:txBody>
      </p:sp>
      <p:cxnSp>
        <p:nvCxnSpPr>
          <p:cNvPr id="18" name="17 Conector recto"/>
          <p:cNvCxnSpPr/>
          <p:nvPr/>
        </p:nvCxnSpPr>
        <p:spPr>
          <a:xfrm rot="10800000">
            <a:off x="857224" y="2214554"/>
            <a:ext cx="71438" cy="0"/>
          </a:xfrm>
          <a:prstGeom prst="line">
            <a:avLst/>
          </a:prstGeom>
          <a:ln>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0" name="19 Conector recto"/>
          <p:cNvCxnSpPr/>
          <p:nvPr/>
        </p:nvCxnSpPr>
        <p:spPr>
          <a:xfrm rot="5400000">
            <a:off x="642910" y="2428868"/>
            <a:ext cx="428628" cy="0"/>
          </a:xfrm>
          <a:prstGeom prst="line">
            <a:avLst/>
          </a:prstGeom>
          <a:ln>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2" name="21 Conector recto de flecha"/>
          <p:cNvCxnSpPr/>
          <p:nvPr/>
        </p:nvCxnSpPr>
        <p:spPr>
          <a:xfrm>
            <a:off x="857224" y="2643182"/>
            <a:ext cx="214314" cy="1588"/>
          </a:xfrm>
          <a:prstGeom prst="straightConnector1">
            <a:avLst/>
          </a:prstGeom>
          <a:ln>
            <a:solidFill>
              <a:schemeClr val="accent1">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graphicFrame>
        <p:nvGraphicFramePr>
          <p:cNvPr id="12290" name="Object 2"/>
          <p:cNvGraphicFramePr>
            <a:graphicFrameLocks noChangeAspect="1"/>
          </p:cNvGraphicFramePr>
          <p:nvPr>
            <p:extLst>
              <p:ext uri="{D42A27DB-BD31-4B8C-83A1-F6EECF244321}">
                <p14:modId xmlns="" xmlns:p14="http://schemas.microsoft.com/office/powerpoint/2010/main" val="4021402045"/>
              </p:ext>
            </p:extLst>
          </p:nvPr>
        </p:nvGraphicFramePr>
        <p:xfrm>
          <a:off x="1857356" y="3896941"/>
          <a:ext cx="6500859" cy="675067"/>
        </p:xfrm>
        <a:graphic>
          <a:graphicData uri="http://schemas.openxmlformats.org/presentationml/2006/ole">
            <p:oleObj spid="_x0000_s12295" name="Documento" r:id="rId4" imgW="5402470" imgH="561479" progId="Word.Document.12">
              <p:embed/>
            </p:oleObj>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714612" y="274638"/>
            <a:ext cx="5972188" cy="1011222"/>
          </a:xfrm>
        </p:spPr>
        <p:txBody>
          <a:bodyPr>
            <a:normAutofit/>
          </a:bodyPr>
          <a:lstStyle/>
          <a:p>
            <a:r>
              <a:rPr lang="es-CO" sz="4200" u="sng" dirty="0" smtClean="0"/>
              <a:t>Ejemplo: </a:t>
            </a:r>
            <a:r>
              <a:rPr lang="es-CO" sz="4200" i="1" u="sng" dirty="0" smtClean="0"/>
              <a:t>Canasta</a:t>
            </a:r>
            <a:endParaRPr lang="es-ES" sz="4200" i="1" u="sng" dirty="0"/>
          </a:p>
        </p:txBody>
      </p:sp>
      <p:sp>
        <p:nvSpPr>
          <p:cNvPr id="3" name="2 Marcador de contenido"/>
          <p:cNvSpPr>
            <a:spLocks noGrp="1"/>
          </p:cNvSpPr>
          <p:nvPr>
            <p:ph idx="1"/>
          </p:nvPr>
        </p:nvSpPr>
        <p:spPr/>
        <p:txBody>
          <a:bodyPr/>
          <a:lstStyle/>
          <a:p>
            <a:r>
              <a:rPr lang="es-CO" sz="2500" dirty="0" smtClean="0"/>
              <a:t>Suponiendo que la calidad del emparejamiento es buena:</a:t>
            </a:r>
            <a:endParaRPr lang="es-ES" sz="2500" dirty="0"/>
          </a:p>
        </p:txBody>
      </p:sp>
      <p:graphicFrame>
        <p:nvGraphicFramePr>
          <p:cNvPr id="4" name="3 Tabla"/>
          <p:cNvGraphicFramePr>
            <a:graphicFrameLocks noGrp="1"/>
          </p:cNvGraphicFramePr>
          <p:nvPr/>
        </p:nvGraphicFramePr>
        <p:xfrm>
          <a:off x="714349" y="2181244"/>
          <a:ext cx="7715302" cy="3962400"/>
        </p:xfrm>
        <a:graphic>
          <a:graphicData uri="http://schemas.openxmlformats.org/drawingml/2006/table">
            <a:tbl>
              <a:tblPr/>
              <a:tblGrid>
                <a:gridCol w="1636129"/>
                <a:gridCol w="1636129"/>
                <a:gridCol w="634470"/>
                <a:gridCol w="634470"/>
                <a:gridCol w="634470"/>
                <a:gridCol w="634470"/>
                <a:gridCol w="634470"/>
                <a:gridCol w="635347"/>
                <a:gridCol w="635347"/>
              </a:tblGrid>
              <a:tr h="238127">
                <a:tc>
                  <a:txBody>
                    <a:bodyPr/>
                    <a:lstStyle/>
                    <a:p>
                      <a:pPr algn="just">
                        <a:spcAft>
                          <a:spcPts val="0"/>
                        </a:spcAft>
                      </a:pPr>
                      <a:endParaRPr lang="es-CO" sz="2000" dirty="0">
                        <a:latin typeface="Times New Roman"/>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2000" dirty="0">
                          <a:latin typeface="Times New Roman"/>
                          <a:ea typeface="Times New Roman"/>
                          <a:cs typeface="Times New Roman"/>
                        </a:rPr>
                        <a:t>Observación</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2000" dirty="0">
                          <a:latin typeface="Times New Roman"/>
                          <a:ea typeface="Times New Roman"/>
                          <a:cs typeface="Times New Roman"/>
                        </a:rPr>
                        <a:t>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2000" dirty="0">
                          <a:latin typeface="Times New Roman"/>
                          <a:ea typeface="Times New Roman"/>
                          <a:cs typeface="Times New Roman"/>
                        </a:rPr>
                        <a:t>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2000" dirty="0">
                          <a:latin typeface="Times New Roman"/>
                          <a:ea typeface="Times New Roman"/>
                          <a:cs typeface="Times New Roman"/>
                        </a:rPr>
                        <a:t>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2000" dirty="0">
                          <a:latin typeface="Times New Roman"/>
                          <a:ea typeface="Times New Roman"/>
                          <a:cs typeface="Times New Roman"/>
                        </a:rPr>
                        <a:t>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2000" dirty="0">
                          <a:latin typeface="Times New Roman"/>
                          <a:ea typeface="Times New Roman"/>
                          <a:cs typeface="Times New Roman"/>
                        </a:rPr>
                        <a:t>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2000" dirty="0">
                          <a:latin typeface="Times New Roman"/>
                          <a:ea typeface="Times New Roman"/>
                          <a:cs typeface="Times New Roman"/>
                        </a:rPr>
                        <a:t>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2000" dirty="0">
                          <a:latin typeface="Times New Roman"/>
                          <a:ea typeface="Times New Roman"/>
                          <a:cs typeface="Times New Roman"/>
                        </a:rPr>
                        <a:t>7</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76253">
                <a:tc rowSpan="2">
                  <a:txBody>
                    <a:bodyPr/>
                    <a:lstStyle/>
                    <a:p>
                      <a:pPr algn="ctr">
                        <a:spcAft>
                          <a:spcPts val="0"/>
                        </a:spcAft>
                      </a:pPr>
                      <a:r>
                        <a:rPr lang="es-ES" sz="2000" dirty="0">
                          <a:latin typeface="Times New Roman"/>
                          <a:ea typeface="Times New Roman"/>
                          <a:cs typeface="Times New Roman"/>
                        </a:rPr>
                        <a:t>Tratamiento</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s-ES" sz="2000" dirty="0">
                          <a:latin typeface="Times New Roman"/>
                          <a:ea typeface="Times New Roman"/>
                          <a:cs typeface="Times New Roman"/>
                        </a:rPr>
                        <a:t>Probabilidad de participación: </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2000" dirty="0">
                          <a:latin typeface="Times New Roman"/>
                          <a:ea typeface="Times New Roman"/>
                          <a:cs typeface="Times New Roman"/>
                        </a:rPr>
                        <a:t>0.40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2000" dirty="0">
                          <a:latin typeface="Times New Roman"/>
                          <a:ea typeface="Times New Roman"/>
                          <a:cs typeface="Times New Roman"/>
                        </a:rPr>
                        <a:t>0.48</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2000" b="1">
                          <a:latin typeface="Times New Roman"/>
                          <a:ea typeface="Times New Roman"/>
                          <a:cs typeface="Times New Roman"/>
                        </a:rPr>
                        <a:t>0.54</a:t>
                      </a:r>
                      <a:endParaRPr lang="es-ES" sz="200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2000">
                          <a:latin typeface="Times New Roman"/>
                          <a:ea typeface="Times New Roman"/>
                          <a:cs typeface="Times New Roman"/>
                        </a:rPr>
                        <a:t>0.65</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2000">
                          <a:latin typeface="Times New Roman"/>
                          <a:ea typeface="Times New Roman"/>
                          <a:cs typeface="Times New Roman"/>
                        </a:rPr>
                        <a:t>0.75</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2000">
                          <a:latin typeface="Times New Roman"/>
                          <a:ea typeface="Times New Roman"/>
                          <a:cs typeface="Times New Roman"/>
                        </a:rPr>
                        <a:t>0.76</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2000" dirty="0">
                          <a:latin typeface="Times New Roman"/>
                          <a:ea typeface="Times New Roman"/>
                          <a:cs typeface="Times New Roman"/>
                        </a:rPr>
                        <a:t>0.77</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76253">
                <a:tc vMerge="1">
                  <a:txBody>
                    <a:bodyPr/>
                    <a:lstStyle/>
                    <a:p>
                      <a:endParaRPr lang="es-ES"/>
                    </a:p>
                  </a:txBody>
                  <a:tcPr/>
                </a:tc>
                <a:tc>
                  <a:txBody>
                    <a:bodyPr/>
                    <a:lstStyle/>
                    <a:p>
                      <a:pPr algn="l">
                        <a:spcAft>
                          <a:spcPts val="0"/>
                        </a:spcAft>
                      </a:pPr>
                      <a:r>
                        <a:rPr lang="es-ES" sz="2000" dirty="0">
                          <a:latin typeface="Times New Roman"/>
                          <a:ea typeface="Times New Roman"/>
                          <a:cs typeface="Times New Roman"/>
                        </a:rPr>
                        <a:t>Talla para niñas de </a:t>
                      </a:r>
                      <a:r>
                        <a:rPr lang="es-ES" sz="2000" dirty="0" smtClean="0">
                          <a:latin typeface="Times New Roman"/>
                          <a:ea typeface="Times New Roman"/>
                          <a:cs typeface="Times New Roman"/>
                        </a:rPr>
                        <a:t>un </a:t>
                      </a:r>
                      <a:r>
                        <a:rPr lang="es-ES" sz="2000" dirty="0">
                          <a:latin typeface="Times New Roman"/>
                          <a:ea typeface="Times New Roman"/>
                          <a:cs typeface="Times New Roman"/>
                        </a:rPr>
                        <a:t>año: </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2000" dirty="0">
                          <a:latin typeface="Times New Roman"/>
                          <a:ea typeface="Times New Roman"/>
                          <a:cs typeface="Times New Roman"/>
                        </a:rPr>
                        <a:t>69</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2000" dirty="0">
                          <a:latin typeface="Times New Roman"/>
                          <a:ea typeface="Times New Roman"/>
                          <a:cs typeface="Times New Roman"/>
                        </a:rPr>
                        <a:t>74</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2000" dirty="0">
                          <a:latin typeface="Times New Roman"/>
                          <a:ea typeface="Times New Roman"/>
                          <a:cs typeface="Times New Roman"/>
                        </a:rPr>
                        <a:t>73</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2000">
                          <a:latin typeface="Times New Roman"/>
                          <a:ea typeface="Times New Roman"/>
                          <a:cs typeface="Times New Roman"/>
                        </a:rPr>
                        <a:t>74</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2000">
                          <a:latin typeface="Times New Roman"/>
                          <a:ea typeface="Times New Roman"/>
                          <a:cs typeface="Times New Roman"/>
                        </a:rPr>
                        <a:t>77</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2000">
                          <a:latin typeface="Times New Roman"/>
                          <a:ea typeface="Times New Roman"/>
                          <a:cs typeface="Times New Roman"/>
                        </a:rPr>
                        <a:t>70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2000" dirty="0">
                          <a:latin typeface="Times New Roman"/>
                          <a:ea typeface="Times New Roman"/>
                          <a:cs typeface="Times New Roman"/>
                        </a:rPr>
                        <a:t>80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76253">
                <a:tc rowSpan="2">
                  <a:txBody>
                    <a:bodyPr/>
                    <a:lstStyle/>
                    <a:p>
                      <a:pPr algn="ctr">
                        <a:spcAft>
                          <a:spcPts val="0"/>
                        </a:spcAft>
                      </a:pPr>
                      <a:r>
                        <a:rPr lang="es-ES" sz="2000">
                          <a:latin typeface="Times New Roman"/>
                          <a:ea typeface="Times New Roman"/>
                          <a:cs typeface="Times New Roman"/>
                        </a:rPr>
                        <a:t>Control</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s-ES" sz="2000" dirty="0">
                          <a:latin typeface="Times New Roman"/>
                          <a:ea typeface="Times New Roman"/>
                          <a:cs typeface="Times New Roman"/>
                        </a:rPr>
                        <a:t>Probabilidad de participación: </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2000">
                          <a:latin typeface="Times New Roman"/>
                          <a:ea typeface="Times New Roman"/>
                          <a:cs typeface="Times New Roman"/>
                        </a:rPr>
                        <a:t>0.42</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2000">
                          <a:latin typeface="Times New Roman"/>
                          <a:ea typeface="Times New Roman"/>
                          <a:cs typeface="Times New Roman"/>
                        </a:rPr>
                        <a:t>0.52</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2000" dirty="0">
                          <a:latin typeface="Times New Roman"/>
                          <a:ea typeface="Times New Roman"/>
                          <a:cs typeface="Times New Roman"/>
                        </a:rPr>
                        <a:t>0.55</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2000" dirty="0">
                          <a:latin typeface="Times New Roman"/>
                          <a:ea typeface="Times New Roman"/>
                          <a:cs typeface="Times New Roman"/>
                        </a:rPr>
                        <a:t>0.59</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2000">
                          <a:latin typeface="Times New Roman"/>
                          <a:ea typeface="Times New Roman"/>
                          <a:cs typeface="Times New Roman"/>
                        </a:rPr>
                        <a:t>0.62</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2000">
                          <a:latin typeface="Times New Roman"/>
                          <a:ea typeface="Times New Roman"/>
                          <a:cs typeface="Times New Roman"/>
                        </a:rPr>
                        <a:t>0.65</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2000" dirty="0">
                          <a:latin typeface="Times New Roman"/>
                          <a:ea typeface="Times New Roman"/>
                          <a:cs typeface="Times New Roman"/>
                        </a:rPr>
                        <a:t>0.77</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76253">
                <a:tc vMerge="1">
                  <a:txBody>
                    <a:bodyPr/>
                    <a:lstStyle/>
                    <a:p>
                      <a:endParaRPr lang="es-ES"/>
                    </a:p>
                  </a:txBody>
                  <a:tcPr/>
                </a:tc>
                <a:tc>
                  <a:txBody>
                    <a:bodyPr/>
                    <a:lstStyle/>
                    <a:p>
                      <a:pPr algn="l">
                        <a:spcAft>
                          <a:spcPts val="0"/>
                        </a:spcAft>
                      </a:pPr>
                      <a:r>
                        <a:rPr lang="es-ES" sz="2000" dirty="0">
                          <a:latin typeface="Times New Roman"/>
                          <a:ea typeface="Times New Roman"/>
                          <a:cs typeface="Times New Roman"/>
                        </a:rPr>
                        <a:t>Talla para niñas de </a:t>
                      </a:r>
                      <a:r>
                        <a:rPr lang="es-ES" sz="2000" dirty="0" smtClean="0">
                          <a:latin typeface="Times New Roman"/>
                          <a:ea typeface="Times New Roman"/>
                          <a:cs typeface="Times New Roman"/>
                        </a:rPr>
                        <a:t>un </a:t>
                      </a:r>
                      <a:r>
                        <a:rPr lang="es-ES" sz="2000" dirty="0">
                          <a:latin typeface="Times New Roman"/>
                          <a:ea typeface="Times New Roman"/>
                          <a:cs typeface="Times New Roman"/>
                        </a:rPr>
                        <a:t>año: </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2000">
                          <a:latin typeface="Times New Roman"/>
                          <a:ea typeface="Times New Roman"/>
                          <a:cs typeface="Times New Roman"/>
                        </a:rPr>
                        <a:t>71</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2000">
                          <a:latin typeface="Times New Roman"/>
                          <a:ea typeface="Times New Roman"/>
                          <a:cs typeface="Times New Roman"/>
                        </a:rPr>
                        <a:t>69</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2000">
                          <a:latin typeface="Times New Roman"/>
                          <a:ea typeface="Times New Roman"/>
                          <a:cs typeface="Times New Roman"/>
                        </a:rPr>
                        <a:t>70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2000" dirty="0">
                          <a:latin typeface="Times New Roman"/>
                          <a:ea typeface="Times New Roman"/>
                          <a:cs typeface="Times New Roman"/>
                        </a:rPr>
                        <a:t>72</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2000" dirty="0">
                          <a:latin typeface="Times New Roman"/>
                          <a:ea typeface="Times New Roman"/>
                          <a:cs typeface="Times New Roman"/>
                        </a:rPr>
                        <a:t>78</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2000" dirty="0">
                          <a:latin typeface="Times New Roman"/>
                          <a:ea typeface="Times New Roman"/>
                          <a:cs typeface="Times New Roman"/>
                        </a:rPr>
                        <a:t>70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2000" dirty="0">
                          <a:latin typeface="Times New Roman"/>
                          <a:ea typeface="Times New Roman"/>
                          <a:cs typeface="Times New Roman"/>
                        </a:rPr>
                        <a:t>74</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75781" name="Rectangle 5"/>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800" b="0" i="0" u="none" strike="noStrike" cap="none" normalizeH="0" baseline="0" smtClean="0">
              <a:ln>
                <a:noFill/>
              </a:ln>
              <a:solidFill>
                <a:schemeClr val="tx1"/>
              </a:solidFill>
              <a:effectLst/>
              <a:latin typeface="Arial" pitchFamily="34" charset="0"/>
            </a:endParaRPr>
          </a:p>
        </p:txBody>
      </p:sp>
      <p:cxnSp>
        <p:nvCxnSpPr>
          <p:cNvPr id="11" name="10 Conector recto de flecha"/>
          <p:cNvCxnSpPr/>
          <p:nvPr/>
        </p:nvCxnSpPr>
        <p:spPr>
          <a:xfrm rot="16200000" flipH="1">
            <a:off x="4893471" y="3687013"/>
            <a:ext cx="1357322" cy="142876"/>
          </a:xfrm>
          <a:prstGeom prst="straightConnector1">
            <a:avLst/>
          </a:prstGeom>
          <a:ln>
            <a:solidFill>
              <a:schemeClr val="accent1">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sp>
        <p:nvSpPr>
          <p:cNvPr id="12" name="11 Elipse"/>
          <p:cNvSpPr/>
          <p:nvPr/>
        </p:nvSpPr>
        <p:spPr>
          <a:xfrm>
            <a:off x="5286380" y="4583978"/>
            <a:ext cx="571504" cy="357190"/>
          </a:xfrm>
          <a:prstGeom prst="ellipse">
            <a:avLst/>
          </a:prstGeom>
          <a:no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8" name="Picture 1"/>
          <p:cNvPicPr>
            <a:picLocks noChangeAspect="1" noChangeArrowheads="1"/>
          </p:cNvPicPr>
          <p:nvPr/>
        </p:nvPicPr>
        <p:blipFill>
          <a:blip r:embed="rId3" cstate="print"/>
          <a:srcRect/>
          <a:stretch>
            <a:fillRect/>
          </a:stretch>
        </p:blipFill>
        <p:spPr bwMode="auto">
          <a:xfrm>
            <a:off x="0" y="-24"/>
            <a:ext cx="2500298" cy="1189301"/>
          </a:xfrm>
          <a:prstGeom prst="rect">
            <a:avLst/>
          </a:prstGeom>
          <a:noFill/>
          <a:ln w="9525">
            <a:noFill/>
            <a:miter lim="800000"/>
            <a:headEnd/>
            <a:tailEnd/>
          </a:ln>
          <a:effectLst/>
        </p:spPr>
      </p:pic>
      <p:sp>
        <p:nvSpPr>
          <p:cNvPr id="10" name="9 Rectángulo"/>
          <p:cNvSpPr/>
          <p:nvPr/>
        </p:nvSpPr>
        <p:spPr>
          <a:xfrm>
            <a:off x="0" y="6534859"/>
            <a:ext cx="9144000" cy="323141"/>
          </a:xfrm>
          <a:prstGeom prst="rect">
            <a:avLst/>
          </a:prstGeom>
        </p:spPr>
        <p:txBody>
          <a:bodyPr wrap="square">
            <a:spAutoFit/>
          </a:bodyPr>
          <a:lstStyle/>
          <a:p>
            <a:pPr algn="ctr"/>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6: Emparejamiento /  33</a:t>
            </a:r>
            <a:endParaRPr lang="es-ES" sz="1500" dirty="0">
              <a:solidFill>
                <a:schemeClr val="tx1">
                  <a:lumMod val="50000"/>
                  <a:lumOff val="50000"/>
                </a:schemeClr>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57200" y="2000240"/>
            <a:ext cx="8229600" cy="4125923"/>
          </a:xfrm>
          <a:ln w="28575">
            <a:solidFill>
              <a:schemeClr val="accent1">
                <a:lumMod val="75000"/>
              </a:schemeClr>
            </a:solidFill>
          </a:ln>
        </p:spPr>
        <p:txBody>
          <a:bodyPr/>
          <a:lstStyle/>
          <a:p>
            <a:r>
              <a:rPr lang="es-CO" sz="2500" dirty="0" smtClean="0"/>
              <a:t>Efecto del programa para la pareja señalada:</a:t>
            </a:r>
          </a:p>
          <a:p>
            <a:pPr lvl="1"/>
            <a:r>
              <a:rPr lang="es-CO" sz="2500" dirty="0" smtClean="0"/>
              <a:t>Diferencia entre la variable de resultado:</a:t>
            </a:r>
          </a:p>
          <a:p>
            <a:pPr lvl="1"/>
            <a:endParaRPr lang="es-CO" sz="2500" dirty="0" smtClean="0"/>
          </a:p>
          <a:p>
            <a:pPr lvl="1"/>
            <a:endParaRPr lang="es-CO" sz="2500" dirty="0" smtClean="0"/>
          </a:p>
          <a:p>
            <a:pPr lvl="1">
              <a:buNone/>
            </a:pPr>
            <a:r>
              <a:rPr lang="es-CO" sz="2500" u="sng" dirty="0" smtClean="0"/>
              <a:t>ATT:</a:t>
            </a:r>
            <a:r>
              <a:rPr lang="es-CO" sz="2500" dirty="0" smtClean="0"/>
              <a:t> Promedio de las diferencias entre las variables de 	   resultado</a:t>
            </a:r>
          </a:p>
          <a:p>
            <a:pPr lvl="1">
              <a:buNone/>
            </a:pPr>
            <a:endParaRPr lang="es-CO" sz="2500" u="sng" dirty="0" smtClean="0"/>
          </a:p>
        </p:txBody>
      </p:sp>
      <p:sp>
        <p:nvSpPr>
          <p:cNvPr id="4" name="1 Título"/>
          <p:cNvSpPr>
            <a:spLocks noGrp="1"/>
          </p:cNvSpPr>
          <p:nvPr>
            <p:ph type="title"/>
          </p:nvPr>
        </p:nvSpPr>
        <p:spPr>
          <a:xfrm>
            <a:off x="3000364" y="142852"/>
            <a:ext cx="5472122" cy="1143000"/>
          </a:xfrm>
        </p:spPr>
        <p:txBody>
          <a:bodyPr>
            <a:normAutofit/>
          </a:bodyPr>
          <a:lstStyle/>
          <a:p>
            <a:r>
              <a:rPr lang="es-CO" sz="4200" u="sng" dirty="0" smtClean="0"/>
              <a:t>Ejemplo: </a:t>
            </a:r>
            <a:r>
              <a:rPr lang="es-CO" sz="4200" i="1" u="sng" dirty="0" smtClean="0"/>
              <a:t>Canasta</a:t>
            </a:r>
            <a:endParaRPr lang="es-ES" sz="4200" i="1" u="sng" dirty="0"/>
          </a:p>
        </p:txBody>
      </p:sp>
      <p:sp>
        <p:nvSpPr>
          <p:cNvPr id="77826"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77827" name="Rectangle 3"/>
          <p:cNvSpPr>
            <a:spLocks noChangeArrowheads="1"/>
          </p:cNvSpPr>
          <p:nvPr/>
        </p:nvSpPr>
        <p:spPr bwMode="auto">
          <a:xfrm>
            <a:off x="0" y="8382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800" b="0" i="0" u="none" strike="noStrike" cap="none" normalizeH="0" baseline="0" smtClean="0">
              <a:ln>
                <a:noFill/>
              </a:ln>
              <a:solidFill>
                <a:schemeClr val="tx1"/>
              </a:solidFill>
              <a:effectLst/>
              <a:latin typeface="Arial" pitchFamily="34" charset="0"/>
            </a:endParaRPr>
          </a:p>
        </p:txBody>
      </p:sp>
      <p:cxnSp>
        <p:nvCxnSpPr>
          <p:cNvPr id="10" name="9 Conector recto"/>
          <p:cNvCxnSpPr/>
          <p:nvPr/>
        </p:nvCxnSpPr>
        <p:spPr>
          <a:xfrm rot="5400000">
            <a:off x="821505" y="4822041"/>
            <a:ext cx="78581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11 Conector recto de flecha"/>
          <p:cNvCxnSpPr/>
          <p:nvPr/>
        </p:nvCxnSpPr>
        <p:spPr>
          <a:xfrm>
            <a:off x="1214414" y="5213362"/>
            <a:ext cx="1928826"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77829" name="Rectangle 5"/>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77830" name="Rectangle 6"/>
          <p:cNvSpPr>
            <a:spLocks noChangeArrowheads="1"/>
          </p:cNvSpPr>
          <p:nvPr/>
        </p:nvSpPr>
        <p:spPr bwMode="auto">
          <a:xfrm>
            <a:off x="0" y="8382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800" b="0" i="0" u="none" strike="noStrike" cap="none" normalizeH="0" baseline="0" smtClean="0">
              <a:ln>
                <a:noFill/>
              </a:ln>
              <a:solidFill>
                <a:schemeClr val="tx1"/>
              </a:solidFill>
              <a:effectLst/>
              <a:latin typeface="Arial" pitchFamily="34" charset="0"/>
            </a:endParaRPr>
          </a:p>
        </p:txBody>
      </p:sp>
      <p:sp>
        <p:nvSpPr>
          <p:cNvPr id="77832" name="Rectangle 8"/>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77833" name="Rectangle 9"/>
          <p:cNvSpPr>
            <a:spLocks noChangeArrowheads="1"/>
          </p:cNvSpPr>
          <p:nvPr/>
        </p:nvSpPr>
        <p:spPr bwMode="auto">
          <a:xfrm>
            <a:off x="0" y="8382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800" b="0" i="0" u="none" strike="noStrike" cap="none" normalizeH="0" baseline="0" smtClean="0">
              <a:ln>
                <a:noFill/>
              </a:ln>
              <a:solidFill>
                <a:schemeClr val="tx1"/>
              </a:solidFill>
              <a:effectLst/>
              <a:latin typeface="Arial" pitchFamily="34" charset="0"/>
            </a:endParaRPr>
          </a:p>
        </p:txBody>
      </p:sp>
      <p:pic>
        <p:nvPicPr>
          <p:cNvPr id="15" name="Picture 1"/>
          <p:cNvPicPr>
            <a:picLocks noChangeAspect="1" noChangeArrowheads="1"/>
          </p:cNvPicPr>
          <p:nvPr/>
        </p:nvPicPr>
        <p:blipFill>
          <a:blip r:embed="rId3" cstate="print"/>
          <a:srcRect/>
          <a:stretch>
            <a:fillRect/>
          </a:stretch>
        </p:blipFill>
        <p:spPr bwMode="auto">
          <a:xfrm>
            <a:off x="0" y="-24"/>
            <a:ext cx="2500298" cy="1189301"/>
          </a:xfrm>
          <a:prstGeom prst="rect">
            <a:avLst/>
          </a:prstGeom>
          <a:noFill/>
          <a:ln w="9525">
            <a:noFill/>
            <a:miter lim="800000"/>
            <a:headEnd/>
            <a:tailEnd/>
          </a:ln>
          <a:effectLst/>
        </p:spPr>
      </p:pic>
      <p:sp>
        <p:nvSpPr>
          <p:cNvPr id="16" name="15 Rectángulo"/>
          <p:cNvSpPr/>
          <p:nvPr/>
        </p:nvSpPr>
        <p:spPr>
          <a:xfrm>
            <a:off x="0" y="6534859"/>
            <a:ext cx="9144000" cy="323141"/>
          </a:xfrm>
          <a:prstGeom prst="rect">
            <a:avLst/>
          </a:prstGeom>
        </p:spPr>
        <p:txBody>
          <a:bodyPr wrap="square">
            <a:spAutoFit/>
          </a:bodyPr>
          <a:lstStyle/>
          <a:p>
            <a:pPr algn="ctr"/>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6: Emparejamiento /  34</a:t>
            </a:r>
            <a:endParaRPr lang="es-ES" sz="1500" dirty="0">
              <a:solidFill>
                <a:schemeClr val="tx1">
                  <a:lumMod val="50000"/>
                  <a:lumOff val="50000"/>
                </a:schemeClr>
              </a:solidFill>
            </a:endParaRPr>
          </a:p>
        </p:txBody>
      </p:sp>
      <p:graphicFrame>
        <p:nvGraphicFramePr>
          <p:cNvPr id="13314" name="Object 2"/>
          <p:cNvGraphicFramePr>
            <a:graphicFrameLocks noChangeAspect="1"/>
          </p:cNvGraphicFramePr>
          <p:nvPr>
            <p:extLst>
              <p:ext uri="{D42A27DB-BD31-4B8C-83A1-F6EECF244321}">
                <p14:modId xmlns="" xmlns:p14="http://schemas.microsoft.com/office/powerpoint/2010/main" val="267065970"/>
              </p:ext>
            </p:extLst>
          </p:nvPr>
        </p:nvGraphicFramePr>
        <p:xfrm>
          <a:off x="696913" y="3146425"/>
          <a:ext cx="6927850" cy="635000"/>
        </p:xfrm>
        <a:graphic>
          <a:graphicData uri="http://schemas.openxmlformats.org/presentationml/2006/ole">
            <p:oleObj spid="_x0000_s13324" name="Documento" r:id="rId4" imgW="5402470" imgH="502887" progId="Word.Document.12">
              <p:embed/>
            </p:oleObj>
          </a:graphicData>
        </a:graphic>
      </p:graphicFrame>
      <p:graphicFrame>
        <p:nvGraphicFramePr>
          <p:cNvPr id="13315" name="Object 3"/>
          <p:cNvGraphicFramePr>
            <a:graphicFrameLocks noChangeAspect="1"/>
          </p:cNvGraphicFramePr>
          <p:nvPr>
            <p:extLst>
              <p:ext uri="{D42A27DB-BD31-4B8C-83A1-F6EECF244321}">
                <p14:modId xmlns="" xmlns:p14="http://schemas.microsoft.com/office/powerpoint/2010/main" val="2665859863"/>
              </p:ext>
            </p:extLst>
          </p:nvPr>
        </p:nvGraphicFramePr>
        <p:xfrm>
          <a:off x="443914" y="4929198"/>
          <a:ext cx="6985606" cy="649585"/>
        </p:xfrm>
        <a:graphic>
          <a:graphicData uri="http://schemas.openxmlformats.org/presentationml/2006/ole">
            <p:oleObj spid="_x0000_s13325" name="Documento" r:id="rId5" imgW="5402470" imgH="502887" progId="Word.Document.12">
              <p:embed/>
            </p:oleObj>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57200" y="1714488"/>
            <a:ext cx="8229600" cy="4411675"/>
          </a:xfrm>
          <a:ln w="28575">
            <a:solidFill>
              <a:schemeClr val="accent1">
                <a:lumMod val="75000"/>
              </a:schemeClr>
            </a:solidFill>
          </a:ln>
        </p:spPr>
        <p:txBody>
          <a:bodyPr>
            <a:normAutofit/>
          </a:bodyPr>
          <a:lstStyle/>
          <a:p>
            <a:endParaRPr lang="es-CO" sz="2500" dirty="0" smtClean="0"/>
          </a:p>
          <a:p>
            <a:r>
              <a:rPr lang="es-CO" sz="2500" dirty="0" smtClean="0"/>
              <a:t>Si, en cambio, se usa el algoritmo de tres </a:t>
            </a:r>
            <a:r>
              <a:rPr lang="es-CO" sz="2500" u="sng" dirty="0" smtClean="0"/>
              <a:t>vecinos más cercanos </a:t>
            </a:r>
            <a:r>
              <a:rPr lang="es-CO" sz="2500" dirty="0" smtClean="0"/>
              <a:t>en el grupo de control.</a:t>
            </a:r>
          </a:p>
          <a:p>
            <a:pPr>
              <a:buNone/>
            </a:pPr>
            <a:r>
              <a:rPr lang="es-CO" sz="2500" dirty="0" smtClean="0"/>
              <a:t>	</a:t>
            </a:r>
          </a:p>
          <a:p>
            <a:pPr>
              <a:buNone/>
            </a:pPr>
            <a:r>
              <a:rPr lang="es-CO" sz="2500" dirty="0" smtClean="0"/>
              <a:t>	Impacto estimado para la observación:</a:t>
            </a:r>
          </a:p>
          <a:p>
            <a:pPr>
              <a:buNone/>
            </a:pPr>
            <a:endParaRPr lang="es-CO" sz="2500" dirty="0" smtClean="0"/>
          </a:p>
          <a:p>
            <a:pPr>
              <a:buNone/>
            </a:pPr>
            <a:endParaRPr lang="es-CO" sz="2500" dirty="0" smtClean="0"/>
          </a:p>
          <a:p>
            <a:endParaRPr lang="es-CO" sz="2500" dirty="0" smtClean="0"/>
          </a:p>
        </p:txBody>
      </p:sp>
      <p:sp>
        <p:nvSpPr>
          <p:cNvPr id="4" name="1 Título"/>
          <p:cNvSpPr>
            <a:spLocks noGrp="1"/>
          </p:cNvSpPr>
          <p:nvPr>
            <p:ph type="title"/>
          </p:nvPr>
        </p:nvSpPr>
        <p:spPr>
          <a:xfrm>
            <a:off x="2571736" y="214290"/>
            <a:ext cx="6115064" cy="1143000"/>
          </a:xfrm>
        </p:spPr>
        <p:txBody>
          <a:bodyPr>
            <a:normAutofit/>
          </a:bodyPr>
          <a:lstStyle/>
          <a:p>
            <a:r>
              <a:rPr lang="es-CO" sz="4200" u="sng" dirty="0" smtClean="0"/>
              <a:t>Ejemplo: </a:t>
            </a:r>
            <a:r>
              <a:rPr lang="es-CO" sz="4200" i="1" u="sng" dirty="0" smtClean="0"/>
              <a:t>Canasta</a:t>
            </a:r>
            <a:endParaRPr lang="es-ES" sz="4200" i="1" u="sng" dirty="0"/>
          </a:p>
        </p:txBody>
      </p:sp>
      <p:sp>
        <p:nvSpPr>
          <p:cNvPr id="78850"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78851" name="Rectangle 3"/>
          <p:cNvSpPr>
            <a:spLocks noChangeArrowheads="1"/>
          </p:cNvSpPr>
          <p:nvPr/>
        </p:nvSpPr>
        <p:spPr bwMode="auto">
          <a:xfrm>
            <a:off x="0" y="11525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800" b="0" i="0" u="none" strike="noStrike" cap="none" normalizeH="0" baseline="0" smtClean="0">
              <a:ln>
                <a:noFill/>
              </a:ln>
              <a:solidFill>
                <a:schemeClr val="tx1"/>
              </a:solidFill>
              <a:effectLst/>
              <a:latin typeface="Arial" pitchFamily="34" charset="0"/>
            </a:endParaRPr>
          </a:p>
        </p:txBody>
      </p:sp>
      <p:sp>
        <p:nvSpPr>
          <p:cNvPr id="78853" name="Rectangle 5"/>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78854" name="Rectangle 6"/>
          <p:cNvSpPr>
            <a:spLocks noChangeArrowheads="1"/>
          </p:cNvSpPr>
          <p:nvPr/>
        </p:nvSpPr>
        <p:spPr bwMode="auto">
          <a:xfrm>
            <a:off x="0" y="8382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800" b="0" i="0" u="none" strike="noStrike" cap="none" normalizeH="0" baseline="0" smtClean="0">
              <a:ln>
                <a:noFill/>
              </a:ln>
              <a:solidFill>
                <a:schemeClr val="tx1"/>
              </a:solidFill>
              <a:effectLst/>
              <a:latin typeface="Arial" pitchFamily="34" charset="0"/>
            </a:endParaRPr>
          </a:p>
        </p:txBody>
      </p:sp>
      <p:pic>
        <p:nvPicPr>
          <p:cNvPr id="10" name="Picture 1"/>
          <p:cNvPicPr>
            <a:picLocks noChangeAspect="1" noChangeArrowheads="1"/>
          </p:cNvPicPr>
          <p:nvPr/>
        </p:nvPicPr>
        <p:blipFill>
          <a:blip r:embed="rId3" cstate="print"/>
          <a:srcRect/>
          <a:stretch>
            <a:fillRect/>
          </a:stretch>
        </p:blipFill>
        <p:spPr bwMode="auto">
          <a:xfrm>
            <a:off x="0" y="-24"/>
            <a:ext cx="2500298" cy="1189301"/>
          </a:xfrm>
          <a:prstGeom prst="rect">
            <a:avLst/>
          </a:prstGeom>
          <a:noFill/>
          <a:ln w="9525">
            <a:noFill/>
            <a:miter lim="800000"/>
            <a:headEnd/>
            <a:tailEnd/>
          </a:ln>
          <a:effectLst/>
        </p:spPr>
      </p:pic>
      <p:pic>
        <p:nvPicPr>
          <p:cNvPr id="11" name="Picture 1"/>
          <p:cNvPicPr>
            <a:picLocks noChangeAspect="1" noChangeArrowheads="1"/>
          </p:cNvPicPr>
          <p:nvPr/>
        </p:nvPicPr>
        <p:blipFill>
          <a:blip r:embed="rId3" cstate="print"/>
          <a:srcRect/>
          <a:stretch>
            <a:fillRect/>
          </a:stretch>
        </p:blipFill>
        <p:spPr bwMode="auto">
          <a:xfrm>
            <a:off x="152400" y="152376"/>
            <a:ext cx="2500298" cy="1189301"/>
          </a:xfrm>
          <a:prstGeom prst="rect">
            <a:avLst/>
          </a:prstGeom>
          <a:noFill/>
          <a:ln w="9525">
            <a:noFill/>
            <a:miter lim="800000"/>
            <a:headEnd/>
            <a:tailEnd/>
          </a:ln>
          <a:effectLst/>
        </p:spPr>
      </p:pic>
      <p:sp>
        <p:nvSpPr>
          <p:cNvPr id="15" name="14 Rectángulo"/>
          <p:cNvSpPr/>
          <p:nvPr/>
        </p:nvSpPr>
        <p:spPr>
          <a:xfrm>
            <a:off x="0" y="6534859"/>
            <a:ext cx="9144000" cy="323141"/>
          </a:xfrm>
          <a:prstGeom prst="rect">
            <a:avLst/>
          </a:prstGeom>
        </p:spPr>
        <p:txBody>
          <a:bodyPr wrap="square">
            <a:spAutoFit/>
          </a:bodyPr>
          <a:lstStyle/>
          <a:p>
            <a:pPr algn="ctr"/>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6: Emparejamiento /  35</a:t>
            </a:r>
            <a:endParaRPr lang="es-ES" sz="1500" dirty="0">
              <a:solidFill>
                <a:schemeClr val="tx1">
                  <a:lumMod val="50000"/>
                  <a:lumOff val="50000"/>
                </a:schemeClr>
              </a:solidFill>
            </a:endParaRPr>
          </a:p>
        </p:txBody>
      </p:sp>
      <p:graphicFrame>
        <p:nvGraphicFramePr>
          <p:cNvPr id="14338" name="Object 2"/>
          <p:cNvGraphicFramePr>
            <a:graphicFrameLocks noChangeAspect="1"/>
          </p:cNvGraphicFramePr>
          <p:nvPr>
            <p:extLst>
              <p:ext uri="{D42A27DB-BD31-4B8C-83A1-F6EECF244321}">
                <p14:modId xmlns="" xmlns:p14="http://schemas.microsoft.com/office/powerpoint/2010/main" val="211728766"/>
              </p:ext>
            </p:extLst>
          </p:nvPr>
        </p:nvGraphicFramePr>
        <p:xfrm>
          <a:off x="1223963" y="4293096"/>
          <a:ext cx="6842125" cy="1046163"/>
        </p:xfrm>
        <a:graphic>
          <a:graphicData uri="http://schemas.openxmlformats.org/presentationml/2006/ole">
            <p:oleObj spid="_x0000_s14343" name="Documento" r:id="rId4" imgW="5402470" imgH="825683" progId="Word.Document.12">
              <p:embed/>
            </p:oleObj>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57200" y="1643050"/>
            <a:ext cx="8229600" cy="4483113"/>
          </a:xfrm>
        </p:spPr>
        <p:txBody>
          <a:bodyPr/>
          <a:lstStyle/>
          <a:p>
            <a:pPr marL="514350" indent="-514350">
              <a:buFont typeface="+mj-lt"/>
              <a:buAutoNum type="arabicPeriod" startAt="3"/>
            </a:pPr>
            <a:r>
              <a:rPr lang="es-ES_tradnl" sz="2500" u="sng" dirty="0" smtClean="0"/>
              <a:t>Estimación PSM por estratificación:</a:t>
            </a:r>
            <a:endParaRPr lang="es-ES" sz="2500" u="sng" dirty="0" smtClean="0"/>
          </a:p>
          <a:p>
            <a:pPr marL="514350" indent="-514350">
              <a:buNone/>
            </a:pPr>
            <a:r>
              <a:rPr lang="es-ES_tradnl" sz="2500" dirty="0" smtClean="0"/>
              <a:t>	Intuitivamente</a:t>
            </a:r>
          </a:p>
          <a:p>
            <a:pPr marL="514350" indent="-514350">
              <a:buNone/>
            </a:pPr>
            <a:r>
              <a:rPr lang="es-ES_tradnl" sz="2500" dirty="0" smtClean="0"/>
              <a:t>	Hace una partición en el espacio de las probabilidades estimadas y lo divide en estratos de probabilidad de participación.</a:t>
            </a:r>
          </a:p>
        </p:txBody>
      </p:sp>
      <p:sp>
        <p:nvSpPr>
          <p:cNvPr id="5" name="1 Título"/>
          <p:cNvSpPr>
            <a:spLocks noGrp="1"/>
          </p:cNvSpPr>
          <p:nvPr>
            <p:ph type="title"/>
          </p:nvPr>
        </p:nvSpPr>
        <p:spPr>
          <a:xfrm>
            <a:off x="2786050" y="274638"/>
            <a:ext cx="5900750" cy="1143000"/>
          </a:xfrm>
        </p:spPr>
        <p:txBody>
          <a:bodyPr>
            <a:noAutofit/>
          </a:bodyPr>
          <a:lstStyle/>
          <a:p>
            <a:r>
              <a:rPr lang="es-ES_tradnl" sz="4200" u="sng" dirty="0" smtClean="0"/>
              <a:t>Selección del algoritmo de emparejamiento</a:t>
            </a:r>
            <a:endParaRPr lang="es-ES" sz="4200" u="sng" dirty="0"/>
          </a:p>
        </p:txBody>
      </p:sp>
      <p:sp>
        <p:nvSpPr>
          <p:cNvPr id="52226"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52227" name="Rectangle 3"/>
          <p:cNvSpPr>
            <a:spLocks noChangeArrowheads="1"/>
          </p:cNvSpPr>
          <p:nvPr/>
        </p:nvSpPr>
        <p:spPr bwMode="auto">
          <a:xfrm>
            <a:off x="0" y="7239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800" b="0" i="0" u="none" strike="noStrike" cap="none" normalizeH="0" baseline="0" smtClean="0">
              <a:ln>
                <a:noFill/>
              </a:ln>
              <a:solidFill>
                <a:schemeClr val="tx1"/>
              </a:solidFill>
              <a:effectLst/>
              <a:latin typeface="Arial" pitchFamily="34" charset="0"/>
            </a:endParaRPr>
          </a:p>
        </p:txBody>
      </p:sp>
      <p:cxnSp>
        <p:nvCxnSpPr>
          <p:cNvPr id="10" name="9 Conector recto de flecha"/>
          <p:cNvCxnSpPr/>
          <p:nvPr/>
        </p:nvCxnSpPr>
        <p:spPr>
          <a:xfrm rot="5400000">
            <a:off x="1285058" y="4642652"/>
            <a:ext cx="285752"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1" name="10 CuadroTexto"/>
          <p:cNvSpPr txBox="1"/>
          <p:nvPr/>
        </p:nvSpPr>
        <p:spPr>
          <a:xfrm>
            <a:off x="642911" y="4996118"/>
            <a:ext cx="8072494" cy="1246495"/>
          </a:xfrm>
          <a:prstGeom prst="rect">
            <a:avLst/>
          </a:prstGeom>
          <a:noFill/>
          <a:ln>
            <a:solidFill>
              <a:schemeClr val="accent1">
                <a:lumMod val="60000"/>
                <a:lumOff val="40000"/>
              </a:schemeClr>
            </a:solidFill>
          </a:ln>
        </p:spPr>
        <p:txBody>
          <a:bodyPr wrap="square" rtlCol="0">
            <a:spAutoFit/>
          </a:bodyPr>
          <a:lstStyle/>
          <a:p>
            <a:pPr algn="ctr"/>
            <a:r>
              <a:rPr lang="es-ES_tradnl" sz="2500" dirty="0" smtClean="0"/>
              <a:t>Impacto en cada estrato calculado como la diferencia promedio en la variable de resultado entre los grupos de tratamiento y de control.</a:t>
            </a:r>
            <a:endParaRPr lang="es-ES" sz="2500" dirty="0"/>
          </a:p>
        </p:txBody>
      </p:sp>
      <p:pic>
        <p:nvPicPr>
          <p:cNvPr id="12" name="Picture 1"/>
          <p:cNvPicPr>
            <a:picLocks noChangeAspect="1" noChangeArrowheads="1"/>
          </p:cNvPicPr>
          <p:nvPr/>
        </p:nvPicPr>
        <p:blipFill>
          <a:blip r:embed="rId3" cstate="print"/>
          <a:srcRect/>
          <a:stretch>
            <a:fillRect/>
          </a:stretch>
        </p:blipFill>
        <p:spPr bwMode="auto">
          <a:xfrm>
            <a:off x="0" y="-24"/>
            <a:ext cx="2500298" cy="1189301"/>
          </a:xfrm>
          <a:prstGeom prst="rect">
            <a:avLst/>
          </a:prstGeom>
          <a:noFill/>
          <a:ln w="9525">
            <a:noFill/>
            <a:miter lim="800000"/>
            <a:headEnd/>
            <a:tailEnd/>
          </a:ln>
          <a:effectLst/>
        </p:spPr>
      </p:pic>
      <p:sp>
        <p:nvSpPr>
          <p:cNvPr id="14" name="13 Rectángulo"/>
          <p:cNvSpPr/>
          <p:nvPr/>
        </p:nvSpPr>
        <p:spPr>
          <a:xfrm>
            <a:off x="0" y="6534859"/>
            <a:ext cx="9144000" cy="323141"/>
          </a:xfrm>
          <a:prstGeom prst="rect">
            <a:avLst/>
          </a:prstGeom>
        </p:spPr>
        <p:txBody>
          <a:bodyPr wrap="square">
            <a:spAutoFit/>
          </a:bodyPr>
          <a:lstStyle/>
          <a:p>
            <a:pPr algn="ctr"/>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6: Emparejamiento /  36</a:t>
            </a:r>
            <a:endParaRPr lang="es-ES" sz="1500" dirty="0">
              <a:solidFill>
                <a:schemeClr val="tx1">
                  <a:lumMod val="50000"/>
                  <a:lumOff val="50000"/>
                </a:schemeClr>
              </a:solidFill>
            </a:endParaRPr>
          </a:p>
        </p:txBody>
      </p:sp>
      <p:cxnSp>
        <p:nvCxnSpPr>
          <p:cNvPr id="15" name="14 Conector recto"/>
          <p:cNvCxnSpPr/>
          <p:nvPr/>
        </p:nvCxnSpPr>
        <p:spPr>
          <a:xfrm rot="10800000">
            <a:off x="857224" y="2357430"/>
            <a:ext cx="71438" cy="0"/>
          </a:xfrm>
          <a:prstGeom prst="line">
            <a:avLst/>
          </a:prstGeom>
          <a:ln>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6" name="15 Conector recto"/>
          <p:cNvCxnSpPr/>
          <p:nvPr/>
        </p:nvCxnSpPr>
        <p:spPr>
          <a:xfrm rot="5400000">
            <a:off x="642910" y="2571744"/>
            <a:ext cx="428628" cy="0"/>
          </a:xfrm>
          <a:prstGeom prst="line">
            <a:avLst/>
          </a:prstGeom>
          <a:ln>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7" name="16 Conector recto de flecha"/>
          <p:cNvCxnSpPr/>
          <p:nvPr/>
        </p:nvCxnSpPr>
        <p:spPr>
          <a:xfrm>
            <a:off x="857224" y="2784470"/>
            <a:ext cx="214314" cy="1588"/>
          </a:xfrm>
          <a:prstGeom prst="straightConnector1">
            <a:avLst/>
          </a:prstGeom>
          <a:ln>
            <a:solidFill>
              <a:schemeClr val="accent1">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graphicFrame>
        <p:nvGraphicFramePr>
          <p:cNvPr id="15364" name="Object 4"/>
          <p:cNvGraphicFramePr>
            <a:graphicFrameLocks noChangeAspect="1"/>
          </p:cNvGraphicFramePr>
          <p:nvPr>
            <p:extLst>
              <p:ext uri="{D42A27DB-BD31-4B8C-83A1-F6EECF244321}">
                <p14:modId xmlns="" xmlns:p14="http://schemas.microsoft.com/office/powerpoint/2010/main" val="3704801292"/>
              </p:ext>
            </p:extLst>
          </p:nvPr>
        </p:nvGraphicFramePr>
        <p:xfrm>
          <a:off x="-285784" y="3966513"/>
          <a:ext cx="8858312" cy="748371"/>
        </p:xfrm>
        <a:graphic>
          <a:graphicData uri="http://schemas.openxmlformats.org/presentationml/2006/ole">
            <p:oleObj spid="_x0000_s15374" name="Documento" r:id="rId4" imgW="5402470" imgH="456516" progId="Word.Document.12">
              <p:embed/>
            </p:oleObj>
          </a:graphicData>
        </a:graphic>
      </p:graphicFrame>
      <p:graphicFrame>
        <p:nvGraphicFramePr>
          <p:cNvPr id="15365" name="Object 5"/>
          <p:cNvGraphicFramePr>
            <a:graphicFrameLocks noChangeAspect="1"/>
          </p:cNvGraphicFramePr>
          <p:nvPr>
            <p:extLst>
              <p:ext uri="{D42A27DB-BD31-4B8C-83A1-F6EECF244321}">
                <p14:modId xmlns="" xmlns:p14="http://schemas.microsoft.com/office/powerpoint/2010/main" val="647893317"/>
              </p:ext>
            </p:extLst>
          </p:nvPr>
        </p:nvGraphicFramePr>
        <p:xfrm>
          <a:off x="2857488" y="4001883"/>
          <a:ext cx="7786742" cy="784439"/>
        </p:xfrm>
        <a:graphic>
          <a:graphicData uri="http://schemas.openxmlformats.org/presentationml/2006/ole">
            <p:oleObj spid="_x0000_s15375" name="Documento" r:id="rId5" imgW="5402470" imgH="447170" progId="Word.Document.12">
              <p:embed/>
            </p:oleObj>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714612" y="274638"/>
            <a:ext cx="5972188" cy="1143000"/>
          </a:xfrm>
        </p:spPr>
        <p:txBody>
          <a:bodyPr>
            <a:noAutofit/>
          </a:bodyPr>
          <a:lstStyle/>
          <a:p>
            <a:r>
              <a:rPr lang="es-ES_tradnl" sz="4200" u="sng" dirty="0" smtClean="0"/>
              <a:t>¿Cómo determinar los estratos?</a:t>
            </a:r>
            <a:endParaRPr lang="es-ES" sz="4200" u="sng" dirty="0"/>
          </a:p>
        </p:txBody>
      </p:sp>
      <p:sp>
        <p:nvSpPr>
          <p:cNvPr id="3" name="2 Marcador de contenido"/>
          <p:cNvSpPr>
            <a:spLocks noGrp="1"/>
          </p:cNvSpPr>
          <p:nvPr>
            <p:ph idx="1"/>
          </p:nvPr>
        </p:nvSpPr>
        <p:spPr/>
        <p:txBody>
          <a:bodyPr/>
          <a:lstStyle/>
          <a:p>
            <a:endParaRPr lang="es-ES_tradnl" sz="2500" dirty="0" smtClean="0"/>
          </a:p>
          <a:p>
            <a:r>
              <a:rPr lang="es-ES_tradnl" sz="2500" dirty="0" smtClean="0"/>
              <a:t>Dentro de los estratos la probabilidad de participar debe estar balanceada.</a:t>
            </a:r>
          </a:p>
          <a:p>
            <a:endParaRPr lang="es-ES_tradnl" sz="2500" dirty="0" smtClean="0"/>
          </a:p>
          <a:p>
            <a:r>
              <a:rPr lang="es-ES_tradnl" sz="2500" dirty="0" smtClean="0"/>
              <a:t>Adicionalmente, se debe chequear que las variables observables estén balanceadas.</a:t>
            </a:r>
          </a:p>
          <a:p>
            <a:pPr>
              <a:buNone/>
            </a:pPr>
            <a:endParaRPr lang="es-ES_tradnl" sz="2500" dirty="0" smtClean="0"/>
          </a:p>
          <a:p>
            <a:pPr algn="ctr">
              <a:buNone/>
            </a:pPr>
            <a:r>
              <a:rPr lang="es-ES_tradnl" sz="2500" dirty="0" smtClean="0"/>
              <a:t>En general, cinco estratos son suficientes.</a:t>
            </a:r>
            <a:endParaRPr lang="es-ES" sz="2500" dirty="0"/>
          </a:p>
        </p:txBody>
      </p:sp>
      <p:pic>
        <p:nvPicPr>
          <p:cNvPr id="5" name="Picture 1"/>
          <p:cNvPicPr>
            <a:picLocks noChangeAspect="1" noChangeArrowheads="1"/>
          </p:cNvPicPr>
          <p:nvPr/>
        </p:nvPicPr>
        <p:blipFill>
          <a:blip r:embed="rId2" cstate="print"/>
          <a:srcRect/>
          <a:stretch>
            <a:fillRect/>
          </a:stretch>
        </p:blipFill>
        <p:spPr bwMode="auto">
          <a:xfrm>
            <a:off x="0" y="-24"/>
            <a:ext cx="2500298" cy="1189301"/>
          </a:xfrm>
          <a:prstGeom prst="rect">
            <a:avLst/>
          </a:prstGeom>
          <a:noFill/>
          <a:ln w="9525">
            <a:noFill/>
            <a:miter lim="800000"/>
            <a:headEnd/>
            <a:tailEnd/>
          </a:ln>
          <a:effectLst/>
        </p:spPr>
      </p:pic>
      <p:sp>
        <p:nvSpPr>
          <p:cNvPr id="6" name="5 Rectángulo"/>
          <p:cNvSpPr/>
          <p:nvPr/>
        </p:nvSpPr>
        <p:spPr>
          <a:xfrm>
            <a:off x="0" y="6534859"/>
            <a:ext cx="9144000" cy="323141"/>
          </a:xfrm>
          <a:prstGeom prst="rect">
            <a:avLst/>
          </a:prstGeom>
        </p:spPr>
        <p:txBody>
          <a:bodyPr wrap="square">
            <a:spAutoFit/>
          </a:bodyPr>
          <a:lstStyle/>
          <a:p>
            <a:pPr algn="ctr"/>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6: Emparejamiento /  37</a:t>
            </a:r>
            <a:endParaRPr lang="es-ES" sz="1500" dirty="0">
              <a:solidFill>
                <a:schemeClr val="tx1">
                  <a:lumMod val="50000"/>
                  <a:lumOff val="50000"/>
                </a:schemeClr>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600340" y="214290"/>
            <a:ext cx="5972188" cy="1011222"/>
          </a:xfrm>
        </p:spPr>
        <p:txBody>
          <a:bodyPr>
            <a:normAutofit/>
          </a:bodyPr>
          <a:lstStyle/>
          <a:p>
            <a:r>
              <a:rPr lang="es-CO" sz="4200" u="sng" dirty="0" smtClean="0"/>
              <a:t>Ejemplo: </a:t>
            </a:r>
            <a:r>
              <a:rPr lang="es-CO" sz="4200" i="1" u="sng" dirty="0" smtClean="0"/>
              <a:t>Canasta</a:t>
            </a:r>
            <a:endParaRPr lang="es-ES" sz="4200" i="1" u="sng" dirty="0"/>
          </a:p>
        </p:txBody>
      </p:sp>
      <p:sp>
        <p:nvSpPr>
          <p:cNvPr id="3" name="2 Marcador de contenido"/>
          <p:cNvSpPr>
            <a:spLocks noGrp="1"/>
          </p:cNvSpPr>
          <p:nvPr>
            <p:ph idx="1"/>
          </p:nvPr>
        </p:nvSpPr>
        <p:spPr/>
        <p:txBody>
          <a:bodyPr/>
          <a:lstStyle/>
          <a:p>
            <a:r>
              <a:rPr lang="es-CO" sz="2500" dirty="0" smtClean="0"/>
              <a:t>Suponiendo que la calidad del emparejamiento es buena:</a:t>
            </a:r>
            <a:endParaRPr lang="es-ES" sz="2500" dirty="0"/>
          </a:p>
        </p:txBody>
      </p:sp>
      <p:graphicFrame>
        <p:nvGraphicFramePr>
          <p:cNvPr id="4" name="3 Tabla"/>
          <p:cNvGraphicFramePr>
            <a:graphicFrameLocks noGrp="1"/>
          </p:cNvGraphicFramePr>
          <p:nvPr/>
        </p:nvGraphicFramePr>
        <p:xfrm>
          <a:off x="714349" y="2181244"/>
          <a:ext cx="7715302" cy="3962400"/>
        </p:xfrm>
        <a:graphic>
          <a:graphicData uri="http://schemas.openxmlformats.org/drawingml/2006/table">
            <a:tbl>
              <a:tblPr/>
              <a:tblGrid>
                <a:gridCol w="1636129"/>
                <a:gridCol w="1636129"/>
                <a:gridCol w="634470"/>
                <a:gridCol w="634470"/>
                <a:gridCol w="634470"/>
                <a:gridCol w="634470"/>
                <a:gridCol w="634470"/>
                <a:gridCol w="635347"/>
                <a:gridCol w="635347"/>
              </a:tblGrid>
              <a:tr h="238127">
                <a:tc>
                  <a:txBody>
                    <a:bodyPr/>
                    <a:lstStyle/>
                    <a:p>
                      <a:pPr algn="just">
                        <a:spcAft>
                          <a:spcPts val="0"/>
                        </a:spcAft>
                      </a:pPr>
                      <a:endParaRPr lang="es-CO" sz="2000" dirty="0">
                        <a:latin typeface="Times New Roman"/>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s-ES" sz="2000" dirty="0">
                          <a:latin typeface="Times New Roman"/>
                          <a:ea typeface="Times New Roman"/>
                          <a:cs typeface="Times New Roman"/>
                        </a:rPr>
                        <a:t>Observación</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2000" dirty="0">
                          <a:latin typeface="Times New Roman"/>
                          <a:ea typeface="Times New Roman"/>
                          <a:cs typeface="Times New Roman"/>
                        </a:rPr>
                        <a:t>1</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2000" dirty="0">
                          <a:latin typeface="Times New Roman"/>
                          <a:ea typeface="Times New Roman"/>
                          <a:cs typeface="Times New Roman"/>
                        </a:rPr>
                        <a:t>2</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2000" dirty="0">
                          <a:latin typeface="Times New Roman"/>
                          <a:ea typeface="Times New Roman"/>
                          <a:cs typeface="Times New Roman"/>
                        </a:rPr>
                        <a:t>3</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2000" dirty="0">
                          <a:latin typeface="Times New Roman"/>
                          <a:ea typeface="Times New Roman"/>
                          <a:cs typeface="Times New Roman"/>
                        </a:rPr>
                        <a:t>4</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2000" dirty="0">
                          <a:latin typeface="Times New Roman"/>
                          <a:ea typeface="Times New Roman"/>
                          <a:cs typeface="Times New Roman"/>
                        </a:rPr>
                        <a:t>5</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2000" dirty="0">
                          <a:latin typeface="Times New Roman"/>
                          <a:ea typeface="Times New Roman"/>
                          <a:cs typeface="Times New Roman"/>
                        </a:rPr>
                        <a:t>6</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2000" dirty="0">
                          <a:latin typeface="Times New Roman"/>
                          <a:ea typeface="Times New Roman"/>
                          <a:cs typeface="Times New Roman"/>
                        </a:rPr>
                        <a:t>7</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76253">
                <a:tc rowSpan="2">
                  <a:txBody>
                    <a:bodyPr/>
                    <a:lstStyle/>
                    <a:p>
                      <a:pPr algn="l">
                        <a:spcAft>
                          <a:spcPts val="0"/>
                        </a:spcAft>
                      </a:pPr>
                      <a:r>
                        <a:rPr lang="es-ES" sz="2000" dirty="0">
                          <a:latin typeface="Times New Roman"/>
                          <a:ea typeface="Times New Roman"/>
                          <a:cs typeface="Times New Roman"/>
                        </a:rPr>
                        <a:t>Tratamiento</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s-ES" sz="2000" dirty="0">
                          <a:latin typeface="Times New Roman"/>
                          <a:ea typeface="Times New Roman"/>
                          <a:cs typeface="Times New Roman"/>
                        </a:rPr>
                        <a:t>Probabilidad de participación: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2000" dirty="0">
                          <a:latin typeface="Times New Roman"/>
                          <a:ea typeface="Times New Roman"/>
                          <a:cs typeface="Times New Roman"/>
                        </a:rPr>
                        <a:t>0.40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2000">
                          <a:latin typeface="Times New Roman"/>
                          <a:ea typeface="Times New Roman"/>
                          <a:cs typeface="Times New Roman"/>
                        </a:rPr>
                        <a:t>0.48</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2000" b="1">
                          <a:latin typeface="Times New Roman"/>
                          <a:ea typeface="Times New Roman"/>
                          <a:cs typeface="Times New Roman"/>
                        </a:rPr>
                        <a:t>0.54</a:t>
                      </a:r>
                      <a:endParaRPr lang="es-ES" sz="2000">
                        <a:latin typeface="Times New Roman"/>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2000">
                          <a:latin typeface="Times New Roman"/>
                          <a:ea typeface="Times New Roman"/>
                          <a:cs typeface="Times New Roman"/>
                        </a:rPr>
                        <a:t>0.65</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2000">
                          <a:latin typeface="Times New Roman"/>
                          <a:ea typeface="Times New Roman"/>
                          <a:cs typeface="Times New Roman"/>
                        </a:rPr>
                        <a:t>0.75</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2000">
                          <a:latin typeface="Times New Roman"/>
                          <a:ea typeface="Times New Roman"/>
                          <a:cs typeface="Times New Roman"/>
                        </a:rPr>
                        <a:t>0.76</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2000" dirty="0">
                          <a:latin typeface="Times New Roman"/>
                          <a:ea typeface="Times New Roman"/>
                          <a:cs typeface="Times New Roman"/>
                        </a:rPr>
                        <a:t>0.77</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76253">
                <a:tc vMerge="1">
                  <a:txBody>
                    <a:bodyPr/>
                    <a:lstStyle/>
                    <a:p>
                      <a:endParaRPr lang="es-ES"/>
                    </a:p>
                  </a:txBody>
                  <a:tcPr/>
                </a:tc>
                <a:tc>
                  <a:txBody>
                    <a:bodyPr/>
                    <a:lstStyle/>
                    <a:p>
                      <a:pPr algn="l">
                        <a:spcAft>
                          <a:spcPts val="0"/>
                        </a:spcAft>
                      </a:pPr>
                      <a:r>
                        <a:rPr lang="es-ES" sz="2000" dirty="0">
                          <a:latin typeface="Times New Roman"/>
                          <a:ea typeface="Times New Roman"/>
                          <a:cs typeface="Times New Roman"/>
                        </a:rPr>
                        <a:t>Talla para niñas de </a:t>
                      </a:r>
                      <a:r>
                        <a:rPr lang="es-ES" sz="2000" dirty="0" smtClean="0">
                          <a:latin typeface="Times New Roman"/>
                          <a:ea typeface="Times New Roman"/>
                          <a:cs typeface="Times New Roman"/>
                        </a:rPr>
                        <a:t>un </a:t>
                      </a:r>
                      <a:r>
                        <a:rPr lang="es-ES" sz="2000" dirty="0">
                          <a:latin typeface="Times New Roman"/>
                          <a:ea typeface="Times New Roman"/>
                          <a:cs typeface="Times New Roman"/>
                        </a:rPr>
                        <a:t>año: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2000">
                          <a:latin typeface="Times New Roman"/>
                          <a:ea typeface="Times New Roman"/>
                          <a:cs typeface="Times New Roman"/>
                        </a:rPr>
                        <a:t>69</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2000">
                          <a:latin typeface="Times New Roman"/>
                          <a:ea typeface="Times New Roman"/>
                          <a:cs typeface="Times New Roman"/>
                        </a:rPr>
                        <a:t>74</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2000">
                          <a:latin typeface="Times New Roman"/>
                          <a:ea typeface="Times New Roman"/>
                          <a:cs typeface="Times New Roman"/>
                        </a:rPr>
                        <a:t>73</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2000">
                          <a:latin typeface="Times New Roman"/>
                          <a:ea typeface="Times New Roman"/>
                          <a:cs typeface="Times New Roman"/>
                        </a:rPr>
                        <a:t>74</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2000">
                          <a:latin typeface="Times New Roman"/>
                          <a:ea typeface="Times New Roman"/>
                          <a:cs typeface="Times New Roman"/>
                        </a:rPr>
                        <a:t>77</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2000">
                          <a:latin typeface="Times New Roman"/>
                          <a:ea typeface="Times New Roman"/>
                          <a:cs typeface="Times New Roman"/>
                        </a:rPr>
                        <a:t>70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2000" dirty="0">
                          <a:latin typeface="Times New Roman"/>
                          <a:ea typeface="Times New Roman"/>
                          <a:cs typeface="Times New Roman"/>
                        </a:rPr>
                        <a:t>80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76253">
                <a:tc rowSpan="2">
                  <a:txBody>
                    <a:bodyPr/>
                    <a:lstStyle/>
                    <a:p>
                      <a:pPr algn="l">
                        <a:spcAft>
                          <a:spcPts val="0"/>
                        </a:spcAft>
                      </a:pPr>
                      <a:r>
                        <a:rPr lang="es-ES" sz="2000" dirty="0">
                          <a:latin typeface="Times New Roman"/>
                          <a:ea typeface="Times New Roman"/>
                          <a:cs typeface="Times New Roman"/>
                        </a:rPr>
                        <a:t>Control</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s-ES" sz="2000" dirty="0">
                          <a:latin typeface="Times New Roman"/>
                          <a:ea typeface="Times New Roman"/>
                          <a:cs typeface="Times New Roman"/>
                        </a:rPr>
                        <a:t>Probabilidad de participación: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2000">
                          <a:latin typeface="Times New Roman"/>
                          <a:ea typeface="Times New Roman"/>
                          <a:cs typeface="Times New Roman"/>
                        </a:rPr>
                        <a:t>0.42</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2000">
                          <a:latin typeface="Times New Roman"/>
                          <a:ea typeface="Times New Roman"/>
                          <a:cs typeface="Times New Roman"/>
                        </a:rPr>
                        <a:t>0.52</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2000">
                          <a:latin typeface="Times New Roman"/>
                          <a:ea typeface="Times New Roman"/>
                          <a:cs typeface="Times New Roman"/>
                        </a:rPr>
                        <a:t>0.55</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2000">
                          <a:latin typeface="Times New Roman"/>
                          <a:ea typeface="Times New Roman"/>
                          <a:cs typeface="Times New Roman"/>
                        </a:rPr>
                        <a:t>0.59</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2000">
                          <a:latin typeface="Times New Roman"/>
                          <a:ea typeface="Times New Roman"/>
                          <a:cs typeface="Times New Roman"/>
                        </a:rPr>
                        <a:t>0.62</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2000">
                          <a:latin typeface="Times New Roman"/>
                          <a:ea typeface="Times New Roman"/>
                          <a:cs typeface="Times New Roman"/>
                        </a:rPr>
                        <a:t>0.65</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2000" dirty="0">
                          <a:latin typeface="Times New Roman"/>
                          <a:ea typeface="Times New Roman"/>
                          <a:cs typeface="Times New Roman"/>
                        </a:rPr>
                        <a:t>0.77</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76253">
                <a:tc vMerge="1">
                  <a:txBody>
                    <a:bodyPr/>
                    <a:lstStyle/>
                    <a:p>
                      <a:endParaRPr lang="es-ES"/>
                    </a:p>
                  </a:txBody>
                  <a:tcPr/>
                </a:tc>
                <a:tc>
                  <a:txBody>
                    <a:bodyPr/>
                    <a:lstStyle/>
                    <a:p>
                      <a:pPr algn="l">
                        <a:spcAft>
                          <a:spcPts val="0"/>
                        </a:spcAft>
                      </a:pPr>
                      <a:r>
                        <a:rPr lang="es-ES" sz="2000" dirty="0">
                          <a:latin typeface="Times New Roman"/>
                          <a:ea typeface="Times New Roman"/>
                          <a:cs typeface="Times New Roman"/>
                        </a:rPr>
                        <a:t>Talla para niñas de </a:t>
                      </a:r>
                      <a:r>
                        <a:rPr lang="es-ES" sz="2000" dirty="0" smtClean="0">
                          <a:latin typeface="Times New Roman"/>
                          <a:ea typeface="Times New Roman"/>
                          <a:cs typeface="Times New Roman"/>
                        </a:rPr>
                        <a:t>un </a:t>
                      </a:r>
                      <a:r>
                        <a:rPr lang="es-ES" sz="2000" dirty="0">
                          <a:latin typeface="Times New Roman"/>
                          <a:ea typeface="Times New Roman"/>
                          <a:cs typeface="Times New Roman"/>
                        </a:rPr>
                        <a:t>año: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2000">
                          <a:latin typeface="Times New Roman"/>
                          <a:ea typeface="Times New Roman"/>
                          <a:cs typeface="Times New Roman"/>
                        </a:rPr>
                        <a:t>71</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2000">
                          <a:latin typeface="Times New Roman"/>
                          <a:ea typeface="Times New Roman"/>
                          <a:cs typeface="Times New Roman"/>
                        </a:rPr>
                        <a:t>69</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2000">
                          <a:latin typeface="Times New Roman"/>
                          <a:ea typeface="Times New Roman"/>
                          <a:cs typeface="Times New Roman"/>
                        </a:rPr>
                        <a:t>70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2000">
                          <a:latin typeface="Times New Roman"/>
                          <a:ea typeface="Times New Roman"/>
                          <a:cs typeface="Times New Roman"/>
                        </a:rPr>
                        <a:t>72</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2000">
                          <a:latin typeface="Times New Roman"/>
                          <a:ea typeface="Times New Roman"/>
                          <a:cs typeface="Times New Roman"/>
                        </a:rPr>
                        <a:t>78</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2000">
                          <a:latin typeface="Times New Roman"/>
                          <a:ea typeface="Times New Roman"/>
                          <a:cs typeface="Times New Roman"/>
                        </a:rPr>
                        <a:t>70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ES" sz="2000" dirty="0">
                          <a:latin typeface="Times New Roman"/>
                          <a:ea typeface="Times New Roman"/>
                          <a:cs typeface="Times New Roman"/>
                        </a:rPr>
                        <a:t>74</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75781" name="Rectangle 5"/>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800" b="0" i="0" u="none" strike="noStrike" cap="none" normalizeH="0" baseline="0" smtClean="0">
              <a:ln>
                <a:noFill/>
              </a:ln>
              <a:solidFill>
                <a:schemeClr val="tx1"/>
              </a:solidFill>
              <a:effectLst/>
              <a:latin typeface="Arial" pitchFamily="34" charset="0"/>
            </a:endParaRPr>
          </a:p>
        </p:txBody>
      </p:sp>
      <p:pic>
        <p:nvPicPr>
          <p:cNvPr id="8" name="Picture 1"/>
          <p:cNvPicPr>
            <a:picLocks noChangeAspect="1" noChangeArrowheads="1"/>
          </p:cNvPicPr>
          <p:nvPr/>
        </p:nvPicPr>
        <p:blipFill>
          <a:blip r:embed="rId3" cstate="print"/>
          <a:srcRect/>
          <a:stretch>
            <a:fillRect/>
          </a:stretch>
        </p:blipFill>
        <p:spPr bwMode="auto">
          <a:xfrm>
            <a:off x="0" y="-24"/>
            <a:ext cx="2500298" cy="1189301"/>
          </a:xfrm>
          <a:prstGeom prst="rect">
            <a:avLst/>
          </a:prstGeom>
          <a:noFill/>
          <a:ln w="9525">
            <a:noFill/>
            <a:miter lim="800000"/>
            <a:headEnd/>
            <a:tailEnd/>
          </a:ln>
          <a:effectLst/>
        </p:spPr>
      </p:pic>
      <p:sp>
        <p:nvSpPr>
          <p:cNvPr id="10" name="9 Rectángulo"/>
          <p:cNvSpPr/>
          <p:nvPr/>
        </p:nvSpPr>
        <p:spPr>
          <a:xfrm>
            <a:off x="0" y="6534859"/>
            <a:ext cx="9144000" cy="323141"/>
          </a:xfrm>
          <a:prstGeom prst="rect">
            <a:avLst/>
          </a:prstGeom>
        </p:spPr>
        <p:txBody>
          <a:bodyPr wrap="square">
            <a:spAutoFit/>
          </a:bodyPr>
          <a:lstStyle/>
          <a:p>
            <a:pPr algn="ctr"/>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6: Emparejamiento /  38</a:t>
            </a:r>
            <a:endParaRPr lang="es-ES" sz="1500" dirty="0">
              <a:solidFill>
                <a:schemeClr val="tx1">
                  <a:lumMod val="50000"/>
                  <a:lumOff val="50000"/>
                </a:schemeClr>
              </a:solidFill>
            </a:endParaRPr>
          </a:p>
        </p:txBody>
      </p:sp>
      <p:sp>
        <p:nvSpPr>
          <p:cNvPr id="9" name="8 Rectángulo"/>
          <p:cNvSpPr/>
          <p:nvPr/>
        </p:nvSpPr>
        <p:spPr>
          <a:xfrm>
            <a:off x="3929058" y="2500306"/>
            <a:ext cx="1928826" cy="1500198"/>
          </a:xfrm>
          <a:prstGeom prst="rect">
            <a:avLst/>
          </a:prstGeom>
          <a:noFill/>
        </p:spPr>
        <p:style>
          <a:lnRef idx="2">
            <a:schemeClr val="accent1"/>
          </a:lnRef>
          <a:fillRef idx="1">
            <a:schemeClr val="lt1"/>
          </a:fillRef>
          <a:effectRef idx="0">
            <a:schemeClr val="accent1"/>
          </a:effectRef>
          <a:fontRef idx="minor">
            <a:schemeClr val="dk1"/>
          </a:fontRef>
        </p:style>
        <p:txBody>
          <a:bodyPr rtlCol="0" anchor="ctr"/>
          <a:lstStyle/>
          <a:p>
            <a:pPr algn="ctr"/>
            <a:endParaRPr lang="es-CO"/>
          </a:p>
        </p:txBody>
      </p:sp>
      <p:sp>
        <p:nvSpPr>
          <p:cNvPr id="11" name="10 Rectángulo"/>
          <p:cNvSpPr/>
          <p:nvPr/>
        </p:nvSpPr>
        <p:spPr>
          <a:xfrm>
            <a:off x="5929322" y="2500306"/>
            <a:ext cx="2357454" cy="1500198"/>
          </a:xfrm>
          <a:prstGeom prst="rect">
            <a:avLst/>
          </a:prstGeom>
          <a:noFill/>
        </p:spPr>
        <p:style>
          <a:lnRef idx="2">
            <a:schemeClr val="accent1"/>
          </a:lnRef>
          <a:fillRef idx="1">
            <a:schemeClr val="lt1"/>
          </a:fillRef>
          <a:effectRef idx="0">
            <a:schemeClr val="accent1"/>
          </a:effectRef>
          <a:fontRef idx="minor">
            <a:schemeClr val="dk1"/>
          </a:fontRef>
        </p:style>
        <p:txBody>
          <a:bodyPr rtlCol="0" anchor="ctr"/>
          <a:lstStyle/>
          <a:p>
            <a:pPr algn="ctr"/>
            <a:endParaRPr lang="es-CO"/>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57200" y="1714488"/>
            <a:ext cx="8229600" cy="4411675"/>
          </a:xfrm>
          <a:ln w="28575">
            <a:solidFill>
              <a:schemeClr val="accent1">
                <a:lumMod val="75000"/>
              </a:schemeClr>
            </a:solidFill>
          </a:ln>
        </p:spPr>
        <p:txBody>
          <a:bodyPr>
            <a:normAutofit/>
          </a:bodyPr>
          <a:lstStyle/>
          <a:p>
            <a:r>
              <a:rPr lang="es-CO" sz="2500" u="sng" dirty="0" smtClean="0"/>
              <a:t>Por estratificación</a:t>
            </a:r>
          </a:p>
          <a:p>
            <a:pPr lvl="1"/>
            <a:r>
              <a:rPr lang="es-CO" sz="2500" dirty="0" smtClean="0"/>
              <a:t>Partiéndolo en dos estratos: punto de corte 0.6. El efecto estimado en el primer estrato sería: </a:t>
            </a:r>
          </a:p>
          <a:p>
            <a:pPr marL="1265238" lvl="1">
              <a:buNone/>
            </a:pPr>
            <a:r>
              <a:rPr lang="es-CO" sz="2500" dirty="0" smtClean="0"/>
              <a:t>72 – 70.5 = 1.5 cm.</a:t>
            </a:r>
          </a:p>
          <a:p>
            <a:pPr lvl="1"/>
            <a:r>
              <a:rPr lang="es-ES" sz="2400" dirty="0" smtClean="0"/>
              <a:t>El efecto para el segundo estrato: 75.25 – 74 = 1.25 cm. </a:t>
            </a:r>
          </a:p>
          <a:p>
            <a:pPr lvl="1"/>
            <a:r>
              <a:rPr lang="es-ES" sz="2400" dirty="0" smtClean="0"/>
              <a:t>ATT: promedio del efecto sobre cada estrato ponderado por la proporción de tratados en el soporte común. </a:t>
            </a:r>
          </a:p>
          <a:p>
            <a:pPr lvl="1"/>
            <a:r>
              <a:rPr lang="es-ES" sz="2400" dirty="0" smtClean="0"/>
              <a:t>Peso estrato 1=3/7, peso estrato 2 = 4/7. </a:t>
            </a:r>
          </a:p>
          <a:p>
            <a:pPr lvl="1"/>
            <a:r>
              <a:rPr lang="es-ES" sz="2400" dirty="0" smtClean="0"/>
              <a:t>ATT = (1.5 × 3/7) + (1.25 × 4/7) = 1.3571 cm.</a:t>
            </a:r>
            <a:endParaRPr lang="es-MX" sz="2500" dirty="0" smtClean="0"/>
          </a:p>
          <a:p>
            <a:pPr lvl="1"/>
            <a:endParaRPr lang="es-CO" sz="2500" dirty="0" smtClean="0"/>
          </a:p>
          <a:p>
            <a:pPr lvl="1">
              <a:buNone/>
            </a:pPr>
            <a:endParaRPr lang="es-CO" sz="2500" dirty="0" smtClean="0"/>
          </a:p>
          <a:p>
            <a:pPr>
              <a:buNone/>
            </a:pPr>
            <a:endParaRPr lang="es-ES" dirty="0"/>
          </a:p>
        </p:txBody>
      </p:sp>
      <p:pic>
        <p:nvPicPr>
          <p:cNvPr id="5" name="Picture 1"/>
          <p:cNvPicPr>
            <a:picLocks noChangeAspect="1" noChangeArrowheads="1"/>
          </p:cNvPicPr>
          <p:nvPr/>
        </p:nvPicPr>
        <p:blipFill>
          <a:blip r:embed="rId2" cstate="print"/>
          <a:srcRect/>
          <a:stretch>
            <a:fillRect/>
          </a:stretch>
        </p:blipFill>
        <p:spPr bwMode="auto">
          <a:xfrm>
            <a:off x="0" y="-24"/>
            <a:ext cx="2500298" cy="1189301"/>
          </a:xfrm>
          <a:prstGeom prst="rect">
            <a:avLst/>
          </a:prstGeom>
          <a:noFill/>
          <a:ln w="9525">
            <a:noFill/>
            <a:miter lim="800000"/>
            <a:headEnd/>
            <a:tailEnd/>
          </a:ln>
          <a:effectLst/>
        </p:spPr>
      </p:pic>
      <p:sp>
        <p:nvSpPr>
          <p:cNvPr id="6" name="1 Título"/>
          <p:cNvSpPr>
            <a:spLocks noGrp="1"/>
          </p:cNvSpPr>
          <p:nvPr>
            <p:ph type="title"/>
          </p:nvPr>
        </p:nvSpPr>
        <p:spPr>
          <a:xfrm>
            <a:off x="2714612" y="357166"/>
            <a:ext cx="5972188" cy="1011222"/>
          </a:xfrm>
        </p:spPr>
        <p:txBody>
          <a:bodyPr>
            <a:normAutofit/>
          </a:bodyPr>
          <a:lstStyle/>
          <a:p>
            <a:r>
              <a:rPr lang="es-CO" sz="4200" u="sng" dirty="0" smtClean="0"/>
              <a:t>Ejemplo: </a:t>
            </a:r>
            <a:r>
              <a:rPr lang="es-CO" sz="4200" i="1" u="sng" dirty="0" smtClean="0"/>
              <a:t>Canasta</a:t>
            </a:r>
            <a:endParaRPr lang="es-ES" sz="4200" i="1" u="sng" dirty="0"/>
          </a:p>
        </p:txBody>
      </p:sp>
      <p:sp>
        <p:nvSpPr>
          <p:cNvPr id="7" name="6 Rectángulo"/>
          <p:cNvSpPr/>
          <p:nvPr/>
        </p:nvSpPr>
        <p:spPr>
          <a:xfrm>
            <a:off x="0" y="6534859"/>
            <a:ext cx="9144000" cy="323141"/>
          </a:xfrm>
          <a:prstGeom prst="rect">
            <a:avLst/>
          </a:prstGeom>
        </p:spPr>
        <p:txBody>
          <a:bodyPr wrap="square">
            <a:spAutoFit/>
          </a:bodyPr>
          <a:lstStyle/>
          <a:p>
            <a:pPr algn="ctr"/>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6: Emparejamiento /  39</a:t>
            </a:r>
            <a:endParaRPr lang="es-ES" sz="1500" dirty="0">
              <a:solidFill>
                <a:schemeClr val="tx1">
                  <a:lumMod val="50000"/>
                  <a:lumOff val="50000"/>
                </a:schemeClr>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p:txBody>
          <a:bodyPr>
            <a:normAutofit/>
          </a:bodyPr>
          <a:lstStyle/>
          <a:p>
            <a:pPr marL="514350" indent="-514350">
              <a:buFont typeface="+mj-lt"/>
              <a:buAutoNum type="arabicPeriod" startAt="4"/>
            </a:pPr>
            <a:endParaRPr lang="es-ES_tradnl" sz="2500" u="sng" dirty="0" smtClean="0"/>
          </a:p>
          <a:p>
            <a:pPr marL="514350" indent="-514350">
              <a:buFont typeface="+mj-lt"/>
              <a:buAutoNum type="arabicPeriod" startAt="4"/>
            </a:pPr>
            <a:r>
              <a:rPr lang="es-ES_tradnl" sz="2500" u="sng" dirty="0" smtClean="0"/>
              <a:t>Estimador PSM por Kernel y regresión lineal local:</a:t>
            </a:r>
          </a:p>
          <a:p>
            <a:pPr>
              <a:buNone/>
            </a:pPr>
            <a:r>
              <a:rPr lang="es-ES_tradnl" sz="2500" dirty="0" smtClean="0"/>
              <a:t>	</a:t>
            </a:r>
          </a:p>
          <a:p>
            <a:pPr marL="895350"/>
            <a:r>
              <a:rPr lang="es-ES_tradnl" sz="2500" dirty="0" smtClean="0"/>
              <a:t>Estimadores no paramétricos.</a:t>
            </a:r>
          </a:p>
          <a:p>
            <a:pPr>
              <a:buNone/>
            </a:pPr>
            <a:r>
              <a:rPr lang="es-ES_tradnl" sz="2500" dirty="0" smtClean="0"/>
              <a:t>	</a:t>
            </a:r>
          </a:p>
          <a:p>
            <a:pPr algn="just">
              <a:buNone/>
            </a:pPr>
            <a:r>
              <a:rPr lang="es-ES_tradnl" sz="2500" dirty="0" smtClean="0"/>
              <a:t>	</a:t>
            </a:r>
            <a:r>
              <a:rPr lang="es-ES_tradnl" sz="2500" u="sng" dirty="0" smtClean="0"/>
              <a:t>Intuitivamente:</a:t>
            </a:r>
            <a:r>
              <a:rPr lang="es-ES_tradnl" sz="2500" dirty="0" smtClean="0"/>
              <a:t> </a:t>
            </a:r>
          </a:p>
          <a:p>
            <a:pPr lvl="1">
              <a:buNone/>
            </a:pPr>
            <a:r>
              <a:rPr lang="es-ES_tradnl" sz="2500" dirty="0" smtClean="0"/>
              <a:t>	Emparejan a cada individuo del grupo de tratamiento con un promedio ponderado de todos los individuos del grupo de control.</a:t>
            </a:r>
            <a:endParaRPr lang="es-ES" sz="2500" dirty="0"/>
          </a:p>
        </p:txBody>
      </p:sp>
      <p:sp>
        <p:nvSpPr>
          <p:cNvPr id="4" name="1 Título"/>
          <p:cNvSpPr>
            <a:spLocks noGrp="1"/>
          </p:cNvSpPr>
          <p:nvPr>
            <p:ph type="title"/>
          </p:nvPr>
        </p:nvSpPr>
        <p:spPr>
          <a:xfrm>
            <a:off x="2357422" y="274638"/>
            <a:ext cx="6329378" cy="1143000"/>
          </a:xfrm>
        </p:spPr>
        <p:txBody>
          <a:bodyPr>
            <a:noAutofit/>
          </a:bodyPr>
          <a:lstStyle/>
          <a:p>
            <a:r>
              <a:rPr lang="es-ES_tradnl" sz="4200" u="sng" dirty="0" smtClean="0"/>
              <a:t>Selección del algoritmo de emparejamiento</a:t>
            </a:r>
            <a:endParaRPr lang="es-ES" sz="4200" u="sng" dirty="0"/>
          </a:p>
        </p:txBody>
      </p:sp>
      <p:pic>
        <p:nvPicPr>
          <p:cNvPr id="5" name="Picture 1"/>
          <p:cNvPicPr>
            <a:picLocks noChangeAspect="1" noChangeArrowheads="1"/>
          </p:cNvPicPr>
          <p:nvPr/>
        </p:nvPicPr>
        <p:blipFill>
          <a:blip r:embed="rId2" cstate="print"/>
          <a:srcRect/>
          <a:stretch>
            <a:fillRect/>
          </a:stretch>
        </p:blipFill>
        <p:spPr bwMode="auto">
          <a:xfrm>
            <a:off x="0" y="-24"/>
            <a:ext cx="2500298" cy="1189301"/>
          </a:xfrm>
          <a:prstGeom prst="rect">
            <a:avLst/>
          </a:prstGeom>
          <a:noFill/>
          <a:ln w="9525">
            <a:noFill/>
            <a:miter lim="800000"/>
            <a:headEnd/>
            <a:tailEnd/>
          </a:ln>
          <a:effectLst/>
        </p:spPr>
      </p:pic>
      <p:sp>
        <p:nvSpPr>
          <p:cNvPr id="7" name="6 Rectángulo"/>
          <p:cNvSpPr/>
          <p:nvPr/>
        </p:nvSpPr>
        <p:spPr>
          <a:xfrm>
            <a:off x="0" y="6534859"/>
            <a:ext cx="9144000" cy="323141"/>
          </a:xfrm>
          <a:prstGeom prst="rect">
            <a:avLst/>
          </a:prstGeom>
        </p:spPr>
        <p:txBody>
          <a:bodyPr wrap="square">
            <a:spAutoFit/>
          </a:bodyPr>
          <a:lstStyle/>
          <a:p>
            <a:pPr algn="ctr"/>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6: Emparejamiento /  40</a:t>
            </a:r>
            <a:endParaRPr lang="es-ES" sz="1500" dirty="0">
              <a:solidFill>
                <a:schemeClr val="tx1">
                  <a:lumMod val="50000"/>
                  <a:lumOff val="50000"/>
                </a:schemeClr>
              </a:solidFill>
            </a:endParaRPr>
          </a:p>
        </p:txBody>
      </p:sp>
      <p:cxnSp>
        <p:nvCxnSpPr>
          <p:cNvPr id="8" name="7 Conector recto"/>
          <p:cNvCxnSpPr/>
          <p:nvPr/>
        </p:nvCxnSpPr>
        <p:spPr>
          <a:xfrm rot="10800000">
            <a:off x="642910" y="4143380"/>
            <a:ext cx="14287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9 Conector recto"/>
          <p:cNvCxnSpPr/>
          <p:nvPr/>
        </p:nvCxnSpPr>
        <p:spPr>
          <a:xfrm rot="5400000">
            <a:off x="428596" y="4357694"/>
            <a:ext cx="42862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11 Conector recto de flecha"/>
          <p:cNvCxnSpPr/>
          <p:nvPr/>
        </p:nvCxnSpPr>
        <p:spPr>
          <a:xfrm>
            <a:off x="642910" y="4572008"/>
            <a:ext cx="500066"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28596" y="1785926"/>
            <a:ext cx="8286808" cy="4500594"/>
          </a:xfrm>
        </p:spPr>
        <p:txBody>
          <a:bodyPr>
            <a:normAutofit/>
          </a:bodyPr>
          <a:lstStyle/>
          <a:p>
            <a:pPr>
              <a:buNone/>
            </a:pPr>
            <a:endParaRPr lang="es-ES_tradnl" sz="2500" dirty="0" smtClean="0"/>
          </a:p>
          <a:p>
            <a:pPr>
              <a:buNone/>
            </a:pPr>
            <a:r>
              <a:rPr lang="es-ES_tradnl" sz="2500" dirty="0" smtClean="0"/>
              <a:t>Emparejamiento por </a:t>
            </a:r>
            <a:r>
              <a:rPr lang="es-ES_tradnl" sz="2500" dirty="0" err="1" smtClean="0"/>
              <a:t>Kernel</a:t>
            </a:r>
            <a:r>
              <a:rPr lang="es-ES_tradnl" sz="2500" dirty="0" smtClean="0"/>
              <a:t>:</a:t>
            </a:r>
          </a:p>
          <a:p>
            <a:pPr algn="ctr">
              <a:buNone/>
            </a:pPr>
            <a:r>
              <a:rPr lang="es-ES_tradnl" sz="2500" dirty="0" smtClean="0"/>
              <a:t>	Se puede ver como: </a:t>
            </a:r>
          </a:p>
          <a:p>
            <a:pPr algn="just">
              <a:buNone/>
            </a:pPr>
            <a:r>
              <a:rPr lang="es-ES_tradnl" sz="2500" dirty="0" smtClean="0"/>
              <a:t>	</a:t>
            </a:r>
          </a:p>
          <a:p>
            <a:pPr algn="ctr">
              <a:buNone/>
            </a:pPr>
            <a:r>
              <a:rPr lang="es-ES_tradnl" sz="2500" dirty="0" smtClean="0"/>
              <a:t>	Una regresión de la variables objetivo del grupo de control en el vecindario de cada observación del grupo de tratamiento sobre el intercepto usando pesos </a:t>
            </a:r>
            <a:r>
              <a:rPr lang="es-ES_tradnl" sz="2500" dirty="0" err="1" smtClean="0"/>
              <a:t>Kernel</a:t>
            </a:r>
            <a:r>
              <a:rPr lang="es-ES_tradnl" sz="2500" dirty="0" smtClean="0"/>
              <a:t>.</a:t>
            </a:r>
          </a:p>
          <a:p>
            <a:pPr algn="just">
              <a:buNone/>
            </a:pPr>
            <a:endParaRPr lang="es-ES_tradnl" sz="2500" dirty="0" smtClean="0"/>
          </a:p>
          <a:p>
            <a:pPr>
              <a:buNone/>
            </a:pPr>
            <a:r>
              <a:rPr lang="es-ES_tradnl" sz="2500" dirty="0" smtClean="0"/>
              <a:t>	</a:t>
            </a:r>
            <a:endParaRPr lang="es-ES" sz="2500" dirty="0"/>
          </a:p>
        </p:txBody>
      </p:sp>
      <p:pic>
        <p:nvPicPr>
          <p:cNvPr id="4" name="Picture 1"/>
          <p:cNvPicPr>
            <a:picLocks noChangeAspect="1" noChangeArrowheads="1"/>
          </p:cNvPicPr>
          <p:nvPr/>
        </p:nvPicPr>
        <p:blipFill>
          <a:blip r:embed="rId3" cstate="print"/>
          <a:srcRect/>
          <a:stretch>
            <a:fillRect/>
          </a:stretch>
        </p:blipFill>
        <p:spPr bwMode="auto">
          <a:xfrm>
            <a:off x="0" y="-24"/>
            <a:ext cx="2500298" cy="1189301"/>
          </a:xfrm>
          <a:prstGeom prst="rect">
            <a:avLst/>
          </a:prstGeom>
          <a:noFill/>
          <a:ln w="9525">
            <a:noFill/>
            <a:miter lim="800000"/>
            <a:headEnd/>
            <a:tailEnd/>
          </a:ln>
          <a:effectLst/>
        </p:spPr>
      </p:pic>
      <p:sp>
        <p:nvSpPr>
          <p:cNvPr id="5" name="1 Título"/>
          <p:cNvSpPr>
            <a:spLocks noGrp="1"/>
          </p:cNvSpPr>
          <p:nvPr>
            <p:ph type="title"/>
          </p:nvPr>
        </p:nvSpPr>
        <p:spPr>
          <a:xfrm>
            <a:off x="2357422" y="274638"/>
            <a:ext cx="6329378" cy="1143000"/>
          </a:xfrm>
        </p:spPr>
        <p:txBody>
          <a:bodyPr>
            <a:noAutofit/>
          </a:bodyPr>
          <a:lstStyle/>
          <a:p>
            <a:r>
              <a:rPr lang="es-ES_tradnl" sz="4200" u="sng" dirty="0" smtClean="0"/>
              <a:t>Selección del algoritmo de emparejamiento</a:t>
            </a:r>
            <a:endParaRPr lang="es-ES" sz="4200" u="sng" dirty="0"/>
          </a:p>
        </p:txBody>
      </p:sp>
      <p:sp>
        <p:nvSpPr>
          <p:cNvPr id="6" name="5 Flecha abajo"/>
          <p:cNvSpPr/>
          <p:nvPr/>
        </p:nvSpPr>
        <p:spPr>
          <a:xfrm>
            <a:off x="4572000" y="3214686"/>
            <a:ext cx="500066" cy="357190"/>
          </a:xfrm>
          <a:prstGeom prst="downArrow">
            <a:avLst/>
          </a:prstGeom>
          <a:solidFill>
            <a:schemeClr val="bg1"/>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 name="7 Rectángulo"/>
          <p:cNvSpPr/>
          <p:nvPr/>
        </p:nvSpPr>
        <p:spPr>
          <a:xfrm>
            <a:off x="0" y="6534859"/>
            <a:ext cx="9144000" cy="323141"/>
          </a:xfrm>
          <a:prstGeom prst="rect">
            <a:avLst/>
          </a:prstGeom>
        </p:spPr>
        <p:txBody>
          <a:bodyPr wrap="square">
            <a:spAutoFit/>
          </a:bodyPr>
          <a:lstStyle/>
          <a:p>
            <a:pPr algn="ctr"/>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6: Emparejamiento /  41</a:t>
            </a:r>
            <a:endParaRPr lang="es-ES" sz="1500" dirty="0">
              <a:solidFill>
                <a:schemeClr val="tx1">
                  <a:lumMod val="50000"/>
                  <a:lumOff val="50000"/>
                </a:schemeClr>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57200" y="1600200"/>
            <a:ext cx="8229600" cy="4757758"/>
          </a:xfrm>
        </p:spPr>
        <p:txBody>
          <a:bodyPr>
            <a:normAutofit/>
          </a:bodyPr>
          <a:lstStyle/>
          <a:p>
            <a:pPr algn="just">
              <a:buNone/>
            </a:pPr>
            <a:endParaRPr lang="es-ES_tradnl" sz="2500" dirty="0" smtClean="0"/>
          </a:p>
          <a:p>
            <a:pPr algn="just">
              <a:buNone/>
            </a:pPr>
            <a:r>
              <a:rPr lang="es-ES_tradnl" sz="2500" dirty="0" smtClean="0"/>
              <a:t>Emparejamiento por regresión lineal local:</a:t>
            </a:r>
          </a:p>
          <a:p>
            <a:pPr algn="ctr">
              <a:buNone/>
            </a:pPr>
            <a:r>
              <a:rPr lang="es-ES_tradnl" sz="2500" dirty="0" smtClean="0"/>
              <a:t>Se puede ver como:</a:t>
            </a:r>
          </a:p>
          <a:p>
            <a:pPr algn="ctr">
              <a:buNone/>
            </a:pPr>
            <a:endParaRPr lang="es-ES_tradnl" sz="2500" dirty="0" smtClean="0"/>
          </a:p>
          <a:p>
            <a:pPr algn="ctr">
              <a:buNone/>
            </a:pPr>
            <a:r>
              <a:rPr lang="es-ES_tradnl" sz="2500" dirty="0" smtClean="0"/>
              <a:t>La misma regresión sobre el intercepto, pero adicionándole la probabilidad de participación.</a:t>
            </a:r>
          </a:p>
          <a:p>
            <a:pPr algn="just">
              <a:buNone/>
            </a:pPr>
            <a:endParaRPr lang="es-ES_tradnl" sz="2500" dirty="0" smtClean="0"/>
          </a:p>
          <a:p>
            <a:pPr algn="just">
              <a:buNone/>
            </a:pPr>
            <a:r>
              <a:rPr lang="es-ES_tradnl" sz="2500" dirty="0" smtClean="0"/>
              <a:t>En ambos casos el </a:t>
            </a:r>
            <a:r>
              <a:rPr lang="es-ES_tradnl" sz="2500" u="sng" dirty="0" smtClean="0"/>
              <a:t>intercepto</a:t>
            </a:r>
            <a:r>
              <a:rPr lang="es-ES_tradnl" sz="2500" dirty="0" smtClean="0"/>
              <a:t> estimado es un:</a:t>
            </a:r>
          </a:p>
          <a:p>
            <a:pPr algn="ctr">
              <a:buNone/>
            </a:pPr>
            <a:r>
              <a:rPr lang="es-ES_tradnl" sz="2500" dirty="0" smtClean="0"/>
              <a:t>	Estimador del promedio contrafactual de la variable objetivo</a:t>
            </a:r>
          </a:p>
          <a:p>
            <a:endParaRPr lang="es-ES" sz="2500" dirty="0"/>
          </a:p>
        </p:txBody>
      </p:sp>
      <p:sp>
        <p:nvSpPr>
          <p:cNvPr id="5" name="4 Flecha abajo"/>
          <p:cNvSpPr/>
          <p:nvPr/>
        </p:nvSpPr>
        <p:spPr>
          <a:xfrm>
            <a:off x="4357686" y="3000372"/>
            <a:ext cx="500066" cy="357190"/>
          </a:xfrm>
          <a:prstGeom prst="downArrow">
            <a:avLst/>
          </a:prstGeom>
          <a:solidFill>
            <a:schemeClr val="bg1"/>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dirty="0" smtClean="0"/>
              <a:t>&lt;</a:t>
            </a:r>
            <a:endParaRPr lang="es-ES" dirty="0"/>
          </a:p>
        </p:txBody>
      </p:sp>
      <p:pic>
        <p:nvPicPr>
          <p:cNvPr id="6" name="Picture 1"/>
          <p:cNvPicPr>
            <a:picLocks noChangeAspect="1" noChangeArrowheads="1"/>
          </p:cNvPicPr>
          <p:nvPr/>
        </p:nvPicPr>
        <p:blipFill>
          <a:blip r:embed="rId2" cstate="print"/>
          <a:srcRect/>
          <a:stretch>
            <a:fillRect/>
          </a:stretch>
        </p:blipFill>
        <p:spPr bwMode="auto">
          <a:xfrm>
            <a:off x="0" y="-24"/>
            <a:ext cx="2500298" cy="1189301"/>
          </a:xfrm>
          <a:prstGeom prst="rect">
            <a:avLst/>
          </a:prstGeom>
          <a:noFill/>
          <a:ln w="9525">
            <a:noFill/>
            <a:miter lim="800000"/>
            <a:headEnd/>
            <a:tailEnd/>
          </a:ln>
          <a:effectLst/>
        </p:spPr>
      </p:pic>
      <p:sp>
        <p:nvSpPr>
          <p:cNvPr id="7" name="1 Título"/>
          <p:cNvSpPr>
            <a:spLocks noGrp="1"/>
          </p:cNvSpPr>
          <p:nvPr>
            <p:ph type="title"/>
          </p:nvPr>
        </p:nvSpPr>
        <p:spPr>
          <a:xfrm>
            <a:off x="2357422" y="274638"/>
            <a:ext cx="6329378" cy="1143000"/>
          </a:xfrm>
        </p:spPr>
        <p:txBody>
          <a:bodyPr>
            <a:noAutofit/>
          </a:bodyPr>
          <a:lstStyle/>
          <a:p>
            <a:r>
              <a:rPr lang="es-ES_tradnl" sz="4200" u="sng" dirty="0" smtClean="0"/>
              <a:t>Selección del algoritmo de emparejamiento</a:t>
            </a:r>
            <a:endParaRPr lang="es-ES" sz="4200" u="sng" dirty="0"/>
          </a:p>
        </p:txBody>
      </p:sp>
      <p:sp>
        <p:nvSpPr>
          <p:cNvPr id="8" name="7 Rectángulo"/>
          <p:cNvSpPr/>
          <p:nvPr/>
        </p:nvSpPr>
        <p:spPr>
          <a:xfrm>
            <a:off x="500034" y="4786322"/>
            <a:ext cx="7858180" cy="12858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 name="8 Rectángulo"/>
          <p:cNvSpPr/>
          <p:nvPr/>
        </p:nvSpPr>
        <p:spPr>
          <a:xfrm>
            <a:off x="0" y="6534859"/>
            <a:ext cx="9144000" cy="323141"/>
          </a:xfrm>
          <a:prstGeom prst="rect">
            <a:avLst/>
          </a:prstGeom>
        </p:spPr>
        <p:txBody>
          <a:bodyPr wrap="square">
            <a:spAutoFit/>
          </a:bodyPr>
          <a:lstStyle/>
          <a:p>
            <a:pPr algn="ctr"/>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6: Emparejamiento /  42</a:t>
            </a:r>
            <a:endParaRPr lang="es-ES" sz="1500" dirty="0">
              <a:solidFill>
                <a:schemeClr val="tx1">
                  <a:lumMod val="50000"/>
                  <a:lumOff val="50000"/>
                </a:schemeClr>
              </a:solidFil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428860" y="274638"/>
            <a:ext cx="6257940" cy="1143000"/>
          </a:xfrm>
        </p:spPr>
        <p:txBody>
          <a:bodyPr>
            <a:normAutofit fontScale="90000"/>
          </a:bodyPr>
          <a:lstStyle/>
          <a:p>
            <a:r>
              <a:rPr lang="es-ES_tradnl" u="sng" dirty="0" smtClean="0"/>
              <a:t>Estimador usando Kernel o </a:t>
            </a:r>
            <a:br>
              <a:rPr lang="es-ES_tradnl" u="sng" dirty="0" smtClean="0"/>
            </a:br>
            <a:r>
              <a:rPr lang="es-ES_tradnl" u="sng" dirty="0" smtClean="0"/>
              <a:t>lineal local</a:t>
            </a:r>
            <a:endParaRPr lang="es-ES" u="sng" dirty="0"/>
          </a:p>
        </p:txBody>
      </p:sp>
      <p:sp>
        <p:nvSpPr>
          <p:cNvPr id="3" name="2 Marcador de contenido"/>
          <p:cNvSpPr>
            <a:spLocks noGrp="1"/>
          </p:cNvSpPr>
          <p:nvPr>
            <p:ph idx="1"/>
          </p:nvPr>
        </p:nvSpPr>
        <p:spPr/>
        <p:txBody>
          <a:bodyPr/>
          <a:lstStyle/>
          <a:p>
            <a:pPr>
              <a:buNone/>
            </a:pPr>
            <a:r>
              <a:rPr lang="es-ES_tradnl" dirty="0" smtClean="0"/>
              <a:t>	</a:t>
            </a:r>
            <a:endParaRPr lang="es-ES" dirty="0"/>
          </a:p>
        </p:txBody>
      </p:sp>
      <p:sp>
        <p:nvSpPr>
          <p:cNvPr id="54274"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54275" name="Rectangle 3"/>
          <p:cNvSpPr>
            <a:spLocks noChangeArrowheads="1"/>
          </p:cNvSpPr>
          <p:nvPr/>
        </p:nvSpPr>
        <p:spPr bwMode="auto">
          <a:xfrm>
            <a:off x="0" y="12668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800" b="0" i="0" u="none" strike="noStrike" cap="none" normalizeH="0" baseline="0" smtClean="0">
              <a:ln>
                <a:noFill/>
              </a:ln>
              <a:solidFill>
                <a:schemeClr val="tx1"/>
              </a:solidFill>
              <a:effectLst/>
              <a:latin typeface="Arial" pitchFamily="34" charset="0"/>
            </a:endParaRPr>
          </a:p>
        </p:txBody>
      </p:sp>
      <p:sp>
        <p:nvSpPr>
          <p:cNvPr id="7" name="6 Abrir llave"/>
          <p:cNvSpPr/>
          <p:nvPr/>
        </p:nvSpPr>
        <p:spPr>
          <a:xfrm rot="16200000">
            <a:off x="5715008" y="1357299"/>
            <a:ext cx="142876" cy="4857783"/>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
          </a:p>
        </p:txBody>
      </p:sp>
      <p:sp>
        <p:nvSpPr>
          <p:cNvPr id="8" name="7 CuadroTexto"/>
          <p:cNvSpPr txBox="1"/>
          <p:nvPr/>
        </p:nvSpPr>
        <p:spPr>
          <a:xfrm>
            <a:off x="1000100" y="4429132"/>
            <a:ext cx="7500990" cy="1246495"/>
          </a:xfrm>
          <a:prstGeom prst="rect">
            <a:avLst/>
          </a:prstGeom>
          <a:noFill/>
        </p:spPr>
        <p:txBody>
          <a:bodyPr wrap="square" rtlCol="0">
            <a:spAutoFit/>
          </a:bodyPr>
          <a:lstStyle/>
          <a:p>
            <a:pPr algn="ctr"/>
            <a:r>
              <a:rPr lang="es-ES_tradnl" sz="2500" dirty="0" smtClean="0"/>
              <a:t>Diferencia entre la variable objetivo del individuo del grupo de tratamiento y el promedio ponderado de la variable objetivo en todo el grupo de control.</a:t>
            </a:r>
            <a:endParaRPr lang="es-ES" sz="2500" dirty="0"/>
          </a:p>
        </p:txBody>
      </p:sp>
      <p:sp>
        <p:nvSpPr>
          <p:cNvPr id="54277" name="Rectangle 5"/>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54278" name="Rectangle 6"/>
          <p:cNvSpPr>
            <a:spLocks noChangeArrowheads="1"/>
          </p:cNvSpPr>
          <p:nvPr/>
        </p:nvSpPr>
        <p:spPr bwMode="auto">
          <a:xfrm>
            <a:off x="0" y="14478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800" b="0" i="0" u="none" strike="noStrike" cap="none" normalizeH="0" baseline="0" smtClean="0">
              <a:ln>
                <a:noFill/>
              </a:ln>
              <a:solidFill>
                <a:schemeClr val="tx1"/>
              </a:solidFill>
              <a:effectLst/>
              <a:latin typeface="Arial" pitchFamily="34" charset="0"/>
            </a:endParaRPr>
          </a:p>
        </p:txBody>
      </p:sp>
      <p:sp>
        <p:nvSpPr>
          <p:cNvPr id="54280" name="Rectangle 8"/>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54281" name="Rectangle 9"/>
          <p:cNvSpPr>
            <a:spLocks noChangeArrowheads="1"/>
          </p:cNvSpPr>
          <p:nvPr/>
        </p:nvSpPr>
        <p:spPr bwMode="auto">
          <a:xfrm>
            <a:off x="0" y="158115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800" b="0" i="0" u="none" strike="noStrike" cap="none" normalizeH="0" baseline="0" smtClean="0">
              <a:ln>
                <a:noFill/>
              </a:ln>
              <a:solidFill>
                <a:schemeClr val="tx1"/>
              </a:solidFill>
              <a:effectLst/>
              <a:latin typeface="Arial" pitchFamily="34" charset="0"/>
            </a:endParaRPr>
          </a:p>
        </p:txBody>
      </p:sp>
      <p:pic>
        <p:nvPicPr>
          <p:cNvPr id="14" name="Picture 1"/>
          <p:cNvPicPr>
            <a:picLocks noChangeAspect="1" noChangeArrowheads="1"/>
          </p:cNvPicPr>
          <p:nvPr/>
        </p:nvPicPr>
        <p:blipFill>
          <a:blip r:embed="rId4" cstate="print"/>
          <a:srcRect/>
          <a:stretch>
            <a:fillRect/>
          </a:stretch>
        </p:blipFill>
        <p:spPr bwMode="auto">
          <a:xfrm>
            <a:off x="0" y="-24"/>
            <a:ext cx="2500298" cy="1189301"/>
          </a:xfrm>
          <a:prstGeom prst="rect">
            <a:avLst/>
          </a:prstGeom>
          <a:noFill/>
          <a:ln w="9525">
            <a:noFill/>
            <a:miter lim="800000"/>
            <a:headEnd/>
            <a:tailEnd/>
          </a:ln>
          <a:effectLst/>
        </p:spPr>
      </p:pic>
      <p:sp>
        <p:nvSpPr>
          <p:cNvPr id="16" name="15 Rectángulo"/>
          <p:cNvSpPr/>
          <p:nvPr/>
        </p:nvSpPr>
        <p:spPr>
          <a:xfrm>
            <a:off x="0" y="6534859"/>
            <a:ext cx="9144000" cy="323141"/>
          </a:xfrm>
          <a:prstGeom prst="rect">
            <a:avLst/>
          </a:prstGeom>
        </p:spPr>
        <p:txBody>
          <a:bodyPr wrap="square">
            <a:spAutoFit/>
          </a:bodyPr>
          <a:lstStyle/>
          <a:p>
            <a:pPr algn="ctr"/>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6: Emparejamiento /  43</a:t>
            </a:r>
            <a:endParaRPr lang="es-ES" sz="1500" dirty="0">
              <a:solidFill>
                <a:schemeClr val="tx1">
                  <a:lumMod val="50000"/>
                  <a:lumOff val="50000"/>
                </a:schemeClr>
              </a:solidFill>
            </a:endParaRPr>
          </a:p>
        </p:txBody>
      </p:sp>
      <p:graphicFrame>
        <p:nvGraphicFramePr>
          <p:cNvPr id="17410" name="Object 2"/>
          <p:cNvGraphicFramePr>
            <a:graphicFrameLocks noChangeAspect="1"/>
          </p:cNvGraphicFramePr>
          <p:nvPr>
            <p:extLst>
              <p:ext uri="{D42A27DB-BD31-4B8C-83A1-F6EECF244321}">
                <p14:modId xmlns="" xmlns:p14="http://schemas.microsoft.com/office/powerpoint/2010/main" val="2446499973"/>
              </p:ext>
            </p:extLst>
          </p:nvPr>
        </p:nvGraphicFramePr>
        <p:xfrm>
          <a:off x="-285784" y="2428868"/>
          <a:ext cx="9000102" cy="1428760"/>
        </p:xfrm>
        <a:graphic>
          <a:graphicData uri="http://schemas.openxmlformats.org/presentationml/2006/ole">
            <p:oleObj spid="_x0000_s17415" name="Documento" r:id="rId5" imgW="5402470" imgH="728988" progId="Word.Document.12">
              <p:embed/>
            </p:oleObj>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285984" y="274638"/>
            <a:ext cx="6400816" cy="1143000"/>
          </a:xfrm>
        </p:spPr>
        <p:txBody>
          <a:bodyPr/>
          <a:lstStyle/>
          <a:p>
            <a:r>
              <a:rPr lang="es-ES_tradnl" u="sng" dirty="0" smtClean="0"/>
              <a:t>Kernel</a:t>
            </a:r>
            <a:endParaRPr lang="es-ES" u="sng" dirty="0"/>
          </a:p>
        </p:txBody>
      </p:sp>
      <p:sp>
        <p:nvSpPr>
          <p:cNvPr id="3" name="2 Marcador de contenido"/>
          <p:cNvSpPr>
            <a:spLocks noGrp="1"/>
          </p:cNvSpPr>
          <p:nvPr>
            <p:ph idx="1"/>
          </p:nvPr>
        </p:nvSpPr>
        <p:spPr/>
        <p:txBody>
          <a:bodyPr/>
          <a:lstStyle/>
          <a:p>
            <a:endParaRPr lang="es-ES_tradnl" dirty="0" smtClean="0"/>
          </a:p>
          <a:p>
            <a:endParaRPr lang="es-ES_tradnl" dirty="0" smtClean="0"/>
          </a:p>
          <a:p>
            <a:endParaRPr lang="es-ES_tradnl" sz="2500" dirty="0" smtClean="0"/>
          </a:p>
          <a:p>
            <a:pPr>
              <a:buNone/>
            </a:pPr>
            <a:r>
              <a:rPr lang="es-ES_tradnl" sz="2500" dirty="0" smtClean="0"/>
              <a:t>Donde:</a:t>
            </a:r>
          </a:p>
          <a:p>
            <a:pPr>
              <a:buNone/>
            </a:pPr>
            <a:r>
              <a:rPr lang="es-ES_tradnl" dirty="0" smtClean="0"/>
              <a:t>	</a:t>
            </a:r>
          </a:p>
        </p:txBody>
      </p:sp>
      <p:sp>
        <p:nvSpPr>
          <p:cNvPr id="5837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cxnSp>
        <p:nvCxnSpPr>
          <p:cNvPr id="8" name="7 Conector recto de flecha"/>
          <p:cNvCxnSpPr/>
          <p:nvPr/>
        </p:nvCxnSpPr>
        <p:spPr>
          <a:xfrm>
            <a:off x="1428728" y="3927478"/>
            <a:ext cx="571504"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9" name="8 CuadroTexto"/>
          <p:cNvSpPr txBox="1"/>
          <p:nvPr/>
        </p:nvSpPr>
        <p:spPr>
          <a:xfrm>
            <a:off x="2285984" y="3643314"/>
            <a:ext cx="2203488" cy="477054"/>
          </a:xfrm>
          <a:prstGeom prst="rect">
            <a:avLst/>
          </a:prstGeom>
          <a:noFill/>
        </p:spPr>
        <p:txBody>
          <a:bodyPr wrap="none" rtlCol="0">
            <a:spAutoFit/>
          </a:bodyPr>
          <a:lstStyle/>
          <a:p>
            <a:r>
              <a:rPr lang="es-ES_tradnl" sz="2500" dirty="0" smtClean="0"/>
              <a:t>Función </a:t>
            </a:r>
            <a:r>
              <a:rPr lang="es-ES_tradnl" sz="2500" dirty="0" err="1" smtClean="0"/>
              <a:t>Kernel</a:t>
            </a:r>
            <a:r>
              <a:rPr lang="es-ES_tradnl" sz="2500" dirty="0" smtClean="0"/>
              <a:t>.</a:t>
            </a:r>
            <a:endParaRPr lang="es-ES" sz="2500" dirty="0"/>
          </a:p>
        </p:txBody>
      </p:sp>
      <p:sp>
        <p:nvSpPr>
          <p:cNvPr id="58372"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58374"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cxnSp>
        <p:nvCxnSpPr>
          <p:cNvPr id="14" name="13 Conector recto de flecha"/>
          <p:cNvCxnSpPr/>
          <p:nvPr/>
        </p:nvCxnSpPr>
        <p:spPr>
          <a:xfrm>
            <a:off x="1500166" y="4357694"/>
            <a:ext cx="571504"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6" name="15 CuadroTexto"/>
          <p:cNvSpPr txBox="1"/>
          <p:nvPr/>
        </p:nvSpPr>
        <p:spPr>
          <a:xfrm>
            <a:off x="2285984" y="4094954"/>
            <a:ext cx="2677336" cy="477054"/>
          </a:xfrm>
          <a:prstGeom prst="rect">
            <a:avLst/>
          </a:prstGeom>
          <a:noFill/>
        </p:spPr>
        <p:txBody>
          <a:bodyPr wrap="none" rtlCol="0">
            <a:spAutoFit/>
          </a:bodyPr>
          <a:lstStyle/>
          <a:p>
            <a:r>
              <a:rPr lang="es-ES_tradnl" sz="2500" dirty="0" smtClean="0"/>
              <a:t>Ancho de la banda.</a:t>
            </a:r>
            <a:endParaRPr lang="es-ES" sz="2500" dirty="0"/>
          </a:p>
        </p:txBody>
      </p:sp>
      <p:sp>
        <p:nvSpPr>
          <p:cNvPr id="58376" name="Rectangle 8"/>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58377" name="Rectangle 9"/>
          <p:cNvSpPr>
            <a:spLocks noChangeArrowheads="1"/>
          </p:cNvSpPr>
          <p:nvPr/>
        </p:nvSpPr>
        <p:spPr bwMode="auto">
          <a:xfrm>
            <a:off x="0" y="7620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800" b="0" i="0" u="none" strike="noStrike" cap="none" normalizeH="0" baseline="0" smtClean="0">
              <a:ln>
                <a:noFill/>
              </a:ln>
              <a:solidFill>
                <a:schemeClr val="tx1"/>
              </a:solidFill>
              <a:effectLst/>
              <a:latin typeface="Arial" pitchFamily="34" charset="0"/>
            </a:endParaRPr>
          </a:p>
        </p:txBody>
      </p:sp>
      <p:cxnSp>
        <p:nvCxnSpPr>
          <p:cNvPr id="20" name="19 Conector recto de flecha"/>
          <p:cNvCxnSpPr/>
          <p:nvPr/>
        </p:nvCxnSpPr>
        <p:spPr>
          <a:xfrm>
            <a:off x="1500166" y="4857760"/>
            <a:ext cx="571504"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1" name="20 CuadroTexto"/>
          <p:cNvSpPr txBox="1"/>
          <p:nvPr/>
        </p:nvSpPr>
        <p:spPr>
          <a:xfrm>
            <a:off x="2285984" y="4572008"/>
            <a:ext cx="6706580" cy="477054"/>
          </a:xfrm>
          <a:prstGeom prst="rect">
            <a:avLst/>
          </a:prstGeom>
          <a:noFill/>
        </p:spPr>
        <p:txBody>
          <a:bodyPr wrap="none" rtlCol="0">
            <a:spAutoFit/>
          </a:bodyPr>
          <a:lstStyle/>
          <a:p>
            <a:r>
              <a:rPr lang="es-ES_tradnl" sz="2500" dirty="0" smtClean="0"/>
              <a:t>Número de individuos en el grupo de tratamiento.</a:t>
            </a:r>
            <a:endParaRPr lang="es-ES" sz="2500" dirty="0"/>
          </a:p>
        </p:txBody>
      </p:sp>
      <p:pic>
        <p:nvPicPr>
          <p:cNvPr id="22" name="Picture 1"/>
          <p:cNvPicPr>
            <a:picLocks noChangeAspect="1" noChangeArrowheads="1"/>
          </p:cNvPicPr>
          <p:nvPr/>
        </p:nvPicPr>
        <p:blipFill>
          <a:blip r:embed="rId4" cstate="print"/>
          <a:srcRect/>
          <a:stretch>
            <a:fillRect/>
          </a:stretch>
        </p:blipFill>
        <p:spPr bwMode="auto">
          <a:xfrm>
            <a:off x="0" y="-24"/>
            <a:ext cx="2500298" cy="1189301"/>
          </a:xfrm>
          <a:prstGeom prst="rect">
            <a:avLst/>
          </a:prstGeom>
          <a:noFill/>
          <a:ln w="9525">
            <a:noFill/>
            <a:miter lim="800000"/>
            <a:headEnd/>
            <a:tailEnd/>
          </a:ln>
          <a:effectLst/>
        </p:spPr>
      </p:pic>
      <p:sp>
        <p:nvSpPr>
          <p:cNvPr id="24" name="23 Rectángulo"/>
          <p:cNvSpPr/>
          <p:nvPr/>
        </p:nvSpPr>
        <p:spPr>
          <a:xfrm>
            <a:off x="0" y="6534859"/>
            <a:ext cx="9144000" cy="323141"/>
          </a:xfrm>
          <a:prstGeom prst="rect">
            <a:avLst/>
          </a:prstGeom>
        </p:spPr>
        <p:txBody>
          <a:bodyPr wrap="square">
            <a:spAutoFit/>
          </a:bodyPr>
          <a:lstStyle/>
          <a:p>
            <a:pPr algn="ctr"/>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6: Emparejamiento /  44</a:t>
            </a:r>
            <a:endParaRPr lang="es-ES" sz="1500" dirty="0">
              <a:solidFill>
                <a:schemeClr val="tx1">
                  <a:lumMod val="50000"/>
                  <a:lumOff val="50000"/>
                </a:schemeClr>
              </a:solidFill>
            </a:endParaRPr>
          </a:p>
        </p:txBody>
      </p:sp>
      <p:sp>
        <p:nvSpPr>
          <p:cNvPr id="25" name="24 CuadroTexto"/>
          <p:cNvSpPr txBox="1"/>
          <p:nvPr/>
        </p:nvSpPr>
        <p:spPr>
          <a:xfrm>
            <a:off x="857224" y="5429264"/>
            <a:ext cx="7643866" cy="861774"/>
          </a:xfrm>
          <a:prstGeom prst="rect">
            <a:avLst/>
          </a:prstGeom>
          <a:noFill/>
        </p:spPr>
        <p:txBody>
          <a:bodyPr wrap="square" rtlCol="0">
            <a:spAutoFit/>
          </a:bodyPr>
          <a:lstStyle/>
          <a:p>
            <a:pPr algn="ctr"/>
            <a:r>
              <a:rPr lang="es-ES_tradnl" sz="2500" dirty="0" smtClean="0"/>
              <a:t>Los pesos usados para calcular el </a:t>
            </a:r>
            <a:r>
              <a:rPr lang="es-ES_tradnl" sz="2500" dirty="0" err="1" smtClean="0"/>
              <a:t>contrafactual</a:t>
            </a:r>
            <a:r>
              <a:rPr lang="es-ES_tradnl" sz="2500" dirty="0" smtClean="0"/>
              <a:t> dependen del tipo de </a:t>
            </a:r>
            <a:r>
              <a:rPr lang="es-ES_tradnl" sz="2500" dirty="0" err="1" smtClean="0"/>
              <a:t>Kernel</a:t>
            </a:r>
            <a:r>
              <a:rPr lang="es-ES_tradnl" sz="2500" dirty="0" smtClean="0"/>
              <a:t> elegido.</a:t>
            </a:r>
            <a:endParaRPr lang="es-ES" sz="2500" dirty="0"/>
          </a:p>
        </p:txBody>
      </p:sp>
      <p:graphicFrame>
        <p:nvGraphicFramePr>
          <p:cNvPr id="18436" name="Object 4"/>
          <p:cNvGraphicFramePr>
            <a:graphicFrameLocks noChangeAspect="1"/>
          </p:cNvGraphicFramePr>
          <p:nvPr>
            <p:extLst>
              <p:ext uri="{D42A27DB-BD31-4B8C-83A1-F6EECF244321}">
                <p14:modId xmlns="" xmlns:p14="http://schemas.microsoft.com/office/powerpoint/2010/main" val="953845946"/>
              </p:ext>
            </p:extLst>
          </p:nvPr>
        </p:nvGraphicFramePr>
        <p:xfrm>
          <a:off x="1285852" y="1570061"/>
          <a:ext cx="6786610" cy="1716063"/>
        </p:xfrm>
        <a:graphic>
          <a:graphicData uri="http://schemas.openxmlformats.org/presentationml/2006/ole">
            <p:oleObj spid="_x0000_s18441" name="Documento" r:id="rId5" imgW="5402470" imgH="1366313" progId="Word.Document.12">
              <p:embed/>
            </p:oleObj>
          </a:graphicData>
        </a:graphic>
      </p:graphicFrame>
      <mc:AlternateContent xmlns:mc="http://schemas.openxmlformats.org/markup-compatibility/2006">
        <mc:Choice xmlns="" xmlns:a14="http://schemas.microsoft.com/office/drawing/2010/main" Requires="a14">
          <p:sp>
            <p:nvSpPr>
              <p:cNvPr id="4" name="3 CuadroTexto"/>
              <p:cNvSpPr txBox="1"/>
              <p:nvPr/>
            </p:nvSpPr>
            <p:spPr>
              <a:xfrm>
                <a:off x="938071" y="3717032"/>
                <a:ext cx="439095" cy="43088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s-CO" sz="2200" b="0" i="1" smtClean="0">
                          <a:latin typeface="Cambria Math"/>
                        </a:rPr>
                        <m:t>𝐺</m:t>
                      </m:r>
                    </m:oMath>
                  </m:oMathPara>
                </a14:m>
                <a:endParaRPr lang="es-CO" sz="2200" dirty="0"/>
              </a:p>
            </p:txBody>
          </p:sp>
        </mc:Choice>
        <mc:Fallback>
          <p:sp>
            <p:nvSpPr>
              <p:cNvPr id="4" name="3 CuadroTexto"/>
              <p:cNvSpPr txBox="1">
                <a:spLocks noRot="1" noChangeAspect="1" noMove="1" noResize="1" noEditPoints="1" noAdjustHandles="1" noChangeArrowheads="1" noChangeShapeType="1" noTextEdit="1"/>
              </p:cNvSpPr>
              <p:nvPr/>
            </p:nvSpPr>
            <p:spPr>
              <a:xfrm>
                <a:off x="938071" y="3717032"/>
                <a:ext cx="439095" cy="430887"/>
              </a:xfrm>
              <a:prstGeom prst="rect">
                <a:avLst/>
              </a:prstGeom>
              <a:blipFill rotWithShape="1">
                <a:blip r:embed="rId6" cstate="print"/>
                <a:stretch>
                  <a:fillRect/>
                </a:stretch>
              </a:blipFill>
            </p:spPr>
            <p:txBody>
              <a:bodyPr/>
              <a:lstStyle/>
              <a:p>
                <a:r>
                  <a:rPr lang="es-CO">
                    <a:noFill/>
                  </a:rPr>
                  <a:t> </a:t>
                </a:r>
              </a:p>
            </p:txBody>
          </p:sp>
        </mc:Fallback>
      </mc:AlternateContent>
      <mc:AlternateContent xmlns:mc="http://schemas.openxmlformats.org/markup-compatibility/2006">
        <mc:Choice xmlns="" xmlns:a14="http://schemas.microsoft.com/office/drawing/2010/main" Requires="a14">
          <p:sp>
            <p:nvSpPr>
              <p:cNvPr id="23" name="22 CuadroTexto"/>
              <p:cNvSpPr txBox="1"/>
              <p:nvPr/>
            </p:nvSpPr>
            <p:spPr>
              <a:xfrm>
                <a:off x="1029058" y="4610378"/>
                <a:ext cx="415498" cy="43088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s-CO" sz="2200" b="0" i="1" smtClean="0">
                          <a:latin typeface="Cambria Math"/>
                        </a:rPr>
                        <m:t>𝑛</m:t>
                      </m:r>
                    </m:oMath>
                  </m:oMathPara>
                </a14:m>
                <a:endParaRPr lang="es-CO" sz="2200" dirty="0"/>
              </a:p>
            </p:txBody>
          </p:sp>
        </mc:Choice>
        <mc:Fallback>
          <p:sp>
            <p:nvSpPr>
              <p:cNvPr id="23" name="22 CuadroTexto"/>
              <p:cNvSpPr txBox="1">
                <a:spLocks noRot="1" noChangeAspect="1" noMove="1" noResize="1" noEditPoints="1" noAdjustHandles="1" noChangeArrowheads="1" noChangeShapeType="1" noTextEdit="1"/>
              </p:cNvSpPr>
              <p:nvPr/>
            </p:nvSpPr>
            <p:spPr>
              <a:xfrm>
                <a:off x="1029058" y="4610378"/>
                <a:ext cx="415498" cy="430887"/>
              </a:xfrm>
              <a:prstGeom prst="rect">
                <a:avLst/>
              </a:prstGeom>
              <a:blipFill rotWithShape="1">
                <a:blip r:embed="rId7" cstate="print"/>
                <a:stretch>
                  <a:fillRect/>
                </a:stretch>
              </a:blipFill>
            </p:spPr>
            <p:txBody>
              <a:bodyPr/>
              <a:lstStyle/>
              <a:p>
                <a:r>
                  <a:rPr lang="es-CO">
                    <a:noFill/>
                  </a:rPr>
                  <a:t> </a:t>
                </a:r>
              </a:p>
            </p:txBody>
          </p:sp>
        </mc:Fallback>
      </mc:AlternateContent>
      <mc:AlternateContent xmlns:mc="http://schemas.openxmlformats.org/markup-compatibility/2006">
        <mc:Choice xmlns="" xmlns:a14="http://schemas.microsoft.com/office/drawing/2010/main" Requires="a14">
          <p:sp>
            <p:nvSpPr>
              <p:cNvPr id="26" name="25 CuadroTexto"/>
              <p:cNvSpPr txBox="1"/>
              <p:nvPr/>
            </p:nvSpPr>
            <p:spPr>
              <a:xfrm>
                <a:off x="899592" y="4086364"/>
                <a:ext cx="554190" cy="43088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s-CO" sz="2200" b="0" i="1" smtClean="0">
                              <a:latin typeface="Cambria Math"/>
                            </a:rPr>
                          </m:ctrlPr>
                        </m:sSubPr>
                        <m:e>
                          <m:r>
                            <a:rPr lang="es-CO" sz="2200" b="0" i="1" smtClean="0">
                              <a:latin typeface="Cambria Math"/>
                            </a:rPr>
                            <m:t>𝑎</m:t>
                          </m:r>
                        </m:e>
                        <m:sub>
                          <m:r>
                            <a:rPr lang="es-CO" sz="2200" b="0" i="1" smtClean="0">
                              <a:latin typeface="Cambria Math"/>
                            </a:rPr>
                            <m:t>𝑛</m:t>
                          </m:r>
                        </m:sub>
                      </m:sSub>
                    </m:oMath>
                  </m:oMathPara>
                </a14:m>
                <a:endParaRPr lang="es-CO" sz="2200" dirty="0"/>
              </a:p>
            </p:txBody>
          </p:sp>
        </mc:Choice>
        <mc:Fallback>
          <p:sp>
            <p:nvSpPr>
              <p:cNvPr id="26" name="25 CuadroTexto"/>
              <p:cNvSpPr txBox="1">
                <a:spLocks noRot="1" noChangeAspect="1" noMove="1" noResize="1" noEditPoints="1" noAdjustHandles="1" noChangeArrowheads="1" noChangeShapeType="1" noTextEdit="1"/>
              </p:cNvSpPr>
              <p:nvPr/>
            </p:nvSpPr>
            <p:spPr>
              <a:xfrm>
                <a:off x="899592" y="4086364"/>
                <a:ext cx="554190" cy="430887"/>
              </a:xfrm>
              <a:prstGeom prst="rect">
                <a:avLst/>
              </a:prstGeom>
              <a:blipFill rotWithShape="1">
                <a:blip r:embed="rId8" cstate="print"/>
                <a:stretch>
                  <a:fillRect/>
                </a:stretch>
              </a:blipFill>
            </p:spPr>
            <p:txBody>
              <a:bodyPr/>
              <a:lstStyle/>
              <a:p>
                <a:r>
                  <a:rPr lang="es-CO">
                    <a:noFill/>
                  </a:rPr>
                  <a:t> </a:t>
                </a:r>
              </a:p>
            </p:txBody>
          </p:sp>
        </mc:Fallback>
      </mc:AlternateContent>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571736" y="274638"/>
            <a:ext cx="6115064" cy="1143000"/>
          </a:xfrm>
        </p:spPr>
        <p:txBody>
          <a:bodyPr>
            <a:normAutofit/>
          </a:bodyPr>
          <a:lstStyle/>
          <a:p>
            <a:r>
              <a:rPr lang="es-ES_tradnl" sz="4200" u="sng" dirty="0" smtClean="0"/>
              <a:t>Propiedades del estimador</a:t>
            </a:r>
            <a:endParaRPr lang="es-ES" sz="4200" u="sng" dirty="0"/>
          </a:p>
        </p:txBody>
      </p:sp>
      <p:sp>
        <p:nvSpPr>
          <p:cNvPr id="3" name="2 Marcador de contenido"/>
          <p:cNvSpPr>
            <a:spLocks noGrp="1"/>
          </p:cNvSpPr>
          <p:nvPr>
            <p:ph idx="1"/>
          </p:nvPr>
        </p:nvSpPr>
        <p:spPr/>
        <p:txBody>
          <a:bodyPr>
            <a:normAutofit/>
          </a:bodyPr>
          <a:lstStyle/>
          <a:p>
            <a:pPr>
              <a:buNone/>
            </a:pPr>
            <a:r>
              <a:rPr lang="es-ES_tradnl" sz="2500" dirty="0" smtClean="0"/>
              <a:t>	Bajo condiciones estándar del ancho de banda y de la función </a:t>
            </a:r>
            <a:r>
              <a:rPr lang="es-ES_tradnl" sz="2500" dirty="0" err="1" smtClean="0"/>
              <a:t>Kernel</a:t>
            </a:r>
            <a:r>
              <a:rPr lang="es-ES_tradnl" sz="2500" dirty="0" smtClean="0"/>
              <a:t>: </a:t>
            </a:r>
            <a:endParaRPr lang="es-ES" sz="2500" dirty="0"/>
          </a:p>
        </p:txBody>
      </p:sp>
      <p:sp>
        <p:nvSpPr>
          <p:cNvPr id="60418"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60419" name="Rectangle 3"/>
          <p:cNvSpPr>
            <a:spLocks noChangeArrowheads="1"/>
          </p:cNvSpPr>
          <p:nvPr/>
        </p:nvSpPr>
        <p:spPr bwMode="auto">
          <a:xfrm>
            <a:off x="0" y="100965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800" b="0" i="0" u="none" strike="noStrike" cap="none" normalizeH="0" baseline="0" smtClean="0">
              <a:ln>
                <a:noFill/>
              </a:ln>
              <a:solidFill>
                <a:schemeClr val="tx1"/>
              </a:solidFill>
              <a:effectLst/>
              <a:latin typeface="Arial" pitchFamily="34" charset="0"/>
            </a:endParaRPr>
          </a:p>
        </p:txBody>
      </p:sp>
      <p:sp>
        <p:nvSpPr>
          <p:cNvPr id="7" name="6 CuadroTexto"/>
          <p:cNvSpPr txBox="1"/>
          <p:nvPr/>
        </p:nvSpPr>
        <p:spPr>
          <a:xfrm>
            <a:off x="928662" y="3380574"/>
            <a:ext cx="4289444" cy="477054"/>
          </a:xfrm>
          <a:prstGeom prst="rect">
            <a:avLst/>
          </a:prstGeom>
          <a:noFill/>
        </p:spPr>
        <p:txBody>
          <a:bodyPr wrap="none" rtlCol="0">
            <a:spAutoFit/>
          </a:bodyPr>
          <a:lstStyle/>
          <a:p>
            <a:r>
              <a:rPr lang="es-ES_tradnl" sz="2500" dirty="0" smtClean="0"/>
              <a:t>Es un estimador consistente de</a:t>
            </a:r>
            <a:r>
              <a:rPr lang="es-ES_tradnl" dirty="0" smtClean="0"/>
              <a:t>:</a:t>
            </a:r>
            <a:endParaRPr lang="es-ES" dirty="0"/>
          </a:p>
        </p:txBody>
      </p:sp>
      <p:sp>
        <p:nvSpPr>
          <p:cNvPr id="60421" name="Rectangle 5"/>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60422" name="Rectangle 6"/>
          <p:cNvSpPr>
            <a:spLocks noChangeArrowheads="1"/>
          </p:cNvSpPr>
          <p:nvPr/>
        </p:nvSpPr>
        <p:spPr bwMode="auto">
          <a:xfrm>
            <a:off x="0" y="7620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800" b="0" i="0" u="none" strike="noStrike" cap="none" normalizeH="0" baseline="0" smtClean="0">
              <a:ln>
                <a:noFill/>
              </a:ln>
              <a:solidFill>
                <a:schemeClr val="tx1"/>
              </a:solidFill>
              <a:effectLst/>
              <a:latin typeface="Arial" pitchFamily="34" charset="0"/>
            </a:endParaRPr>
          </a:p>
        </p:txBody>
      </p:sp>
      <p:sp>
        <p:nvSpPr>
          <p:cNvPr id="11" name="10 Abrir llave"/>
          <p:cNvSpPr/>
          <p:nvPr/>
        </p:nvSpPr>
        <p:spPr>
          <a:xfrm rot="16200000">
            <a:off x="4464846" y="2893215"/>
            <a:ext cx="142875" cy="3357586"/>
          </a:xfrm>
          <a:prstGeom prst="leftBrace">
            <a:avLst/>
          </a:prstGeom>
          <a:ln>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
          </a:p>
        </p:txBody>
      </p:sp>
      <p:sp>
        <p:nvSpPr>
          <p:cNvPr id="12" name="11 CuadroTexto"/>
          <p:cNvSpPr txBox="1"/>
          <p:nvPr/>
        </p:nvSpPr>
        <p:spPr>
          <a:xfrm>
            <a:off x="3510109" y="4643446"/>
            <a:ext cx="2285049" cy="477054"/>
          </a:xfrm>
          <a:prstGeom prst="rect">
            <a:avLst/>
          </a:prstGeom>
          <a:noFill/>
        </p:spPr>
        <p:txBody>
          <a:bodyPr wrap="none" rtlCol="0">
            <a:spAutoFit/>
          </a:bodyPr>
          <a:lstStyle/>
          <a:p>
            <a:r>
              <a:rPr lang="es-ES_tradnl" sz="2500" dirty="0" smtClean="0"/>
              <a:t>El contrafactual.</a:t>
            </a:r>
            <a:endParaRPr lang="es-ES" sz="2500" dirty="0"/>
          </a:p>
        </p:txBody>
      </p:sp>
      <p:sp>
        <p:nvSpPr>
          <p:cNvPr id="13" name="12 CuadroTexto"/>
          <p:cNvSpPr txBox="1"/>
          <p:nvPr/>
        </p:nvSpPr>
        <p:spPr>
          <a:xfrm>
            <a:off x="928663" y="5357826"/>
            <a:ext cx="7715304" cy="861774"/>
          </a:xfrm>
          <a:prstGeom prst="rect">
            <a:avLst/>
          </a:prstGeom>
          <a:noFill/>
        </p:spPr>
        <p:txBody>
          <a:bodyPr wrap="square" rtlCol="0">
            <a:spAutoFit/>
          </a:bodyPr>
          <a:lstStyle/>
          <a:p>
            <a:pPr algn="ctr"/>
            <a:r>
              <a:rPr lang="es-ES_tradnl" sz="2500" u="sng" dirty="0" smtClean="0"/>
              <a:t>Ventaja de un estimador no paramétrico</a:t>
            </a:r>
            <a:r>
              <a:rPr lang="es-ES_tradnl" sz="2500" dirty="0" smtClean="0"/>
              <a:t>: Tiene menor varianza porque usa más información.</a:t>
            </a:r>
            <a:endParaRPr lang="es-ES" sz="2500" dirty="0"/>
          </a:p>
        </p:txBody>
      </p:sp>
      <p:pic>
        <p:nvPicPr>
          <p:cNvPr id="15" name="Picture 1"/>
          <p:cNvPicPr>
            <a:picLocks noChangeAspect="1" noChangeArrowheads="1"/>
          </p:cNvPicPr>
          <p:nvPr/>
        </p:nvPicPr>
        <p:blipFill>
          <a:blip r:embed="rId3" cstate="print"/>
          <a:srcRect/>
          <a:stretch>
            <a:fillRect/>
          </a:stretch>
        </p:blipFill>
        <p:spPr bwMode="auto">
          <a:xfrm>
            <a:off x="0" y="-24"/>
            <a:ext cx="2500298" cy="1189301"/>
          </a:xfrm>
          <a:prstGeom prst="rect">
            <a:avLst/>
          </a:prstGeom>
          <a:noFill/>
          <a:ln w="9525">
            <a:noFill/>
            <a:miter lim="800000"/>
            <a:headEnd/>
            <a:tailEnd/>
          </a:ln>
          <a:effectLst/>
        </p:spPr>
      </p:pic>
      <p:sp>
        <p:nvSpPr>
          <p:cNvPr id="17" name="16 Rectángulo"/>
          <p:cNvSpPr/>
          <p:nvPr/>
        </p:nvSpPr>
        <p:spPr>
          <a:xfrm>
            <a:off x="0" y="6534859"/>
            <a:ext cx="9144000" cy="323141"/>
          </a:xfrm>
          <a:prstGeom prst="rect">
            <a:avLst/>
          </a:prstGeom>
        </p:spPr>
        <p:txBody>
          <a:bodyPr wrap="square">
            <a:spAutoFit/>
          </a:bodyPr>
          <a:lstStyle/>
          <a:p>
            <a:pPr algn="ctr"/>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6: Emparejamiento /  45</a:t>
            </a:r>
            <a:endParaRPr lang="es-ES" sz="1500" dirty="0">
              <a:solidFill>
                <a:schemeClr val="tx1">
                  <a:lumMod val="50000"/>
                  <a:lumOff val="50000"/>
                </a:schemeClr>
              </a:solidFill>
            </a:endParaRPr>
          </a:p>
        </p:txBody>
      </p:sp>
      <p:graphicFrame>
        <p:nvGraphicFramePr>
          <p:cNvPr id="19458" name="Object 2"/>
          <p:cNvGraphicFramePr>
            <a:graphicFrameLocks noChangeAspect="1"/>
          </p:cNvGraphicFramePr>
          <p:nvPr>
            <p:extLst>
              <p:ext uri="{D42A27DB-BD31-4B8C-83A1-F6EECF244321}">
                <p14:modId xmlns="" xmlns:p14="http://schemas.microsoft.com/office/powerpoint/2010/main" val="1255793550"/>
              </p:ext>
            </p:extLst>
          </p:nvPr>
        </p:nvGraphicFramePr>
        <p:xfrm>
          <a:off x="1643042" y="2444542"/>
          <a:ext cx="5929354" cy="984458"/>
        </p:xfrm>
        <a:graphic>
          <a:graphicData uri="http://schemas.openxmlformats.org/presentationml/2006/ole">
            <p:oleObj spid="_x0000_s19468" name="Documento" r:id="rId4" imgW="5402470" imgH="897216" progId="Word.Document.12">
              <p:embed/>
            </p:oleObj>
          </a:graphicData>
        </a:graphic>
      </p:graphicFrame>
      <p:graphicFrame>
        <p:nvGraphicFramePr>
          <p:cNvPr id="19459" name="Object 3"/>
          <p:cNvGraphicFramePr>
            <a:graphicFrameLocks noChangeAspect="1"/>
          </p:cNvGraphicFramePr>
          <p:nvPr>
            <p:extLst>
              <p:ext uri="{D42A27DB-BD31-4B8C-83A1-F6EECF244321}">
                <p14:modId xmlns="" xmlns:p14="http://schemas.microsoft.com/office/powerpoint/2010/main" val="2157543376"/>
              </p:ext>
            </p:extLst>
          </p:nvPr>
        </p:nvGraphicFramePr>
        <p:xfrm>
          <a:off x="1357290" y="4071942"/>
          <a:ext cx="6357981" cy="652770"/>
        </p:xfrm>
        <a:graphic>
          <a:graphicData uri="http://schemas.openxmlformats.org/presentationml/2006/ole">
            <p:oleObj spid="_x0000_s19469" name="Documento" r:id="rId5" imgW="5402470" imgH="554649" progId="Word.Document.12">
              <p:embed/>
            </p:oleObj>
          </a:graphicData>
        </a:graphic>
      </p:graphicFrame>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57200" y="1714488"/>
            <a:ext cx="8229600" cy="4411675"/>
          </a:xfrm>
          <a:ln w="28575">
            <a:solidFill>
              <a:schemeClr val="accent1">
                <a:lumMod val="75000"/>
              </a:schemeClr>
            </a:solidFill>
          </a:ln>
        </p:spPr>
        <p:txBody>
          <a:bodyPr>
            <a:normAutofit/>
          </a:bodyPr>
          <a:lstStyle/>
          <a:p>
            <a:r>
              <a:rPr lang="es-CO" sz="2500" u="sng" dirty="0" smtClean="0"/>
              <a:t>Por </a:t>
            </a:r>
            <a:r>
              <a:rPr lang="es-CO" sz="2500" u="sng" dirty="0" err="1" smtClean="0"/>
              <a:t>Kernel</a:t>
            </a:r>
            <a:r>
              <a:rPr lang="es-CO" sz="2500" u="sng" dirty="0" smtClean="0"/>
              <a:t>: </a:t>
            </a:r>
            <a:r>
              <a:rPr lang="es-CO" sz="2500" dirty="0" smtClean="0"/>
              <a:t>Pesos con </a:t>
            </a:r>
            <a:r>
              <a:rPr lang="es-CO" sz="2500" dirty="0" err="1" smtClean="0"/>
              <a:t>Kernel</a:t>
            </a:r>
            <a:r>
              <a:rPr lang="es-CO" sz="2500" dirty="0" smtClean="0"/>
              <a:t> triangular</a:t>
            </a:r>
          </a:p>
          <a:p>
            <a:pPr lvl="1"/>
            <a:endParaRPr lang="es-MX" sz="2500" dirty="0" smtClean="0"/>
          </a:p>
          <a:p>
            <a:pPr lvl="1"/>
            <a:endParaRPr lang="es-CO" sz="2500" dirty="0" smtClean="0"/>
          </a:p>
          <a:p>
            <a:pPr>
              <a:buNone/>
            </a:pPr>
            <a:endParaRPr lang="es-ES" dirty="0"/>
          </a:p>
        </p:txBody>
      </p:sp>
      <p:pic>
        <p:nvPicPr>
          <p:cNvPr id="5" name="Picture 1"/>
          <p:cNvPicPr>
            <a:picLocks noChangeAspect="1" noChangeArrowheads="1"/>
          </p:cNvPicPr>
          <p:nvPr/>
        </p:nvPicPr>
        <p:blipFill>
          <a:blip r:embed="rId2" cstate="print"/>
          <a:srcRect/>
          <a:stretch>
            <a:fillRect/>
          </a:stretch>
        </p:blipFill>
        <p:spPr bwMode="auto">
          <a:xfrm>
            <a:off x="0" y="-24"/>
            <a:ext cx="2500298" cy="1189301"/>
          </a:xfrm>
          <a:prstGeom prst="rect">
            <a:avLst/>
          </a:prstGeom>
          <a:noFill/>
          <a:ln w="9525">
            <a:noFill/>
            <a:miter lim="800000"/>
            <a:headEnd/>
            <a:tailEnd/>
          </a:ln>
          <a:effectLst/>
        </p:spPr>
      </p:pic>
      <p:sp>
        <p:nvSpPr>
          <p:cNvPr id="6" name="1 Título"/>
          <p:cNvSpPr>
            <a:spLocks noGrp="1"/>
          </p:cNvSpPr>
          <p:nvPr>
            <p:ph type="title"/>
          </p:nvPr>
        </p:nvSpPr>
        <p:spPr>
          <a:xfrm>
            <a:off x="2714612" y="357166"/>
            <a:ext cx="5972188" cy="1011222"/>
          </a:xfrm>
        </p:spPr>
        <p:txBody>
          <a:bodyPr>
            <a:normAutofit/>
          </a:bodyPr>
          <a:lstStyle/>
          <a:p>
            <a:r>
              <a:rPr lang="es-CO" sz="4200" u="sng" dirty="0" smtClean="0"/>
              <a:t>Ejemplo: </a:t>
            </a:r>
            <a:r>
              <a:rPr lang="es-CO" sz="4200" i="1" u="sng" dirty="0" smtClean="0"/>
              <a:t>Canasta</a:t>
            </a:r>
            <a:endParaRPr lang="es-ES" sz="4200" i="1" u="sng" dirty="0"/>
          </a:p>
        </p:txBody>
      </p:sp>
      <p:sp>
        <p:nvSpPr>
          <p:cNvPr id="7" name="6 Rectángulo"/>
          <p:cNvSpPr/>
          <p:nvPr/>
        </p:nvSpPr>
        <p:spPr>
          <a:xfrm>
            <a:off x="0" y="6534859"/>
            <a:ext cx="9144000" cy="323141"/>
          </a:xfrm>
          <a:prstGeom prst="rect">
            <a:avLst/>
          </a:prstGeom>
        </p:spPr>
        <p:txBody>
          <a:bodyPr wrap="square">
            <a:spAutoFit/>
          </a:bodyPr>
          <a:lstStyle/>
          <a:p>
            <a:pPr algn="ctr"/>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6: Emparejamiento /  46</a:t>
            </a:r>
            <a:endParaRPr lang="es-ES" sz="1500" dirty="0">
              <a:solidFill>
                <a:schemeClr val="tx1">
                  <a:lumMod val="50000"/>
                  <a:lumOff val="50000"/>
                </a:schemeClr>
              </a:solidFill>
            </a:endParaRPr>
          </a:p>
        </p:txBody>
      </p:sp>
      <p:pic>
        <p:nvPicPr>
          <p:cNvPr id="8" name="7 Imagen"/>
          <p:cNvPicPr/>
          <p:nvPr/>
        </p:nvPicPr>
        <p:blipFill>
          <a:blip r:embed="rId3" cstate="print"/>
          <a:srcRect/>
          <a:stretch>
            <a:fillRect/>
          </a:stretch>
        </p:blipFill>
        <p:spPr bwMode="auto">
          <a:xfrm>
            <a:off x="2627784" y="2276872"/>
            <a:ext cx="5457398" cy="3731020"/>
          </a:xfrm>
          <a:prstGeom prst="rect">
            <a:avLst/>
          </a:prstGeom>
          <a:noFill/>
          <a:ln w="9525">
            <a:noFill/>
            <a:miter lim="800000"/>
            <a:headEnd/>
            <a:tailEnd/>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57200" y="1714488"/>
            <a:ext cx="8229600" cy="4411675"/>
          </a:xfrm>
          <a:ln w="28575">
            <a:solidFill>
              <a:schemeClr val="accent1">
                <a:lumMod val="75000"/>
              </a:schemeClr>
            </a:solidFill>
          </a:ln>
        </p:spPr>
        <p:txBody>
          <a:bodyPr>
            <a:normAutofit/>
          </a:bodyPr>
          <a:lstStyle/>
          <a:p>
            <a:r>
              <a:rPr lang="es-CO" sz="2500" u="sng" dirty="0" smtClean="0"/>
              <a:t>Por </a:t>
            </a:r>
            <a:r>
              <a:rPr lang="es-CO" sz="2500" u="sng" dirty="0" err="1" smtClean="0"/>
              <a:t>Kernel</a:t>
            </a:r>
            <a:r>
              <a:rPr lang="es-CO" sz="2500" u="sng" dirty="0" smtClean="0"/>
              <a:t>: </a:t>
            </a:r>
            <a:r>
              <a:rPr lang="es-CO" sz="2500" dirty="0" smtClean="0"/>
              <a:t>Pesos con </a:t>
            </a:r>
            <a:r>
              <a:rPr lang="es-CO" sz="2500" dirty="0" err="1" smtClean="0"/>
              <a:t>Kernel</a:t>
            </a:r>
            <a:r>
              <a:rPr lang="es-CO" sz="2500" dirty="0" smtClean="0"/>
              <a:t> </a:t>
            </a:r>
            <a:r>
              <a:rPr lang="es-CO" sz="2500" dirty="0" err="1" smtClean="0"/>
              <a:t>gaussiano</a:t>
            </a:r>
            <a:endParaRPr lang="es-CO" sz="2500" dirty="0" smtClean="0"/>
          </a:p>
          <a:p>
            <a:pPr lvl="1"/>
            <a:endParaRPr lang="es-MX" sz="2500" dirty="0" smtClean="0"/>
          </a:p>
          <a:p>
            <a:pPr lvl="1"/>
            <a:endParaRPr lang="es-CO" sz="2500" dirty="0" smtClean="0"/>
          </a:p>
          <a:p>
            <a:pPr>
              <a:buNone/>
            </a:pPr>
            <a:endParaRPr lang="es-ES" dirty="0"/>
          </a:p>
        </p:txBody>
      </p:sp>
      <p:pic>
        <p:nvPicPr>
          <p:cNvPr id="5" name="Picture 1"/>
          <p:cNvPicPr>
            <a:picLocks noChangeAspect="1" noChangeArrowheads="1"/>
          </p:cNvPicPr>
          <p:nvPr/>
        </p:nvPicPr>
        <p:blipFill>
          <a:blip r:embed="rId2" cstate="print"/>
          <a:srcRect/>
          <a:stretch>
            <a:fillRect/>
          </a:stretch>
        </p:blipFill>
        <p:spPr bwMode="auto">
          <a:xfrm>
            <a:off x="0" y="-24"/>
            <a:ext cx="2500298" cy="1189301"/>
          </a:xfrm>
          <a:prstGeom prst="rect">
            <a:avLst/>
          </a:prstGeom>
          <a:noFill/>
          <a:ln w="9525">
            <a:noFill/>
            <a:miter lim="800000"/>
            <a:headEnd/>
            <a:tailEnd/>
          </a:ln>
          <a:effectLst/>
        </p:spPr>
      </p:pic>
      <p:sp>
        <p:nvSpPr>
          <p:cNvPr id="6" name="1 Título"/>
          <p:cNvSpPr>
            <a:spLocks noGrp="1"/>
          </p:cNvSpPr>
          <p:nvPr>
            <p:ph type="title"/>
          </p:nvPr>
        </p:nvSpPr>
        <p:spPr>
          <a:xfrm>
            <a:off x="2714612" y="357166"/>
            <a:ext cx="5972188" cy="1011222"/>
          </a:xfrm>
        </p:spPr>
        <p:txBody>
          <a:bodyPr>
            <a:normAutofit/>
          </a:bodyPr>
          <a:lstStyle/>
          <a:p>
            <a:r>
              <a:rPr lang="es-CO" sz="4200" u="sng" dirty="0" smtClean="0"/>
              <a:t>Ejemplo: </a:t>
            </a:r>
            <a:r>
              <a:rPr lang="es-CO" sz="4200" i="1" u="sng" dirty="0" smtClean="0"/>
              <a:t>Canasta</a:t>
            </a:r>
            <a:endParaRPr lang="es-ES" sz="4200" i="1" u="sng" dirty="0"/>
          </a:p>
        </p:txBody>
      </p:sp>
      <p:sp>
        <p:nvSpPr>
          <p:cNvPr id="7" name="6 Rectángulo"/>
          <p:cNvSpPr/>
          <p:nvPr/>
        </p:nvSpPr>
        <p:spPr>
          <a:xfrm>
            <a:off x="0" y="6534859"/>
            <a:ext cx="9144000" cy="323141"/>
          </a:xfrm>
          <a:prstGeom prst="rect">
            <a:avLst/>
          </a:prstGeom>
        </p:spPr>
        <p:txBody>
          <a:bodyPr wrap="square">
            <a:spAutoFit/>
          </a:bodyPr>
          <a:lstStyle/>
          <a:p>
            <a:pPr algn="ctr"/>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6: Emparejamiento /  47</a:t>
            </a:r>
            <a:endParaRPr lang="es-ES" sz="1500" dirty="0">
              <a:solidFill>
                <a:schemeClr val="tx1">
                  <a:lumMod val="50000"/>
                  <a:lumOff val="50000"/>
                </a:schemeClr>
              </a:solidFill>
            </a:endParaRPr>
          </a:p>
        </p:txBody>
      </p:sp>
      <p:pic>
        <p:nvPicPr>
          <p:cNvPr id="9" name="8 Imagen"/>
          <p:cNvPicPr/>
          <p:nvPr/>
        </p:nvPicPr>
        <p:blipFill>
          <a:blip r:embed="rId3" cstate="print"/>
          <a:srcRect/>
          <a:stretch>
            <a:fillRect/>
          </a:stretch>
        </p:blipFill>
        <p:spPr bwMode="auto">
          <a:xfrm>
            <a:off x="2555776" y="2181496"/>
            <a:ext cx="6110094" cy="3911799"/>
          </a:xfrm>
          <a:prstGeom prst="rect">
            <a:avLst/>
          </a:prstGeom>
          <a:noFill/>
          <a:ln w="9525">
            <a:noFill/>
            <a:miter lim="800000"/>
            <a:headEnd/>
            <a:tailEnd/>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57200" y="1857364"/>
            <a:ext cx="8229600" cy="4268799"/>
          </a:xfrm>
        </p:spPr>
        <p:txBody>
          <a:bodyPr/>
          <a:lstStyle/>
          <a:p>
            <a:pPr algn="just">
              <a:buNone/>
            </a:pPr>
            <a:r>
              <a:rPr lang="es-ES" sz="2500" dirty="0" smtClean="0"/>
              <a:t>	Intuitivamente:</a:t>
            </a:r>
          </a:p>
          <a:p>
            <a:pPr algn="just">
              <a:buNone/>
            </a:pPr>
            <a:r>
              <a:rPr lang="es-ES" sz="2500" dirty="0" smtClean="0"/>
              <a:t>	Se usa cuando se observa el individuo más de una vez en el tiempo.</a:t>
            </a:r>
          </a:p>
          <a:p>
            <a:pPr algn="just">
              <a:buNone/>
            </a:pPr>
            <a:r>
              <a:rPr lang="es-ES_tradnl" sz="2500" dirty="0" smtClean="0"/>
              <a:t>	</a:t>
            </a:r>
          </a:p>
          <a:p>
            <a:pPr algn="just">
              <a:buNone/>
            </a:pPr>
            <a:r>
              <a:rPr lang="es-ES_tradnl" sz="2500" dirty="0" smtClean="0"/>
              <a:t>	</a:t>
            </a:r>
            <a:endParaRPr lang="es-ES" sz="2500" dirty="0" smtClean="0"/>
          </a:p>
          <a:p>
            <a:pPr algn="just">
              <a:buNone/>
            </a:pPr>
            <a:endParaRPr lang="es-ES" sz="2500" u="sng" dirty="0" smtClean="0"/>
          </a:p>
          <a:p>
            <a:endParaRPr lang="es-ES" dirty="0"/>
          </a:p>
        </p:txBody>
      </p:sp>
      <p:pic>
        <p:nvPicPr>
          <p:cNvPr id="4" name="Picture 1"/>
          <p:cNvPicPr>
            <a:picLocks noChangeAspect="1" noChangeArrowheads="1"/>
          </p:cNvPicPr>
          <p:nvPr/>
        </p:nvPicPr>
        <p:blipFill>
          <a:blip r:embed="rId2" cstate="print"/>
          <a:srcRect/>
          <a:stretch>
            <a:fillRect/>
          </a:stretch>
        </p:blipFill>
        <p:spPr bwMode="auto">
          <a:xfrm>
            <a:off x="0" y="-24"/>
            <a:ext cx="2500298" cy="1189301"/>
          </a:xfrm>
          <a:prstGeom prst="rect">
            <a:avLst/>
          </a:prstGeom>
          <a:noFill/>
          <a:ln w="9525">
            <a:noFill/>
            <a:miter lim="800000"/>
            <a:headEnd/>
            <a:tailEnd/>
          </a:ln>
          <a:effectLst/>
        </p:spPr>
      </p:pic>
      <p:sp>
        <p:nvSpPr>
          <p:cNvPr id="5" name="1 Título"/>
          <p:cNvSpPr>
            <a:spLocks noGrp="1"/>
          </p:cNvSpPr>
          <p:nvPr>
            <p:ph type="title"/>
          </p:nvPr>
        </p:nvSpPr>
        <p:spPr>
          <a:xfrm>
            <a:off x="2428860" y="274638"/>
            <a:ext cx="6257940" cy="1143000"/>
          </a:xfrm>
        </p:spPr>
        <p:txBody>
          <a:bodyPr>
            <a:noAutofit/>
          </a:bodyPr>
          <a:lstStyle/>
          <a:p>
            <a:r>
              <a:rPr lang="es-ES_tradnl" sz="4200" u="sng" dirty="0" smtClean="0"/>
              <a:t>Dobles diferencias emparejadas</a:t>
            </a:r>
            <a:endParaRPr lang="es-ES" sz="4200" u="sng" dirty="0"/>
          </a:p>
        </p:txBody>
      </p:sp>
      <p:sp>
        <p:nvSpPr>
          <p:cNvPr id="6" name="5 CuadroTexto"/>
          <p:cNvSpPr txBox="1"/>
          <p:nvPr/>
        </p:nvSpPr>
        <p:spPr>
          <a:xfrm>
            <a:off x="1000100" y="3786190"/>
            <a:ext cx="2813912" cy="861774"/>
          </a:xfrm>
          <a:prstGeom prst="rect">
            <a:avLst/>
          </a:prstGeom>
          <a:noFill/>
          <a:ln>
            <a:solidFill>
              <a:schemeClr val="accent1"/>
            </a:solidFill>
          </a:ln>
        </p:spPr>
        <p:txBody>
          <a:bodyPr wrap="none" rtlCol="0">
            <a:spAutoFit/>
          </a:bodyPr>
          <a:lstStyle/>
          <a:p>
            <a:r>
              <a:rPr lang="es-ES" sz="2500" dirty="0" smtClean="0"/>
              <a:t>Base de datos inicial</a:t>
            </a:r>
          </a:p>
          <a:p>
            <a:pPr algn="ctr"/>
            <a:r>
              <a:rPr lang="es-ES" sz="2500" dirty="0" smtClean="0"/>
              <a:t>Línea base</a:t>
            </a:r>
            <a:endParaRPr lang="es-AR" sz="2500" dirty="0"/>
          </a:p>
        </p:txBody>
      </p:sp>
      <p:cxnSp>
        <p:nvCxnSpPr>
          <p:cNvPr id="7" name="6 Conector recto de flecha"/>
          <p:cNvCxnSpPr/>
          <p:nvPr/>
        </p:nvCxnSpPr>
        <p:spPr>
          <a:xfrm rot="16200000" flipH="1">
            <a:off x="2151555" y="4903464"/>
            <a:ext cx="518560" cy="7559"/>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8" name="7 CuadroTexto"/>
          <p:cNvSpPr txBox="1"/>
          <p:nvPr/>
        </p:nvSpPr>
        <p:spPr>
          <a:xfrm>
            <a:off x="1214414" y="5166524"/>
            <a:ext cx="2400401" cy="477054"/>
          </a:xfrm>
          <a:prstGeom prst="rect">
            <a:avLst/>
          </a:prstGeom>
          <a:noFill/>
          <a:ln>
            <a:solidFill>
              <a:schemeClr val="accent1"/>
            </a:solidFill>
          </a:ln>
        </p:spPr>
        <p:txBody>
          <a:bodyPr wrap="none" rtlCol="0">
            <a:spAutoFit/>
          </a:bodyPr>
          <a:lstStyle/>
          <a:p>
            <a:pPr algn="ctr"/>
            <a:r>
              <a:rPr lang="es-ES" sz="2500" dirty="0" smtClean="0"/>
              <a:t>Grupo de control</a:t>
            </a:r>
            <a:endParaRPr lang="es-AR" sz="2500" dirty="0"/>
          </a:p>
        </p:txBody>
      </p:sp>
      <p:sp>
        <p:nvSpPr>
          <p:cNvPr id="9" name="8 CuadroTexto"/>
          <p:cNvSpPr txBox="1"/>
          <p:nvPr/>
        </p:nvSpPr>
        <p:spPr>
          <a:xfrm>
            <a:off x="5115674" y="3786190"/>
            <a:ext cx="2627964" cy="861774"/>
          </a:xfrm>
          <a:prstGeom prst="rect">
            <a:avLst/>
          </a:prstGeom>
          <a:noFill/>
          <a:ln>
            <a:solidFill>
              <a:schemeClr val="accent1"/>
            </a:solidFill>
          </a:ln>
        </p:spPr>
        <p:txBody>
          <a:bodyPr wrap="none" rtlCol="0">
            <a:spAutoFit/>
          </a:bodyPr>
          <a:lstStyle/>
          <a:p>
            <a:r>
              <a:rPr lang="es-ES" sz="2500" dirty="0" smtClean="0"/>
              <a:t>Base de datos final</a:t>
            </a:r>
          </a:p>
          <a:p>
            <a:pPr algn="ctr"/>
            <a:r>
              <a:rPr lang="es-ES" sz="2500" dirty="0" smtClean="0"/>
              <a:t>Seguimiento</a:t>
            </a:r>
            <a:endParaRPr lang="es-AR" sz="2500" dirty="0"/>
          </a:p>
        </p:txBody>
      </p:sp>
      <p:cxnSp>
        <p:nvCxnSpPr>
          <p:cNvPr id="10" name="9 Conector recto de flecha"/>
          <p:cNvCxnSpPr/>
          <p:nvPr/>
        </p:nvCxnSpPr>
        <p:spPr>
          <a:xfrm rot="16200000" flipH="1">
            <a:off x="6242026" y="4894686"/>
            <a:ext cx="523077" cy="2059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1" name="10 CuadroTexto"/>
          <p:cNvSpPr txBox="1"/>
          <p:nvPr/>
        </p:nvSpPr>
        <p:spPr>
          <a:xfrm>
            <a:off x="5000628" y="5166524"/>
            <a:ext cx="3026470" cy="477054"/>
          </a:xfrm>
          <a:prstGeom prst="rect">
            <a:avLst/>
          </a:prstGeom>
          <a:noFill/>
          <a:ln>
            <a:solidFill>
              <a:schemeClr val="accent1"/>
            </a:solidFill>
          </a:ln>
        </p:spPr>
        <p:txBody>
          <a:bodyPr wrap="none" rtlCol="0">
            <a:spAutoFit/>
          </a:bodyPr>
          <a:lstStyle/>
          <a:p>
            <a:pPr algn="ctr"/>
            <a:r>
              <a:rPr lang="es-ES" sz="2500" dirty="0" smtClean="0"/>
              <a:t>Grupo de tratamiento</a:t>
            </a:r>
            <a:endParaRPr lang="es-AR" sz="2500" dirty="0"/>
          </a:p>
        </p:txBody>
      </p:sp>
      <p:cxnSp>
        <p:nvCxnSpPr>
          <p:cNvPr id="17" name="16 Conector recto"/>
          <p:cNvCxnSpPr/>
          <p:nvPr/>
        </p:nvCxnSpPr>
        <p:spPr>
          <a:xfrm rot="10800000">
            <a:off x="571472" y="2071678"/>
            <a:ext cx="14287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18 Conector recto"/>
          <p:cNvCxnSpPr/>
          <p:nvPr/>
        </p:nvCxnSpPr>
        <p:spPr>
          <a:xfrm rot="5400000">
            <a:off x="321439" y="2321711"/>
            <a:ext cx="50006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20 Conector recto de flecha"/>
          <p:cNvCxnSpPr/>
          <p:nvPr/>
        </p:nvCxnSpPr>
        <p:spPr>
          <a:xfrm>
            <a:off x="571472" y="2571744"/>
            <a:ext cx="214314"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2" name="21 Rectángulo"/>
          <p:cNvSpPr/>
          <p:nvPr/>
        </p:nvSpPr>
        <p:spPr>
          <a:xfrm>
            <a:off x="0" y="6534859"/>
            <a:ext cx="9144000" cy="323141"/>
          </a:xfrm>
          <a:prstGeom prst="rect">
            <a:avLst/>
          </a:prstGeom>
        </p:spPr>
        <p:txBody>
          <a:bodyPr wrap="square">
            <a:spAutoFit/>
          </a:bodyPr>
          <a:lstStyle/>
          <a:p>
            <a:pPr algn="ctr"/>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6: Emparejamiento /  48</a:t>
            </a:r>
            <a:endParaRPr lang="es-ES" sz="1500" dirty="0">
              <a:solidFill>
                <a:schemeClr val="tx1">
                  <a:lumMod val="50000"/>
                  <a:lumOff val="50000"/>
                </a:schemeClr>
              </a:solidFill>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428860" y="274638"/>
            <a:ext cx="6257940" cy="1143000"/>
          </a:xfrm>
        </p:spPr>
        <p:txBody>
          <a:bodyPr>
            <a:noAutofit/>
          </a:bodyPr>
          <a:lstStyle/>
          <a:p>
            <a:r>
              <a:rPr lang="es-ES_tradnl" sz="4200" u="sng" dirty="0" smtClean="0"/>
              <a:t>Dobles diferencias emparejadas</a:t>
            </a:r>
            <a:endParaRPr lang="es-ES" sz="4200" u="sng" dirty="0"/>
          </a:p>
        </p:txBody>
      </p:sp>
      <p:sp>
        <p:nvSpPr>
          <p:cNvPr id="3" name="2 Marcador de contenido"/>
          <p:cNvSpPr>
            <a:spLocks noGrp="1"/>
          </p:cNvSpPr>
          <p:nvPr>
            <p:ph idx="1"/>
          </p:nvPr>
        </p:nvSpPr>
        <p:spPr>
          <a:xfrm>
            <a:off x="457200" y="1785926"/>
            <a:ext cx="8229600" cy="4125923"/>
          </a:xfrm>
        </p:spPr>
        <p:txBody>
          <a:bodyPr>
            <a:normAutofit/>
          </a:bodyPr>
          <a:lstStyle/>
          <a:p>
            <a:pPr>
              <a:spcBef>
                <a:spcPts val="0"/>
              </a:spcBef>
              <a:buNone/>
            </a:pPr>
            <a:r>
              <a:rPr lang="es-ES_tradnl" sz="2500" dirty="0" smtClean="0"/>
              <a:t>Combina                 </a:t>
            </a:r>
          </a:p>
          <a:p>
            <a:pPr>
              <a:spcBef>
                <a:spcPts val="0"/>
              </a:spcBef>
              <a:buNone/>
            </a:pPr>
            <a:r>
              <a:rPr lang="es-ES_tradnl" sz="2500" dirty="0" smtClean="0"/>
              <a:t>	              Información longitudinal</a:t>
            </a:r>
          </a:p>
          <a:p>
            <a:pPr>
              <a:spcBef>
                <a:spcPts val="0"/>
              </a:spcBef>
              <a:buNone/>
            </a:pPr>
            <a:r>
              <a:rPr lang="es-ES_tradnl" sz="2500" dirty="0" smtClean="0"/>
              <a:t>		      PSM</a:t>
            </a:r>
          </a:p>
          <a:p>
            <a:pPr>
              <a:spcBef>
                <a:spcPts val="0"/>
              </a:spcBef>
              <a:buNone/>
            </a:pPr>
            <a:r>
              <a:rPr lang="es-ES_tradnl" sz="2500" dirty="0" smtClean="0"/>
              <a:t>                   Diferencias en diferencias</a:t>
            </a:r>
          </a:p>
          <a:p>
            <a:pPr algn="just">
              <a:buNone/>
            </a:pPr>
            <a:r>
              <a:rPr lang="es-ES_tradnl" sz="2500" dirty="0" smtClean="0"/>
              <a:t>	</a:t>
            </a:r>
            <a:endParaRPr lang="es-CO" sz="2500" dirty="0" smtClean="0"/>
          </a:p>
          <a:p>
            <a:pPr algn="just">
              <a:buNone/>
            </a:pPr>
            <a:endParaRPr lang="es-CO" sz="2500" dirty="0" smtClean="0"/>
          </a:p>
          <a:p>
            <a:pPr algn="just">
              <a:buNone/>
            </a:pPr>
            <a:endParaRPr lang="es-ES" sz="2500" dirty="0" smtClean="0"/>
          </a:p>
          <a:p>
            <a:pPr>
              <a:buNone/>
            </a:pPr>
            <a:endParaRPr lang="es-ES" dirty="0"/>
          </a:p>
        </p:txBody>
      </p:sp>
      <p:cxnSp>
        <p:nvCxnSpPr>
          <p:cNvPr id="7" name="6 Conector recto de flecha"/>
          <p:cNvCxnSpPr/>
          <p:nvPr/>
        </p:nvCxnSpPr>
        <p:spPr>
          <a:xfrm>
            <a:off x="1285852" y="3141660"/>
            <a:ext cx="500066" cy="1588"/>
          </a:xfrm>
          <a:prstGeom prst="straightConnector1">
            <a:avLst/>
          </a:prstGeom>
          <a:ln>
            <a:solidFill>
              <a:schemeClr val="accent1">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1" name="10 Conector recto de flecha"/>
          <p:cNvCxnSpPr/>
          <p:nvPr/>
        </p:nvCxnSpPr>
        <p:spPr>
          <a:xfrm>
            <a:off x="1285852" y="2427280"/>
            <a:ext cx="500066" cy="1588"/>
          </a:xfrm>
          <a:prstGeom prst="straightConnector1">
            <a:avLst/>
          </a:prstGeom>
          <a:ln>
            <a:solidFill>
              <a:schemeClr val="accent1">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2" name="11 Conector recto de flecha"/>
          <p:cNvCxnSpPr/>
          <p:nvPr/>
        </p:nvCxnSpPr>
        <p:spPr>
          <a:xfrm>
            <a:off x="1285852" y="2784470"/>
            <a:ext cx="500066" cy="1588"/>
          </a:xfrm>
          <a:prstGeom prst="straightConnector1">
            <a:avLst/>
          </a:prstGeom>
          <a:ln>
            <a:solidFill>
              <a:schemeClr val="accent1">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sp>
        <p:nvSpPr>
          <p:cNvPr id="62466"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62467" name="Rectangle 3"/>
          <p:cNvSpPr>
            <a:spLocks noChangeArrowheads="1"/>
          </p:cNvSpPr>
          <p:nvPr/>
        </p:nvSpPr>
        <p:spPr bwMode="auto">
          <a:xfrm>
            <a:off x="0" y="8382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800" b="0" i="0" u="none" strike="noStrike" cap="none" normalizeH="0" baseline="0" smtClean="0">
              <a:ln>
                <a:noFill/>
              </a:ln>
              <a:solidFill>
                <a:schemeClr val="tx1"/>
              </a:solidFill>
              <a:effectLst/>
              <a:latin typeface="Arial" pitchFamily="34" charset="0"/>
            </a:endParaRPr>
          </a:p>
        </p:txBody>
      </p:sp>
      <p:pic>
        <p:nvPicPr>
          <p:cNvPr id="10" name="Picture 1"/>
          <p:cNvPicPr>
            <a:picLocks noChangeAspect="1" noChangeArrowheads="1"/>
          </p:cNvPicPr>
          <p:nvPr/>
        </p:nvPicPr>
        <p:blipFill>
          <a:blip r:embed="rId2" cstate="print"/>
          <a:srcRect/>
          <a:stretch>
            <a:fillRect/>
          </a:stretch>
        </p:blipFill>
        <p:spPr bwMode="auto">
          <a:xfrm>
            <a:off x="0" y="-24"/>
            <a:ext cx="2500298" cy="1189301"/>
          </a:xfrm>
          <a:prstGeom prst="rect">
            <a:avLst/>
          </a:prstGeom>
          <a:noFill/>
          <a:ln w="9525">
            <a:noFill/>
            <a:miter lim="800000"/>
            <a:headEnd/>
            <a:tailEnd/>
          </a:ln>
          <a:effectLst/>
        </p:spPr>
      </p:pic>
      <p:sp>
        <p:nvSpPr>
          <p:cNvPr id="13" name="12 Rectángulo"/>
          <p:cNvSpPr/>
          <p:nvPr/>
        </p:nvSpPr>
        <p:spPr>
          <a:xfrm>
            <a:off x="0" y="6534859"/>
            <a:ext cx="9144000" cy="323141"/>
          </a:xfrm>
          <a:prstGeom prst="rect">
            <a:avLst/>
          </a:prstGeom>
        </p:spPr>
        <p:txBody>
          <a:bodyPr wrap="square">
            <a:spAutoFit/>
          </a:bodyPr>
          <a:lstStyle/>
          <a:p>
            <a:pPr algn="ctr"/>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6: Emparejamiento /  49</a:t>
            </a:r>
            <a:endParaRPr lang="es-ES" sz="1500" dirty="0">
              <a:solidFill>
                <a:schemeClr val="tx1">
                  <a:lumMod val="50000"/>
                  <a:lumOff val="50000"/>
                </a:schemeClr>
              </a:solidFill>
            </a:endParaRPr>
          </a:p>
        </p:txBody>
      </p:sp>
      <p:sp>
        <p:nvSpPr>
          <p:cNvPr id="16" name="15 CuadroTexto"/>
          <p:cNvSpPr txBox="1"/>
          <p:nvPr/>
        </p:nvSpPr>
        <p:spPr>
          <a:xfrm>
            <a:off x="571472" y="4500570"/>
            <a:ext cx="8072494" cy="1631216"/>
          </a:xfrm>
          <a:prstGeom prst="rect">
            <a:avLst/>
          </a:prstGeom>
          <a:noFill/>
          <a:ln>
            <a:solidFill>
              <a:schemeClr val="accent1">
                <a:lumMod val="60000"/>
                <a:lumOff val="40000"/>
              </a:schemeClr>
            </a:solidFill>
          </a:ln>
        </p:spPr>
        <p:txBody>
          <a:bodyPr wrap="square" rtlCol="0">
            <a:spAutoFit/>
          </a:bodyPr>
          <a:lstStyle/>
          <a:p>
            <a:pPr algn="ctr"/>
            <a:r>
              <a:rPr lang="es-ES_tradnl" sz="2500" dirty="0" smtClean="0"/>
              <a:t>Al combinar PSM con diferencias en diferencias, permite que la selección en el programa pueda depender de características </a:t>
            </a:r>
            <a:r>
              <a:rPr lang="es-ES_tradnl" sz="2500" u="sng" dirty="0" smtClean="0"/>
              <a:t>no observables</a:t>
            </a:r>
            <a:r>
              <a:rPr lang="es-ES_tradnl" sz="2500" dirty="0" smtClean="0"/>
              <a:t> siempre que éstas sean constantes en el tiempo.</a:t>
            </a:r>
            <a:endParaRPr lang="es-ES" sz="2500" dirty="0"/>
          </a:p>
        </p:txBody>
      </p:sp>
      <p:sp>
        <p:nvSpPr>
          <p:cNvPr id="17" name="16 Cerrar llave"/>
          <p:cNvSpPr/>
          <p:nvPr/>
        </p:nvSpPr>
        <p:spPr>
          <a:xfrm>
            <a:off x="5357818" y="2071678"/>
            <a:ext cx="142876" cy="1285884"/>
          </a:xfrm>
          <a:prstGeom prst="rightBrace">
            <a:avLst/>
          </a:prstGeom>
          <a:ln>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
          </a:p>
        </p:txBody>
      </p:sp>
      <p:sp>
        <p:nvSpPr>
          <p:cNvPr id="18" name="17 CuadroTexto"/>
          <p:cNvSpPr txBox="1"/>
          <p:nvPr/>
        </p:nvSpPr>
        <p:spPr>
          <a:xfrm>
            <a:off x="5643570" y="1770254"/>
            <a:ext cx="3000364" cy="2015936"/>
          </a:xfrm>
          <a:prstGeom prst="rect">
            <a:avLst/>
          </a:prstGeom>
          <a:noFill/>
        </p:spPr>
        <p:txBody>
          <a:bodyPr wrap="square" rtlCol="0">
            <a:spAutoFit/>
          </a:bodyPr>
          <a:lstStyle/>
          <a:p>
            <a:r>
              <a:rPr lang="es-CO" sz="2500" dirty="0" smtClean="0"/>
              <a:t>Relajan los supuestos de cada método y, por lo tanto, los resultados se vuelven más robustos.</a:t>
            </a:r>
            <a:endParaRPr lang="es-ES" sz="25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428860" y="274638"/>
            <a:ext cx="6257940" cy="1143000"/>
          </a:xfrm>
        </p:spPr>
        <p:txBody>
          <a:bodyPr>
            <a:normAutofit/>
          </a:bodyPr>
          <a:lstStyle/>
          <a:p>
            <a:r>
              <a:rPr lang="es-ES_tradnl" sz="4200" u="sng" dirty="0" smtClean="0"/>
              <a:t>Supuestos</a:t>
            </a:r>
            <a:endParaRPr lang="es-ES" sz="4200" u="sng" dirty="0"/>
          </a:p>
        </p:txBody>
      </p:sp>
      <p:sp>
        <p:nvSpPr>
          <p:cNvPr id="3" name="2 Marcador de contenido"/>
          <p:cNvSpPr>
            <a:spLocks noGrp="1"/>
          </p:cNvSpPr>
          <p:nvPr>
            <p:ph idx="1"/>
          </p:nvPr>
        </p:nvSpPr>
        <p:spPr/>
        <p:txBody>
          <a:bodyPr/>
          <a:lstStyle/>
          <a:p>
            <a:r>
              <a:rPr lang="es-ES_tradnl" sz="2500" u="sng" dirty="0" smtClean="0"/>
              <a:t>Independencia condicional (CI)</a:t>
            </a:r>
          </a:p>
          <a:p>
            <a:endParaRPr lang="es-ES_tradnl" dirty="0" smtClean="0"/>
          </a:p>
          <a:p>
            <a:endParaRPr lang="es-ES_tradnl" dirty="0" smtClean="0"/>
          </a:p>
          <a:p>
            <a:endParaRPr lang="es-ES_tradnl" dirty="0" smtClean="0"/>
          </a:p>
          <a:p>
            <a:endParaRPr lang="es-ES_tradnl" dirty="0" smtClean="0"/>
          </a:p>
          <a:p>
            <a:r>
              <a:rPr lang="es-ES_tradnl" sz="2500" u="sng" dirty="0" smtClean="0"/>
              <a:t>Soporte común (SC)</a:t>
            </a:r>
            <a:endParaRPr lang="es-ES" sz="2500" u="sng" dirty="0"/>
          </a:p>
        </p:txBody>
      </p:sp>
      <p:sp>
        <p:nvSpPr>
          <p:cNvPr id="5" name="4 Abrir llave"/>
          <p:cNvSpPr/>
          <p:nvPr/>
        </p:nvSpPr>
        <p:spPr>
          <a:xfrm rot="16200000">
            <a:off x="4214809" y="1142983"/>
            <a:ext cx="214313" cy="364334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
          </a:p>
        </p:txBody>
      </p:sp>
      <p:sp>
        <p:nvSpPr>
          <p:cNvPr id="6" name="5 CuadroTexto"/>
          <p:cNvSpPr txBox="1"/>
          <p:nvPr/>
        </p:nvSpPr>
        <p:spPr>
          <a:xfrm>
            <a:off x="857224" y="3132094"/>
            <a:ext cx="7286676" cy="1154162"/>
          </a:xfrm>
          <a:prstGeom prst="rect">
            <a:avLst/>
          </a:prstGeom>
          <a:noFill/>
        </p:spPr>
        <p:txBody>
          <a:bodyPr wrap="square" rtlCol="0">
            <a:spAutoFit/>
          </a:bodyPr>
          <a:lstStyle/>
          <a:p>
            <a:pPr algn="ctr"/>
            <a:r>
              <a:rPr lang="es-ES_tradnl" sz="2300" dirty="0" smtClean="0"/>
              <a:t>Los tratamientos y controles habrían evolucionado de la misma manera si ninguno de los dos hubiera sido objeto del tratamiento.</a:t>
            </a:r>
            <a:endParaRPr lang="es-ES" sz="2300" dirty="0"/>
          </a:p>
        </p:txBody>
      </p:sp>
      <p:pic>
        <p:nvPicPr>
          <p:cNvPr id="8" name="Picture 1"/>
          <p:cNvPicPr>
            <a:picLocks noChangeAspect="1" noChangeArrowheads="1"/>
          </p:cNvPicPr>
          <p:nvPr/>
        </p:nvPicPr>
        <p:blipFill>
          <a:blip r:embed="rId3" cstate="print"/>
          <a:srcRect/>
          <a:stretch>
            <a:fillRect/>
          </a:stretch>
        </p:blipFill>
        <p:spPr bwMode="auto">
          <a:xfrm>
            <a:off x="0" y="-24"/>
            <a:ext cx="2500298" cy="1189301"/>
          </a:xfrm>
          <a:prstGeom prst="rect">
            <a:avLst/>
          </a:prstGeom>
          <a:noFill/>
          <a:ln w="9525">
            <a:noFill/>
            <a:miter lim="800000"/>
            <a:headEnd/>
            <a:tailEnd/>
          </a:ln>
          <a:effectLst/>
        </p:spPr>
      </p:pic>
      <p:sp>
        <p:nvSpPr>
          <p:cNvPr id="11" name="10 Rectángulo"/>
          <p:cNvSpPr/>
          <p:nvPr/>
        </p:nvSpPr>
        <p:spPr>
          <a:xfrm>
            <a:off x="0" y="6534859"/>
            <a:ext cx="9144000" cy="323141"/>
          </a:xfrm>
          <a:prstGeom prst="rect">
            <a:avLst/>
          </a:prstGeom>
        </p:spPr>
        <p:txBody>
          <a:bodyPr wrap="square">
            <a:spAutoFit/>
          </a:bodyPr>
          <a:lstStyle/>
          <a:p>
            <a:pPr algn="ctr"/>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6: Emparejamiento /  50</a:t>
            </a:r>
            <a:endParaRPr lang="es-ES" sz="1500" dirty="0">
              <a:solidFill>
                <a:schemeClr val="tx1">
                  <a:lumMod val="50000"/>
                  <a:lumOff val="50000"/>
                </a:schemeClr>
              </a:solidFill>
            </a:endParaRPr>
          </a:p>
        </p:txBody>
      </p:sp>
      <p:graphicFrame>
        <p:nvGraphicFramePr>
          <p:cNvPr id="20482" name="Object 2"/>
          <p:cNvGraphicFramePr>
            <a:graphicFrameLocks noChangeAspect="1"/>
          </p:cNvGraphicFramePr>
          <p:nvPr>
            <p:extLst>
              <p:ext uri="{D42A27DB-BD31-4B8C-83A1-F6EECF244321}">
                <p14:modId xmlns="" xmlns:p14="http://schemas.microsoft.com/office/powerpoint/2010/main" val="4088556445"/>
              </p:ext>
            </p:extLst>
          </p:nvPr>
        </p:nvGraphicFramePr>
        <p:xfrm>
          <a:off x="928662" y="2453594"/>
          <a:ext cx="6809074" cy="705075"/>
        </p:xfrm>
        <a:graphic>
          <a:graphicData uri="http://schemas.openxmlformats.org/presentationml/2006/ole">
            <p:oleObj spid="_x0000_s20492" name="Documento" r:id="rId4" imgW="5402470" imgH="559682" progId="Word.Document.12">
              <p:embed/>
            </p:oleObj>
          </a:graphicData>
        </a:graphic>
      </p:graphicFrame>
      <p:graphicFrame>
        <p:nvGraphicFramePr>
          <p:cNvPr id="20483" name="Object 3"/>
          <p:cNvGraphicFramePr>
            <a:graphicFrameLocks noChangeAspect="1"/>
          </p:cNvGraphicFramePr>
          <p:nvPr>
            <p:extLst>
              <p:ext uri="{D42A27DB-BD31-4B8C-83A1-F6EECF244321}">
                <p14:modId xmlns="" xmlns:p14="http://schemas.microsoft.com/office/powerpoint/2010/main" val="3450930709"/>
              </p:ext>
            </p:extLst>
          </p:nvPr>
        </p:nvGraphicFramePr>
        <p:xfrm>
          <a:off x="1593871" y="5234335"/>
          <a:ext cx="5907087" cy="642937"/>
        </p:xfrm>
        <a:graphic>
          <a:graphicData uri="http://schemas.openxmlformats.org/presentationml/2006/ole">
            <p:oleObj spid="_x0000_s20493" name="Documento" r:id="rId5" imgW="5402470" imgH="588439" progId="Word.Document.12">
              <p:embed/>
            </p:oleObj>
          </a:graphicData>
        </a:graphic>
      </p:graphicFrame>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357422" y="274637"/>
            <a:ext cx="6329378" cy="1333445"/>
          </a:xfrm>
        </p:spPr>
        <p:txBody>
          <a:bodyPr>
            <a:noAutofit/>
          </a:bodyPr>
          <a:lstStyle/>
          <a:p>
            <a:r>
              <a:rPr lang="es-ES_tradnl" sz="4200" u="sng" dirty="0" smtClean="0"/>
              <a:t>Estimador de dobles diferencias emparejadas (DDE)</a:t>
            </a:r>
            <a:endParaRPr lang="es-ES" sz="4200" u="sng" dirty="0"/>
          </a:p>
        </p:txBody>
      </p:sp>
      <p:sp>
        <p:nvSpPr>
          <p:cNvPr id="63490"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63491" name="Rectangle 3"/>
          <p:cNvSpPr>
            <a:spLocks noChangeArrowheads="1"/>
          </p:cNvSpPr>
          <p:nvPr/>
        </p:nvSpPr>
        <p:spPr bwMode="auto">
          <a:xfrm>
            <a:off x="0" y="11715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800" b="0" i="0" u="none" strike="noStrike" cap="none" normalizeH="0" baseline="0" smtClean="0">
              <a:ln>
                <a:noFill/>
              </a:ln>
              <a:solidFill>
                <a:schemeClr val="tx1"/>
              </a:solidFill>
              <a:effectLst/>
              <a:latin typeface="Arial" pitchFamily="34" charset="0"/>
            </a:endParaRPr>
          </a:p>
        </p:txBody>
      </p:sp>
      <p:sp>
        <p:nvSpPr>
          <p:cNvPr id="7" name="6 CuadroTexto"/>
          <p:cNvSpPr txBox="1"/>
          <p:nvPr/>
        </p:nvSpPr>
        <p:spPr>
          <a:xfrm>
            <a:off x="714348" y="2357430"/>
            <a:ext cx="6698885" cy="477054"/>
          </a:xfrm>
          <a:prstGeom prst="rect">
            <a:avLst/>
          </a:prstGeom>
          <a:noFill/>
        </p:spPr>
        <p:txBody>
          <a:bodyPr wrap="none" rtlCol="0">
            <a:spAutoFit/>
          </a:bodyPr>
          <a:lstStyle/>
          <a:p>
            <a:r>
              <a:rPr lang="es-ES_tradnl" sz="2500" dirty="0" smtClean="0"/>
              <a:t>Asumiendo que se cumple CI y SC el estimador es:</a:t>
            </a:r>
            <a:endParaRPr lang="es-ES" sz="2500" dirty="0"/>
          </a:p>
        </p:txBody>
      </p:sp>
      <p:pic>
        <p:nvPicPr>
          <p:cNvPr id="8" name="Picture 1"/>
          <p:cNvPicPr>
            <a:picLocks noChangeAspect="1" noChangeArrowheads="1"/>
          </p:cNvPicPr>
          <p:nvPr/>
        </p:nvPicPr>
        <p:blipFill>
          <a:blip r:embed="rId4" cstate="print"/>
          <a:srcRect/>
          <a:stretch>
            <a:fillRect/>
          </a:stretch>
        </p:blipFill>
        <p:spPr bwMode="auto">
          <a:xfrm>
            <a:off x="0" y="-24"/>
            <a:ext cx="2500298" cy="1189301"/>
          </a:xfrm>
          <a:prstGeom prst="rect">
            <a:avLst/>
          </a:prstGeom>
          <a:noFill/>
          <a:ln w="9525">
            <a:noFill/>
            <a:miter lim="800000"/>
            <a:headEnd/>
            <a:tailEnd/>
          </a:ln>
          <a:effectLst/>
        </p:spPr>
      </p:pic>
      <p:sp>
        <p:nvSpPr>
          <p:cNvPr id="11" name="10 Rectángulo"/>
          <p:cNvSpPr/>
          <p:nvPr/>
        </p:nvSpPr>
        <p:spPr>
          <a:xfrm>
            <a:off x="0" y="6534859"/>
            <a:ext cx="9144000" cy="323141"/>
          </a:xfrm>
          <a:prstGeom prst="rect">
            <a:avLst/>
          </a:prstGeom>
        </p:spPr>
        <p:txBody>
          <a:bodyPr wrap="square">
            <a:spAutoFit/>
          </a:bodyPr>
          <a:lstStyle/>
          <a:p>
            <a:pPr algn="ctr"/>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6: Emparejamiento /  51</a:t>
            </a:r>
            <a:endParaRPr lang="es-ES" sz="1500" dirty="0">
              <a:solidFill>
                <a:schemeClr val="tx1">
                  <a:lumMod val="50000"/>
                  <a:lumOff val="50000"/>
                </a:schemeClr>
              </a:solidFill>
            </a:endParaRPr>
          </a:p>
        </p:txBody>
      </p:sp>
      <p:graphicFrame>
        <p:nvGraphicFramePr>
          <p:cNvPr id="21506" name="Object 2"/>
          <p:cNvGraphicFramePr>
            <a:graphicFrameLocks noChangeAspect="1"/>
          </p:cNvGraphicFramePr>
          <p:nvPr>
            <p:extLst>
              <p:ext uri="{D42A27DB-BD31-4B8C-83A1-F6EECF244321}">
                <p14:modId xmlns="" xmlns:p14="http://schemas.microsoft.com/office/powerpoint/2010/main" val="4030804322"/>
              </p:ext>
            </p:extLst>
          </p:nvPr>
        </p:nvGraphicFramePr>
        <p:xfrm>
          <a:off x="571473" y="3714752"/>
          <a:ext cx="7858179" cy="1341584"/>
        </p:xfrm>
        <a:graphic>
          <a:graphicData uri="http://schemas.openxmlformats.org/presentationml/2006/ole">
            <p:oleObj spid="_x0000_s21511" name="Documento" r:id="rId5" imgW="5402470" imgH="923457" progId="Word.Document.12">
              <p:embed/>
            </p:oleObj>
          </a:graphicData>
        </a:graphic>
      </p:graphicFrame>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ln w="28575">
            <a:solidFill>
              <a:schemeClr val="accent1"/>
            </a:solidFill>
          </a:ln>
        </p:spPr>
        <p:txBody>
          <a:bodyPr>
            <a:normAutofit/>
          </a:bodyPr>
          <a:lstStyle/>
          <a:p>
            <a:pPr>
              <a:buNone/>
            </a:pPr>
            <a:r>
              <a:rPr lang="es-CO" sz="2500" dirty="0" smtClean="0"/>
              <a:t>Suponga que tenemos:</a:t>
            </a:r>
          </a:p>
          <a:p>
            <a:pPr>
              <a:buNone/>
            </a:pPr>
            <a:r>
              <a:rPr lang="es-CO" sz="2500" dirty="0" smtClean="0"/>
              <a:t>	</a:t>
            </a:r>
            <a:r>
              <a:rPr lang="es-CO" sz="2500" u="sng" dirty="0" smtClean="0"/>
              <a:t>Grupo de tratamiento</a:t>
            </a:r>
            <a:r>
              <a:rPr lang="es-CO" sz="2500" dirty="0" smtClean="0"/>
              <a:t>		</a:t>
            </a:r>
            <a:r>
              <a:rPr lang="es-CO" sz="2500" u="sng" dirty="0" smtClean="0"/>
              <a:t>Grupo de control</a:t>
            </a:r>
          </a:p>
          <a:p>
            <a:pPr>
              <a:buNone/>
            </a:pPr>
            <a:r>
              <a:rPr lang="es-CO" sz="2500" dirty="0" smtClean="0"/>
              <a:t>	</a:t>
            </a:r>
            <a:endParaRPr lang="es-ES" sz="2500" dirty="0"/>
          </a:p>
        </p:txBody>
      </p:sp>
      <p:pic>
        <p:nvPicPr>
          <p:cNvPr id="4" name="Picture 1"/>
          <p:cNvPicPr>
            <a:picLocks noChangeAspect="1" noChangeArrowheads="1"/>
          </p:cNvPicPr>
          <p:nvPr/>
        </p:nvPicPr>
        <p:blipFill>
          <a:blip r:embed="rId3" cstate="print"/>
          <a:srcRect/>
          <a:stretch>
            <a:fillRect/>
          </a:stretch>
        </p:blipFill>
        <p:spPr bwMode="auto">
          <a:xfrm>
            <a:off x="0" y="0"/>
            <a:ext cx="2500298" cy="1189301"/>
          </a:xfrm>
          <a:prstGeom prst="rect">
            <a:avLst/>
          </a:prstGeom>
          <a:noFill/>
          <a:ln w="9525">
            <a:noFill/>
            <a:miter lim="800000"/>
            <a:headEnd/>
            <a:tailEnd/>
          </a:ln>
          <a:effectLst/>
        </p:spPr>
      </p:pic>
      <p:sp>
        <p:nvSpPr>
          <p:cNvPr id="5" name="1 Título"/>
          <p:cNvSpPr txBox="1">
            <a:spLocks/>
          </p:cNvSpPr>
          <p:nvPr/>
        </p:nvSpPr>
        <p:spPr>
          <a:xfrm>
            <a:off x="2357422" y="274637"/>
            <a:ext cx="6329378" cy="1082661"/>
          </a:xfrm>
          <a:prstGeom prst="rect">
            <a:avLst/>
          </a:prstGeom>
        </p:spPr>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s-ES_tradnl" sz="4200" b="0" i="0" u="sng" strike="noStrike" kern="1200" cap="none" spc="0" normalizeH="0" baseline="0" noProof="0" dirty="0" smtClean="0">
                <a:ln>
                  <a:noFill/>
                </a:ln>
                <a:solidFill>
                  <a:schemeClr val="tx1"/>
                </a:solidFill>
                <a:effectLst/>
                <a:uLnTx/>
                <a:uFillTx/>
                <a:latin typeface="+mj-lt"/>
                <a:ea typeface="+mj-ea"/>
                <a:cs typeface="+mj-cs"/>
              </a:rPr>
              <a:t>Ejemplo: </a:t>
            </a:r>
            <a:r>
              <a:rPr kumimoji="0" lang="es-ES_tradnl" sz="4200" b="0" i="1" u="sng" strike="noStrike" kern="1200" cap="none" spc="0" normalizeH="0" baseline="0" noProof="0" dirty="0" smtClean="0">
                <a:ln>
                  <a:noFill/>
                </a:ln>
                <a:solidFill>
                  <a:schemeClr val="tx1"/>
                </a:solidFill>
                <a:effectLst/>
                <a:uLnTx/>
                <a:uFillTx/>
                <a:latin typeface="+mj-lt"/>
                <a:ea typeface="+mj-ea"/>
                <a:cs typeface="+mj-cs"/>
              </a:rPr>
              <a:t>Canasta</a:t>
            </a:r>
            <a:endParaRPr kumimoji="0" lang="es-ES" sz="4200" b="0" i="0" u="sng" strike="noStrike" kern="1200" cap="none" spc="0" normalizeH="0" baseline="0" noProof="0" dirty="0">
              <a:ln>
                <a:noFill/>
              </a:ln>
              <a:solidFill>
                <a:schemeClr val="tx1"/>
              </a:solidFill>
              <a:effectLst/>
              <a:uLnTx/>
              <a:uFillTx/>
              <a:latin typeface="+mj-lt"/>
              <a:ea typeface="+mj-ea"/>
              <a:cs typeface="+mj-cs"/>
            </a:endParaRPr>
          </a:p>
        </p:txBody>
      </p:sp>
      <p:sp>
        <p:nvSpPr>
          <p:cNvPr id="1026"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1027" name="Rectangle 3"/>
          <p:cNvSpPr>
            <a:spLocks noChangeArrowheads="1"/>
          </p:cNvSpPr>
          <p:nvPr/>
        </p:nvSpPr>
        <p:spPr bwMode="auto">
          <a:xfrm>
            <a:off x="0" y="8763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800" b="0" i="0" u="none" strike="noStrike" cap="none" normalizeH="0" baseline="0" smtClean="0">
              <a:ln>
                <a:noFill/>
              </a:ln>
              <a:solidFill>
                <a:schemeClr val="tx1"/>
              </a:solidFill>
              <a:effectLst/>
              <a:latin typeface="Arial" pitchFamily="34" charset="0"/>
            </a:endParaRPr>
          </a:p>
        </p:txBody>
      </p:sp>
      <p:cxnSp>
        <p:nvCxnSpPr>
          <p:cNvPr id="11" name="10 Conector recto de flecha"/>
          <p:cNvCxnSpPr/>
          <p:nvPr/>
        </p:nvCxnSpPr>
        <p:spPr>
          <a:xfrm>
            <a:off x="1500166" y="2998784"/>
            <a:ext cx="35719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2" name="11 CuadroTexto"/>
          <p:cNvSpPr txBox="1"/>
          <p:nvPr/>
        </p:nvSpPr>
        <p:spPr>
          <a:xfrm>
            <a:off x="1928794" y="2714620"/>
            <a:ext cx="2446888" cy="861774"/>
          </a:xfrm>
          <a:prstGeom prst="rect">
            <a:avLst/>
          </a:prstGeom>
          <a:noFill/>
        </p:spPr>
        <p:txBody>
          <a:bodyPr wrap="none" rtlCol="0">
            <a:spAutoFit/>
          </a:bodyPr>
          <a:lstStyle/>
          <a:p>
            <a:r>
              <a:rPr lang="es-CO" sz="2500" dirty="0" smtClean="0"/>
              <a:t>Talla para la edad</a:t>
            </a:r>
          </a:p>
          <a:p>
            <a:r>
              <a:rPr lang="es-CO" sz="2500" dirty="0" smtClean="0"/>
              <a:t>en el período 1.</a:t>
            </a:r>
            <a:endParaRPr lang="es-ES" sz="2500" dirty="0"/>
          </a:p>
        </p:txBody>
      </p:sp>
      <p:sp>
        <p:nvSpPr>
          <p:cNvPr id="1029" name="Rectangle 5"/>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1030" name="Rectangle 6"/>
          <p:cNvSpPr>
            <a:spLocks noChangeArrowheads="1"/>
          </p:cNvSpPr>
          <p:nvPr/>
        </p:nvSpPr>
        <p:spPr bwMode="auto">
          <a:xfrm>
            <a:off x="0" y="8763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800" b="0" i="0" u="none" strike="noStrike" cap="none" normalizeH="0" baseline="0" smtClean="0">
              <a:ln>
                <a:noFill/>
              </a:ln>
              <a:solidFill>
                <a:schemeClr val="tx1"/>
              </a:solidFill>
              <a:effectLst/>
              <a:latin typeface="Arial" pitchFamily="34" charset="0"/>
            </a:endParaRPr>
          </a:p>
        </p:txBody>
      </p:sp>
      <p:cxnSp>
        <p:nvCxnSpPr>
          <p:cNvPr id="16" name="15 Conector recto de flecha"/>
          <p:cNvCxnSpPr/>
          <p:nvPr/>
        </p:nvCxnSpPr>
        <p:spPr>
          <a:xfrm>
            <a:off x="1428728" y="4213230"/>
            <a:ext cx="35719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7" name="16 CuadroTexto"/>
          <p:cNvSpPr txBox="1"/>
          <p:nvPr/>
        </p:nvSpPr>
        <p:spPr>
          <a:xfrm>
            <a:off x="1928794" y="3929066"/>
            <a:ext cx="2446888" cy="861774"/>
          </a:xfrm>
          <a:prstGeom prst="rect">
            <a:avLst/>
          </a:prstGeom>
          <a:noFill/>
        </p:spPr>
        <p:txBody>
          <a:bodyPr wrap="none" rtlCol="0">
            <a:spAutoFit/>
          </a:bodyPr>
          <a:lstStyle/>
          <a:p>
            <a:r>
              <a:rPr lang="es-CO" sz="2500" dirty="0" smtClean="0"/>
              <a:t>Talla para la edad</a:t>
            </a:r>
          </a:p>
          <a:p>
            <a:r>
              <a:rPr lang="es-CO" sz="2500" dirty="0" smtClean="0"/>
              <a:t>en el período 0.</a:t>
            </a:r>
            <a:endParaRPr lang="es-ES" sz="2500" dirty="0"/>
          </a:p>
        </p:txBody>
      </p:sp>
      <p:sp>
        <p:nvSpPr>
          <p:cNvPr id="1032" name="Rectangle 8"/>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1033" name="Rectangle 9"/>
          <p:cNvSpPr>
            <a:spLocks noChangeArrowheads="1"/>
          </p:cNvSpPr>
          <p:nvPr/>
        </p:nvSpPr>
        <p:spPr bwMode="auto">
          <a:xfrm>
            <a:off x="0" y="8763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800" b="0" i="0" u="none" strike="noStrike" cap="none" normalizeH="0" baseline="0" smtClean="0">
              <a:ln>
                <a:noFill/>
              </a:ln>
              <a:solidFill>
                <a:schemeClr val="tx1"/>
              </a:solidFill>
              <a:effectLst/>
              <a:latin typeface="Arial" pitchFamily="34" charset="0"/>
            </a:endParaRPr>
          </a:p>
        </p:txBody>
      </p:sp>
      <p:cxnSp>
        <p:nvCxnSpPr>
          <p:cNvPr id="21" name="20 Conector recto de flecha"/>
          <p:cNvCxnSpPr/>
          <p:nvPr/>
        </p:nvCxnSpPr>
        <p:spPr>
          <a:xfrm>
            <a:off x="5500694" y="2998784"/>
            <a:ext cx="35719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2" name="21 CuadroTexto"/>
          <p:cNvSpPr txBox="1"/>
          <p:nvPr/>
        </p:nvSpPr>
        <p:spPr>
          <a:xfrm>
            <a:off x="5911326" y="2710102"/>
            <a:ext cx="2446888" cy="861774"/>
          </a:xfrm>
          <a:prstGeom prst="rect">
            <a:avLst/>
          </a:prstGeom>
          <a:noFill/>
        </p:spPr>
        <p:txBody>
          <a:bodyPr wrap="none" rtlCol="0">
            <a:spAutoFit/>
          </a:bodyPr>
          <a:lstStyle/>
          <a:p>
            <a:r>
              <a:rPr lang="es-CO" sz="2500" dirty="0" smtClean="0"/>
              <a:t>Talla para la edad</a:t>
            </a:r>
          </a:p>
          <a:p>
            <a:r>
              <a:rPr lang="es-CO" sz="2500" dirty="0" smtClean="0"/>
              <a:t>en el período 1.</a:t>
            </a:r>
            <a:endParaRPr lang="es-ES" sz="2500" dirty="0"/>
          </a:p>
        </p:txBody>
      </p:sp>
      <p:sp>
        <p:nvSpPr>
          <p:cNvPr id="1035" name="Rectangle 11"/>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1036" name="Rectangle 12"/>
          <p:cNvSpPr>
            <a:spLocks noChangeArrowheads="1"/>
          </p:cNvSpPr>
          <p:nvPr/>
        </p:nvSpPr>
        <p:spPr bwMode="auto">
          <a:xfrm>
            <a:off x="0" y="8763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800" b="0" i="0" u="none" strike="noStrike" cap="none" normalizeH="0" baseline="0" smtClean="0">
              <a:ln>
                <a:noFill/>
              </a:ln>
              <a:solidFill>
                <a:schemeClr val="tx1"/>
              </a:solidFill>
              <a:effectLst/>
              <a:latin typeface="Arial" pitchFamily="34" charset="0"/>
            </a:endParaRPr>
          </a:p>
        </p:txBody>
      </p:sp>
      <p:cxnSp>
        <p:nvCxnSpPr>
          <p:cNvPr id="26" name="25 Conector recto de flecha"/>
          <p:cNvCxnSpPr/>
          <p:nvPr/>
        </p:nvCxnSpPr>
        <p:spPr>
          <a:xfrm>
            <a:off x="5572132" y="4141792"/>
            <a:ext cx="35719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7" name="26 CuadroTexto"/>
          <p:cNvSpPr txBox="1"/>
          <p:nvPr/>
        </p:nvSpPr>
        <p:spPr>
          <a:xfrm>
            <a:off x="5929322" y="3924548"/>
            <a:ext cx="2446888" cy="861774"/>
          </a:xfrm>
          <a:prstGeom prst="rect">
            <a:avLst/>
          </a:prstGeom>
          <a:noFill/>
        </p:spPr>
        <p:txBody>
          <a:bodyPr wrap="none" rtlCol="0">
            <a:spAutoFit/>
          </a:bodyPr>
          <a:lstStyle/>
          <a:p>
            <a:r>
              <a:rPr lang="es-CO" sz="2500" dirty="0" smtClean="0"/>
              <a:t>Talla para la edad</a:t>
            </a:r>
          </a:p>
          <a:p>
            <a:r>
              <a:rPr lang="es-CO" sz="2500" dirty="0" smtClean="0"/>
              <a:t>en el período 0.</a:t>
            </a:r>
            <a:endParaRPr lang="es-ES" sz="2500" dirty="0"/>
          </a:p>
        </p:txBody>
      </p:sp>
      <p:sp>
        <p:nvSpPr>
          <p:cNvPr id="1038" name="Rectangle 14"/>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1039" name="Rectangle 15"/>
          <p:cNvSpPr>
            <a:spLocks noChangeArrowheads="1"/>
          </p:cNvSpPr>
          <p:nvPr/>
        </p:nvSpPr>
        <p:spPr bwMode="auto">
          <a:xfrm>
            <a:off x="0" y="9144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800" b="0" i="0" u="none" strike="noStrike" cap="none" normalizeH="0" baseline="0" smtClean="0">
              <a:ln>
                <a:noFill/>
              </a:ln>
              <a:solidFill>
                <a:schemeClr val="tx1"/>
              </a:solidFill>
              <a:effectLst/>
              <a:latin typeface="Arial" pitchFamily="34" charset="0"/>
            </a:endParaRPr>
          </a:p>
        </p:txBody>
      </p:sp>
      <p:sp>
        <p:nvSpPr>
          <p:cNvPr id="1041" name="Rectangle 17"/>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1042" name="Rectangle 18"/>
          <p:cNvSpPr>
            <a:spLocks noChangeArrowheads="1"/>
          </p:cNvSpPr>
          <p:nvPr/>
        </p:nvSpPr>
        <p:spPr bwMode="auto">
          <a:xfrm>
            <a:off x="0" y="9144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800" b="0" i="0" u="none" strike="noStrike" cap="none" normalizeH="0" baseline="0" smtClean="0">
              <a:ln>
                <a:noFill/>
              </a:ln>
              <a:solidFill>
                <a:schemeClr val="tx1"/>
              </a:solidFill>
              <a:effectLst/>
              <a:latin typeface="Arial" pitchFamily="34" charset="0"/>
            </a:endParaRPr>
          </a:p>
        </p:txBody>
      </p:sp>
      <p:sp>
        <p:nvSpPr>
          <p:cNvPr id="1044" name="Rectangle 20"/>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1045" name="Rectangle 21"/>
          <p:cNvSpPr>
            <a:spLocks noChangeArrowheads="1"/>
          </p:cNvSpPr>
          <p:nvPr/>
        </p:nvSpPr>
        <p:spPr bwMode="auto">
          <a:xfrm>
            <a:off x="0" y="8763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800" b="0" i="0" u="none" strike="noStrike" cap="none" normalizeH="0" baseline="0" smtClean="0">
              <a:ln>
                <a:noFill/>
              </a:ln>
              <a:solidFill>
                <a:schemeClr val="tx1"/>
              </a:solidFill>
              <a:effectLst/>
              <a:latin typeface="Arial" pitchFamily="34" charset="0"/>
            </a:endParaRPr>
          </a:p>
        </p:txBody>
      </p:sp>
      <p:sp>
        <p:nvSpPr>
          <p:cNvPr id="1047" name="Rectangle 23"/>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1048" name="Rectangle 24"/>
          <p:cNvSpPr>
            <a:spLocks noChangeArrowheads="1"/>
          </p:cNvSpPr>
          <p:nvPr/>
        </p:nvSpPr>
        <p:spPr bwMode="auto">
          <a:xfrm>
            <a:off x="0" y="8763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800" b="0" i="0" u="none" strike="noStrike" cap="none" normalizeH="0" baseline="0" smtClean="0">
              <a:ln>
                <a:noFill/>
              </a:ln>
              <a:solidFill>
                <a:schemeClr val="tx1"/>
              </a:solidFill>
              <a:effectLst/>
              <a:latin typeface="Arial" pitchFamily="34" charset="0"/>
            </a:endParaRPr>
          </a:p>
        </p:txBody>
      </p:sp>
      <p:sp>
        <p:nvSpPr>
          <p:cNvPr id="1050" name="Rectangle 26"/>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1051" name="Rectangle 27"/>
          <p:cNvSpPr>
            <a:spLocks noChangeArrowheads="1"/>
          </p:cNvSpPr>
          <p:nvPr/>
        </p:nvSpPr>
        <p:spPr bwMode="auto">
          <a:xfrm>
            <a:off x="0" y="8667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800" b="0" i="0" u="none" strike="noStrike" cap="none" normalizeH="0" baseline="0" smtClean="0">
              <a:ln>
                <a:noFill/>
              </a:ln>
              <a:solidFill>
                <a:schemeClr val="tx1"/>
              </a:solidFill>
              <a:effectLst/>
              <a:latin typeface="Arial" pitchFamily="34" charset="0"/>
            </a:endParaRPr>
          </a:p>
        </p:txBody>
      </p:sp>
      <p:sp>
        <p:nvSpPr>
          <p:cNvPr id="35" name="34 Rectángulo"/>
          <p:cNvSpPr/>
          <p:nvPr/>
        </p:nvSpPr>
        <p:spPr>
          <a:xfrm>
            <a:off x="0" y="6534859"/>
            <a:ext cx="9144000" cy="323141"/>
          </a:xfrm>
          <a:prstGeom prst="rect">
            <a:avLst/>
          </a:prstGeom>
        </p:spPr>
        <p:txBody>
          <a:bodyPr wrap="square">
            <a:spAutoFit/>
          </a:bodyPr>
          <a:lstStyle/>
          <a:p>
            <a:pPr algn="ctr"/>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6: Emparejamiento /  52</a:t>
            </a:r>
            <a:endParaRPr lang="es-ES" sz="1500" dirty="0">
              <a:solidFill>
                <a:schemeClr val="tx1">
                  <a:lumMod val="50000"/>
                  <a:lumOff val="50000"/>
                </a:schemeClr>
              </a:solidFill>
            </a:endParaRPr>
          </a:p>
        </p:txBody>
      </p:sp>
      <p:sp>
        <p:nvSpPr>
          <p:cNvPr id="20482"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20483" name="Rectangle 3"/>
          <p:cNvSpPr>
            <a:spLocks noChangeArrowheads="1"/>
          </p:cNvSpPr>
          <p:nvPr/>
        </p:nvSpPr>
        <p:spPr bwMode="auto">
          <a:xfrm>
            <a:off x="0" y="8667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800" b="0" i="0" u="none" strike="noStrike" cap="none" normalizeH="0" baseline="0" smtClean="0">
              <a:ln>
                <a:noFill/>
              </a:ln>
              <a:solidFill>
                <a:schemeClr val="tx1"/>
              </a:solidFill>
              <a:effectLst/>
              <a:latin typeface="Arial" pitchFamily="34" charset="0"/>
            </a:endParaRPr>
          </a:p>
        </p:txBody>
      </p:sp>
      <p:sp>
        <p:nvSpPr>
          <p:cNvPr id="20485" name="Rectangle 5"/>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20486" name="Rectangle 6"/>
          <p:cNvSpPr>
            <a:spLocks noChangeArrowheads="1"/>
          </p:cNvSpPr>
          <p:nvPr/>
        </p:nvSpPr>
        <p:spPr bwMode="auto">
          <a:xfrm>
            <a:off x="0" y="8763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800" b="0" i="0" u="none" strike="noStrike" cap="none" normalizeH="0" baseline="0" smtClean="0">
              <a:ln>
                <a:noFill/>
              </a:ln>
              <a:solidFill>
                <a:schemeClr val="tx1"/>
              </a:solidFill>
              <a:effectLst/>
              <a:latin typeface="Arial" pitchFamily="34" charset="0"/>
            </a:endParaRPr>
          </a:p>
        </p:txBody>
      </p:sp>
      <p:graphicFrame>
        <p:nvGraphicFramePr>
          <p:cNvPr id="22530" name="Object 2"/>
          <p:cNvGraphicFramePr>
            <a:graphicFrameLocks noChangeAspect="1"/>
          </p:cNvGraphicFramePr>
          <p:nvPr>
            <p:extLst>
              <p:ext uri="{D42A27DB-BD31-4B8C-83A1-F6EECF244321}">
                <p14:modId xmlns="" xmlns:p14="http://schemas.microsoft.com/office/powerpoint/2010/main" val="2078009724"/>
              </p:ext>
            </p:extLst>
          </p:nvPr>
        </p:nvGraphicFramePr>
        <p:xfrm>
          <a:off x="-2286048" y="2773422"/>
          <a:ext cx="7072362" cy="655578"/>
        </p:xfrm>
        <a:graphic>
          <a:graphicData uri="http://schemas.openxmlformats.org/presentationml/2006/ole">
            <p:oleObj spid="_x0000_s22550" name="Documento" r:id="rId4" imgW="5402470" imgH="501808" progId="Word.Document.12">
              <p:embed/>
            </p:oleObj>
          </a:graphicData>
        </a:graphic>
      </p:graphicFrame>
      <p:graphicFrame>
        <p:nvGraphicFramePr>
          <p:cNvPr id="22531" name="Object 3"/>
          <p:cNvGraphicFramePr>
            <a:graphicFrameLocks noChangeAspect="1"/>
          </p:cNvGraphicFramePr>
          <p:nvPr>
            <p:extLst>
              <p:ext uri="{D42A27DB-BD31-4B8C-83A1-F6EECF244321}">
                <p14:modId xmlns="" xmlns:p14="http://schemas.microsoft.com/office/powerpoint/2010/main" val="3328182813"/>
              </p:ext>
            </p:extLst>
          </p:nvPr>
        </p:nvGraphicFramePr>
        <p:xfrm>
          <a:off x="-2270730" y="3929066"/>
          <a:ext cx="6914168" cy="642942"/>
        </p:xfrm>
        <a:graphic>
          <a:graphicData uri="http://schemas.openxmlformats.org/presentationml/2006/ole">
            <p:oleObj spid="_x0000_s22551" name="Documento" r:id="rId5" imgW="5402470" imgH="503246" progId="Word.Document.12">
              <p:embed/>
            </p:oleObj>
          </a:graphicData>
        </a:graphic>
      </p:graphicFrame>
      <p:graphicFrame>
        <p:nvGraphicFramePr>
          <p:cNvPr id="22532" name="Object 4"/>
          <p:cNvGraphicFramePr>
            <a:graphicFrameLocks noChangeAspect="1"/>
          </p:cNvGraphicFramePr>
          <p:nvPr>
            <p:extLst>
              <p:ext uri="{D42A27DB-BD31-4B8C-83A1-F6EECF244321}">
                <p14:modId xmlns="" xmlns:p14="http://schemas.microsoft.com/office/powerpoint/2010/main" val="339064173"/>
              </p:ext>
            </p:extLst>
          </p:nvPr>
        </p:nvGraphicFramePr>
        <p:xfrm>
          <a:off x="1565275" y="2759075"/>
          <a:ext cx="7454900" cy="681038"/>
        </p:xfrm>
        <a:graphic>
          <a:graphicData uri="http://schemas.openxmlformats.org/presentationml/2006/ole">
            <p:oleObj spid="_x0000_s22552" name="Documento" r:id="rId6" imgW="5402470" imgH="501808" progId="Word.Document.12">
              <p:embed/>
            </p:oleObj>
          </a:graphicData>
        </a:graphic>
      </p:graphicFrame>
      <p:graphicFrame>
        <p:nvGraphicFramePr>
          <p:cNvPr id="22533" name="Object 5"/>
          <p:cNvGraphicFramePr>
            <a:graphicFrameLocks noChangeAspect="1"/>
          </p:cNvGraphicFramePr>
          <p:nvPr>
            <p:extLst>
              <p:ext uri="{D42A27DB-BD31-4B8C-83A1-F6EECF244321}">
                <p14:modId xmlns="" xmlns:p14="http://schemas.microsoft.com/office/powerpoint/2010/main" val="554827974"/>
              </p:ext>
            </p:extLst>
          </p:nvPr>
        </p:nvGraphicFramePr>
        <p:xfrm>
          <a:off x="1571604" y="3876683"/>
          <a:ext cx="7500938" cy="695325"/>
        </p:xfrm>
        <a:graphic>
          <a:graphicData uri="http://schemas.openxmlformats.org/presentationml/2006/ole">
            <p:oleObj spid="_x0000_s22553" name="Documento" r:id="rId7" imgW="5402470" imgH="503246" progId="Word.Document.12">
              <p:embed/>
            </p:oleObj>
          </a:graphicData>
        </a:graphic>
      </p:graphicFrame>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57200" y="1357298"/>
            <a:ext cx="8229600" cy="4768865"/>
          </a:xfrm>
          <a:ln w="28575">
            <a:solidFill>
              <a:schemeClr val="accent1">
                <a:lumMod val="75000"/>
              </a:schemeClr>
            </a:solidFill>
          </a:ln>
        </p:spPr>
        <p:txBody>
          <a:bodyPr>
            <a:normAutofit/>
          </a:bodyPr>
          <a:lstStyle/>
          <a:p>
            <a:pPr>
              <a:buNone/>
            </a:pPr>
            <a:r>
              <a:rPr lang="es-ES_tradnl" sz="2500" dirty="0" smtClean="0"/>
              <a:t>Dado que:</a:t>
            </a:r>
          </a:p>
          <a:p>
            <a:pPr>
              <a:buNone/>
            </a:pPr>
            <a:r>
              <a:rPr lang="es-ES_tradnl" sz="2500" dirty="0" smtClean="0"/>
              <a:t>	Tiene observaciones 2 </a:t>
            </a:r>
          </a:p>
          <a:p>
            <a:pPr>
              <a:buNone/>
            </a:pPr>
            <a:r>
              <a:rPr lang="es-ES_tradnl" sz="2500" dirty="0" smtClean="0"/>
              <a:t>	de la </a:t>
            </a:r>
            <a:r>
              <a:rPr lang="es-ES_tradnl" sz="2500" u="sng" dirty="0" smtClean="0"/>
              <a:t>talla para la edad</a:t>
            </a:r>
          </a:p>
          <a:p>
            <a:pPr>
              <a:buNone/>
            </a:pPr>
            <a:r>
              <a:rPr lang="es-ES_tradnl" sz="2500" dirty="0" smtClean="0"/>
              <a:t>	del mismo individuo.</a:t>
            </a:r>
          </a:p>
          <a:p>
            <a:pPr>
              <a:buNone/>
            </a:pPr>
            <a:r>
              <a:rPr lang="es-ES_tradnl" sz="2500" dirty="0" smtClean="0"/>
              <a:t>	</a:t>
            </a:r>
            <a:endParaRPr lang="es-ES" sz="2500" dirty="0"/>
          </a:p>
        </p:txBody>
      </p:sp>
      <p:pic>
        <p:nvPicPr>
          <p:cNvPr id="4" name="Picture 1"/>
          <p:cNvPicPr>
            <a:picLocks noChangeAspect="1" noChangeArrowheads="1"/>
          </p:cNvPicPr>
          <p:nvPr/>
        </p:nvPicPr>
        <p:blipFill>
          <a:blip r:embed="rId3" cstate="print"/>
          <a:srcRect/>
          <a:stretch>
            <a:fillRect/>
          </a:stretch>
        </p:blipFill>
        <p:spPr bwMode="auto">
          <a:xfrm>
            <a:off x="0" y="-24"/>
            <a:ext cx="2500298" cy="1189301"/>
          </a:xfrm>
          <a:prstGeom prst="rect">
            <a:avLst/>
          </a:prstGeom>
          <a:noFill/>
          <a:ln w="9525">
            <a:noFill/>
            <a:miter lim="800000"/>
            <a:headEnd/>
            <a:tailEnd/>
          </a:ln>
          <a:effectLst/>
        </p:spPr>
      </p:pic>
      <p:sp>
        <p:nvSpPr>
          <p:cNvPr id="5" name="1 Título"/>
          <p:cNvSpPr>
            <a:spLocks noGrp="1"/>
          </p:cNvSpPr>
          <p:nvPr>
            <p:ph type="title"/>
          </p:nvPr>
        </p:nvSpPr>
        <p:spPr>
          <a:xfrm>
            <a:off x="2357422" y="274637"/>
            <a:ext cx="6329378" cy="1082661"/>
          </a:xfrm>
        </p:spPr>
        <p:txBody>
          <a:bodyPr>
            <a:noAutofit/>
          </a:bodyPr>
          <a:lstStyle/>
          <a:p>
            <a:r>
              <a:rPr lang="es-ES_tradnl" sz="4200" u="sng" dirty="0" smtClean="0"/>
              <a:t>Ejemplo: </a:t>
            </a:r>
            <a:r>
              <a:rPr lang="es-ES_tradnl" sz="4200" i="1" u="sng" dirty="0" smtClean="0"/>
              <a:t>Canasta</a:t>
            </a:r>
            <a:endParaRPr lang="es-ES" sz="4200" u="sng" dirty="0"/>
          </a:p>
        </p:txBody>
      </p:sp>
      <p:sp>
        <p:nvSpPr>
          <p:cNvPr id="6" name="5 Abrir llave"/>
          <p:cNvSpPr/>
          <p:nvPr/>
        </p:nvSpPr>
        <p:spPr>
          <a:xfrm>
            <a:off x="3929058" y="1928802"/>
            <a:ext cx="214314" cy="1285884"/>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
          </a:p>
        </p:txBody>
      </p:sp>
      <p:sp>
        <p:nvSpPr>
          <p:cNvPr id="7" name="6 CuadroTexto"/>
          <p:cNvSpPr txBox="1"/>
          <p:nvPr/>
        </p:nvSpPr>
        <p:spPr>
          <a:xfrm>
            <a:off x="4143372" y="2138598"/>
            <a:ext cx="4429156" cy="861774"/>
          </a:xfrm>
          <a:prstGeom prst="rect">
            <a:avLst/>
          </a:prstGeom>
          <a:noFill/>
        </p:spPr>
        <p:txBody>
          <a:bodyPr wrap="square" rtlCol="0">
            <a:spAutoFit/>
          </a:bodyPr>
          <a:lstStyle/>
          <a:p>
            <a:r>
              <a:rPr lang="es-ES_tradnl" sz="2500" dirty="0" smtClean="0"/>
              <a:t>Antes de la intervención del programa y después  de ésta</a:t>
            </a:r>
            <a:endParaRPr lang="es-ES" sz="2500" dirty="0"/>
          </a:p>
        </p:txBody>
      </p:sp>
      <p:sp>
        <p:nvSpPr>
          <p:cNvPr id="1026"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1027" name="Rectangle 3"/>
          <p:cNvSpPr>
            <a:spLocks noChangeArrowheads="1"/>
          </p:cNvSpPr>
          <p:nvPr/>
        </p:nvSpPr>
        <p:spPr bwMode="auto">
          <a:xfrm>
            <a:off x="0" y="78105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800" b="0" i="0" u="none" strike="noStrike" cap="none" normalizeH="0" baseline="0" smtClean="0">
              <a:ln>
                <a:noFill/>
              </a:ln>
              <a:solidFill>
                <a:schemeClr val="tx1"/>
              </a:solidFill>
              <a:effectLst/>
              <a:latin typeface="Arial" pitchFamily="34" charset="0"/>
            </a:endParaRPr>
          </a:p>
        </p:txBody>
      </p:sp>
      <p:sp>
        <p:nvSpPr>
          <p:cNvPr id="16386"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16387" name="Rectangle 3"/>
          <p:cNvSpPr>
            <a:spLocks noChangeArrowheads="1"/>
          </p:cNvSpPr>
          <p:nvPr/>
        </p:nvSpPr>
        <p:spPr bwMode="auto">
          <a:xfrm>
            <a:off x="0" y="8382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800" b="0" i="0" u="none" strike="noStrike" cap="none" normalizeH="0" baseline="0" smtClean="0">
              <a:ln>
                <a:noFill/>
              </a:ln>
              <a:solidFill>
                <a:schemeClr val="tx1"/>
              </a:solidFill>
              <a:effectLst/>
              <a:latin typeface="Arial" pitchFamily="34" charset="0"/>
            </a:endParaRPr>
          </a:p>
        </p:txBody>
      </p:sp>
      <p:sp>
        <p:nvSpPr>
          <p:cNvPr id="16389"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16391" name="Rectangle 7"/>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16393" name="Rectangle 9"/>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cxnSp>
        <p:nvCxnSpPr>
          <p:cNvPr id="21" name="20 Conector recto de flecha"/>
          <p:cNvCxnSpPr/>
          <p:nvPr/>
        </p:nvCxnSpPr>
        <p:spPr>
          <a:xfrm>
            <a:off x="1714480" y="4713296"/>
            <a:ext cx="571504"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4" name="23 CuadroTexto"/>
          <p:cNvSpPr txBox="1"/>
          <p:nvPr/>
        </p:nvSpPr>
        <p:spPr>
          <a:xfrm>
            <a:off x="2357423" y="4468521"/>
            <a:ext cx="6000792" cy="1246495"/>
          </a:xfrm>
          <a:prstGeom prst="rect">
            <a:avLst/>
          </a:prstGeom>
          <a:noFill/>
        </p:spPr>
        <p:txBody>
          <a:bodyPr wrap="square" rtlCol="0">
            <a:spAutoFit/>
          </a:bodyPr>
          <a:lstStyle/>
          <a:p>
            <a:r>
              <a:rPr lang="es-CO" sz="2500" dirty="0" smtClean="0"/>
              <a:t>Diferencia de la talla para la edad para cada individuo del grupo de control y el de tratamiento.</a:t>
            </a:r>
            <a:endParaRPr lang="es-ES" sz="2500" dirty="0"/>
          </a:p>
        </p:txBody>
      </p:sp>
      <p:sp>
        <p:nvSpPr>
          <p:cNvPr id="28" name="27 Rectángulo"/>
          <p:cNvSpPr/>
          <p:nvPr/>
        </p:nvSpPr>
        <p:spPr>
          <a:xfrm>
            <a:off x="0" y="6534859"/>
            <a:ext cx="9144000" cy="323141"/>
          </a:xfrm>
          <a:prstGeom prst="rect">
            <a:avLst/>
          </a:prstGeom>
        </p:spPr>
        <p:txBody>
          <a:bodyPr wrap="square">
            <a:spAutoFit/>
          </a:bodyPr>
          <a:lstStyle/>
          <a:p>
            <a:pPr algn="ctr"/>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6: Emparejamiento /  53</a:t>
            </a:r>
            <a:endParaRPr lang="es-ES" sz="1500" dirty="0">
              <a:solidFill>
                <a:schemeClr val="tx1">
                  <a:lumMod val="50000"/>
                  <a:lumOff val="50000"/>
                </a:schemeClr>
              </a:solidFill>
            </a:endParaRPr>
          </a:p>
        </p:txBody>
      </p:sp>
      <p:sp>
        <p:nvSpPr>
          <p:cNvPr id="23554"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23555" name="Rectangle 3"/>
          <p:cNvSpPr>
            <a:spLocks noChangeArrowheads="1"/>
          </p:cNvSpPr>
          <p:nvPr/>
        </p:nvSpPr>
        <p:spPr bwMode="auto">
          <a:xfrm>
            <a:off x="0" y="8763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800" b="0" i="0" u="none" strike="noStrike" cap="none" normalizeH="0" baseline="0" smtClean="0">
              <a:ln>
                <a:noFill/>
              </a:ln>
              <a:solidFill>
                <a:schemeClr val="tx1"/>
              </a:solidFill>
              <a:effectLst/>
              <a:latin typeface="Arial" pitchFamily="34" charset="0"/>
            </a:endParaRPr>
          </a:p>
        </p:txBody>
      </p:sp>
      <p:graphicFrame>
        <p:nvGraphicFramePr>
          <p:cNvPr id="90114" name="Object 2"/>
          <p:cNvGraphicFramePr>
            <a:graphicFrameLocks noChangeAspect="1"/>
          </p:cNvGraphicFramePr>
          <p:nvPr>
            <p:extLst>
              <p:ext uri="{D42A27DB-BD31-4B8C-83A1-F6EECF244321}">
                <p14:modId xmlns="" xmlns:p14="http://schemas.microsoft.com/office/powerpoint/2010/main" val="4043828555"/>
              </p:ext>
            </p:extLst>
          </p:nvPr>
        </p:nvGraphicFramePr>
        <p:xfrm>
          <a:off x="714348" y="3486153"/>
          <a:ext cx="7234889" cy="800103"/>
        </p:xfrm>
        <a:graphic>
          <a:graphicData uri="http://schemas.openxmlformats.org/presentationml/2006/ole">
            <p:oleObj spid="_x0000_s90124" name="Documento" r:id="rId4" imgW="5402470" imgH="597425" progId="Word.Document.12">
              <p:embed/>
            </p:oleObj>
          </a:graphicData>
        </a:graphic>
      </p:graphicFrame>
      <p:graphicFrame>
        <p:nvGraphicFramePr>
          <p:cNvPr id="90115" name="Object 3"/>
          <p:cNvGraphicFramePr>
            <a:graphicFrameLocks noChangeAspect="1"/>
          </p:cNvGraphicFramePr>
          <p:nvPr>
            <p:extLst>
              <p:ext uri="{D42A27DB-BD31-4B8C-83A1-F6EECF244321}">
                <p14:modId xmlns="" xmlns:p14="http://schemas.microsoft.com/office/powerpoint/2010/main" val="500932893"/>
              </p:ext>
            </p:extLst>
          </p:nvPr>
        </p:nvGraphicFramePr>
        <p:xfrm>
          <a:off x="-1643106" y="4429132"/>
          <a:ext cx="6107593" cy="627063"/>
        </p:xfrm>
        <a:graphic>
          <a:graphicData uri="http://schemas.openxmlformats.org/presentationml/2006/ole">
            <p:oleObj spid="_x0000_s90125" name="Documento" r:id="rId5" imgW="5402470" imgH="554649" progId="Word.Document.12">
              <p:embed/>
            </p:oleObj>
          </a:graphicData>
        </a:graphic>
      </p:graphicFrame>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57200" y="1500174"/>
            <a:ext cx="8229600" cy="4625989"/>
          </a:xfrm>
          <a:ln w="28575">
            <a:solidFill>
              <a:schemeClr val="accent1">
                <a:lumMod val="75000"/>
              </a:schemeClr>
            </a:solidFill>
          </a:ln>
        </p:spPr>
        <p:txBody>
          <a:bodyPr>
            <a:normAutofit/>
          </a:bodyPr>
          <a:lstStyle/>
          <a:p>
            <a:pPr>
              <a:buNone/>
            </a:pPr>
            <a:endParaRPr lang="es-CO" sz="2500" dirty="0" smtClean="0"/>
          </a:p>
          <a:p>
            <a:pPr>
              <a:buNone/>
            </a:pPr>
            <a:endParaRPr lang="es-ES" sz="2500" dirty="0"/>
          </a:p>
        </p:txBody>
      </p:sp>
      <p:sp>
        <p:nvSpPr>
          <p:cNvPr id="4" name="1 Título"/>
          <p:cNvSpPr txBox="1">
            <a:spLocks/>
          </p:cNvSpPr>
          <p:nvPr/>
        </p:nvSpPr>
        <p:spPr>
          <a:xfrm>
            <a:off x="2357422" y="274637"/>
            <a:ext cx="6329378" cy="1082661"/>
          </a:xfrm>
          <a:prstGeom prst="rect">
            <a:avLst/>
          </a:prstGeom>
        </p:spPr>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s-ES_tradnl" sz="4200" b="0" i="0" u="sng" strike="noStrike" kern="1200" cap="none" spc="0" normalizeH="0" baseline="0" noProof="0" dirty="0" smtClean="0">
                <a:ln>
                  <a:noFill/>
                </a:ln>
                <a:solidFill>
                  <a:schemeClr val="tx1"/>
                </a:solidFill>
                <a:effectLst/>
                <a:uLnTx/>
                <a:uFillTx/>
                <a:latin typeface="+mj-lt"/>
                <a:ea typeface="+mj-ea"/>
                <a:cs typeface="+mj-cs"/>
              </a:rPr>
              <a:t>Ejemplo: </a:t>
            </a:r>
            <a:r>
              <a:rPr kumimoji="0" lang="es-ES_tradnl" sz="4200" b="0" i="1" u="sng" strike="noStrike" kern="1200" cap="none" spc="0" normalizeH="0" baseline="0" noProof="0" dirty="0" smtClean="0">
                <a:ln>
                  <a:noFill/>
                </a:ln>
                <a:solidFill>
                  <a:schemeClr val="tx1"/>
                </a:solidFill>
                <a:effectLst/>
                <a:uLnTx/>
                <a:uFillTx/>
                <a:latin typeface="+mj-lt"/>
                <a:ea typeface="+mj-ea"/>
                <a:cs typeface="+mj-cs"/>
              </a:rPr>
              <a:t>Canasta</a:t>
            </a:r>
            <a:endParaRPr kumimoji="0" lang="es-ES" sz="4200" b="0" i="0" u="sng" strike="noStrike" kern="1200" cap="none" spc="0" normalizeH="0" baseline="0" noProof="0" dirty="0">
              <a:ln>
                <a:noFill/>
              </a:ln>
              <a:solidFill>
                <a:schemeClr val="tx1"/>
              </a:solidFill>
              <a:effectLst/>
              <a:uLnTx/>
              <a:uFillTx/>
              <a:latin typeface="+mj-lt"/>
              <a:ea typeface="+mj-ea"/>
              <a:cs typeface="+mj-cs"/>
            </a:endParaRPr>
          </a:p>
        </p:txBody>
      </p:sp>
      <p:pic>
        <p:nvPicPr>
          <p:cNvPr id="5" name="Picture 1"/>
          <p:cNvPicPr>
            <a:picLocks noChangeAspect="1" noChangeArrowheads="1"/>
          </p:cNvPicPr>
          <p:nvPr/>
        </p:nvPicPr>
        <p:blipFill>
          <a:blip r:embed="rId3" cstate="print"/>
          <a:srcRect/>
          <a:stretch>
            <a:fillRect/>
          </a:stretch>
        </p:blipFill>
        <p:spPr bwMode="auto">
          <a:xfrm>
            <a:off x="0" y="-24"/>
            <a:ext cx="2500298" cy="1189301"/>
          </a:xfrm>
          <a:prstGeom prst="rect">
            <a:avLst/>
          </a:prstGeom>
          <a:noFill/>
          <a:ln w="9525">
            <a:noFill/>
            <a:miter lim="800000"/>
            <a:headEnd/>
            <a:tailEnd/>
          </a:ln>
          <a:effectLst/>
        </p:spPr>
      </p:pic>
      <p:sp>
        <p:nvSpPr>
          <p:cNvPr id="6" name="5 CuadroTexto"/>
          <p:cNvSpPr txBox="1"/>
          <p:nvPr/>
        </p:nvSpPr>
        <p:spPr>
          <a:xfrm>
            <a:off x="500034" y="1500174"/>
            <a:ext cx="8215370" cy="861774"/>
          </a:xfrm>
          <a:prstGeom prst="rect">
            <a:avLst/>
          </a:prstGeom>
          <a:noFill/>
        </p:spPr>
        <p:txBody>
          <a:bodyPr wrap="square" rtlCol="0">
            <a:spAutoFit/>
          </a:bodyPr>
          <a:lstStyle/>
          <a:p>
            <a:r>
              <a:rPr lang="es-CO" sz="2500" dirty="0" smtClean="0"/>
              <a:t>Cálculo de la </a:t>
            </a:r>
            <a:r>
              <a:rPr lang="es-CO" sz="2500" u="sng" dirty="0" smtClean="0"/>
              <a:t>probabilidad de participación,</a:t>
            </a:r>
            <a:r>
              <a:rPr lang="es-CO" sz="2500" dirty="0" smtClean="0"/>
              <a:t> dadas las características de los individuos: </a:t>
            </a:r>
            <a:endParaRPr lang="es-ES" sz="2500" dirty="0"/>
          </a:p>
        </p:txBody>
      </p:sp>
      <p:sp>
        <p:nvSpPr>
          <p:cNvPr id="105474"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105475" name="Rectangle 3"/>
          <p:cNvSpPr>
            <a:spLocks noChangeArrowheads="1"/>
          </p:cNvSpPr>
          <p:nvPr/>
        </p:nvSpPr>
        <p:spPr bwMode="auto">
          <a:xfrm>
            <a:off x="0" y="8382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800" b="0" i="0" u="none" strike="noStrike" cap="none" normalizeH="0" baseline="0" smtClean="0">
              <a:ln>
                <a:noFill/>
              </a:ln>
              <a:solidFill>
                <a:schemeClr val="tx1"/>
              </a:solidFill>
              <a:effectLst/>
              <a:latin typeface="Arial" pitchFamily="34" charset="0"/>
            </a:endParaRPr>
          </a:p>
        </p:txBody>
      </p:sp>
      <p:sp>
        <p:nvSpPr>
          <p:cNvPr id="14" name="13 CuadroTexto"/>
          <p:cNvSpPr txBox="1"/>
          <p:nvPr/>
        </p:nvSpPr>
        <p:spPr>
          <a:xfrm>
            <a:off x="571472" y="2880508"/>
            <a:ext cx="1133644" cy="477054"/>
          </a:xfrm>
          <a:prstGeom prst="rect">
            <a:avLst/>
          </a:prstGeom>
          <a:noFill/>
        </p:spPr>
        <p:txBody>
          <a:bodyPr wrap="none" rtlCol="0">
            <a:spAutoFit/>
          </a:bodyPr>
          <a:lstStyle/>
          <a:p>
            <a:r>
              <a:rPr lang="es-ES_tradnl" sz="2500" dirty="0" smtClean="0"/>
              <a:t>Donde:</a:t>
            </a:r>
            <a:endParaRPr lang="es-ES" sz="2500" dirty="0"/>
          </a:p>
        </p:txBody>
      </p:sp>
      <p:sp>
        <p:nvSpPr>
          <p:cNvPr id="105477" name="Rectangle 5"/>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105478" name="Rectangle 6"/>
          <p:cNvSpPr>
            <a:spLocks noChangeArrowheads="1"/>
          </p:cNvSpPr>
          <p:nvPr/>
        </p:nvSpPr>
        <p:spPr bwMode="auto">
          <a:xfrm>
            <a:off x="0" y="8382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800" b="0" i="0" u="none" strike="noStrike" cap="none" normalizeH="0" baseline="0" smtClean="0">
              <a:ln>
                <a:noFill/>
              </a:ln>
              <a:solidFill>
                <a:schemeClr val="tx1"/>
              </a:solidFill>
              <a:effectLst/>
              <a:latin typeface="Arial" pitchFamily="34" charset="0"/>
            </a:endParaRPr>
          </a:p>
        </p:txBody>
      </p:sp>
      <p:sp>
        <p:nvSpPr>
          <p:cNvPr id="19" name="18 Abrir llave"/>
          <p:cNvSpPr/>
          <p:nvPr/>
        </p:nvSpPr>
        <p:spPr>
          <a:xfrm>
            <a:off x="1428728" y="3500438"/>
            <a:ext cx="142876" cy="928694"/>
          </a:xfrm>
          <a:prstGeom prst="leftBrace">
            <a:avLst/>
          </a:prstGeom>
          <a:solidFill>
            <a:schemeClr val="bg1"/>
          </a:solidFill>
          <a:ln w="28575">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
          </a:p>
        </p:txBody>
      </p:sp>
      <p:sp>
        <p:nvSpPr>
          <p:cNvPr id="20" name="19 CuadroTexto"/>
          <p:cNvSpPr txBox="1"/>
          <p:nvPr/>
        </p:nvSpPr>
        <p:spPr>
          <a:xfrm>
            <a:off x="1785918" y="3523450"/>
            <a:ext cx="2943626" cy="477054"/>
          </a:xfrm>
          <a:prstGeom prst="rect">
            <a:avLst/>
          </a:prstGeom>
          <a:noFill/>
        </p:spPr>
        <p:txBody>
          <a:bodyPr wrap="none" rtlCol="0">
            <a:spAutoFit/>
          </a:bodyPr>
          <a:lstStyle/>
          <a:p>
            <a:r>
              <a:rPr lang="es-CO" sz="2500" dirty="0" smtClean="0"/>
              <a:t>1       con tratamiento</a:t>
            </a:r>
            <a:endParaRPr lang="es-ES" sz="2500" dirty="0"/>
          </a:p>
        </p:txBody>
      </p:sp>
      <p:sp>
        <p:nvSpPr>
          <p:cNvPr id="21" name="20 CuadroTexto"/>
          <p:cNvSpPr txBox="1"/>
          <p:nvPr/>
        </p:nvSpPr>
        <p:spPr>
          <a:xfrm>
            <a:off x="1788289" y="3952078"/>
            <a:ext cx="2754857" cy="477054"/>
          </a:xfrm>
          <a:prstGeom prst="rect">
            <a:avLst/>
          </a:prstGeom>
          <a:noFill/>
        </p:spPr>
        <p:txBody>
          <a:bodyPr wrap="none" rtlCol="0">
            <a:spAutoFit/>
          </a:bodyPr>
          <a:lstStyle/>
          <a:p>
            <a:r>
              <a:rPr lang="es-CO" sz="2500" dirty="0" smtClean="0"/>
              <a:t>0       de lo contrario</a:t>
            </a:r>
            <a:endParaRPr lang="es-ES" sz="2500" dirty="0"/>
          </a:p>
        </p:txBody>
      </p:sp>
      <p:sp>
        <p:nvSpPr>
          <p:cNvPr id="105480" name="Rectangle 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cxnSp>
        <p:nvCxnSpPr>
          <p:cNvPr id="25" name="24 Conector recto de flecha"/>
          <p:cNvCxnSpPr/>
          <p:nvPr/>
        </p:nvCxnSpPr>
        <p:spPr>
          <a:xfrm>
            <a:off x="1285852" y="5213362"/>
            <a:ext cx="642942"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7" name="26 CuadroTexto"/>
          <p:cNvSpPr txBox="1"/>
          <p:nvPr/>
        </p:nvSpPr>
        <p:spPr>
          <a:xfrm>
            <a:off x="1974183" y="4786322"/>
            <a:ext cx="6598345" cy="861774"/>
          </a:xfrm>
          <a:prstGeom prst="rect">
            <a:avLst/>
          </a:prstGeom>
          <a:noFill/>
        </p:spPr>
        <p:txBody>
          <a:bodyPr wrap="none" rtlCol="0">
            <a:spAutoFit/>
          </a:bodyPr>
          <a:lstStyle/>
          <a:p>
            <a:r>
              <a:rPr lang="es-CO" sz="2500" dirty="0" smtClean="0"/>
              <a:t>Ingreso de jefe de hogar, número de personas en </a:t>
            </a:r>
          </a:p>
          <a:p>
            <a:r>
              <a:rPr lang="es-CO" sz="2500" dirty="0" smtClean="0"/>
              <a:t>el hogar,  educación del jefe de hogar.</a:t>
            </a:r>
            <a:endParaRPr lang="es-ES" sz="2500" dirty="0"/>
          </a:p>
        </p:txBody>
      </p:sp>
      <p:sp>
        <p:nvSpPr>
          <p:cNvPr id="105482" name="Rectangle 10"/>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105483" name="Rectangle 11"/>
          <p:cNvSpPr>
            <a:spLocks noChangeArrowheads="1"/>
          </p:cNvSpPr>
          <p:nvPr/>
        </p:nvSpPr>
        <p:spPr bwMode="auto">
          <a:xfrm>
            <a:off x="0" y="8382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800" b="0" i="0" u="none" strike="noStrike" cap="none" normalizeH="0" baseline="0" smtClean="0">
              <a:ln>
                <a:noFill/>
              </a:ln>
              <a:solidFill>
                <a:schemeClr val="tx1"/>
              </a:solidFill>
              <a:effectLst/>
              <a:latin typeface="Arial" pitchFamily="34" charset="0"/>
            </a:endParaRPr>
          </a:p>
        </p:txBody>
      </p:sp>
      <p:sp>
        <p:nvSpPr>
          <p:cNvPr id="105485" name="Rectangle 13"/>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105487" name="Rectangle 1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36" name="35 Rectángulo"/>
          <p:cNvSpPr/>
          <p:nvPr/>
        </p:nvSpPr>
        <p:spPr>
          <a:xfrm>
            <a:off x="0" y="6534859"/>
            <a:ext cx="9144000" cy="323141"/>
          </a:xfrm>
          <a:prstGeom prst="rect">
            <a:avLst/>
          </a:prstGeom>
        </p:spPr>
        <p:txBody>
          <a:bodyPr wrap="square">
            <a:spAutoFit/>
          </a:bodyPr>
          <a:lstStyle/>
          <a:p>
            <a:pPr algn="ctr"/>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6: Emparejamiento /  54</a:t>
            </a:r>
            <a:endParaRPr lang="es-ES" sz="1500" dirty="0">
              <a:solidFill>
                <a:schemeClr val="tx1">
                  <a:lumMod val="50000"/>
                  <a:lumOff val="50000"/>
                </a:schemeClr>
              </a:solidFill>
            </a:endParaRPr>
          </a:p>
        </p:txBody>
      </p:sp>
      <p:graphicFrame>
        <p:nvGraphicFramePr>
          <p:cNvPr id="91138" name="Object 2"/>
          <p:cNvGraphicFramePr>
            <a:graphicFrameLocks noChangeAspect="1"/>
          </p:cNvGraphicFramePr>
          <p:nvPr>
            <p:extLst>
              <p:ext uri="{D42A27DB-BD31-4B8C-83A1-F6EECF244321}">
                <p14:modId xmlns="" xmlns:p14="http://schemas.microsoft.com/office/powerpoint/2010/main" val="4242192861"/>
              </p:ext>
            </p:extLst>
          </p:nvPr>
        </p:nvGraphicFramePr>
        <p:xfrm>
          <a:off x="357158" y="2457325"/>
          <a:ext cx="8072494" cy="828799"/>
        </p:xfrm>
        <a:graphic>
          <a:graphicData uri="http://schemas.openxmlformats.org/presentationml/2006/ole">
            <p:oleObj spid="_x0000_s91153" name="Documento" r:id="rId4" imgW="5402470" imgH="554649" progId="Word.Document.12">
              <p:embed/>
            </p:oleObj>
          </a:graphicData>
        </a:graphic>
      </p:graphicFrame>
      <p:graphicFrame>
        <p:nvGraphicFramePr>
          <p:cNvPr id="91139" name="Object 3"/>
          <p:cNvGraphicFramePr>
            <a:graphicFrameLocks noChangeAspect="1"/>
          </p:cNvGraphicFramePr>
          <p:nvPr>
            <p:extLst>
              <p:ext uri="{D42A27DB-BD31-4B8C-83A1-F6EECF244321}">
                <p14:modId xmlns="" xmlns:p14="http://schemas.microsoft.com/office/powerpoint/2010/main" val="1909514271"/>
              </p:ext>
            </p:extLst>
          </p:nvPr>
        </p:nvGraphicFramePr>
        <p:xfrm>
          <a:off x="-2214610" y="3659193"/>
          <a:ext cx="6642593" cy="698501"/>
        </p:xfrm>
        <a:graphic>
          <a:graphicData uri="http://schemas.openxmlformats.org/presentationml/2006/ole">
            <p:oleObj spid="_x0000_s91154" name="Documento" r:id="rId5" imgW="5402470" imgH="554649" progId="Word.Document.12">
              <p:embed/>
            </p:oleObj>
          </a:graphicData>
        </a:graphic>
      </p:graphicFrame>
      <p:graphicFrame>
        <p:nvGraphicFramePr>
          <p:cNvPr id="91140" name="Object 4"/>
          <p:cNvGraphicFramePr>
            <a:graphicFrameLocks noChangeAspect="1"/>
          </p:cNvGraphicFramePr>
          <p:nvPr>
            <p:extLst>
              <p:ext uri="{D42A27DB-BD31-4B8C-83A1-F6EECF244321}">
                <p14:modId xmlns="" xmlns:p14="http://schemas.microsoft.com/office/powerpoint/2010/main" val="4173348984"/>
              </p:ext>
            </p:extLst>
          </p:nvPr>
        </p:nvGraphicFramePr>
        <p:xfrm>
          <a:off x="-2357486" y="4929198"/>
          <a:ext cx="6958061" cy="714380"/>
        </p:xfrm>
        <a:graphic>
          <a:graphicData uri="http://schemas.openxmlformats.org/presentationml/2006/ole">
            <p:oleObj spid="_x0000_s91155" name="Documento" r:id="rId6" imgW="5402470" imgH="554649" progId="Word.Document.12">
              <p:embed/>
            </p:oleObj>
          </a:graphicData>
        </a:graphic>
      </p:graphicFrame>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57200" y="1714488"/>
            <a:ext cx="8229600" cy="4572032"/>
          </a:xfrm>
          <a:ln w="28575">
            <a:solidFill>
              <a:schemeClr val="accent1">
                <a:lumMod val="75000"/>
              </a:schemeClr>
            </a:solidFill>
          </a:ln>
        </p:spPr>
        <p:txBody>
          <a:bodyPr>
            <a:normAutofit/>
          </a:bodyPr>
          <a:lstStyle/>
          <a:p>
            <a:pPr algn="ctr">
              <a:buNone/>
            </a:pPr>
            <a:r>
              <a:rPr lang="es-CO" sz="2500" dirty="0" smtClean="0"/>
              <a:t>	Se emparejan los individuos del grupo de tratamiento con aquellos del grupo de control que tengan una probabilidad de participación igual o parecida.</a:t>
            </a:r>
            <a:endParaRPr lang="es-ES" sz="2500" dirty="0"/>
          </a:p>
        </p:txBody>
      </p:sp>
      <p:sp>
        <p:nvSpPr>
          <p:cNvPr id="4" name="3 Flecha abajo"/>
          <p:cNvSpPr/>
          <p:nvPr/>
        </p:nvSpPr>
        <p:spPr>
          <a:xfrm>
            <a:off x="4214810" y="3286124"/>
            <a:ext cx="714380" cy="428628"/>
          </a:xfrm>
          <a:prstGeom prst="downArrow">
            <a:avLst/>
          </a:prstGeom>
          <a:no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5" name="Picture 1"/>
          <p:cNvPicPr>
            <a:picLocks noChangeAspect="1" noChangeArrowheads="1"/>
          </p:cNvPicPr>
          <p:nvPr/>
        </p:nvPicPr>
        <p:blipFill>
          <a:blip r:embed="rId2" cstate="print"/>
          <a:srcRect/>
          <a:stretch>
            <a:fillRect/>
          </a:stretch>
        </p:blipFill>
        <p:spPr bwMode="auto">
          <a:xfrm>
            <a:off x="0" y="-24"/>
            <a:ext cx="2500298" cy="1189301"/>
          </a:xfrm>
          <a:prstGeom prst="rect">
            <a:avLst/>
          </a:prstGeom>
          <a:noFill/>
          <a:ln w="9525">
            <a:noFill/>
            <a:miter lim="800000"/>
            <a:headEnd/>
            <a:tailEnd/>
          </a:ln>
          <a:effectLst/>
        </p:spPr>
      </p:pic>
      <p:sp>
        <p:nvSpPr>
          <p:cNvPr id="6" name="1 Título"/>
          <p:cNvSpPr txBox="1">
            <a:spLocks/>
          </p:cNvSpPr>
          <p:nvPr/>
        </p:nvSpPr>
        <p:spPr>
          <a:xfrm>
            <a:off x="2357422" y="274637"/>
            <a:ext cx="6329378" cy="1082661"/>
          </a:xfrm>
          <a:prstGeom prst="rect">
            <a:avLst/>
          </a:prstGeom>
        </p:spPr>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s-ES_tradnl" sz="4200" b="0" i="0" u="sng" strike="noStrike" kern="1200" cap="none" spc="0" normalizeH="0" baseline="0" noProof="0" dirty="0" smtClean="0">
                <a:ln>
                  <a:noFill/>
                </a:ln>
                <a:solidFill>
                  <a:schemeClr val="tx1"/>
                </a:solidFill>
                <a:effectLst/>
                <a:uLnTx/>
                <a:uFillTx/>
                <a:latin typeface="+mj-lt"/>
                <a:ea typeface="+mj-ea"/>
                <a:cs typeface="+mj-cs"/>
              </a:rPr>
              <a:t>Ejemplo: </a:t>
            </a:r>
            <a:r>
              <a:rPr kumimoji="0" lang="es-ES_tradnl" sz="4200" b="0" i="1" u="sng" strike="noStrike" kern="1200" cap="none" spc="0" normalizeH="0" baseline="0" noProof="0" dirty="0" smtClean="0">
                <a:ln>
                  <a:noFill/>
                </a:ln>
                <a:solidFill>
                  <a:schemeClr val="tx1"/>
                </a:solidFill>
                <a:effectLst/>
                <a:uLnTx/>
                <a:uFillTx/>
                <a:latin typeface="+mj-lt"/>
                <a:ea typeface="+mj-ea"/>
                <a:cs typeface="+mj-cs"/>
              </a:rPr>
              <a:t>Canasta</a:t>
            </a:r>
            <a:endParaRPr kumimoji="0" lang="es-ES" sz="4200" b="0" i="0" u="sng" strike="noStrike" kern="1200" cap="none" spc="0" normalizeH="0" baseline="0" noProof="0" dirty="0">
              <a:ln>
                <a:noFill/>
              </a:ln>
              <a:solidFill>
                <a:schemeClr val="tx1"/>
              </a:solidFill>
              <a:effectLst/>
              <a:uLnTx/>
              <a:uFillTx/>
              <a:latin typeface="+mj-lt"/>
              <a:ea typeface="+mj-ea"/>
              <a:cs typeface="+mj-cs"/>
            </a:endParaRPr>
          </a:p>
        </p:txBody>
      </p:sp>
      <p:sp>
        <p:nvSpPr>
          <p:cNvPr id="9" name="8 CuadroTexto"/>
          <p:cNvSpPr txBox="1"/>
          <p:nvPr/>
        </p:nvSpPr>
        <p:spPr>
          <a:xfrm>
            <a:off x="714348" y="3857628"/>
            <a:ext cx="7715304" cy="1631216"/>
          </a:xfrm>
          <a:prstGeom prst="rect">
            <a:avLst/>
          </a:prstGeom>
          <a:noFill/>
          <a:ln>
            <a:solidFill>
              <a:schemeClr val="accent1">
                <a:lumMod val="60000"/>
                <a:lumOff val="40000"/>
              </a:schemeClr>
            </a:solidFill>
          </a:ln>
        </p:spPr>
        <p:txBody>
          <a:bodyPr wrap="square" rtlCol="0">
            <a:spAutoFit/>
          </a:bodyPr>
          <a:lstStyle/>
          <a:p>
            <a:pPr algn="ctr"/>
            <a:r>
              <a:rPr lang="es-CO" sz="2500" dirty="0" smtClean="0"/>
              <a:t>En otras palabras, individuos que tengan una probabilidad de participación parecida, calculada sobre:</a:t>
            </a:r>
          </a:p>
          <a:p>
            <a:pPr algn="ctr"/>
            <a:r>
              <a:rPr lang="es-CO" sz="2500" dirty="0" smtClean="0"/>
              <a:t>Ingreso del jefe de hogar, número de personas en </a:t>
            </a:r>
          </a:p>
          <a:p>
            <a:pPr algn="ctr"/>
            <a:r>
              <a:rPr lang="es-CO" sz="2500" dirty="0" smtClean="0"/>
              <a:t>el hogar,  educación del jefe de hogar.</a:t>
            </a:r>
            <a:endParaRPr lang="es-ES" sz="2500" dirty="0"/>
          </a:p>
        </p:txBody>
      </p:sp>
      <p:sp>
        <p:nvSpPr>
          <p:cNvPr id="7" name="6 Rectángulo"/>
          <p:cNvSpPr/>
          <p:nvPr/>
        </p:nvSpPr>
        <p:spPr>
          <a:xfrm>
            <a:off x="0" y="6534859"/>
            <a:ext cx="9144000" cy="323141"/>
          </a:xfrm>
          <a:prstGeom prst="rect">
            <a:avLst/>
          </a:prstGeom>
        </p:spPr>
        <p:txBody>
          <a:bodyPr wrap="square">
            <a:spAutoFit/>
          </a:bodyPr>
          <a:lstStyle/>
          <a:p>
            <a:pPr algn="ctr"/>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6: Emparejamiento /  55</a:t>
            </a:r>
            <a:endParaRPr lang="es-ES" sz="1500" dirty="0">
              <a:solidFill>
                <a:schemeClr val="tx1">
                  <a:lumMod val="50000"/>
                  <a:lumOff val="50000"/>
                </a:schemeClr>
              </a:solidFill>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28596" y="1357298"/>
            <a:ext cx="8258204" cy="5072098"/>
          </a:xfrm>
          <a:ln w="28575">
            <a:solidFill>
              <a:schemeClr val="accent1">
                <a:lumMod val="75000"/>
              </a:schemeClr>
            </a:solidFill>
          </a:ln>
        </p:spPr>
        <p:txBody>
          <a:bodyPr>
            <a:normAutofit/>
          </a:bodyPr>
          <a:lstStyle/>
          <a:p>
            <a:pPr>
              <a:buNone/>
            </a:pPr>
            <a:r>
              <a:rPr lang="es-CO" sz="2500" dirty="0" smtClean="0"/>
              <a:t>	Se calculan las diferencias para los individuos de cada grupo y se emparejan según su probabilidad de participación. </a:t>
            </a:r>
          </a:p>
          <a:p>
            <a:pPr>
              <a:buNone/>
            </a:pPr>
            <a:r>
              <a:rPr lang="es-CO" sz="2500" dirty="0" smtClean="0"/>
              <a:t>	</a:t>
            </a:r>
          </a:p>
          <a:p>
            <a:pPr>
              <a:buNone/>
            </a:pPr>
            <a:endParaRPr lang="es-CO" sz="2500" dirty="0" smtClean="0"/>
          </a:p>
          <a:p>
            <a:pPr>
              <a:buNone/>
            </a:pPr>
            <a:endParaRPr lang="es-CO" sz="2500" dirty="0" smtClean="0"/>
          </a:p>
        </p:txBody>
      </p:sp>
      <p:pic>
        <p:nvPicPr>
          <p:cNvPr id="4" name="Picture 1"/>
          <p:cNvPicPr>
            <a:picLocks noChangeAspect="1" noChangeArrowheads="1"/>
          </p:cNvPicPr>
          <p:nvPr/>
        </p:nvPicPr>
        <p:blipFill>
          <a:blip r:embed="rId3" cstate="print"/>
          <a:srcRect/>
          <a:stretch>
            <a:fillRect/>
          </a:stretch>
        </p:blipFill>
        <p:spPr bwMode="auto">
          <a:xfrm>
            <a:off x="0" y="-24"/>
            <a:ext cx="2500298" cy="1189301"/>
          </a:xfrm>
          <a:prstGeom prst="rect">
            <a:avLst/>
          </a:prstGeom>
          <a:noFill/>
          <a:ln w="9525">
            <a:noFill/>
            <a:miter lim="800000"/>
            <a:headEnd/>
            <a:tailEnd/>
          </a:ln>
          <a:effectLst/>
        </p:spPr>
      </p:pic>
      <p:sp>
        <p:nvSpPr>
          <p:cNvPr id="5" name="1 Título"/>
          <p:cNvSpPr txBox="1">
            <a:spLocks/>
          </p:cNvSpPr>
          <p:nvPr/>
        </p:nvSpPr>
        <p:spPr>
          <a:xfrm>
            <a:off x="2357422" y="274637"/>
            <a:ext cx="6329378" cy="1082661"/>
          </a:xfrm>
          <a:prstGeom prst="rect">
            <a:avLst/>
          </a:prstGeom>
        </p:spPr>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s-ES_tradnl" sz="4200" b="0" i="0" u="none" strike="noStrike" kern="1200" cap="none" spc="0" normalizeH="0" baseline="0" noProof="0" dirty="0" smtClean="0">
                <a:ln>
                  <a:noFill/>
                </a:ln>
                <a:solidFill>
                  <a:schemeClr val="tx1"/>
                </a:solidFill>
                <a:effectLst/>
                <a:uLnTx/>
                <a:uFillTx/>
                <a:latin typeface="+mj-lt"/>
                <a:ea typeface="+mj-ea"/>
                <a:cs typeface="+mj-cs"/>
              </a:rPr>
              <a:t>Ejemplo: </a:t>
            </a:r>
            <a:r>
              <a:rPr kumimoji="0" lang="es-ES_tradnl" sz="4200" b="0" i="1" u="none" strike="noStrike" kern="1200" cap="none" spc="0" normalizeH="0" baseline="0" noProof="0" dirty="0" smtClean="0">
                <a:ln>
                  <a:noFill/>
                </a:ln>
                <a:solidFill>
                  <a:schemeClr val="tx1"/>
                </a:solidFill>
                <a:effectLst/>
                <a:uLnTx/>
                <a:uFillTx/>
                <a:latin typeface="+mj-lt"/>
                <a:ea typeface="+mj-ea"/>
                <a:cs typeface="+mj-cs"/>
              </a:rPr>
              <a:t>Canasta</a:t>
            </a:r>
            <a:endParaRPr kumimoji="0" lang="es-ES" sz="4200" b="0" i="0" u="none" strike="noStrike" kern="1200" cap="none" spc="0" normalizeH="0" baseline="0" noProof="0" dirty="0">
              <a:ln>
                <a:noFill/>
              </a:ln>
              <a:solidFill>
                <a:schemeClr val="tx1"/>
              </a:solidFill>
              <a:effectLst/>
              <a:uLnTx/>
              <a:uFillTx/>
              <a:latin typeface="+mj-lt"/>
              <a:ea typeface="+mj-ea"/>
              <a:cs typeface="+mj-cs"/>
            </a:endParaRPr>
          </a:p>
        </p:txBody>
      </p:sp>
      <p:sp>
        <p:nvSpPr>
          <p:cNvPr id="10" name="9 CuadroTexto"/>
          <p:cNvSpPr txBox="1"/>
          <p:nvPr/>
        </p:nvSpPr>
        <p:spPr>
          <a:xfrm>
            <a:off x="2000232" y="2373807"/>
            <a:ext cx="4572032" cy="769441"/>
          </a:xfrm>
          <a:prstGeom prst="rect">
            <a:avLst/>
          </a:prstGeom>
          <a:noFill/>
          <a:ln>
            <a:solidFill>
              <a:schemeClr val="accent1">
                <a:lumMod val="60000"/>
                <a:lumOff val="40000"/>
              </a:schemeClr>
            </a:solidFill>
          </a:ln>
        </p:spPr>
        <p:txBody>
          <a:bodyPr wrap="square" rtlCol="0">
            <a:spAutoFit/>
          </a:bodyPr>
          <a:lstStyle/>
          <a:p>
            <a:r>
              <a:rPr lang="es-CO" sz="2200" dirty="0" smtClean="0"/>
              <a:t>Diferencia de la talla para la edad del grupo de tratamiento.</a:t>
            </a:r>
            <a:endParaRPr lang="es-ES" sz="2200" dirty="0"/>
          </a:p>
        </p:txBody>
      </p:sp>
      <p:cxnSp>
        <p:nvCxnSpPr>
          <p:cNvPr id="12" name="11 Conector recto de flecha"/>
          <p:cNvCxnSpPr/>
          <p:nvPr/>
        </p:nvCxnSpPr>
        <p:spPr>
          <a:xfrm rot="16200000" flipH="1">
            <a:off x="4342297" y="3127859"/>
            <a:ext cx="245092" cy="357190"/>
          </a:xfrm>
          <a:prstGeom prst="straightConnector1">
            <a:avLst/>
          </a:prstGeom>
          <a:ln>
            <a:solidFill>
              <a:schemeClr val="accent1">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sp>
        <p:nvSpPr>
          <p:cNvPr id="13" name="12 CuadroTexto"/>
          <p:cNvSpPr txBox="1"/>
          <p:nvPr/>
        </p:nvSpPr>
        <p:spPr>
          <a:xfrm>
            <a:off x="714348" y="4945575"/>
            <a:ext cx="4572032" cy="769441"/>
          </a:xfrm>
          <a:prstGeom prst="rect">
            <a:avLst/>
          </a:prstGeom>
          <a:noFill/>
          <a:ln>
            <a:solidFill>
              <a:schemeClr val="accent1">
                <a:lumMod val="60000"/>
                <a:lumOff val="40000"/>
              </a:schemeClr>
            </a:solidFill>
          </a:ln>
        </p:spPr>
        <p:txBody>
          <a:bodyPr wrap="square" rtlCol="0">
            <a:spAutoFit/>
          </a:bodyPr>
          <a:lstStyle/>
          <a:p>
            <a:r>
              <a:rPr lang="es-CO" sz="2200" dirty="0" smtClean="0"/>
              <a:t>Diferencia de la talla para la edad del grupo de control.</a:t>
            </a:r>
            <a:endParaRPr lang="es-ES" sz="2200" dirty="0"/>
          </a:p>
        </p:txBody>
      </p:sp>
      <p:cxnSp>
        <p:nvCxnSpPr>
          <p:cNvPr id="15" name="14 Conector recto de flecha"/>
          <p:cNvCxnSpPr/>
          <p:nvPr/>
        </p:nvCxnSpPr>
        <p:spPr>
          <a:xfrm flipV="1">
            <a:off x="3500430" y="4643446"/>
            <a:ext cx="571504" cy="214314"/>
          </a:xfrm>
          <a:prstGeom prst="straightConnector1">
            <a:avLst/>
          </a:prstGeom>
          <a:ln>
            <a:solidFill>
              <a:schemeClr val="accent1">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7" name="16 Conector recto de flecha"/>
          <p:cNvCxnSpPr/>
          <p:nvPr/>
        </p:nvCxnSpPr>
        <p:spPr>
          <a:xfrm>
            <a:off x="7000892" y="4643446"/>
            <a:ext cx="214314" cy="71438"/>
          </a:xfrm>
          <a:prstGeom prst="straightConnector1">
            <a:avLst/>
          </a:prstGeom>
          <a:ln>
            <a:solidFill>
              <a:schemeClr val="accent1">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9" name="18 Conector recto de flecha"/>
          <p:cNvCxnSpPr/>
          <p:nvPr/>
        </p:nvCxnSpPr>
        <p:spPr>
          <a:xfrm rot="5400000">
            <a:off x="7179487" y="4250537"/>
            <a:ext cx="500066" cy="428628"/>
          </a:xfrm>
          <a:prstGeom prst="straightConnector1">
            <a:avLst/>
          </a:prstGeom>
          <a:ln>
            <a:solidFill>
              <a:schemeClr val="accent1">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sp>
        <p:nvSpPr>
          <p:cNvPr id="20" name="19 CuadroTexto"/>
          <p:cNvSpPr txBox="1"/>
          <p:nvPr/>
        </p:nvSpPr>
        <p:spPr>
          <a:xfrm>
            <a:off x="6143636" y="4892772"/>
            <a:ext cx="2357454" cy="1107996"/>
          </a:xfrm>
          <a:prstGeom prst="rect">
            <a:avLst/>
          </a:prstGeom>
          <a:noFill/>
          <a:ln>
            <a:solidFill>
              <a:schemeClr val="accent1">
                <a:lumMod val="60000"/>
                <a:lumOff val="40000"/>
              </a:schemeClr>
            </a:solidFill>
          </a:ln>
        </p:spPr>
        <p:txBody>
          <a:bodyPr wrap="square" rtlCol="0">
            <a:spAutoFit/>
          </a:bodyPr>
          <a:lstStyle/>
          <a:p>
            <a:r>
              <a:rPr lang="es-CO" sz="2200" dirty="0" smtClean="0"/>
              <a:t>Ponderando por la probabilidad de participación.</a:t>
            </a:r>
            <a:endParaRPr lang="es-ES" sz="2200" dirty="0"/>
          </a:p>
        </p:txBody>
      </p:sp>
      <p:sp>
        <p:nvSpPr>
          <p:cNvPr id="14" name="13 Rectángulo"/>
          <p:cNvSpPr/>
          <p:nvPr/>
        </p:nvSpPr>
        <p:spPr>
          <a:xfrm>
            <a:off x="0" y="6534859"/>
            <a:ext cx="9144000" cy="323141"/>
          </a:xfrm>
          <a:prstGeom prst="rect">
            <a:avLst/>
          </a:prstGeom>
        </p:spPr>
        <p:txBody>
          <a:bodyPr wrap="square">
            <a:spAutoFit/>
          </a:bodyPr>
          <a:lstStyle/>
          <a:p>
            <a:pPr algn="ctr"/>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6: Emparejamiento /  56</a:t>
            </a:r>
            <a:endParaRPr lang="es-ES" sz="1500" dirty="0">
              <a:solidFill>
                <a:schemeClr val="tx1">
                  <a:lumMod val="50000"/>
                  <a:lumOff val="50000"/>
                </a:schemeClr>
              </a:solidFill>
            </a:endParaRPr>
          </a:p>
        </p:txBody>
      </p:sp>
      <p:graphicFrame>
        <p:nvGraphicFramePr>
          <p:cNvPr id="92163" name="Object 3"/>
          <p:cNvGraphicFramePr>
            <a:graphicFrameLocks noChangeAspect="1"/>
          </p:cNvGraphicFramePr>
          <p:nvPr>
            <p:extLst>
              <p:ext uri="{D42A27DB-BD31-4B8C-83A1-F6EECF244321}">
                <p14:modId xmlns="" xmlns:p14="http://schemas.microsoft.com/office/powerpoint/2010/main" val="3668162417"/>
              </p:ext>
            </p:extLst>
          </p:nvPr>
        </p:nvGraphicFramePr>
        <p:xfrm>
          <a:off x="500034" y="3429000"/>
          <a:ext cx="8001056" cy="1365837"/>
        </p:xfrm>
        <a:graphic>
          <a:graphicData uri="http://schemas.openxmlformats.org/presentationml/2006/ole">
            <p:oleObj spid="_x0000_s92168" name="Documento" r:id="rId4" imgW="5402470" imgH="923457" progId="Word.Document.12">
              <p:embed/>
            </p:oleObj>
          </a:graphicData>
        </a:graphic>
      </p:graphicFrame>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714612" y="274638"/>
            <a:ext cx="5972188" cy="1143000"/>
          </a:xfrm>
        </p:spPr>
        <p:txBody>
          <a:bodyPr>
            <a:noAutofit/>
          </a:bodyPr>
          <a:lstStyle/>
          <a:p>
            <a:r>
              <a:rPr lang="es-ES_tradnl" sz="4200" u="sng" dirty="0" smtClean="0"/>
              <a:t>Algoritmo de emparejamiento</a:t>
            </a:r>
            <a:endParaRPr lang="es-ES" sz="4200" dirty="0"/>
          </a:p>
        </p:txBody>
      </p:sp>
      <p:sp>
        <p:nvSpPr>
          <p:cNvPr id="3" name="2 Marcador de contenido"/>
          <p:cNvSpPr>
            <a:spLocks noGrp="1"/>
          </p:cNvSpPr>
          <p:nvPr>
            <p:ph idx="1"/>
          </p:nvPr>
        </p:nvSpPr>
        <p:spPr/>
        <p:txBody>
          <a:bodyPr>
            <a:normAutofit/>
          </a:bodyPr>
          <a:lstStyle/>
          <a:p>
            <a:r>
              <a:rPr lang="es-ES_tradnl" sz="2500" dirty="0" smtClean="0"/>
              <a:t>En muestras grandes</a:t>
            </a:r>
          </a:p>
          <a:p>
            <a:endParaRPr lang="es-ES_tradnl" sz="2500" dirty="0" smtClean="0"/>
          </a:p>
          <a:p>
            <a:endParaRPr lang="es-ES_tradnl" sz="2500" dirty="0" smtClean="0"/>
          </a:p>
          <a:p>
            <a:endParaRPr lang="es-ES_tradnl" sz="2500" dirty="0" smtClean="0"/>
          </a:p>
          <a:p>
            <a:endParaRPr lang="es-ES_tradnl" sz="2500" dirty="0" smtClean="0"/>
          </a:p>
          <a:p>
            <a:r>
              <a:rPr lang="es-ES_tradnl" sz="2500" dirty="0" smtClean="0"/>
              <a:t>En muestras pequeñas      </a:t>
            </a:r>
            <a:endParaRPr lang="es-ES" sz="2500" dirty="0"/>
          </a:p>
        </p:txBody>
      </p:sp>
      <p:cxnSp>
        <p:nvCxnSpPr>
          <p:cNvPr id="7" name="6 Conector recto de flecha"/>
          <p:cNvCxnSpPr/>
          <p:nvPr/>
        </p:nvCxnSpPr>
        <p:spPr>
          <a:xfrm>
            <a:off x="3857620" y="1855776"/>
            <a:ext cx="642942"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8" name="7 CuadroTexto"/>
          <p:cNvSpPr txBox="1"/>
          <p:nvPr/>
        </p:nvSpPr>
        <p:spPr>
          <a:xfrm>
            <a:off x="4572000" y="1643050"/>
            <a:ext cx="3714776" cy="2015936"/>
          </a:xfrm>
          <a:prstGeom prst="rect">
            <a:avLst/>
          </a:prstGeom>
          <a:noFill/>
        </p:spPr>
        <p:txBody>
          <a:bodyPr wrap="square" rtlCol="0">
            <a:spAutoFit/>
          </a:bodyPr>
          <a:lstStyle/>
          <a:p>
            <a:r>
              <a:rPr lang="es-ES_tradnl" sz="2500" dirty="0" smtClean="0"/>
              <a:t>Asintóticamente todos los algoritmos de emparejamiento deben generar los mismos resultados.</a:t>
            </a:r>
            <a:endParaRPr lang="es-ES" sz="2500" dirty="0"/>
          </a:p>
        </p:txBody>
      </p:sp>
      <p:cxnSp>
        <p:nvCxnSpPr>
          <p:cNvPr id="9" name="8 Conector recto de flecha"/>
          <p:cNvCxnSpPr/>
          <p:nvPr/>
        </p:nvCxnSpPr>
        <p:spPr>
          <a:xfrm>
            <a:off x="4071934" y="4143380"/>
            <a:ext cx="428628"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1" name="10 CuadroTexto"/>
          <p:cNvSpPr txBox="1"/>
          <p:nvPr/>
        </p:nvSpPr>
        <p:spPr>
          <a:xfrm>
            <a:off x="4500562" y="3929066"/>
            <a:ext cx="3714776" cy="2400657"/>
          </a:xfrm>
          <a:prstGeom prst="rect">
            <a:avLst/>
          </a:prstGeom>
          <a:noFill/>
        </p:spPr>
        <p:txBody>
          <a:bodyPr wrap="square" rtlCol="0">
            <a:spAutoFit/>
          </a:bodyPr>
          <a:lstStyle/>
          <a:p>
            <a:r>
              <a:rPr lang="es-ES_tradnl" sz="2500" dirty="0" smtClean="0"/>
              <a:t>La selección del algoritmo puede afectar el resultado.</a:t>
            </a:r>
          </a:p>
          <a:p>
            <a:pPr algn="just"/>
            <a:r>
              <a:rPr lang="es-ES_tradnl" sz="2500" dirty="0" smtClean="0"/>
              <a:t>Hay tensión entre:</a:t>
            </a:r>
          </a:p>
          <a:p>
            <a:pPr algn="just">
              <a:buFont typeface="Arial" pitchFamily="34" charset="0"/>
              <a:buChar char="•"/>
            </a:pPr>
            <a:r>
              <a:rPr lang="es-ES_tradnl" sz="2500" dirty="0" smtClean="0"/>
              <a:t> Sesgo del estimador.</a:t>
            </a:r>
          </a:p>
          <a:p>
            <a:pPr algn="just">
              <a:buFont typeface="Arial" pitchFamily="34" charset="0"/>
              <a:buChar char="•"/>
            </a:pPr>
            <a:r>
              <a:rPr lang="es-ES_tradnl" sz="2500" dirty="0" smtClean="0"/>
              <a:t> Varianza.</a:t>
            </a:r>
          </a:p>
          <a:p>
            <a:pPr algn="just"/>
            <a:endParaRPr lang="es-ES" sz="2500" dirty="0"/>
          </a:p>
        </p:txBody>
      </p:sp>
      <p:pic>
        <p:nvPicPr>
          <p:cNvPr id="10" name="Picture 1"/>
          <p:cNvPicPr>
            <a:picLocks noChangeAspect="1" noChangeArrowheads="1"/>
          </p:cNvPicPr>
          <p:nvPr/>
        </p:nvPicPr>
        <p:blipFill>
          <a:blip r:embed="rId2" cstate="print"/>
          <a:srcRect/>
          <a:stretch>
            <a:fillRect/>
          </a:stretch>
        </p:blipFill>
        <p:spPr bwMode="auto">
          <a:xfrm>
            <a:off x="0" y="-24"/>
            <a:ext cx="2500298" cy="1189301"/>
          </a:xfrm>
          <a:prstGeom prst="rect">
            <a:avLst/>
          </a:prstGeom>
          <a:noFill/>
          <a:ln w="9525">
            <a:noFill/>
            <a:miter lim="800000"/>
            <a:headEnd/>
            <a:tailEnd/>
          </a:ln>
          <a:effectLst/>
        </p:spPr>
      </p:pic>
      <p:sp>
        <p:nvSpPr>
          <p:cNvPr id="13" name="12 Rectángulo"/>
          <p:cNvSpPr/>
          <p:nvPr/>
        </p:nvSpPr>
        <p:spPr>
          <a:xfrm>
            <a:off x="0" y="6534859"/>
            <a:ext cx="9144000" cy="323141"/>
          </a:xfrm>
          <a:prstGeom prst="rect">
            <a:avLst/>
          </a:prstGeom>
        </p:spPr>
        <p:txBody>
          <a:bodyPr wrap="square">
            <a:spAutoFit/>
          </a:bodyPr>
          <a:lstStyle/>
          <a:p>
            <a:pPr algn="ctr"/>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6: Emparejamiento /  57</a:t>
            </a:r>
            <a:endParaRPr lang="es-ES" sz="1500" dirty="0">
              <a:solidFill>
                <a:schemeClr val="tx1">
                  <a:lumMod val="50000"/>
                  <a:lumOff val="50000"/>
                </a:schemeClr>
              </a:solidFill>
            </a:endParaRPr>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571736" y="274638"/>
            <a:ext cx="6115064" cy="939784"/>
          </a:xfrm>
        </p:spPr>
        <p:txBody>
          <a:bodyPr>
            <a:normAutofit/>
          </a:bodyPr>
          <a:lstStyle/>
          <a:p>
            <a:r>
              <a:rPr lang="es-ES" sz="4200" u="sng" dirty="0" smtClean="0"/>
              <a:t>Algoritmo de PSM</a:t>
            </a:r>
            <a:endParaRPr lang="es-AR" sz="4200" u="sng" dirty="0"/>
          </a:p>
        </p:txBody>
      </p:sp>
      <p:sp>
        <p:nvSpPr>
          <p:cNvPr id="3" name="2 Marcador de contenido"/>
          <p:cNvSpPr>
            <a:spLocks noGrp="1"/>
          </p:cNvSpPr>
          <p:nvPr>
            <p:ph idx="1"/>
          </p:nvPr>
        </p:nvSpPr>
        <p:spPr>
          <a:xfrm>
            <a:off x="500034" y="1500174"/>
            <a:ext cx="8258204" cy="4572032"/>
          </a:xfrm>
        </p:spPr>
        <p:txBody>
          <a:bodyPr>
            <a:normAutofit/>
          </a:bodyPr>
          <a:lstStyle/>
          <a:p>
            <a:pPr marL="457200" indent="-457200" algn="just">
              <a:buAutoNum type="arabicPeriod"/>
            </a:pPr>
            <a:r>
              <a:rPr lang="es-ES" sz="2500" dirty="0" smtClean="0"/>
              <a:t>Estimar la probabilidad de participar en el programa, para el grupo de control y el de tratamiento.</a:t>
            </a:r>
          </a:p>
          <a:p>
            <a:pPr marL="457200" indent="-457200" algn="just">
              <a:buAutoNum type="arabicPeriod"/>
            </a:pPr>
            <a:r>
              <a:rPr lang="es-ES_tradnl" sz="2500" dirty="0" smtClean="0"/>
              <a:t>Estimar la probabilidad de participación de cada individuo.</a:t>
            </a:r>
          </a:p>
          <a:p>
            <a:pPr marL="457200" indent="-457200" algn="just">
              <a:buAutoNum type="arabicPeriod"/>
            </a:pPr>
            <a:r>
              <a:rPr lang="es-ES" sz="2500" dirty="0" smtClean="0"/>
              <a:t>Restringir la muestra al soporte común.</a:t>
            </a:r>
          </a:p>
          <a:p>
            <a:pPr marL="457200" indent="-457200" algn="just">
              <a:buAutoNum type="arabicPeriod"/>
            </a:pPr>
            <a:r>
              <a:rPr lang="es-ES_tradnl" sz="2500" dirty="0" smtClean="0"/>
              <a:t>Seleccionar el algoritmo de emparejamiento.</a:t>
            </a:r>
          </a:p>
          <a:p>
            <a:pPr marL="457200" indent="-457200" algn="just">
              <a:buFont typeface="Arial" pitchFamily="34" charset="0"/>
              <a:buAutoNum type="arabicPeriod"/>
            </a:pPr>
            <a:r>
              <a:rPr lang="es-ES" sz="2500" dirty="0" smtClean="0">
                <a:solidFill>
                  <a:schemeClr val="accent1">
                    <a:lumMod val="75000"/>
                  </a:schemeClr>
                </a:solidFill>
              </a:rPr>
              <a:t>Observar que las variables observables entre el grupo de control y de tratamiento estén balanceadas en términos de probabilidades.</a:t>
            </a:r>
            <a:endParaRPr lang="es-ES" sz="2500" dirty="0" smtClean="0"/>
          </a:p>
          <a:p>
            <a:pPr marL="457200" indent="-457200" algn="just">
              <a:buFont typeface="Arial" pitchFamily="34" charset="0"/>
              <a:buAutoNum type="arabicPeriod"/>
            </a:pPr>
            <a:r>
              <a:rPr lang="es-ES_tradnl" sz="2500" dirty="0" smtClean="0"/>
              <a:t>Calcular el impacto del programa.</a:t>
            </a:r>
          </a:p>
          <a:p>
            <a:pPr marL="457200" indent="-457200" algn="just">
              <a:buFont typeface="Arial" pitchFamily="34" charset="0"/>
              <a:buAutoNum type="arabicPeriod"/>
            </a:pPr>
            <a:r>
              <a:rPr lang="es-ES_tradnl" sz="2500" dirty="0" smtClean="0"/>
              <a:t>Calcular los errores estándar y los intervalos de confianza.</a:t>
            </a:r>
            <a:endParaRPr lang="es-ES" sz="2500" dirty="0" smtClean="0"/>
          </a:p>
          <a:p>
            <a:pPr marL="457200" indent="-457200" algn="just">
              <a:buFont typeface="Arial" pitchFamily="34" charset="0"/>
              <a:buAutoNum type="arabicPeriod"/>
            </a:pPr>
            <a:endParaRPr lang="es-ES" sz="2500" dirty="0" smtClean="0"/>
          </a:p>
          <a:p>
            <a:pPr marL="457200" indent="-457200" algn="just">
              <a:buNone/>
            </a:pPr>
            <a:endParaRPr lang="es-ES" sz="2500" dirty="0" smtClean="0"/>
          </a:p>
          <a:p>
            <a:pPr marL="457200" indent="-457200" algn="just">
              <a:buAutoNum type="arabicPeriod"/>
            </a:pPr>
            <a:endParaRPr lang="es-ES" sz="2500" dirty="0"/>
          </a:p>
          <a:p>
            <a:pPr marL="457200" indent="-457200" algn="just">
              <a:buAutoNum type="arabicPeriod"/>
            </a:pPr>
            <a:endParaRPr lang="es-ES" sz="2500" dirty="0" smtClean="0"/>
          </a:p>
          <a:p>
            <a:pPr marL="457200" indent="-457200" algn="just">
              <a:buAutoNum type="arabicPeriod"/>
            </a:pPr>
            <a:endParaRPr lang="es-ES" sz="2500" dirty="0" smtClean="0"/>
          </a:p>
          <a:p>
            <a:pPr marL="457200" indent="-457200">
              <a:buAutoNum type="arabicPeriod"/>
            </a:pPr>
            <a:endParaRPr lang="es-AR" sz="2500" dirty="0"/>
          </a:p>
        </p:txBody>
      </p:sp>
      <p:pic>
        <p:nvPicPr>
          <p:cNvPr id="4" name="Picture 1"/>
          <p:cNvPicPr>
            <a:picLocks noChangeAspect="1" noChangeArrowheads="1"/>
          </p:cNvPicPr>
          <p:nvPr/>
        </p:nvPicPr>
        <p:blipFill>
          <a:blip r:embed="rId2" cstate="print"/>
          <a:srcRect/>
          <a:stretch>
            <a:fillRect/>
          </a:stretch>
        </p:blipFill>
        <p:spPr bwMode="auto">
          <a:xfrm>
            <a:off x="0" y="-24"/>
            <a:ext cx="2500298" cy="1189301"/>
          </a:xfrm>
          <a:prstGeom prst="rect">
            <a:avLst/>
          </a:prstGeom>
          <a:noFill/>
          <a:ln w="9525">
            <a:noFill/>
            <a:miter lim="800000"/>
            <a:headEnd/>
            <a:tailEnd/>
          </a:ln>
          <a:effectLst/>
        </p:spPr>
      </p:pic>
      <p:sp>
        <p:nvSpPr>
          <p:cNvPr id="6" name="5 Rectángulo"/>
          <p:cNvSpPr/>
          <p:nvPr/>
        </p:nvSpPr>
        <p:spPr>
          <a:xfrm>
            <a:off x="0" y="6534859"/>
            <a:ext cx="9144000" cy="323141"/>
          </a:xfrm>
          <a:prstGeom prst="rect">
            <a:avLst/>
          </a:prstGeom>
        </p:spPr>
        <p:txBody>
          <a:bodyPr wrap="square">
            <a:spAutoFit/>
          </a:bodyPr>
          <a:lstStyle/>
          <a:p>
            <a:pPr algn="ctr"/>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6: Emparejamiento /  58</a:t>
            </a:r>
            <a:endParaRPr lang="es-ES" sz="1500" dirty="0">
              <a:solidFill>
                <a:schemeClr val="tx1">
                  <a:lumMod val="50000"/>
                  <a:lumOff val="50000"/>
                </a:schemeClr>
              </a:solidFill>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500298" y="274638"/>
            <a:ext cx="6186502" cy="1143000"/>
          </a:xfrm>
        </p:spPr>
        <p:txBody>
          <a:bodyPr>
            <a:noAutofit/>
          </a:bodyPr>
          <a:lstStyle/>
          <a:p>
            <a:r>
              <a:rPr lang="es-ES_tradnl" sz="4200" dirty="0" smtClean="0"/>
              <a:t>Calidad del emparejamiento</a:t>
            </a:r>
            <a:endParaRPr lang="es-ES" sz="4200" dirty="0"/>
          </a:p>
        </p:txBody>
      </p:sp>
      <p:sp>
        <p:nvSpPr>
          <p:cNvPr id="3" name="2 Marcador de contenido"/>
          <p:cNvSpPr>
            <a:spLocks noGrp="1"/>
          </p:cNvSpPr>
          <p:nvPr>
            <p:ph idx="1"/>
          </p:nvPr>
        </p:nvSpPr>
        <p:spPr/>
        <p:txBody>
          <a:bodyPr>
            <a:normAutofit/>
          </a:bodyPr>
          <a:lstStyle/>
          <a:p>
            <a:pPr algn="ctr">
              <a:buNone/>
            </a:pPr>
            <a:r>
              <a:rPr lang="es-ES_tradnl" sz="2500" dirty="0" smtClean="0"/>
              <a:t>	</a:t>
            </a:r>
          </a:p>
          <a:p>
            <a:pPr algn="ctr">
              <a:buNone/>
            </a:pPr>
            <a:r>
              <a:rPr lang="es-ES_tradnl" sz="2500" dirty="0" smtClean="0"/>
              <a:t>	Se debe determinar si el emparejamiento balancea la distribución de variables relevantes en los dos grupos.</a:t>
            </a:r>
            <a:endParaRPr lang="es-ES" sz="2500" dirty="0"/>
          </a:p>
        </p:txBody>
      </p:sp>
      <p:sp>
        <p:nvSpPr>
          <p:cNvPr id="4" name="3 Flecha abajo"/>
          <p:cNvSpPr/>
          <p:nvPr/>
        </p:nvSpPr>
        <p:spPr>
          <a:xfrm>
            <a:off x="4286248" y="3357562"/>
            <a:ext cx="571504" cy="571504"/>
          </a:xfrm>
          <a:prstGeom prst="downArrow">
            <a:avLst/>
          </a:prstGeom>
          <a:solidFill>
            <a:schemeClr val="bg1"/>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 name="4 CuadroTexto"/>
          <p:cNvSpPr txBox="1"/>
          <p:nvPr/>
        </p:nvSpPr>
        <p:spPr>
          <a:xfrm>
            <a:off x="857224" y="4357694"/>
            <a:ext cx="7429551" cy="861774"/>
          </a:xfrm>
          <a:prstGeom prst="rect">
            <a:avLst/>
          </a:prstGeom>
          <a:noFill/>
        </p:spPr>
        <p:txBody>
          <a:bodyPr wrap="square" rtlCol="0">
            <a:spAutoFit/>
          </a:bodyPr>
          <a:lstStyle/>
          <a:p>
            <a:pPr algn="ctr"/>
            <a:r>
              <a:rPr lang="es-ES_tradnl" sz="2500" dirty="0" smtClean="0"/>
              <a:t>Se debe a que el emparejamiento está hecho </a:t>
            </a:r>
            <a:r>
              <a:rPr lang="es-ES_tradnl" sz="2500" u="sng" dirty="0" smtClean="0"/>
              <a:t>condicional en la probabilidad de participación.</a:t>
            </a:r>
            <a:endParaRPr lang="es-ES" sz="2500" u="sng" dirty="0"/>
          </a:p>
        </p:txBody>
      </p:sp>
      <p:pic>
        <p:nvPicPr>
          <p:cNvPr id="7" name="Picture 1"/>
          <p:cNvPicPr>
            <a:picLocks noChangeAspect="1" noChangeArrowheads="1"/>
          </p:cNvPicPr>
          <p:nvPr/>
        </p:nvPicPr>
        <p:blipFill>
          <a:blip r:embed="rId3" cstate="print"/>
          <a:srcRect/>
          <a:stretch>
            <a:fillRect/>
          </a:stretch>
        </p:blipFill>
        <p:spPr bwMode="auto">
          <a:xfrm>
            <a:off x="0" y="-24"/>
            <a:ext cx="2500298" cy="1189301"/>
          </a:xfrm>
          <a:prstGeom prst="rect">
            <a:avLst/>
          </a:prstGeom>
          <a:noFill/>
          <a:ln w="9525">
            <a:noFill/>
            <a:miter lim="800000"/>
            <a:headEnd/>
            <a:tailEnd/>
          </a:ln>
          <a:effectLst/>
        </p:spPr>
      </p:pic>
      <p:sp>
        <p:nvSpPr>
          <p:cNvPr id="8" name="7 Rectángulo"/>
          <p:cNvSpPr/>
          <p:nvPr/>
        </p:nvSpPr>
        <p:spPr>
          <a:xfrm>
            <a:off x="0" y="6534859"/>
            <a:ext cx="9144000" cy="323165"/>
          </a:xfrm>
          <a:prstGeom prst="rect">
            <a:avLst/>
          </a:prstGeom>
        </p:spPr>
        <p:txBody>
          <a:bodyPr wrap="square">
            <a:spAutoFit/>
          </a:bodyPr>
          <a:lstStyle/>
          <a:p>
            <a:pPr algn="ctr"/>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6: Emparejamiento /  59</a:t>
            </a:r>
            <a:endParaRPr lang="es-ES" sz="1500" dirty="0">
              <a:solidFill>
                <a:schemeClr val="tx1">
                  <a:lumMod val="50000"/>
                  <a:lumOff val="50000"/>
                </a:schemeClr>
              </a:solidFill>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500298" y="274638"/>
            <a:ext cx="6186502" cy="1143000"/>
          </a:xfrm>
        </p:spPr>
        <p:txBody>
          <a:bodyPr>
            <a:noAutofit/>
          </a:bodyPr>
          <a:lstStyle/>
          <a:p>
            <a:r>
              <a:rPr lang="es-ES_tradnl" sz="4200" dirty="0" smtClean="0"/>
              <a:t>Determinar la calidad del emparejamiento</a:t>
            </a:r>
            <a:endParaRPr lang="es-ES" sz="4200" dirty="0"/>
          </a:p>
        </p:txBody>
      </p:sp>
      <p:sp>
        <p:nvSpPr>
          <p:cNvPr id="37890"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37891" name="Rectangle 3"/>
          <p:cNvSpPr>
            <a:spLocks noChangeArrowheads="1"/>
          </p:cNvSpPr>
          <p:nvPr/>
        </p:nvSpPr>
        <p:spPr bwMode="auto">
          <a:xfrm>
            <a:off x="0" y="8477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800" b="0" i="0" u="none" strike="noStrike" cap="none" normalizeH="0" baseline="0" smtClean="0">
              <a:ln>
                <a:noFill/>
              </a:ln>
              <a:solidFill>
                <a:schemeClr val="tx1"/>
              </a:solidFill>
              <a:effectLst/>
              <a:latin typeface="Arial" pitchFamily="34" charset="0"/>
            </a:endParaRPr>
          </a:p>
        </p:txBody>
      </p:sp>
      <p:cxnSp>
        <p:nvCxnSpPr>
          <p:cNvPr id="10" name="9 Conector recto de flecha"/>
          <p:cNvCxnSpPr/>
          <p:nvPr/>
        </p:nvCxnSpPr>
        <p:spPr>
          <a:xfrm rot="5400000">
            <a:off x="3179753" y="2893215"/>
            <a:ext cx="213520" cy="79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2" name="11 CuadroTexto"/>
          <p:cNvSpPr txBox="1"/>
          <p:nvPr/>
        </p:nvSpPr>
        <p:spPr>
          <a:xfrm>
            <a:off x="1071538" y="3000372"/>
            <a:ext cx="3143272" cy="800219"/>
          </a:xfrm>
          <a:prstGeom prst="rect">
            <a:avLst/>
          </a:prstGeom>
          <a:noFill/>
        </p:spPr>
        <p:txBody>
          <a:bodyPr wrap="square" rtlCol="0">
            <a:spAutoFit/>
          </a:bodyPr>
          <a:lstStyle/>
          <a:p>
            <a:r>
              <a:rPr lang="es-ES_tradnl" sz="2300" dirty="0" smtClean="0"/>
              <a:t>Probabilidad estimada de participar</a:t>
            </a:r>
            <a:endParaRPr lang="es-ES" sz="2300" dirty="0"/>
          </a:p>
        </p:txBody>
      </p:sp>
      <p:sp>
        <p:nvSpPr>
          <p:cNvPr id="13" name="12 Cerrar llave"/>
          <p:cNvSpPr/>
          <p:nvPr/>
        </p:nvSpPr>
        <p:spPr>
          <a:xfrm rot="5400000">
            <a:off x="6018618" y="1232282"/>
            <a:ext cx="142877" cy="3250429"/>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
          </a:p>
        </p:txBody>
      </p:sp>
      <p:sp>
        <p:nvSpPr>
          <p:cNvPr id="14" name="13 CuadroTexto"/>
          <p:cNvSpPr txBox="1"/>
          <p:nvPr/>
        </p:nvSpPr>
        <p:spPr>
          <a:xfrm>
            <a:off x="4429124" y="3000372"/>
            <a:ext cx="3571900" cy="446276"/>
          </a:xfrm>
          <a:prstGeom prst="rect">
            <a:avLst/>
          </a:prstGeom>
          <a:noFill/>
        </p:spPr>
        <p:txBody>
          <a:bodyPr wrap="square" rtlCol="0">
            <a:spAutoFit/>
          </a:bodyPr>
          <a:lstStyle/>
          <a:p>
            <a:r>
              <a:rPr lang="es-ES_tradnl" sz="2300" dirty="0" smtClean="0"/>
              <a:t>Características individuales</a:t>
            </a:r>
            <a:endParaRPr lang="es-ES" sz="2300" dirty="0"/>
          </a:p>
        </p:txBody>
      </p:sp>
      <p:sp>
        <p:nvSpPr>
          <p:cNvPr id="15" name="14 CuadroTexto"/>
          <p:cNvSpPr txBox="1"/>
          <p:nvPr/>
        </p:nvSpPr>
        <p:spPr>
          <a:xfrm>
            <a:off x="571472" y="4397083"/>
            <a:ext cx="8001056" cy="1246495"/>
          </a:xfrm>
          <a:prstGeom prst="rect">
            <a:avLst/>
          </a:prstGeom>
          <a:noFill/>
        </p:spPr>
        <p:txBody>
          <a:bodyPr wrap="square" rtlCol="0">
            <a:spAutoFit/>
          </a:bodyPr>
          <a:lstStyle/>
          <a:p>
            <a:pPr algn="just"/>
            <a:r>
              <a:rPr lang="es-ES_tradnl" sz="2500" dirty="0" smtClean="0"/>
              <a:t>El emparejamiento está bien cuando:</a:t>
            </a:r>
          </a:p>
          <a:p>
            <a:r>
              <a:rPr lang="es-ES_tradnl" sz="2500" dirty="0" smtClean="0"/>
              <a:t>El tratamiento, después de controlar por           , no está correlacionado con las características individuales.</a:t>
            </a:r>
            <a:endParaRPr lang="es-ES" sz="2500" dirty="0"/>
          </a:p>
        </p:txBody>
      </p:sp>
      <p:sp>
        <p:nvSpPr>
          <p:cNvPr id="37893"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pic>
        <p:nvPicPr>
          <p:cNvPr id="37892" name="Picture 4"/>
          <p:cNvPicPr>
            <a:picLocks noChangeAspect="1" noChangeArrowheads="1"/>
          </p:cNvPicPr>
          <p:nvPr/>
        </p:nvPicPr>
        <p:blipFill>
          <a:blip r:embed="rId4" cstate="print">
            <a:clrChange>
              <a:clrFrom>
                <a:srgbClr val="FFFFFF"/>
              </a:clrFrom>
              <a:clrTo>
                <a:srgbClr val="FFFFFF">
                  <a:alpha val="0"/>
                </a:srgbClr>
              </a:clrTo>
            </a:clrChange>
          </a:blip>
          <a:srcRect/>
          <a:stretch>
            <a:fillRect/>
          </a:stretch>
        </p:blipFill>
        <p:spPr bwMode="auto">
          <a:xfrm>
            <a:off x="5993482" y="4824425"/>
            <a:ext cx="666750" cy="390525"/>
          </a:xfrm>
          <a:prstGeom prst="rect">
            <a:avLst/>
          </a:prstGeom>
          <a:noFill/>
        </p:spPr>
      </p:pic>
      <p:pic>
        <p:nvPicPr>
          <p:cNvPr id="16" name="Picture 1"/>
          <p:cNvPicPr>
            <a:picLocks noChangeAspect="1" noChangeArrowheads="1"/>
          </p:cNvPicPr>
          <p:nvPr/>
        </p:nvPicPr>
        <p:blipFill>
          <a:blip r:embed="rId5" cstate="print"/>
          <a:srcRect/>
          <a:stretch>
            <a:fillRect/>
          </a:stretch>
        </p:blipFill>
        <p:spPr bwMode="auto">
          <a:xfrm>
            <a:off x="0" y="-24"/>
            <a:ext cx="2500298" cy="1189301"/>
          </a:xfrm>
          <a:prstGeom prst="rect">
            <a:avLst/>
          </a:prstGeom>
          <a:noFill/>
          <a:ln w="9525">
            <a:noFill/>
            <a:miter lim="800000"/>
            <a:headEnd/>
            <a:tailEnd/>
          </a:ln>
          <a:effectLst/>
        </p:spPr>
      </p:pic>
      <p:sp>
        <p:nvSpPr>
          <p:cNvPr id="19" name="18 Rectángulo"/>
          <p:cNvSpPr/>
          <p:nvPr/>
        </p:nvSpPr>
        <p:spPr>
          <a:xfrm>
            <a:off x="0" y="6534859"/>
            <a:ext cx="9144000" cy="323141"/>
          </a:xfrm>
          <a:prstGeom prst="rect">
            <a:avLst/>
          </a:prstGeom>
        </p:spPr>
        <p:txBody>
          <a:bodyPr wrap="square">
            <a:spAutoFit/>
          </a:bodyPr>
          <a:lstStyle/>
          <a:p>
            <a:pPr algn="ctr"/>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6: Emparejamiento /  60</a:t>
            </a:r>
            <a:endParaRPr lang="es-ES" sz="1500" dirty="0">
              <a:solidFill>
                <a:schemeClr val="tx1">
                  <a:lumMod val="50000"/>
                  <a:lumOff val="50000"/>
                </a:schemeClr>
              </a:solidFill>
            </a:endParaRPr>
          </a:p>
        </p:txBody>
      </p:sp>
      <p:sp>
        <p:nvSpPr>
          <p:cNvPr id="48130"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48131" name="Rectangle 3"/>
          <p:cNvSpPr>
            <a:spLocks noChangeArrowheads="1"/>
          </p:cNvSpPr>
          <p:nvPr/>
        </p:nvSpPr>
        <p:spPr bwMode="auto">
          <a:xfrm>
            <a:off x="0" y="8763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800" b="0" i="0" u="none" strike="noStrike" cap="none" normalizeH="0" baseline="0" smtClean="0">
              <a:ln>
                <a:noFill/>
              </a:ln>
              <a:solidFill>
                <a:schemeClr val="tx1"/>
              </a:solidFill>
              <a:effectLst/>
              <a:latin typeface="Arial" pitchFamily="34" charset="0"/>
            </a:endParaRPr>
          </a:p>
        </p:txBody>
      </p:sp>
      <p:graphicFrame>
        <p:nvGraphicFramePr>
          <p:cNvPr id="9218" name="Object 2"/>
          <p:cNvGraphicFramePr>
            <a:graphicFrameLocks noChangeAspect="1"/>
          </p:cNvGraphicFramePr>
          <p:nvPr>
            <p:extLst>
              <p:ext uri="{D42A27DB-BD31-4B8C-83A1-F6EECF244321}">
                <p14:modId xmlns="" xmlns:p14="http://schemas.microsoft.com/office/powerpoint/2010/main" val="3045434852"/>
              </p:ext>
            </p:extLst>
          </p:nvPr>
        </p:nvGraphicFramePr>
        <p:xfrm>
          <a:off x="731838" y="2238375"/>
          <a:ext cx="7912100" cy="762000"/>
        </p:xfrm>
        <a:graphic>
          <a:graphicData uri="http://schemas.openxmlformats.org/presentationml/2006/ole">
            <p:oleObj spid="_x0000_s94215" name="Documento" r:id="rId6" imgW="5402470" imgH="519781" progId="Word.Document.12">
              <p:embed/>
            </p:oleObj>
          </a:graphicData>
        </a:graphic>
      </p:graphicFrame>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571736" y="274638"/>
            <a:ext cx="6115064" cy="939784"/>
          </a:xfrm>
        </p:spPr>
        <p:txBody>
          <a:bodyPr>
            <a:normAutofit/>
          </a:bodyPr>
          <a:lstStyle/>
          <a:p>
            <a:r>
              <a:rPr lang="es-ES" sz="4200" u="sng" dirty="0" smtClean="0"/>
              <a:t>Algoritmo de PSM</a:t>
            </a:r>
            <a:endParaRPr lang="es-AR" sz="4200" u="sng" dirty="0"/>
          </a:p>
        </p:txBody>
      </p:sp>
      <p:sp>
        <p:nvSpPr>
          <p:cNvPr id="3" name="2 Marcador de contenido"/>
          <p:cNvSpPr>
            <a:spLocks noGrp="1"/>
          </p:cNvSpPr>
          <p:nvPr>
            <p:ph idx="1"/>
          </p:nvPr>
        </p:nvSpPr>
        <p:spPr>
          <a:xfrm>
            <a:off x="500034" y="1500174"/>
            <a:ext cx="8258204" cy="4572032"/>
          </a:xfrm>
        </p:spPr>
        <p:txBody>
          <a:bodyPr>
            <a:normAutofit/>
          </a:bodyPr>
          <a:lstStyle/>
          <a:p>
            <a:pPr marL="457200" indent="-457200" algn="just">
              <a:buAutoNum type="arabicPeriod"/>
            </a:pPr>
            <a:r>
              <a:rPr lang="es-ES" sz="2500" dirty="0" smtClean="0"/>
              <a:t>Estimar la probabilidad de participar en el programa, para el grupo de control y el de tratamiento.</a:t>
            </a:r>
          </a:p>
          <a:p>
            <a:pPr marL="457200" indent="-457200" algn="just">
              <a:buAutoNum type="arabicPeriod"/>
            </a:pPr>
            <a:r>
              <a:rPr lang="es-ES_tradnl" sz="2500" dirty="0" smtClean="0"/>
              <a:t>Estimar la probabilidad de participación de cada individuo.</a:t>
            </a:r>
          </a:p>
          <a:p>
            <a:pPr marL="457200" indent="-457200" algn="just">
              <a:buAutoNum type="arabicPeriod"/>
            </a:pPr>
            <a:r>
              <a:rPr lang="es-ES" sz="2500" dirty="0" smtClean="0"/>
              <a:t>Restringir la muestra al soporte común.</a:t>
            </a:r>
          </a:p>
          <a:p>
            <a:pPr marL="457200" indent="-457200" algn="just">
              <a:buFont typeface="Arial" pitchFamily="34" charset="0"/>
              <a:buAutoNum type="arabicPeriod"/>
            </a:pPr>
            <a:r>
              <a:rPr lang="es-ES_tradnl" sz="2500" dirty="0" smtClean="0"/>
              <a:t>Seleccionar el algoritmo de emparejamiento.</a:t>
            </a:r>
          </a:p>
          <a:p>
            <a:pPr marL="457200" indent="-457200" algn="just">
              <a:buFont typeface="Arial" pitchFamily="34" charset="0"/>
              <a:buAutoNum type="arabicPeriod"/>
            </a:pPr>
            <a:r>
              <a:rPr lang="es-ES" sz="2500" dirty="0" smtClean="0"/>
              <a:t>Observar que las variables observables entre el grupo de control y de tratamiento estén balanceadas en términos de probabilidades. </a:t>
            </a:r>
          </a:p>
          <a:p>
            <a:pPr marL="457200" indent="-457200" algn="just">
              <a:buFont typeface="Arial" pitchFamily="34" charset="0"/>
              <a:buAutoNum type="arabicPeriod"/>
            </a:pPr>
            <a:r>
              <a:rPr lang="es-ES_tradnl" sz="2500" dirty="0" smtClean="0"/>
              <a:t>Calcular el impacto del programa.</a:t>
            </a:r>
          </a:p>
          <a:p>
            <a:pPr marL="457200" indent="-457200" algn="just">
              <a:buFont typeface="Arial" pitchFamily="34" charset="0"/>
              <a:buAutoNum type="arabicPeriod"/>
            </a:pPr>
            <a:r>
              <a:rPr lang="es-ES_tradnl" sz="2500" dirty="0" smtClean="0">
                <a:solidFill>
                  <a:schemeClr val="accent1">
                    <a:lumMod val="75000"/>
                  </a:schemeClr>
                </a:solidFill>
              </a:rPr>
              <a:t>Calcular los errores estándar y los intervalos de confianza</a:t>
            </a:r>
            <a:r>
              <a:rPr lang="es-ES_tradnl" sz="2500" dirty="0" smtClean="0"/>
              <a:t>.</a:t>
            </a:r>
            <a:endParaRPr lang="es-ES" sz="2500" dirty="0" smtClean="0"/>
          </a:p>
          <a:p>
            <a:pPr marL="457200" indent="-457200" algn="just">
              <a:buFont typeface="Arial" pitchFamily="34" charset="0"/>
              <a:buAutoNum type="arabicPeriod"/>
            </a:pPr>
            <a:endParaRPr lang="es-ES" sz="2500" dirty="0" smtClean="0"/>
          </a:p>
          <a:p>
            <a:pPr marL="457200" indent="-457200" algn="just">
              <a:buAutoNum type="arabicPeriod"/>
            </a:pPr>
            <a:endParaRPr lang="es-ES" sz="2500" dirty="0" smtClean="0"/>
          </a:p>
          <a:p>
            <a:pPr marL="457200" indent="-457200" algn="just">
              <a:buAutoNum type="arabicPeriod"/>
            </a:pPr>
            <a:endParaRPr lang="es-ES" sz="2500" dirty="0"/>
          </a:p>
          <a:p>
            <a:pPr marL="457200" indent="-457200" algn="just">
              <a:buAutoNum type="arabicPeriod"/>
            </a:pPr>
            <a:endParaRPr lang="es-ES" sz="2500" dirty="0" smtClean="0"/>
          </a:p>
          <a:p>
            <a:pPr marL="457200" indent="-457200" algn="just">
              <a:buAutoNum type="arabicPeriod"/>
            </a:pPr>
            <a:endParaRPr lang="es-ES" sz="2500" dirty="0" smtClean="0"/>
          </a:p>
          <a:p>
            <a:pPr marL="457200" indent="-457200">
              <a:buAutoNum type="arabicPeriod"/>
            </a:pPr>
            <a:endParaRPr lang="es-AR" sz="2500" dirty="0"/>
          </a:p>
        </p:txBody>
      </p:sp>
      <p:pic>
        <p:nvPicPr>
          <p:cNvPr id="4" name="Picture 1"/>
          <p:cNvPicPr>
            <a:picLocks noChangeAspect="1" noChangeArrowheads="1"/>
          </p:cNvPicPr>
          <p:nvPr/>
        </p:nvPicPr>
        <p:blipFill>
          <a:blip r:embed="rId2" cstate="print"/>
          <a:srcRect/>
          <a:stretch>
            <a:fillRect/>
          </a:stretch>
        </p:blipFill>
        <p:spPr bwMode="auto">
          <a:xfrm>
            <a:off x="0" y="-24"/>
            <a:ext cx="2500298" cy="1189301"/>
          </a:xfrm>
          <a:prstGeom prst="rect">
            <a:avLst/>
          </a:prstGeom>
          <a:noFill/>
          <a:ln w="9525">
            <a:noFill/>
            <a:miter lim="800000"/>
            <a:headEnd/>
            <a:tailEnd/>
          </a:ln>
          <a:effectLst/>
        </p:spPr>
      </p:pic>
      <p:sp>
        <p:nvSpPr>
          <p:cNvPr id="6" name="5 Rectángulo"/>
          <p:cNvSpPr/>
          <p:nvPr/>
        </p:nvSpPr>
        <p:spPr>
          <a:xfrm>
            <a:off x="0" y="6534859"/>
            <a:ext cx="9144000" cy="323141"/>
          </a:xfrm>
          <a:prstGeom prst="rect">
            <a:avLst/>
          </a:prstGeom>
        </p:spPr>
        <p:txBody>
          <a:bodyPr wrap="square">
            <a:spAutoFit/>
          </a:bodyPr>
          <a:lstStyle/>
          <a:p>
            <a:pPr algn="ctr"/>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6: Emparejamiento /  61</a:t>
            </a:r>
            <a:endParaRPr lang="es-ES" sz="1500" dirty="0">
              <a:solidFill>
                <a:schemeClr val="tx1">
                  <a:lumMod val="50000"/>
                  <a:lumOff val="50000"/>
                </a:schemeClr>
              </a:solidFill>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857488" y="274638"/>
            <a:ext cx="5829312" cy="1143000"/>
          </a:xfrm>
        </p:spPr>
        <p:txBody>
          <a:bodyPr>
            <a:normAutofit/>
          </a:bodyPr>
          <a:lstStyle/>
          <a:p>
            <a:r>
              <a:rPr lang="es-ES_tradnl" sz="4200" u="sng" dirty="0" smtClean="0"/>
              <a:t>Errores estándar</a:t>
            </a:r>
            <a:endParaRPr lang="es-ES" sz="4200" u="sng" dirty="0"/>
          </a:p>
        </p:txBody>
      </p:sp>
      <p:sp>
        <p:nvSpPr>
          <p:cNvPr id="3" name="2 Marcador de contenido"/>
          <p:cNvSpPr>
            <a:spLocks noGrp="1"/>
          </p:cNvSpPr>
          <p:nvPr>
            <p:ph idx="1"/>
          </p:nvPr>
        </p:nvSpPr>
        <p:spPr/>
        <p:txBody>
          <a:bodyPr>
            <a:normAutofit/>
          </a:bodyPr>
          <a:lstStyle/>
          <a:p>
            <a:pPr>
              <a:buNone/>
            </a:pPr>
            <a:r>
              <a:rPr lang="es-ES_tradnl" sz="2500" dirty="0" smtClean="0"/>
              <a:t>	</a:t>
            </a:r>
          </a:p>
          <a:p>
            <a:pPr>
              <a:buNone/>
            </a:pPr>
            <a:endParaRPr lang="es-ES_tradnl" sz="2500" dirty="0" smtClean="0"/>
          </a:p>
          <a:p>
            <a:pPr>
              <a:buNone/>
            </a:pPr>
            <a:r>
              <a:rPr lang="es-ES_tradnl" sz="2500" dirty="0" smtClean="0"/>
              <a:t>	Una vez calculado el ATT, se deben calcular los errores estándar y los intervalos de confianza.</a:t>
            </a:r>
          </a:p>
          <a:p>
            <a:pPr>
              <a:buNone/>
            </a:pPr>
            <a:r>
              <a:rPr lang="es-ES_tradnl" sz="2500" dirty="0" smtClean="0"/>
              <a:t>	</a:t>
            </a:r>
          </a:p>
          <a:p>
            <a:pPr>
              <a:buNone/>
            </a:pPr>
            <a:r>
              <a:rPr lang="es-ES_tradnl" sz="2500" dirty="0" smtClean="0"/>
              <a:t>	</a:t>
            </a:r>
            <a:r>
              <a:rPr lang="es-ES_tradnl" sz="2500" u="sng" dirty="0" smtClean="0"/>
              <a:t>Desventaja en PSM</a:t>
            </a:r>
            <a:r>
              <a:rPr lang="es-ES_tradnl" sz="2500" dirty="0" smtClean="0"/>
              <a:t>          	Es difícil calcular los errores 					estándar.</a:t>
            </a:r>
          </a:p>
          <a:p>
            <a:pPr>
              <a:buNone/>
            </a:pPr>
            <a:r>
              <a:rPr lang="es-ES_tradnl" sz="2500" dirty="0" smtClean="0"/>
              <a:t>	</a:t>
            </a:r>
          </a:p>
          <a:p>
            <a:pPr>
              <a:buNone/>
            </a:pPr>
            <a:r>
              <a:rPr lang="es-ES_tradnl" sz="2500" dirty="0" smtClean="0"/>
              <a:t>	</a:t>
            </a:r>
            <a:endParaRPr lang="es-ES" sz="2500" dirty="0"/>
          </a:p>
        </p:txBody>
      </p:sp>
      <p:cxnSp>
        <p:nvCxnSpPr>
          <p:cNvPr id="5" name="4 Conector recto de flecha"/>
          <p:cNvCxnSpPr/>
          <p:nvPr/>
        </p:nvCxnSpPr>
        <p:spPr>
          <a:xfrm>
            <a:off x="3571868" y="4070354"/>
            <a:ext cx="35719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pic>
        <p:nvPicPr>
          <p:cNvPr id="6" name="Picture 1"/>
          <p:cNvPicPr>
            <a:picLocks noChangeAspect="1" noChangeArrowheads="1"/>
          </p:cNvPicPr>
          <p:nvPr/>
        </p:nvPicPr>
        <p:blipFill>
          <a:blip r:embed="rId2" cstate="print"/>
          <a:srcRect/>
          <a:stretch>
            <a:fillRect/>
          </a:stretch>
        </p:blipFill>
        <p:spPr bwMode="auto">
          <a:xfrm>
            <a:off x="0" y="-24"/>
            <a:ext cx="2500298" cy="1189301"/>
          </a:xfrm>
          <a:prstGeom prst="rect">
            <a:avLst/>
          </a:prstGeom>
          <a:noFill/>
          <a:ln w="9525">
            <a:noFill/>
            <a:miter lim="800000"/>
            <a:headEnd/>
            <a:tailEnd/>
          </a:ln>
          <a:effectLst/>
        </p:spPr>
      </p:pic>
      <p:sp>
        <p:nvSpPr>
          <p:cNvPr id="8" name="7 Rectángulo"/>
          <p:cNvSpPr/>
          <p:nvPr/>
        </p:nvSpPr>
        <p:spPr>
          <a:xfrm>
            <a:off x="0" y="6534859"/>
            <a:ext cx="9144000" cy="323141"/>
          </a:xfrm>
          <a:prstGeom prst="rect">
            <a:avLst/>
          </a:prstGeom>
        </p:spPr>
        <p:txBody>
          <a:bodyPr wrap="square">
            <a:spAutoFit/>
          </a:bodyPr>
          <a:lstStyle/>
          <a:p>
            <a:pPr algn="ctr"/>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6: Emparejamiento /  62</a:t>
            </a:r>
            <a:endParaRPr lang="es-ES" sz="1500" dirty="0">
              <a:solidFill>
                <a:schemeClr val="tx1">
                  <a:lumMod val="50000"/>
                  <a:lumOff val="50000"/>
                </a:schemeClr>
              </a:solidFill>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3071802" y="274638"/>
            <a:ext cx="5614998" cy="1143000"/>
          </a:xfrm>
        </p:spPr>
        <p:txBody>
          <a:bodyPr>
            <a:noAutofit/>
          </a:bodyPr>
          <a:lstStyle/>
          <a:p>
            <a:r>
              <a:rPr lang="es-ES_tradnl" sz="4200" u="sng" dirty="0" smtClean="0"/>
              <a:t>Cálculo de errores estándar</a:t>
            </a:r>
            <a:endParaRPr lang="es-ES" sz="4200" u="sng" dirty="0"/>
          </a:p>
        </p:txBody>
      </p:sp>
      <p:sp>
        <p:nvSpPr>
          <p:cNvPr id="3" name="2 Marcador de contenido"/>
          <p:cNvSpPr>
            <a:spLocks noGrp="1"/>
          </p:cNvSpPr>
          <p:nvPr>
            <p:ph idx="1"/>
          </p:nvPr>
        </p:nvSpPr>
        <p:spPr>
          <a:xfrm>
            <a:off x="457200" y="1428737"/>
            <a:ext cx="8229600" cy="4643470"/>
          </a:xfrm>
        </p:spPr>
        <p:txBody>
          <a:bodyPr>
            <a:normAutofit/>
          </a:bodyPr>
          <a:lstStyle/>
          <a:p>
            <a:pPr algn="just">
              <a:buNone/>
            </a:pPr>
            <a:r>
              <a:rPr lang="es-ES_tradnl" sz="2500" dirty="0" smtClean="0"/>
              <a:t>	</a:t>
            </a:r>
          </a:p>
          <a:p>
            <a:pPr algn="just">
              <a:buNone/>
            </a:pPr>
            <a:r>
              <a:rPr lang="es-ES_tradnl" sz="2500" dirty="0" smtClean="0"/>
              <a:t>	</a:t>
            </a:r>
          </a:p>
          <a:p>
            <a:pPr algn="just">
              <a:buNone/>
            </a:pPr>
            <a:r>
              <a:rPr lang="es-ES_tradnl" sz="2500" dirty="0" smtClean="0"/>
              <a:t>	1. </a:t>
            </a:r>
            <a:r>
              <a:rPr lang="es-ES_tradnl" sz="2500" u="sng" dirty="0" smtClean="0"/>
              <a:t>Analíticamente:</a:t>
            </a:r>
            <a:r>
              <a:rPr lang="es-ES_tradnl" sz="2500" dirty="0" smtClean="0"/>
              <a:t> Encontrar una expresión de la varianza.</a:t>
            </a:r>
          </a:p>
          <a:p>
            <a:pPr>
              <a:buNone/>
            </a:pPr>
            <a:r>
              <a:rPr lang="es-ES_tradnl" sz="2500" dirty="0" smtClean="0"/>
              <a:t>	</a:t>
            </a:r>
          </a:p>
          <a:p>
            <a:pPr>
              <a:buNone/>
            </a:pPr>
            <a:r>
              <a:rPr lang="es-ES_tradnl" sz="2500" dirty="0" smtClean="0"/>
              <a:t>	</a:t>
            </a:r>
            <a:r>
              <a:rPr lang="es-ES_tradnl" sz="2500" i="1" dirty="0" smtClean="0"/>
              <a:t>2.</a:t>
            </a:r>
            <a:r>
              <a:rPr lang="es-ES_tradnl" sz="2500" i="1" u="sng" dirty="0" smtClean="0"/>
              <a:t>Bootstrapping</a:t>
            </a:r>
            <a:r>
              <a:rPr lang="es-ES_tradnl" sz="2500" u="sng" dirty="0" smtClean="0"/>
              <a:t>:</a:t>
            </a:r>
            <a:r>
              <a:rPr lang="es-ES_tradnl" sz="2500" dirty="0" smtClean="0"/>
              <a:t> Estima propiedades de un estimador, midiendo propiedades de la distribución empírica de los datos.</a:t>
            </a:r>
            <a:endParaRPr lang="es-ES" sz="2500" dirty="0" smtClean="0"/>
          </a:p>
          <a:p>
            <a:pPr>
              <a:buNone/>
            </a:pPr>
            <a:r>
              <a:rPr lang="es-ES_tradnl" sz="2500" dirty="0" smtClean="0"/>
              <a:t>	Asume que las observaciones son independientes e idénticamente distribuidas (</a:t>
            </a:r>
            <a:r>
              <a:rPr lang="es-ES_tradnl" sz="2500" dirty="0" err="1" smtClean="0"/>
              <a:t>iid</a:t>
            </a:r>
            <a:r>
              <a:rPr lang="es-ES_tradnl" sz="2500" dirty="0" smtClean="0"/>
              <a:t>).</a:t>
            </a:r>
          </a:p>
          <a:p>
            <a:pPr algn="just">
              <a:buNone/>
            </a:pPr>
            <a:r>
              <a:rPr lang="es-ES_tradnl" sz="2500" dirty="0" smtClean="0"/>
              <a:t>	No funciona para el vecino más cercano.</a:t>
            </a:r>
          </a:p>
          <a:p>
            <a:pPr>
              <a:buNone/>
            </a:pPr>
            <a:endParaRPr lang="es-ES" sz="2500" dirty="0"/>
          </a:p>
        </p:txBody>
      </p:sp>
      <p:pic>
        <p:nvPicPr>
          <p:cNvPr id="5" name="Picture 1"/>
          <p:cNvPicPr>
            <a:picLocks noChangeAspect="1" noChangeArrowheads="1"/>
          </p:cNvPicPr>
          <p:nvPr/>
        </p:nvPicPr>
        <p:blipFill>
          <a:blip r:embed="rId3" cstate="print"/>
          <a:srcRect/>
          <a:stretch>
            <a:fillRect/>
          </a:stretch>
        </p:blipFill>
        <p:spPr bwMode="auto">
          <a:xfrm>
            <a:off x="0" y="-24"/>
            <a:ext cx="2500298" cy="1189301"/>
          </a:xfrm>
          <a:prstGeom prst="rect">
            <a:avLst/>
          </a:prstGeom>
          <a:noFill/>
          <a:ln w="9525">
            <a:noFill/>
            <a:miter lim="800000"/>
            <a:headEnd/>
            <a:tailEnd/>
          </a:ln>
          <a:effectLst/>
        </p:spPr>
      </p:pic>
      <p:sp>
        <p:nvSpPr>
          <p:cNvPr id="6" name="5 Rectángulo"/>
          <p:cNvSpPr/>
          <p:nvPr/>
        </p:nvSpPr>
        <p:spPr>
          <a:xfrm>
            <a:off x="0" y="6534859"/>
            <a:ext cx="9144000" cy="323141"/>
          </a:xfrm>
          <a:prstGeom prst="rect">
            <a:avLst/>
          </a:prstGeom>
        </p:spPr>
        <p:txBody>
          <a:bodyPr wrap="square">
            <a:spAutoFit/>
          </a:bodyPr>
          <a:lstStyle/>
          <a:p>
            <a:pPr algn="ctr"/>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6: Emparejamiento /  63</a:t>
            </a:r>
            <a:endParaRPr lang="es-ES" sz="1500" dirty="0">
              <a:solidFill>
                <a:schemeClr val="tx1">
                  <a:lumMod val="50000"/>
                  <a:lumOff val="50000"/>
                </a:schemeClr>
              </a:solidFill>
            </a:endParaRPr>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3071802" y="274638"/>
            <a:ext cx="5614998" cy="1143000"/>
          </a:xfrm>
        </p:spPr>
        <p:txBody>
          <a:bodyPr>
            <a:noAutofit/>
          </a:bodyPr>
          <a:lstStyle/>
          <a:p>
            <a:r>
              <a:rPr lang="es-ES_tradnl" sz="4200" u="sng" dirty="0" smtClean="0"/>
              <a:t>Pruebas de falsificación</a:t>
            </a:r>
            <a:endParaRPr lang="es-ES" sz="4200" u="sng" dirty="0"/>
          </a:p>
        </p:txBody>
      </p:sp>
      <p:sp>
        <p:nvSpPr>
          <p:cNvPr id="3" name="2 Marcador de contenido"/>
          <p:cNvSpPr>
            <a:spLocks noGrp="1"/>
          </p:cNvSpPr>
          <p:nvPr>
            <p:ph idx="1"/>
          </p:nvPr>
        </p:nvSpPr>
        <p:spPr>
          <a:xfrm>
            <a:off x="457200" y="1428736"/>
            <a:ext cx="8229600" cy="5096607"/>
          </a:xfrm>
        </p:spPr>
        <p:txBody>
          <a:bodyPr>
            <a:normAutofit fontScale="92500" lnSpcReduction="10000"/>
          </a:bodyPr>
          <a:lstStyle/>
          <a:p>
            <a:pPr algn="just">
              <a:buNone/>
            </a:pPr>
            <a:r>
              <a:rPr lang="es-ES_tradnl" sz="2500" dirty="0" smtClean="0"/>
              <a:t>	</a:t>
            </a:r>
            <a:r>
              <a:rPr lang="es-ES" sz="2800" dirty="0" smtClean="0"/>
              <a:t>El supuesto de independencia condicional, E(</a:t>
            </a:r>
            <a:r>
              <a:rPr lang="es-ES" sz="2800" dirty="0" err="1" smtClean="0"/>
              <a:t>u|D</a:t>
            </a:r>
            <a:r>
              <a:rPr lang="es-ES" sz="2800" dirty="0" smtClean="0"/>
              <a:t>) = 0, permite la identificación en PSM.</a:t>
            </a:r>
          </a:p>
          <a:p>
            <a:pPr algn="just">
              <a:buNone/>
            </a:pPr>
            <a:endParaRPr lang="es-ES" sz="2800" dirty="0" smtClean="0"/>
          </a:p>
          <a:p>
            <a:pPr>
              <a:buNone/>
            </a:pPr>
            <a:r>
              <a:rPr lang="es-ES" sz="2800" dirty="0" smtClean="0"/>
              <a:t>	El supuesto de independencia condicional no tiene implicaciones que se puedan comprobar directamente en los datos. </a:t>
            </a:r>
          </a:p>
          <a:p>
            <a:pPr algn="just">
              <a:buNone/>
            </a:pPr>
            <a:r>
              <a:rPr lang="es-ES" sz="2800" dirty="0" smtClean="0"/>
              <a:t>	</a:t>
            </a:r>
          </a:p>
          <a:p>
            <a:pPr>
              <a:buNone/>
            </a:pPr>
            <a:r>
              <a:rPr lang="es-ES" sz="2800" dirty="0" smtClean="0"/>
              <a:t>	No es posible determinar de manera directa si se cumple o no. </a:t>
            </a:r>
          </a:p>
          <a:p>
            <a:pPr algn="just">
              <a:buNone/>
            </a:pPr>
            <a:endParaRPr lang="es-ES" sz="2800" dirty="0" smtClean="0"/>
          </a:p>
          <a:p>
            <a:pPr>
              <a:buNone/>
            </a:pPr>
            <a:r>
              <a:rPr lang="es-ES" sz="2800" dirty="0" smtClean="0"/>
              <a:t>	Pruebas de falsificación: ejercicios para evaluar si la estrategia de identificación tiene validez. </a:t>
            </a:r>
            <a:endParaRPr lang="es-CO" sz="2800" dirty="0" smtClean="0"/>
          </a:p>
          <a:p>
            <a:pPr algn="just">
              <a:buNone/>
            </a:pPr>
            <a:endParaRPr lang="es-ES" sz="2800" dirty="0" smtClean="0"/>
          </a:p>
        </p:txBody>
      </p:sp>
      <p:pic>
        <p:nvPicPr>
          <p:cNvPr id="5" name="Picture 1"/>
          <p:cNvPicPr>
            <a:picLocks noChangeAspect="1" noChangeArrowheads="1"/>
          </p:cNvPicPr>
          <p:nvPr/>
        </p:nvPicPr>
        <p:blipFill>
          <a:blip r:embed="rId3" cstate="print"/>
          <a:srcRect/>
          <a:stretch>
            <a:fillRect/>
          </a:stretch>
        </p:blipFill>
        <p:spPr bwMode="auto">
          <a:xfrm>
            <a:off x="0" y="-24"/>
            <a:ext cx="2500298" cy="1189301"/>
          </a:xfrm>
          <a:prstGeom prst="rect">
            <a:avLst/>
          </a:prstGeom>
          <a:noFill/>
          <a:ln w="9525">
            <a:noFill/>
            <a:miter lim="800000"/>
            <a:headEnd/>
            <a:tailEnd/>
          </a:ln>
          <a:effectLst/>
        </p:spPr>
      </p:pic>
      <p:sp>
        <p:nvSpPr>
          <p:cNvPr id="6" name="5 Rectángulo"/>
          <p:cNvSpPr/>
          <p:nvPr/>
        </p:nvSpPr>
        <p:spPr>
          <a:xfrm>
            <a:off x="0" y="6534859"/>
            <a:ext cx="9144000" cy="323141"/>
          </a:xfrm>
          <a:prstGeom prst="rect">
            <a:avLst/>
          </a:prstGeom>
        </p:spPr>
        <p:txBody>
          <a:bodyPr wrap="square">
            <a:spAutoFit/>
          </a:bodyPr>
          <a:lstStyle/>
          <a:p>
            <a:pPr algn="ctr"/>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6: Emparejamiento /  64</a:t>
            </a:r>
            <a:endParaRPr lang="es-ES" sz="1500" dirty="0">
              <a:solidFill>
                <a:schemeClr val="tx1">
                  <a:lumMod val="50000"/>
                  <a:lumOff val="50000"/>
                </a:schemeClr>
              </a:solidFill>
            </a:endParaRPr>
          </a:p>
        </p:txBody>
      </p:sp>
      <p:sp>
        <p:nvSpPr>
          <p:cNvPr id="10" name="9 Flecha abajo"/>
          <p:cNvSpPr/>
          <p:nvPr/>
        </p:nvSpPr>
        <p:spPr>
          <a:xfrm>
            <a:off x="4214810" y="3573016"/>
            <a:ext cx="714380" cy="720080"/>
          </a:xfrm>
          <a:prstGeom prst="downArrow">
            <a:avLst/>
          </a:prstGeom>
          <a:no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3071802" y="274638"/>
            <a:ext cx="5614998" cy="1143000"/>
          </a:xfrm>
        </p:spPr>
        <p:txBody>
          <a:bodyPr>
            <a:noAutofit/>
          </a:bodyPr>
          <a:lstStyle/>
          <a:p>
            <a:r>
              <a:rPr lang="es-ES_tradnl" sz="4200" u="sng" dirty="0" smtClean="0"/>
              <a:t>Pruebas de falsificación</a:t>
            </a:r>
            <a:endParaRPr lang="es-ES" sz="4200" u="sng" dirty="0"/>
          </a:p>
        </p:txBody>
      </p:sp>
      <p:sp>
        <p:nvSpPr>
          <p:cNvPr id="3" name="2 Marcador de contenido"/>
          <p:cNvSpPr>
            <a:spLocks noGrp="1"/>
          </p:cNvSpPr>
          <p:nvPr>
            <p:ph idx="1"/>
          </p:nvPr>
        </p:nvSpPr>
        <p:spPr>
          <a:xfrm>
            <a:off x="457200" y="1428737"/>
            <a:ext cx="8229600" cy="4643470"/>
          </a:xfrm>
        </p:spPr>
        <p:txBody>
          <a:bodyPr>
            <a:normAutofit/>
          </a:bodyPr>
          <a:lstStyle/>
          <a:p>
            <a:pPr algn="just">
              <a:buNone/>
            </a:pPr>
            <a:r>
              <a:rPr lang="es-ES" sz="2800" dirty="0" smtClean="0"/>
              <a:t>	</a:t>
            </a:r>
            <a:r>
              <a:rPr lang="es-ES" sz="2600" dirty="0" err="1" smtClean="0"/>
              <a:t>Imbens</a:t>
            </a:r>
            <a:r>
              <a:rPr lang="es-ES" sz="2600" dirty="0" smtClean="0"/>
              <a:t> y </a:t>
            </a:r>
            <a:r>
              <a:rPr lang="es-ES" sz="2600" dirty="0" err="1" smtClean="0"/>
              <a:t>Rubin</a:t>
            </a:r>
            <a:r>
              <a:rPr lang="es-ES" sz="2600" dirty="0" smtClean="0"/>
              <a:t> (2010) sugieren dos tipos de pruebas de falsificación:</a:t>
            </a:r>
          </a:p>
          <a:p>
            <a:pPr algn="just">
              <a:buNone/>
            </a:pPr>
            <a:endParaRPr lang="es-ES" sz="2600" dirty="0" smtClean="0"/>
          </a:p>
          <a:p>
            <a:pPr marL="514350" indent="-514350">
              <a:buFont typeface="+mj-lt"/>
              <a:buAutoNum type="arabicPeriod"/>
            </a:pPr>
            <a:r>
              <a:rPr lang="es-ES" sz="2600" dirty="0" smtClean="0"/>
              <a:t>Estimar el efecto del programa sobre una variable de resultado ficticia, que no puede ser afectada por el tratamiento (</a:t>
            </a:r>
            <a:r>
              <a:rPr lang="es-ES" sz="2600" dirty="0" err="1" smtClean="0"/>
              <a:t>seudorresultado</a:t>
            </a:r>
            <a:r>
              <a:rPr lang="es-ES" sz="2600" dirty="0" smtClean="0"/>
              <a:t>).</a:t>
            </a:r>
          </a:p>
          <a:p>
            <a:pPr marL="514350" indent="-514350" algn="just">
              <a:buFont typeface="+mj-lt"/>
              <a:buAutoNum type="arabicPeriod"/>
            </a:pPr>
            <a:endParaRPr lang="es-ES" sz="2600" dirty="0" smtClean="0"/>
          </a:p>
          <a:p>
            <a:pPr marL="514350" indent="-514350">
              <a:buFont typeface="+mj-lt"/>
              <a:buAutoNum type="arabicPeriod"/>
            </a:pPr>
            <a:r>
              <a:rPr lang="es-ES" sz="2600" dirty="0" smtClean="0"/>
              <a:t>Estimar el efecto causal de una intervención ficticia que se sabe no debería tener efectos en nuestra variable de resultado (</a:t>
            </a:r>
            <a:r>
              <a:rPr lang="es-ES" sz="2600" dirty="0" err="1" smtClean="0"/>
              <a:t>seudotratamiento</a:t>
            </a:r>
            <a:r>
              <a:rPr lang="es-ES" sz="2600" dirty="0" smtClean="0"/>
              <a:t>).</a:t>
            </a:r>
            <a:endParaRPr lang="es-ES_tradnl" sz="2600" dirty="0" smtClean="0"/>
          </a:p>
        </p:txBody>
      </p:sp>
      <p:pic>
        <p:nvPicPr>
          <p:cNvPr id="5" name="Picture 1"/>
          <p:cNvPicPr>
            <a:picLocks noChangeAspect="1" noChangeArrowheads="1"/>
          </p:cNvPicPr>
          <p:nvPr/>
        </p:nvPicPr>
        <p:blipFill>
          <a:blip r:embed="rId3" cstate="print"/>
          <a:srcRect/>
          <a:stretch>
            <a:fillRect/>
          </a:stretch>
        </p:blipFill>
        <p:spPr bwMode="auto">
          <a:xfrm>
            <a:off x="0" y="-24"/>
            <a:ext cx="2500298" cy="1189301"/>
          </a:xfrm>
          <a:prstGeom prst="rect">
            <a:avLst/>
          </a:prstGeom>
          <a:noFill/>
          <a:ln w="9525">
            <a:noFill/>
            <a:miter lim="800000"/>
            <a:headEnd/>
            <a:tailEnd/>
          </a:ln>
          <a:effectLst/>
        </p:spPr>
      </p:pic>
      <p:sp>
        <p:nvSpPr>
          <p:cNvPr id="6" name="5 Rectángulo"/>
          <p:cNvSpPr/>
          <p:nvPr/>
        </p:nvSpPr>
        <p:spPr>
          <a:xfrm>
            <a:off x="0" y="6534859"/>
            <a:ext cx="9144000" cy="323141"/>
          </a:xfrm>
          <a:prstGeom prst="rect">
            <a:avLst/>
          </a:prstGeom>
        </p:spPr>
        <p:txBody>
          <a:bodyPr wrap="square">
            <a:spAutoFit/>
          </a:bodyPr>
          <a:lstStyle/>
          <a:p>
            <a:pPr algn="ctr"/>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6: Emparejamiento /  65</a:t>
            </a:r>
            <a:endParaRPr lang="es-ES" sz="1500" dirty="0">
              <a:solidFill>
                <a:schemeClr val="tx1">
                  <a:lumMod val="50000"/>
                  <a:lumOff val="50000"/>
                </a:schemeClr>
              </a:solidFill>
            </a:endParaRPr>
          </a:p>
        </p:txBody>
      </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57200" y="1714488"/>
            <a:ext cx="8229600" cy="4572032"/>
          </a:xfrm>
          <a:ln w="28575">
            <a:solidFill>
              <a:schemeClr val="accent1">
                <a:lumMod val="75000"/>
              </a:schemeClr>
            </a:solidFill>
          </a:ln>
        </p:spPr>
        <p:txBody>
          <a:bodyPr>
            <a:normAutofit fontScale="92500" lnSpcReduction="20000"/>
          </a:bodyPr>
          <a:lstStyle/>
          <a:p>
            <a:pPr>
              <a:buNone/>
            </a:pPr>
            <a:r>
              <a:rPr lang="es-CO" sz="2500" dirty="0" smtClean="0"/>
              <a:t>	</a:t>
            </a:r>
            <a:r>
              <a:rPr lang="es-ES" sz="2800" dirty="0" smtClean="0"/>
              <a:t>Estimar el efecto de </a:t>
            </a:r>
            <a:r>
              <a:rPr lang="es-ES" sz="2800" i="1" dirty="0" smtClean="0"/>
              <a:t>Canasta</a:t>
            </a:r>
            <a:r>
              <a:rPr lang="es-ES" sz="2800" dirty="0" smtClean="0"/>
              <a:t> sobre el peso al nacer, que claramente no se ve afectado por </a:t>
            </a:r>
            <a:r>
              <a:rPr lang="es-ES" sz="2800" i="1" dirty="0" smtClean="0"/>
              <a:t>Canasta</a:t>
            </a:r>
            <a:r>
              <a:rPr lang="es-ES" sz="2800" dirty="0" smtClean="0"/>
              <a:t>. </a:t>
            </a:r>
          </a:p>
          <a:p>
            <a:pPr>
              <a:buNone/>
            </a:pPr>
            <a:endParaRPr lang="es-ES" sz="2800" dirty="0" smtClean="0"/>
          </a:p>
          <a:p>
            <a:pPr>
              <a:buNone/>
            </a:pPr>
            <a:r>
              <a:rPr lang="es-ES" sz="2800" dirty="0" smtClean="0"/>
              <a:t>	Se estima el impacto de </a:t>
            </a:r>
            <a:r>
              <a:rPr lang="es-ES" sz="2800" i="1" dirty="0" smtClean="0"/>
              <a:t>Canasta</a:t>
            </a:r>
            <a:r>
              <a:rPr lang="es-ES" sz="2800" dirty="0" smtClean="0"/>
              <a:t> en este </a:t>
            </a:r>
            <a:r>
              <a:rPr lang="es-ES" sz="2800" dirty="0" err="1" smtClean="0"/>
              <a:t>seudorresultado</a:t>
            </a:r>
            <a:r>
              <a:rPr lang="es-ES" sz="2800" dirty="0" smtClean="0"/>
              <a:t>, por ejemplo, usando emparejamiento por estratificación. </a:t>
            </a:r>
          </a:p>
          <a:p>
            <a:pPr>
              <a:buNone/>
            </a:pPr>
            <a:endParaRPr lang="es-ES" sz="2800" dirty="0" smtClean="0"/>
          </a:p>
          <a:p>
            <a:pPr>
              <a:buNone/>
            </a:pPr>
            <a:r>
              <a:rPr lang="es-ES" sz="2800" dirty="0" smtClean="0"/>
              <a:t>	Incluir en la estimación otras variables de control que determinan el peso al nacer: la educación de la madre y los ingresos del hogar.</a:t>
            </a:r>
          </a:p>
          <a:p>
            <a:pPr>
              <a:buNone/>
            </a:pPr>
            <a:endParaRPr lang="es-ES" sz="2800" dirty="0" smtClean="0"/>
          </a:p>
          <a:p>
            <a:pPr>
              <a:buNone/>
            </a:pPr>
            <a:r>
              <a:rPr lang="es-ES" sz="2800" dirty="0" smtClean="0"/>
              <a:t>	</a:t>
            </a:r>
            <a:r>
              <a:rPr lang="es-ES" sz="2800" i="1" dirty="0" smtClean="0"/>
              <a:t>Canasta</a:t>
            </a:r>
            <a:r>
              <a:rPr lang="es-ES" sz="2800" dirty="0" smtClean="0"/>
              <a:t> no debe explicar el peso al nacer.</a:t>
            </a:r>
            <a:endParaRPr lang="es-ES" sz="2500" dirty="0"/>
          </a:p>
        </p:txBody>
      </p:sp>
      <p:pic>
        <p:nvPicPr>
          <p:cNvPr id="5" name="Picture 1"/>
          <p:cNvPicPr>
            <a:picLocks noChangeAspect="1" noChangeArrowheads="1"/>
          </p:cNvPicPr>
          <p:nvPr/>
        </p:nvPicPr>
        <p:blipFill>
          <a:blip r:embed="rId2" cstate="print"/>
          <a:srcRect/>
          <a:stretch>
            <a:fillRect/>
          </a:stretch>
        </p:blipFill>
        <p:spPr bwMode="auto">
          <a:xfrm>
            <a:off x="0" y="-24"/>
            <a:ext cx="2500298" cy="1189301"/>
          </a:xfrm>
          <a:prstGeom prst="rect">
            <a:avLst/>
          </a:prstGeom>
          <a:noFill/>
          <a:ln w="9525">
            <a:noFill/>
            <a:miter lim="800000"/>
            <a:headEnd/>
            <a:tailEnd/>
          </a:ln>
          <a:effectLst/>
        </p:spPr>
      </p:pic>
      <p:sp>
        <p:nvSpPr>
          <p:cNvPr id="6" name="1 Título"/>
          <p:cNvSpPr txBox="1">
            <a:spLocks/>
          </p:cNvSpPr>
          <p:nvPr/>
        </p:nvSpPr>
        <p:spPr>
          <a:xfrm>
            <a:off x="2357422" y="274637"/>
            <a:ext cx="6329378" cy="1082661"/>
          </a:xfrm>
          <a:prstGeom prst="rect">
            <a:avLst/>
          </a:prstGeom>
        </p:spPr>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s-ES_tradnl" sz="4200" b="0" i="0" u="sng" strike="noStrike" kern="1200" cap="none" spc="0" normalizeH="0" baseline="0" noProof="0" dirty="0" smtClean="0">
                <a:ln>
                  <a:noFill/>
                </a:ln>
                <a:solidFill>
                  <a:schemeClr val="tx1"/>
                </a:solidFill>
                <a:effectLst/>
                <a:uLnTx/>
                <a:uFillTx/>
                <a:latin typeface="+mj-lt"/>
                <a:ea typeface="+mj-ea"/>
                <a:cs typeface="+mj-cs"/>
              </a:rPr>
              <a:t>Ejemplo: </a:t>
            </a:r>
            <a:r>
              <a:rPr kumimoji="0" lang="es-ES_tradnl" sz="4200" b="0" i="1" u="sng" strike="noStrike" kern="1200" cap="none" spc="0" normalizeH="0" baseline="0" noProof="0" dirty="0" smtClean="0">
                <a:ln>
                  <a:noFill/>
                </a:ln>
                <a:solidFill>
                  <a:schemeClr val="tx1"/>
                </a:solidFill>
                <a:effectLst/>
                <a:uLnTx/>
                <a:uFillTx/>
                <a:latin typeface="+mj-lt"/>
                <a:ea typeface="+mj-ea"/>
                <a:cs typeface="+mj-cs"/>
              </a:rPr>
              <a:t>Canasta</a:t>
            </a:r>
            <a:endParaRPr kumimoji="0" lang="es-ES" sz="4200" b="0" i="0" u="sng" strike="noStrike" kern="1200" cap="none" spc="0" normalizeH="0" baseline="0" noProof="0" dirty="0">
              <a:ln>
                <a:noFill/>
              </a:ln>
              <a:solidFill>
                <a:schemeClr val="tx1"/>
              </a:solidFill>
              <a:effectLst/>
              <a:uLnTx/>
              <a:uFillTx/>
              <a:latin typeface="+mj-lt"/>
              <a:ea typeface="+mj-ea"/>
              <a:cs typeface="+mj-cs"/>
            </a:endParaRPr>
          </a:p>
        </p:txBody>
      </p:sp>
      <p:sp>
        <p:nvSpPr>
          <p:cNvPr id="8" name="7 Rectángulo"/>
          <p:cNvSpPr/>
          <p:nvPr/>
        </p:nvSpPr>
        <p:spPr>
          <a:xfrm>
            <a:off x="0" y="6534859"/>
            <a:ext cx="9144000" cy="323141"/>
          </a:xfrm>
          <a:prstGeom prst="rect">
            <a:avLst/>
          </a:prstGeom>
        </p:spPr>
        <p:txBody>
          <a:bodyPr wrap="square">
            <a:spAutoFit/>
          </a:bodyPr>
          <a:lstStyle/>
          <a:p>
            <a:pPr algn="ctr"/>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6: Emparejamiento /  66</a:t>
            </a:r>
            <a:endParaRPr lang="es-ES" sz="1500" dirty="0">
              <a:solidFill>
                <a:schemeClr val="tx1">
                  <a:lumMod val="50000"/>
                  <a:lumOff val="50000"/>
                </a:schemeClr>
              </a:solidFill>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571736" y="274638"/>
            <a:ext cx="6115064" cy="1143000"/>
          </a:xfrm>
        </p:spPr>
        <p:txBody>
          <a:bodyPr>
            <a:noAutofit/>
          </a:bodyPr>
          <a:lstStyle/>
          <a:p>
            <a:r>
              <a:rPr lang="es-CO" sz="4200" u="sng" dirty="0" smtClean="0"/>
              <a:t>Ejemplo: Job Training </a:t>
            </a:r>
            <a:r>
              <a:rPr lang="es-CO" sz="4200" u="sng" dirty="0" err="1" smtClean="0"/>
              <a:t>Partnership</a:t>
            </a:r>
            <a:r>
              <a:rPr lang="es-CO" sz="4200" u="sng" dirty="0" smtClean="0"/>
              <a:t> </a:t>
            </a:r>
            <a:r>
              <a:rPr lang="es-CO" sz="4200" u="sng" dirty="0" err="1" smtClean="0"/>
              <a:t>Act</a:t>
            </a:r>
            <a:endParaRPr lang="es-ES" sz="4200" u="sng" dirty="0"/>
          </a:p>
        </p:txBody>
      </p:sp>
      <p:sp>
        <p:nvSpPr>
          <p:cNvPr id="3" name="2 Marcador de contenido"/>
          <p:cNvSpPr>
            <a:spLocks noGrp="1"/>
          </p:cNvSpPr>
          <p:nvPr>
            <p:ph idx="1"/>
          </p:nvPr>
        </p:nvSpPr>
        <p:spPr>
          <a:xfrm>
            <a:off x="457200" y="1600200"/>
            <a:ext cx="8229600" cy="4829196"/>
          </a:xfrm>
          <a:ln w="28575">
            <a:solidFill>
              <a:schemeClr val="accent1">
                <a:lumMod val="75000"/>
              </a:schemeClr>
            </a:solidFill>
          </a:ln>
        </p:spPr>
        <p:txBody>
          <a:bodyPr>
            <a:noAutofit/>
          </a:bodyPr>
          <a:lstStyle/>
          <a:p>
            <a:r>
              <a:rPr lang="es-CO" sz="2500" b="1" u="sng" dirty="0" smtClean="0"/>
              <a:t>Objetivo:</a:t>
            </a:r>
            <a:r>
              <a:rPr lang="es-CO" sz="2500" b="1" dirty="0" smtClean="0"/>
              <a:t> </a:t>
            </a:r>
            <a:r>
              <a:rPr lang="es-CO" sz="2500" dirty="0" smtClean="0"/>
              <a:t>Provee entrenamiento directo en el trabajo y asistencia en la búsqueda de trabajo a personas en condiciones de pobreza durante los seis meses anteriores.</a:t>
            </a:r>
          </a:p>
          <a:p>
            <a:endParaRPr lang="es-CO" sz="2500" dirty="0" smtClean="0"/>
          </a:p>
          <a:p>
            <a:r>
              <a:rPr lang="es-CO" sz="2500" b="1" u="sng" dirty="0" smtClean="0"/>
              <a:t>Grupo de control y tratamiento</a:t>
            </a:r>
            <a:r>
              <a:rPr lang="es-CO" sz="2500" dirty="0" smtClean="0"/>
              <a:t>: Asignados de manera aleatoria, 1/3 y 2/3 del total de individuos respectivamente.</a:t>
            </a:r>
          </a:p>
          <a:p>
            <a:pPr algn="just"/>
            <a:endParaRPr lang="es-CO" sz="2500" dirty="0" smtClean="0"/>
          </a:p>
          <a:p>
            <a:r>
              <a:rPr lang="es-CO" sz="2500" b="1" u="sng" dirty="0" smtClean="0"/>
              <a:t>Datos</a:t>
            </a:r>
            <a:r>
              <a:rPr lang="es-CO" sz="2500" dirty="0" smtClean="0"/>
              <a:t>: Información longitudinal de:</a:t>
            </a:r>
          </a:p>
          <a:p>
            <a:pPr lvl="2" algn="just"/>
            <a:r>
              <a:rPr lang="es-CO" sz="2500" dirty="0" smtClean="0"/>
              <a:t>Grupo de tratamiento.</a:t>
            </a:r>
          </a:p>
          <a:p>
            <a:pPr lvl="2" algn="just"/>
            <a:r>
              <a:rPr lang="es-CO" sz="2500" dirty="0" smtClean="0"/>
              <a:t>Grupo de control.</a:t>
            </a:r>
          </a:p>
          <a:p>
            <a:pPr lvl="2" algn="just"/>
            <a:r>
              <a:rPr lang="es-CO" sz="2500" dirty="0" smtClean="0"/>
              <a:t>Grupo comparación de elegibles que no participaron.</a:t>
            </a:r>
            <a:endParaRPr lang="es-ES" sz="2500" dirty="0"/>
          </a:p>
        </p:txBody>
      </p:sp>
      <p:pic>
        <p:nvPicPr>
          <p:cNvPr id="4" name="Picture 1"/>
          <p:cNvPicPr>
            <a:picLocks noChangeAspect="1" noChangeArrowheads="1"/>
          </p:cNvPicPr>
          <p:nvPr/>
        </p:nvPicPr>
        <p:blipFill>
          <a:blip r:embed="rId2" cstate="print"/>
          <a:srcRect/>
          <a:stretch>
            <a:fillRect/>
          </a:stretch>
        </p:blipFill>
        <p:spPr bwMode="auto">
          <a:xfrm>
            <a:off x="0" y="-24"/>
            <a:ext cx="2500298" cy="1189301"/>
          </a:xfrm>
          <a:prstGeom prst="rect">
            <a:avLst/>
          </a:prstGeom>
          <a:noFill/>
          <a:ln w="9525">
            <a:noFill/>
            <a:miter lim="800000"/>
            <a:headEnd/>
            <a:tailEnd/>
          </a:ln>
          <a:effectLst/>
        </p:spPr>
      </p:pic>
      <p:sp>
        <p:nvSpPr>
          <p:cNvPr id="7" name="6 Rectángulo"/>
          <p:cNvSpPr/>
          <p:nvPr/>
        </p:nvSpPr>
        <p:spPr>
          <a:xfrm>
            <a:off x="0" y="6534859"/>
            <a:ext cx="9144000" cy="323141"/>
          </a:xfrm>
          <a:prstGeom prst="rect">
            <a:avLst/>
          </a:prstGeom>
        </p:spPr>
        <p:txBody>
          <a:bodyPr wrap="square">
            <a:spAutoFit/>
          </a:bodyPr>
          <a:lstStyle/>
          <a:p>
            <a:pPr algn="ctr"/>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6: Emparejamiento /  67</a:t>
            </a:r>
            <a:endParaRPr lang="es-ES" sz="1500" dirty="0">
              <a:solidFill>
                <a:schemeClr val="tx1">
                  <a:lumMod val="50000"/>
                  <a:lumOff val="50000"/>
                </a:schemeClr>
              </a:solidFill>
            </a:endParaRPr>
          </a:p>
        </p:txBody>
      </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ln w="28575">
            <a:solidFill>
              <a:schemeClr val="accent1">
                <a:lumMod val="75000"/>
              </a:schemeClr>
            </a:solidFill>
          </a:ln>
        </p:spPr>
        <p:txBody>
          <a:bodyPr>
            <a:normAutofit/>
          </a:bodyPr>
          <a:lstStyle/>
          <a:p>
            <a:endParaRPr lang="es-CO" sz="2500" dirty="0" smtClean="0"/>
          </a:p>
          <a:p>
            <a:r>
              <a:rPr lang="es-CO" sz="2500" dirty="0" smtClean="0"/>
              <a:t>Modelo para calcular la participación:</a:t>
            </a:r>
          </a:p>
          <a:p>
            <a:pPr lvl="1"/>
            <a:r>
              <a:rPr lang="es-CO" sz="2500" dirty="0" smtClean="0"/>
              <a:t>Logit </a:t>
            </a:r>
          </a:p>
          <a:p>
            <a:pPr lvl="1">
              <a:buNone/>
            </a:pPr>
            <a:r>
              <a:rPr lang="es-CO" sz="2500" dirty="0" smtClean="0"/>
              <a:t>Depende de:</a:t>
            </a:r>
          </a:p>
          <a:p>
            <a:pPr lvl="2"/>
            <a:r>
              <a:rPr lang="es-CO" sz="2500" dirty="0" smtClean="0"/>
              <a:t>Características del individuo.</a:t>
            </a:r>
          </a:p>
          <a:p>
            <a:pPr lvl="2"/>
            <a:r>
              <a:rPr lang="es-CO" sz="2500" dirty="0" smtClean="0"/>
              <a:t>Historia de desempleo reciente.</a:t>
            </a:r>
          </a:p>
          <a:p>
            <a:pPr lvl="2"/>
            <a:r>
              <a:rPr lang="es-CO" sz="2500" dirty="0" smtClean="0"/>
              <a:t>Comportamiento de los ingresos laborales.</a:t>
            </a:r>
          </a:p>
          <a:p>
            <a:pPr lvl="2"/>
            <a:r>
              <a:rPr lang="es-CO" sz="2500" dirty="0" smtClean="0"/>
              <a:t>Para mujeres: Historia marital.</a:t>
            </a:r>
          </a:p>
        </p:txBody>
      </p:sp>
      <p:sp>
        <p:nvSpPr>
          <p:cNvPr id="4" name="1 Título"/>
          <p:cNvSpPr>
            <a:spLocks noGrp="1"/>
          </p:cNvSpPr>
          <p:nvPr>
            <p:ph type="title"/>
          </p:nvPr>
        </p:nvSpPr>
        <p:spPr>
          <a:xfrm>
            <a:off x="3428992" y="274638"/>
            <a:ext cx="5257808" cy="1143000"/>
          </a:xfrm>
        </p:spPr>
        <p:txBody>
          <a:bodyPr>
            <a:noAutofit/>
          </a:bodyPr>
          <a:lstStyle/>
          <a:p>
            <a:r>
              <a:rPr lang="es-CO" sz="4200" u="sng" dirty="0" smtClean="0"/>
              <a:t>Ejemplo: Job Training Partnership Act</a:t>
            </a:r>
            <a:endParaRPr lang="es-ES" sz="4200" u="sng" dirty="0"/>
          </a:p>
        </p:txBody>
      </p:sp>
      <p:pic>
        <p:nvPicPr>
          <p:cNvPr id="7" name="Picture 1"/>
          <p:cNvPicPr>
            <a:picLocks noChangeAspect="1" noChangeArrowheads="1"/>
          </p:cNvPicPr>
          <p:nvPr/>
        </p:nvPicPr>
        <p:blipFill>
          <a:blip r:embed="rId2" cstate="print"/>
          <a:srcRect/>
          <a:stretch>
            <a:fillRect/>
          </a:stretch>
        </p:blipFill>
        <p:spPr bwMode="auto">
          <a:xfrm>
            <a:off x="0" y="-24"/>
            <a:ext cx="2500298" cy="1189301"/>
          </a:xfrm>
          <a:prstGeom prst="rect">
            <a:avLst/>
          </a:prstGeom>
          <a:noFill/>
          <a:ln w="9525">
            <a:noFill/>
            <a:miter lim="800000"/>
            <a:headEnd/>
            <a:tailEnd/>
          </a:ln>
          <a:effectLst/>
        </p:spPr>
      </p:pic>
      <p:sp>
        <p:nvSpPr>
          <p:cNvPr id="8" name="7 Rectángulo"/>
          <p:cNvSpPr/>
          <p:nvPr/>
        </p:nvSpPr>
        <p:spPr>
          <a:xfrm>
            <a:off x="0" y="6534859"/>
            <a:ext cx="9144000" cy="323141"/>
          </a:xfrm>
          <a:prstGeom prst="rect">
            <a:avLst/>
          </a:prstGeom>
        </p:spPr>
        <p:txBody>
          <a:bodyPr wrap="square">
            <a:spAutoFit/>
          </a:bodyPr>
          <a:lstStyle/>
          <a:p>
            <a:pPr algn="ctr"/>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6: Emparejamiento /  68</a:t>
            </a:r>
            <a:endParaRPr lang="es-ES" sz="1500" dirty="0">
              <a:solidFill>
                <a:schemeClr val="tx1">
                  <a:lumMod val="50000"/>
                  <a:lumOff val="50000"/>
                </a:schemeClr>
              </a:solidFill>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5 Marcador de contenido"/>
          <p:cNvGraphicFramePr>
            <a:graphicFrameLocks noGrp="1"/>
          </p:cNvGraphicFramePr>
          <p:nvPr>
            <p:ph idx="1"/>
          </p:nvPr>
        </p:nvGraphicFramePr>
        <p:xfrm>
          <a:off x="642911" y="1957406"/>
          <a:ext cx="8143931" cy="3852877"/>
        </p:xfrm>
        <a:graphic>
          <a:graphicData uri="http://schemas.openxmlformats.org/drawingml/2006/table">
            <a:tbl>
              <a:tblPr/>
              <a:tblGrid>
                <a:gridCol w="870127"/>
                <a:gridCol w="1164668"/>
                <a:gridCol w="1166254"/>
                <a:gridCol w="849483"/>
                <a:gridCol w="1145612"/>
                <a:gridCol w="849483"/>
                <a:gridCol w="849483"/>
                <a:gridCol w="1248821"/>
              </a:tblGrid>
              <a:tr h="2024077">
                <a:tc>
                  <a:txBody>
                    <a:bodyPr/>
                    <a:lstStyle/>
                    <a:p>
                      <a:pPr algn="just"/>
                      <a:endParaRPr lang="es-CO" sz="1500"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s-CO" sz="1100" dirty="0">
                          <a:latin typeface="Calibri"/>
                          <a:ea typeface="Times New Roman"/>
                          <a:cs typeface="Times New Roman"/>
                        </a:rPr>
                        <a:t>Impacto experimental</a:t>
                      </a:r>
                      <a:endParaRPr lang="es-ES" sz="1100" dirty="0">
                        <a:latin typeface="Calibri"/>
                        <a:ea typeface="Times New Roman"/>
                        <a:cs typeface="Times New Roman"/>
                      </a:endParaRPr>
                    </a:p>
                    <a:p>
                      <a:pPr algn="ctr"/>
                      <a:r>
                        <a:rPr lang="es-CO" sz="1100" dirty="0" smtClean="0">
                          <a:latin typeface="Calibri"/>
                          <a:ea typeface="Times New Roman"/>
                          <a:cs typeface="Times New Roman"/>
                        </a:rPr>
                        <a:t>(impacto mensual </a:t>
                      </a:r>
                      <a:r>
                        <a:rPr lang="es-CO" sz="1100" dirty="0">
                          <a:latin typeface="Calibri"/>
                          <a:ea typeface="Times New Roman"/>
                          <a:cs typeface="Times New Roman"/>
                        </a:rPr>
                        <a:t>promedio, en dólares)</a:t>
                      </a:r>
                      <a:endParaRPr lang="es-ES" sz="11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s-CO" sz="1100" dirty="0">
                          <a:latin typeface="Calibri"/>
                          <a:ea typeface="Times New Roman"/>
                          <a:cs typeface="Times New Roman"/>
                        </a:rPr>
                        <a:t>Impacto experimental ajustado (para las personas en el soporte común)</a:t>
                      </a:r>
                      <a:endParaRPr lang="es-ES" sz="11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s-CO" sz="1100" dirty="0">
                          <a:latin typeface="Calibri"/>
                          <a:ea typeface="Times New Roman"/>
                          <a:cs typeface="Times New Roman"/>
                        </a:rPr>
                        <a:t>Sesgo (como % del impacto)</a:t>
                      </a:r>
                      <a:endParaRPr lang="es-ES" sz="11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s-CO" sz="1100" dirty="0">
                          <a:latin typeface="Calibri"/>
                          <a:ea typeface="Times New Roman"/>
                          <a:cs typeface="Times New Roman"/>
                        </a:rPr>
                        <a:t>Diferencia de medias entre controles y no participantes (sesgo como % del impacto)</a:t>
                      </a:r>
                      <a:endParaRPr lang="es-ES" sz="11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s-CO" sz="1100" dirty="0">
                          <a:latin typeface="Calibri"/>
                          <a:ea typeface="Times New Roman"/>
                          <a:cs typeface="Times New Roman"/>
                        </a:rPr>
                        <a:t>Vecino más cercano sin soporte común (sesgo como % del impacto)</a:t>
                      </a:r>
                      <a:endParaRPr lang="es-ES" sz="11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s-CO" sz="1100" dirty="0">
                          <a:latin typeface="Calibri"/>
                          <a:ea typeface="Times New Roman"/>
                          <a:cs typeface="Times New Roman"/>
                        </a:rPr>
                        <a:t>Vecino más cercano en soporte común (sesgo como % del impacto)</a:t>
                      </a:r>
                      <a:endParaRPr lang="es-ES" sz="11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s-CO" sz="1100" dirty="0">
                          <a:latin typeface="Calibri"/>
                          <a:ea typeface="Times New Roman"/>
                          <a:cs typeface="Times New Roman"/>
                        </a:rPr>
                        <a:t>Emparejamiento Local </a:t>
                      </a:r>
                      <a:r>
                        <a:rPr lang="es-CO" sz="1100" dirty="0" smtClean="0">
                          <a:latin typeface="Calibri"/>
                          <a:ea typeface="Times New Roman"/>
                          <a:cs typeface="Times New Roman"/>
                        </a:rPr>
                        <a:t>lineal en </a:t>
                      </a:r>
                      <a:r>
                        <a:rPr lang="es-CO" sz="1100" dirty="0">
                          <a:latin typeface="Calibri"/>
                          <a:ea typeface="Times New Roman"/>
                          <a:cs typeface="Times New Roman"/>
                        </a:rPr>
                        <a:t>la </a:t>
                      </a:r>
                      <a:r>
                        <a:rPr lang="es-CO" sz="1100" dirty="0" err="1" smtClean="0">
                          <a:latin typeface="Calibri"/>
                          <a:ea typeface="Times New Roman"/>
                          <a:cs typeface="Times New Roman"/>
                        </a:rPr>
                        <a:t>prob</a:t>
                      </a:r>
                      <a:r>
                        <a:rPr lang="es-CO" sz="1100" dirty="0">
                          <a:latin typeface="Calibri"/>
                          <a:ea typeface="Times New Roman"/>
                          <a:cs typeface="Times New Roman"/>
                        </a:rPr>
                        <a:t>. de </a:t>
                      </a:r>
                      <a:r>
                        <a:rPr lang="es-CO" sz="1100" dirty="0" smtClean="0">
                          <a:latin typeface="Calibri"/>
                          <a:ea typeface="Times New Roman"/>
                          <a:cs typeface="Times New Roman"/>
                        </a:rPr>
                        <a:t>participación (</a:t>
                      </a:r>
                      <a:r>
                        <a:rPr lang="es-CO" sz="1100" dirty="0">
                          <a:latin typeface="Calibri"/>
                          <a:ea typeface="Times New Roman"/>
                          <a:cs typeface="Times New Roman"/>
                        </a:rPr>
                        <a:t>sesgo como % del impacto)</a:t>
                      </a:r>
                      <a:endParaRPr lang="es-ES" sz="11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04815">
                <a:tc>
                  <a:txBody>
                    <a:bodyPr/>
                    <a:lstStyle/>
                    <a:p>
                      <a:pPr algn="just"/>
                      <a:r>
                        <a:rPr lang="en-US" sz="1500">
                          <a:latin typeface="Calibri"/>
                          <a:ea typeface="Times New Roman"/>
                          <a:cs typeface="Times New Roman"/>
                        </a:rPr>
                        <a:t>Hombres adultos</a:t>
                      </a:r>
                      <a:endParaRPr lang="es-ES" sz="15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spcAft>
                          <a:spcPts val="0"/>
                        </a:spcAft>
                      </a:pPr>
                      <a:r>
                        <a:rPr lang="en-US" sz="1500" dirty="0">
                          <a:latin typeface="Calibri"/>
                          <a:ea typeface="Times New Roman"/>
                          <a:cs typeface="Times New Roman"/>
                        </a:rPr>
                        <a:t>44</a:t>
                      </a:r>
                      <a:endParaRPr lang="es-ES" sz="1500" dirty="0">
                        <a:latin typeface="Calibri"/>
                        <a:ea typeface="Times New Roman"/>
                        <a:cs typeface="Times New Roman"/>
                      </a:endParaRPr>
                    </a:p>
                    <a:p>
                      <a:pPr algn="r">
                        <a:spcAft>
                          <a:spcPts val="0"/>
                        </a:spcAft>
                      </a:pPr>
                      <a:r>
                        <a:rPr lang="en-US" sz="1500" dirty="0">
                          <a:latin typeface="Calibri"/>
                          <a:ea typeface="Times New Roman"/>
                          <a:cs typeface="Times New Roman"/>
                        </a:rPr>
                        <a:t>(17)</a:t>
                      </a:r>
                      <a:endParaRPr lang="es-ES" sz="15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spcAft>
                          <a:spcPts val="0"/>
                        </a:spcAft>
                      </a:pPr>
                      <a:r>
                        <a:rPr lang="en-US" sz="1500" dirty="0">
                          <a:latin typeface="Calibri"/>
                          <a:ea typeface="Times New Roman"/>
                          <a:cs typeface="Times New Roman"/>
                        </a:rPr>
                        <a:t>61</a:t>
                      </a:r>
                      <a:endParaRPr lang="es-ES" sz="1500" dirty="0">
                        <a:latin typeface="Calibri"/>
                        <a:ea typeface="Times New Roman"/>
                        <a:cs typeface="Times New Roman"/>
                      </a:endParaRPr>
                    </a:p>
                    <a:p>
                      <a:pPr algn="r">
                        <a:spcAft>
                          <a:spcPts val="0"/>
                        </a:spcAft>
                      </a:pPr>
                      <a:r>
                        <a:rPr lang="en-US" sz="1500" dirty="0">
                          <a:latin typeface="Calibri"/>
                          <a:ea typeface="Times New Roman"/>
                          <a:cs typeface="Times New Roman"/>
                        </a:rPr>
                        <a:t>(17)</a:t>
                      </a:r>
                      <a:endParaRPr lang="es-ES" sz="15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r>
                        <a:rPr lang="en-US" sz="1500" dirty="0" smtClean="0">
                          <a:latin typeface="Calibri"/>
                          <a:ea typeface="Times New Roman"/>
                          <a:cs typeface="Times New Roman"/>
                        </a:rPr>
                        <a:t>39</a:t>
                      </a:r>
                      <a:endParaRPr lang="es-ES" sz="15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r>
                        <a:rPr lang="en-US" sz="1500" dirty="0" smtClean="0">
                          <a:latin typeface="Calibri"/>
                          <a:ea typeface="Times New Roman"/>
                          <a:cs typeface="Times New Roman"/>
                        </a:rPr>
                        <a:t>775</a:t>
                      </a:r>
                      <a:endParaRPr lang="es-ES" sz="15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r>
                        <a:rPr lang="en-US" sz="1500" dirty="0" smtClean="0">
                          <a:latin typeface="Calibri"/>
                          <a:ea typeface="Times New Roman"/>
                          <a:cs typeface="Times New Roman"/>
                        </a:rPr>
                        <a:t>142</a:t>
                      </a:r>
                      <a:endParaRPr lang="es-ES" sz="15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r>
                        <a:rPr lang="en-US" sz="1500" dirty="0" smtClean="0">
                          <a:latin typeface="Calibri"/>
                          <a:ea typeface="Times New Roman"/>
                          <a:cs typeface="Times New Roman"/>
                        </a:rPr>
                        <a:t>177</a:t>
                      </a:r>
                      <a:endParaRPr lang="es-ES" sz="15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r>
                        <a:rPr lang="en-US" sz="1500" dirty="0" smtClean="0">
                          <a:latin typeface="Calibri"/>
                          <a:ea typeface="Times New Roman"/>
                          <a:cs typeface="Times New Roman"/>
                        </a:rPr>
                        <a:t>108</a:t>
                      </a:r>
                      <a:endParaRPr lang="es-ES" sz="15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04815">
                <a:tc>
                  <a:txBody>
                    <a:bodyPr/>
                    <a:lstStyle/>
                    <a:p>
                      <a:pPr algn="just"/>
                      <a:r>
                        <a:rPr lang="en-US" sz="1500">
                          <a:latin typeface="Calibri"/>
                          <a:ea typeface="Times New Roman"/>
                          <a:cs typeface="Times New Roman"/>
                        </a:rPr>
                        <a:t>Mujeres adultas</a:t>
                      </a:r>
                      <a:endParaRPr lang="es-ES" sz="15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spcAft>
                          <a:spcPts val="0"/>
                        </a:spcAft>
                      </a:pPr>
                      <a:r>
                        <a:rPr lang="en-US" sz="1500">
                          <a:latin typeface="Calibri"/>
                          <a:ea typeface="Times New Roman"/>
                          <a:cs typeface="Times New Roman"/>
                        </a:rPr>
                        <a:t>29</a:t>
                      </a:r>
                      <a:endParaRPr lang="es-ES" sz="1500">
                        <a:latin typeface="Calibri"/>
                        <a:ea typeface="Times New Roman"/>
                        <a:cs typeface="Times New Roman"/>
                      </a:endParaRPr>
                    </a:p>
                    <a:p>
                      <a:pPr algn="r">
                        <a:spcAft>
                          <a:spcPts val="0"/>
                        </a:spcAft>
                      </a:pPr>
                      <a:r>
                        <a:rPr lang="en-US" sz="1500">
                          <a:latin typeface="Calibri"/>
                          <a:ea typeface="Times New Roman"/>
                          <a:cs typeface="Times New Roman"/>
                        </a:rPr>
                        <a:t>(9)</a:t>
                      </a:r>
                      <a:endParaRPr lang="es-ES" sz="150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spcAft>
                          <a:spcPts val="0"/>
                        </a:spcAft>
                      </a:pPr>
                      <a:r>
                        <a:rPr lang="en-US" sz="1500" dirty="0">
                          <a:latin typeface="Calibri"/>
                          <a:ea typeface="Times New Roman"/>
                          <a:cs typeface="Times New Roman"/>
                        </a:rPr>
                        <a:t>35</a:t>
                      </a:r>
                      <a:endParaRPr lang="es-ES" sz="1500" dirty="0">
                        <a:latin typeface="Calibri"/>
                        <a:ea typeface="Times New Roman"/>
                        <a:cs typeface="Times New Roman"/>
                      </a:endParaRPr>
                    </a:p>
                    <a:p>
                      <a:pPr algn="r">
                        <a:spcAft>
                          <a:spcPts val="0"/>
                        </a:spcAft>
                      </a:pPr>
                      <a:r>
                        <a:rPr lang="en-US" sz="1500" dirty="0">
                          <a:latin typeface="Calibri"/>
                          <a:ea typeface="Times New Roman"/>
                          <a:cs typeface="Times New Roman"/>
                        </a:rPr>
                        <a:t>(12)</a:t>
                      </a:r>
                      <a:endParaRPr lang="es-ES" sz="15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r>
                        <a:rPr lang="en-US" sz="1500" dirty="0" smtClean="0">
                          <a:latin typeface="Calibri"/>
                          <a:ea typeface="Times New Roman"/>
                          <a:cs typeface="Times New Roman"/>
                        </a:rPr>
                        <a:t>21</a:t>
                      </a:r>
                      <a:endParaRPr lang="es-ES" sz="15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r>
                        <a:rPr lang="en-US" sz="1500" dirty="0" smtClean="0">
                          <a:latin typeface="Calibri"/>
                          <a:ea typeface="Times New Roman"/>
                          <a:cs typeface="Times New Roman"/>
                        </a:rPr>
                        <a:t>113</a:t>
                      </a:r>
                      <a:endParaRPr lang="es-ES" sz="15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r>
                        <a:rPr lang="en-US" sz="1500" dirty="0" smtClean="0">
                          <a:latin typeface="Calibri"/>
                          <a:ea typeface="Times New Roman"/>
                          <a:cs typeface="Times New Roman"/>
                        </a:rPr>
                        <a:t>358</a:t>
                      </a:r>
                      <a:endParaRPr lang="es-ES" sz="15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r>
                        <a:rPr lang="en-US" sz="1500" dirty="0" smtClean="0">
                          <a:latin typeface="Calibri"/>
                          <a:ea typeface="Times New Roman"/>
                          <a:cs typeface="Times New Roman"/>
                        </a:rPr>
                        <a:t>157</a:t>
                      </a:r>
                      <a:endParaRPr lang="es-ES" sz="15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r>
                        <a:rPr lang="en-US" sz="1500" dirty="0" smtClean="0">
                          <a:latin typeface="Calibri"/>
                          <a:ea typeface="Times New Roman"/>
                          <a:cs typeface="Times New Roman"/>
                        </a:rPr>
                        <a:t>130</a:t>
                      </a:r>
                      <a:endParaRPr lang="es-ES" sz="15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04815">
                <a:tc>
                  <a:txBody>
                    <a:bodyPr/>
                    <a:lstStyle/>
                    <a:p>
                      <a:pPr algn="just"/>
                      <a:r>
                        <a:rPr lang="en-US" sz="1500">
                          <a:latin typeface="Calibri"/>
                          <a:ea typeface="Times New Roman"/>
                          <a:cs typeface="Times New Roman"/>
                        </a:rPr>
                        <a:t>Hombres jóvenes</a:t>
                      </a:r>
                      <a:endParaRPr lang="es-ES" sz="15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spcAft>
                          <a:spcPts val="0"/>
                        </a:spcAft>
                      </a:pPr>
                      <a:r>
                        <a:rPr lang="en-US" sz="1500">
                          <a:latin typeface="Calibri"/>
                          <a:ea typeface="Times New Roman"/>
                          <a:cs typeface="Times New Roman"/>
                        </a:rPr>
                        <a:t>-58</a:t>
                      </a:r>
                      <a:endParaRPr lang="es-ES" sz="1500">
                        <a:latin typeface="Calibri"/>
                        <a:ea typeface="Times New Roman"/>
                        <a:cs typeface="Times New Roman"/>
                      </a:endParaRPr>
                    </a:p>
                    <a:p>
                      <a:pPr algn="r">
                        <a:spcAft>
                          <a:spcPts val="0"/>
                        </a:spcAft>
                      </a:pPr>
                      <a:r>
                        <a:rPr lang="en-US" sz="1500">
                          <a:latin typeface="Calibri"/>
                          <a:ea typeface="Times New Roman"/>
                          <a:cs typeface="Times New Roman"/>
                        </a:rPr>
                        <a:t>(14)</a:t>
                      </a:r>
                      <a:endParaRPr lang="es-ES" sz="150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spcAft>
                          <a:spcPts val="0"/>
                        </a:spcAft>
                      </a:pPr>
                      <a:r>
                        <a:rPr lang="en-US" sz="1500" dirty="0">
                          <a:latin typeface="Calibri"/>
                          <a:ea typeface="Times New Roman"/>
                          <a:cs typeface="Times New Roman"/>
                        </a:rPr>
                        <a:t>-36</a:t>
                      </a:r>
                      <a:endParaRPr lang="es-ES" sz="1500" dirty="0">
                        <a:latin typeface="Calibri"/>
                        <a:ea typeface="Times New Roman"/>
                        <a:cs typeface="Times New Roman"/>
                      </a:endParaRPr>
                    </a:p>
                    <a:p>
                      <a:pPr algn="r">
                        <a:spcAft>
                          <a:spcPts val="0"/>
                        </a:spcAft>
                      </a:pPr>
                      <a:r>
                        <a:rPr lang="en-US" sz="1500" dirty="0">
                          <a:latin typeface="Calibri"/>
                          <a:ea typeface="Times New Roman"/>
                          <a:cs typeface="Times New Roman"/>
                        </a:rPr>
                        <a:t>(18)</a:t>
                      </a:r>
                      <a:endParaRPr lang="es-ES" sz="15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r>
                        <a:rPr lang="en-US" sz="1500" dirty="0" smtClean="0">
                          <a:latin typeface="Calibri"/>
                          <a:ea typeface="Times New Roman"/>
                          <a:cs typeface="Times New Roman"/>
                        </a:rPr>
                        <a:t>38</a:t>
                      </a:r>
                      <a:endParaRPr lang="es-ES" sz="15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r>
                        <a:rPr lang="en-US" sz="1500" dirty="0" smtClean="0">
                          <a:latin typeface="Calibri"/>
                          <a:ea typeface="Times New Roman"/>
                          <a:cs typeface="Times New Roman"/>
                        </a:rPr>
                        <a:t>34</a:t>
                      </a:r>
                      <a:endParaRPr lang="es-ES" sz="15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r>
                        <a:rPr lang="en-US" sz="1500" dirty="0" smtClean="0">
                          <a:latin typeface="Calibri"/>
                          <a:ea typeface="Times New Roman"/>
                          <a:cs typeface="Times New Roman"/>
                        </a:rPr>
                        <a:t>382</a:t>
                      </a:r>
                      <a:endParaRPr lang="es-ES" sz="15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r>
                        <a:rPr lang="en-US" sz="1500" dirty="0" smtClean="0">
                          <a:latin typeface="Calibri"/>
                          <a:ea typeface="Times New Roman"/>
                          <a:cs typeface="Times New Roman"/>
                        </a:rPr>
                        <a:t>170</a:t>
                      </a:r>
                      <a:endParaRPr lang="es-ES" sz="15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r>
                        <a:rPr lang="en-US" sz="1500" dirty="0" smtClean="0">
                          <a:latin typeface="Calibri"/>
                          <a:ea typeface="Times New Roman"/>
                          <a:cs typeface="Times New Roman"/>
                        </a:rPr>
                        <a:t>67</a:t>
                      </a:r>
                      <a:endParaRPr lang="es-ES" sz="15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04815">
                <a:tc>
                  <a:txBody>
                    <a:bodyPr/>
                    <a:lstStyle/>
                    <a:p>
                      <a:pPr algn="just"/>
                      <a:r>
                        <a:rPr lang="en-US" sz="1500">
                          <a:latin typeface="Calibri"/>
                          <a:ea typeface="Times New Roman"/>
                          <a:cs typeface="Times New Roman"/>
                        </a:rPr>
                        <a:t>Mujeres jóvenes</a:t>
                      </a:r>
                      <a:endParaRPr lang="es-ES" sz="15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spcAft>
                          <a:spcPts val="0"/>
                        </a:spcAft>
                      </a:pPr>
                      <a:r>
                        <a:rPr lang="en-US" sz="1500">
                          <a:latin typeface="Calibri"/>
                          <a:ea typeface="Times New Roman"/>
                          <a:cs typeface="Times New Roman"/>
                        </a:rPr>
                        <a:t>-1</a:t>
                      </a:r>
                      <a:endParaRPr lang="es-ES" sz="1500">
                        <a:latin typeface="Calibri"/>
                        <a:ea typeface="Times New Roman"/>
                        <a:cs typeface="Times New Roman"/>
                      </a:endParaRPr>
                    </a:p>
                    <a:p>
                      <a:pPr algn="r">
                        <a:spcAft>
                          <a:spcPts val="0"/>
                        </a:spcAft>
                      </a:pPr>
                      <a:r>
                        <a:rPr lang="en-US" sz="1500">
                          <a:latin typeface="Calibri"/>
                          <a:ea typeface="Times New Roman"/>
                          <a:cs typeface="Times New Roman"/>
                        </a:rPr>
                        <a:t>(11)</a:t>
                      </a:r>
                      <a:endParaRPr lang="es-ES" sz="150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spcAft>
                          <a:spcPts val="0"/>
                        </a:spcAft>
                      </a:pPr>
                      <a:r>
                        <a:rPr lang="en-US" sz="1500" dirty="0">
                          <a:latin typeface="Calibri"/>
                          <a:ea typeface="Times New Roman"/>
                          <a:cs typeface="Times New Roman"/>
                        </a:rPr>
                        <a:t>25</a:t>
                      </a:r>
                      <a:endParaRPr lang="es-ES" sz="1500" dirty="0">
                        <a:latin typeface="Calibri"/>
                        <a:ea typeface="Times New Roman"/>
                        <a:cs typeface="Times New Roman"/>
                      </a:endParaRPr>
                    </a:p>
                    <a:p>
                      <a:pPr algn="r">
                        <a:spcAft>
                          <a:spcPts val="0"/>
                        </a:spcAft>
                      </a:pPr>
                      <a:r>
                        <a:rPr lang="en-US" sz="1500" dirty="0">
                          <a:latin typeface="Calibri"/>
                          <a:ea typeface="Times New Roman"/>
                          <a:cs typeface="Times New Roman"/>
                        </a:rPr>
                        <a:t>(18)</a:t>
                      </a:r>
                      <a:endParaRPr lang="es-ES" sz="15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r>
                        <a:rPr lang="en-US" sz="1500" dirty="0" smtClean="0">
                          <a:latin typeface="Calibri"/>
                          <a:ea typeface="Times New Roman"/>
                          <a:cs typeface="Times New Roman"/>
                        </a:rPr>
                        <a:t>2,500</a:t>
                      </a:r>
                      <a:endParaRPr lang="es-ES" sz="15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r>
                        <a:rPr lang="en-US" sz="1500" dirty="0" smtClean="0">
                          <a:latin typeface="Calibri"/>
                          <a:ea typeface="Times New Roman"/>
                          <a:cs typeface="Times New Roman"/>
                        </a:rPr>
                        <a:t>7,059</a:t>
                      </a:r>
                      <a:endParaRPr lang="es-ES" sz="15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r>
                        <a:rPr lang="en-US" sz="1500" dirty="0" smtClean="0">
                          <a:latin typeface="Calibri"/>
                          <a:ea typeface="Times New Roman"/>
                          <a:cs typeface="Times New Roman"/>
                        </a:rPr>
                        <a:t>15,000</a:t>
                      </a:r>
                      <a:endParaRPr lang="es-ES" sz="15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r>
                        <a:rPr lang="en-US" sz="1500" dirty="0" smtClean="0">
                          <a:latin typeface="Calibri"/>
                          <a:ea typeface="Times New Roman"/>
                          <a:cs typeface="Times New Roman"/>
                        </a:rPr>
                        <a:t>5,441</a:t>
                      </a:r>
                      <a:endParaRPr lang="es-ES" sz="15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r>
                        <a:rPr lang="en-US" sz="1500" dirty="0" smtClean="0">
                          <a:latin typeface="Calibri"/>
                          <a:ea typeface="Times New Roman"/>
                          <a:cs typeface="Times New Roman"/>
                        </a:rPr>
                        <a:t>8,971</a:t>
                      </a:r>
                      <a:endParaRPr lang="es-ES" sz="15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4" name="1 Título"/>
          <p:cNvSpPr>
            <a:spLocks noGrp="1"/>
          </p:cNvSpPr>
          <p:nvPr>
            <p:ph type="title"/>
          </p:nvPr>
        </p:nvSpPr>
        <p:spPr>
          <a:xfrm>
            <a:off x="3428992" y="274638"/>
            <a:ext cx="5257808" cy="1143000"/>
          </a:xfrm>
        </p:spPr>
        <p:txBody>
          <a:bodyPr>
            <a:noAutofit/>
          </a:bodyPr>
          <a:lstStyle/>
          <a:p>
            <a:r>
              <a:rPr lang="es-CO" sz="4200" u="sng" dirty="0" smtClean="0"/>
              <a:t>Ejemplo: Job Training </a:t>
            </a:r>
            <a:r>
              <a:rPr lang="es-CO" sz="4200" u="sng" dirty="0" err="1" smtClean="0"/>
              <a:t>Partnership</a:t>
            </a:r>
            <a:r>
              <a:rPr lang="es-CO" sz="4200" u="sng" dirty="0" smtClean="0"/>
              <a:t> </a:t>
            </a:r>
            <a:r>
              <a:rPr lang="es-CO" sz="4200" u="sng" dirty="0" err="1" smtClean="0"/>
              <a:t>Act</a:t>
            </a:r>
            <a:endParaRPr lang="es-ES" sz="4200" dirty="0"/>
          </a:p>
        </p:txBody>
      </p:sp>
      <p:sp>
        <p:nvSpPr>
          <p:cNvPr id="5" name="4 CuadroTexto"/>
          <p:cNvSpPr txBox="1"/>
          <p:nvPr/>
        </p:nvSpPr>
        <p:spPr>
          <a:xfrm>
            <a:off x="642910" y="1500174"/>
            <a:ext cx="1600182" cy="477054"/>
          </a:xfrm>
          <a:prstGeom prst="rect">
            <a:avLst/>
          </a:prstGeom>
          <a:noFill/>
        </p:spPr>
        <p:txBody>
          <a:bodyPr wrap="none" rtlCol="0">
            <a:spAutoFit/>
          </a:bodyPr>
          <a:lstStyle/>
          <a:p>
            <a:r>
              <a:rPr lang="es-CO" sz="2500" dirty="0" smtClean="0"/>
              <a:t>Resultados</a:t>
            </a:r>
            <a:endParaRPr lang="es-ES" sz="2500" dirty="0"/>
          </a:p>
        </p:txBody>
      </p:sp>
      <p:pic>
        <p:nvPicPr>
          <p:cNvPr id="8" name="Picture 1"/>
          <p:cNvPicPr>
            <a:picLocks noChangeAspect="1" noChangeArrowheads="1"/>
          </p:cNvPicPr>
          <p:nvPr/>
        </p:nvPicPr>
        <p:blipFill>
          <a:blip r:embed="rId3" cstate="print"/>
          <a:srcRect/>
          <a:stretch>
            <a:fillRect/>
          </a:stretch>
        </p:blipFill>
        <p:spPr bwMode="auto">
          <a:xfrm>
            <a:off x="0" y="-24"/>
            <a:ext cx="2500298" cy="1189301"/>
          </a:xfrm>
          <a:prstGeom prst="rect">
            <a:avLst/>
          </a:prstGeom>
          <a:noFill/>
          <a:ln w="9525">
            <a:noFill/>
            <a:miter lim="800000"/>
            <a:headEnd/>
            <a:tailEnd/>
          </a:ln>
          <a:effectLst/>
        </p:spPr>
      </p:pic>
      <p:sp>
        <p:nvSpPr>
          <p:cNvPr id="7" name="6 Rectángulo"/>
          <p:cNvSpPr/>
          <p:nvPr/>
        </p:nvSpPr>
        <p:spPr>
          <a:xfrm>
            <a:off x="0" y="6534859"/>
            <a:ext cx="9144000" cy="323141"/>
          </a:xfrm>
          <a:prstGeom prst="rect">
            <a:avLst/>
          </a:prstGeom>
        </p:spPr>
        <p:txBody>
          <a:bodyPr wrap="square">
            <a:spAutoFit/>
          </a:bodyPr>
          <a:lstStyle/>
          <a:p>
            <a:pPr algn="ctr"/>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6: Emparejamiento /  69</a:t>
            </a:r>
            <a:endParaRPr lang="es-ES" sz="1500" dirty="0">
              <a:solidFill>
                <a:schemeClr val="tx1">
                  <a:lumMod val="50000"/>
                  <a:lumOff val="50000"/>
                </a:schemeClr>
              </a:solidFill>
            </a:endParaRPr>
          </a:p>
        </p:txBody>
      </p:sp>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3357554" y="274638"/>
            <a:ext cx="5329246" cy="1143000"/>
          </a:xfrm>
        </p:spPr>
        <p:txBody>
          <a:bodyPr>
            <a:noAutofit/>
          </a:bodyPr>
          <a:lstStyle/>
          <a:p>
            <a:r>
              <a:rPr lang="es-CO" sz="4200" u="sng" dirty="0" smtClean="0"/>
              <a:t>Ejemplo 2: Familias en acción</a:t>
            </a:r>
            <a:endParaRPr lang="es-ES" sz="4200" u="sng" dirty="0"/>
          </a:p>
        </p:txBody>
      </p:sp>
      <p:sp>
        <p:nvSpPr>
          <p:cNvPr id="3" name="2 Marcador de contenido"/>
          <p:cNvSpPr>
            <a:spLocks noGrp="1"/>
          </p:cNvSpPr>
          <p:nvPr>
            <p:ph idx="1"/>
          </p:nvPr>
        </p:nvSpPr>
        <p:spPr>
          <a:ln w="28575">
            <a:solidFill>
              <a:schemeClr val="accent1">
                <a:lumMod val="75000"/>
              </a:schemeClr>
            </a:solidFill>
          </a:ln>
        </p:spPr>
        <p:txBody>
          <a:bodyPr/>
          <a:lstStyle/>
          <a:p>
            <a:endParaRPr lang="es-CO" sz="2500" b="1" u="sng" dirty="0" smtClean="0"/>
          </a:p>
          <a:p>
            <a:r>
              <a:rPr lang="es-CO" sz="2500" b="1" u="sng" dirty="0" smtClean="0"/>
              <a:t>Objetivo</a:t>
            </a:r>
            <a:r>
              <a:rPr lang="es-CO" sz="2500" b="1" dirty="0" smtClean="0"/>
              <a:t>:</a:t>
            </a:r>
            <a:r>
              <a:rPr lang="es-CO" sz="2500" dirty="0" smtClean="0"/>
              <a:t> Mejorar la acumulación de capital humano en la población vulnerable en zonas rurales. </a:t>
            </a:r>
          </a:p>
          <a:p>
            <a:pPr>
              <a:buNone/>
            </a:pPr>
            <a:endParaRPr lang="es-CO" sz="2500" b="1" u="sng" dirty="0" smtClean="0"/>
          </a:p>
          <a:p>
            <a:r>
              <a:rPr lang="es-CO" sz="2500" b="1" u="sng" dirty="0" smtClean="0"/>
              <a:t>Componentes</a:t>
            </a:r>
            <a:r>
              <a:rPr lang="es-CO" sz="2500" b="1" dirty="0" smtClean="0"/>
              <a:t>: </a:t>
            </a:r>
            <a:r>
              <a:rPr lang="es-CO" sz="2500" dirty="0" smtClean="0"/>
              <a:t>Nutrición (transferencia monetaria).</a:t>
            </a:r>
          </a:p>
          <a:p>
            <a:pPr>
              <a:buNone/>
            </a:pPr>
            <a:r>
              <a:rPr lang="es-CO" sz="2500" dirty="0" smtClean="0"/>
              <a:t>			       Salud (vacunas y controles de crecimiento).</a:t>
            </a:r>
          </a:p>
          <a:p>
            <a:pPr>
              <a:buNone/>
            </a:pPr>
            <a:r>
              <a:rPr lang="es-CO" sz="2500" dirty="0" smtClean="0"/>
              <a:t>			       Educación (asistencia escolar).</a:t>
            </a:r>
          </a:p>
          <a:p>
            <a:pPr>
              <a:buNone/>
            </a:pPr>
            <a:endParaRPr lang="es-CO" sz="2500" dirty="0" smtClean="0"/>
          </a:p>
          <a:p>
            <a:r>
              <a:rPr lang="es-CO" sz="2500" dirty="0" smtClean="0"/>
              <a:t>26 departamentos, 622 municipios (población &lt; 100,000)</a:t>
            </a:r>
          </a:p>
        </p:txBody>
      </p:sp>
      <p:pic>
        <p:nvPicPr>
          <p:cNvPr id="4" name="Picture 1"/>
          <p:cNvPicPr>
            <a:picLocks noChangeAspect="1" noChangeArrowheads="1"/>
          </p:cNvPicPr>
          <p:nvPr/>
        </p:nvPicPr>
        <p:blipFill>
          <a:blip r:embed="rId2" cstate="print"/>
          <a:srcRect/>
          <a:stretch>
            <a:fillRect/>
          </a:stretch>
        </p:blipFill>
        <p:spPr bwMode="auto">
          <a:xfrm>
            <a:off x="0" y="-24"/>
            <a:ext cx="2500298" cy="1189301"/>
          </a:xfrm>
          <a:prstGeom prst="rect">
            <a:avLst/>
          </a:prstGeom>
          <a:noFill/>
          <a:ln w="9525">
            <a:noFill/>
            <a:miter lim="800000"/>
            <a:headEnd/>
            <a:tailEnd/>
          </a:ln>
          <a:effectLst/>
        </p:spPr>
      </p:pic>
      <p:sp>
        <p:nvSpPr>
          <p:cNvPr id="6" name="5 Rectángulo"/>
          <p:cNvSpPr/>
          <p:nvPr/>
        </p:nvSpPr>
        <p:spPr>
          <a:xfrm>
            <a:off x="0" y="6534859"/>
            <a:ext cx="9144000" cy="553998"/>
          </a:xfrm>
          <a:prstGeom prst="rect">
            <a:avLst/>
          </a:prstGeom>
        </p:spPr>
        <p:txBody>
          <a:bodyPr wrap="square">
            <a:spAutoFit/>
          </a:bodyPr>
          <a:lstStyle/>
          <a:p>
            <a:pPr algn="ctr"/>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6: Emparejamiento /  70</a:t>
            </a:r>
          </a:p>
          <a:p>
            <a:pPr algn="ctr"/>
            <a:endParaRPr lang="es-ES" sz="1500" dirty="0">
              <a:solidFill>
                <a:schemeClr val="tx1">
                  <a:lumMod val="50000"/>
                  <a:lumOff val="50000"/>
                </a:schemeClr>
              </a:solidFill>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57200" y="1785926"/>
            <a:ext cx="8229600" cy="4500594"/>
          </a:xfrm>
          <a:ln w="28575">
            <a:solidFill>
              <a:schemeClr val="accent1">
                <a:lumMod val="75000"/>
              </a:schemeClr>
            </a:solidFill>
          </a:ln>
        </p:spPr>
        <p:txBody>
          <a:bodyPr>
            <a:noAutofit/>
          </a:bodyPr>
          <a:lstStyle/>
          <a:p>
            <a:r>
              <a:rPr lang="es-CO" sz="2500" b="1" u="sng" dirty="0" smtClean="0"/>
              <a:t>Población elegible</a:t>
            </a:r>
            <a:r>
              <a:rPr lang="es-CO" sz="2500" dirty="0" smtClean="0"/>
              <a:t>: Familias Sisben 1 con niños entre 0 y 17 			   años de edad.</a:t>
            </a:r>
          </a:p>
          <a:p>
            <a:endParaRPr lang="es-CO" sz="2500" b="1" u="sng" dirty="0" smtClean="0"/>
          </a:p>
          <a:p>
            <a:r>
              <a:rPr lang="es-CO" sz="2500" b="1" u="sng" dirty="0" smtClean="0"/>
              <a:t>Grupo de control</a:t>
            </a:r>
            <a:r>
              <a:rPr lang="es-CO" sz="2500" dirty="0" smtClean="0"/>
              <a:t>: 50 municipios parecidos a los anteriores.</a:t>
            </a:r>
          </a:p>
          <a:p>
            <a:r>
              <a:rPr lang="es-CO" sz="2500" b="1" u="sng" dirty="0" smtClean="0"/>
              <a:t>Grupo de tratamiento</a:t>
            </a:r>
            <a:r>
              <a:rPr lang="es-CO" sz="2500" dirty="0" smtClean="0"/>
              <a:t>: 50 municipios participantes en el  			         programa.</a:t>
            </a:r>
          </a:p>
          <a:p>
            <a:pPr>
              <a:buNone/>
            </a:pPr>
            <a:r>
              <a:rPr lang="es-CO" sz="2500" dirty="0" smtClean="0"/>
              <a:t>	Divididos en: Control y tratamiento con pago.</a:t>
            </a:r>
          </a:p>
          <a:p>
            <a:pPr>
              <a:buNone/>
            </a:pPr>
            <a:r>
              <a:rPr lang="es-CO" sz="2500" dirty="0" smtClean="0"/>
              <a:t>			    Control y tratamiento sin pago.</a:t>
            </a:r>
          </a:p>
          <a:p>
            <a:endParaRPr lang="es-CO" sz="2500" b="1" u="sng" dirty="0" smtClean="0"/>
          </a:p>
          <a:p>
            <a:r>
              <a:rPr lang="es-CO" sz="2500" b="1" u="sng" dirty="0" smtClean="0"/>
              <a:t>Modelo:</a:t>
            </a:r>
            <a:r>
              <a:rPr lang="es-CO" sz="2500" dirty="0" smtClean="0"/>
              <a:t> </a:t>
            </a:r>
            <a:r>
              <a:rPr lang="es-CO" sz="2500" dirty="0" err="1" smtClean="0"/>
              <a:t>Probit</a:t>
            </a:r>
            <a:r>
              <a:rPr lang="es-CO" sz="2500" dirty="0" smtClean="0"/>
              <a:t>.</a:t>
            </a:r>
          </a:p>
          <a:p>
            <a:pPr>
              <a:buNone/>
            </a:pPr>
            <a:r>
              <a:rPr lang="es-CO" sz="2500" dirty="0" smtClean="0"/>
              <a:t>			</a:t>
            </a:r>
            <a:endParaRPr lang="es-ES" sz="2500" dirty="0"/>
          </a:p>
        </p:txBody>
      </p:sp>
      <p:sp>
        <p:nvSpPr>
          <p:cNvPr id="4" name="1 Título"/>
          <p:cNvSpPr>
            <a:spLocks noGrp="1"/>
          </p:cNvSpPr>
          <p:nvPr>
            <p:ph type="title"/>
          </p:nvPr>
        </p:nvSpPr>
        <p:spPr>
          <a:xfrm>
            <a:off x="3214678" y="274638"/>
            <a:ext cx="5472122" cy="1143000"/>
          </a:xfrm>
        </p:spPr>
        <p:txBody>
          <a:bodyPr>
            <a:noAutofit/>
          </a:bodyPr>
          <a:lstStyle/>
          <a:p>
            <a:r>
              <a:rPr lang="es-CO" sz="4200" u="sng" dirty="0" smtClean="0"/>
              <a:t>Ejemplo 2: Familias en acción</a:t>
            </a:r>
            <a:endParaRPr lang="es-ES" sz="4200" u="sng" dirty="0"/>
          </a:p>
        </p:txBody>
      </p:sp>
      <p:pic>
        <p:nvPicPr>
          <p:cNvPr id="5" name="Picture 1"/>
          <p:cNvPicPr>
            <a:picLocks noChangeAspect="1" noChangeArrowheads="1"/>
          </p:cNvPicPr>
          <p:nvPr/>
        </p:nvPicPr>
        <p:blipFill>
          <a:blip r:embed="rId2" cstate="print"/>
          <a:srcRect/>
          <a:stretch>
            <a:fillRect/>
          </a:stretch>
        </p:blipFill>
        <p:spPr bwMode="auto">
          <a:xfrm>
            <a:off x="0" y="-24"/>
            <a:ext cx="2500298" cy="1189301"/>
          </a:xfrm>
          <a:prstGeom prst="rect">
            <a:avLst/>
          </a:prstGeom>
          <a:noFill/>
          <a:ln w="9525">
            <a:noFill/>
            <a:miter lim="800000"/>
            <a:headEnd/>
            <a:tailEnd/>
          </a:ln>
          <a:effectLst/>
        </p:spPr>
      </p:pic>
      <p:sp>
        <p:nvSpPr>
          <p:cNvPr id="6" name="5 Rectángulo"/>
          <p:cNvSpPr/>
          <p:nvPr/>
        </p:nvSpPr>
        <p:spPr>
          <a:xfrm>
            <a:off x="0" y="6534859"/>
            <a:ext cx="9144000" cy="323141"/>
          </a:xfrm>
          <a:prstGeom prst="rect">
            <a:avLst/>
          </a:prstGeom>
        </p:spPr>
        <p:txBody>
          <a:bodyPr wrap="square">
            <a:spAutoFit/>
          </a:bodyPr>
          <a:lstStyle/>
          <a:p>
            <a:pPr algn="ctr"/>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6: Emparejamiento /  71</a:t>
            </a:r>
            <a:endParaRPr lang="es-ES" sz="1500" dirty="0">
              <a:solidFill>
                <a:schemeClr val="tx1">
                  <a:lumMod val="50000"/>
                  <a:lumOff val="50000"/>
                </a:schemeClr>
              </a:solidFill>
            </a:endParaRPr>
          </a:p>
        </p:txBody>
      </p:sp>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1 Título"/>
          <p:cNvSpPr>
            <a:spLocks noGrp="1"/>
          </p:cNvSpPr>
          <p:nvPr>
            <p:ph type="title"/>
          </p:nvPr>
        </p:nvSpPr>
        <p:spPr>
          <a:xfrm>
            <a:off x="3500430" y="274638"/>
            <a:ext cx="5186370" cy="1143000"/>
          </a:xfrm>
        </p:spPr>
        <p:txBody>
          <a:bodyPr>
            <a:normAutofit fontScale="90000"/>
          </a:bodyPr>
          <a:lstStyle/>
          <a:p>
            <a:r>
              <a:rPr lang="es-CO" u="sng" dirty="0" smtClean="0"/>
              <a:t>Ejemplo 2: Familias en acción</a:t>
            </a:r>
            <a:endParaRPr lang="es-ES" u="sng" dirty="0"/>
          </a:p>
        </p:txBody>
      </p:sp>
      <p:graphicFrame>
        <p:nvGraphicFramePr>
          <p:cNvPr id="6" name="5 Tabla"/>
          <p:cNvGraphicFramePr>
            <a:graphicFrameLocks noGrp="1"/>
          </p:cNvGraphicFramePr>
          <p:nvPr/>
        </p:nvGraphicFramePr>
        <p:xfrm>
          <a:off x="785786" y="2071679"/>
          <a:ext cx="7572428" cy="4071965"/>
        </p:xfrm>
        <a:graphic>
          <a:graphicData uri="http://schemas.openxmlformats.org/drawingml/2006/table">
            <a:tbl>
              <a:tblPr/>
              <a:tblGrid>
                <a:gridCol w="3158010"/>
                <a:gridCol w="2037424"/>
                <a:gridCol w="2376994"/>
              </a:tblGrid>
              <a:tr h="939685">
                <a:tc>
                  <a:txBody>
                    <a:bodyPr/>
                    <a:lstStyle/>
                    <a:p>
                      <a:pPr algn="ctr">
                        <a:spcAft>
                          <a:spcPts val="0"/>
                        </a:spcAft>
                      </a:pPr>
                      <a:r>
                        <a:rPr lang="es-CO" sz="2000" dirty="0">
                          <a:latin typeface="+mj-lt"/>
                          <a:ea typeface="Times New Roman"/>
                          <a:cs typeface="Times New Roman"/>
                        </a:rPr>
                        <a:t>Variable</a:t>
                      </a:r>
                      <a:endParaRPr lang="es-ES" sz="2000" dirty="0">
                        <a:latin typeface="+mj-lt"/>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CO" sz="2000" dirty="0">
                          <a:latin typeface="+mj-lt"/>
                          <a:ea typeface="Times New Roman"/>
                          <a:cs typeface="Times New Roman"/>
                        </a:rPr>
                        <a:t>Impacto del programa (PSM)</a:t>
                      </a:r>
                      <a:endParaRPr lang="es-ES" sz="2000" dirty="0">
                        <a:latin typeface="+mj-lt"/>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CO" sz="2000" dirty="0">
                          <a:latin typeface="+mj-lt"/>
                          <a:ea typeface="Times New Roman"/>
                          <a:cs typeface="Times New Roman"/>
                        </a:rPr>
                        <a:t>Porcentaje de la muestra TCP emparejada</a:t>
                      </a:r>
                      <a:endParaRPr lang="es-ES" sz="2000" dirty="0">
                        <a:latin typeface="+mj-lt"/>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13228">
                <a:tc gridSpan="3">
                  <a:txBody>
                    <a:bodyPr/>
                    <a:lstStyle/>
                    <a:p>
                      <a:pPr algn="ctr">
                        <a:spcAft>
                          <a:spcPts val="0"/>
                        </a:spcAft>
                      </a:pPr>
                      <a:r>
                        <a:rPr lang="es-CO" sz="2000" b="1" dirty="0">
                          <a:latin typeface="+mj-lt"/>
                          <a:ea typeface="Times New Roman"/>
                          <a:cs typeface="Times New Roman"/>
                        </a:rPr>
                        <a:t>Urbano</a:t>
                      </a:r>
                      <a:endParaRPr lang="es-ES" sz="2000" dirty="0">
                        <a:latin typeface="+mj-lt"/>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pPr>
                        <a:spcAft>
                          <a:spcPts val="0"/>
                        </a:spcAft>
                      </a:pPr>
                      <a:endParaRPr lang="es-CO" sz="2000" dirty="0">
                        <a:latin typeface="+mj-lt"/>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pPr>
                        <a:spcAft>
                          <a:spcPts val="0"/>
                        </a:spcAft>
                      </a:pPr>
                      <a:endParaRPr lang="es-CO" sz="2000">
                        <a:latin typeface="+mj-lt"/>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26456">
                <a:tc>
                  <a:txBody>
                    <a:bodyPr/>
                    <a:lstStyle/>
                    <a:p>
                      <a:pPr>
                        <a:spcAft>
                          <a:spcPts val="0"/>
                        </a:spcAft>
                      </a:pPr>
                      <a:r>
                        <a:rPr lang="es-CO" sz="2000" dirty="0">
                          <a:latin typeface="+mj-lt"/>
                          <a:ea typeface="Times New Roman"/>
                          <a:cs typeface="Times New Roman"/>
                        </a:rPr>
                        <a:t>Probabilidad de estar </a:t>
                      </a:r>
                      <a:r>
                        <a:rPr lang="es-CO" sz="2000" dirty="0" smtClean="0">
                          <a:latin typeface="+mj-lt"/>
                          <a:ea typeface="Times New Roman"/>
                          <a:cs typeface="Times New Roman"/>
                        </a:rPr>
                        <a:t>matriculado</a:t>
                      </a:r>
                      <a:r>
                        <a:rPr lang="es-CO" sz="2000" dirty="0">
                          <a:latin typeface="+mj-lt"/>
                          <a:ea typeface="Times New Roman"/>
                          <a:cs typeface="Times New Roman"/>
                        </a:rPr>
                        <a:t>, 7-13 años</a:t>
                      </a:r>
                      <a:endParaRPr lang="es-ES" sz="2000" dirty="0">
                        <a:latin typeface="+mj-lt"/>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CO" sz="2000" dirty="0">
                          <a:latin typeface="+mj-lt"/>
                          <a:ea typeface="Times New Roman"/>
                          <a:cs typeface="Times New Roman"/>
                        </a:rPr>
                        <a:t>0.003</a:t>
                      </a:r>
                      <a:endParaRPr lang="es-ES" sz="2000" dirty="0">
                        <a:latin typeface="+mj-lt"/>
                        <a:ea typeface="Times New Roman"/>
                        <a:cs typeface="Times New Roman"/>
                      </a:endParaRPr>
                    </a:p>
                    <a:p>
                      <a:pPr algn="ctr">
                        <a:spcAft>
                          <a:spcPts val="0"/>
                        </a:spcAft>
                      </a:pPr>
                      <a:r>
                        <a:rPr lang="es-CO" sz="2000" dirty="0">
                          <a:latin typeface="+mj-lt"/>
                          <a:ea typeface="Times New Roman"/>
                          <a:cs typeface="Times New Roman"/>
                        </a:rPr>
                        <a:t>(0.022)</a:t>
                      </a:r>
                      <a:endParaRPr lang="es-ES" sz="2000" dirty="0">
                        <a:latin typeface="+mj-lt"/>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CO" sz="2000">
                          <a:latin typeface="+mj-lt"/>
                          <a:ea typeface="Times New Roman"/>
                          <a:cs typeface="Times New Roman"/>
                        </a:rPr>
                        <a:t>88.9</a:t>
                      </a:r>
                      <a:endParaRPr lang="es-ES" sz="2000">
                        <a:latin typeface="+mj-lt"/>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26456">
                <a:tc>
                  <a:txBody>
                    <a:bodyPr/>
                    <a:lstStyle/>
                    <a:p>
                      <a:pPr>
                        <a:spcAft>
                          <a:spcPts val="0"/>
                        </a:spcAft>
                      </a:pPr>
                      <a:r>
                        <a:rPr lang="es-CO" sz="2000" dirty="0">
                          <a:latin typeface="+mj-lt"/>
                          <a:ea typeface="Times New Roman"/>
                          <a:cs typeface="Times New Roman"/>
                        </a:rPr>
                        <a:t>Probabilidad de estar </a:t>
                      </a:r>
                      <a:r>
                        <a:rPr lang="es-CO" sz="2000" dirty="0" smtClean="0">
                          <a:latin typeface="+mj-lt"/>
                          <a:ea typeface="Times New Roman"/>
                          <a:cs typeface="Times New Roman"/>
                        </a:rPr>
                        <a:t>matriculado</a:t>
                      </a:r>
                      <a:r>
                        <a:rPr lang="es-CO" sz="2000" dirty="0">
                          <a:latin typeface="+mj-lt"/>
                          <a:ea typeface="Times New Roman"/>
                          <a:cs typeface="Times New Roman"/>
                        </a:rPr>
                        <a:t>, 14-17 años</a:t>
                      </a:r>
                      <a:endParaRPr lang="es-ES" sz="2000" dirty="0">
                        <a:latin typeface="+mj-lt"/>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CO" sz="2000" dirty="0">
                          <a:latin typeface="+mj-lt"/>
                          <a:ea typeface="Times New Roman"/>
                          <a:cs typeface="Times New Roman"/>
                        </a:rPr>
                        <a:t>0.138</a:t>
                      </a:r>
                      <a:r>
                        <a:rPr lang="es-CO" sz="2000" baseline="30000" dirty="0">
                          <a:latin typeface="+mj-lt"/>
                          <a:ea typeface="Times New Roman"/>
                          <a:cs typeface="Times New Roman"/>
                        </a:rPr>
                        <a:t>*</a:t>
                      </a:r>
                      <a:endParaRPr lang="es-ES" sz="2000" baseline="30000" dirty="0">
                        <a:latin typeface="+mj-lt"/>
                        <a:ea typeface="Times New Roman"/>
                        <a:cs typeface="Times New Roman"/>
                      </a:endParaRPr>
                    </a:p>
                    <a:p>
                      <a:pPr algn="ctr">
                        <a:spcAft>
                          <a:spcPts val="0"/>
                        </a:spcAft>
                      </a:pPr>
                      <a:r>
                        <a:rPr lang="es-CO" sz="2000" dirty="0">
                          <a:latin typeface="+mj-lt"/>
                          <a:ea typeface="Times New Roman"/>
                          <a:cs typeface="Times New Roman"/>
                        </a:rPr>
                        <a:t>(0.066)</a:t>
                      </a:r>
                      <a:endParaRPr lang="es-ES" sz="2000" dirty="0">
                        <a:latin typeface="+mj-lt"/>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CO" sz="2000" dirty="0">
                          <a:latin typeface="+mj-lt"/>
                          <a:ea typeface="Times New Roman"/>
                          <a:cs typeface="Times New Roman"/>
                        </a:rPr>
                        <a:t>87.5</a:t>
                      </a:r>
                      <a:endParaRPr lang="es-ES" sz="2000" dirty="0">
                        <a:latin typeface="+mj-lt"/>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13228">
                <a:tc gridSpan="3">
                  <a:txBody>
                    <a:bodyPr/>
                    <a:lstStyle/>
                    <a:p>
                      <a:pPr algn="ctr">
                        <a:spcAft>
                          <a:spcPts val="0"/>
                        </a:spcAft>
                      </a:pPr>
                      <a:r>
                        <a:rPr lang="es-CO" sz="2000" b="1" dirty="0">
                          <a:latin typeface="+mj-lt"/>
                          <a:ea typeface="Times New Roman"/>
                          <a:cs typeface="Times New Roman"/>
                        </a:rPr>
                        <a:t>Rural</a:t>
                      </a:r>
                      <a:endParaRPr lang="es-ES" sz="2000" dirty="0">
                        <a:latin typeface="+mj-lt"/>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pPr>
                        <a:spcAft>
                          <a:spcPts val="0"/>
                        </a:spcAft>
                      </a:pPr>
                      <a:endParaRPr lang="es-CO" sz="2000" dirty="0">
                        <a:latin typeface="+mj-lt"/>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pPr>
                        <a:spcAft>
                          <a:spcPts val="0"/>
                        </a:spcAft>
                      </a:pPr>
                      <a:endParaRPr lang="es-CO" sz="2000" dirty="0">
                        <a:latin typeface="+mj-lt"/>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26456">
                <a:tc>
                  <a:txBody>
                    <a:bodyPr/>
                    <a:lstStyle/>
                    <a:p>
                      <a:pPr>
                        <a:spcAft>
                          <a:spcPts val="0"/>
                        </a:spcAft>
                      </a:pPr>
                      <a:r>
                        <a:rPr lang="es-CO" sz="2000" dirty="0">
                          <a:latin typeface="+mj-lt"/>
                          <a:ea typeface="Times New Roman"/>
                          <a:cs typeface="Times New Roman"/>
                        </a:rPr>
                        <a:t>Probabilidad de estar </a:t>
                      </a:r>
                      <a:r>
                        <a:rPr lang="es-CO" sz="2000" dirty="0" smtClean="0">
                          <a:latin typeface="+mj-lt"/>
                          <a:ea typeface="Times New Roman"/>
                          <a:cs typeface="Times New Roman"/>
                        </a:rPr>
                        <a:t>matriculado</a:t>
                      </a:r>
                      <a:r>
                        <a:rPr lang="es-CO" sz="2000" dirty="0">
                          <a:latin typeface="+mj-lt"/>
                          <a:ea typeface="Times New Roman"/>
                          <a:cs typeface="Times New Roman"/>
                        </a:rPr>
                        <a:t>, 7-13 años</a:t>
                      </a:r>
                      <a:endParaRPr lang="es-ES" sz="2000" dirty="0">
                        <a:latin typeface="+mj-lt"/>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CO" sz="2000">
                          <a:latin typeface="+mj-lt"/>
                          <a:ea typeface="Times New Roman"/>
                          <a:cs typeface="Times New Roman"/>
                        </a:rPr>
                        <a:t>0.012</a:t>
                      </a:r>
                      <a:endParaRPr lang="es-ES" sz="2000">
                        <a:latin typeface="+mj-lt"/>
                        <a:ea typeface="Times New Roman"/>
                        <a:cs typeface="Times New Roman"/>
                      </a:endParaRPr>
                    </a:p>
                    <a:p>
                      <a:pPr algn="ctr">
                        <a:spcAft>
                          <a:spcPts val="0"/>
                        </a:spcAft>
                      </a:pPr>
                      <a:r>
                        <a:rPr lang="es-CO" sz="2000">
                          <a:latin typeface="+mj-lt"/>
                          <a:ea typeface="Times New Roman"/>
                          <a:cs typeface="Times New Roman"/>
                        </a:rPr>
                        <a:t>(0.028)</a:t>
                      </a:r>
                      <a:endParaRPr lang="es-ES" sz="2000">
                        <a:latin typeface="+mj-lt"/>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CO" sz="2000" dirty="0">
                          <a:latin typeface="+mj-lt"/>
                          <a:ea typeface="Times New Roman"/>
                          <a:cs typeface="Times New Roman"/>
                        </a:rPr>
                        <a:t>92.1</a:t>
                      </a:r>
                      <a:endParaRPr lang="es-ES" sz="2000" dirty="0">
                        <a:latin typeface="+mj-lt"/>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26456">
                <a:tc>
                  <a:txBody>
                    <a:bodyPr/>
                    <a:lstStyle/>
                    <a:p>
                      <a:pPr>
                        <a:spcAft>
                          <a:spcPts val="0"/>
                        </a:spcAft>
                      </a:pPr>
                      <a:r>
                        <a:rPr lang="es-CO" sz="2000" dirty="0">
                          <a:latin typeface="+mj-lt"/>
                          <a:ea typeface="Times New Roman"/>
                          <a:cs typeface="Times New Roman"/>
                        </a:rPr>
                        <a:t>Probabilidad de estar </a:t>
                      </a:r>
                      <a:r>
                        <a:rPr lang="es-CO" sz="2000" dirty="0" smtClean="0">
                          <a:latin typeface="+mj-lt"/>
                          <a:ea typeface="Times New Roman"/>
                          <a:cs typeface="Times New Roman"/>
                        </a:rPr>
                        <a:t>matriculado</a:t>
                      </a:r>
                      <a:r>
                        <a:rPr lang="es-CO" sz="2000" dirty="0">
                          <a:latin typeface="+mj-lt"/>
                          <a:ea typeface="Times New Roman"/>
                          <a:cs typeface="Times New Roman"/>
                        </a:rPr>
                        <a:t>, 14-17 años</a:t>
                      </a:r>
                      <a:endParaRPr lang="es-ES" sz="2000" dirty="0">
                        <a:latin typeface="+mj-lt"/>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CO" sz="2000" dirty="0">
                          <a:latin typeface="+mj-lt"/>
                          <a:ea typeface="Times New Roman"/>
                          <a:cs typeface="Times New Roman"/>
                        </a:rPr>
                        <a:t>0.055</a:t>
                      </a:r>
                      <a:endParaRPr lang="es-ES" sz="2000" dirty="0">
                        <a:latin typeface="+mj-lt"/>
                        <a:ea typeface="Times New Roman"/>
                        <a:cs typeface="Times New Roman"/>
                      </a:endParaRPr>
                    </a:p>
                    <a:p>
                      <a:pPr algn="ctr">
                        <a:spcAft>
                          <a:spcPts val="0"/>
                        </a:spcAft>
                      </a:pPr>
                      <a:r>
                        <a:rPr lang="es-CO" sz="2000" dirty="0">
                          <a:latin typeface="+mj-lt"/>
                          <a:ea typeface="Times New Roman"/>
                          <a:cs typeface="Times New Roman"/>
                        </a:rPr>
                        <a:t>(0.053)</a:t>
                      </a:r>
                      <a:endParaRPr lang="es-ES" sz="2000" dirty="0">
                        <a:latin typeface="+mj-lt"/>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CO" sz="2000" dirty="0">
                          <a:latin typeface="+mj-lt"/>
                          <a:ea typeface="Times New Roman"/>
                          <a:cs typeface="Times New Roman"/>
                        </a:rPr>
                        <a:t>86.6</a:t>
                      </a:r>
                      <a:endParaRPr lang="es-ES" sz="2000" dirty="0">
                        <a:latin typeface="+mj-lt"/>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7" name="6 CuadroTexto"/>
          <p:cNvSpPr txBox="1"/>
          <p:nvPr/>
        </p:nvSpPr>
        <p:spPr>
          <a:xfrm>
            <a:off x="1142976" y="1451748"/>
            <a:ext cx="6786345" cy="477054"/>
          </a:xfrm>
          <a:prstGeom prst="rect">
            <a:avLst/>
          </a:prstGeom>
          <a:noFill/>
        </p:spPr>
        <p:txBody>
          <a:bodyPr wrap="none" rtlCol="0">
            <a:spAutoFit/>
          </a:bodyPr>
          <a:lstStyle/>
          <a:p>
            <a:r>
              <a:rPr lang="es-CO" sz="2500" dirty="0" smtClean="0"/>
              <a:t>Resultados en cuanto a la promoción de educación</a:t>
            </a:r>
            <a:endParaRPr lang="es-ES" sz="2500" dirty="0"/>
          </a:p>
        </p:txBody>
      </p:sp>
      <p:sp>
        <p:nvSpPr>
          <p:cNvPr id="8" name="7 Elipse"/>
          <p:cNvSpPr/>
          <p:nvPr/>
        </p:nvSpPr>
        <p:spPr>
          <a:xfrm>
            <a:off x="4214810" y="4000504"/>
            <a:ext cx="1357322" cy="571504"/>
          </a:xfrm>
          <a:prstGeom prst="ellipse">
            <a:avLst/>
          </a:prstGeom>
          <a:no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9" name="Picture 1"/>
          <p:cNvPicPr>
            <a:picLocks noChangeAspect="1" noChangeArrowheads="1"/>
          </p:cNvPicPr>
          <p:nvPr/>
        </p:nvPicPr>
        <p:blipFill>
          <a:blip r:embed="rId3" cstate="print"/>
          <a:srcRect/>
          <a:stretch>
            <a:fillRect/>
          </a:stretch>
        </p:blipFill>
        <p:spPr bwMode="auto">
          <a:xfrm>
            <a:off x="0" y="-24"/>
            <a:ext cx="2500298" cy="1189301"/>
          </a:xfrm>
          <a:prstGeom prst="rect">
            <a:avLst/>
          </a:prstGeom>
          <a:noFill/>
          <a:ln w="9525">
            <a:noFill/>
            <a:miter lim="800000"/>
            <a:headEnd/>
            <a:tailEnd/>
          </a:ln>
          <a:effectLst/>
        </p:spPr>
      </p:pic>
      <p:sp>
        <p:nvSpPr>
          <p:cNvPr id="11" name="10 Rectángulo"/>
          <p:cNvSpPr/>
          <p:nvPr/>
        </p:nvSpPr>
        <p:spPr>
          <a:xfrm>
            <a:off x="0" y="6534859"/>
            <a:ext cx="9144000" cy="323141"/>
          </a:xfrm>
          <a:prstGeom prst="rect">
            <a:avLst/>
          </a:prstGeom>
        </p:spPr>
        <p:txBody>
          <a:bodyPr wrap="square">
            <a:spAutoFit/>
          </a:bodyPr>
          <a:lstStyle/>
          <a:p>
            <a:pPr algn="ctr"/>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6: Emparejamiento /  72</a:t>
            </a:r>
            <a:endParaRPr lang="es-ES" sz="1500" dirty="0">
              <a:solidFill>
                <a:schemeClr val="tx1">
                  <a:lumMod val="50000"/>
                  <a:lumOff val="50000"/>
                </a:schemeClr>
              </a:solidFill>
            </a:endParaRPr>
          </a:p>
        </p:txBody>
      </p:sp>
      <p:sp>
        <p:nvSpPr>
          <p:cNvPr id="10" name="9 CuadroTexto"/>
          <p:cNvSpPr txBox="1"/>
          <p:nvPr/>
        </p:nvSpPr>
        <p:spPr>
          <a:xfrm>
            <a:off x="755576" y="6165304"/>
            <a:ext cx="1768048" cy="323165"/>
          </a:xfrm>
          <a:prstGeom prst="rect">
            <a:avLst/>
          </a:prstGeom>
          <a:noFill/>
        </p:spPr>
        <p:txBody>
          <a:bodyPr wrap="none" rtlCol="0">
            <a:spAutoFit/>
          </a:bodyPr>
          <a:lstStyle/>
          <a:p>
            <a:r>
              <a:rPr lang="es-CO" sz="1500" dirty="0" smtClean="0"/>
              <a:t>* Significativo al 5%.</a:t>
            </a:r>
            <a:endParaRPr lang="es-ES" sz="15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4 Marcador de contenido"/>
          <p:cNvGraphicFramePr>
            <a:graphicFrameLocks noGrp="1"/>
          </p:cNvGraphicFramePr>
          <p:nvPr>
            <p:ph idx="1"/>
          </p:nvPr>
        </p:nvGraphicFramePr>
        <p:xfrm>
          <a:off x="857224" y="2000240"/>
          <a:ext cx="7429552" cy="4101634"/>
        </p:xfrm>
        <a:graphic>
          <a:graphicData uri="http://schemas.openxmlformats.org/drawingml/2006/table">
            <a:tbl>
              <a:tblPr/>
              <a:tblGrid>
                <a:gridCol w="3098424"/>
                <a:gridCol w="1998982"/>
                <a:gridCol w="2332146"/>
              </a:tblGrid>
              <a:tr h="741856">
                <a:tc>
                  <a:txBody>
                    <a:bodyPr/>
                    <a:lstStyle/>
                    <a:p>
                      <a:pPr algn="ctr">
                        <a:spcAft>
                          <a:spcPts val="0"/>
                        </a:spcAft>
                      </a:pPr>
                      <a:r>
                        <a:rPr lang="es-CO" sz="2000" dirty="0">
                          <a:latin typeface="+mj-lt"/>
                          <a:ea typeface="Times New Roman"/>
                          <a:cs typeface="Times New Roman"/>
                        </a:rPr>
                        <a:t>Variable</a:t>
                      </a:r>
                      <a:endParaRPr lang="es-ES" sz="2000" dirty="0">
                        <a:latin typeface="+mj-lt"/>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CO" sz="2000" dirty="0">
                          <a:latin typeface="+mj-lt"/>
                          <a:ea typeface="Times New Roman"/>
                          <a:cs typeface="Times New Roman"/>
                        </a:rPr>
                        <a:t>Impacto del programa (PSM)</a:t>
                      </a:r>
                      <a:endParaRPr lang="es-ES" sz="2000" dirty="0">
                        <a:latin typeface="+mj-lt"/>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CO" sz="2000" dirty="0">
                          <a:latin typeface="+mj-lt"/>
                          <a:ea typeface="Times New Roman"/>
                          <a:cs typeface="Times New Roman"/>
                        </a:rPr>
                        <a:t>Porcentaje de la muestra TCP emparejada</a:t>
                      </a:r>
                      <a:endParaRPr lang="es-ES" sz="2000" dirty="0">
                        <a:latin typeface="+mj-lt"/>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18723">
                <a:tc gridSpan="3">
                  <a:txBody>
                    <a:bodyPr/>
                    <a:lstStyle/>
                    <a:p>
                      <a:pPr algn="ctr">
                        <a:spcAft>
                          <a:spcPts val="0"/>
                        </a:spcAft>
                      </a:pPr>
                      <a:r>
                        <a:rPr lang="es-CO" sz="2000" b="1" dirty="0">
                          <a:latin typeface="+mj-lt"/>
                          <a:ea typeface="Times New Roman"/>
                          <a:cs typeface="Times New Roman"/>
                        </a:rPr>
                        <a:t>Urbano</a:t>
                      </a:r>
                      <a:endParaRPr lang="es-ES" sz="2000" dirty="0">
                        <a:latin typeface="+mj-lt"/>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pPr>
                        <a:spcAft>
                          <a:spcPts val="0"/>
                        </a:spcAft>
                      </a:pPr>
                      <a:endParaRPr lang="es-CO" sz="2000" dirty="0">
                        <a:latin typeface="+mj-lt"/>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pPr>
                        <a:spcAft>
                          <a:spcPts val="0"/>
                        </a:spcAft>
                      </a:pPr>
                      <a:endParaRPr lang="es-CO" sz="2000" dirty="0">
                        <a:latin typeface="+mj-lt"/>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37447">
                <a:tc>
                  <a:txBody>
                    <a:bodyPr/>
                    <a:lstStyle/>
                    <a:p>
                      <a:pPr>
                        <a:spcAft>
                          <a:spcPts val="0"/>
                        </a:spcAft>
                      </a:pPr>
                      <a:r>
                        <a:rPr lang="es-CO" sz="2000" dirty="0">
                          <a:latin typeface="+mj-lt"/>
                          <a:ea typeface="Times New Roman"/>
                          <a:cs typeface="Times New Roman"/>
                        </a:rPr>
                        <a:t>Peso por talla</a:t>
                      </a:r>
                      <a:endParaRPr lang="es-ES" sz="2000" dirty="0">
                        <a:latin typeface="+mj-lt"/>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CO" sz="2000">
                          <a:latin typeface="+mj-lt"/>
                          <a:ea typeface="Times New Roman"/>
                          <a:cs typeface="Times New Roman"/>
                        </a:rPr>
                        <a:t>1.867</a:t>
                      </a:r>
                      <a:endParaRPr lang="es-ES" sz="2000">
                        <a:latin typeface="+mj-lt"/>
                        <a:ea typeface="Times New Roman"/>
                        <a:cs typeface="Times New Roman"/>
                      </a:endParaRPr>
                    </a:p>
                    <a:p>
                      <a:pPr algn="ctr">
                        <a:spcAft>
                          <a:spcPts val="0"/>
                        </a:spcAft>
                      </a:pPr>
                      <a:r>
                        <a:rPr lang="es-CO" sz="2000">
                          <a:latin typeface="+mj-lt"/>
                          <a:ea typeface="Times New Roman"/>
                          <a:cs typeface="Times New Roman"/>
                        </a:rPr>
                        <a:t>(1.428)</a:t>
                      </a:r>
                      <a:endParaRPr lang="es-ES" sz="2000">
                        <a:latin typeface="+mj-lt"/>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CO" sz="2000" dirty="0">
                          <a:latin typeface="+mj-lt"/>
                          <a:ea typeface="Times New Roman"/>
                          <a:cs typeface="Times New Roman"/>
                        </a:rPr>
                        <a:t>71.1</a:t>
                      </a:r>
                      <a:endParaRPr lang="es-ES" sz="2000" dirty="0">
                        <a:latin typeface="+mj-lt"/>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37447">
                <a:tc>
                  <a:txBody>
                    <a:bodyPr/>
                    <a:lstStyle/>
                    <a:p>
                      <a:pPr>
                        <a:spcAft>
                          <a:spcPts val="0"/>
                        </a:spcAft>
                      </a:pPr>
                      <a:r>
                        <a:rPr lang="es-CO" sz="2000" dirty="0">
                          <a:latin typeface="+mj-lt"/>
                          <a:ea typeface="Times New Roman"/>
                          <a:cs typeface="Times New Roman"/>
                        </a:rPr>
                        <a:t>Peso por edad</a:t>
                      </a:r>
                      <a:endParaRPr lang="es-ES" sz="2000" dirty="0">
                        <a:latin typeface="+mj-lt"/>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CO" sz="2000">
                          <a:latin typeface="+mj-lt"/>
                          <a:ea typeface="Times New Roman"/>
                          <a:cs typeface="Times New Roman"/>
                        </a:rPr>
                        <a:t>2.911</a:t>
                      </a:r>
                      <a:endParaRPr lang="es-ES" sz="2000">
                        <a:latin typeface="+mj-lt"/>
                        <a:ea typeface="Times New Roman"/>
                        <a:cs typeface="Times New Roman"/>
                      </a:endParaRPr>
                    </a:p>
                    <a:p>
                      <a:pPr algn="ctr">
                        <a:spcAft>
                          <a:spcPts val="0"/>
                        </a:spcAft>
                      </a:pPr>
                      <a:r>
                        <a:rPr lang="es-CO" sz="2000">
                          <a:latin typeface="+mj-lt"/>
                          <a:ea typeface="Times New Roman"/>
                          <a:cs typeface="Times New Roman"/>
                        </a:rPr>
                        <a:t>(2.512)</a:t>
                      </a:r>
                      <a:endParaRPr lang="es-ES" sz="2000">
                        <a:latin typeface="+mj-lt"/>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CO" sz="2000" dirty="0">
                          <a:latin typeface="+mj-lt"/>
                          <a:ea typeface="Times New Roman"/>
                          <a:cs typeface="Times New Roman"/>
                        </a:rPr>
                        <a:t>71.1</a:t>
                      </a:r>
                      <a:endParaRPr lang="es-ES" sz="2000" dirty="0">
                        <a:latin typeface="+mj-lt"/>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18723">
                <a:tc gridSpan="3">
                  <a:txBody>
                    <a:bodyPr/>
                    <a:lstStyle/>
                    <a:p>
                      <a:pPr algn="ctr">
                        <a:spcAft>
                          <a:spcPts val="0"/>
                        </a:spcAft>
                      </a:pPr>
                      <a:r>
                        <a:rPr lang="es-CO" sz="2000" b="1" dirty="0">
                          <a:latin typeface="+mj-lt"/>
                          <a:ea typeface="Times New Roman"/>
                          <a:cs typeface="Times New Roman"/>
                        </a:rPr>
                        <a:t>Rural</a:t>
                      </a:r>
                      <a:endParaRPr lang="es-ES" sz="2000" dirty="0">
                        <a:latin typeface="+mj-lt"/>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pPr algn="ctr">
                        <a:spcAft>
                          <a:spcPts val="0"/>
                        </a:spcAft>
                      </a:pPr>
                      <a:endParaRPr lang="es-CO" sz="2000" dirty="0">
                        <a:latin typeface="+mj-lt"/>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pPr algn="ctr">
                        <a:spcAft>
                          <a:spcPts val="0"/>
                        </a:spcAft>
                      </a:pPr>
                      <a:endParaRPr lang="es-CO" sz="2000" dirty="0">
                        <a:latin typeface="+mj-lt"/>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37447">
                <a:tc>
                  <a:txBody>
                    <a:bodyPr/>
                    <a:lstStyle/>
                    <a:p>
                      <a:pPr>
                        <a:spcAft>
                          <a:spcPts val="0"/>
                        </a:spcAft>
                      </a:pPr>
                      <a:r>
                        <a:rPr lang="es-CO" sz="2000" dirty="0">
                          <a:latin typeface="+mj-lt"/>
                          <a:ea typeface="Times New Roman"/>
                          <a:cs typeface="Times New Roman"/>
                        </a:rPr>
                        <a:t>Peso por talla</a:t>
                      </a:r>
                      <a:endParaRPr lang="es-ES" sz="2000" dirty="0">
                        <a:latin typeface="+mj-lt"/>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CO" sz="2000">
                          <a:latin typeface="+mj-lt"/>
                          <a:ea typeface="Times New Roman"/>
                          <a:cs typeface="Times New Roman"/>
                        </a:rPr>
                        <a:t>2.318*</a:t>
                      </a:r>
                      <a:endParaRPr lang="es-ES" sz="2000">
                        <a:latin typeface="+mj-lt"/>
                        <a:ea typeface="Times New Roman"/>
                        <a:cs typeface="Times New Roman"/>
                      </a:endParaRPr>
                    </a:p>
                    <a:p>
                      <a:pPr algn="ctr">
                        <a:spcAft>
                          <a:spcPts val="0"/>
                        </a:spcAft>
                      </a:pPr>
                      <a:r>
                        <a:rPr lang="es-CO" sz="2000">
                          <a:latin typeface="+mj-lt"/>
                          <a:ea typeface="Times New Roman"/>
                          <a:cs typeface="Times New Roman"/>
                        </a:rPr>
                        <a:t>(1.337)</a:t>
                      </a:r>
                      <a:endParaRPr lang="es-ES" sz="2000">
                        <a:latin typeface="+mj-lt"/>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CO" sz="2000" dirty="0">
                          <a:latin typeface="+mj-lt"/>
                          <a:ea typeface="Times New Roman"/>
                          <a:cs typeface="Times New Roman"/>
                        </a:rPr>
                        <a:t>67.5</a:t>
                      </a:r>
                      <a:endParaRPr lang="es-ES" sz="2000" dirty="0">
                        <a:latin typeface="+mj-lt"/>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37447">
                <a:tc>
                  <a:txBody>
                    <a:bodyPr/>
                    <a:lstStyle/>
                    <a:p>
                      <a:pPr>
                        <a:spcAft>
                          <a:spcPts val="0"/>
                        </a:spcAft>
                      </a:pPr>
                      <a:r>
                        <a:rPr lang="es-CO" sz="2000" dirty="0">
                          <a:latin typeface="+mj-lt"/>
                          <a:ea typeface="Times New Roman"/>
                          <a:cs typeface="Times New Roman"/>
                        </a:rPr>
                        <a:t>Peso por edad</a:t>
                      </a:r>
                      <a:endParaRPr lang="es-ES" sz="2000" dirty="0">
                        <a:latin typeface="+mj-lt"/>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CO" sz="2000">
                          <a:latin typeface="+mj-lt"/>
                          <a:ea typeface="Times New Roman"/>
                          <a:cs typeface="Times New Roman"/>
                        </a:rPr>
                        <a:t>2.449*</a:t>
                      </a:r>
                      <a:endParaRPr lang="es-ES" sz="2000">
                        <a:latin typeface="+mj-lt"/>
                        <a:ea typeface="Times New Roman"/>
                        <a:cs typeface="Times New Roman"/>
                      </a:endParaRPr>
                    </a:p>
                    <a:p>
                      <a:pPr algn="ctr">
                        <a:spcAft>
                          <a:spcPts val="0"/>
                        </a:spcAft>
                      </a:pPr>
                      <a:r>
                        <a:rPr lang="es-CO" sz="2000">
                          <a:latin typeface="+mj-lt"/>
                          <a:ea typeface="Times New Roman"/>
                          <a:cs typeface="Times New Roman"/>
                        </a:rPr>
                        <a:t>(1.540)</a:t>
                      </a:r>
                      <a:endParaRPr lang="es-ES" sz="2000">
                        <a:latin typeface="+mj-lt"/>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CO" sz="2000" dirty="0">
                          <a:latin typeface="+mj-lt"/>
                          <a:ea typeface="Times New Roman"/>
                          <a:cs typeface="Times New Roman"/>
                        </a:rPr>
                        <a:t>67.5</a:t>
                      </a:r>
                      <a:endParaRPr lang="es-ES" sz="2000" dirty="0">
                        <a:latin typeface="+mj-lt"/>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4" name="1 Título"/>
          <p:cNvSpPr>
            <a:spLocks noGrp="1"/>
          </p:cNvSpPr>
          <p:nvPr>
            <p:ph type="title"/>
          </p:nvPr>
        </p:nvSpPr>
        <p:spPr>
          <a:xfrm>
            <a:off x="2643174" y="274638"/>
            <a:ext cx="6043626" cy="1143000"/>
          </a:xfrm>
        </p:spPr>
        <p:txBody>
          <a:bodyPr>
            <a:noAutofit/>
          </a:bodyPr>
          <a:lstStyle/>
          <a:p>
            <a:r>
              <a:rPr lang="es-CO" sz="4200" u="sng" dirty="0" smtClean="0"/>
              <a:t>Ejemplo 2: Familias en acción</a:t>
            </a:r>
            <a:endParaRPr lang="es-ES" sz="4200" u="sng" dirty="0"/>
          </a:p>
        </p:txBody>
      </p:sp>
      <p:sp>
        <p:nvSpPr>
          <p:cNvPr id="6" name="5 CuadroTexto"/>
          <p:cNvSpPr txBox="1"/>
          <p:nvPr/>
        </p:nvSpPr>
        <p:spPr>
          <a:xfrm>
            <a:off x="1071538" y="1428736"/>
            <a:ext cx="6676700" cy="477054"/>
          </a:xfrm>
          <a:prstGeom prst="rect">
            <a:avLst/>
          </a:prstGeom>
          <a:noFill/>
        </p:spPr>
        <p:txBody>
          <a:bodyPr wrap="none" rtlCol="0">
            <a:spAutoFit/>
          </a:bodyPr>
          <a:lstStyle/>
          <a:p>
            <a:r>
              <a:rPr lang="es-CO" sz="2500" dirty="0" smtClean="0"/>
              <a:t>Resultados en cuanto a indicadores nutricionales</a:t>
            </a:r>
            <a:endParaRPr lang="es-ES" sz="2500" dirty="0"/>
          </a:p>
        </p:txBody>
      </p:sp>
      <p:sp>
        <p:nvSpPr>
          <p:cNvPr id="7" name="6 Elipse"/>
          <p:cNvSpPr/>
          <p:nvPr/>
        </p:nvSpPr>
        <p:spPr>
          <a:xfrm>
            <a:off x="4214810" y="4857760"/>
            <a:ext cx="1357322" cy="571504"/>
          </a:xfrm>
          <a:prstGeom prst="ellipse">
            <a:avLst/>
          </a:prstGeom>
          <a:no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 name="7 Elipse"/>
          <p:cNvSpPr/>
          <p:nvPr/>
        </p:nvSpPr>
        <p:spPr>
          <a:xfrm>
            <a:off x="4214810" y="5500702"/>
            <a:ext cx="1357322" cy="571504"/>
          </a:xfrm>
          <a:prstGeom prst="ellipse">
            <a:avLst/>
          </a:prstGeom>
          <a:no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10" name="Picture 1"/>
          <p:cNvPicPr>
            <a:picLocks noChangeAspect="1" noChangeArrowheads="1"/>
          </p:cNvPicPr>
          <p:nvPr/>
        </p:nvPicPr>
        <p:blipFill>
          <a:blip r:embed="rId3" cstate="print"/>
          <a:srcRect/>
          <a:stretch>
            <a:fillRect/>
          </a:stretch>
        </p:blipFill>
        <p:spPr bwMode="auto">
          <a:xfrm>
            <a:off x="0" y="-24"/>
            <a:ext cx="2500298" cy="1189301"/>
          </a:xfrm>
          <a:prstGeom prst="rect">
            <a:avLst/>
          </a:prstGeom>
          <a:noFill/>
          <a:ln w="9525">
            <a:noFill/>
            <a:miter lim="800000"/>
            <a:headEnd/>
            <a:tailEnd/>
          </a:ln>
          <a:effectLst/>
        </p:spPr>
      </p:pic>
      <p:sp>
        <p:nvSpPr>
          <p:cNvPr id="11" name="10 Rectángulo"/>
          <p:cNvSpPr/>
          <p:nvPr/>
        </p:nvSpPr>
        <p:spPr>
          <a:xfrm>
            <a:off x="0" y="6534859"/>
            <a:ext cx="9144000" cy="323141"/>
          </a:xfrm>
          <a:prstGeom prst="rect">
            <a:avLst/>
          </a:prstGeom>
        </p:spPr>
        <p:txBody>
          <a:bodyPr wrap="square">
            <a:spAutoFit/>
          </a:bodyPr>
          <a:lstStyle/>
          <a:p>
            <a:pPr algn="ctr"/>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6: Emparejamiento /  73</a:t>
            </a:r>
            <a:endParaRPr lang="es-ES" sz="1500" dirty="0">
              <a:solidFill>
                <a:schemeClr val="tx1">
                  <a:lumMod val="50000"/>
                  <a:lumOff val="50000"/>
                </a:schemeClr>
              </a:solidFill>
            </a:endParaRPr>
          </a:p>
        </p:txBody>
      </p:sp>
      <p:sp>
        <p:nvSpPr>
          <p:cNvPr id="9" name="8 CuadroTexto"/>
          <p:cNvSpPr txBox="1"/>
          <p:nvPr/>
        </p:nvSpPr>
        <p:spPr>
          <a:xfrm>
            <a:off x="755576" y="6165304"/>
            <a:ext cx="1768048" cy="323165"/>
          </a:xfrm>
          <a:prstGeom prst="rect">
            <a:avLst/>
          </a:prstGeom>
          <a:noFill/>
        </p:spPr>
        <p:txBody>
          <a:bodyPr wrap="none" rtlCol="0">
            <a:spAutoFit/>
          </a:bodyPr>
          <a:lstStyle/>
          <a:p>
            <a:r>
              <a:rPr lang="es-CO" sz="1500" dirty="0" smtClean="0"/>
              <a:t>* Significativo al 5%.</a:t>
            </a:r>
            <a:endParaRPr lang="es-ES" sz="1500" dirty="0"/>
          </a:p>
        </p:txBody>
      </p:sp>
    </p:spTree>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3089</TotalTime>
  <Words>4557</Words>
  <Application>Microsoft Office PowerPoint</Application>
  <PresentationFormat>Presentación en pantalla (4:3)</PresentationFormat>
  <Paragraphs>916</Paragraphs>
  <Slides>73</Slides>
  <Notes>27</Notes>
  <HiddenSlides>0</HiddenSlides>
  <MMClips>0</MMClips>
  <ScaleCrop>false</ScaleCrop>
  <HeadingPairs>
    <vt:vector size="6" baseType="variant">
      <vt:variant>
        <vt:lpstr>Tema</vt:lpstr>
      </vt:variant>
      <vt:variant>
        <vt:i4>1</vt:i4>
      </vt:variant>
      <vt:variant>
        <vt:lpstr>Servidores OLE incrustados</vt:lpstr>
      </vt:variant>
      <vt:variant>
        <vt:i4>1</vt:i4>
      </vt:variant>
      <vt:variant>
        <vt:lpstr>Títulos de diapositiva</vt:lpstr>
      </vt:variant>
      <vt:variant>
        <vt:i4>73</vt:i4>
      </vt:variant>
    </vt:vector>
  </HeadingPairs>
  <TitlesOfParts>
    <vt:vector size="75" baseType="lpstr">
      <vt:lpstr>Tema de Office</vt:lpstr>
      <vt:lpstr>Documento</vt:lpstr>
      <vt:lpstr>Capítulo 6</vt:lpstr>
      <vt:lpstr>Características de los estudios no experimentales</vt:lpstr>
      <vt:lpstr>Estudios no experimentales y método de emparejamiento</vt:lpstr>
      <vt:lpstr>Estrategia del método de emparejamiento</vt:lpstr>
      <vt:lpstr>Supuesto del método de emparejamiento</vt:lpstr>
      <vt:lpstr>Probabilidad estimada de participación en el programa</vt:lpstr>
      <vt:lpstr>Probabilidad estimada de participación en el programa</vt:lpstr>
      <vt:lpstr>Condición para construir un buen grupo de control</vt:lpstr>
      <vt:lpstr>Soporte común (SC)</vt:lpstr>
      <vt:lpstr>¿Qué implica la condición de soporte común (SC)?</vt:lpstr>
      <vt:lpstr>Estimador de PSM</vt:lpstr>
      <vt:lpstr>Condiciones sobre los datos</vt:lpstr>
      <vt:lpstr>Algoritmo de PSM</vt:lpstr>
      <vt:lpstr>Algoritmo de PSM</vt:lpstr>
      <vt:lpstr>Estimación de  la probabilidad de participación</vt:lpstr>
      <vt:lpstr>Estimación de  la probabilidad de participación</vt:lpstr>
      <vt:lpstr>Para elegir las variables que se van a incluir dentro de la estimación</vt:lpstr>
      <vt:lpstr>Ejemplo: Canasta</vt:lpstr>
      <vt:lpstr>Ejemplo: Canasta</vt:lpstr>
      <vt:lpstr>Ejemplo: Canasta</vt:lpstr>
      <vt:lpstr>Algoritmo de PSM</vt:lpstr>
      <vt:lpstr>Soporte común</vt:lpstr>
      <vt:lpstr>Condición de soporte común</vt:lpstr>
      <vt:lpstr>Formas de identificar el soporte común</vt:lpstr>
      <vt:lpstr>Ejemplo: Canasta</vt:lpstr>
      <vt:lpstr>Diapositiva 26</vt:lpstr>
      <vt:lpstr>Ejemplo: Canasta</vt:lpstr>
      <vt:lpstr>Algoritmo de PSM</vt:lpstr>
      <vt:lpstr>Selección del algoritmo de emparejamiento</vt:lpstr>
      <vt:lpstr>Estimador ATT</vt:lpstr>
      <vt:lpstr>¿Cuántos vecinos usar?</vt:lpstr>
      <vt:lpstr>Selección del algoritmo de emparejamiento</vt:lpstr>
      <vt:lpstr>Ejemplo: Canasta</vt:lpstr>
      <vt:lpstr>Ejemplo: Canasta</vt:lpstr>
      <vt:lpstr>Ejemplo: Canasta</vt:lpstr>
      <vt:lpstr>Selección del algoritmo de emparejamiento</vt:lpstr>
      <vt:lpstr>¿Cómo determinar los estratos?</vt:lpstr>
      <vt:lpstr>Ejemplo: Canasta</vt:lpstr>
      <vt:lpstr>Ejemplo: Canasta</vt:lpstr>
      <vt:lpstr>Selección del algoritmo de emparejamiento</vt:lpstr>
      <vt:lpstr>Selección del algoritmo de emparejamiento</vt:lpstr>
      <vt:lpstr>Selección del algoritmo de emparejamiento</vt:lpstr>
      <vt:lpstr>Estimador usando Kernel o  lineal local</vt:lpstr>
      <vt:lpstr>Kernel</vt:lpstr>
      <vt:lpstr>Propiedades del estimador</vt:lpstr>
      <vt:lpstr>Ejemplo: Canasta</vt:lpstr>
      <vt:lpstr>Ejemplo: Canasta</vt:lpstr>
      <vt:lpstr>Dobles diferencias emparejadas</vt:lpstr>
      <vt:lpstr>Dobles diferencias emparejadas</vt:lpstr>
      <vt:lpstr>Supuestos</vt:lpstr>
      <vt:lpstr>Estimador de dobles diferencias emparejadas (DDE)</vt:lpstr>
      <vt:lpstr>Diapositiva 52</vt:lpstr>
      <vt:lpstr>Ejemplo: Canasta</vt:lpstr>
      <vt:lpstr>Diapositiva 54</vt:lpstr>
      <vt:lpstr>Diapositiva 55</vt:lpstr>
      <vt:lpstr>Diapositiva 56</vt:lpstr>
      <vt:lpstr>Algoritmo de emparejamiento</vt:lpstr>
      <vt:lpstr>Algoritmo de PSM</vt:lpstr>
      <vt:lpstr>Calidad del emparejamiento</vt:lpstr>
      <vt:lpstr>Determinar la calidad del emparejamiento</vt:lpstr>
      <vt:lpstr>Algoritmo de PSM</vt:lpstr>
      <vt:lpstr>Errores estándar</vt:lpstr>
      <vt:lpstr>Cálculo de errores estándar</vt:lpstr>
      <vt:lpstr>Pruebas de falsificación</vt:lpstr>
      <vt:lpstr>Pruebas de falsificación</vt:lpstr>
      <vt:lpstr>Diapositiva 66</vt:lpstr>
      <vt:lpstr>Ejemplo: Job Training Partnership Act</vt:lpstr>
      <vt:lpstr>Ejemplo: Job Training Partnership Act</vt:lpstr>
      <vt:lpstr>Ejemplo: Job Training Partnership Act</vt:lpstr>
      <vt:lpstr>Ejemplo 2: Familias en acción</vt:lpstr>
      <vt:lpstr>Ejemplo 2: Familias en acción</vt:lpstr>
      <vt:lpstr>Ejemplo 2: Familias en acción</vt:lpstr>
      <vt:lpstr>Ejemplo 2: Familias en acción</vt:lpstr>
    </vt:vector>
  </TitlesOfParts>
  <Company>Windows XP Colossus Edition 2</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Diapositiva 1</dc:title>
  <dc:creator>Usuario</dc:creator>
  <cp:lastModifiedBy>profeivan</cp:lastModifiedBy>
  <cp:revision>371</cp:revision>
  <dcterms:created xsi:type="dcterms:W3CDTF">2009-09-18T22:44:01Z</dcterms:created>
  <dcterms:modified xsi:type="dcterms:W3CDTF">2011-04-10T13:18:55Z</dcterms:modified>
</cp:coreProperties>
</file>