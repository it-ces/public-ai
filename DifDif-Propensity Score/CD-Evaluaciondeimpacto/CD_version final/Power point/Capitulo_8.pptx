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docx" ContentType="application/vnd.openxmlformats-officedocument.wordprocessingml.document"/>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7" r:id="rId2"/>
    <p:sldId id="368" r:id="rId3"/>
    <p:sldId id="408" r:id="rId4"/>
    <p:sldId id="268" r:id="rId5"/>
    <p:sldId id="407" r:id="rId6"/>
    <p:sldId id="262" r:id="rId7"/>
    <p:sldId id="369" r:id="rId8"/>
    <p:sldId id="264" r:id="rId9"/>
    <p:sldId id="266" r:id="rId10"/>
    <p:sldId id="270" r:id="rId11"/>
    <p:sldId id="420" r:id="rId12"/>
    <p:sldId id="370" r:id="rId13"/>
    <p:sldId id="371" r:id="rId14"/>
    <p:sldId id="272" r:id="rId15"/>
    <p:sldId id="274" r:id="rId16"/>
    <p:sldId id="372" r:id="rId17"/>
    <p:sldId id="373" r:id="rId18"/>
    <p:sldId id="378" r:id="rId19"/>
    <p:sldId id="376" r:id="rId20"/>
    <p:sldId id="413" r:id="rId21"/>
    <p:sldId id="392" r:id="rId22"/>
    <p:sldId id="380" r:id="rId23"/>
    <p:sldId id="382" r:id="rId24"/>
    <p:sldId id="383" r:id="rId25"/>
    <p:sldId id="385" r:id="rId26"/>
    <p:sldId id="386" r:id="rId27"/>
    <p:sldId id="505" r:id="rId28"/>
    <p:sldId id="506" r:id="rId29"/>
    <p:sldId id="390" r:id="rId30"/>
    <p:sldId id="394" r:id="rId31"/>
    <p:sldId id="396" r:id="rId32"/>
    <p:sldId id="397" r:id="rId33"/>
    <p:sldId id="409" r:id="rId34"/>
    <p:sldId id="410" r:id="rId35"/>
    <p:sldId id="411" r:id="rId36"/>
    <p:sldId id="398" r:id="rId37"/>
    <p:sldId id="414" r:id="rId38"/>
    <p:sldId id="415" r:id="rId39"/>
    <p:sldId id="419" r:id="rId40"/>
    <p:sldId id="417" r:id="rId41"/>
    <p:sldId id="510" r:id="rId42"/>
    <p:sldId id="418" r:id="rId43"/>
    <p:sldId id="421" r:id="rId44"/>
    <p:sldId id="402" r:id="rId45"/>
    <p:sldId id="508" r:id="rId46"/>
    <p:sldId id="404" r:id="rId47"/>
    <p:sldId id="406" r:id="rId48"/>
    <p:sldId id="437" r:id="rId49"/>
    <p:sldId id="422" r:id="rId50"/>
    <p:sldId id="438" r:id="rId51"/>
    <p:sldId id="424" r:id="rId52"/>
    <p:sldId id="427" r:id="rId53"/>
    <p:sldId id="425" r:id="rId54"/>
    <p:sldId id="501" r:id="rId55"/>
    <p:sldId id="430" r:id="rId56"/>
    <p:sldId id="431" r:id="rId57"/>
    <p:sldId id="434" r:id="rId58"/>
    <p:sldId id="433" r:id="rId59"/>
    <p:sldId id="436" r:id="rId60"/>
    <p:sldId id="454" r:id="rId61"/>
    <p:sldId id="455" r:id="rId62"/>
    <p:sldId id="439" r:id="rId63"/>
    <p:sldId id="441" r:id="rId64"/>
    <p:sldId id="443" r:id="rId65"/>
    <p:sldId id="440" r:id="rId66"/>
    <p:sldId id="442" r:id="rId67"/>
    <p:sldId id="444" r:id="rId68"/>
    <p:sldId id="446" r:id="rId69"/>
    <p:sldId id="445" r:id="rId70"/>
    <p:sldId id="449" r:id="rId71"/>
    <p:sldId id="458" r:id="rId72"/>
    <p:sldId id="459" r:id="rId73"/>
    <p:sldId id="460" r:id="rId74"/>
    <p:sldId id="509" r:id="rId75"/>
    <p:sldId id="499" r:id="rId76"/>
    <p:sldId id="500" r:id="rId77"/>
    <p:sldId id="486" r:id="rId78"/>
    <p:sldId id="490" r:id="rId79"/>
    <p:sldId id="491" r:id="rId80"/>
    <p:sldId id="492" r:id="rId81"/>
    <p:sldId id="493" r:id="rId82"/>
    <p:sldId id="494" r:id="rId83"/>
    <p:sldId id="495" r:id="rId84"/>
    <p:sldId id="496" r:id="rId85"/>
    <p:sldId id="497" r:id="rId86"/>
    <p:sldId id="498" r:id="rId87"/>
    <p:sldId id="502" r:id="rId88"/>
    <p:sldId id="503" r:id="rId89"/>
    <p:sldId id="504" r:id="rId9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cos Vera Hernandez" initials="MV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218" autoAdjust="0"/>
  </p:normalViewPr>
  <p:slideViewPr>
    <p:cSldViewPr snapToGrid="0">
      <p:cViewPr>
        <p:scale>
          <a:sx n="60" d="100"/>
          <a:sy n="60" d="100"/>
        </p:scale>
        <p:origin x="-1434" y="-24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488"/>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2 Marcador de fecha"/>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37C6B165-C853-457F-ADB8-433275431A67}" type="datetimeFigureOut">
              <a:rPr lang="en-US" smtClean="0"/>
              <a:pPr/>
              <a:t>4/10/2011</a:t>
            </a:fld>
            <a:endParaRPr lang="en-US"/>
          </a:p>
        </p:txBody>
      </p:sp>
      <p:sp>
        <p:nvSpPr>
          <p:cNvPr id="4" name="3 Marcador de imagen de diapositiva"/>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4 Marcador de notas"/>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6" name="5 Marcador de pie de página"/>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6 Marcador de número de diapositiva"/>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8773A40F-B907-48CA-86BF-81C3103CEE33}" type="slidenum">
              <a:rPr lang="en-US" smtClean="0"/>
              <a:pPr/>
              <a:t>‹Nº›</a:t>
            </a:fld>
            <a:endParaRPr lang="en-US"/>
          </a:p>
        </p:txBody>
      </p:sp>
    </p:spTree>
    <p:extLst>
      <p:ext uri="{BB962C8B-B14F-4D97-AF65-F5344CB8AC3E}">
        <p14:creationId xmlns:p14="http://schemas.microsoft.com/office/powerpoint/2010/main" xmlns="" val="3402649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7</a:t>
            </a:fld>
            <a:endParaRPr 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CO" dirty="0" smtClean="0"/>
              <a:t>Estos</a:t>
            </a:r>
            <a:r>
              <a:rPr lang="es-CO" baseline="0" dirty="0" smtClean="0"/>
              <a:t> supuesto garantizan que los individuos sea lo suficientemente similares como para que la comparación resulte un estimador válido del impacto del tratamiento al menos alrededor de Z^_.</a:t>
            </a:r>
          </a:p>
          <a:p>
            <a:pPr defTabSz="966612">
              <a:defRPr/>
            </a:pPr>
            <a:endParaRPr lang="es-CO" dirty="0" smtClean="0"/>
          </a:p>
          <a:p>
            <a:pPr defTabSz="966612">
              <a:defRPr/>
            </a:pPr>
            <a:r>
              <a:rPr lang="es-CO" dirty="0" smtClean="0"/>
              <a:t>El efecto</a:t>
            </a:r>
            <a:r>
              <a:rPr lang="es-CO" baseline="0" dirty="0" smtClean="0"/>
              <a:t> es parecido al estimado en IV, pero no exactamente el mismo porque la estrategia de identificación compara individuos alrededor del umbral Z^_.</a:t>
            </a:r>
            <a:endParaRPr lang="es-ES" dirty="0" smtClean="0"/>
          </a:p>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10</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CO" dirty="0" smtClean="0"/>
              <a:t>Estos</a:t>
            </a:r>
            <a:r>
              <a:rPr lang="es-CO" baseline="0" dirty="0" smtClean="0"/>
              <a:t> supuesto garantizan que los individuos sea lo suficientemente similares como para que la comparación resulte un estimador válido del impacto del tratamiento al menos alrededor de Z^_.</a:t>
            </a:r>
          </a:p>
          <a:p>
            <a:pPr defTabSz="966612">
              <a:defRPr/>
            </a:pPr>
            <a:endParaRPr lang="es-CO" dirty="0" smtClean="0"/>
          </a:p>
          <a:p>
            <a:pPr defTabSz="966612">
              <a:defRPr/>
            </a:pPr>
            <a:r>
              <a:rPr lang="es-CO" dirty="0" smtClean="0"/>
              <a:t>El efecto</a:t>
            </a:r>
            <a:r>
              <a:rPr lang="es-CO" baseline="0" dirty="0" smtClean="0"/>
              <a:t> es parecido al estimado en IV, pero no exactamente el mismo porque la estrategia de identificación compara individuos alrededor del umbral Z^_.</a:t>
            </a:r>
            <a:endParaRPr lang="es-ES" dirty="0" smtClean="0"/>
          </a:p>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11</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_tradnl" dirty="0" smtClean="0"/>
              <a:t>Programa</a:t>
            </a:r>
            <a:r>
              <a:rPr lang="es-ES_tradnl" baseline="0" dirty="0" smtClean="0"/>
              <a:t> Canasta: Entrega un mercado a las familias. </a:t>
            </a:r>
          </a:p>
          <a:p>
            <a:endParaRPr lang="es-ES_tradnl" dirty="0" smtClean="0"/>
          </a:p>
          <a:p>
            <a:r>
              <a:rPr lang="es-ES_tradnl" dirty="0" smtClean="0"/>
              <a:t>El puntaje</a:t>
            </a:r>
            <a:r>
              <a:rPr lang="es-ES_tradnl" baseline="0" dirty="0" smtClean="0"/>
              <a:t> se calcula con base en una encuesta que mide características socio demográficas de los hogares incluyendo características físicas de la vivienda de residencia, tenencia de bienes durables, escolaridad de los miembros del hogar.</a:t>
            </a:r>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12</a:t>
            </a:fld>
            <a:endParaRPr lang="es-E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ES" sz="1300" dirty="0"/>
              <a:t>Donde ↓es el l</a:t>
            </a:r>
            <a:r>
              <a:rPr lang="es-CO" sz="1300" dirty="0" err="1"/>
              <a:t>ímite</a:t>
            </a:r>
            <a:r>
              <a:rPr lang="es-CO" sz="1300" dirty="0"/>
              <a:t> de  a medida que </a:t>
            </a:r>
            <a:r>
              <a:rPr lang="es-CO" sz="1300" i="1" dirty="0"/>
              <a:t>z</a:t>
            </a:r>
            <a:r>
              <a:rPr lang="es-CO" sz="1300" dirty="0"/>
              <a:t> se aproxima a  desde </a:t>
            </a:r>
            <a:r>
              <a:rPr lang="es-CO" sz="1300" i="1" dirty="0"/>
              <a:t>la derecha</a:t>
            </a:r>
            <a:r>
              <a:rPr lang="es-CO" sz="1300" dirty="0"/>
              <a:t>  y </a:t>
            </a:r>
            <a:r>
              <a:rPr lang="es-ES" sz="1300" dirty="0"/>
              <a:t>↑ es el límite </a:t>
            </a:r>
            <a:r>
              <a:rPr lang="es-CO" sz="1300" dirty="0"/>
              <a:t>de </a:t>
            </a:r>
            <a:r>
              <a:rPr lang="es-ES" sz="1300" dirty="0"/>
              <a:t> a medida que </a:t>
            </a:r>
            <a:r>
              <a:rPr lang="es-CO" sz="1300" i="1" dirty="0"/>
              <a:t>z</a:t>
            </a:r>
            <a:r>
              <a:rPr lang="es-CO" sz="1300" dirty="0"/>
              <a:t> se aproxima a  desde </a:t>
            </a:r>
            <a:r>
              <a:rPr lang="es-CO" sz="1300" i="1" dirty="0"/>
              <a:t>la izquierda</a:t>
            </a:r>
            <a:r>
              <a:rPr lang="es-CO" sz="1300" dirty="0"/>
              <a:t>. </a:t>
            </a:r>
          </a:p>
          <a:p>
            <a:pPr defTabSz="966612">
              <a:defRPr/>
            </a:pPr>
            <a:r>
              <a:rPr lang="es-ES" sz="1300" dirty="0"/>
              <a:t>Se asume que ambos límites existen y en este caso, son iguales a 0 y a 1 respectivamente.</a:t>
            </a:r>
            <a:endParaRPr lang="en-US" sz="1300" dirty="0"/>
          </a:p>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17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sz="1300" dirty="0"/>
              <a:t>La línea superior de la Gráfica  está compuesta por una parte inicial punteada (segmento AB) y una parte final sólida (segmento BC). El segmento sólido BC corresponde a la variable de resultado observada entre los participantes en el programa, que son aquellos con valor de </a:t>
            </a:r>
            <a:r>
              <a:rPr lang="es-ES" sz="1300" i="1" dirty="0"/>
              <a:t>Z</a:t>
            </a:r>
            <a:r>
              <a:rPr lang="es-ES" sz="1300" dirty="0"/>
              <a:t> superior al umbral </a:t>
            </a:r>
            <a:r>
              <a:rPr lang="es-CO" sz="1300" dirty="0"/>
              <a:t>; el segmento punteado AB corresponde a la variable de resultado que habrían obtenido los participantes en ausencia del tratamiento para cada posible nivel de </a:t>
            </a:r>
            <a:r>
              <a:rPr lang="es-CO" sz="1300" i="1" dirty="0"/>
              <a:t>Z</a:t>
            </a:r>
            <a:r>
              <a:rPr lang="es-CO" sz="1300" dirty="0"/>
              <a:t>. La línea inferior (segmento  DF) de la </a:t>
            </a:r>
            <a:r>
              <a:rPr lang="es-ES" sz="1300" dirty="0"/>
              <a:t>Gráfica </a:t>
            </a:r>
            <a:r>
              <a:rPr lang="es-CO" sz="1300" dirty="0"/>
              <a:t>tiene una interpretación similar pero para el grupo de no participantes en el programa.</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18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sz="1300" dirty="0"/>
              <a:t>La expectativa condicional de la variable de resultado observada no es continua sino que salta en el umbral. </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20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21</a:t>
            </a:fld>
            <a:endParaRPr lang="es-E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lvl="1" defTabSz="966612">
              <a:defRPr/>
            </a:pPr>
            <a:r>
              <a:rPr lang="es-MX" dirty="0" smtClean="0"/>
              <a:t>Los individuos o los administradores del programa no contribuyen en la decisión de si participar o no. </a:t>
            </a:r>
          </a:p>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22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sz="1300" dirty="0"/>
              <a:t>En el panel A, se observa que la variable </a:t>
            </a:r>
            <a:r>
              <a:rPr lang="es-CO" sz="1300" i="1" dirty="0"/>
              <a:t>X</a:t>
            </a:r>
            <a:r>
              <a:rPr lang="es-CO" sz="1300" dirty="0"/>
              <a:t> es continua alrededor del umbral . Esto sugiere que se cumple el supuesto de continuidad local </a:t>
            </a:r>
            <a:r>
              <a:rPr lang="es-ES" sz="1300" dirty="0"/>
              <a:t>(</a:t>
            </a:r>
            <a:r>
              <a:rPr lang="es-CO" sz="1300" dirty="0"/>
              <a:t>6.26</a:t>
            </a:r>
            <a:r>
              <a:rPr lang="es-ES" sz="1300" dirty="0"/>
              <a:t>)</a:t>
            </a:r>
            <a:r>
              <a:rPr lang="es-CO" sz="1300" dirty="0"/>
              <a:t> y que los individuos a la izquierda del umbral son muy similares a los individuos a la derecha del umbral, al menos en términos de la variable observable </a:t>
            </a:r>
            <a:r>
              <a:rPr lang="es-CO" sz="1300" i="1" dirty="0"/>
              <a:t>X</a:t>
            </a:r>
            <a:r>
              <a:rPr lang="es-CO" sz="1300" dirty="0"/>
              <a:t>. Por otra parte, en el panel B, se observa que la variable </a:t>
            </a:r>
            <a:r>
              <a:rPr lang="es-CO" sz="1300" i="1" dirty="0"/>
              <a:t>X</a:t>
            </a:r>
            <a:r>
              <a:rPr lang="es-CO" sz="1300" dirty="0"/>
              <a:t> salta en el umbral , lo cual sugeriría que se incumple el supuesto de continuidad local, y que el grupo de individuos a la izquierda del umbral probablemente no sea un buen </a:t>
            </a:r>
            <a:r>
              <a:rPr lang="es-CO" sz="1300" dirty="0" err="1"/>
              <a:t>contrafactual</a:t>
            </a:r>
            <a:r>
              <a:rPr lang="es-CO" sz="1300" dirty="0"/>
              <a:t> para el grupo de tratamiento a la derecha del umbral. </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24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MX" sz="1300" dirty="0"/>
              <a:t>El  efecto del programa es el valor promedio de la variable de resultado en una vecindad arbitrariamente pequeña a la derecha del umbral (tratados) menos el valor promedio de la variable de resultado en una vecindad arbitrariamente pequeña a la izquierda del umbral (controles):</a:t>
            </a:r>
          </a:p>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27</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MX" sz="1300" dirty="0"/>
              <a:t>El  efecto del programa es el valor promedio de la variable de resultado en una vecindad arbitrariamente pequeña a la derecha del umbral (tratados) menos el valor promedio de la variable de resultado en una vecindad arbitrariamente pequeña a la izquierda del umbral (controles):</a:t>
            </a:r>
          </a:p>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28</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ES_tradnl" dirty="0" smtClean="0"/>
              <a:t>El estimador mide el</a:t>
            </a:r>
            <a:r>
              <a:rPr lang="es-ES_tradnl" baseline="0" dirty="0" smtClean="0"/>
              <a:t> impacto del tratamiento sobre un individuo seleccionado </a:t>
            </a:r>
            <a:r>
              <a:rPr lang="es-ES_tradnl" baseline="0" dirty="0" err="1" smtClean="0"/>
              <a:t>aleatoriamente</a:t>
            </a:r>
            <a:r>
              <a:rPr lang="es-ES_tradnl" baseline="0" dirty="0" smtClean="0"/>
              <a:t> con características observables </a:t>
            </a:r>
            <a:r>
              <a:rPr lang="es-ES_tradnl" baseline="0" dirty="0" err="1" smtClean="0"/>
              <a:t>Z_i</a:t>
            </a:r>
            <a:r>
              <a:rPr lang="es-ES_tradnl" baseline="0" dirty="0" smtClean="0"/>
              <a:t>=Z_ _</a:t>
            </a:r>
            <a:endParaRPr lang="es-ES" dirty="0" smtClean="0"/>
          </a:p>
          <a:p>
            <a:pPr defTabSz="966612">
              <a:defRPr/>
            </a:pPr>
            <a:endParaRPr lang="es-ES" dirty="0" smtClean="0"/>
          </a:p>
          <a:p>
            <a:pPr defTabSz="966612">
              <a:defRPr/>
            </a:pPr>
            <a:r>
              <a:rPr lang="es-ES" dirty="0" smtClean="0"/>
              <a:t>La validez externa es, en este caso, limitada porque se estima el impacto del programa para un grupo particular de la población y no es posible extrapolar los resultados a otras poblaciones. </a:t>
            </a:r>
          </a:p>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29</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Hay un cambio discontinuo</a:t>
            </a:r>
            <a:r>
              <a:rPr lang="es-ES" baseline="0" dirty="0" smtClean="0"/>
              <a:t> en la probabilidad de participación en Z_ _, tal que sólo los individuos a un lado del umbral pueden participar</a:t>
            </a:r>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33</a:t>
            </a:fld>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Hay</a:t>
            </a:r>
            <a:r>
              <a:rPr lang="es-ES" baseline="0" dirty="0" smtClean="0"/>
              <a:t> individuos participantes a ambos lados del umbral, pero debido al racionamiento del programa para hogares SISBEN 2 entonces esta probabilidad cambia discretamente en el punto de corte Z_ _ porque es más costoso para hogares SISBEN 2 aplicar dado que existe el riesgo de no recibir</a:t>
            </a:r>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34</a:t>
            </a:fld>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dirty="0" smtClean="0"/>
              <a:t>El</a:t>
            </a:r>
            <a:r>
              <a:rPr lang="es-CO" baseline="0" dirty="0" smtClean="0"/>
              <a:t> hecho que la igualdad no se cumpla es consistente con que en la gráfica la línea punteada y la sólida no coincidan ni siquiera en un rango de Z.</a:t>
            </a:r>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37</a:t>
            </a:fld>
            <a:endParaRPr lang="es-E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smtClean="0"/>
              <a:t>Coincide</a:t>
            </a:r>
            <a:r>
              <a:rPr lang="es-MX" baseline="0" dirty="0" smtClean="0"/>
              <a:t> con el estimador de </a:t>
            </a:r>
            <a:r>
              <a:rPr lang="es-MX" baseline="0" dirty="0" err="1" smtClean="0"/>
              <a:t>Wald</a:t>
            </a:r>
            <a:r>
              <a:rPr lang="es-MX" baseline="0" dirty="0" smtClean="0"/>
              <a:t> </a:t>
            </a:r>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40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smtClean="0"/>
              <a:t>Coincide</a:t>
            </a:r>
            <a:r>
              <a:rPr lang="es-MX" baseline="0" dirty="0" smtClean="0"/>
              <a:t> con el estimador de </a:t>
            </a:r>
            <a:r>
              <a:rPr lang="es-MX" baseline="0" dirty="0" err="1" smtClean="0"/>
              <a:t>Wald</a:t>
            </a:r>
            <a:r>
              <a:rPr lang="es-MX" baseline="0" dirty="0" smtClean="0"/>
              <a:t> </a:t>
            </a:r>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41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42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43</a:t>
            </a:fld>
            <a:endParaRPr 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sz="1300" dirty="0"/>
              <a:t>Note que bajo algunas condiciones, este estimador es equivalente al estimador de variables instrumentales en el cual la restricción de exclusión implica que </a:t>
            </a:r>
            <a:r>
              <a:rPr lang="es-ES" sz="1300" dirty="0"/>
              <a:t> es parte de la ecuación de participación pero no de la ecuación de la variable de resultado.</a:t>
            </a:r>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50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sz="1300" dirty="0"/>
              <a:t>Estos métodos obviamente se basan en condiciones más débiles sobre suavidad lejos del punto de discontinuidad dado que los estimadores se basan casi exclusivamente en los datos en una vecindad del umbral.</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51</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smtClean="0"/>
              <a:t>Análisis</a:t>
            </a:r>
            <a:r>
              <a:rPr lang="es-MX" baseline="0" dirty="0" smtClean="0"/>
              <a:t> de sensibilidad </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52</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smtClean="0"/>
              <a:t>Los pesos</a:t>
            </a:r>
            <a:r>
              <a:rPr lang="es-MX" baseline="0" dirty="0" smtClean="0"/>
              <a:t> de la función Kernel deben sumar 1 </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55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ES" dirty="0" smtClean="0"/>
              <a:t>Hay</a:t>
            </a:r>
            <a:r>
              <a:rPr lang="es-ES" baseline="0" dirty="0" smtClean="0"/>
              <a:t> individuos participantes a ambos lados del umbral, pero debido al racionamiento del programa para hogares SISBEN 2 entonces esta probabilidad cambia discretamente en el punto de corte Z_ _ porque es más costoso para hogares SISBEN 2 aplicar dado que existe el riesgo de no recibir</a:t>
            </a:r>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60</a:t>
            </a:fld>
            <a:endParaRPr lang="es-E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65</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MX" dirty="0" smtClean="0"/>
              <a:t>La metodología</a:t>
            </a:r>
            <a:r>
              <a:rPr lang="es-MX" baseline="0" dirty="0" smtClean="0"/>
              <a:t> es la misma que en el anterior </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68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72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73</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74</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sz="1300" dirty="0"/>
              <a:t>Intuitivamente, este criterio implica que la vecindad es relativamente homogénea en las características de los individuos y por tanto, la variable de resultado predicha en el umbral es muy cercana de la variable de resultado de los individuos en esa vecindad. </a:t>
            </a:r>
            <a:endParaRPr lang="en-US" dirty="0"/>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75</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O" sz="1300"/>
              <a:t>Intuitivamente, este criterio implica que la vecindad es relativamente homogénea en las características de los individuos y por tanto, la variable de resultado predicha en el umbral es muy cercana de la variable de resultado de los individuos en esa vecindad. </a:t>
            </a:r>
            <a:endParaRPr lang="en-US"/>
          </a:p>
        </p:txBody>
      </p:sp>
      <p:sp>
        <p:nvSpPr>
          <p:cNvPr id="4" name="3 Marcador de número de diapositiva"/>
          <p:cNvSpPr>
            <a:spLocks noGrp="1"/>
          </p:cNvSpPr>
          <p:nvPr>
            <p:ph type="sldNum" sz="quarter" idx="10"/>
          </p:nvPr>
        </p:nvSpPr>
        <p:spPr/>
        <p:txBody>
          <a:bodyPr/>
          <a:lstStyle/>
          <a:p>
            <a:fld id="{8773A40F-B907-48CA-86BF-81C3103CEE33}" type="slidenum">
              <a:rPr lang="en-US" smtClean="0"/>
              <a:pPr/>
              <a:t>76</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defTabSz="966612">
              <a:defRPr/>
            </a:pPr>
            <a:r>
              <a:rPr lang="es-ES" sz="1300" dirty="0"/>
              <a:t>Los niños por debajo del umbral Z= 47 tienen una probabilidad de 0,099 de nacer con  bajo peso mientras que esta probabilidad tiene un salto discontinuo a aproximadamente 0,11 para individuos inmediatamente después del umbral. </a:t>
            </a:r>
          </a:p>
          <a:p>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85</a:t>
            </a:fld>
            <a:endParaRPr lang="es-E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87</a:t>
            </a:fld>
            <a:endParaRPr lang="es-E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88</a:t>
            </a:fld>
            <a:endParaRPr lang="es-E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571FE7E4-D6F6-4CEB-8792-0EFFE825017D}" type="slidenum">
              <a:rPr lang="es-ES" smtClean="0"/>
              <a:pPr/>
              <a:t>89</a:t>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n-U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a:p>
        </p:txBody>
      </p:sp>
      <p:sp>
        <p:nvSpPr>
          <p:cNvPr id="4" name="3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6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8" name="7 Marcador de pie de página"/>
          <p:cNvSpPr>
            <a:spLocks noGrp="1"/>
          </p:cNvSpPr>
          <p:nvPr>
            <p:ph type="ftr" sz="quarter" idx="11"/>
          </p:nvPr>
        </p:nvSpPr>
        <p:spPr/>
        <p:txBody>
          <a:bodyPr/>
          <a:lstStyle/>
          <a:p>
            <a:endParaRPr lang="en-US"/>
          </a:p>
        </p:txBody>
      </p:sp>
      <p:sp>
        <p:nvSpPr>
          <p:cNvPr id="9" name="8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4" name="3 Marcador de pie de página"/>
          <p:cNvSpPr>
            <a:spLocks noGrp="1"/>
          </p:cNvSpPr>
          <p:nvPr>
            <p:ph type="ftr" sz="quarter" idx="11"/>
          </p:nvPr>
        </p:nvSpPr>
        <p:spPr/>
        <p:txBody>
          <a:bodyPr/>
          <a:lstStyle/>
          <a:p>
            <a:endParaRPr lang="en-US"/>
          </a:p>
        </p:txBody>
      </p:sp>
      <p:sp>
        <p:nvSpPr>
          <p:cNvPr id="5" name="4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3" name="2 Marcador de pie de página"/>
          <p:cNvSpPr>
            <a:spLocks noGrp="1"/>
          </p:cNvSpPr>
          <p:nvPr>
            <p:ph type="ftr" sz="quarter" idx="11"/>
          </p:nvPr>
        </p:nvSpPr>
        <p:spPr/>
        <p:txBody>
          <a:bodyPr/>
          <a:lstStyle/>
          <a:p>
            <a:endParaRPr lang="en-US"/>
          </a:p>
        </p:txBody>
      </p:sp>
      <p:sp>
        <p:nvSpPr>
          <p:cNvPr id="4" name="3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n-U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6" name="5 Marcador de pie de página"/>
          <p:cNvSpPr>
            <a:spLocks noGrp="1"/>
          </p:cNvSpPr>
          <p:nvPr>
            <p:ph type="ftr" sz="quarter" idx="11"/>
          </p:nvPr>
        </p:nvSpPr>
        <p:spPr/>
        <p:txBody>
          <a:bodyPr/>
          <a:lstStyle/>
          <a:p>
            <a:endParaRPr lang="en-US"/>
          </a:p>
        </p:txBody>
      </p:sp>
      <p:sp>
        <p:nvSpPr>
          <p:cNvPr id="7" name="6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10"/>
          </p:nvPr>
        </p:nvSpPr>
        <p:spPr/>
        <p:txBody>
          <a:bodyPr/>
          <a:lstStyle/>
          <a:p>
            <a:fld id="{A742B430-B862-445F-9437-083D46F1D5F6}" type="datetimeFigureOut">
              <a:rPr lang="en-US" smtClean="0"/>
              <a:pPr/>
              <a:t>4/10/2011</a:t>
            </a:fld>
            <a:endParaRPr lang="en-US"/>
          </a:p>
        </p:txBody>
      </p:sp>
      <p:sp>
        <p:nvSpPr>
          <p:cNvPr id="5" name="4 Marcador de pie de página"/>
          <p:cNvSpPr>
            <a:spLocks noGrp="1"/>
          </p:cNvSpPr>
          <p:nvPr>
            <p:ph type="ftr" sz="quarter" idx="11"/>
          </p:nvPr>
        </p:nvSpPr>
        <p:spPr/>
        <p:txBody>
          <a:bodyPr/>
          <a:lstStyle/>
          <a:p>
            <a:endParaRPr lang="en-US"/>
          </a:p>
        </p:txBody>
      </p:sp>
      <p:sp>
        <p:nvSpPr>
          <p:cNvPr id="6" name="5 Marcador de número de diapositiva"/>
          <p:cNvSpPr>
            <a:spLocks noGrp="1"/>
          </p:cNvSpPr>
          <p:nvPr>
            <p:ph type="sldNum" sz="quarter" idx="12"/>
          </p:nvPr>
        </p:nvSpPr>
        <p:spPr/>
        <p:txBody>
          <a:bodyPr/>
          <a:lstStyle/>
          <a:p>
            <a:fld id="{1C4F5CA9-080F-4E50-9B40-1A1E34C9A425}"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42B430-B862-445F-9437-083D46F1D5F6}" type="datetimeFigureOut">
              <a:rPr lang="en-US" smtClean="0"/>
              <a:pPr/>
              <a:t>4/10/2011</a:t>
            </a:fld>
            <a:endParaRPr lang="en-U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4F5CA9-080F-4E50-9B40-1A1E34C9A425}"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0.emf"/></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0.em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package" Target="../embeddings/Documento_de_Word_20073.docx"/><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Documento_de_Word_20072.docx"/><Relationship Id="rId5" Type="http://schemas.openxmlformats.org/officeDocument/2006/relationships/package" Target="../embeddings/Documento_de_Word_20071.docx"/><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package" Target="../embeddings/Documento_de_Word_20076.docx"/><Relationship Id="rId5" Type="http://schemas.openxmlformats.org/officeDocument/2006/relationships/package" Target="../embeddings/Documento_de_Word_20075.docx"/><Relationship Id="rId4" Type="http://schemas.openxmlformats.org/officeDocument/2006/relationships/package" Target="../embeddings/Documento_de_Word_20074.docx"/></Relationships>
</file>

<file path=ppt/slides/_rels/slide3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3.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66.emf"/><Relationship Id="rId4" Type="http://schemas.openxmlformats.org/officeDocument/2006/relationships/image" Target="../media/image65.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70.png"/><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70.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1.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package" Target="../embeddings/Documento_de_Word_20077.docx"/></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CO" dirty="0" smtClean="0"/>
              <a:t>Capítulo 8</a:t>
            </a:r>
            <a:endParaRPr lang="es-ES" dirty="0"/>
          </a:p>
        </p:txBody>
      </p:sp>
      <p:sp>
        <p:nvSpPr>
          <p:cNvPr id="3" name="2 Subtítulo"/>
          <p:cNvSpPr>
            <a:spLocks noGrp="1"/>
          </p:cNvSpPr>
          <p:nvPr>
            <p:ph type="subTitle" idx="1"/>
          </p:nvPr>
        </p:nvSpPr>
        <p:spPr/>
        <p:txBody>
          <a:bodyPr/>
          <a:lstStyle/>
          <a:p>
            <a:pPr algn="r"/>
            <a:r>
              <a:rPr lang="es-CO" dirty="0" smtClean="0"/>
              <a:t>Método de regresión discontinua</a:t>
            </a:r>
            <a:endParaRPr lang="es-E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00298" y="285728"/>
            <a:ext cx="6186502" cy="1131910"/>
          </a:xfrm>
        </p:spPr>
        <p:txBody>
          <a:bodyPr>
            <a:normAutofit/>
          </a:bodyPr>
          <a:lstStyle/>
          <a:p>
            <a:r>
              <a:rPr lang="es-MX" u="sng" dirty="0" smtClean="0"/>
              <a:t>Motivación</a:t>
            </a:r>
            <a:endParaRPr lang="en-US" u="sng" dirty="0"/>
          </a:p>
        </p:txBody>
      </p:sp>
      <p:sp>
        <p:nvSpPr>
          <p:cNvPr id="10" name="9 Marcador de contenido"/>
          <p:cNvSpPr>
            <a:spLocks noGrp="1"/>
          </p:cNvSpPr>
          <p:nvPr>
            <p:ph idx="1"/>
          </p:nvPr>
        </p:nvSpPr>
        <p:spPr>
          <a:xfrm>
            <a:off x="428596" y="1903433"/>
            <a:ext cx="8429684" cy="4525963"/>
          </a:xfrm>
        </p:spPr>
        <p:txBody>
          <a:bodyPr>
            <a:normAutofit/>
          </a:bodyPr>
          <a:lstStyle/>
          <a:p>
            <a:r>
              <a:rPr lang="es-ES" dirty="0" smtClean="0"/>
              <a:t>En Colombia hay una variedad de ejemplos de asignación de política pública con base en instrumentos de focalización:</a:t>
            </a:r>
          </a:p>
          <a:p>
            <a:pPr lvl="1"/>
            <a:r>
              <a:rPr lang="es-ES" dirty="0" smtClean="0"/>
              <a:t>El régimen subsidiado de salud.</a:t>
            </a:r>
          </a:p>
          <a:p>
            <a:pPr lvl="1"/>
            <a:r>
              <a:rPr lang="es-ES" dirty="0" smtClean="0"/>
              <a:t>Hogares Comunitarios de Bienestar. </a:t>
            </a:r>
          </a:p>
          <a:p>
            <a:pPr lvl="1"/>
            <a:r>
              <a:rPr lang="es-ES" dirty="0" smtClean="0"/>
              <a:t>Familias en Acción. </a:t>
            </a:r>
            <a:endParaRPr lang="es-MX" dirty="0" smtClean="0"/>
          </a:p>
          <a:p>
            <a:pPr lvl="1"/>
            <a:endParaRPr lang="es-MX" dirty="0"/>
          </a:p>
          <a:p>
            <a:pPr lvl="1"/>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8" name="7 Rectángulo"/>
          <p:cNvSpPr/>
          <p:nvPr/>
        </p:nvSpPr>
        <p:spPr>
          <a:xfrm>
            <a:off x="0" y="6534859"/>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a:t>
            </a:fld>
            <a:endParaRPr lang="es-ES" sz="1500" dirty="0">
              <a:solidFill>
                <a:schemeClr val="tx1">
                  <a:lumMod val="50000"/>
                  <a:lumOff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00298" y="285728"/>
            <a:ext cx="6186502" cy="1131910"/>
          </a:xfrm>
        </p:spPr>
        <p:txBody>
          <a:bodyPr>
            <a:normAutofit/>
          </a:bodyPr>
          <a:lstStyle/>
          <a:p>
            <a:r>
              <a:rPr lang="es-MX" u="sng" dirty="0" smtClean="0"/>
              <a:t>Motivación</a:t>
            </a:r>
            <a:endParaRPr lang="en-US" u="sng" dirty="0"/>
          </a:p>
        </p:txBody>
      </p:sp>
      <p:sp>
        <p:nvSpPr>
          <p:cNvPr id="10" name="9 Marcador de contenido"/>
          <p:cNvSpPr>
            <a:spLocks noGrp="1"/>
          </p:cNvSpPr>
          <p:nvPr>
            <p:ph idx="1"/>
          </p:nvPr>
        </p:nvSpPr>
        <p:spPr>
          <a:xfrm>
            <a:off x="428596" y="1903433"/>
            <a:ext cx="8429684" cy="4525963"/>
          </a:xfrm>
        </p:spPr>
        <p:txBody>
          <a:bodyPr>
            <a:normAutofit/>
          </a:bodyPr>
          <a:lstStyle/>
          <a:p>
            <a:r>
              <a:rPr lang="es-CO" dirty="0" smtClean="0"/>
              <a:t>El Sistema </a:t>
            </a:r>
            <a:r>
              <a:rPr lang="es-CO" dirty="0"/>
              <a:t>de Identificación de Potenciales </a:t>
            </a:r>
            <a:r>
              <a:rPr lang="es-CO" dirty="0" smtClean="0"/>
              <a:t>Beneficiarios de </a:t>
            </a:r>
            <a:r>
              <a:rPr lang="es-CO" dirty="0"/>
              <a:t>Programas </a:t>
            </a:r>
            <a:r>
              <a:rPr lang="es-CO" dirty="0" smtClean="0"/>
              <a:t>Sociales (</a:t>
            </a:r>
            <a:r>
              <a:rPr lang="es-CO" dirty="0" err="1" smtClean="0"/>
              <a:t>Sisben</a:t>
            </a:r>
            <a:r>
              <a:rPr lang="es-CO" dirty="0" smtClean="0"/>
              <a:t>): </a:t>
            </a:r>
          </a:p>
          <a:p>
            <a:pPr lvl="1"/>
            <a:r>
              <a:rPr lang="es-CO" dirty="0" smtClean="0"/>
              <a:t>Es </a:t>
            </a:r>
            <a:r>
              <a:rPr lang="es-CO" dirty="0"/>
              <a:t>un instrumento desarrollado con el objetivo de focalizar programas de política pública hacia la población más vulnerable en Colombia y </a:t>
            </a:r>
            <a:r>
              <a:rPr lang="es-CO" dirty="0" smtClean="0"/>
              <a:t>toma </a:t>
            </a:r>
            <a:r>
              <a:rPr lang="es-CO" dirty="0"/>
              <a:t>valores entre 0 y 100</a:t>
            </a:r>
            <a:r>
              <a:rPr lang="es-CO" dirty="0" smtClean="0"/>
              <a:t>.</a:t>
            </a:r>
          </a:p>
          <a:p>
            <a:pPr lvl="1"/>
            <a:r>
              <a:rPr lang="es-CO" dirty="0" smtClean="0"/>
              <a:t>Los hogares con puntajes </a:t>
            </a:r>
            <a:r>
              <a:rPr lang="es-CO" dirty="0" err="1" smtClean="0"/>
              <a:t>Sisben</a:t>
            </a:r>
            <a:r>
              <a:rPr lang="es-CO" dirty="0" smtClean="0"/>
              <a:t> más bajos son más vulnerables que aquellos con puntajes más altos. </a:t>
            </a:r>
            <a:endParaRPr lang="en-US" dirty="0"/>
          </a:p>
          <a:p>
            <a:pPr lvl="1"/>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a:t>
            </a:fld>
            <a:endParaRPr lang="es-ES" sz="1500" dirty="0">
              <a:solidFill>
                <a:schemeClr val="tx1">
                  <a:lumMod val="50000"/>
                  <a:lumOff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95006" y="285728"/>
            <a:ext cx="6191794" cy="1131910"/>
          </a:xfrm>
        </p:spPr>
        <p:txBody>
          <a:bodyPr/>
          <a:lstStyle/>
          <a:p>
            <a:r>
              <a:rPr lang="es-MX" u="sng" dirty="0" smtClean="0"/>
              <a:t>Motivación</a:t>
            </a:r>
            <a:endParaRPr lang="en-US" u="sng" dirty="0"/>
          </a:p>
        </p:txBody>
      </p:sp>
      <p:sp>
        <p:nvSpPr>
          <p:cNvPr id="10" name="9 Marcador de contenido"/>
          <p:cNvSpPr>
            <a:spLocks noGrp="1"/>
          </p:cNvSpPr>
          <p:nvPr>
            <p:ph idx="1"/>
          </p:nvPr>
        </p:nvSpPr>
        <p:spPr>
          <a:xfrm>
            <a:off x="457200" y="1844566"/>
            <a:ext cx="8229600" cy="4281597"/>
          </a:xfrm>
        </p:spPr>
        <p:txBody>
          <a:bodyPr>
            <a:normAutofit/>
          </a:bodyPr>
          <a:lstStyle/>
          <a:p>
            <a:r>
              <a:rPr lang="es-MX" dirty="0" smtClean="0">
                <a:solidFill>
                  <a:schemeClr val="accent5">
                    <a:lumMod val="75000"/>
                  </a:schemeClr>
                </a:solidFill>
              </a:rPr>
              <a:t>Familias en Acción: </a:t>
            </a:r>
          </a:p>
          <a:p>
            <a:pPr lvl="1"/>
            <a:r>
              <a:rPr lang="es-MX" dirty="0" smtClean="0"/>
              <a:t>Los beneficios están focalizados en las personas más pobres del país (familias </a:t>
            </a:r>
            <a:r>
              <a:rPr lang="es-MX" dirty="0" err="1" smtClean="0"/>
              <a:t>Sisben</a:t>
            </a:r>
            <a:r>
              <a:rPr lang="es-MX" dirty="0" smtClean="0"/>
              <a:t> 1). </a:t>
            </a:r>
          </a:p>
          <a:p>
            <a:pPr lvl="1"/>
            <a:r>
              <a:rPr lang="es-MX" dirty="0" smtClean="0"/>
              <a:t>El criterio de focalización para recibir beneficios es una función del puntaje </a:t>
            </a:r>
            <a:r>
              <a:rPr lang="es-MX" dirty="0" err="1" smtClean="0"/>
              <a:t>Sisben</a:t>
            </a:r>
            <a:r>
              <a:rPr lang="es-MX" dirty="0" smtClean="0"/>
              <a:t>.</a:t>
            </a:r>
          </a:p>
          <a:p>
            <a:pPr lvl="1"/>
            <a:r>
              <a:rPr lang="es-MX" dirty="0" smtClean="0"/>
              <a:t>Si el puntaje </a:t>
            </a:r>
            <a:r>
              <a:rPr lang="es-MX" dirty="0" err="1" smtClean="0"/>
              <a:t>Sisben</a:t>
            </a:r>
            <a:r>
              <a:rPr lang="es-MX" dirty="0" smtClean="0"/>
              <a:t> es inferior a 11, entonces el hogar clasifica en </a:t>
            </a:r>
            <a:r>
              <a:rPr lang="es-MX" dirty="0" err="1" smtClean="0"/>
              <a:t>Sisben</a:t>
            </a:r>
            <a:r>
              <a:rPr lang="es-MX" dirty="0" smtClean="0"/>
              <a:t> 1. Este</a:t>
            </a:r>
            <a:r>
              <a:rPr lang="es-ES" dirty="0" smtClean="0"/>
              <a:t> umbral se eligió de una manera presumiblemente arbitraria. </a:t>
            </a:r>
            <a:endParaRPr lang="es-MX" dirty="0" smtClean="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a:t>
            </a:fld>
            <a:endParaRPr lang="es-ES" sz="1500" dirty="0">
              <a:solidFill>
                <a:schemeClr val="tx1">
                  <a:lumMod val="50000"/>
                  <a:lumOff val="50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95006" y="285728"/>
            <a:ext cx="6191794" cy="1131910"/>
          </a:xfrm>
        </p:spPr>
        <p:txBody>
          <a:bodyPr/>
          <a:lstStyle/>
          <a:p>
            <a:r>
              <a:rPr lang="es-MX" u="sng" dirty="0" smtClean="0"/>
              <a:t>Motivación</a:t>
            </a:r>
            <a:endParaRPr lang="en-US" u="sng" dirty="0"/>
          </a:p>
        </p:txBody>
      </p:sp>
      <p:sp>
        <p:nvSpPr>
          <p:cNvPr id="10" name="9 Marcador de contenido"/>
          <p:cNvSpPr>
            <a:spLocks noGrp="1"/>
          </p:cNvSpPr>
          <p:nvPr>
            <p:ph idx="1"/>
          </p:nvPr>
        </p:nvSpPr>
        <p:spPr>
          <a:xfrm>
            <a:off x="457200" y="1860331"/>
            <a:ext cx="8229600" cy="4265832"/>
          </a:xfrm>
        </p:spPr>
        <p:txBody>
          <a:bodyPr>
            <a:normAutofit/>
          </a:bodyPr>
          <a:lstStyle/>
          <a:p>
            <a:r>
              <a:rPr lang="es-MX" dirty="0" smtClean="0">
                <a:solidFill>
                  <a:schemeClr val="accent5">
                    <a:lumMod val="75000"/>
                  </a:schemeClr>
                </a:solidFill>
              </a:rPr>
              <a:t>Familias en Acción: </a:t>
            </a:r>
          </a:p>
          <a:p>
            <a:pPr lvl="1"/>
            <a:r>
              <a:rPr lang="es-MX" dirty="0" smtClean="0"/>
              <a:t>Una </a:t>
            </a:r>
            <a:r>
              <a:rPr lang="es-ES" dirty="0" smtClean="0"/>
              <a:t>familia </a:t>
            </a:r>
            <a:r>
              <a:rPr lang="es-ES" dirty="0"/>
              <a:t>con puntaje 10.99 es prácticamente idéntica a una familia con puntaje </a:t>
            </a:r>
            <a:r>
              <a:rPr lang="es-ES" dirty="0" smtClean="0"/>
              <a:t>11.01; </a:t>
            </a:r>
            <a:r>
              <a:rPr lang="es-ES" dirty="0"/>
              <a:t>pero </a:t>
            </a:r>
            <a:r>
              <a:rPr lang="es-ES" dirty="0" smtClean="0"/>
              <a:t>la </a:t>
            </a:r>
            <a:r>
              <a:rPr lang="es-ES" dirty="0"/>
              <a:t>primera familia sí participa en el programa </a:t>
            </a:r>
            <a:r>
              <a:rPr lang="es-ES" dirty="0" smtClean="0"/>
              <a:t>y la segunda no.</a:t>
            </a:r>
          </a:p>
          <a:p>
            <a:pPr lvl="1"/>
            <a:r>
              <a:rPr lang="es-MX" dirty="0" smtClean="0"/>
              <a:t>La segunda familia puede utilizarse como </a:t>
            </a:r>
            <a:r>
              <a:rPr lang="es-MX" dirty="0" err="1" smtClean="0"/>
              <a:t>contrafactual</a:t>
            </a:r>
            <a:r>
              <a:rPr lang="es-MX" dirty="0" smtClean="0"/>
              <a:t> de la primera.</a:t>
            </a:r>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a:t>
            </a:fld>
            <a:endParaRPr lang="es-ES" sz="1500" dirty="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71736" y="285728"/>
            <a:ext cx="6115064" cy="1131910"/>
          </a:xfrm>
        </p:spPr>
        <p:txBody>
          <a:bodyPr>
            <a:normAutofit fontScale="90000"/>
          </a:bodyPr>
          <a:lstStyle/>
          <a:p>
            <a:r>
              <a:rPr lang="es-MX" u="sng" dirty="0" smtClean="0"/>
              <a:t>Regresión discontinua (RD):</a:t>
            </a:r>
            <a:br>
              <a:rPr lang="es-MX" u="sng" dirty="0" smtClean="0"/>
            </a:br>
            <a:r>
              <a:rPr lang="es-MX" u="sng" dirty="0" smtClean="0"/>
              <a:t>Notación</a:t>
            </a:r>
            <a:endParaRPr lang="en-US" u="sng"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p:txBody>
              <a:bodyPr>
                <a:normAutofit fontScale="92500" lnSpcReduction="10000"/>
              </a:bodyPr>
              <a:lstStyle/>
              <a:p>
                <a:endParaRPr lang="es-MX" dirty="0" smtClean="0"/>
              </a:p>
              <a:p>
                <a:r>
                  <a:rPr lang="es-MX" sz="2700" i="1" dirty="0" smtClean="0">
                    <a:solidFill>
                      <a:schemeClr val="accent5">
                        <a:lumMod val="75000"/>
                      </a:schemeClr>
                    </a:solidFill>
                    <a:latin typeface="Times New Roman" pitchFamily="18" charset="0"/>
                    <a:cs typeface="Times New Roman" pitchFamily="18" charset="0"/>
                  </a:rPr>
                  <a:t>D</a:t>
                </a:r>
                <a:r>
                  <a:rPr lang="es-MX" sz="2700" i="1" baseline="-25000" dirty="0" smtClean="0">
                    <a:solidFill>
                      <a:schemeClr val="accent5">
                        <a:lumMod val="75000"/>
                      </a:schemeClr>
                    </a:solidFill>
                    <a:latin typeface="Times New Roman" pitchFamily="18" charset="0"/>
                    <a:cs typeface="Times New Roman" pitchFamily="18" charset="0"/>
                  </a:rPr>
                  <a:t>i</a:t>
                </a:r>
                <a:r>
                  <a:rPr lang="es-MX" sz="3000" dirty="0" smtClean="0">
                    <a:solidFill>
                      <a:schemeClr val="accent5">
                        <a:lumMod val="75000"/>
                      </a:schemeClr>
                    </a:solidFill>
                  </a:rPr>
                  <a:t>:</a:t>
                </a:r>
                <a:r>
                  <a:rPr lang="es-MX" sz="3000" dirty="0" smtClean="0"/>
                  <a:t> </a:t>
                </a:r>
                <a:r>
                  <a:rPr lang="es-MX" sz="2800" dirty="0" smtClean="0"/>
                  <a:t>Indicador de tratamiento. </a:t>
                </a:r>
              </a:p>
              <a:p>
                <a:r>
                  <a:rPr lang="es-MX" sz="2800" i="1" dirty="0" smtClean="0">
                    <a:solidFill>
                      <a:schemeClr val="accent5">
                        <a:lumMod val="75000"/>
                      </a:schemeClr>
                    </a:solidFill>
                    <a:latin typeface="Times New Roman" pitchFamily="18" charset="0"/>
                    <a:cs typeface="Times New Roman" pitchFamily="18" charset="0"/>
                  </a:rPr>
                  <a:t>Y</a:t>
                </a:r>
                <a:r>
                  <a:rPr lang="es-MX" sz="2800" i="1" baseline="-25000" dirty="0" smtClean="0">
                    <a:solidFill>
                      <a:schemeClr val="accent5">
                        <a:lumMod val="75000"/>
                      </a:schemeClr>
                    </a:solidFill>
                    <a:latin typeface="Times New Roman" pitchFamily="18" charset="0"/>
                    <a:cs typeface="Times New Roman" pitchFamily="18" charset="0"/>
                  </a:rPr>
                  <a:t>i </a:t>
                </a:r>
                <a:r>
                  <a:rPr lang="es-MX" sz="3000" dirty="0" smtClean="0">
                    <a:solidFill>
                      <a:schemeClr val="accent5">
                        <a:lumMod val="75000"/>
                      </a:schemeClr>
                    </a:solidFill>
                  </a:rPr>
                  <a:t>:</a:t>
                </a:r>
                <a:r>
                  <a:rPr lang="es-MX" sz="3000" dirty="0" smtClean="0"/>
                  <a:t> </a:t>
                </a:r>
                <a:r>
                  <a:rPr lang="es-MX" sz="2800" dirty="0" smtClean="0"/>
                  <a:t>Variable de resultado. </a:t>
                </a:r>
              </a:p>
              <a:p>
                <a:r>
                  <a:rPr lang="es-MX" sz="2800" i="1" dirty="0" smtClean="0">
                    <a:solidFill>
                      <a:schemeClr val="accent5">
                        <a:lumMod val="75000"/>
                      </a:schemeClr>
                    </a:solidFill>
                    <a:latin typeface="Times New Roman" pitchFamily="18" charset="0"/>
                    <a:cs typeface="Times New Roman" pitchFamily="18" charset="0"/>
                  </a:rPr>
                  <a:t>X</a:t>
                </a:r>
                <a:r>
                  <a:rPr lang="es-MX" sz="2800" i="1" baseline="-25000" dirty="0" smtClean="0">
                    <a:solidFill>
                      <a:schemeClr val="accent5">
                        <a:lumMod val="75000"/>
                      </a:schemeClr>
                    </a:solidFill>
                    <a:latin typeface="Times New Roman" pitchFamily="18" charset="0"/>
                    <a:cs typeface="Times New Roman" pitchFamily="18" charset="0"/>
                  </a:rPr>
                  <a:t>i </a:t>
                </a:r>
                <a:r>
                  <a:rPr lang="es-MX" sz="3000" dirty="0" smtClean="0">
                    <a:solidFill>
                      <a:schemeClr val="accent5">
                        <a:lumMod val="75000"/>
                      </a:schemeClr>
                    </a:solidFill>
                  </a:rPr>
                  <a:t>:</a:t>
                </a:r>
                <a:r>
                  <a:rPr lang="es-CO" sz="3000" dirty="0" smtClean="0"/>
                  <a:t> </a:t>
                </a:r>
                <a:r>
                  <a:rPr lang="es-CO" sz="2800" dirty="0" smtClean="0"/>
                  <a:t>Características observables que no dependen directamente de la variable del tratamiento; pero afectan la variable de resultado. </a:t>
                </a:r>
                <a:endParaRPr lang="es-MX" sz="2800" dirty="0" smtClean="0"/>
              </a:p>
              <a:p>
                <a:r>
                  <a:rPr lang="es-MX" sz="2800" i="1" dirty="0" smtClean="0">
                    <a:solidFill>
                      <a:schemeClr val="accent5">
                        <a:lumMod val="75000"/>
                      </a:schemeClr>
                    </a:solidFill>
                    <a:latin typeface="Times New Roman" pitchFamily="18" charset="0"/>
                    <a:cs typeface="Times New Roman" pitchFamily="18" charset="0"/>
                  </a:rPr>
                  <a:t>Z</a:t>
                </a:r>
                <a:r>
                  <a:rPr lang="es-MX" sz="2800" i="1" baseline="-25000" dirty="0" smtClean="0">
                    <a:solidFill>
                      <a:schemeClr val="accent5">
                        <a:lumMod val="75000"/>
                      </a:schemeClr>
                    </a:solidFill>
                    <a:latin typeface="Times New Roman" pitchFamily="18" charset="0"/>
                    <a:cs typeface="Times New Roman" pitchFamily="18" charset="0"/>
                  </a:rPr>
                  <a:t>i </a:t>
                </a:r>
                <a:r>
                  <a:rPr lang="es-MX" sz="3000" dirty="0" smtClean="0">
                    <a:solidFill>
                      <a:schemeClr val="accent5">
                        <a:lumMod val="75000"/>
                      </a:schemeClr>
                    </a:solidFill>
                  </a:rPr>
                  <a:t>:</a:t>
                </a:r>
                <a:r>
                  <a:rPr lang="es-CO" sz="3000" dirty="0" smtClean="0"/>
                  <a:t> </a:t>
                </a:r>
                <a:r>
                  <a:rPr lang="es-CO" sz="2800" dirty="0" smtClean="0"/>
                  <a:t>Variable observable continua de focalización que determina la elegibilidad en el programa dependiendo </a:t>
                </a:r>
                <a:r>
                  <a:rPr lang="es-ES" sz="2800" dirty="0"/>
                  <a:t>de si su valor es mayor o menor que un determinado umbral </a:t>
                </a:r>
                <a:r>
                  <a:rPr lang="es-ES" sz="2800" dirty="0" smtClean="0"/>
                  <a:t>fijo </a:t>
                </a:r>
                <a14:m>
                  <m:oMath xmlns:m="http://schemas.openxmlformats.org/officeDocument/2006/math">
                    <m:acc>
                      <m:accPr>
                        <m:chr m:val="̅"/>
                        <m:ctrlPr>
                          <a:rPr lang="es-CO" sz="2800" b="0" i="1" smtClean="0">
                            <a:latin typeface="Cambria Math"/>
                          </a:rPr>
                        </m:ctrlPr>
                      </m:accPr>
                      <m:e>
                        <m:r>
                          <a:rPr lang="es-CO" sz="2800" b="0" i="1" smtClean="0">
                            <a:latin typeface="Cambria Math"/>
                          </a:rPr>
                          <m:t>𝑍</m:t>
                        </m:r>
                      </m:e>
                    </m:acc>
                  </m:oMath>
                </a14:m>
                <a:r>
                  <a:rPr lang="es-ES" sz="2800" dirty="0" smtClean="0"/>
                  <a:t> .</a:t>
                </a:r>
                <a:endParaRPr lang="en-US" sz="28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blipFill rotWithShape="1">
                <a:blip r:embed="rId2" cstate="print"/>
                <a:stretch>
                  <a:fillRect l="-1111" r="-2000"/>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105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a:t>
            </a:fld>
            <a:endParaRPr lang="es-ES" sz="1500" dirty="0">
              <a:solidFill>
                <a:schemeClr val="tx1">
                  <a:lumMod val="50000"/>
                  <a:lumOff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CO" sz="2500" dirty="0" smtClean="0"/>
              <a:t>	Caso especial de diseño no experimental</a:t>
            </a:r>
          </a:p>
          <a:p>
            <a:pPr>
              <a:buNone/>
            </a:pPr>
            <a:r>
              <a:rPr lang="es-CO" sz="2500" dirty="0" smtClean="0"/>
              <a:t>	Ocurre cuando</a:t>
            </a:r>
          </a:p>
          <a:p>
            <a:pPr>
              <a:buNone/>
            </a:pPr>
            <a:r>
              <a:rPr lang="es-CO" sz="2500" dirty="0"/>
              <a:t>	</a:t>
            </a:r>
            <a:r>
              <a:rPr lang="es-CO"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428860" y="274638"/>
            <a:ext cx="625794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sp>
        <p:nvSpPr>
          <p:cNvPr id="6" name="1 Título"/>
          <p:cNvSpPr txBox="1">
            <a:spLocks/>
          </p:cNvSpPr>
          <p:nvPr/>
        </p:nvSpPr>
        <p:spPr>
          <a:xfrm>
            <a:off x="2428860" y="214290"/>
            <a:ext cx="625794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CO" sz="4200" u="sng" dirty="0" smtClean="0">
                <a:latin typeface="+mj-lt"/>
                <a:ea typeface="+mj-ea"/>
                <a:cs typeface="+mj-cs"/>
              </a:rPr>
              <a:t>Regresión discontinua (RD)</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sp>
        <p:nvSpPr>
          <p:cNvPr id="7" name="6 Rectángulo"/>
          <p:cNvSpPr/>
          <p:nvPr/>
        </p:nvSpPr>
        <p:spPr>
          <a:xfrm>
            <a:off x="1142976" y="2643182"/>
            <a:ext cx="7072362" cy="1357322"/>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cxnSp>
        <p:nvCxnSpPr>
          <p:cNvPr id="11" name="10 Conector recto"/>
          <p:cNvCxnSpPr/>
          <p:nvPr/>
        </p:nvCxnSpPr>
        <p:spPr>
          <a:xfrm rot="10800000">
            <a:off x="571472" y="2357430"/>
            <a:ext cx="2857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5400000">
            <a:off x="250001" y="2678901"/>
            <a:ext cx="6429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571472" y="3000372"/>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Flecha abajo"/>
          <p:cNvSpPr/>
          <p:nvPr/>
        </p:nvSpPr>
        <p:spPr>
          <a:xfrm>
            <a:off x="4357686" y="4143380"/>
            <a:ext cx="428628" cy="571504"/>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2" name="21 CuadroTexto"/>
          <p:cNvSpPr txBox="1"/>
          <p:nvPr/>
        </p:nvSpPr>
        <p:spPr>
          <a:xfrm>
            <a:off x="571471" y="4682835"/>
            <a:ext cx="8001057" cy="1246495"/>
          </a:xfrm>
          <a:prstGeom prst="rect">
            <a:avLst/>
          </a:prstGeom>
          <a:noFill/>
        </p:spPr>
        <p:txBody>
          <a:bodyPr wrap="square" rtlCol="0">
            <a:spAutoFit/>
          </a:bodyPr>
          <a:lstStyle/>
          <a:p>
            <a:pPr algn="ctr"/>
            <a:r>
              <a:rPr lang="es-CO" sz="2500" dirty="0" smtClean="0"/>
              <a:t>La asignación del tratamiento depende completa o parcialmente del </a:t>
            </a:r>
            <a:r>
              <a:rPr lang="es-CO" sz="2500" u="sng" dirty="0" smtClean="0"/>
              <a:t>valor</a:t>
            </a:r>
            <a:r>
              <a:rPr lang="es-CO" sz="2500" dirty="0" smtClean="0"/>
              <a:t> que la variable </a:t>
            </a:r>
            <a:r>
              <a:rPr lang="es-CO" sz="2500" i="1" dirty="0" smtClean="0"/>
              <a:t>Z</a:t>
            </a:r>
            <a:r>
              <a:rPr lang="es-CO" sz="2500" dirty="0" smtClean="0"/>
              <a:t> toma a lado y lado de un umbral fijo.</a:t>
            </a:r>
            <a:endParaRPr lang="es-ES" sz="2500" dirty="0"/>
          </a:p>
        </p:txBody>
      </p:sp>
      <p:sp>
        <p:nvSpPr>
          <p:cNvPr id="24" name="23 Rectángulo"/>
          <p:cNvSpPr/>
          <p:nvPr/>
        </p:nvSpPr>
        <p:spPr>
          <a:xfrm>
            <a:off x="1142976" y="2643182"/>
            <a:ext cx="7000924" cy="1246495"/>
          </a:xfrm>
          <a:prstGeom prst="rect">
            <a:avLst/>
          </a:prstGeom>
        </p:spPr>
        <p:txBody>
          <a:bodyPr wrap="square">
            <a:spAutoFit/>
          </a:bodyPr>
          <a:lstStyle/>
          <a:p>
            <a:pPr algn="ctr"/>
            <a:r>
              <a:rPr lang="es-CO" sz="2500" dirty="0" smtClean="0"/>
              <a:t>La probabilidad de participación cambia discontinuamente con una variable continua observada </a:t>
            </a:r>
            <a:r>
              <a:rPr lang="es-CO" sz="2500" i="1" dirty="0" smtClean="0"/>
              <a:t>Z.</a:t>
            </a:r>
            <a:endParaRPr lang="es-ES" sz="2500" i="1" dirty="0"/>
          </a:p>
        </p:txBody>
      </p:sp>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a:t>
            </a:fld>
            <a:endParaRPr lang="es-ES" sz="1500" dirty="0">
              <a:solidFill>
                <a:schemeClr val="tx1">
                  <a:lumMod val="50000"/>
                  <a:lumOff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47256" y="285728"/>
            <a:ext cx="6139543" cy="1131910"/>
          </a:xfrm>
        </p:spPr>
        <p:txBody>
          <a:bodyPr>
            <a:normAutofit fontScale="90000"/>
          </a:bodyPr>
          <a:lstStyle/>
          <a:p>
            <a:r>
              <a:rPr lang="es-MX" u="sng" dirty="0" smtClean="0"/>
              <a:t>Regresión discontinua (RD)</a:t>
            </a:r>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mc:AlternateContent xmlns:mc="http://schemas.openxmlformats.org/markup-compatibility/2006">
        <mc:Choice xmlns:a14="http://schemas.microsoft.com/office/drawing/2010/main" xmlns="" Requires="a14">
          <p:sp>
            <p:nvSpPr>
              <p:cNvPr id="7" name="6 CuadroTexto"/>
              <p:cNvSpPr txBox="1"/>
              <p:nvPr/>
            </p:nvSpPr>
            <p:spPr>
              <a:xfrm>
                <a:off x="1045029" y="5334146"/>
                <a:ext cx="8098971" cy="1185517"/>
              </a:xfrm>
              <a:prstGeom prst="rect">
                <a:avLst/>
              </a:prstGeom>
              <a:noFill/>
            </p:spPr>
            <p:txBody>
              <a:bodyPr wrap="square" rtlCol="0">
                <a:spAutoFit/>
              </a:bodyPr>
              <a:lstStyle/>
              <a:p>
                <a:r>
                  <a:rPr lang="es-ES" sz="2300" dirty="0" smtClean="0"/>
                  <a:t>Los </a:t>
                </a:r>
                <a:r>
                  <a:rPr lang="es-ES" sz="2300" dirty="0"/>
                  <a:t>individuos a la </a:t>
                </a:r>
                <a:r>
                  <a:rPr lang="es-ES" sz="2300" dirty="0" smtClean="0"/>
                  <a:t>izquierda </a:t>
                </a:r>
                <a:r>
                  <a:rPr lang="es-ES" sz="2300" dirty="0"/>
                  <a:t>del umbral </a:t>
                </a:r>
                <a:r>
                  <a:rPr lang="es-ES" sz="2300" dirty="0" smtClean="0"/>
                  <a:t> </a:t>
                </a:r>
                <a14:m>
                  <m:oMath xmlns:m="http://schemas.openxmlformats.org/officeDocument/2006/math">
                    <m:acc>
                      <m:accPr>
                        <m:chr m:val="̅"/>
                        <m:ctrlPr>
                          <a:rPr lang="es-CO" sz="2300" b="0" i="1" smtClean="0">
                            <a:latin typeface="Cambria Math"/>
                          </a:rPr>
                        </m:ctrlPr>
                      </m:accPr>
                      <m:e>
                        <m:r>
                          <a:rPr lang="es-CO" sz="2300" b="0" i="1" smtClean="0">
                            <a:latin typeface="Cambria Math"/>
                          </a:rPr>
                          <m:t>𝑍</m:t>
                        </m:r>
                      </m:e>
                    </m:acc>
                  </m:oMath>
                </a14:m>
                <a:r>
                  <a:rPr lang="es-ES" sz="2300" dirty="0" smtClean="0"/>
                  <a:t> participan </a:t>
                </a:r>
                <a:r>
                  <a:rPr lang="es-ES" sz="2300" dirty="0"/>
                  <a:t>en el programa con probabilidad </a:t>
                </a:r>
                <a:r>
                  <a:rPr lang="es-ES" sz="2300" dirty="0" smtClean="0"/>
                  <a:t>1; </a:t>
                </a:r>
                <a:r>
                  <a:rPr lang="es-ES" sz="2300" dirty="0"/>
                  <a:t>mientras que los individuos a la </a:t>
                </a:r>
                <a:r>
                  <a:rPr lang="es-ES" sz="2300" dirty="0" smtClean="0"/>
                  <a:t>derecha </a:t>
                </a:r>
                <a:r>
                  <a:rPr lang="es-ES" sz="2300" dirty="0"/>
                  <a:t>no participan en el programa.</a:t>
                </a:r>
                <a:endParaRPr lang="en-US" sz="2300" dirty="0"/>
              </a:p>
            </p:txBody>
          </p:sp>
        </mc:Choice>
        <mc:Fallback>
          <p:sp>
            <p:nvSpPr>
              <p:cNvPr id="7" name="6 CuadroTexto"/>
              <p:cNvSpPr txBox="1">
                <a:spLocks noRot="1" noChangeAspect="1" noMove="1" noResize="1" noEditPoints="1" noAdjustHandles="1" noChangeArrowheads="1" noChangeShapeType="1" noTextEdit="1"/>
              </p:cNvSpPr>
              <p:nvPr/>
            </p:nvSpPr>
            <p:spPr>
              <a:xfrm>
                <a:off x="1045029" y="5334146"/>
                <a:ext cx="8098971" cy="1185517"/>
              </a:xfrm>
              <a:prstGeom prst="rect">
                <a:avLst/>
              </a:prstGeom>
              <a:blipFill rotWithShape="1">
                <a:blip r:embed="rId3" cstate="print"/>
                <a:stretch>
                  <a:fillRect l="-1053" t="-3608" b="-8247"/>
                </a:stretch>
              </a:blipFill>
            </p:spPr>
            <p:txBody>
              <a:bodyPr/>
              <a:lstStyle/>
              <a:p>
                <a:r>
                  <a:rPr lang="es-CO">
                    <a:noFill/>
                  </a:rPr>
                  <a:t> </a:t>
                </a:r>
              </a:p>
            </p:txBody>
          </p:sp>
        </mc:Fallback>
      </mc:AlternateContent>
      <p:pic>
        <p:nvPicPr>
          <p:cNvPr id="100353" name="Picture 1"/>
          <p:cNvPicPr>
            <a:picLocks noChangeAspect="1" noChangeArrowheads="1"/>
          </p:cNvPicPr>
          <p:nvPr/>
        </p:nvPicPr>
        <p:blipFill>
          <a:blip r:embed="rId4" cstate="print"/>
          <a:srcRect/>
          <a:stretch>
            <a:fillRect/>
          </a:stretch>
        </p:blipFill>
        <p:spPr bwMode="auto">
          <a:xfrm>
            <a:off x="1116395" y="1609554"/>
            <a:ext cx="7223564" cy="3703219"/>
          </a:xfrm>
          <a:prstGeom prst="rect">
            <a:avLst/>
          </a:prstGeom>
          <a:noFill/>
          <a:ln w="9525">
            <a:noFill/>
            <a:miter lim="800000"/>
            <a:headEnd/>
            <a:tailEnd/>
          </a:ln>
          <a:effectLst/>
        </p:spPr>
      </p:pic>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a:t>
            </a:fld>
            <a:endParaRPr lang="es-ES" sz="1500" dirty="0">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28860" y="285728"/>
            <a:ext cx="6257940" cy="1131910"/>
          </a:xfrm>
        </p:spPr>
        <p:txBody>
          <a:bodyPr>
            <a:normAutofit fontScale="90000"/>
          </a:bodyPr>
          <a:lstStyle/>
          <a:p>
            <a:r>
              <a:rPr lang="es-MX" u="sng" dirty="0" smtClean="0"/>
              <a:t>Regresión discontinua (RD)</a:t>
            </a:r>
            <a:endParaRPr lang="en-US" dirty="0"/>
          </a:p>
        </p:txBody>
      </p:sp>
      <p:sp>
        <p:nvSpPr>
          <p:cNvPr id="10" name="9 Marcador de contenido"/>
          <p:cNvSpPr>
            <a:spLocks noGrp="1"/>
          </p:cNvSpPr>
          <p:nvPr>
            <p:ph idx="1"/>
          </p:nvPr>
        </p:nvSpPr>
        <p:spPr/>
        <p:txBody>
          <a:bodyPr>
            <a:normAutofit/>
          </a:bodyPr>
          <a:lstStyle/>
          <a:p>
            <a:endParaRPr lang="es-ES" dirty="0" smtClean="0"/>
          </a:p>
          <a:p>
            <a:r>
              <a:rPr lang="es-ES" sz="2700" dirty="0" smtClean="0"/>
              <a:t>El </a:t>
            </a:r>
            <a:r>
              <a:rPr lang="es-ES" sz="2700" dirty="0"/>
              <a:t>estimador de RD se basa en la observación de que los individuos justamente </a:t>
            </a:r>
            <a:r>
              <a:rPr lang="es-ES" sz="2700" dirty="0" smtClean="0"/>
              <a:t>a la izquierda del </a:t>
            </a:r>
            <a:r>
              <a:rPr lang="es-ES" sz="2700" dirty="0"/>
              <a:t>umbral deben ser muy parecidos a los individuos justamente </a:t>
            </a:r>
            <a:r>
              <a:rPr lang="es-ES" sz="2700" dirty="0" smtClean="0"/>
              <a:t>a la derecha de éste. </a:t>
            </a:r>
          </a:p>
          <a:p>
            <a:r>
              <a:rPr lang="es-ES" sz="2700" dirty="0" smtClean="0"/>
              <a:t>Excepto que los </a:t>
            </a:r>
            <a:r>
              <a:rPr lang="es-ES" sz="2700" dirty="0"/>
              <a:t>primeros participan en el programa y los segundos </a:t>
            </a:r>
            <a:r>
              <a:rPr lang="es-ES" sz="2700" dirty="0" smtClean="0"/>
              <a:t>no. </a:t>
            </a:r>
          </a:p>
          <a:p>
            <a:r>
              <a:rPr lang="es-ES" sz="2700" dirty="0" smtClean="0"/>
              <a:t>Entonces los segundos podrían ser un </a:t>
            </a:r>
            <a:r>
              <a:rPr lang="es-ES" sz="2700" dirty="0" err="1" smtClean="0"/>
              <a:t>contrafactual</a:t>
            </a:r>
            <a:r>
              <a:rPr lang="es-ES" sz="2700" dirty="0" smtClean="0"/>
              <a:t> válido de los primeros. </a:t>
            </a:r>
            <a:endParaRPr lang="en-US" sz="27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9</a:t>
            </a:fld>
            <a:endParaRPr lang="es-ES" sz="1500" dirty="0">
              <a:solidFill>
                <a:schemeClr val="tx1">
                  <a:lumMod val="50000"/>
                  <a:lumOff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21130" y="285728"/>
            <a:ext cx="6165669" cy="1131910"/>
          </a:xfrm>
        </p:spPr>
        <p:txBody>
          <a:bodyPr>
            <a:normAutofit fontScale="90000"/>
          </a:bodyPr>
          <a:lstStyle/>
          <a:p>
            <a:r>
              <a:rPr lang="es-MX" u="sng" dirty="0" smtClean="0"/>
              <a:t>Regresión discontinua (RD)</a:t>
            </a:r>
            <a:endParaRPr lang="en-US" dirty="0"/>
          </a:p>
        </p:txBody>
      </p:sp>
      <p:sp>
        <p:nvSpPr>
          <p:cNvPr id="10" name="9 Marcador de contenido"/>
          <p:cNvSpPr>
            <a:spLocks noGrp="1"/>
          </p:cNvSpPr>
          <p:nvPr>
            <p:ph idx="1"/>
          </p:nvPr>
        </p:nvSpPr>
        <p:spPr/>
        <p:txBody>
          <a:bodyPr>
            <a:normAutofit/>
          </a:bodyPr>
          <a:lstStyle/>
          <a:p>
            <a:endParaRPr lang="es-CO" dirty="0" smtClean="0">
              <a:solidFill>
                <a:schemeClr val="accent5">
                  <a:lumMod val="75000"/>
                </a:schemeClr>
              </a:solidFill>
            </a:endParaRPr>
          </a:p>
          <a:p>
            <a:r>
              <a:rPr lang="es-CO" dirty="0" smtClean="0">
                <a:solidFill>
                  <a:schemeClr val="accent5">
                    <a:lumMod val="75000"/>
                  </a:schemeClr>
                </a:solidFill>
              </a:rPr>
              <a:t>Supuestos: </a:t>
            </a:r>
          </a:p>
          <a:p>
            <a:pPr lvl="1"/>
            <a:r>
              <a:rPr lang="es-CO" sz="2900" dirty="0" smtClean="0"/>
              <a:t>El umbral </a:t>
            </a:r>
            <a:r>
              <a:rPr lang="es-CO" sz="2900" dirty="0"/>
              <a:t>es </a:t>
            </a:r>
            <a:r>
              <a:rPr lang="es-CO" sz="2900" dirty="0" smtClean="0"/>
              <a:t>arbitrario.</a:t>
            </a:r>
          </a:p>
          <a:p>
            <a:pPr lvl="1"/>
            <a:r>
              <a:rPr lang="es-CO" sz="2900" dirty="0" smtClean="0"/>
              <a:t>Los </a:t>
            </a:r>
            <a:r>
              <a:rPr lang="es-CO" sz="2900" dirty="0"/>
              <a:t>determinantes de la variable de resultado, </a:t>
            </a:r>
            <a:r>
              <a:rPr lang="es-CO" sz="2900" i="1" dirty="0"/>
              <a:t>X</a:t>
            </a:r>
            <a:r>
              <a:rPr lang="es-CO" sz="2900" dirty="0"/>
              <a:t>, </a:t>
            </a:r>
            <a:r>
              <a:rPr lang="es-CO" sz="2900" dirty="0" smtClean="0"/>
              <a:t>son </a:t>
            </a:r>
            <a:r>
              <a:rPr lang="es-ES" sz="2900" dirty="0"/>
              <a:t>muy parecidos a la izquierda y a la derecha </a:t>
            </a:r>
            <a:r>
              <a:rPr lang="es-ES" sz="2900" dirty="0" smtClean="0"/>
              <a:t>del umbral. </a:t>
            </a:r>
          </a:p>
          <a:p>
            <a:pPr lvl="1"/>
            <a:endParaRPr lang="es-ES" sz="2700" dirty="0" smtClean="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10</a:t>
            </a:fld>
            <a:endParaRPr lang="es-ES" sz="1500" dirty="0">
              <a:solidFill>
                <a:schemeClr val="tx1">
                  <a:lumMod val="50000"/>
                  <a:lumOff val="50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21130" y="285728"/>
            <a:ext cx="6165669" cy="1131910"/>
          </a:xfrm>
        </p:spPr>
        <p:txBody>
          <a:bodyPr>
            <a:normAutofit fontScale="90000"/>
          </a:bodyPr>
          <a:lstStyle/>
          <a:p>
            <a:r>
              <a:rPr lang="es-MX" u="sng" dirty="0" smtClean="0"/>
              <a:t>Regresión discontinua (RD)</a:t>
            </a: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p:txBody>
              <a:bodyPr>
                <a:normAutofit lnSpcReduction="10000"/>
              </a:bodyPr>
              <a:lstStyle/>
              <a:p>
                <a:pPr lvl="1">
                  <a:buNone/>
                </a:pPr>
                <a:endParaRPr lang="es-ES" sz="2700" dirty="0" smtClean="0"/>
              </a:p>
              <a:p>
                <a:r>
                  <a:rPr lang="es-ES" sz="2900" dirty="0" smtClean="0"/>
                  <a:t>La comparación </a:t>
                </a:r>
                <a:r>
                  <a:rPr lang="es-ES" sz="2900" dirty="0"/>
                  <a:t>de estos dos grupos </a:t>
                </a:r>
                <a:r>
                  <a:rPr lang="es-CO" sz="2900" dirty="0"/>
                  <a:t>resulta en un estimador válido del impacto del </a:t>
                </a:r>
                <a:r>
                  <a:rPr lang="es-CO" sz="2900" dirty="0" smtClean="0"/>
                  <a:t>tratamiento alrededor </a:t>
                </a:r>
                <a:r>
                  <a:rPr lang="es-CO" sz="2900" dirty="0"/>
                  <a:t>del punto de corte</a:t>
                </a:r>
                <a:r>
                  <a:rPr lang="es-ES" sz="2900" dirty="0" smtClean="0"/>
                  <a:t>.</a:t>
                </a:r>
              </a:p>
              <a:p>
                <a:endParaRPr lang="es-ES" sz="2900" dirty="0"/>
              </a:p>
              <a:p>
                <a:r>
                  <a:rPr lang="es-ES" sz="2900" dirty="0" smtClean="0"/>
                  <a:t>El parámetro estimado por RD es un efecto promedio local del tratamiento (LATE), porque se centra en los individuos en una vecindad arbitrariamente pequeña a la izquierda y a la derecha del umbral </a:t>
                </a:r>
                <a14:m>
                  <m:oMath xmlns:m="http://schemas.openxmlformats.org/officeDocument/2006/math">
                    <m:acc>
                      <m:accPr>
                        <m:chr m:val="̅"/>
                        <m:ctrlPr>
                          <a:rPr lang="es-ES" sz="2900" i="1" dirty="0" smtClean="0">
                            <a:latin typeface="Cambria Math"/>
                          </a:rPr>
                        </m:ctrlPr>
                      </m:accPr>
                      <m:e>
                        <m:r>
                          <a:rPr lang="es-CO" sz="2900" b="0" i="1" dirty="0" smtClean="0">
                            <a:latin typeface="Cambria Math"/>
                          </a:rPr>
                          <m:t>𝑍</m:t>
                        </m:r>
                      </m:e>
                    </m:acc>
                  </m:oMath>
                </a14:m>
                <a:r>
                  <a:rPr lang="es-ES" sz="2900" dirty="0" smtClean="0"/>
                  <a:t>. </a:t>
                </a:r>
                <a:endParaRPr lang="en-US" sz="29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blipFill rotWithShape="1">
                <a:blip r:embed="rId3" cstate="print"/>
                <a:stretch>
                  <a:fillRect l="-1333"/>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11</a:t>
            </a:fld>
            <a:endParaRPr lang="es-ES" sz="1500" dirty="0">
              <a:solidFill>
                <a:schemeClr val="tx1">
                  <a:lumMod val="50000"/>
                  <a:lumOff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r>
              <a:rPr lang="es-ES_tradnl" sz="2500" b="1" dirty="0" smtClean="0">
                <a:solidFill>
                  <a:schemeClr val="accent5">
                    <a:lumMod val="75000"/>
                  </a:schemeClr>
                </a:solidFill>
              </a:rPr>
              <a:t>Población elegible</a:t>
            </a:r>
            <a:r>
              <a:rPr lang="es-ES_tradnl" sz="2500" dirty="0" smtClean="0">
                <a:solidFill>
                  <a:schemeClr val="accent5">
                    <a:lumMod val="75000"/>
                  </a:schemeClr>
                </a:solidFill>
              </a:rPr>
              <a:t>: </a:t>
            </a:r>
            <a:r>
              <a:rPr lang="es-ES_tradnl" sz="2500" dirty="0" smtClean="0"/>
              <a:t>Hogares </a:t>
            </a:r>
            <a:r>
              <a:rPr lang="es-ES_tradnl" sz="2500" dirty="0" err="1" smtClean="0"/>
              <a:t>Sisben</a:t>
            </a:r>
            <a:r>
              <a:rPr lang="es-ES_tradnl" sz="2500" dirty="0" smtClean="0"/>
              <a:t> 1</a:t>
            </a:r>
          </a:p>
          <a:p>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AR" sz="4200" dirty="0" smtClean="0"/>
              <a:t>Ejemplo: </a:t>
            </a:r>
            <a:r>
              <a:rPr lang="es-AR" sz="4200" i="1" dirty="0" smtClean="0"/>
              <a:t>Canasta</a:t>
            </a:r>
            <a:endParaRPr lang="es-AR" sz="4200" dirty="0"/>
          </a:p>
        </p:txBody>
      </p:sp>
      <p:cxnSp>
        <p:nvCxnSpPr>
          <p:cNvPr id="7" name="6 Conector recto de flecha"/>
          <p:cNvCxnSpPr/>
          <p:nvPr/>
        </p:nvCxnSpPr>
        <p:spPr>
          <a:xfrm rot="5400000">
            <a:off x="4642644" y="2213760"/>
            <a:ext cx="28575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xmlns="" Requires="a14">
          <p:sp>
            <p:nvSpPr>
              <p:cNvPr id="8" name="7 CuadroTexto"/>
              <p:cNvSpPr txBox="1"/>
              <p:nvPr/>
            </p:nvSpPr>
            <p:spPr>
              <a:xfrm>
                <a:off x="1928794" y="2357430"/>
                <a:ext cx="5715040" cy="895758"/>
              </a:xfrm>
              <a:prstGeom prst="rect">
                <a:avLst/>
              </a:prstGeom>
              <a:noFill/>
            </p:spPr>
            <p:txBody>
              <a:bodyPr wrap="square" rtlCol="0">
                <a:spAutoFit/>
              </a:bodyPr>
              <a:lstStyle/>
              <a:p>
                <a:r>
                  <a:rPr lang="es-ES_tradnl" sz="2500" dirty="0" smtClean="0"/>
                  <a:t>Población cuyo puntaje </a:t>
                </a:r>
                <a:r>
                  <a:rPr lang="es-ES_tradnl" sz="2500" dirty="0" err="1" smtClean="0"/>
                  <a:t>Sisben</a:t>
                </a:r>
                <a:r>
                  <a:rPr lang="es-ES_tradnl" sz="2500" dirty="0" smtClean="0"/>
                  <a:t> es igual o inferior a un umbral </a:t>
                </a:r>
                <a14:m>
                  <m:oMath xmlns:m="http://schemas.openxmlformats.org/officeDocument/2006/math">
                    <m:acc>
                      <m:accPr>
                        <m:chr m:val="̅"/>
                        <m:ctrlPr>
                          <a:rPr lang="es-ES_tradnl" sz="2500" i="1" smtClean="0">
                            <a:latin typeface="Cambria Math"/>
                          </a:rPr>
                        </m:ctrlPr>
                      </m:accPr>
                      <m:e>
                        <m:r>
                          <a:rPr lang="es-CO" sz="2500" b="0" i="1" smtClean="0">
                            <a:latin typeface="Cambria Math"/>
                          </a:rPr>
                          <m:t>𝑍</m:t>
                        </m:r>
                      </m:e>
                    </m:acc>
                  </m:oMath>
                </a14:m>
                <a:r>
                  <a:rPr lang="es-ES_tradnl" sz="2500" dirty="0" smtClean="0"/>
                  <a:t> . </a:t>
                </a:r>
                <a:endParaRPr lang="es-ES" sz="2500" dirty="0"/>
              </a:p>
            </p:txBody>
          </p:sp>
        </mc:Choice>
        <mc:Fallback>
          <p:sp>
            <p:nvSpPr>
              <p:cNvPr id="8" name="7 CuadroTexto"/>
              <p:cNvSpPr txBox="1">
                <a:spLocks noRot="1" noChangeAspect="1" noMove="1" noResize="1" noEditPoints="1" noAdjustHandles="1" noChangeArrowheads="1" noChangeShapeType="1" noTextEdit="1"/>
              </p:cNvSpPr>
              <p:nvPr/>
            </p:nvSpPr>
            <p:spPr>
              <a:xfrm>
                <a:off x="1928794" y="2357430"/>
                <a:ext cx="5715040" cy="895758"/>
              </a:xfrm>
              <a:prstGeom prst="rect">
                <a:avLst/>
              </a:prstGeom>
              <a:blipFill rotWithShape="1">
                <a:blip r:embed="rId4" cstate="print"/>
                <a:stretch>
                  <a:fillRect l="-1706" t="-4762" b="-12245"/>
                </a:stretch>
              </a:blipFill>
            </p:spPr>
            <p:txBody>
              <a:bodyPr/>
              <a:lstStyle/>
              <a:p>
                <a:r>
                  <a:rPr lang="es-CO">
                    <a:noFill/>
                  </a:rPr>
                  <a:t> </a:t>
                </a:r>
              </a:p>
            </p:txBody>
          </p:sp>
        </mc:Fallback>
      </mc:AlternateContent>
      <p:sp>
        <p:nvSpPr>
          <p:cNvPr id="10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mc:AlternateContent xmlns:mc="http://schemas.openxmlformats.org/markup-compatibility/2006">
        <mc:Choice xmlns:a14="http://schemas.microsoft.com/office/drawing/2010/main" xmlns="" Requires="a14">
          <p:sp>
            <p:nvSpPr>
              <p:cNvPr id="11" name="10 CuadroTexto"/>
              <p:cNvSpPr txBox="1"/>
              <p:nvPr/>
            </p:nvSpPr>
            <p:spPr>
              <a:xfrm>
                <a:off x="857224" y="3853110"/>
                <a:ext cx="7715304" cy="895758"/>
              </a:xfrm>
              <a:prstGeom prst="rect">
                <a:avLst/>
              </a:prstGeom>
              <a:noFill/>
            </p:spPr>
            <p:txBody>
              <a:bodyPr wrap="square" rtlCol="0">
                <a:spAutoFit/>
              </a:bodyPr>
              <a:lstStyle/>
              <a:p>
                <a:pPr algn="ctr"/>
                <a:r>
                  <a:rPr lang="es-ES_tradnl" sz="2500" dirty="0" smtClean="0"/>
                  <a:t>Un hogar con un puntaje </a:t>
                </a:r>
                <a:r>
                  <a:rPr lang="es-ES_tradnl" sz="2500" dirty="0" err="1" smtClean="0"/>
                  <a:t>Sisben</a:t>
                </a:r>
                <a:r>
                  <a:rPr lang="es-ES_tradnl" sz="2500" dirty="0" smtClean="0"/>
                  <a:t> de </a:t>
                </a:r>
                <a14:m>
                  <m:oMath xmlns:m="http://schemas.openxmlformats.org/officeDocument/2006/math">
                    <m:acc>
                      <m:accPr>
                        <m:chr m:val="̅"/>
                        <m:ctrlPr>
                          <a:rPr lang="es-ES_tradnl" sz="2500" i="1">
                            <a:latin typeface="Cambria Math"/>
                          </a:rPr>
                        </m:ctrlPr>
                      </m:accPr>
                      <m:e>
                        <m:r>
                          <a:rPr lang="es-CO" sz="2500" b="0" i="1" smtClean="0">
                            <a:latin typeface="Cambria Math"/>
                          </a:rPr>
                          <m:t>𝑍</m:t>
                        </m:r>
                      </m:e>
                    </m:acc>
                  </m:oMath>
                </a14:m>
                <a:r>
                  <a:rPr lang="es-ES_tradnl" sz="2500" dirty="0" smtClean="0"/>
                  <a:t> o menos puede participar en el programa.</a:t>
                </a:r>
                <a:endParaRPr lang="es-ES" sz="2500" dirty="0"/>
              </a:p>
            </p:txBody>
          </p:sp>
        </mc:Choice>
        <mc:Fallback>
          <p:sp>
            <p:nvSpPr>
              <p:cNvPr id="11" name="10 CuadroTexto"/>
              <p:cNvSpPr txBox="1">
                <a:spLocks noRot="1" noChangeAspect="1" noMove="1" noResize="1" noEditPoints="1" noAdjustHandles="1" noChangeArrowheads="1" noChangeShapeType="1" noTextEdit="1"/>
              </p:cNvSpPr>
              <p:nvPr/>
            </p:nvSpPr>
            <p:spPr>
              <a:xfrm>
                <a:off x="857224" y="3853110"/>
                <a:ext cx="7715304" cy="895758"/>
              </a:xfrm>
              <a:prstGeom prst="rect">
                <a:avLst/>
              </a:prstGeom>
              <a:blipFill rotWithShape="1">
                <a:blip r:embed="rId5" cstate="print"/>
                <a:stretch>
                  <a:fillRect t="-4762" b="-11565"/>
                </a:stretch>
              </a:blipFill>
            </p:spPr>
            <p:txBody>
              <a:bodyPr/>
              <a:lstStyle/>
              <a:p>
                <a:r>
                  <a:rPr lang="es-CO">
                    <a:noFill/>
                  </a:rPr>
                  <a:t> </a:t>
                </a:r>
              </a:p>
            </p:txBody>
          </p:sp>
        </mc:Fallback>
      </mc:AlternateContent>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16" name="15 Flecha abajo"/>
          <p:cNvSpPr/>
          <p:nvPr/>
        </p:nvSpPr>
        <p:spPr>
          <a:xfrm>
            <a:off x="4429124" y="4786322"/>
            <a:ext cx="357190"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7" name="16 CuadroTexto"/>
          <p:cNvSpPr txBox="1"/>
          <p:nvPr/>
        </p:nvSpPr>
        <p:spPr>
          <a:xfrm>
            <a:off x="642910" y="5237962"/>
            <a:ext cx="7929618" cy="477054"/>
          </a:xfrm>
          <a:prstGeom prst="rect">
            <a:avLst/>
          </a:prstGeom>
          <a:noFill/>
          <a:ln>
            <a:solidFill>
              <a:schemeClr val="accent1">
                <a:lumMod val="60000"/>
                <a:lumOff val="40000"/>
              </a:schemeClr>
            </a:solidFill>
          </a:ln>
        </p:spPr>
        <p:txBody>
          <a:bodyPr wrap="square" rtlCol="0">
            <a:spAutoFit/>
          </a:bodyPr>
          <a:lstStyle/>
          <a:p>
            <a:r>
              <a:rPr lang="es-ES_tradnl" sz="2500" dirty="0" smtClean="0"/>
              <a:t>La probabilidad de participación cambia discontinuamente.</a:t>
            </a:r>
            <a:endParaRPr lang="es-ES" sz="2500" dirty="0"/>
          </a:p>
        </p:txBody>
      </p:sp>
      <p:sp>
        <p:nvSpPr>
          <p:cNvPr id="20" name="1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12</a:t>
            </a:fld>
            <a:endParaRPr lang="es-ES" sz="1500" dirty="0">
              <a:solidFill>
                <a:schemeClr val="tx1">
                  <a:lumMod val="50000"/>
                  <a:lumOff val="5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2 Marcador de contenido"/>
              <p:cNvSpPr>
                <a:spLocks noGrp="1"/>
              </p:cNvSpPr>
              <p:nvPr>
                <p:ph idx="1"/>
              </p:nvPr>
            </p:nvSpPr>
            <p:spPr>
              <a:xfrm>
                <a:off x="457200" y="1571612"/>
                <a:ext cx="8229600" cy="4554551"/>
              </a:xfrm>
              <a:ln w="28575">
                <a:solidFill>
                  <a:schemeClr val="accent1">
                    <a:lumMod val="75000"/>
                  </a:schemeClr>
                </a:solidFill>
              </a:ln>
            </p:spPr>
            <p:txBody>
              <a:bodyPr/>
              <a:lstStyle/>
              <a:p>
                <a:pPr algn="just">
                  <a:buNone/>
                </a:pPr>
                <a:r>
                  <a:rPr lang="es-ES_tradnl" sz="2500" dirty="0" smtClean="0"/>
                  <a:t>	</a:t>
                </a:r>
              </a:p>
              <a:p>
                <a:pPr algn="just">
                  <a:buNone/>
                </a:pPr>
                <a:r>
                  <a:rPr lang="es-ES_tradnl" sz="2500" dirty="0" smtClean="0"/>
                  <a:t>	Esta implementación permite la aplicación de RD:</a:t>
                </a:r>
              </a:p>
              <a:p>
                <a:pPr algn="just">
                  <a:buNone/>
                </a:pPr>
                <a:r>
                  <a:rPr lang="es-ES_tradnl" sz="2500" dirty="0" smtClean="0"/>
                  <a:t>	</a:t>
                </a:r>
              </a:p>
              <a:p>
                <a:pPr>
                  <a:buNone/>
                </a:pPr>
                <a:r>
                  <a:rPr lang="es-ES_tradnl" sz="2500" dirty="0" smtClean="0"/>
                  <a:t>	Los determinantes de la variable de resultado,</a:t>
                </a:r>
                <a:r>
                  <a:rPr lang="es-ES_tradnl" sz="2500" i="1" dirty="0" smtClean="0"/>
                  <a:t>Y,  </a:t>
                </a:r>
                <a:r>
                  <a:rPr lang="es-ES_tradnl" sz="2500" u="sng" dirty="0" smtClean="0"/>
                  <a:t>exceptuando</a:t>
                </a:r>
                <a:r>
                  <a:rPr lang="es-ES_tradnl" sz="2500" dirty="0" smtClean="0"/>
                  <a:t> la participación en el programa, son similares para individuos con un puntaje </a:t>
                </a:r>
                <a:r>
                  <a:rPr lang="es-ES_tradnl" sz="2500" dirty="0" err="1" smtClean="0"/>
                  <a:t>Sisben</a:t>
                </a:r>
                <a:r>
                  <a:rPr lang="es-ES_tradnl" sz="2500" dirty="0" smtClean="0"/>
                  <a:t> por debajo y por encima de </a:t>
                </a:r>
                <a14:m>
                  <m:oMath xmlns:m="http://schemas.openxmlformats.org/officeDocument/2006/math">
                    <m:acc>
                      <m:accPr>
                        <m:chr m:val="̅"/>
                        <m:ctrlPr>
                          <a:rPr lang="es-ES_tradnl" sz="2500" i="1">
                            <a:latin typeface="Cambria Math"/>
                          </a:rPr>
                        </m:ctrlPr>
                      </m:accPr>
                      <m:e>
                        <m:r>
                          <a:rPr lang="es-CO" sz="2500" b="0" i="1" smtClean="0">
                            <a:latin typeface="Cambria Math"/>
                          </a:rPr>
                          <m:t>𝑍</m:t>
                        </m:r>
                      </m:e>
                    </m:acc>
                  </m:oMath>
                </a14:m>
                <a:r>
                  <a:rPr lang="es-ES_tradnl" sz="2500" dirty="0" smtClean="0"/>
                  <a:t>. </a:t>
                </a:r>
                <a:endParaRPr lang="es-ES" sz="2500" i="1" dirty="0"/>
              </a:p>
            </p:txBody>
          </p:sp>
        </mc:Choice>
        <mc:Fallback>
          <p:sp>
            <p:nvSpPr>
              <p:cNvPr id="3" name="2 Marcador de contenido"/>
              <p:cNvSpPr>
                <a:spLocks noGrp="1" noRot="1" noChangeAspect="1" noMove="1" noResize="1" noEditPoints="1" noAdjustHandles="1" noChangeArrowheads="1" noChangeShapeType="1" noTextEdit="1"/>
              </p:cNvSpPr>
              <p:nvPr>
                <p:ph idx="1"/>
              </p:nvPr>
            </p:nvSpPr>
            <p:spPr>
              <a:xfrm>
                <a:off x="457200" y="1571612"/>
                <a:ext cx="8229600" cy="4554551"/>
              </a:xfrm>
              <a:blipFill rotWithShape="1">
                <a:blip r:embed="rId2" cstate="print"/>
                <a:stretch>
                  <a:fillRect/>
                </a:stretch>
              </a:blipFill>
              <a:ln w="28575">
                <a:solidFill>
                  <a:schemeClr val="accent1">
                    <a:lumMod val="75000"/>
                  </a:schemeClr>
                </a:solidFill>
              </a:ln>
            </p:spPr>
            <p:txBody>
              <a:bodyPr/>
              <a:lstStyle/>
              <a:p>
                <a:r>
                  <a:rPr lang="es-CO">
                    <a:noFill/>
                  </a:rPr>
                  <a:t> </a:t>
                </a:r>
              </a:p>
            </p:txBody>
          </p:sp>
        </mc:Fallback>
      </mc:AlternateContent>
      <p:pic>
        <p:nvPicPr>
          <p:cNvPr id="5"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1 Título"/>
          <p:cNvSpPr>
            <a:spLocks noGrp="1"/>
          </p:cNvSpPr>
          <p:nvPr>
            <p:ph type="title"/>
          </p:nvPr>
        </p:nvSpPr>
        <p:spPr>
          <a:xfrm>
            <a:off x="2571736" y="142852"/>
            <a:ext cx="6143668" cy="1225536"/>
          </a:xfrm>
        </p:spPr>
        <p:txBody>
          <a:bodyPr>
            <a:noAutofit/>
          </a:bodyPr>
          <a:lstStyle/>
          <a:p>
            <a:r>
              <a:rPr lang="es-AR" sz="4200" dirty="0" smtClean="0"/>
              <a:t>Ejemplo: </a:t>
            </a:r>
            <a:r>
              <a:rPr lang="es-AR" sz="4200" i="1" dirty="0" smtClean="0"/>
              <a:t>Canasta</a:t>
            </a:r>
            <a:endParaRPr lang="es-AR" sz="4200" dirty="0"/>
          </a:p>
        </p:txBody>
      </p:sp>
      <p:sp>
        <p:nvSpPr>
          <p:cNvPr id="9" name="8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13</a:t>
            </a:fld>
            <a:endParaRPr lang="es-ES" sz="1500" dirty="0">
              <a:solidFill>
                <a:schemeClr val="tx1">
                  <a:lumMod val="50000"/>
                  <a:lumOff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86038" y="285728"/>
            <a:ext cx="6289948" cy="1131910"/>
          </a:xfrm>
        </p:spPr>
        <p:txBody>
          <a:bodyPr>
            <a:normAutofit fontScale="90000"/>
          </a:bodyPr>
          <a:lstStyle/>
          <a:p>
            <a:r>
              <a:rPr lang="es-MX" u="sng" dirty="0" smtClean="0"/>
              <a:t>Regresión discontinua nítida:</a:t>
            </a:r>
            <a:br>
              <a:rPr lang="es-MX" u="sng" dirty="0" smtClean="0"/>
            </a:br>
            <a:r>
              <a:rPr lang="es-MX" u="sng" dirty="0" smtClean="0"/>
              <a:t>Aspectos teóricos</a:t>
            </a:r>
            <a:endParaRPr lang="en-US" u="sng"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200020" y="2043128"/>
                <a:ext cx="8786812" cy="4525963"/>
              </a:xfrm>
            </p:spPr>
            <p:txBody>
              <a:bodyPr>
                <a:normAutofit fontScale="85000" lnSpcReduction="10000"/>
              </a:bodyPr>
              <a:lstStyle/>
              <a:p>
                <a:r>
                  <a:rPr lang="es-CO" i="1" dirty="0"/>
                  <a:t>Z</a:t>
                </a:r>
                <a:r>
                  <a:rPr lang="es-CO" dirty="0"/>
                  <a:t> determina </a:t>
                </a:r>
                <a:r>
                  <a:rPr lang="es-CO" dirty="0" smtClean="0"/>
                  <a:t>completamente, de forma determinística, la </a:t>
                </a:r>
                <a:r>
                  <a:rPr lang="es-CO" dirty="0"/>
                  <a:t>participación en el programa sobre la base de un </a:t>
                </a:r>
                <a:r>
                  <a:rPr lang="es-CO" dirty="0" smtClean="0"/>
                  <a:t>umbral </a:t>
                </a:r>
                <a14:m>
                  <m:oMath xmlns:m="http://schemas.openxmlformats.org/officeDocument/2006/math">
                    <m:acc>
                      <m:accPr>
                        <m:chr m:val="̅"/>
                        <m:ctrlPr>
                          <a:rPr lang="es-ES_tradnl" i="1">
                            <a:latin typeface="Cambria Math"/>
                          </a:rPr>
                        </m:ctrlPr>
                      </m:accPr>
                      <m:e>
                        <m:r>
                          <a:rPr lang="es-CO" i="1">
                            <a:latin typeface="Cambria Math"/>
                          </a:rPr>
                          <m:t>𝑧</m:t>
                        </m:r>
                      </m:e>
                    </m:acc>
                  </m:oMath>
                </a14:m>
                <a:r>
                  <a:rPr lang="es-CO" dirty="0" smtClean="0"/>
                  <a:t>:</a:t>
                </a:r>
              </a:p>
              <a:p>
                <a:endParaRPr lang="es-CO" dirty="0"/>
              </a:p>
              <a:p>
                <a:endParaRPr lang="es-CO" dirty="0" smtClean="0"/>
              </a:p>
              <a:p>
                <a:pPr>
                  <a:buNone/>
                </a:pPr>
                <a:r>
                  <a:rPr lang="es-CO" dirty="0" smtClean="0"/>
                  <a:t>	donde I[*] = 1 si la condición * se cumple, y 0 de lo contario. </a:t>
                </a:r>
              </a:p>
              <a:p>
                <a:endParaRPr lang="es-CO" dirty="0" smtClean="0"/>
              </a:p>
              <a:p>
                <a:r>
                  <a:rPr lang="es-CO" dirty="0" smtClean="0"/>
                  <a:t>La </a:t>
                </a:r>
                <a:r>
                  <a:rPr lang="es-CO" dirty="0"/>
                  <a:t>probabilidad de participación es discontinua en el </a:t>
                </a:r>
                <a:r>
                  <a:rPr lang="es-CO" dirty="0" smtClean="0"/>
                  <a:t>umbral </a:t>
                </a:r>
                <a:r>
                  <a:rPr lang="es-ES" dirty="0" smtClean="0"/>
                  <a:t>al </a:t>
                </a:r>
                <a:r>
                  <a:rPr lang="es-ES" dirty="0"/>
                  <a:t>pasar de </a:t>
                </a:r>
                <a:r>
                  <a:rPr lang="es-ES" dirty="0" smtClean="0"/>
                  <a:t>uno  (a la izquierda) a ser </a:t>
                </a:r>
                <a:r>
                  <a:rPr lang="es-ES" dirty="0" err="1" smtClean="0"/>
                  <a:t>determinísticamente</a:t>
                </a:r>
                <a:r>
                  <a:rPr lang="es-ES" dirty="0" smtClean="0"/>
                  <a:t> igual a cero (a la derecha).</a:t>
                </a:r>
                <a:endParaRPr lang="es-CO" dirty="0" smtClean="0"/>
              </a:p>
              <a:p>
                <a:endParaRPr lang="es-CO" dirty="0"/>
              </a:p>
              <a:p>
                <a:endParaRPr lang="es-CO" dirty="0"/>
              </a:p>
              <a:p>
                <a:endParaRPr lang="en-US"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200020" y="2043128"/>
                <a:ext cx="8786812" cy="4525963"/>
              </a:xfrm>
              <a:blipFill rotWithShape="1">
                <a:blip r:embed="rId2" cstate="print"/>
                <a:stretch>
                  <a:fillRect l="-1180" t="-2019" r="-139"/>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003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003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911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91139" name="Rectangle 3"/>
          <p:cNvSpPr>
            <a:spLocks noChangeArrowheads="1"/>
          </p:cNvSpPr>
          <p:nvPr/>
        </p:nvSpPr>
        <p:spPr bwMode="auto">
          <a:xfrm>
            <a:off x="0" y="1809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2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9114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14</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CuadroTexto"/>
              <p:cNvSpPr txBox="1"/>
              <p:nvPr/>
            </p:nvSpPr>
            <p:spPr>
              <a:xfrm>
                <a:off x="2669372" y="3085667"/>
                <a:ext cx="4101251" cy="63094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sz="3500" b="0" i="1" smtClean="0">
                              <a:latin typeface="Cambria Math"/>
                            </a:rPr>
                          </m:ctrlPr>
                        </m:sSubPr>
                        <m:e>
                          <m:r>
                            <a:rPr lang="es-CO" sz="3500" b="0" i="1" smtClean="0">
                              <a:latin typeface="Cambria Math"/>
                            </a:rPr>
                            <m:t>𝐷</m:t>
                          </m:r>
                        </m:e>
                        <m:sub>
                          <m:r>
                            <a:rPr lang="es-CO" sz="3500" b="0" i="1" smtClean="0">
                              <a:latin typeface="Cambria Math"/>
                            </a:rPr>
                            <m:t>𝑖</m:t>
                          </m:r>
                          <m:r>
                            <a:rPr lang="es-CO" sz="3500" b="0" i="1" smtClean="0">
                              <a:latin typeface="Cambria Math"/>
                            </a:rPr>
                            <m:t> </m:t>
                          </m:r>
                        </m:sub>
                      </m:sSub>
                      <m:d>
                        <m:dPr>
                          <m:ctrlPr>
                            <a:rPr lang="es-CO" sz="3500" b="0" i="1" smtClean="0">
                              <a:latin typeface="Cambria Math"/>
                            </a:rPr>
                          </m:ctrlPr>
                        </m:dPr>
                        <m:e>
                          <m:sSub>
                            <m:sSubPr>
                              <m:ctrlPr>
                                <a:rPr lang="es-CO" sz="3500" b="0" i="1" smtClean="0">
                                  <a:latin typeface="Cambria Math"/>
                                </a:rPr>
                              </m:ctrlPr>
                            </m:sSubPr>
                            <m:e>
                              <m:r>
                                <a:rPr lang="es-CO" sz="3500" b="0" i="1" smtClean="0">
                                  <a:latin typeface="Cambria Math"/>
                                </a:rPr>
                                <m:t>𝑍</m:t>
                              </m:r>
                            </m:e>
                            <m:sub>
                              <m:r>
                                <a:rPr lang="es-CO" sz="3500" b="0" i="1" smtClean="0">
                                  <a:latin typeface="Cambria Math"/>
                                </a:rPr>
                                <m:t>𝑖</m:t>
                              </m:r>
                            </m:sub>
                          </m:sSub>
                        </m:e>
                      </m:d>
                      <m:r>
                        <a:rPr lang="es-CO" sz="3500" b="0" i="1" smtClean="0">
                          <a:latin typeface="Cambria Math"/>
                        </a:rPr>
                        <m:t>=</m:t>
                      </m:r>
                      <m:r>
                        <a:rPr lang="es-CO" sz="3500" b="0" i="1" smtClean="0">
                          <a:latin typeface="Cambria Math"/>
                        </a:rPr>
                        <m:t>𝐼</m:t>
                      </m:r>
                      <m:r>
                        <a:rPr lang="es-CO" sz="3500" b="0" i="1" smtClean="0">
                          <a:latin typeface="Cambria Math"/>
                        </a:rPr>
                        <m:t>[ </m:t>
                      </m:r>
                      <m:sSub>
                        <m:sSubPr>
                          <m:ctrlPr>
                            <a:rPr lang="es-CO" sz="3500" b="0" i="1" smtClean="0">
                              <a:latin typeface="Cambria Math"/>
                            </a:rPr>
                          </m:ctrlPr>
                        </m:sSubPr>
                        <m:e>
                          <m:r>
                            <a:rPr lang="es-CO" sz="3500" b="0" i="1" smtClean="0">
                              <a:latin typeface="Cambria Math"/>
                            </a:rPr>
                            <m:t>𝑍</m:t>
                          </m:r>
                        </m:e>
                        <m:sub>
                          <m:r>
                            <a:rPr lang="es-CO" sz="3500" b="0" i="1" smtClean="0">
                              <a:latin typeface="Cambria Math"/>
                            </a:rPr>
                            <m:t>𝑖</m:t>
                          </m:r>
                        </m:sub>
                      </m:sSub>
                      <m:r>
                        <a:rPr lang="es-CO" sz="3500" b="0" i="1" smtClean="0">
                          <a:latin typeface="Cambria Math"/>
                        </a:rPr>
                        <m:t>≤</m:t>
                      </m:r>
                      <m:acc>
                        <m:accPr>
                          <m:chr m:val="̅"/>
                          <m:ctrlPr>
                            <a:rPr lang="es-CO" sz="3500" b="0" i="1" smtClean="0">
                              <a:latin typeface="Cambria Math"/>
                            </a:rPr>
                          </m:ctrlPr>
                        </m:accPr>
                        <m:e>
                          <m:r>
                            <a:rPr lang="es-CO" sz="3500" b="0" i="1" smtClean="0">
                              <a:latin typeface="Cambria Math"/>
                            </a:rPr>
                            <m:t>𝑍</m:t>
                          </m:r>
                        </m:e>
                      </m:acc>
                      <m:r>
                        <a:rPr lang="es-CO" sz="3500" b="0" i="1" smtClean="0">
                          <a:latin typeface="Cambria Math"/>
                        </a:rPr>
                        <m:t>] </m:t>
                      </m:r>
                    </m:oMath>
                  </m:oMathPara>
                </a14:m>
                <a:endParaRPr lang="es-CO" sz="3500" dirty="0"/>
              </a:p>
            </p:txBody>
          </p:sp>
        </mc:Choice>
        <mc:Fallback>
          <p:sp>
            <p:nvSpPr>
              <p:cNvPr id="2" name="1 CuadroTexto"/>
              <p:cNvSpPr txBox="1">
                <a:spLocks noRot="1" noChangeAspect="1" noMove="1" noResize="1" noEditPoints="1" noAdjustHandles="1" noChangeArrowheads="1" noChangeShapeType="1" noTextEdit="1"/>
              </p:cNvSpPr>
              <p:nvPr/>
            </p:nvSpPr>
            <p:spPr>
              <a:xfrm>
                <a:off x="2669372" y="3085667"/>
                <a:ext cx="4101251" cy="630942"/>
              </a:xfrm>
              <a:prstGeom prst="rect">
                <a:avLst/>
              </a:prstGeom>
              <a:blipFill rotWithShape="1">
                <a:blip r:embed="rId4" cstate="print"/>
                <a:stretch>
                  <a:fillRect/>
                </a:stretch>
              </a:blipFill>
            </p:spPr>
            <p:txBody>
              <a:bodyPr/>
              <a:lstStyle/>
              <a:p>
                <a:r>
                  <a:rPr lang="es-CO">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57450" y="285728"/>
            <a:ext cx="6229350" cy="1131910"/>
          </a:xfrm>
        </p:spPr>
        <p:txBody>
          <a:bodyPr>
            <a:normAutofit fontScale="90000"/>
          </a:bodyPr>
          <a:lstStyle/>
          <a:p>
            <a:r>
              <a:rPr lang="es-MX" u="sng" dirty="0" smtClean="0"/>
              <a:t>Regresión discontinua nítida:</a:t>
            </a:r>
            <a:br>
              <a:rPr lang="es-MX" u="sng" dirty="0" smtClean="0"/>
            </a:br>
            <a:r>
              <a:rPr lang="es-MX" u="sng" dirty="0" smtClean="0"/>
              <a:t>Aspectos teóricos</a:t>
            </a:r>
            <a:endParaRPr lang="en-US" dirty="0"/>
          </a:p>
        </p:txBody>
      </p:sp>
      <p:sp>
        <p:nvSpPr>
          <p:cNvPr id="10" name="9 Marcador de contenido"/>
          <p:cNvSpPr>
            <a:spLocks noGrp="1"/>
          </p:cNvSpPr>
          <p:nvPr>
            <p:ph idx="1"/>
          </p:nvPr>
        </p:nvSpPr>
        <p:spPr/>
        <p:txBody>
          <a:bodyPr/>
          <a:lstStyle/>
          <a:p>
            <a:endParaRPr lang="es-MX" dirty="0" smtClean="0">
              <a:solidFill>
                <a:schemeClr val="accent5">
                  <a:lumMod val="75000"/>
                </a:schemeClr>
              </a:solidFill>
            </a:endParaRPr>
          </a:p>
          <a:p>
            <a:r>
              <a:rPr lang="es-MX" dirty="0" smtClean="0">
                <a:solidFill>
                  <a:schemeClr val="accent5">
                    <a:lumMod val="75000"/>
                  </a:schemeClr>
                </a:solidFill>
              </a:rPr>
              <a:t>Supuestos:</a:t>
            </a:r>
          </a:p>
          <a:p>
            <a:pPr lvl="1"/>
            <a:r>
              <a:rPr lang="es-MX" dirty="0" smtClean="0"/>
              <a:t>Los individuos o los administradores del programa no contribuyen en la decisión de si participar o no. </a:t>
            </a:r>
          </a:p>
          <a:p>
            <a:pPr lvl="1"/>
            <a:r>
              <a:rPr lang="es-MX" dirty="0" smtClean="0"/>
              <a:t>Los individuos no pueden ajustar el valor de </a:t>
            </a:r>
            <a:r>
              <a:rPr lang="es-MX" i="1" dirty="0" smtClean="0">
                <a:latin typeface="Times New Roman" pitchFamily="18" charset="0"/>
                <a:cs typeface="Times New Roman" pitchFamily="18" charset="0"/>
              </a:rPr>
              <a:t>Z</a:t>
            </a:r>
            <a:r>
              <a:rPr lang="es-MX" dirty="0" smtClean="0"/>
              <a:t> en respuesta a los criterios elegibilidad del programa. </a:t>
            </a:r>
          </a:p>
          <a:p>
            <a:pPr lvl="1"/>
            <a:r>
              <a:rPr lang="es-CO" dirty="0" smtClean="0"/>
              <a:t>Cualquier autoselección está dada sobre la base de características exógenas.</a:t>
            </a:r>
            <a:endParaRPr lang="es-MX" dirty="0" smtClean="0"/>
          </a:p>
          <a:p>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15</a:t>
            </a:fld>
            <a:endParaRPr lang="es-ES" sz="1500" dirty="0">
              <a:solidFill>
                <a:schemeClr val="tx1">
                  <a:lumMod val="50000"/>
                  <a:lumOff val="5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lgn="just">
              <a:buNone/>
            </a:pPr>
            <a:r>
              <a:rPr lang="es-ES_tradnl" sz="2500" dirty="0" smtClean="0"/>
              <a:t>	</a:t>
            </a:r>
          </a:p>
          <a:p>
            <a:pPr algn="just">
              <a:buNone/>
            </a:pPr>
            <a:r>
              <a:rPr lang="es-ES_tradnl" sz="2500" dirty="0" smtClean="0"/>
              <a:t>	Si el programa </a:t>
            </a:r>
            <a:r>
              <a:rPr lang="es-ES_tradnl" sz="2500" i="1" dirty="0" smtClean="0"/>
              <a:t>Canasta</a:t>
            </a:r>
            <a:r>
              <a:rPr lang="es-ES_tradnl" sz="2500" dirty="0" smtClean="0"/>
              <a:t> se asignara a los hogares de </a:t>
            </a:r>
            <a:r>
              <a:rPr lang="es-ES_tradnl" sz="2500" dirty="0" err="1" smtClean="0"/>
              <a:t>Sisben</a:t>
            </a:r>
            <a:r>
              <a:rPr lang="es-ES_tradnl" sz="2500" dirty="0" smtClean="0"/>
              <a:t> 1 y la participación fuera </a:t>
            </a:r>
            <a:r>
              <a:rPr lang="es-ES_tradnl" sz="2500" dirty="0" smtClean="0">
                <a:effectLst>
                  <a:outerShdw blurRad="38100" dist="38100" dir="2700000" algn="tl">
                    <a:srgbClr val="000000">
                      <a:alpha val="43137"/>
                    </a:srgbClr>
                  </a:outerShdw>
                </a:effectLst>
              </a:rPr>
              <a:t>obligatoria</a:t>
            </a:r>
            <a:r>
              <a:rPr lang="es-ES_tradnl" sz="2500" dirty="0" smtClean="0"/>
              <a:t>.</a:t>
            </a:r>
            <a:endParaRPr lang="es-ES" sz="2500" dirty="0">
              <a:effectLst>
                <a:outerShdw blurRad="38100" dist="38100" dir="2700000" algn="tl">
                  <a:srgbClr val="000000">
                    <a:alpha val="43137"/>
                  </a:srgbClr>
                </a:outerShdw>
              </a:effectLst>
            </a:endParaRPr>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AR" sz="4200" dirty="0" smtClean="0"/>
              <a:t>Ejemplo: </a:t>
            </a:r>
            <a:r>
              <a:rPr lang="es-AR" sz="4200" i="1" dirty="0" smtClean="0"/>
              <a:t>Canasta</a:t>
            </a:r>
            <a:endParaRPr lang="es-AR" sz="4200" dirty="0"/>
          </a:p>
        </p:txBody>
      </p:sp>
      <p:sp>
        <p:nvSpPr>
          <p:cNvPr id="8" name="7 Flecha abajo"/>
          <p:cNvSpPr/>
          <p:nvPr/>
        </p:nvSpPr>
        <p:spPr>
          <a:xfrm>
            <a:off x="4572000" y="3000372"/>
            <a:ext cx="357190"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9" name="8 CuadroTexto"/>
          <p:cNvSpPr txBox="1"/>
          <p:nvPr/>
        </p:nvSpPr>
        <p:spPr>
          <a:xfrm>
            <a:off x="1428728" y="3495920"/>
            <a:ext cx="6643734" cy="861774"/>
          </a:xfrm>
          <a:prstGeom prst="rect">
            <a:avLst/>
          </a:prstGeom>
          <a:noFill/>
          <a:ln>
            <a:solidFill>
              <a:schemeClr val="accent1">
                <a:lumMod val="60000"/>
                <a:lumOff val="40000"/>
              </a:schemeClr>
            </a:solidFill>
          </a:ln>
        </p:spPr>
        <p:txBody>
          <a:bodyPr wrap="square" rtlCol="0">
            <a:spAutoFit/>
          </a:bodyPr>
          <a:lstStyle/>
          <a:p>
            <a:pPr algn="ctr"/>
            <a:r>
              <a:rPr lang="es-ES_tradnl" sz="2500" dirty="0" smtClean="0"/>
              <a:t>El puntaje </a:t>
            </a:r>
            <a:r>
              <a:rPr lang="es-ES_tradnl" sz="2500" dirty="0" err="1" smtClean="0"/>
              <a:t>Sisben</a:t>
            </a:r>
            <a:r>
              <a:rPr lang="es-ES_tradnl" sz="2500" dirty="0" smtClean="0"/>
              <a:t> determina completamente la participación en el tratamiento.</a:t>
            </a:r>
            <a:endParaRPr lang="es-ES" sz="2500" dirty="0"/>
          </a:p>
        </p:txBody>
      </p:sp>
      <p:sp>
        <p:nvSpPr>
          <p:cNvPr id="10" name="9 Flecha abajo"/>
          <p:cNvSpPr/>
          <p:nvPr/>
        </p:nvSpPr>
        <p:spPr>
          <a:xfrm>
            <a:off x="4572000" y="4500570"/>
            <a:ext cx="357190" cy="357190"/>
          </a:xfrm>
          <a:prstGeom prst="downArrow">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11 CuadroTexto"/>
          <p:cNvSpPr txBox="1"/>
          <p:nvPr/>
        </p:nvSpPr>
        <p:spPr>
          <a:xfrm>
            <a:off x="1842685" y="5023648"/>
            <a:ext cx="5700920" cy="477054"/>
          </a:xfrm>
          <a:prstGeom prst="rect">
            <a:avLst/>
          </a:prstGeom>
          <a:noFill/>
          <a:ln>
            <a:solidFill>
              <a:schemeClr val="accent1">
                <a:lumMod val="60000"/>
                <a:lumOff val="40000"/>
              </a:schemeClr>
            </a:solidFill>
          </a:ln>
        </p:spPr>
        <p:txBody>
          <a:bodyPr wrap="none" rtlCol="0">
            <a:spAutoFit/>
          </a:bodyPr>
          <a:lstStyle/>
          <a:p>
            <a:r>
              <a:rPr lang="es-ES_tradnl" sz="2500" dirty="0" smtClean="0"/>
              <a:t>Diseño: regresión discontinua nítida (RDN)</a:t>
            </a:r>
            <a:endParaRPr lang="es-ES" sz="2500" dirty="0"/>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16</a:t>
            </a:fld>
            <a:endParaRPr lang="es-ES" sz="1500" dirty="0">
              <a:solidFill>
                <a:schemeClr val="tx1">
                  <a:lumMod val="50000"/>
                  <a:lumOff val="50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00298" y="285728"/>
            <a:ext cx="6186502" cy="1131910"/>
          </a:xfrm>
        </p:spPr>
        <p:txBody>
          <a:bodyPr>
            <a:normAutofit fontScale="90000"/>
          </a:bodyPr>
          <a:lstStyle/>
          <a:p>
            <a:r>
              <a:rPr lang="es-MX" u="sng" dirty="0" smtClean="0"/>
              <a:t>Regresión discontinua nítida:</a:t>
            </a:r>
            <a:br>
              <a:rPr lang="es-MX" u="sng" dirty="0" smtClean="0"/>
            </a:br>
            <a:r>
              <a:rPr lang="es-MX" u="sng" dirty="0" smtClean="0"/>
              <a:t>Aspectos teóricos</a:t>
            </a:r>
            <a:endParaRPr lang="en-US" dirty="0"/>
          </a:p>
        </p:txBody>
      </p:sp>
      <p:sp>
        <p:nvSpPr>
          <p:cNvPr id="7" name="6 Marcador de contenido"/>
          <p:cNvSpPr>
            <a:spLocks noGrp="1"/>
          </p:cNvSpPr>
          <p:nvPr>
            <p:ph sz="half" idx="2"/>
          </p:nvPr>
        </p:nvSpPr>
        <p:spPr>
          <a:xfrm>
            <a:off x="4742796" y="1800232"/>
            <a:ext cx="4038600" cy="4525963"/>
          </a:xfrm>
        </p:spPr>
        <p:txBody>
          <a:bodyPr>
            <a:normAutofit fontScale="92500" lnSpcReduction="20000"/>
          </a:bodyPr>
          <a:lstStyle/>
          <a:p>
            <a:r>
              <a:rPr lang="es-ES" sz="2700" dirty="0" smtClean="0">
                <a:solidFill>
                  <a:schemeClr val="accent5">
                    <a:lumMod val="75000"/>
                  </a:schemeClr>
                </a:solidFill>
              </a:rPr>
              <a:t>Condición de identificación: </a:t>
            </a:r>
            <a:endParaRPr lang="es-ES" sz="2700" dirty="0"/>
          </a:p>
          <a:p>
            <a:endParaRPr lang="es-ES" dirty="0" smtClean="0"/>
          </a:p>
          <a:p>
            <a:endParaRPr lang="es-ES" dirty="0" smtClean="0"/>
          </a:p>
          <a:p>
            <a:endParaRPr lang="es-ES" dirty="0" smtClean="0"/>
          </a:p>
          <a:p>
            <a:r>
              <a:rPr lang="es-ES" sz="2700" dirty="0" smtClean="0"/>
              <a:t>La </a:t>
            </a:r>
            <a:r>
              <a:rPr lang="es-ES" sz="2700" dirty="0"/>
              <a:t>principal fuente de identificación en RDN es la discontinuidad en la participación en el tratamiento en un punto específico de la distribución de </a:t>
            </a:r>
            <a:r>
              <a:rPr lang="es-ES" sz="2700" i="1" dirty="0" smtClean="0"/>
              <a:t>Z. </a:t>
            </a:r>
          </a:p>
          <a:p>
            <a:endParaRPr lang="en-U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351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pic>
        <p:nvPicPr>
          <p:cNvPr id="88073" name="Picture 9"/>
          <p:cNvPicPr>
            <a:picLocks noChangeAspect="1" noChangeArrowheads="1"/>
          </p:cNvPicPr>
          <p:nvPr/>
        </p:nvPicPr>
        <p:blipFill>
          <a:blip r:embed="rId4" cstate="print"/>
          <a:srcRect/>
          <a:stretch>
            <a:fillRect/>
          </a:stretch>
        </p:blipFill>
        <p:spPr bwMode="auto">
          <a:xfrm>
            <a:off x="441433" y="2177124"/>
            <a:ext cx="4256689" cy="3057031"/>
          </a:xfrm>
          <a:prstGeom prst="rect">
            <a:avLst/>
          </a:prstGeom>
          <a:noFill/>
          <a:ln w="9525">
            <a:noFill/>
            <a:miter lim="800000"/>
            <a:headEnd/>
            <a:tailEnd/>
          </a:ln>
          <a:effectLst/>
        </p:spPr>
      </p:pic>
      <p:sp>
        <p:nvSpPr>
          <p:cNvPr id="21" name="20 CuadroTexto"/>
          <p:cNvSpPr txBox="1"/>
          <p:nvPr/>
        </p:nvSpPr>
        <p:spPr>
          <a:xfrm>
            <a:off x="6842234" y="3168868"/>
            <a:ext cx="1045158" cy="369332"/>
          </a:xfrm>
          <a:prstGeom prst="rect">
            <a:avLst/>
          </a:prstGeom>
          <a:noFill/>
        </p:spPr>
        <p:txBody>
          <a:bodyPr wrap="none" rtlCol="0">
            <a:spAutoFit/>
          </a:bodyPr>
          <a:lstStyle/>
          <a:p>
            <a:r>
              <a:rPr lang="es-CO" dirty="0" smtClean="0">
                <a:solidFill>
                  <a:schemeClr val="accent5">
                    <a:lumMod val="75000"/>
                  </a:schemeClr>
                </a:solidFill>
              </a:rPr>
              <a:t>Izquierda</a:t>
            </a:r>
          </a:p>
        </p:txBody>
      </p:sp>
      <p:sp>
        <p:nvSpPr>
          <p:cNvPr id="22" name="21 CuadroTexto"/>
          <p:cNvSpPr txBox="1"/>
          <p:nvPr/>
        </p:nvSpPr>
        <p:spPr>
          <a:xfrm>
            <a:off x="5213131" y="3163612"/>
            <a:ext cx="965521" cy="369332"/>
          </a:xfrm>
          <a:prstGeom prst="rect">
            <a:avLst/>
          </a:prstGeom>
          <a:noFill/>
        </p:spPr>
        <p:txBody>
          <a:bodyPr wrap="none" rtlCol="0">
            <a:spAutoFit/>
          </a:bodyPr>
          <a:lstStyle/>
          <a:p>
            <a:r>
              <a:rPr lang="es-CO" dirty="0" smtClean="0">
                <a:solidFill>
                  <a:schemeClr val="accent5">
                    <a:lumMod val="75000"/>
                  </a:schemeClr>
                </a:solidFill>
              </a:rPr>
              <a:t>Derecha</a:t>
            </a:r>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17</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5197365" y="2690962"/>
                <a:ext cx="3397148" cy="5087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s-CO" sz="2000" i="1">
                              <a:latin typeface="Cambria Math"/>
                            </a:rPr>
                          </m:ctrlPr>
                        </m:funcPr>
                        <m:fName>
                          <m:limLow>
                            <m:limLowPr>
                              <m:ctrlPr>
                                <a:rPr lang="es-CO" sz="2000" i="1">
                                  <a:latin typeface="Cambria Math"/>
                                </a:rPr>
                              </m:ctrlPr>
                            </m:limLowPr>
                            <m:e>
                              <m:r>
                                <m:rPr>
                                  <m:sty m:val="p"/>
                                </m:rPr>
                                <a:rPr lang="es-ES" sz="2000">
                                  <a:latin typeface="Cambria Math"/>
                                </a:rPr>
                                <m:t>lim</m:t>
                              </m:r>
                            </m:e>
                            <m:lim>
                              <m:r>
                                <a:rPr lang="es-ES" sz="2000" i="1">
                                  <a:latin typeface="Cambria Math"/>
                                </a:rPr>
                                <m:t>𝑧</m:t>
                              </m:r>
                              <m:r>
                                <a:rPr lang="es-ES" sz="2000" i="1">
                                  <a:latin typeface="Cambria Math"/>
                                </a:rPr>
                                <m:t>↓</m:t>
                              </m:r>
                              <m:acc>
                                <m:accPr>
                                  <m:chr m:val="̅"/>
                                  <m:ctrlPr>
                                    <a:rPr lang="es-CO" sz="2000" i="1">
                                      <a:latin typeface="Cambria Math"/>
                                    </a:rPr>
                                  </m:ctrlPr>
                                </m:accPr>
                                <m:e>
                                  <m:r>
                                    <a:rPr lang="es-ES" sz="2000" i="1">
                                      <a:latin typeface="Cambria Math"/>
                                    </a:rPr>
                                    <m:t>𝑍</m:t>
                                  </m:r>
                                </m:e>
                              </m:acc>
                            </m:lim>
                          </m:limLow>
                        </m:fName>
                        <m:e>
                          <m:r>
                            <a:rPr lang="es-ES" sz="2000" i="1">
                              <a:latin typeface="Cambria Math"/>
                            </a:rPr>
                            <m:t>𝐷</m:t>
                          </m:r>
                          <m:r>
                            <a:rPr lang="es-ES" sz="2000" i="1">
                              <a:latin typeface="Cambria Math"/>
                            </a:rPr>
                            <m:t>(</m:t>
                          </m:r>
                          <m:r>
                            <a:rPr lang="es-ES" sz="2000" i="1">
                              <a:latin typeface="Cambria Math"/>
                            </a:rPr>
                            <m:t>𝑍</m:t>
                          </m:r>
                          <m:r>
                            <a:rPr lang="es-ES" sz="2000" i="1">
                              <a:latin typeface="Cambria Math"/>
                            </a:rPr>
                            <m:t>=</m:t>
                          </m:r>
                          <m:r>
                            <a:rPr lang="es-ES" sz="2000" i="1">
                              <a:latin typeface="Cambria Math"/>
                            </a:rPr>
                            <m:t>𝑧</m:t>
                          </m:r>
                          <m:r>
                            <a:rPr lang="es-ES" sz="2000" i="1">
                              <a:latin typeface="Cambria Math"/>
                            </a:rPr>
                            <m:t>)≠</m:t>
                          </m:r>
                        </m:e>
                      </m:func>
                      <m:func>
                        <m:funcPr>
                          <m:ctrlPr>
                            <a:rPr lang="es-CO" sz="2000" i="1">
                              <a:latin typeface="Cambria Math"/>
                            </a:rPr>
                          </m:ctrlPr>
                        </m:funcPr>
                        <m:fName>
                          <m:limLow>
                            <m:limLowPr>
                              <m:ctrlPr>
                                <a:rPr lang="es-CO" sz="2000" i="1">
                                  <a:latin typeface="Cambria Math"/>
                                </a:rPr>
                              </m:ctrlPr>
                            </m:limLowPr>
                            <m:e>
                              <m:r>
                                <m:rPr>
                                  <m:sty m:val="p"/>
                                </m:rPr>
                                <a:rPr lang="es-ES" sz="2000">
                                  <a:latin typeface="Cambria Math"/>
                                </a:rPr>
                                <m:t>lim</m:t>
                              </m:r>
                            </m:e>
                            <m:lim>
                              <m:r>
                                <a:rPr lang="es-ES" sz="2000" i="1">
                                  <a:latin typeface="Cambria Math"/>
                                </a:rPr>
                                <m:t>𝑧</m:t>
                              </m:r>
                              <m:r>
                                <a:rPr lang="es-ES" sz="2000" i="1">
                                  <a:latin typeface="Cambria Math"/>
                                </a:rPr>
                                <m:t>↑</m:t>
                              </m:r>
                              <m:acc>
                                <m:accPr>
                                  <m:chr m:val="̅"/>
                                  <m:ctrlPr>
                                    <a:rPr lang="es-CO" sz="2000" i="1">
                                      <a:latin typeface="Cambria Math"/>
                                    </a:rPr>
                                  </m:ctrlPr>
                                </m:accPr>
                                <m:e>
                                  <m:r>
                                    <a:rPr lang="es-ES" sz="2000" i="1">
                                      <a:latin typeface="Cambria Math"/>
                                    </a:rPr>
                                    <m:t>𝑍</m:t>
                                  </m:r>
                                </m:e>
                              </m:acc>
                            </m:lim>
                          </m:limLow>
                        </m:fName>
                        <m:e>
                          <m:r>
                            <a:rPr lang="es-ES" sz="2000" i="1">
                              <a:latin typeface="Cambria Math"/>
                            </a:rPr>
                            <m:t>𝐷</m:t>
                          </m:r>
                          <m:d>
                            <m:dPr>
                              <m:ctrlPr>
                                <a:rPr lang="es-CO" sz="2000" i="1">
                                  <a:latin typeface="Cambria Math"/>
                                </a:rPr>
                              </m:ctrlPr>
                            </m:dPr>
                            <m:e>
                              <m:r>
                                <a:rPr lang="es-ES" sz="2000" i="1">
                                  <a:latin typeface="Cambria Math"/>
                                </a:rPr>
                                <m:t>𝑍</m:t>
                              </m:r>
                              <m:r>
                                <a:rPr lang="es-ES" sz="2000" i="1">
                                  <a:latin typeface="Cambria Math"/>
                                </a:rPr>
                                <m:t>=</m:t>
                              </m:r>
                              <m:r>
                                <a:rPr lang="es-ES" sz="2000" i="1">
                                  <a:latin typeface="Cambria Math"/>
                                </a:rPr>
                                <m:t>𝑧</m:t>
                              </m:r>
                            </m:e>
                          </m:d>
                        </m:e>
                      </m:func>
                      <m:r>
                        <a:rPr lang="es-ES" sz="2000" i="1">
                          <a:latin typeface="Cambria Math"/>
                        </a:rPr>
                        <m:t> </m:t>
                      </m:r>
                    </m:oMath>
                  </m:oMathPara>
                </a14:m>
                <a:endParaRPr lang="es-CO" sz="2000" dirty="0"/>
              </a:p>
            </p:txBody>
          </p:sp>
        </mc:Choice>
        <mc:Fallback>
          <p:sp>
            <p:nvSpPr>
              <p:cNvPr id="2" name="1 Rectángulo"/>
              <p:cNvSpPr>
                <a:spLocks noRot="1" noChangeAspect="1" noMove="1" noResize="1" noEditPoints="1" noAdjustHandles="1" noChangeArrowheads="1" noChangeShapeType="1" noTextEdit="1"/>
              </p:cNvSpPr>
              <p:nvPr/>
            </p:nvSpPr>
            <p:spPr>
              <a:xfrm>
                <a:off x="5197365" y="2690962"/>
                <a:ext cx="3397148" cy="508729"/>
              </a:xfrm>
              <a:prstGeom prst="rect">
                <a:avLst/>
              </a:prstGeom>
              <a:blipFill rotWithShape="1">
                <a:blip r:embed="rId5" cstate="print"/>
                <a:stretch>
                  <a:fillRect b="-3571"/>
                </a:stretch>
              </a:blipFill>
            </p:spPr>
            <p:txBody>
              <a:bodyPr/>
              <a:lstStyle/>
              <a:p>
                <a:r>
                  <a:rPr lang="es-CO">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300016"/>
            <a:ext cx="6129337" cy="1131910"/>
          </a:xfrm>
        </p:spPr>
        <p:txBody>
          <a:bodyPr>
            <a:noAutofit/>
          </a:bodyPr>
          <a:lstStyle/>
          <a:p>
            <a:r>
              <a:rPr lang="es-MX" sz="3400" u="sng" dirty="0" smtClean="0"/>
              <a:t>Regresión discontinua nítida:</a:t>
            </a:r>
            <a:br>
              <a:rPr lang="es-MX" sz="3400" u="sng" dirty="0" smtClean="0"/>
            </a:br>
            <a:r>
              <a:rPr lang="es-MX" sz="3400" u="sng" dirty="0" smtClean="0"/>
              <a:t>Expectativas condicionales de las variables de resultado</a:t>
            </a:r>
            <a:endParaRPr lang="en-US" sz="34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8" name="7 CuadroTexto"/>
          <p:cNvSpPr txBox="1"/>
          <p:nvPr/>
        </p:nvSpPr>
        <p:spPr>
          <a:xfrm>
            <a:off x="786474" y="5156780"/>
            <a:ext cx="8098971" cy="1323439"/>
          </a:xfrm>
          <a:prstGeom prst="rect">
            <a:avLst/>
          </a:prstGeom>
          <a:noFill/>
        </p:spPr>
        <p:txBody>
          <a:bodyPr wrap="square" rtlCol="0">
            <a:spAutoFit/>
          </a:bodyPr>
          <a:lstStyle/>
          <a:p>
            <a:pPr marL="268288" indent="-268288">
              <a:buFont typeface="Arial" pitchFamily="34" charset="0"/>
              <a:buChar char="•"/>
            </a:pPr>
            <a:r>
              <a:rPr lang="es-ES" sz="2000" dirty="0"/>
              <a:t>Las líneas sólidas corresponden a las expectativas condicionales de las variables de resultado </a:t>
            </a:r>
            <a:r>
              <a:rPr lang="es-ES" sz="2000" i="1" dirty="0"/>
              <a:t>Y </a:t>
            </a:r>
            <a:r>
              <a:rPr lang="es-ES" sz="2000" i="1" dirty="0" smtClean="0"/>
              <a:t>observadas.</a:t>
            </a:r>
            <a:r>
              <a:rPr lang="es-ES" sz="2000" dirty="0" smtClean="0"/>
              <a:t> </a:t>
            </a:r>
          </a:p>
          <a:p>
            <a:pPr marL="268288" indent="-268288">
              <a:buFont typeface="Arial" pitchFamily="34" charset="0"/>
              <a:buChar char="•"/>
            </a:pPr>
            <a:r>
              <a:rPr lang="es-ES" sz="2000" dirty="0" smtClean="0"/>
              <a:t>Las </a:t>
            </a:r>
            <a:r>
              <a:rPr lang="es-ES" sz="2000" dirty="0"/>
              <a:t>líneas punteadas representan las</a:t>
            </a:r>
            <a:r>
              <a:rPr lang="es-ES" sz="2000" i="1" dirty="0"/>
              <a:t> </a:t>
            </a:r>
            <a:r>
              <a:rPr lang="es-ES" sz="2000" dirty="0"/>
              <a:t>expectativas condicionales de las dos variables de resultado </a:t>
            </a:r>
            <a:r>
              <a:rPr lang="es-ES" sz="2000" i="1" dirty="0"/>
              <a:t>potenciales</a:t>
            </a:r>
            <a:r>
              <a:rPr lang="es-ES" sz="2000" dirty="0"/>
              <a:t> para cada nivel de </a:t>
            </a:r>
            <a:r>
              <a:rPr lang="es-ES" sz="2000" i="1" dirty="0"/>
              <a:t>Z</a:t>
            </a:r>
            <a:r>
              <a:rPr lang="es-ES" sz="2000" dirty="0"/>
              <a:t>.</a:t>
            </a:r>
            <a:endParaRPr lang="en-US" sz="2000" dirty="0"/>
          </a:p>
        </p:txBody>
      </p:sp>
      <p:pic>
        <p:nvPicPr>
          <p:cNvPr id="86017" name="Picture 1"/>
          <p:cNvPicPr>
            <a:picLocks noChangeAspect="1" noChangeArrowheads="1"/>
          </p:cNvPicPr>
          <p:nvPr/>
        </p:nvPicPr>
        <p:blipFill>
          <a:blip r:embed="rId4" cstate="print"/>
          <a:srcRect/>
          <a:stretch>
            <a:fillRect/>
          </a:stretch>
        </p:blipFill>
        <p:spPr bwMode="auto">
          <a:xfrm>
            <a:off x="1321348" y="1656857"/>
            <a:ext cx="6829424" cy="3501160"/>
          </a:xfrm>
          <a:prstGeom prst="rect">
            <a:avLst/>
          </a:prstGeom>
          <a:noFill/>
          <a:ln w="9525">
            <a:noFill/>
            <a:miter lim="800000"/>
            <a:headEnd/>
            <a:tailEnd/>
          </a:ln>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18</a:t>
            </a:fld>
            <a:endParaRPr lang="es-ES" sz="1500" dirty="0">
              <a:solidFill>
                <a:schemeClr val="tx1">
                  <a:lumMod val="50000"/>
                  <a:lumOff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Autofit/>
          </a:bodyPr>
          <a:lstStyle/>
          <a:p>
            <a:r>
              <a:rPr lang="es-MX" sz="3400" u="sng" dirty="0" smtClean="0"/>
              <a:t>Regresión discontinua nítida:</a:t>
            </a:r>
            <a:br>
              <a:rPr lang="es-MX" sz="3400" u="sng" dirty="0" smtClean="0"/>
            </a:br>
            <a:r>
              <a:rPr lang="es-MX" sz="3400" u="sng" dirty="0" smtClean="0">
                <a:solidFill>
                  <a:prstClr val="black"/>
                </a:solidFill>
              </a:rPr>
              <a:t> Expectativas condicionales de las variables de resultado</a:t>
            </a:r>
            <a:endParaRPr lang="en-US" sz="3400"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1743080"/>
                <a:ext cx="8229600" cy="4525963"/>
              </a:xfrm>
            </p:spPr>
            <p:txBody>
              <a:bodyPr>
                <a:normAutofit fontScale="92500" lnSpcReduction="10000"/>
              </a:bodyPr>
              <a:lstStyle/>
              <a:p>
                <a:endParaRPr lang="es-MX" sz="2600" dirty="0" smtClean="0"/>
              </a:p>
              <a:p>
                <a:r>
                  <a:rPr lang="es-MX" sz="2600" dirty="0" smtClean="0"/>
                  <a:t>Formalmente definimos esas </a:t>
                </a:r>
                <a:r>
                  <a:rPr lang="es-MX" sz="2600" smtClean="0"/>
                  <a:t>expectativas </a:t>
                </a:r>
                <a:r>
                  <a:rPr lang="es-MX" sz="2600" smtClean="0"/>
                  <a:t>condicionales </a:t>
                </a:r>
                <a:r>
                  <a:rPr lang="es-MX" sz="2600" dirty="0" smtClean="0"/>
                  <a:t>como: </a:t>
                </a:r>
              </a:p>
              <a:p>
                <a:pPr>
                  <a:buNone/>
                </a:pPr>
                <a:r>
                  <a:rPr lang="es-ES" sz="1100" dirty="0" smtClean="0"/>
                  <a:t>			</a:t>
                </a:r>
              </a:p>
              <a:p>
                <a:pPr>
                  <a:buNone/>
                </a:pPr>
                <a:r>
                  <a:rPr lang="es-CO" sz="2400" dirty="0" smtClean="0"/>
                  <a:t>			</a:t>
                </a:r>
                <a14:m>
                  <m:oMath xmlns:m="http://schemas.openxmlformats.org/officeDocument/2006/math">
                    <m:sSub>
                      <m:sSubPr>
                        <m:ctrlPr>
                          <a:rPr lang="es-CO" sz="2400" i="1">
                            <a:latin typeface="Cambria Math"/>
                          </a:rPr>
                        </m:ctrlPr>
                      </m:sSubPr>
                      <m:e>
                        <m:r>
                          <a:rPr lang="es-ES" sz="2400" i="1">
                            <a:latin typeface="Cambria Math"/>
                          </a:rPr>
                          <m:t>𝜇</m:t>
                        </m:r>
                      </m:e>
                      <m:sub>
                        <m:r>
                          <a:rPr lang="es-ES" sz="2400" i="1">
                            <a:latin typeface="Cambria Math"/>
                          </a:rPr>
                          <m:t>𝐷</m:t>
                        </m:r>
                      </m:sub>
                    </m:sSub>
                    <m:d>
                      <m:dPr>
                        <m:ctrlPr>
                          <a:rPr lang="es-CO" sz="2400" i="1">
                            <a:latin typeface="Cambria Math"/>
                          </a:rPr>
                        </m:ctrlPr>
                      </m:dPr>
                      <m:e>
                        <m:r>
                          <a:rPr lang="es-ES" sz="2400" i="1">
                            <a:latin typeface="Cambria Math"/>
                          </a:rPr>
                          <m:t>𝑧</m:t>
                        </m:r>
                      </m:e>
                    </m:d>
                    <m:r>
                      <a:rPr lang="es-ES" sz="2400" i="1">
                        <a:latin typeface="Cambria Math"/>
                      </a:rPr>
                      <m:t>=</m:t>
                    </m:r>
                    <m:r>
                      <a:rPr lang="es-ES" sz="2400" i="1">
                        <a:latin typeface="Cambria Math"/>
                      </a:rPr>
                      <m:t>𝐸</m:t>
                    </m:r>
                    <m:d>
                      <m:dPr>
                        <m:begChr m:val="["/>
                        <m:endChr m:val="]"/>
                        <m:ctrlPr>
                          <a:rPr lang="es-ES" sz="2400" i="1">
                            <a:latin typeface="Cambria Math"/>
                          </a:rPr>
                        </m:ctrlPr>
                      </m:dPr>
                      <m:e>
                        <m:r>
                          <a:rPr lang="es-ES" sz="2400" i="1">
                            <a:latin typeface="Cambria Math"/>
                          </a:rPr>
                          <m:t>𝑌</m:t>
                        </m:r>
                        <m:d>
                          <m:dPr>
                            <m:ctrlPr>
                              <a:rPr lang="es-ES" sz="2400" i="1">
                                <a:latin typeface="Cambria Math"/>
                              </a:rPr>
                            </m:ctrlPr>
                          </m:dPr>
                          <m:e>
                            <m:r>
                              <a:rPr lang="es-ES" sz="2400" i="1">
                                <a:latin typeface="Cambria Math"/>
                              </a:rPr>
                              <m:t>𝐷</m:t>
                            </m:r>
                          </m:e>
                        </m:d>
                      </m:e>
                      <m:e>
                        <m:r>
                          <a:rPr lang="es-ES" sz="2400" i="1">
                            <a:latin typeface="Cambria Math"/>
                          </a:rPr>
                          <m:t>𝑍</m:t>
                        </m:r>
                        <m:r>
                          <a:rPr lang="es-ES" sz="2400" i="1">
                            <a:latin typeface="Cambria Math"/>
                          </a:rPr>
                          <m:t>=</m:t>
                        </m:r>
                        <m:r>
                          <a:rPr lang="es-ES" sz="2400" i="1">
                            <a:latin typeface="Cambria Math"/>
                          </a:rPr>
                          <m:t>𝑧</m:t>
                        </m:r>
                      </m:e>
                    </m:d>
                    <m:r>
                      <a:rPr lang="es-CO" sz="2400" b="0" i="0" smtClean="0">
                        <a:latin typeface="Cambria Math"/>
                      </a:rPr>
                      <m:t>    </m:t>
                    </m:r>
                  </m:oMath>
                </a14:m>
                <a:r>
                  <a:rPr lang="es-ES" sz="2600" dirty="0" smtClean="0"/>
                  <a:t>para </a:t>
                </a:r>
                <a:r>
                  <a:rPr lang="es-ES" sz="2600" i="1" dirty="0" smtClean="0"/>
                  <a:t>D </a:t>
                </a:r>
                <a:r>
                  <a:rPr lang="es-ES" sz="2600" dirty="0" smtClean="0"/>
                  <a:t>= 0,1.</a:t>
                </a:r>
              </a:p>
              <a:p>
                <a:pPr>
                  <a:buNone/>
                </a:pPr>
                <a:endParaRPr lang="es-ES" sz="1100" dirty="0" smtClean="0"/>
              </a:p>
              <a:p>
                <a:r>
                  <a:rPr lang="es-ES" sz="2600" dirty="0" smtClean="0"/>
                  <a:t>La </a:t>
                </a:r>
                <a:r>
                  <a:rPr lang="es-ES" sz="2600" dirty="0"/>
                  <a:t>variable de resultado </a:t>
                </a:r>
                <a:r>
                  <a:rPr lang="es-ES" sz="2600" dirty="0" smtClean="0"/>
                  <a:t>sólo se observa en </a:t>
                </a:r>
                <a:r>
                  <a:rPr lang="es-ES" sz="2600" dirty="0"/>
                  <a:t>presencia del tratamiento, si la variable </a:t>
                </a:r>
                <a:r>
                  <a:rPr lang="es-ES" sz="2600" i="1" dirty="0"/>
                  <a:t>Z</a:t>
                </a:r>
                <a:r>
                  <a:rPr lang="es-ES" sz="2600" dirty="0"/>
                  <a:t> está </a:t>
                </a:r>
                <a:r>
                  <a:rPr lang="es-ES" sz="2600" dirty="0" smtClean="0"/>
                  <a:t>a la izquierda del umbral:</a:t>
                </a:r>
              </a:p>
              <a:p>
                <a:pPr lvl="1"/>
                <a:r>
                  <a:rPr lang="es-ES" sz="2200" dirty="0" smtClean="0"/>
                  <a:t>El individuo participa en el programa. </a:t>
                </a:r>
              </a:p>
              <a:p>
                <a:pPr lvl="1"/>
                <a:endParaRPr lang="es-ES" sz="2200" dirty="0" smtClean="0"/>
              </a:p>
              <a:p>
                <a:r>
                  <a:rPr lang="es-ES" sz="2600" dirty="0" smtClean="0"/>
                  <a:t>La </a:t>
                </a:r>
                <a:r>
                  <a:rPr lang="es-ES" sz="2600" dirty="0"/>
                  <a:t>variable de resultado </a:t>
                </a:r>
                <a:r>
                  <a:rPr lang="es-ES" sz="2600" dirty="0" smtClean="0"/>
                  <a:t>sólo se observa en </a:t>
                </a:r>
                <a:r>
                  <a:rPr lang="es-ES" sz="2600" dirty="0"/>
                  <a:t>ausencia del tratamiento, si la variable </a:t>
                </a:r>
                <a:r>
                  <a:rPr lang="es-ES" sz="2600" i="1" dirty="0"/>
                  <a:t>Z</a:t>
                </a:r>
                <a:r>
                  <a:rPr lang="es-ES" sz="2600" dirty="0"/>
                  <a:t> está </a:t>
                </a:r>
                <a:r>
                  <a:rPr lang="es-ES" sz="2600" dirty="0" smtClean="0"/>
                  <a:t>a la derecha del umbral: </a:t>
                </a:r>
              </a:p>
              <a:p>
                <a:pPr lvl="1"/>
                <a:r>
                  <a:rPr lang="es-ES" sz="2200" dirty="0" smtClean="0"/>
                  <a:t>El individuo </a:t>
                </a:r>
                <a:r>
                  <a:rPr lang="es-ES" sz="2200" dirty="0"/>
                  <a:t>no participa en el programa.</a:t>
                </a:r>
                <a:r>
                  <a:rPr lang="es-ES" sz="2200" dirty="0" smtClean="0"/>
                  <a:t> </a:t>
                </a:r>
                <a:endParaRPr lang="en-US" sz="22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1743080"/>
                <a:ext cx="8229600" cy="4525963"/>
              </a:xfrm>
              <a:blipFill rotWithShape="1">
                <a:blip r:embed="rId2" cstate="print"/>
                <a:stretch>
                  <a:fillRect l="-963"/>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38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19</a:t>
            </a:fld>
            <a:endParaRPr lang="es-ES" sz="1500" dirty="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300016"/>
            <a:ext cx="6129337" cy="1131910"/>
          </a:xfrm>
        </p:spPr>
        <p:txBody>
          <a:bodyPr>
            <a:noAutofit/>
          </a:bodyPr>
          <a:lstStyle/>
          <a:p>
            <a:r>
              <a:rPr lang="es-MX" sz="3400" u="sng" dirty="0" smtClean="0"/>
              <a:t>Regresión discontinua nítida:</a:t>
            </a:r>
            <a:br>
              <a:rPr lang="es-MX" sz="3400" u="sng" dirty="0" smtClean="0"/>
            </a:br>
            <a:r>
              <a:rPr lang="es-MX" sz="3400" u="sng" dirty="0" smtClean="0"/>
              <a:t>Expectativas condicionales de las variables de resultado</a:t>
            </a:r>
            <a:endParaRPr lang="en-US" sz="34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mc:AlternateContent xmlns:mc="http://schemas.openxmlformats.org/markup-compatibility/2006">
        <mc:Choice xmlns:a14="http://schemas.microsoft.com/office/drawing/2010/main" xmlns="" Requires="a14">
          <p:sp>
            <p:nvSpPr>
              <p:cNvPr id="11" name="10 Rectángulo"/>
              <p:cNvSpPr/>
              <p:nvPr/>
            </p:nvSpPr>
            <p:spPr>
              <a:xfrm>
                <a:off x="783843" y="2240688"/>
                <a:ext cx="7729536" cy="3075457"/>
              </a:xfrm>
              <a:prstGeom prst="rect">
                <a:avLst/>
              </a:prstGeom>
            </p:spPr>
            <p:txBody>
              <a:bodyPr wrap="square">
                <a:spAutoFit/>
              </a:bodyPr>
              <a:lstStyle/>
              <a:p>
                <a:r>
                  <a:rPr lang="es-ES" sz="3000" dirty="0" smtClean="0"/>
                  <a:t>La expectativa condicional de la variable de resultado </a:t>
                </a:r>
                <a:r>
                  <a:rPr lang="es-ES" sz="3000" i="1" dirty="0" smtClean="0"/>
                  <a:t>observada</a:t>
                </a:r>
                <a:r>
                  <a:rPr lang="es-ES" sz="3000" dirty="0" smtClean="0"/>
                  <a:t> está dada por la línea sólida en la gráfica. </a:t>
                </a:r>
              </a:p>
              <a:p>
                <a:endParaRPr lang="es-ES" sz="3000" dirty="0"/>
              </a:p>
              <a:p>
                <a:pPr/>
                <a14:m>
                  <m:oMathPara xmlns:m="http://schemas.openxmlformats.org/officeDocument/2006/math">
                    <m:oMathParaPr>
                      <m:jc m:val="centerGroup"/>
                    </m:oMathParaPr>
                    <m:oMath xmlns:m="http://schemas.openxmlformats.org/officeDocument/2006/math">
                      <m:r>
                        <a:rPr lang="es-ES" sz="2500" i="1">
                          <a:latin typeface="Cambria Math"/>
                        </a:rPr>
                        <m:t>𝐸</m:t>
                      </m:r>
                      <m:d>
                        <m:dPr>
                          <m:begChr m:val="["/>
                          <m:endChr m:val="]"/>
                          <m:ctrlPr>
                            <a:rPr lang="es-CO" sz="2500" i="1">
                              <a:latin typeface="Cambria Math"/>
                            </a:rPr>
                          </m:ctrlPr>
                        </m:dPr>
                        <m:e>
                          <m:r>
                            <a:rPr lang="es-ES" sz="2500" i="1">
                              <a:latin typeface="Cambria Math"/>
                            </a:rPr>
                            <m:t>𝑌</m:t>
                          </m:r>
                        </m:e>
                        <m:e>
                          <m:r>
                            <a:rPr lang="es-ES" sz="2500" i="1">
                              <a:latin typeface="Cambria Math"/>
                            </a:rPr>
                            <m:t>𝑍</m:t>
                          </m:r>
                          <m:r>
                            <a:rPr lang="es-ES" sz="2500" i="1">
                              <a:latin typeface="Cambria Math"/>
                            </a:rPr>
                            <m:t>=</m:t>
                          </m:r>
                          <m:r>
                            <a:rPr lang="es-ES" sz="2500" i="1">
                              <a:latin typeface="Cambria Math"/>
                            </a:rPr>
                            <m:t>𝑧</m:t>
                          </m:r>
                        </m:e>
                      </m:d>
                      <m:r>
                        <a:rPr lang="es-ES" sz="2500" i="1">
                          <a:latin typeface="Cambria Math"/>
                        </a:rPr>
                        <m:t>=</m:t>
                      </m:r>
                      <m:r>
                        <a:rPr lang="es-ES" sz="2500" i="1">
                          <a:latin typeface="Cambria Math"/>
                        </a:rPr>
                        <m:t>𝐸</m:t>
                      </m:r>
                      <m:d>
                        <m:dPr>
                          <m:begChr m:val="["/>
                          <m:endChr m:val="]"/>
                          <m:ctrlPr>
                            <a:rPr lang="es-CO" sz="2500" i="1">
                              <a:latin typeface="Cambria Math"/>
                            </a:rPr>
                          </m:ctrlPr>
                        </m:dPr>
                        <m:e>
                          <m:r>
                            <a:rPr lang="es-ES" sz="2500" i="1">
                              <a:latin typeface="Cambria Math"/>
                            </a:rPr>
                            <m:t>𝑌</m:t>
                          </m:r>
                        </m:e>
                        <m:e>
                          <m:r>
                            <a:rPr lang="es-ES" sz="2500" i="1">
                              <a:latin typeface="Cambria Math"/>
                            </a:rPr>
                            <m:t>𝐷</m:t>
                          </m:r>
                          <m:r>
                            <a:rPr lang="es-ES" sz="2500" i="1">
                              <a:latin typeface="Cambria Math"/>
                            </a:rPr>
                            <m:t>=0,</m:t>
                          </m:r>
                          <m:r>
                            <a:rPr lang="es-ES" sz="2500" i="1">
                              <a:latin typeface="Cambria Math"/>
                            </a:rPr>
                            <m:t>𝑍</m:t>
                          </m:r>
                          <m:r>
                            <a:rPr lang="es-ES" sz="2500" i="1">
                              <a:latin typeface="Cambria Math"/>
                            </a:rPr>
                            <m:t>=</m:t>
                          </m:r>
                          <m:r>
                            <a:rPr lang="es-ES" sz="2500" i="1">
                              <a:latin typeface="Cambria Math"/>
                            </a:rPr>
                            <m:t>𝑧</m:t>
                          </m:r>
                        </m:e>
                      </m:d>
                      <m:func>
                        <m:funcPr>
                          <m:ctrlPr>
                            <a:rPr lang="es-CO" sz="2500" i="1">
                              <a:latin typeface="Cambria Math"/>
                            </a:rPr>
                          </m:ctrlPr>
                        </m:funcPr>
                        <m:fName>
                          <m:r>
                            <m:rPr>
                              <m:sty m:val="p"/>
                            </m:rPr>
                            <a:rPr lang="es-ES" sz="2500">
                              <a:latin typeface="Cambria Math"/>
                            </a:rPr>
                            <m:t>Pr</m:t>
                          </m:r>
                        </m:fName>
                        <m:e>
                          <m:d>
                            <m:dPr>
                              <m:ctrlPr>
                                <a:rPr lang="es-CO" sz="2500" i="1">
                                  <a:latin typeface="Cambria Math"/>
                                </a:rPr>
                              </m:ctrlPr>
                            </m:dPr>
                            <m:e>
                              <m:r>
                                <a:rPr lang="es-ES" sz="2500" i="1">
                                  <a:latin typeface="Cambria Math"/>
                                </a:rPr>
                                <m:t>𝐷</m:t>
                              </m:r>
                              <m:r>
                                <a:rPr lang="es-ES" sz="2500" i="1">
                                  <a:latin typeface="Cambria Math"/>
                                </a:rPr>
                                <m:t>=0</m:t>
                              </m:r>
                            </m:e>
                            <m:e>
                              <m:r>
                                <a:rPr lang="es-ES" sz="2500" i="1">
                                  <a:latin typeface="Cambria Math"/>
                                </a:rPr>
                                <m:t>𝑍</m:t>
                              </m:r>
                              <m:r>
                                <a:rPr lang="es-ES" sz="2500" i="1">
                                  <a:latin typeface="Cambria Math"/>
                                </a:rPr>
                                <m:t>=</m:t>
                              </m:r>
                              <m:r>
                                <a:rPr lang="es-ES" sz="2500" i="1">
                                  <a:latin typeface="Cambria Math"/>
                                </a:rPr>
                                <m:t>𝑧</m:t>
                              </m:r>
                            </m:e>
                          </m:d>
                        </m:e>
                      </m:func>
                      <m:r>
                        <a:rPr lang="es-ES" sz="2500" i="1">
                          <a:latin typeface="Cambria Math"/>
                        </a:rPr>
                        <m:t>+</m:t>
                      </m:r>
                      <m:r>
                        <a:rPr lang="es-ES" sz="2500" i="1">
                          <a:latin typeface="Cambria Math"/>
                        </a:rPr>
                        <m:t>𝐸</m:t>
                      </m:r>
                      <m:d>
                        <m:dPr>
                          <m:begChr m:val="["/>
                          <m:endChr m:val="]"/>
                          <m:ctrlPr>
                            <a:rPr lang="es-CO" sz="2500" i="1">
                              <a:latin typeface="Cambria Math"/>
                            </a:rPr>
                          </m:ctrlPr>
                        </m:dPr>
                        <m:e>
                          <m:r>
                            <a:rPr lang="es-ES" sz="2500" i="1">
                              <a:latin typeface="Cambria Math"/>
                            </a:rPr>
                            <m:t>𝑌</m:t>
                          </m:r>
                        </m:e>
                        <m:e>
                          <m:r>
                            <a:rPr lang="es-ES" sz="2500" i="1">
                              <a:latin typeface="Cambria Math"/>
                            </a:rPr>
                            <m:t>𝐷</m:t>
                          </m:r>
                          <m:r>
                            <a:rPr lang="es-ES" sz="2500" i="1">
                              <a:latin typeface="Cambria Math"/>
                            </a:rPr>
                            <m:t>=1,</m:t>
                          </m:r>
                          <m:r>
                            <a:rPr lang="es-ES" sz="2500" i="1">
                              <a:latin typeface="Cambria Math"/>
                            </a:rPr>
                            <m:t>𝑍</m:t>
                          </m:r>
                          <m:r>
                            <a:rPr lang="es-ES" sz="2500" i="1">
                              <a:latin typeface="Cambria Math"/>
                            </a:rPr>
                            <m:t>=</m:t>
                          </m:r>
                          <m:r>
                            <a:rPr lang="es-ES" sz="2500" i="1">
                              <a:latin typeface="Cambria Math"/>
                            </a:rPr>
                            <m:t>𝑧</m:t>
                          </m:r>
                        </m:e>
                      </m:d>
                      <m:func>
                        <m:funcPr>
                          <m:ctrlPr>
                            <a:rPr lang="es-CO" sz="2500" i="1">
                              <a:latin typeface="Cambria Math"/>
                            </a:rPr>
                          </m:ctrlPr>
                        </m:funcPr>
                        <m:fName>
                          <m:r>
                            <m:rPr>
                              <m:sty m:val="p"/>
                            </m:rPr>
                            <a:rPr lang="es-ES" sz="2500">
                              <a:latin typeface="Cambria Math"/>
                            </a:rPr>
                            <m:t>Pr</m:t>
                          </m:r>
                        </m:fName>
                        <m:e>
                          <m:d>
                            <m:dPr>
                              <m:ctrlPr>
                                <a:rPr lang="es-CO" sz="2500" i="1">
                                  <a:latin typeface="Cambria Math"/>
                                </a:rPr>
                              </m:ctrlPr>
                            </m:dPr>
                            <m:e>
                              <m:r>
                                <a:rPr lang="es-ES" sz="2500" i="1">
                                  <a:latin typeface="Cambria Math"/>
                                </a:rPr>
                                <m:t>𝐷</m:t>
                              </m:r>
                              <m:r>
                                <a:rPr lang="es-ES" sz="2500" i="1">
                                  <a:latin typeface="Cambria Math"/>
                                </a:rPr>
                                <m:t>=1</m:t>
                              </m:r>
                            </m:e>
                            <m:e>
                              <m:r>
                                <a:rPr lang="es-ES" sz="2500" i="1">
                                  <a:latin typeface="Cambria Math"/>
                                </a:rPr>
                                <m:t>𝑍</m:t>
                              </m:r>
                              <m:r>
                                <a:rPr lang="es-ES" sz="2500" i="1">
                                  <a:latin typeface="Cambria Math"/>
                                </a:rPr>
                                <m:t>=</m:t>
                              </m:r>
                              <m:r>
                                <a:rPr lang="es-ES" sz="2500" i="1">
                                  <a:latin typeface="Cambria Math"/>
                                </a:rPr>
                                <m:t>𝑧</m:t>
                              </m:r>
                            </m:e>
                          </m:d>
                        </m:e>
                      </m:func>
                    </m:oMath>
                  </m:oMathPara>
                </a14:m>
                <a:endParaRPr lang="es-ES" sz="2500" dirty="0" smtClean="0"/>
              </a:p>
            </p:txBody>
          </p:sp>
        </mc:Choice>
        <mc:Fallback>
          <p:sp>
            <p:nvSpPr>
              <p:cNvPr id="11" name="10 Rectángulo"/>
              <p:cNvSpPr>
                <a:spLocks noRot="1" noChangeAspect="1" noMove="1" noResize="1" noEditPoints="1" noAdjustHandles="1" noChangeArrowheads="1" noChangeShapeType="1" noTextEdit="1"/>
              </p:cNvSpPr>
              <p:nvPr/>
            </p:nvSpPr>
            <p:spPr>
              <a:xfrm>
                <a:off x="783843" y="2240688"/>
                <a:ext cx="7729536" cy="3075457"/>
              </a:xfrm>
              <a:prstGeom prst="rect">
                <a:avLst/>
              </a:prstGeom>
              <a:blipFill rotWithShape="1">
                <a:blip r:embed="rId4" cstate="print"/>
                <a:stretch>
                  <a:fillRect l="-1893" t="-2381" r="-2760"/>
                </a:stretch>
              </a:blipFill>
            </p:spPr>
            <p:txBody>
              <a:bodyPr/>
              <a:lstStyle/>
              <a:p>
                <a:r>
                  <a:rPr lang="es-CO">
                    <a:noFill/>
                  </a:rPr>
                  <a:t> </a:t>
                </a:r>
              </a:p>
            </p:txBody>
          </p:sp>
        </mc:Fallback>
      </mc:AlternateContent>
      <p:sp>
        <p:nvSpPr>
          <p:cNvPr id="829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82947" name="Rectangle 3"/>
          <p:cNvSpPr>
            <a:spLocks noChangeArrowheads="1"/>
          </p:cNvSpPr>
          <p:nvPr/>
        </p:nvSpPr>
        <p:spPr bwMode="auto">
          <a:xfrm>
            <a:off x="0" y="1038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CO" sz="17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20</a:t>
            </a:fld>
            <a:endParaRPr lang="es-ES" sz="1500" dirty="0">
              <a:solidFill>
                <a:schemeClr val="tx1">
                  <a:lumMod val="50000"/>
                  <a:lumOff val="50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lnSpcReduction="10000"/>
          </a:bodyPr>
          <a:lstStyle/>
          <a:p>
            <a:pPr algn="just"/>
            <a:endParaRPr lang="es-CO" sz="2500" dirty="0" smtClean="0"/>
          </a:p>
          <a:p>
            <a:r>
              <a:rPr lang="es-CO" sz="2500" dirty="0" smtClean="0">
                <a:solidFill>
                  <a:schemeClr val="accent5">
                    <a:lumMod val="75000"/>
                  </a:schemeClr>
                </a:solidFill>
              </a:rPr>
              <a:t>Se cumple: </a:t>
            </a:r>
            <a:r>
              <a:rPr lang="es-CO" sz="2500" dirty="0" smtClean="0"/>
              <a:t>El supuesto de independencia condicional de emparejamiento de manera trivial en RDN porque, condicional en las características observadas (en especial, </a:t>
            </a:r>
            <a:r>
              <a:rPr lang="es-CO" sz="2500" i="1" dirty="0" smtClean="0"/>
              <a:t>Z</a:t>
            </a:r>
            <a:r>
              <a:rPr lang="es-CO" sz="2500" dirty="0" smtClean="0"/>
              <a:t>), no hay variación en el tratamiento.</a:t>
            </a:r>
            <a:endParaRPr lang="es-CO" sz="2100" dirty="0" smtClean="0"/>
          </a:p>
          <a:p>
            <a:pPr algn="just"/>
            <a:endParaRPr lang="es-CO" sz="1600" dirty="0" smtClean="0"/>
          </a:p>
          <a:p>
            <a:r>
              <a:rPr lang="es-CO" sz="2500" dirty="0" smtClean="0">
                <a:solidFill>
                  <a:schemeClr val="accent5">
                    <a:lumMod val="75000"/>
                  </a:schemeClr>
                </a:solidFill>
              </a:rPr>
              <a:t>Se viola: </a:t>
            </a:r>
            <a:r>
              <a:rPr lang="es-CO" sz="2500" dirty="0" smtClean="0"/>
              <a:t>El soporte común porque no existen valores de </a:t>
            </a:r>
            <a:r>
              <a:rPr lang="es-CO" sz="2500" i="1" dirty="0" smtClean="0"/>
              <a:t>Z </a:t>
            </a:r>
            <a:r>
              <a:rPr lang="es-CO" sz="2500" dirty="0" smtClean="0"/>
              <a:t>para los cuales haya un traslapo de individuos tratados y no tratados. </a:t>
            </a:r>
          </a:p>
          <a:p>
            <a:pPr algn="just"/>
            <a:endParaRPr lang="es-CO" sz="1500" dirty="0"/>
          </a:p>
          <a:p>
            <a:r>
              <a:rPr lang="es-CO" sz="2500" dirty="0" smtClean="0"/>
              <a:t>El supuesto de soporte común reemplaza el supuesto de que los individuos son similares alrededor del umbral. </a:t>
            </a:r>
          </a:p>
        </p:txBody>
      </p:sp>
      <p:sp>
        <p:nvSpPr>
          <p:cNvPr id="4198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41987" name="Rectangle 3"/>
          <p:cNvSpPr>
            <a:spLocks noChangeArrowheads="1"/>
          </p:cNvSpPr>
          <p:nvPr/>
        </p:nvSpPr>
        <p:spPr bwMode="auto">
          <a:xfrm>
            <a:off x="0" y="8382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66950" algn="l"/>
              </a:tabLst>
            </a:pPr>
            <a:endParaRPr kumimoji="0" lang="es-ES" sz="1800" b="0" i="0" u="none" strike="noStrike" cap="none" normalizeH="0" baseline="0" dirty="0" smtClean="0">
              <a:ln>
                <a:noFill/>
              </a:ln>
              <a:solidFill>
                <a:schemeClr val="tx1"/>
              </a:solidFill>
              <a:effectLst/>
              <a:latin typeface="Arial" pitchFamily="34" charset="0"/>
            </a:endParaRPr>
          </a:p>
        </p:txBody>
      </p:sp>
      <p:pic>
        <p:nvPicPr>
          <p:cNvPr id="8"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9" name="1 Título"/>
          <p:cNvSpPr txBox="1">
            <a:spLocks/>
          </p:cNvSpPr>
          <p:nvPr/>
        </p:nvSpPr>
        <p:spPr>
          <a:xfrm>
            <a:off x="2357422" y="214290"/>
            <a:ext cx="6500858" cy="1214446"/>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CO" sz="3800" u="sng" noProof="0" dirty="0" smtClean="0">
                <a:latin typeface="+mj-lt"/>
                <a:ea typeface="+mj-ea"/>
                <a:cs typeface="+mj-cs"/>
              </a:rPr>
              <a:t>Relación con el método de emparejamiento</a:t>
            </a:r>
            <a:endParaRPr kumimoji="0" lang="es-ES" sz="3800" b="0" i="0" u="sng" strike="noStrike" kern="1200" cap="none" spc="0" normalizeH="0" baseline="0" noProof="0" dirty="0">
              <a:ln>
                <a:noFill/>
              </a:ln>
              <a:solidFill>
                <a:schemeClr val="tx1"/>
              </a:solidFill>
              <a:effectLst/>
              <a:uLnTx/>
              <a:uFillTx/>
              <a:latin typeface="+mj-lt"/>
              <a:ea typeface="+mj-ea"/>
              <a:cs typeface="+mj-cs"/>
            </a:endParaRPr>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21</a:t>
            </a:fld>
            <a:endParaRPr lang="es-ES" sz="1500" dirty="0">
              <a:solidFill>
                <a:schemeClr val="tx1">
                  <a:lumMod val="50000"/>
                  <a:lumOff val="50000"/>
                </a:schemeClr>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Supuesto de </a:t>
            </a:r>
            <a:br>
              <a:rPr lang="es-MX" u="sng" dirty="0" smtClean="0"/>
            </a:br>
            <a:r>
              <a:rPr lang="es-MX" u="sng" dirty="0" smtClean="0"/>
              <a:t>continuidad local</a:t>
            </a:r>
            <a:endParaRPr lang="en-US" u="sng"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199" y="1714504"/>
                <a:ext cx="8450317" cy="4525963"/>
              </a:xfrm>
            </p:spPr>
            <p:txBody>
              <a:bodyPr>
                <a:normAutofit lnSpcReduction="10000"/>
              </a:bodyPr>
              <a:lstStyle/>
              <a:p>
                <a:r>
                  <a:rPr lang="es-ES" sz="2500" dirty="0" smtClean="0"/>
                  <a:t>No </a:t>
                </a:r>
                <a:r>
                  <a:rPr lang="es-ES" sz="2500" dirty="0"/>
                  <a:t>existen discontinuidades en la relación entre la variable de </a:t>
                </a:r>
                <a:r>
                  <a:rPr lang="es-ES" sz="2500" dirty="0" smtClean="0"/>
                  <a:t>resultado, </a:t>
                </a:r>
                <a:r>
                  <a:rPr lang="es-ES" sz="2500" i="1" dirty="0" smtClean="0"/>
                  <a:t>Y</a:t>
                </a:r>
                <a:r>
                  <a:rPr lang="es-ES" sz="2500" dirty="0" smtClean="0"/>
                  <a:t>, </a:t>
                </a:r>
                <a:r>
                  <a:rPr lang="es-ES" sz="2500" dirty="0"/>
                  <a:t>y las variables </a:t>
                </a:r>
                <a:r>
                  <a:rPr lang="es-ES" sz="2500" i="1" dirty="0"/>
                  <a:t>X</a:t>
                </a:r>
                <a:r>
                  <a:rPr lang="es-ES" sz="2500" dirty="0"/>
                  <a:t> </a:t>
                </a:r>
                <a:r>
                  <a:rPr lang="es-ES" sz="2500" dirty="0" smtClean="0"/>
                  <a:t>que </a:t>
                </a:r>
                <a:r>
                  <a:rPr lang="es-ES" sz="2500" dirty="0"/>
                  <a:t>la </a:t>
                </a:r>
                <a:r>
                  <a:rPr lang="es-ES" sz="2500" dirty="0" smtClean="0"/>
                  <a:t>determinan en</a:t>
                </a:r>
                <a:r>
                  <a:rPr lang="es-CO" sz="2500" dirty="0" smtClean="0"/>
                  <a:t> </a:t>
                </a:r>
                <a14:m>
                  <m:oMath xmlns:m="http://schemas.openxmlformats.org/officeDocument/2006/math">
                    <m:acc>
                      <m:accPr>
                        <m:chr m:val="̅"/>
                        <m:ctrlPr>
                          <a:rPr lang="es-CO" sz="2500" i="1" dirty="0" smtClean="0">
                            <a:latin typeface="Cambria Math"/>
                          </a:rPr>
                        </m:ctrlPr>
                      </m:accPr>
                      <m:e>
                        <m:r>
                          <a:rPr lang="es-CO" sz="2500" b="0" i="1" dirty="0" smtClean="0">
                            <a:latin typeface="Cambria Math"/>
                          </a:rPr>
                          <m:t>𝑍</m:t>
                        </m:r>
                      </m:e>
                    </m:acc>
                  </m:oMath>
                </a14:m>
                <a:r>
                  <a:rPr lang="es-CO" sz="2500" dirty="0" smtClean="0"/>
                  <a:t>. </a:t>
                </a:r>
                <a:br>
                  <a:rPr lang="es-CO" sz="2500" dirty="0" smtClean="0"/>
                </a:br>
                <a:r>
                  <a:rPr lang="es-CO" sz="2500" i="1" dirty="0" smtClean="0"/>
                  <a:t>X</a:t>
                </a:r>
                <a:r>
                  <a:rPr lang="es-CO" sz="2500" dirty="0" smtClean="0"/>
                  <a:t> puede contener variables observadas y no observadas. Incluso incluye la participación en otros programas diferentes al evaluado</a:t>
                </a:r>
                <a:r>
                  <a:rPr lang="es-CO" sz="2700" dirty="0" smtClean="0"/>
                  <a:t>.</a:t>
                </a:r>
              </a:p>
              <a:p>
                <a:endParaRPr lang="es-CO" sz="1000" dirty="0" smtClean="0"/>
              </a:p>
              <a:p>
                <a:r>
                  <a:rPr lang="es-CO" sz="2500" dirty="0" smtClean="0"/>
                  <a:t>Los </a:t>
                </a:r>
                <a:r>
                  <a:rPr lang="es-CO" sz="2500" dirty="0"/>
                  <a:t>individuos de un lado del umbral son similares a los individuos del otro lado del umbral</a:t>
                </a:r>
                <a:r>
                  <a:rPr lang="es-CO" sz="2500" dirty="0" smtClean="0"/>
                  <a:t>. Formalmente:</a:t>
                </a:r>
              </a:p>
              <a:p>
                <a:endParaRPr lang="es-CO" sz="1000" dirty="0" smtClean="0"/>
              </a:p>
              <a:p>
                <a:pPr marL="0" indent="0">
                  <a:buNone/>
                </a:pPr>
                <a14:m>
                  <m:oMathPara xmlns:m="http://schemas.openxmlformats.org/officeDocument/2006/math">
                    <m:oMathParaPr>
                      <m:jc m:val="centerGroup"/>
                    </m:oMathParaPr>
                    <m:oMath xmlns:m="http://schemas.openxmlformats.org/officeDocument/2006/math">
                      <m:func>
                        <m:funcPr>
                          <m:ctrlPr>
                            <a:rPr lang="es-CO" sz="2500" i="1">
                              <a:latin typeface="Cambria Math"/>
                            </a:rPr>
                          </m:ctrlPr>
                        </m:funcPr>
                        <m:fName>
                          <m:limLow>
                            <m:limLowPr>
                              <m:ctrlPr>
                                <a:rPr lang="es-CO" sz="2500" i="1">
                                  <a:latin typeface="Cambria Math"/>
                                </a:rPr>
                              </m:ctrlPr>
                            </m:limLowPr>
                            <m:e>
                              <m:r>
                                <m:rPr>
                                  <m:sty m:val="p"/>
                                </m:rPr>
                                <a:rPr lang="es-ES" sz="2500">
                                  <a:latin typeface="Cambria Math"/>
                                </a:rPr>
                                <m:t>lim</m:t>
                              </m:r>
                            </m:e>
                            <m:lim>
                              <m:r>
                                <a:rPr lang="es-ES" sz="2500" i="1">
                                  <a:latin typeface="Cambria Math"/>
                                </a:rPr>
                                <m:t>𝑧</m:t>
                              </m:r>
                              <m:r>
                                <a:rPr lang="es-ES" sz="2500" i="1">
                                  <a:latin typeface="Cambria Math"/>
                                </a:rPr>
                                <m:t>↓</m:t>
                              </m:r>
                              <m:acc>
                                <m:accPr>
                                  <m:chr m:val="̅"/>
                                  <m:ctrlPr>
                                    <a:rPr lang="es-CO" sz="2500" i="1">
                                      <a:latin typeface="Cambria Math"/>
                                    </a:rPr>
                                  </m:ctrlPr>
                                </m:accPr>
                                <m:e>
                                  <m:r>
                                    <a:rPr lang="es-ES" sz="2500" i="1">
                                      <a:latin typeface="Cambria Math"/>
                                    </a:rPr>
                                    <m:t>𝑍</m:t>
                                  </m:r>
                                </m:e>
                              </m:acc>
                            </m:lim>
                          </m:limLow>
                        </m:fName>
                        <m:e>
                          <m:r>
                            <a:rPr lang="es-ES" sz="2500" i="1">
                              <a:latin typeface="Cambria Math"/>
                            </a:rPr>
                            <m:t>𝐸</m:t>
                          </m:r>
                          <m:d>
                            <m:dPr>
                              <m:begChr m:val="["/>
                              <m:endChr m:val="]"/>
                              <m:ctrlPr>
                                <a:rPr lang="es-CO" sz="2500" i="1">
                                  <a:latin typeface="Cambria Math"/>
                                </a:rPr>
                              </m:ctrlPr>
                            </m:dPr>
                            <m:e>
                              <m:r>
                                <a:rPr lang="es-ES" sz="2500" i="1">
                                  <a:latin typeface="Cambria Math"/>
                                </a:rPr>
                                <m:t>𝑌</m:t>
                              </m:r>
                              <m:d>
                                <m:dPr>
                                  <m:ctrlPr>
                                    <a:rPr lang="es-CO" sz="2500" i="1">
                                      <a:latin typeface="Cambria Math"/>
                                    </a:rPr>
                                  </m:ctrlPr>
                                </m:dPr>
                                <m:e>
                                  <m:r>
                                    <a:rPr lang="es-ES" sz="2500" i="1">
                                      <a:latin typeface="Cambria Math"/>
                                    </a:rPr>
                                    <m:t>0</m:t>
                                  </m:r>
                                </m:e>
                              </m:d>
                              <m:r>
                                <a:rPr lang="es-ES" sz="2500" i="1">
                                  <a:latin typeface="Cambria Math"/>
                                </a:rPr>
                                <m:t>|</m:t>
                              </m:r>
                              <m:r>
                                <a:rPr lang="es-ES" sz="2500" i="1">
                                  <a:latin typeface="Cambria Math"/>
                                </a:rPr>
                                <m:t>𝑍</m:t>
                              </m:r>
                              <m:r>
                                <a:rPr lang="es-ES" sz="2500" i="1">
                                  <a:latin typeface="Cambria Math"/>
                                </a:rPr>
                                <m:t>=</m:t>
                              </m:r>
                              <m:r>
                                <a:rPr lang="es-ES" sz="2500" i="1">
                                  <a:latin typeface="Cambria Math"/>
                                </a:rPr>
                                <m:t>𝑧</m:t>
                              </m:r>
                            </m:e>
                          </m:d>
                          <m:r>
                            <a:rPr lang="es-ES" sz="2500" i="1">
                              <a:latin typeface="Cambria Math"/>
                            </a:rPr>
                            <m:t>=</m:t>
                          </m:r>
                        </m:e>
                      </m:func>
                      <m:limLow>
                        <m:limLowPr>
                          <m:ctrlPr>
                            <a:rPr lang="es-CO" sz="2500" i="1">
                              <a:latin typeface="Cambria Math"/>
                            </a:rPr>
                          </m:ctrlPr>
                        </m:limLowPr>
                        <m:e>
                          <m:r>
                            <m:rPr>
                              <m:sty m:val="p"/>
                            </m:rPr>
                            <a:rPr lang="es-ES" sz="2500">
                              <a:latin typeface="Cambria Math"/>
                            </a:rPr>
                            <m:t>lim</m:t>
                          </m:r>
                          <m:r>
                            <a:rPr lang="es-ES" sz="2500" i="1">
                              <a:latin typeface="Cambria Math"/>
                            </a:rPr>
                            <m:t>𝐸</m:t>
                          </m:r>
                          <m:d>
                            <m:dPr>
                              <m:begChr m:val="["/>
                              <m:endChr m:val="]"/>
                              <m:ctrlPr>
                                <a:rPr lang="es-CO" sz="2500" i="1">
                                  <a:latin typeface="Cambria Math"/>
                                </a:rPr>
                              </m:ctrlPr>
                            </m:dPr>
                            <m:e>
                              <m:r>
                                <a:rPr lang="es-ES" sz="2500" i="1">
                                  <a:latin typeface="Cambria Math"/>
                                </a:rPr>
                                <m:t>𝑌</m:t>
                              </m:r>
                              <m:d>
                                <m:dPr>
                                  <m:ctrlPr>
                                    <a:rPr lang="es-CO" sz="2500" i="1">
                                      <a:latin typeface="Cambria Math"/>
                                    </a:rPr>
                                  </m:ctrlPr>
                                </m:dPr>
                                <m:e>
                                  <m:r>
                                    <a:rPr lang="es-ES" sz="2500" i="1">
                                      <a:latin typeface="Cambria Math"/>
                                    </a:rPr>
                                    <m:t>0</m:t>
                                  </m:r>
                                </m:e>
                              </m:d>
                              <m:r>
                                <a:rPr lang="es-ES" sz="2500" i="1">
                                  <a:latin typeface="Cambria Math"/>
                                </a:rPr>
                                <m:t>|</m:t>
                              </m:r>
                              <m:r>
                                <a:rPr lang="es-ES" sz="2500" i="1">
                                  <a:latin typeface="Cambria Math"/>
                                </a:rPr>
                                <m:t>𝑍</m:t>
                              </m:r>
                              <m:r>
                                <a:rPr lang="es-ES" sz="2500" i="1">
                                  <a:latin typeface="Cambria Math"/>
                                </a:rPr>
                                <m:t>=</m:t>
                              </m:r>
                              <m:r>
                                <a:rPr lang="es-ES" sz="2500" i="1">
                                  <a:latin typeface="Cambria Math"/>
                                </a:rPr>
                                <m:t>𝑧</m:t>
                              </m:r>
                            </m:e>
                          </m:d>
                        </m:e>
                        <m:lim>
                          <m:r>
                            <a:rPr lang="es-ES" sz="2500" i="1">
                              <a:latin typeface="Cambria Math"/>
                            </a:rPr>
                            <m:t>𝑧</m:t>
                          </m:r>
                          <m:r>
                            <a:rPr lang="es-ES" sz="2500" i="1">
                              <a:latin typeface="Cambria Math"/>
                            </a:rPr>
                            <m:t>↑</m:t>
                          </m:r>
                          <m:acc>
                            <m:accPr>
                              <m:chr m:val="̅"/>
                              <m:ctrlPr>
                                <a:rPr lang="es-CO" sz="2500" i="1">
                                  <a:latin typeface="Cambria Math"/>
                                </a:rPr>
                              </m:ctrlPr>
                            </m:accPr>
                            <m:e>
                              <m:r>
                                <a:rPr lang="es-ES" sz="2500" i="1">
                                  <a:latin typeface="Cambria Math"/>
                                </a:rPr>
                                <m:t>𝑍</m:t>
                              </m:r>
                            </m:e>
                          </m:acc>
                        </m:lim>
                      </m:limLow>
                    </m:oMath>
                  </m:oMathPara>
                </a14:m>
                <a:endParaRPr lang="es-CO" sz="2500" dirty="0" smtClean="0"/>
              </a:p>
              <a:p>
                <a:pPr marL="0" indent="0">
                  <a:buNone/>
                </a:pPr>
                <a:endParaRPr lang="es-CO" sz="1000" dirty="0" smtClean="0"/>
              </a:p>
              <a:p>
                <a:pPr marL="0" indent="0">
                  <a:buNone/>
                </a:pPr>
                <a14:m>
                  <m:oMathPara xmlns:m="http://schemas.openxmlformats.org/officeDocument/2006/math">
                    <m:oMathParaPr>
                      <m:jc m:val="centerGroup"/>
                    </m:oMathParaPr>
                    <m:oMath xmlns:m="http://schemas.openxmlformats.org/officeDocument/2006/math">
                      <m:func>
                        <m:funcPr>
                          <m:ctrlPr>
                            <a:rPr lang="es-CO" sz="2500" i="1">
                              <a:latin typeface="Cambria Math"/>
                            </a:rPr>
                          </m:ctrlPr>
                        </m:funcPr>
                        <m:fName>
                          <m:limLow>
                            <m:limLowPr>
                              <m:ctrlPr>
                                <a:rPr lang="es-CO" sz="2500" i="1">
                                  <a:latin typeface="Cambria Math"/>
                                </a:rPr>
                              </m:ctrlPr>
                            </m:limLowPr>
                            <m:e>
                              <m:r>
                                <m:rPr>
                                  <m:sty m:val="p"/>
                                </m:rPr>
                                <a:rPr lang="es-ES" sz="2500">
                                  <a:latin typeface="Cambria Math"/>
                                </a:rPr>
                                <m:t>lim</m:t>
                              </m:r>
                            </m:e>
                            <m:lim>
                              <m:r>
                                <a:rPr lang="es-ES" sz="2500" i="1">
                                  <a:latin typeface="Cambria Math"/>
                                </a:rPr>
                                <m:t>𝑧</m:t>
                              </m:r>
                              <m:r>
                                <a:rPr lang="es-ES" sz="2500" i="1">
                                  <a:latin typeface="Cambria Math"/>
                                </a:rPr>
                                <m:t>↓</m:t>
                              </m:r>
                              <m:acc>
                                <m:accPr>
                                  <m:chr m:val="̅"/>
                                  <m:ctrlPr>
                                    <a:rPr lang="es-CO" sz="2500" i="1">
                                      <a:latin typeface="Cambria Math"/>
                                    </a:rPr>
                                  </m:ctrlPr>
                                </m:accPr>
                                <m:e>
                                  <m:r>
                                    <a:rPr lang="es-ES" sz="2500" i="1">
                                      <a:latin typeface="Cambria Math"/>
                                    </a:rPr>
                                    <m:t>𝑍</m:t>
                                  </m:r>
                                </m:e>
                              </m:acc>
                            </m:lim>
                          </m:limLow>
                        </m:fName>
                        <m:e>
                          <m:r>
                            <a:rPr lang="es-ES" sz="2500" i="1">
                              <a:latin typeface="Cambria Math"/>
                            </a:rPr>
                            <m:t>𝐸</m:t>
                          </m:r>
                          <m:d>
                            <m:dPr>
                              <m:begChr m:val="["/>
                              <m:endChr m:val="]"/>
                              <m:ctrlPr>
                                <a:rPr lang="es-CO" sz="2500" i="1">
                                  <a:latin typeface="Cambria Math"/>
                                </a:rPr>
                              </m:ctrlPr>
                            </m:dPr>
                            <m:e>
                              <m:r>
                                <a:rPr lang="es-ES" sz="2500" i="1">
                                  <a:latin typeface="Cambria Math"/>
                                </a:rPr>
                                <m:t>𝑌</m:t>
                              </m:r>
                              <m:d>
                                <m:dPr>
                                  <m:ctrlPr>
                                    <a:rPr lang="es-CO" sz="2500" i="1">
                                      <a:latin typeface="Cambria Math"/>
                                    </a:rPr>
                                  </m:ctrlPr>
                                </m:dPr>
                                <m:e>
                                  <m:r>
                                    <a:rPr lang="es-ES" sz="2500" i="1">
                                      <a:latin typeface="Cambria Math"/>
                                    </a:rPr>
                                    <m:t>1</m:t>
                                  </m:r>
                                </m:e>
                              </m:d>
                              <m:r>
                                <a:rPr lang="es-ES" sz="2500" i="1">
                                  <a:latin typeface="Cambria Math"/>
                                </a:rPr>
                                <m:t>|</m:t>
                              </m:r>
                              <m:r>
                                <a:rPr lang="es-ES" sz="2500" i="1">
                                  <a:latin typeface="Cambria Math"/>
                                </a:rPr>
                                <m:t>𝑍</m:t>
                              </m:r>
                              <m:r>
                                <a:rPr lang="es-ES" sz="2500" i="1">
                                  <a:latin typeface="Cambria Math"/>
                                </a:rPr>
                                <m:t>=</m:t>
                              </m:r>
                              <m:r>
                                <a:rPr lang="es-ES" sz="2500" i="1">
                                  <a:latin typeface="Cambria Math"/>
                                </a:rPr>
                                <m:t>𝑧</m:t>
                              </m:r>
                            </m:e>
                          </m:d>
                          <m:r>
                            <a:rPr lang="es-ES" sz="2500" i="1">
                              <a:latin typeface="Cambria Math"/>
                            </a:rPr>
                            <m:t>=</m:t>
                          </m:r>
                        </m:e>
                      </m:func>
                      <m:limLow>
                        <m:limLowPr>
                          <m:ctrlPr>
                            <a:rPr lang="es-CO" sz="2500" i="1">
                              <a:latin typeface="Cambria Math"/>
                            </a:rPr>
                          </m:ctrlPr>
                        </m:limLowPr>
                        <m:e>
                          <m:r>
                            <m:rPr>
                              <m:sty m:val="p"/>
                            </m:rPr>
                            <a:rPr lang="es-ES" sz="2500">
                              <a:latin typeface="Cambria Math"/>
                            </a:rPr>
                            <m:t>lim</m:t>
                          </m:r>
                          <m:r>
                            <a:rPr lang="es-ES" sz="2500" i="1">
                              <a:latin typeface="Cambria Math"/>
                            </a:rPr>
                            <m:t>𝐸</m:t>
                          </m:r>
                          <m:d>
                            <m:dPr>
                              <m:begChr m:val="["/>
                              <m:endChr m:val="]"/>
                              <m:ctrlPr>
                                <a:rPr lang="es-CO" sz="2500" i="1">
                                  <a:latin typeface="Cambria Math"/>
                                </a:rPr>
                              </m:ctrlPr>
                            </m:dPr>
                            <m:e>
                              <m:r>
                                <a:rPr lang="es-ES" sz="2500" i="1">
                                  <a:latin typeface="Cambria Math"/>
                                </a:rPr>
                                <m:t>𝑌</m:t>
                              </m:r>
                              <m:d>
                                <m:dPr>
                                  <m:ctrlPr>
                                    <a:rPr lang="es-CO" sz="2500" i="1">
                                      <a:latin typeface="Cambria Math"/>
                                    </a:rPr>
                                  </m:ctrlPr>
                                </m:dPr>
                                <m:e>
                                  <m:r>
                                    <a:rPr lang="es-ES" sz="2500" i="1">
                                      <a:latin typeface="Cambria Math"/>
                                    </a:rPr>
                                    <m:t>1</m:t>
                                  </m:r>
                                </m:e>
                              </m:d>
                              <m:r>
                                <a:rPr lang="es-ES" sz="2500" i="1">
                                  <a:latin typeface="Cambria Math"/>
                                </a:rPr>
                                <m:t>|</m:t>
                              </m:r>
                              <m:r>
                                <a:rPr lang="es-ES" sz="2500" i="1">
                                  <a:latin typeface="Cambria Math"/>
                                </a:rPr>
                                <m:t>𝑍</m:t>
                              </m:r>
                              <m:r>
                                <a:rPr lang="es-ES" sz="2500" i="1">
                                  <a:latin typeface="Cambria Math"/>
                                </a:rPr>
                                <m:t>=</m:t>
                              </m:r>
                              <m:r>
                                <a:rPr lang="es-ES" sz="2500" i="1">
                                  <a:latin typeface="Cambria Math"/>
                                </a:rPr>
                                <m:t>𝑧</m:t>
                              </m:r>
                            </m:e>
                          </m:d>
                        </m:e>
                        <m:lim>
                          <m:r>
                            <a:rPr lang="es-ES" sz="2500" i="1">
                              <a:latin typeface="Cambria Math"/>
                            </a:rPr>
                            <m:t>𝑧</m:t>
                          </m:r>
                          <m:r>
                            <a:rPr lang="es-ES" sz="2500" i="1">
                              <a:latin typeface="Cambria Math"/>
                            </a:rPr>
                            <m:t>↑</m:t>
                          </m:r>
                          <m:acc>
                            <m:accPr>
                              <m:chr m:val="̅"/>
                              <m:ctrlPr>
                                <a:rPr lang="es-CO" sz="2500" i="1">
                                  <a:latin typeface="Cambria Math"/>
                                </a:rPr>
                              </m:ctrlPr>
                            </m:accPr>
                            <m:e>
                              <m:r>
                                <a:rPr lang="es-ES" sz="2500" i="1">
                                  <a:latin typeface="Cambria Math"/>
                                </a:rPr>
                                <m:t>𝑍</m:t>
                              </m:r>
                            </m:e>
                          </m:acc>
                        </m:lim>
                      </m:limLow>
                    </m:oMath>
                  </m:oMathPara>
                </a14:m>
                <a:endParaRPr lang="es-CO" sz="2500" dirty="0"/>
              </a:p>
              <a:p>
                <a:pPr marL="0" indent="0">
                  <a:buNone/>
                </a:pPr>
                <a:endParaRPr lang="es-CO" sz="2500" dirty="0"/>
              </a:p>
              <a:p>
                <a:endParaRPr lang="en-US" sz="2500" dirty="0" smtClean="0"/>
              </a:p>
              <a:p>
                <a:endParaRPr lang="en-US" sz="2500" dirty="0"/>
              </a:p>
              <a:p>
                <a:pPr algn="r"/>
                <a:endParaRPr lang="en-US"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199" y="1714504"/>
                <a:ext cx="8450317" cy="4525963"/>
              </a:xfrm>
              <a:blipFill rotWithShape="1">
                <a:blip r:embed="rId3" cstate="print"/>
                <a:stretch>
                  <a:fillRect l="-1010" t="-1750" r="-1732"/>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53603"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3604" name="Rectangle 4"/>
          <p:cNvSpPr>
            <a:spLocks noChangeArrowheads="1"/>
          </p:cNvSpPr>
          <p:nvPr/>
        </p:nvSpPr>
        <p:spPr bwMode="auto">
          <a:xfrm>
            <a:off x="0" y="9144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3605" name="Rectangle 5"/>
          <p:cNvSpPr>
            <a:spLocks noChangeArrowheads="1"/>
          </p:cNvSpPr>
          <p:nvPr/>
        </p:nvSpPr>
        <p:spPr bwMode="auto">
          <a:xfrm>
            <a:off x="0" y="1828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22</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92400" cy="1131910"/>
          </a:xfrm>
        </p:spPr>
        <p:txBody>
          <a:bodyPr>
            <a:normAutofit fontScale="90000"/>
          </a:bodyPr>
          <a:lstStyle/>
          <a:p>
            <a:r>
              <a:rPr lang="es-MX" u="sng" dirty="0" smtClean="0"/>
              <a:t>Regresión discontinua nítida: Análisis gráfico </a:t>
            </a:r>
            <a:endParaRPr lang="en-US" u="sng" dirty="0"/>
          </a:p>
        </p:txBody>
      </p:sp>
      <p:sp>
        <p:nvSpPr>
          <p:cNvPr id="10" name="9 Marcador de contenido"/>
          <p:cNvSpPr>
            <a:spLocks noGrp="1"/>
          </p:cNvSpPr>
          <p:nvPr>
            <p:ph idx="1"/>
          </p:nvPr>
        </p:nvSpPr>
        <p:spPr>
          <a:xfrm>
            <a:off x="457200" y="1771650"/>
            <a:ext cx="8229600" cy="4354513"/>
          </a:xfrm>
        </p:spPr>
        <p:txBody>
          <a:bodyPr>
            <a:normAutofit fontScale="85000" lnSpcReduction="20000"/>
          </a:bodyPr>
          <a:lstStyle/>
          <a:p>
            <a:endParaRPr lang="es-MX" dirty="0" smtClean="0"/>
          </a:p>
          <a:p>
            <a:r>
              <a:rPr lang="es-MX" dirty="0" smtClean="0"/>
              <a:t>El análisis gráfico es un componente central al hacer una evaluación a través del método de regresión discontinua. </a:t>
            </a:r>
          </a:p>
          <a:p>
            <a:endParaRPr lang="es-MX" dirty="0"/>
          </a:p>
          <a:p>
            <a:r>
              <a:rPr lang="es-MX" dirty="0" smtClean="0">
                <a:solidFill>
                  <a:schemeClr val="accent5">
                    <a:lumMod val="75000"/>
                  </a:schemeClr>
                </a:solidFill>
              </a:rPr>
              <a:t>Es importante observar: </a:t>
            </a:r>
          </a:p>
          <a:p>
            <a:pPr lvl="1"/>
            <a:r>
              <a:rPr lang="es-MX" dirty="0" smtClean="0"/>
              <a:t>El impacto del programa alrededor del umbral o puntaje de corte. </a:t>
            </a:r>
          </a:p>
          <a:p>
            <a:pPr lvl="1"/>
            <a:r>
              <a:rPr lang="es-MX" dirty="0" smtClean="0"/>
              <a:t>Variables observables como función del instrumento de focalización que deben ser continuas localmente.</a:t>
            </a:r>
          </a:p>
          <a:p>
            <a:pPr lvl="1"/>
            <a:r>
              <a:rPr lang="es-MX" dirty="0" smtClean="0"/>
              <a:t>Densidad del instrumento de focalización </a:t>
            </a:r>
            <a:r>
              <a:rPr lang="es-MX" i="1" dirty="0" smtClean="0">
                <a:latin typeface="Times New Roman" pitchFamily="18" charset="0"/>
                <a:cs typeface="Times New Roman" pitchFamily="18" charset="0"/>
              </a:rPr>
              <a:t>Z</a:t>
            </a:r>
            <a:r>
              <a:rPr lang="es-MX" dirty="0" smtClean="0"/>
              <a:t>. </a:t>
            </a:r>
          </a:p>
          <a:p>
            <a:pPr lvl="1"/>
            <a:endParaRPr lang="es-MX" dirty="0" smtClean="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1" y="6534859"/>
            <a:ext cx="9144001"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23</a:t>
            </a:fld>
            <a:endParaRPr lang="es-ES" sz="1500" dirty="0">
              <a:solidFill>
                <a:schemeClr val="tx1">
                  <a:lumMod val="50000"/>
                  <a:lumOff val="50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414588" y="257175"/>
            <a:ext cx="6272212" cy="1160463"/>
          </a:xfrm>
        </p:spPr>
        <p:txBody>
          <a:bodyPr>
            <a:noAutofit/>
          </a:bodyPr>
          <a:lstStyle/>
          <a:p>
            <a:r>
              <a:rPr lang="es-MX" sz="3600" u="sng" dirty="0" smtClean="0"/>
              <a:t>Análisis gráfico:</a:t>
            </a:r>
            <a:br>
              <a:rPr lang="es-MX" sz="3600" u="sng" dirty="0" smtClean="0"/>
            </a:br>
            <a:r>
              <a:rPr lang="es-MX" sz="3600" u="sng" dirty="0" smtClean="0"/>
              <a:t>Supuesto de continuidad local: </a:t>
            </a:r>
            <a:r>
              <a:rPr lang="es-MX" sz="2600" dirty="0" smtClean="0"/>
              <a:t>Saltos en variables observables en el umbral </a:t>
            </a:r>
            <a:endParaRPr lang="en-US" sz="2600" dirty="0"/>
          </a:p>
        </p:txBody>
      </p:sp>
      <p:sp>
        <p:nvSpPr>
          <p:cNvPr id="8" name="7 Marcador de texto"/>
          <p:cNvSpPr>
            <a:spLocks noGrp="1"/>
          </p:cNvSpPr>
          <p:nvPr>
            <p:ph type="body" idx="1"/>
          </p:nvPr>
        </p:nvSpPr>
        <p:spPr>
          <a:xfrm>
            <a:off x="457200" y="1440517"/>
            <a:ext cx="4040188" cy="639762"/>
          </a:xfrm>
        </p:spPr>
        <p:txBody>
          <a:bodyPr/>
          <a:lstStyle/>
          <a:p>
            <a:pPr algn="ctr"/>
            <a:r>
              <a:rPr lang="es-MX" dirty="0" smtClean="0"/>
              <a:t>Panel a. Continuidad</a:t>
            </a:r>
            <a:endParaRPr lang="en-US" dirty="0"/>
          </a:p>
        </p:txBody>
      </p:sp>
      <p:pic>
        <p:nvPicPr>
          <p:cNvPr id="150529" name="Picture 1"/>
          <p:cNvPicPr>
            <a:picLocks noGrp="1" noChangeAspect="1" noChangeArrowheads="1"/>
          </p:cNvPicPr>
          <p:nvPr>
            <p:ph sz="half" idx="2"/>
          </p:nvPr>
        </p:nvPicPr>
        <p:blipFill>
          <a:blip r:embed="rId3" cstate="print"/>
          <a:srcRect r="2246"/>
          <a:stretch>
            <a:fillRect/>
          </a:stretch>
        </p:blipFill>
        <p:spPr bwMode="auto">
          <a:xfrm>
            <a:off x="148430" y="2238983"/>
            <a:ext cx="4352131" cy="2929716"/>
          </a:xfrm>
          <a:prstGeom prst="rect">
            <a:avLst/>
          </a:prstGeom>
          <a:noFill/>
          <a:ln w="9525">
            <a:noFill/>
            <a:miter lim="800000"/>
            <a:headEnd/>
            <a:tailEnd/>
          </a:ln>
          <a:effectLst/>
        </p:spPr>
      </p:pic>
      <p:sp>
        <p:nvSpPr>
          <p:cNvPr id="10" name="9 Marcador de texto"/>
          <p:cNvSpPr>
            <a:spLocks noGrp="1"/>
          </p:cNvSpPr>
          <p:nvPr>
            <p:ph type="body" sz="quarter" idx="3"/>
          </p:nvPr>
        </p:nvSpPr>
        <p:spPr>
          <a:xfrm>
            <a:off x="4645025" y="1393219"/>
            <a:ext cx="4041775" cy="639762"/>
          </a:xfrm>
        </p:spPr>
        <p:txBody>
          <a:bodyPr/>
          <a:lstStyle/>
          <a:p>
            <a:pPr algn="ctr"/>
            <a:r>
              <a:rPr lang="es-MX" dirty="0" smtClean="0"/>
              <a:t>Panel b. Discontinuidad</a:t>
            </a:r>
            <a:endParaRPr lang="en-US" dirty="0" smtClean="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pic>
        <p:nvPicPr>
          <p:cNvPr id="150531" name="Picture 3"/>
          <p:cNvPicPr>
            <a:picLocks noGrp="1" noChangeAspect="1" noChangeArrowheads="1"/>
          </p:cNvPicPr>
          <p:nvPr>
            <p:ph sz="quarter" idx="4"/>
          </p:nvPr>
        </p:nvPicPr>
        <p:blipFill>
          <a:blip r:embed="rId5" cstate="print"/>
          <a:srcRect/>
          <a:stretch>
            <a:fillRect/>
          </a:stretch>
        </p:blipFill>
        <p:spPr bwMode="auto">
          <a:xfrm>
            <a:off x="4493417" y="2227963"/>
            <a:ext cx="4336257" cy="2932347"/>
          </a:xfrm>
          <a:prstGeom prst="rect">
            <a:avLst/>
          </a:prstGeom>
          <a:noFill/>
          <a:ln w="9525">
            <a:noFill/>
            <a:miter lim="800000"/>
            <a:headEnd/>
            <a:tailEnd/>
          </a:ln>
          <a:effectLst/>
        </p:spPr>
      </p:pic>
      <mc:AlternateContent xmlns:mc="http://schemas.openxmlformats.org/markup-compatibility/2006">
        <mc:Choice xmlns:a14="http://schemas.microsoft.com/office/drawing/2010/main" xmlns="" Requires="a14">
          <p:sp>
            <p:nvSpPr>
              <p:cNvPr id="14" name="13 CuadroTexto"/>
              <p:cNvSpPr txBox="1"/>
              <p:nvPr/>
            </p:nvSpPr>
            <p:spPr>
              <a:xfrm>
                <a:off x="504497" y="5230095"/>
                <a:ext cx="8434551" cy="1384995"/>
              </a:xfrm>
              <a:prstGeom prst="rect">
                <a:avLst/>
              </a:prstGeom>
              <a:noFill/>
            </p:spPr>
            <p:txBody>
              <a:bodyPr wrap="square" rtlCol="0">
                <a:spAutoFit/>
              </a:bodyPr>
              <a:lstStyle/>
              <a:p>
                <a:r>
                  <a:rPr lang="es-MX" sz="2100" dirty="0" smtClean="0"/>
                  <a:t>El investigador debe proveer evidencia estadística que muestre que no hay saltos en las variables observadas alrededor del umbral </a:t>
                </a:r>
                <a14:m>
                  <m:oMath xmlns:m="http://schemas.openxmlformats.org/officeDocument/2006/math">
                    <m:acc>
                      <m:accPr>
                        <m:chr m:val="̅"/>
                        <m:ctrlPr>
                          <a:rPr lang="es-MX" sz="2100" i="1">
                            <a:latin typeface="Cambria Math"/>
                          </a:rPr>
                        </m:ctrlPr>
                      </m:accPr>
                      <m:e>
                        <m:sSub>
                          <m:sSubPr>
                            <m:ctrlPr>
                              <a:rPr lang="es-CO" sz="2100" i="1">
                                <a:latin typeface="Cambria Math"/>
                              </a:rPr>
                            </m:ctrlPr>
                          </m:sSubPr>
                          <m:e>
                            <m:r>
                              <a:rPr lang="es-CO" sz="2100" i="1">
                                <a:latin typeface="Cambria Math"/>
                              </a:rPr>
                              <m:t>𝑍</m:t>
                            </m:r>
                          </m:e>
                          <m:sub>
                            <m:r>
                              <a:rPr lang="es-CO" sz="2100" i="1">
                                <a:latin typeface="Cambria Math"/>
                              </a:rPr>
                              <m:t>𝑖</m:t>
                            </m:r>
                          </m:sub>
                        </m:sSub>
                      </m:e>
                    </m:acc>
                  </m:oMath>
                </a14:m>
                <a:r>
                  <a:rPr lang="es-MX" sz="2100" dirty="0" smtClean="0"/>
                  <a:t>; por lo tanto, es es válido asumir que el grupo a la izquierda del umbral es comparable con el grupo a la derecha del umbral.</a:t>
                </a:r>
                <a:endParaRPr lang="en-US" sz="2100" dirty="0"/>
              </a:p>
            </p:txBody>
          </p:sp>
        </mc:Choice>
        <mc:Fallback>
          <p:sp>
            <p:nvSpPr>
              <p:cNvPr id="14" name="13 CuadroTexto"/>
              <p:cNvSpPr txBox="1">
                <a:spLocks noRot="1" noChangeAspect="1" noMove="1" noResize="1" noEditPoints="1" noAdjustHandles="1" noChangeArrowheads="1" noChangeShapeType="1" noTextEdit="1"/>
              </p:cNvSpPr>
              <p:nvPr/>
            </p:nvSpPr>
            <p:spPr>
              <a:xfrm>
                <a:off x="504497" y="5230095"/>
                <a:ext cx="8434551" cy="1384995"/>
              </a:xfrm>
              <a:prstGeom prst="rect">
                <a:avLst/>
              </a:prstGeom>
              <a:blipFill rotWithShape="1">
                <a:blip r:embed="rId6" cstate="print"/>
                <a:stretch>
                  <a:fillRect l="-868" t="-2643" r="-1446" b="-7489"/>
                </a:stretch>
              </a:blipFill>
            </p:spPr>
            <p:txBody>
              <a:bodyPr/>
              <a:lstStyle/>
              <a:p>
                <a:r>
                  <a:rPr lang="es-CO">
                    <a:noFill/>
                  </a:rPr>
                  <a:t> </a:t>
                </a:r>
              </a:p>
            </p:txBody>
          </p:sp>
        </mc:Fallback>
      </mc:AlternateContent>
      <p:sp>
        <p:nvSpPr>
          <p:cNvPr id="7577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75779"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12 CuadroTexto"/>
          <p:cNvSpPr txBox="1"/>
          <p:nvPr/>
        </p:nvSpPr>
        <p:spPr>
          <a:xfrm rot="16200000">
            <a:off x="-599092" y="3499946"/>
            <a:ext cx="1800493" cy="323165"/>
          </a:xfrm>
          <a:prstGeom prst="rect">
            <a:avLst/>
          </a:prstGeom>
          <a:noFill/>
        </p:spPr>
        <p:txBody>
          <a:bodyPr wrap="none" rtlCol="0">
            <a:spAutoFit/>
          </a:bodyPr>
          <a:lstStyle/>
          <a:p>
            <a:r>
              <a:rPr lang="es-CO" sz="1500" dirty="0" smtClean="0"/>
              <a:t>variable observada X</a:t>
            </a:r>
            <a:endParaRPr lang="es-CO" sz="1500" dirty="0"/>
          </a:p>
        </p:txBody>
      </p:sp>
      <p:sp>
        <p:nvSpPr>
          <p:cNvPr id="15" name="14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24</a:t>
            </a:fld>
            <a:endParaRPr lang="es-ES" sz="1500" dirty="0">
              <a:solidFill>
                <a:schemeClr val="tx1">
                  <a:lumMod val="50000"/>
                  <a:lumOff val="5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1750" y="271463"/>
            <a:ext cx="6115050" cy="1146175"/>
          </a:xfrm>
        </p:spPr>
        <p:txBody>
          <a:bodyPr>
            <a:noAutofit/>
          </a:bodyPr>
          <a:lstStyle/>
          <a:p>
            <a:r>
              <a:rPr lang="es-MX" sz="3600" u="sng" dirty="0" smtClean="0"/>
              <a:t>Análisis gráfico: </a:t>
            </a:r>
            <a:br>
              <a:rPr lang="es-MX" sz="3600" u="sng" dirty="0" smtClean="0"/>
            </a:br>
            <a:r>
              <a:rPr lang="es-MX" sz="3600" u="sng" dirty="0" smtClean="0"/>
              <a:t>Supuesto de no manipulación</a:t>
            </a:r>
            <a:br>
              <a:rPr lang="es-MX" sz="3600" u="sng" dirty="0" smtClean="0"/>
            </a:br>
            <a:r>
              <a:rPr lang="es-MX" sz="2500" dirty="0" smtClean="0"/>
              <a:t>Densidad del instrumento de focalización Z</a:t>
            </a:r>
            <a:endParaRPr lang="en-US" sz="2500" dirty="0"/>
          </a:p>
        </p:txBody>
      </p:sp>
      <p:sp>
        <p:nvSpPr>
          <p:cNvPr id="10" name="9 Marcador de texto"/>
          <p:cNvSpPr>
            <a:spLocks noGrp="1"/>
          </p:cNvSpPr>
          <p:nvPr>
            <p:ph type="body" idx="1"/>
          </p:nvPr>
        </p:nvSpPr>
        <p:spPr>
          <a:xfrm>
            <a:off x="342896" y="1377453"/>
            <a:ext cx="4040188" cy="639762"/>
          </a:xfrm>
        </p:spPr>
        <p:txBody>
          <a:bodyPr/>
          <a:lstStyle/>
          <a:p>
            <a:pPr algn="ctr"/>
            <a:r>
              <a:rPr lang="es-MX" dirty="0" smtClean="0"/>
              <a:t>Caso de no manipulación</a:t>
            </a:r>
            <a:endParaRPr lang="en-US" dirty="0" smtClean="0"/>
          </a:p>
        </p:txBody>
      </p:sp>
      <p:pic>
        <p:nvPicPr>
          <p:cNvPr id="148481" name="Picture 1"/>
          <p:cNvPicPr>
            <a:picLocks noGrp="1" noChangeAspect="1" noChangeArrowheads="1"/>
          </p:cNvPicPr>
          <p:nvPr>
            <p:ph sz="half" idx="2"/>
          </p:nvPr>
        </p:nvPicPr>
        <p:blipFill>
          <a:blip r:embed="rId2" cstate="print"/>
          <a:stretch>
            <a:fillRect/>
          </a:stretch>
        </p:blipFill>
        <p:spPr bwMode="auto">
          <a:xfrm>
            <a:off x="467857" y="1949738"/>
            <a:ext cx="3788837" cy="3215526"/>
          </a:xfrm>
          <a:prstGeom prst="rect">
            <a:avLst/>
          </a:prstGeom>
          <a:noFill/>
          <a:ln w="9525">
            <a:noFill/>
            <a:miter lim="800000"/>
            <a:headEnd/>
            <a:tailEnd/>
          </a:ln>
          <a:effectLst/>
        </p:spPr>
      </p:pic>
      <p:sp>
        <p:nvSpPr>
          <p:cNvPr id="11" name="10 Marcador de texto"/>
          <p:cNvSpPr>
            <a:spLocks noGrp="1"/>
          </p:cNvSpPr>
          <p:nvPr>
            <p:ph type="body" sz="quarter" idx="3"/>
          </p:nvPr>
        </p:nvSpPr>
        <p:spPr>
          <a:xfrm>
            <a:off x="4412477" y="1408985"/>
            <a:ext cx="4041775" cy="639762"/>
          </a:xfrm>
        </p:spPr>
        <p:txBody>
          <a:bodyPr/>
          <a:lstStyle/>
          <a:p>
            <a:pPr algn="ctr"/>
            <a:r>
              <a:rPr lang="es-MX" dirty="0" smtClean="0"/>
              <a:t>Caso de manipulación</a:t>
            </a:r>
            <a:endParaRPr lang="en-US" dirty="0"/>
          </a:p>
        </p:txBody>
      </p:sp>
      <p:pic>
        <p:nvPicPr>
          <p:cNvPr id="148482" name="Picture 2"/>
          <p:cNvPicPr>
            <a:picLocks noGrp="1" noChangeAspect="1" noChangeArrowheads="1"/>
          </p:cNvPicPr>
          <p:nvPr>
            <p:ph sz="quarter" idx="4"/>
          </p:nvPr>
        </p:nvPicPr>
        <p:blipFill>
          <a:blip r:embed="rId3" cstate="print"/>
          <a:stretch>
            <a:fillRect/>
          </a:stretch>
        </p:blipFill>
        <p:spPr bwMode="auto">
          <a:xfrm>
            <a:off x="4509763" y="1986033"/>
            <a:ext cx="3751368" cy="3144710"/>
          </a:xfrm>
          <a:prstGeom prst="rect">
            <a:avLst/>
          </a:prstGeom>
          <a:noFill/>
          <a:ln w="9525">
            <a:noFill/>
            <a:miter lim="800000"/>
            <a:headEnd/>
            <a:tailEnd/>
          </a:ln>
          <a:effectLst/>
        </p:spPr>
      </p:pic>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mc:AlternateContent xmlns:mc="http://schemas.openxmlformats.org/markup-compatibility/2006">
        <mc:Choice xmlns:a14="http://schemas.microsoft.com/office/drawing/2010/main" xmlns="" Requires="a14">
          <p:sp>
            <p:nvSpPr>
              <p:cNvPr id="12" name="11 CuadroTexto"/>
              <p:cNvSpPr txBox="1"/>
              <p:nvPr/>
            </p:nvSpPr>
            <p:spPr>
              <a:xfrm>
                <a:off x="331076" y="5088202"/>
                <a:ext cx="8295618" cy="1413528"/>
              </a:xfrm>
              <a:prstGeom prst="rect">
                <a:avLst/>
              </a:prstGeom>
              <a:noFill/>
            </p:spPr>
            <p:txBody>
              <a:bodyPr wrap="square" rtlCol="0">
                <a:spAutoFit/>
              </a:bodyPr>
              <a:lstStyle/>
              <a:p>
                <a:r>
                  <a:rPr lang="es-MX" sz="2100" dirty="0" smtClean="0"/>
                  <a:t>El investigador debe demostrar que el instrumento de focalización no ha sido manipulado. Si la función de densidad de probabilidad de </a:t>
                </a:r>
                <a:r>
                  <a:rPr lang="es-MX" sz="2100" i="1" dirty="0" smtClean="0">
                    <a:latin typeface="Times New Roman" pitchFamily="18" charset="0"/>
                    <a:cs typeface="Times New Roman" pitchFamily="18" charset="0"/>
                  </a:rPr>
                  <a:t>Z</a:t>
                </a:r>
                <a:r>
                  <a:rPr lang="es-MX" sz="2100" dirty="0" smtClean="0"/>
                  <a:t> tiene un salto peculiar justamente en el umbral </a:t>
                </a:r>
                <a14:m>
                  <m:oMath xmlns:m="http://schemas.openxmlformats.org/officeDocument/2006/math">
                    <m:acc>
                      <m:accPr>
                        <m:chr m:val="̅"/>
                        <m:ctrlPr>
                          <a:rPr lang="es-MX" sz="2100" i="1" smtClean="0">
                            <a:latin typeface="Cambria Math"/>
                          </a:rPr>
                        </m:ctrlPr>
                      </m:accPr>
                      <m:e>
                        <m:sSub>
                          <m:sSubPr>
                            <m:ctrlPr>
                              <a:rPr lang="es-CO" sz="2100" b="0" i="1" smtClean="0">
                                <a:latin typeface="Cambria Math"/>
                              </a:rPr>
                            </m:ctrlPr>
                          </m:sSubPr>
                          <m:e>
                            <m:r>
                              <a:rPr lang="es-CO" sz="2100" b="0" i="1" smtClean="0">
                                <a:latin typeface="Cambria Math"/>
                              </a:rPr>
                              <m:t>𝑍</m:t>
                            </m:r>
                          </m:e>
                          <m:sub>
                            <m:r>
                              <a:rPr lang="es-CO" sz="2100" b="0" i="1" smtClean="0">
                                <a:latin typeface="Cambria Math"/>
                              </a:rPr>
                              <m:t>𝑖</m:t>
                            </m:r>
                          </m:sub>
                        </m:sSub>
                      </m:e>
                    </m:acc>
                    <m:r>
                      <a:rPr lang="es-CO" sz="2100" b="0" i="1" smtClean="0">
                        <a:latin typeface="Cambria Math"/>
                      </a:rPr>
                      <m:t> </m:t>
                    </m:r>
                  </m:oMath>
                </a14:m>
                <a:r>
                  <a:rPr lang="es-MX" sz="2100" dirty="0" smtClean="0"/>
                  <a:t>entonces eso sería evidencia de manipulación e invalidaría el diseño RD. </a:t>
                </a:r>
                <a:endParaRPr lang="en-US" sz="2100" dirty="0"/>
              </a:p>
            </p:txBody>
          </p:sp>
        </mc:Choice>
        <mc:Fallback>
          <p:sp>
            <p:nvSpPr>
              <p:cNvPr id="12" name="11 CuadroTexto"/>
              <p:cNvSpPr txBox="1">
                <a:spLocks noRot="1" noChangeAspect="1" noMove="1" noResize="1" noEditPoints="1" noAdjustHandles="1" noChangeArrowheads="1" noChangeShapeType="1" noTextEdit="1"/>
              </p:cNvSpPr>
              <p:nvPr/>
            </p:nvSpPr>
            <p:spPr>
              <a:xfrm>
                <a:off x="331076" y="5088202"/>
                <a:ext cx="8295618" cy="1413528"/>
              </a:xfrm>
              <a:prstGeom prst="rect">
                <a:avLst/>
              </a:prstGeom>
              <a:blipFill rotWithShape="1">
                <a:blip r:embed="rId5" cstate="print"/>
                <a:stretch>
                  <a:fillRect l="-808" t="-2586" b="-5172"/>
                </a:stretch>
              </a:blipFill>
            </p:spPr>
            <p:txBody>
              <a:bodyPr/>
              <a:lstStyle/>
              <a:p>
                <a:r>
                  <a:rPr lang="es-CO">
                    <a:noFill/>
                  </a:rPr>
                  <a:t> </a:t>
                </a:r>
              </a:p>
            </p:txBody>
          </p:sp>
        </mc:Fallback>
      </mc:AlternateContent>
      <p:sp>
        <p:nvSpPr>
          <p:cNvPr id="7373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pic>
        <p:nvPicPr>
          <p:cNvPr id="73729" name="Picture 1"/>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rot="16200000">
            <a:off x="93776" y="3274632"/>
            <a:ext cx="604512" cy="350617"/>
          </a:xfrm>
          <a:prstGeom prst="rect">
            <a:avLst/>
          </a:prstGeom>
          <a:noFill/>
        </p:spPr>
      </p:pic>
      <p:sp>
        <p:nvSpPr>
          <p:cNvPr id="73731"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5" name="14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25</a:t>
            </a:fld>
            <a:endParaRPr lang="es-ES" sz="1500" dirty="0">
              <a:solidFill>
                <a:schemeClr val="tx1">
                  <a:lumMod val="50000"/>
                  <a:lumOff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223931" cy="1131910"/>
          </a:xfrm>
        </p:spPr>
        <p:txBody>
          <a:bodyPr>
            <a:normAutofit fontScale="90000"/>
          </a:bodyPr>
          <a:lstStyle/>
          <a:p>
            <a:r>
              <a:rPr lang="es-MX" u="sng" dirty="0" smtClean="0"/>
              <a:t>Regresión discontinua nítida:</a:t>
            </a:r>
            <a:br>
              <a:rPr lang="es-MX" u="sng" dirty="0" smtClean="0"/>
            </a:br>
            <a:r>
              <a:rPr lang="es-MX" u="sng" dirty="0" smtClean="0"/>
              <a:t>Variable de resultado</a:t>
            </a: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1757368"/>
                <a:ext cx="8358188" cy="4525963"/>
              </a:xfrm>
            </p:spPr>
            <p:txBody>
              <a:bodyPr>
                <a:normAutofit fontScale="92500"/>
              </a:bodyPr>
              <a:lstStyle/>
              <a:p>
                <a:r>
                  <a:rPr lang="es-MX" sz="2800" dirty="0" smtClean="0"/>
                  <a:t>Corresponde al caso en que la probabilidad de participación cambia exactamente de uno a cero a uno y otro lado del punto de corte.</a:t>
                </a:r>
              </a:p>
              <a:p>
                <a:r>
                  <a:rPr lang="es-MX" sz="2800" dirty="0" smtClean="0"/>
                  <a:t>La variable de resultado se puede escribir como:</a:t>
                </a:r>
              </a:p>
              <a:p>
                <a:endParaRPr lang="es-MX" sz="2800" dirty="0"/>
              </a:p>
              <a:p>
                <a:pPr marL="0" indent="0">
                  <a:buNone/>
                </a:pPr>
                <a14:m>
                  <m:oMathPara xmlns:m="http://schemas.openxmlformats.org/officeDocument/2006/math">
                    <m:oMathParaPr>
                      <m:jc m:val="centerGroup"/>
                    </m:oMathParaPr>
                    <m:oMath xmlns:m="http://schemas.openxmlformats.org/officeDocument/2006/math">
                      <m:sSub>
                        <m:sSubPr>
                          <m:ctrlPr>
                            <a:rPr lang="es-CO" sz="2800" i="1">
                              <a:latin typeface="Cambria Math"/>
                            </a:rPr>
                          </m:ctrlPr>
                        </m:sSubPr>
                        <m:e>
                          <m:r>
                            <a:rPr lang="es-ES" sz="2800" i="1">
                              <a:latin typeface="Cambria Math"/>
                            </a:rPr>
                            <m:t>𝑌</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𝛽</m:t>
                          </m:r>
                        </m:e>
                        <m:sub>
                          <m:r>
                            <a:rPr lang="es-ES" sz="2800" i="1">
                              <a:latin typeface="Cambria Math"/>
                            </a:rPr>
                            <m:t>0</m:t>
                          </m:r>
                        </m:sub>
                      </m:sSub>
                      <m:r>
                        <a:rPr lang="es-ES" sz="2800" i="1">
                          <a:latin typeface="Cambria Math"/>
                        </a:rPr>
                        <m:t>+</m:t>
                      </m:r>
                      <m:sSub>
                        <m:sSubPr>
                          <m:ctrlPr>
                            <a:rPr lang="es-CO" sz="2800" i="1">
                              <a:latin typeface="Cambria Math"/>
                            </a:rPr>
                          </m:ctrlPr>
                        </m:sSubPr>
                        <m:e>
                          <m:r>
                            <a:rPr lang="es-ES" sz="2800" i="1">
                              <a:latin typeface="Cambria Math"/>
                            </a:rPr>
                            <m:t>𝜏</m:t>
                          </m:r>
                        </m:e>
                        <m:sub>
                          <m:r>
                            <a:rPr lang="es-ES" sz="2800" i="1">
                              <a:latin typeface="Cambria Math"/>
                            </a:rPr>
                            <m:t>𝑖</m:t>
                          </m:r>
                        </m:sub>
                      </m:sSub>
                      <m:sSub>
                        <m:sSubPr>
                          <m:ctrlPr>
                            <a:rPr lang="es-CO" sz="2800" i="1">
                              <a:latin typeface="Cambria Math"/>
                            </a:rPr>
                          </m:ctrlPr>
                        </m:sSubPr>
                        <m:e>
                          <m:r>
                            <a:rPr lang="es-ES" sz="2800" i="1">
                              <a:latin typeface="Cambria Math"/>
                            </a:rPr>
                            <m:t>𝐷</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𝑢</m:t>
                          </m:r>
                        </m:e>
                        <m:sub>
                          <m:r>
                            <a:rPr lang="es-ES" sz="2800" i="1">
                              <a:latin typeface="Cambria Math"/>
                            </a:rPr>
                            <m:t>𝑖</m:t>
                          </m:r>
                        </m:sub>
                      </m:sSub>
                    </m:oMath>
                  </m:oMathPara>
                </a14:m>
                <a:endParaRPr lang="es-MX" sz="2800" dirty="0" smtClean="0"/>
              </a:p>
              <a:p>
                <a:endParaRPr lang="es-MX" sz="2800" dirty="0"/>
              </a:p>
              <a:p>
                <a:pPr>
                  <a:buNone/>
                </a:pPr>
                <a:r>
                  <a:rPr lang="es-MX" sz="2800" dirty="0" smtClean="0"/>
                  <a:t>	Por lo tanto, el supuesto de continuidad de  </a:t>
                </a:r>
                <a14:m>
                  <m:oMath xmlns:m="http://schemas.openxmlformats.org/officeDocument/2006/math">
                    <m:r>
                      <a:rPr lang="es-ES" sz="2800" i="1">
                        <a:latin typeface="Cambria Math"/>
                      </a:rPr>
                      <m:t>𝐸</m:t>
                    </m:r>
                    <m:r>
                      <a:rPr lang="es-ES" sz="2800" i="1">
                        <a:latin typeface="Cambria Math"/>
                      </a:rPr>
                      <m:t>[</m:t>
                    </m:r>
                    <m:sSub>
                      <m:sSubPr>
                        <m:ctrlPr>
                          <a:rPr lang="es-CO" sz="2800" b="0" i="1" smtClean="0">
                            <a:latin typeface="Cambria Math"/>
                          </a:rPr>
                        </m:ctrlPr>
                      </m:sSubPr>
                      <m:e>
                        <m:r>
                          <a:rPr lang="es-ES" sz="2800" i="1">
                            <a:latin typeface="Cambria Math"/>
                          </a:rPr>
                          <m:t>𝑌</m:t>
                        </m:r>
                      </m:e>
                      <m:sub>
                        <m:r>
                          <a:rPr lang="es-CO" sz="2800" b="0" i="1" smtClean="0">
                            <a:latin typeface="Cambria Math"/>
                          </a:rPr>
                          <m:t>𝑖</m:t>
                        </m:r>
                      </m:sub>
                    </m:sSub>
                    <m:r>
                      <a:rPr lang="es-ES" sz="2800" i="1">
                        <a:latin typeface="Cambria Math"/>
                      </a:rPr>
                      <m:t>|</m:t>
                    </m:r>
                    <m:sSub>
                      <m:sSubPr>
                        <m:ctrlPr>
                          <a:rPr lang="es-CO" sz="2800" b="0" i="1" smtClean="0">
                            <a:latin typeface="Cambria Math"/>
                          </a:rPr>
                        </m:ctrlPr>
                      </m:sSubPr>
                      <m:e>
                        <m:r>
                          <a:rPr lang="es-ES" sz="2800" i="1">
                            <a:latin typeface="Cambria Math"/>
                          </a:rPr>
                          <m:t>𝑍</m:t>
                        </m:r>
                      </m:e>
                      <m:sub>
                        <m:r>
                          <a:rPr lang="es-CO" sz="2800" b="0" i="1" smtClean="0">
                            <a:latin typeface="Cambria Math"/>
                          </a:rPr>
                          <m:t>𝑖</m:t>
                        </m:r>
                      </m:sub>
                    </m:sSub>
                    <m:r>
                      <a:rPr lang="es-ES" sz="2800" i="1">
                        <a:latin typeface="Cambria Math"/>
                      </a:rPr>
                      <m:t>]</m:t>
                    </m:r>
                  </m:oMath>
                </a14:m>
                <a:r>
                  <a:rPr lang="es-MX" sz="2800" dirty="0" smtClean="0"/>
                  <a:t>       en </a:t>
                </a:r>
                <a:r>
                  <a:rPr lang="es-MX" sz="2800" i="1" dirty="0" smtClean="0">
                    <a:latin typeface="Times New Roman" pitchFamily="18" charset="0"/>
                    <a:cs typeface="Times New Roman" pitchFamily="18" charset="0"/>
                  </a:rPr>
                  <a:t>Z</a:t>
                </a:r>
                <a:r>
                  <a:rPr lang="es-MX" sz="2800" dirty="0" smtClean="0"/>
                  <a:t> es equivalente a suponer que  </a:t>
                </a:r>
                <a14:m>
                  <m:oMath xmlns:m="http://schemas.openxmlformats.org/officeDocument/2006/math">
                    <m:r>
                      <a:rPr lang="es-ES" sz="2800" i="1">
                        <a:latin typeface="Cambria Math"/>
                      </a:rPr>
                      <m:t>𝐸</m:t>
                    </m:r>
                    <m:d>
                      <m:dPr>
                        <m:begChr m:val="["/>
                        <m:endChr m:val="]"/>
                        <m:ctrlPr>
                          <a:rPr lang="es-CO" sz="2800" i="1">
                            <a:latin typeface="Cambria Math"/>
                          </a:rPr>
                        </m:ctrlPr>
                      </m:dPr>
                      <m:e>
                        <m:sSub>
                          <m:sSubPr>
                            <m:ctrlPr>
                              <a:rPr lang="es-CO" sz="2800" i="1">
                                <a:latin typeface="Cambria Math"/>
                              </a:rPr>
                            </m:ctrlPr>
                          </m:sSubPr>
                          <m:e>
                            <m:r>
                              <a:rPr lang="es-ES" sz="2800" i="1">
                                <a:latin typeface="Cambria Math"/>
                              </a:rPr>
                              <m:t>𝑢</m:t>
                            </m:r>
                          </m:e>
                          <m:sub>
                            <m:r>
                              <a:rPr lang="es-ES" sz="2800" i="1">
                                <a:latin typeface="Cambria Math"/>
                              </a:rPr>
                              <m:t>𝑖</m:t>
                            </m:r>
                          </m:sub>
                        </m:sSub>
                      </m:e>
                      <m:e>
                        <m:sSub>
                          <m:sSubPr>
                            <m:ctrlPr>
                              <a:rPr lang="es-CO" sz="2800" b="0" i="1" smtClean="0">
                                <a:latin typeface="Cambria Math"/>
                              </a:rPr>
                            </m:ctrlPr>
                          </m:sSubPr>
                          <m:e>
                            <m:r>
                              <a:rPr lang="es-ES" sz="2800" i="1">
                                <a:latin typeface="Cambria Math"/>
                              </a:rPr>
                              <m:t>𝑍</m:t>
                            </m:r>
                          </m:e>
                          <m:sub>
                            <m:r>
                              <a:rPr lang="es-CO" sz="2800" b="0" i="1" smtClean="0">
                                <a:latin typeface="Cambria Math"/>
                              </a:rPr>
                              <m:t>𝑖</m:t>
                            </m:r>
                          </m:sub>
                        </m:sSub>
                      </m:e>
                    </m:d>
                  </m:oMath>
                </a14:m>
                <a:r>
                  <a:rPr lang="es-MX" sz="2800" dirty="0" smtClean="0"/>
                  <a:t>  y  </a:t>
                </a:r>
                <a14:m>
                  <m:oMath xmlns:m="http://schemas.openxmlformats.org/officeDocument/2006/math">
                    <m:r>
                      <a:rPr lang="es-ES" sz="2800" i="1">
                        <a:latin typeface="Cambria Math"/>
                      </a:rPr>
                      <m:t>𝐸</m:t>
                    </m:r>
                    <m:r>
                      <a:rPr lang="es-ES" sz="2800" i="1">
                        <a:latin typeface="Cambria Math"/>
                      </a:rPr>
                      <m:t>[</m:t>
                    </m:r>
                    <m:sSub>
                      <m:sSubPr>
                        <m:ctrlPr>
                          <a:rPr lang="es-CO" sz="2800" i="1">
                            <a:latin typeface="Cambria Math"/>
                          </a:rPr>
                        </m:ctrlPr>
                      </m:sSubPr>
                      <m:e>
                        <m:r>
                          <a:rPr lang="es-ES" sz="2800" i="1">
                            <a:latin typeface="Cambria Math"/>
                          </a:rPr>
                          <m:t>𝜏</m:t>
                        </m:r>
                      </m:e>
                      <m:sub>
                        <m:r>
                          <a:rPr lang="es-ES" sz="2800" i="1">
                            <a:latin typeface="Cambria Math"/>
                          </a:rPr>
                          <m:t>𝑖</m:t>
                        </m:r>
                      </m:sub>
                    </m:sSub>
                    <m:r>
                      <a:rPr lang="es-ES" sz="2800" i="1">
                        <a:latin typeface="Cambria Math"/>
                      </a:rPr>
                      <m:t>|</m:t>
                    </m:r>
                    <m:sSub>
                      <m:sSubPr>
                        <m:ctrlPr>
                          <a:rPr lang="es-CO" sz="2800" b="0" i="1" smtClean="0">
                            <a:latin typeface="Cambria Math"/>
                          </a:rPr>
                        </m:ctrlPr>
                      </m:sSubPr>
                      <m:e>
                        <m:r>
                          <a:rPr lang="es-ES" sz="2800" i="1">
                            <a:latin typeface="Cambria Math"/>
                          </a:rPr>
                          <m:t>𝑍</m:t>
                        </m:r>
                      </m:e>
                      <m:sub>
                        <m:r>
                          <a:rPr lang="es-CO" sz="2800" b="0" i="1" smtClean="0">
                            <a:latin typeface="Cambria Math"/>
                          </a:rPr>
                          <m:t>𝑖</m:t>
                        </m:r>
                      </m:sub>
                    </m:sSub>
                    <m:r>
                      <a:rPr lang="es-ES" sz="2800" i="1">
                        <a:latin typeface="Cambria Math"/>
                      </a:rPr>
                      <m:t>]</m:t>
                    </m:r>
                  </m:oMath>
                </a14:m>
                <a:r>
                  <a:rPr lang="es-MX" sz="2800" dirty="0" smtClean="0"/>
                  <a:t>       son ambas continuas en </a:t>
                </a:r>
                <a:r>
                  <a:rPr lang="es-MX" sz="2800" i="1" dirty="0" smtClean="0">
                    <a:latin typeface="Times New Roman" pitchFamily="18" charset="0"/>
                    <a:cs typeface="Times New Roman" pitchFamily="18" charset="0"/>
                  </a:rPr>
                  <a:t>Z</a:t>
                </a:r>
                <a:r>
                  <a:rPr lang="es-MX" sz="2800" dirty="0" smtClean="0"/>
                  <a:t>.  </a:t>
                </a:r>
              </a:p>
              <a:p>
                <a:pPr>
                  <a:buNone/>
                </a:pPr>
                <a:endParaRPr lang="es-MX" sz="2800" dirty="0"/>
              </a:p>
              <a:p>
                <a:pPr>
                  <a:buNone/>
                </a:pPr>
                <a:endParaRPr lang="en-US" sz="28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1757368"/>
                <a:ext cx="8358188" cy="4525963"/>
              </a:xfrm>
              <a:blipFill rotWithShape="1">
                <a:blip r:embed="rId2" cstate="print"/>
                <a:stretch>
                  <a:fillRect l="-1094" t="-1077" b="-942"/>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474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746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7464"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270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72707"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7270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72710" name="Rectangle 6"/>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7271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72713" name="Rectangle 9"/>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9" name="18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26</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57450" y="285728"/>
            <a:ext cx="6443663" cy="1131910"/>
          </a:xfrm>
        </p:spPr>
        <p:txBody>
          <a:bodyPr>
            <a:noAutofit/>
          </a:bodyPr>
          <a:lstStyle/>
          <a:p>
            <a:r>
              <a:rPr lang="es-MX" sz="3400" u="sng" dirty="0" smtClean="0"/>
              <a:t>Regresión discontinua nítida:</a:t>
            </a:r>
            <a:br>
              <a:rPr lang="es-MX" sz="3400" u="sng" dirty="0" smtClean="0"/>
            </a:br>
            <a:r>
              <a:rPr lang="es-MX" sz="3400" u="sng" dirty="0" smtClean="0"/>
              <a:t>Estimador del efecto del programa</a:t>
            </a:r>
            <a:endParaRPr lang="en-US" sz="3400"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173419" y="1237581"/>
                <a:ext cx="8875986" cy="4989797"/>
              </a:xfrm>
            </p:spPr>
            <p:txBody>
              <a:bodyPr>
                <a:normAutofit lnSpcReduction="10000"/>
              </a:bodyPr>
              <a:lstStyle/>
              <a:p>
                <a:endParaRPr lang="es-MX" dirty="0" smtClean="0"/>
              </a:p>
              <a:p>
                <a:r>
                  <a:rPr lang="es-MX" sz="2800" dirty="0" smtClean="0"/>
                  <a:t>En suma se ha establecido que los grupos comparables están en una vecindad arbitrariamente pequeña a la derecha y a la izquierda del umbral porque esos son los dos grupos más comparables. En la vecindad a la izquierda de </a:t>
                </a:r>
                <a14:m>
                  <m:oMath xmlns:m="http://schemas.openxmlformats.org/officeDocument/2006/math">
                    <m:acc>
                      <m:accPr>
                        <m:chr m:val="̅"/>
                        <m:ctrlPr>
                          <a:rPr lang="es-MX" sz="2800" i="1" smtClean="0">
                            <a:latin typeface="Cambria Math"/>
                          </a:rPr>
                        </m:ctrlPr>
                      </m:accPr>
                      <m:e>
                        <m:r>
                          <a:rPr lang="es-CO" sz="2800" b="0" i="1" smtClean="0">
                            <a:latin typeface="Cambria Math"/>
                          </a:rPr>
                          <m:t>𝑍</m:t>
                        </m:r>
                      </m:e>
                    </m:acc>
                    <m:r>
                      <a:rPr lang="es-CO" sz="2800" b="0" i="1" smtClean="0">
                        <a:latin typeface="Cambria Math"/>
                      </a:rPr>
                      <m:t> </m:t>
                    </m:r>
                  </m:oMath>
                </a14:m>
                <a:r>
                  <a:rPr lang="es-MX" sz="2800" dirty="0" smtClean="0"/>
                  <a:t>se ubica el grupo de tratamiento y en la vecindad a la derecha de </a:t>
                </a:r>
                <a14:m>
                  <m:oMath xmlns:m="http://schemas.openxmlformats.org/officeDocument/2006/math">
                    <m:acc>
                      <m:accPr>
                        <m:chr m:val="̅"/>
                        <m:ctrlPr>
                          <a:rPr lang="es-MX" sz="2800" i="1">
                            <a:latin typeface="Cambria Math"/>
                          </a:rPr>
                        </m:ctrlPr>
                      </m:accPr>
                      <m:e>
                        <m:r>
                          <a:rPr lang="es-CO" sz="2800" b="0" i="1" smtClean="0">
                            <a:latin typeface="Cambria Math"/>
                          </a:rPr>
                          <m:t>𝑍</m:t>
                        </m:r>
                      </m:e>
                    </m:acc>
                  </m:oMath>
                </a14:m>
                <a:r>
                  <a:rPr lang="es-MX" sz="2800" dirty="0" smtClean="0"/>
                  <a:t> se ubica el grupo de control.</a:t>
                </a:r>
              </a:p>
              <a:p>
                <a:endParaRPr lang="es-MX" sz="1600" dirty="0" smtClean="0"/>
              </a:p>
              <a:p>
                <a:r>
                  <a:rPr lang="es-MX" sz="2800" dirty="0" smtClean="0"/>
                  <a:t>Así, el  efecto del programa será simplemente el valor promedio de la variable de resultado de los tratados (izq.) menos el valor promedio de la variable de resultado de los controles (der.):</a:t>
                </a:r>
              </a:p>
              <a:p>
                <a:endParaRPr lang="es-MX" sz="2800" dirty="0" smtClean="0"/>
              </a:p>
              <a:p>
                <a:endParaRPr lang="es-MX" sz="2800" dirty="0"/>
              </a:p>
              <a:p>
                <a:endParaRPr lang="es-MX" sz="2800" dirty="0" smtClean="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173419" y="1237581"/>
                <a:ext cx="8875986" cy="4989797"/>
              </a:xfrm>
              <a:blipFill rotWithShape="1">
                <a:blip r:embed="rId3" cstate="print"/>
                <a:stretch>
                  <a:fillRect l="-1168" r="-1786"/>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45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54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92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309251"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27</a:t>
            </a:fld>
            <a:endParaRPr lang="es-ES" sz="1500" dirty="0">
              <a:solidFill>
                <a:schemeClr val="tx1">
                  <a:lumMod val="50000"/>
                  <a:lumOff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57450" y="285728"/>
            <a:ext cx="6443663" cy="1131910"/>
          </a:xfrm>
        </p:spPr>
        <p:txBody>
          <a:bodyPr>
            <a:noAutofit/>
          </a:bodyPr>
          <a:lstStyle/>
          <a:p>
            <a:r>
              <a:rPr lang="es-MX" sz="3400" u="sng" dirty="0" smtClean="0"/>
              <a:t>Regresión discontinua nítida:</a:t>
            </a:r>
            <a:br>
              <a:rPr lang="es-MX" sz="3400" u="sng" dirty="0" smtClean="0"/>
            </a:br>
            <a:r>
              <a:rPr lang="es-MX" sz="3400" u="sng" dirty="0" smtClean="0"/>
              <a:t>Estimador del efecto del programa</a:t>
            </a:r>
            <a:endParaRPr lang="en-US" sz="3400" dirty="0"/>
          </a:p>
        </p:txBody>
      </p:sp>
      <p:sp>
        <p:nvSpPr>
          <p:cNvPr id="10" name="9 Marcador de contenido"/>
          <p:cNvSpPr>
            <a:spLocks noGrp="1"/>
          </p:cNvSpPr>
          <p:nvPr>
            <p:ph idx="1"/>
          </p:nvPr>
        </p:nvSpPr>
        <p:spPr>
          <a:xfrm>
            <a:off x="457200" y="1600200"/>
            <a:ext cx="8418786" cy="4525963"/>
          </a:xfrm>
        </p:spPr>
        <p:txBody>
          <a:bodyPr>
            <a:normAutofit lnSpcReduction="10000"/>
          </a:bodyPr>
          <a:lstStyle/>
          <a:p>
            <a:endParaRPr lang="es-MX" dirty="0" smtClean="0"/>
          </a:p>
          <a:p>
            <a:pPr>
              <a:buNone/>
            </a:pPr>
            <a:endParaRPr lang="es-MX" sz="2800" dirty="0" smtClean="0"/>
          </a:p>
          <a:p>
            <a:endParaRPr lang="es-MX" sz="2000" dirty="0"/>
          </a:p>
          <a:p>
            <a:pPr marL="0" indent="0">
              <a:buNone/>
            </a:pPr>
            <a:r>
              <a:rPr lang="es-MX" sz="2200" dirty="0" smtClean="0"/>
              <a:t>El valor promedio de la variable de resultado en una vecindad arbitrariamente pequeña a la izquierda del umbral menos el valor promedio de la variable de resultado en una vecindad arbitrariamente pequeña a la derecha del umbral.</a:t>
            </a:r>
          </a:p>
          <a:p>
            <a:pPr marL="0" indent="0">
              <a:buNone/>
            </a:pPr>
            <a:endParaRPr lang="es-MX" sz="2200" dirty="0" smtClean="0"/>
          </a:p>
          <a:p>
            <a:r>
              <a:rPr lang="es-MX" sz="2800" dirty="0" smtClean="0">
                <a:solidFill>
                  <a:schemeClr val="accent5">
                    <a:lumMod val="75000"/>
                  </a:schemeClr>
                </a:solidFill>
              </a:rPr>
              <a:t>Siempre que se cumplan: </a:t>
            </a:r>
          </a:p>
          <a:p>
            <a:pPr lvl="1"/>
            <a:r>
              <a:rPr lang="es-MX" sz="2600" dirty="0" smtClean="0"/>
              <a:t>Condición de identificación. </a:t>
            </a:r>
          </a:p>
          <a:p>
            <a:pPr lvl="1"/>
            <a:r>
              <a:rPr lang="es-MX" sz="2600" dirty="0" smtClean="0"/>
              <a:t>Supuesto de continuidad local.</a:t>
            </a:r>
            <a:endParaRPr lang="en-US" sz="26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45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54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1129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311299" name="Rectangle 3"/>
          <p:cNvSpPr>
            <a:spLocks noChangeArrowheads="1"/>
          </p:cNvSpPr>
          <p:nvPr/>
        </p:nvSpPr>
        <p:spPr bwMode="auto">
          <a:xfrm>
            <a:off x="0" y="819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2" name="1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28</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725214" y="1838518"/>
                <a:ext cx="7851227" cy="72584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3000" i="1">
                              <a:latin typeface="Cambria Math"/>
                            </a:rPr>
                          </m:ctrlPr>
                        </m:sSubPr>
                        <m:e>
                          <m:r>
                            <a:rPr lang="es-ES" sz="3000" i="1">
                              <a:latin typeface="Cambria Math"/>
                            </a:rPr>
                            <m:t>𝜏</m:t>
                          </m:r>
                        </m:e>
                        <m:sub>
                          <m:r>
                            <a:rPr lang="es-ES" sz="3000" i="1">
                              <a:latin typeface="Cambria Math"/>
                            </a:rPr>
                            <m:t>𝑅𝐷𝑁</m:t>
                          </m:r>
                        </m:sub>
                      </m:sSub>
                      <m:d>
                        <m:dPr>
                          <m:ctrlPr>
                            <a:rPr lang="es-CO" sz="3000" i="1">
                              <a:latin typeface="Cambria Math"/>
                            </a:rPr>
                          </m:ctrlPr>
                        </m:dPr>
                        <m:e>
                          <m:acc>
                            <m:accPr>
                              <m:chr m:val="̅"/>
                              <m:ctrlPr>
                                <a:rPr lang="es-CO" sz="3000" i="1">
                                  <a:latin typeface="Cambria Math"/>
                                </a:rPr>
                              </m:ctrlPr>
                            </m:accPr>
                            <m:e>
                              <m:r>
                                <a:rPr lang="es-ES" sz="3000" i="1">
                                  <a:latin typeface="Cambria Math"/>
                                </a:rPr>
                                <m:t>𝑍</m:t>
                              </m:r>
                            </m:e>
                          </m:acc>
                        </m:e>
                      </m:d>
                      <m:r>
                        <a:rPr lang="es-ES" sz="3000" i="1">
                          <a:latin typeface="Cambria Math"/>
                        </a:rPr>
                        <m:t>=</m:t>
                      </m:r>
                      <m:func>
                        <m:funcPr>
                          <m:ctrlPr>
                            <a:rPr lang="es-CO" sz="3000" i="1">
                              <a:latin typeface="Cambria Math"/>
                            </a:rPr>
                          </m:ctrlPr>
                        </m:funcPr>
                        <m:fName>
                          <m:limLow>
                            <m:limLowPr>
                              <m:ctrlPr>
                                <a:rPr lang="es-CO" sz="3000" i="1">
                                  <a:latin typeface="Cambria Math"/>
                                </a:rPr>
                              </m:ctrlPr>
                            </m:limLowPr>
                            <m:e>
                              <m:r>
                                <m:rPr>
                                  <m:sty m:val="p"/>
                                </m:rPr>
                                <a:rPr lang="es-ES" sz="3000">
                                  <a:latin typeface="Cambria Math"/>
                                </a:rPr>
                                <m:t>lim</m:t>
                              </m:r>
                            </m:e>
                            <m:lim>
                              <m:r>
                                <a:rPr lang="es-ES" sz="3000" i="1">
                                  <a:latin typeface="Cambria Math"/>
                                </a:rPr>
                                <m:t>𝑧</m:t>
                              </m:r>
                              <m:r>
                                <a:rPr lang="es-ES" sz="3000" i="1">
                                  <a:latin typeface="Cambria Math"/>
                                </a:rPr>
                                <m:t>↓</m:t>
                              </m:r>
                              <m:acc>
                                <m:accPr>
                                  <m:chr m:val="̅"/>
                                  <m:ctrlPr>
                                    <a:rPr lang="es-CO" sz="3000" i="1">
                                      <a:latin typeface="Cambria Math"/>
                                    </a:rPr>
                                  </m:ctrlPr>
                                </m:accPr>
                                <m:e>
                                  <m:r>
                                    <a:rPr lang="es-ES" sz="3000" i="1">
                                      <a:latin typeface="Cambria Math"/>
                                    </a:rPr>
                                    <m:t>𝑍</m:t>
                                  </m:r>
                                </m:e>
                              </m:acc>
                            </m:lim>
                          </m:limLow>
                        </m:fName>
                        <m:e>
                          <m:r>
                            <a:rPr lang="es-ES" sz="3000" i="1">
                              <a:latin typeface="Cambria Math"/>
                            </a:rPr>
                            <m:t>𝐸</m:t>
                          </m:r>
                          <m:d>
                            <m:dPr>
                              <m:begChr m:val="["/>
                              <m:endChr m:val="]"/>
                              <m:ctrlPr>
                                <a:rPr lang="es-CO" sz="3000" i="1">
                                  <a:latin typeface="Cambria Math"/>
                                </a:rPr>
                              </m:ctrlPr>
                            </m:dPr>
                            <m:e>
                              <m:sSub>
                                <m:sSubPr>
                                  <m:ctrlPr>
                                    <a:rPr lang="es-CO" sz="3000" i="1">
                                      <a:latin typeface="Cambria Math"/>
                                    </a:rPr>
                                  </m:ctrlPr>
                                </m:sSubPr>
                                <m:e>
                                  <m:r>
                                    <a:rPr lang="es-ES" sz="3000" i="1">
                                      <a:latin typeface="Cambria Math"/>
                                    </a:rPr>
                                    <m:t>𝑌</m:t>
                                  </m:r>
                                </m:e>
                                <m:sub>
                                  <m:r>
                                    <a:rPr lang="es-ES" sz="3000" i="1">
                                      <a:latin typeface="Cambria Math"/>
                                    </a:rPr>
                                    <m:t>𝑖</m:t>
                                  </m:r>
                                </m:sub>
                              </m:sSub>
                              <m:r>
                                <a:rPr lang="es-ES" sz="3000" i="1">
                                  <a:latin typeface="Cambria Math"/>
                                </a:rPr>
                                <m:t>|</m:t>
                              </m:r>
                              <m:sSub>
                                <m:sSubPr>
                                  <m:ctrlPr>
                                    <a:rPr lang="es-CO" sz="3000" i="1">
                                      <a:latin typeface="Cambria Math"/>
                                    </a:rPr>
                                  </m:ctrlPr>
                                </m:sSubPr>
                                <m:e>
                                  <m:r>
                                    <a:rPr lang="es-ES" sz="3000" i="1">
                                      <a:latin typeface="Cambria Math"/>
                                    </a:rPr>
                                    <m:t>𝑍</m:t>
                                  </m:r>
                                </m:e>
                                <m:sub>
                                  <m:r>
                                    <a:rPr lang="es-ES" sz="3000" i="1">
                                      <a:latin typeface="Cambria Math"/>
                                    </a:rPr>
                                    <m:t>𝑖</m:t>
                                  </m:r>
                                </m:sub>
                              </m:sSub>
                              <m:r>
                                <a:rPr lang="es-ES" sz="3000" i="1">
                                  <a:latin typeface="Cambria Math"/>
                                </a:rPr>
                                <m:t>=</m:t>
                              </m:r>
                              <m:r>
                                <a:rPr lang="es-ES" sz="3000" i="1">
                                  <a:latin typeface="Cambria Math"/>
                                </a:rPr>
                                <m:t>𝑧</m:t>
                              </m:r>
                            </m:e>
                          </m:d>
                        </m:e>
                      </m:func>
                      <m:r>
                        <a:rPr lang="es-ES" sz="3000" i="1">
                          <a:latin typeface="Cambria Math"/>
                        </a:rPr>
                        <m:t>−</m:t>
                      </m:r>
                      <m:func>
                        <m:funcPr>
                          <m:ctrlPr>
                            <a:rPr lang="es-CO" sz="3000" i="1">
                              <a:latin typeface="Cambria Math"/>
                            </a:rPr>
                          </m:ctrlPr>
                        </m:funcPr>
                        <m:fName>
                          <m:limLow>
                            <m:limLowPr>
                              <m:ctrlPr>
                                <a:rPr lang="es-CO" sz="3000" i="1">
                                  <a:latin typeface="Cambria Math"/>
                                </a:rPr>
                              </m:ctrlPr>
                            </m:limLowPr>
                            <m:e>
                              <m:r>
                                <m:rPr>
                                  <m:sty m:val="p"/>
                                </m:rPr>
                                <a:rPr lang="es-ES" sz="3000">
                                  <a:latin typeface="Cambria Math"/>
                                </a:rPr>
                                <m:t>lim</m:t>
                              </m:r>
                            </m:e>
                            <m:lim>
                              <m:r>
                                <a:rPr lang="es-ES" sz="3000" i="1">
                                  <a:latin typeface="Cambria Math"/>
                                </a:rPr>
                                <m:t>𝑧</m:t>
                              </m:r>
                              <m:r>
                                <a:rPr lang="es-ES" sz="3000" i="1">
                                  <a:latin typeface="Cambria Math"/>
                                </a:rPr>
                                <m:t>↑</m:t>
                              </m:r>
                              <m:acc>
                                <m:accPr>
                                  <m:chr m:val="̅"/>
                                  <m:ctrlPr>
                                    <a:rPr lang="es-CO" sz="3000" i="1">
                                      <a:latin typeface="Cambria Math"/>
                                    </a:rPr>
                                  </m:ctrlPr>
                                </m:accPr>
                                <m:e>
                                  <m:r>
                                    <a:rPr lang="es-ES" sz="3000" i="1">
                                      <a:latin typeface="Cambria Math"/>
                                    </a:rPr>
                                    <m:t>𝑍</m:t>
                                  </m:r>
                                </m:e>
                              </m:acc>
                            </m:lim>
                          </m:limLow>
                        </m:fName>
                        <m:e>
                          <m:r>
                            <a:rPr lang="es-ES" sz="3000" i="1">
                              <a:latin typeface="Cambria Math"/>
                            </a:rPr>
                            <m:t>𝐸</m:t>
                          </m:r>
                          <m:d>
                            <m:dPr>
                              <m:begChr m:val="["/>
                              <m:endChr m:val="]"/>
                              <m:ctrlPr>
                                <a:rPr lang="es-CO" sz="3000" i="1">
                                  <a:latin typeface="Cambria Math"/>
                                </a:rPr>
                              </m:ctrlPr>
                            </m:dPr>
                            <m:e>
                              <m:sSub>
                                <m:sSubPr>
                                  <m:ctrlPr>
                                    <a:rPr lang="es-CO" sz="3000" i="1">
                                      <a:latin typeface="Cambria Math"/>
                                    </a:rPr>
                                  </m:ctrlPr>
                                </m:sSubPr>
                                <m:e>
                                  <m:r>
                                    <a:rPr lang="es-ES" sz="3000" i="1">
                                      <a:latin typeface="Cambria Math"/>
                                    </a:rPr>
                                    <m:t>𝑌</m:t>
                                  </m:r>
                                </m:e>
                                <m:sub>
                                  <m:r>
                                    <a:rPr lang="es-ES" sz="3000" i="1">
                                      <a:latin typeface="Cambria Math"/>
                                    </a:rPr>
                                    <m:t>𝑖</m:t>
                                  </m:r>
                                </m:sub>
                              </m:sSub>
                              <m:r>
                                <a:rPr lang="es-ES" sz="3000" i="1">
                                  <a:latin typeface="Cambria Math"/>
                                </a:rPr>
                                <m:t>|</m:t>
                              </m:r>
                              <m:sSub>
                                <m:sSubPr>
                                  <m:ctrlPr>
                                    <a:rPr lang="es-CO" sz="3000" i="1">
                                      <a:latin typeface="Cambria Math"/>
                                    </a:rPr>
                                  </m:ctrlPr>
                                </m:sSubPr>
                                <m:e>
                                  <m:r>
                                    <a:rPr lang="es-ES" sz="3000" i="1">
                                      <a:latin typeface="Cambria Math"/>
                                    </a:rPr>
                                    <m:t>𝑍</m:t>
                                  </m:r>
                                </m:e>
                                <m:sub>
                                  <m:r>
                                    <a:rPr lang="es-ES" sz="3000" i="1">
                                      <a:latin typeface="Cambria Math"/>
                                    </a:rPr>
                                    <m:t>𝑖</m:t>
                                  </m:r>
                                </m:sub>
                              </m:sSub>
                              <m:r>
                                <a:rPr lang="es-ES" sz="3000" i="1">
                                  <a:latin typeface="Cambria Math"/>
                                </a:rPr>
                                <m:t>=</m:t>
                              </m:r>
                              <m:r>
                                <a:rPr lang="es-ES" sz="3000" i="1">
                                  <a:latin typeface="Cambria Math"/>
                                </a:rPr>
                                <m:t>𝑧</m:t>
                              </m:r>
                            </m:e>
                          </m:d>
                        </m:e>
                      </m:func>
                    </m:oMath>
                  </m:oMathPara>
                </a14:m>
                <a:endParaRPr lang="es-CO" sz="3000" dirty="0"/>
              </a:p>
            </p:txBody>
          </p:sp>
        </mc:Choice>
        <mc:Fallback>
          <p:sp>
            <p:nvSpPr>
              <p:cNvPr id="2" name="1 Rectángulo"/>
              <p:cNvSpPr>
                <a:spLocks noRot="1" noChangeAspect="1" noMove="1" noResize="1" noEditPoints="1" noAdjustHandles="1" noChangeArrowheads="1" noChangeShapeType="1" noTextEdit="1"/>
              </p:cNvSpPr>
              <p:nvPr/>
            </p:nvSpPr>
            <p:spPr>
              <a:xfrm>
                <a:off x="725214" y="1838518"/>
                <a:ext cx="7851227" cy="725840"/>
              </a:xfrm>
              <a:prstGeom prst="rect">
                <a:avLst/>
              </a:prstGeom>
              <a:blipFill rotWithShape="1">
                <a:blip r:embed="rId4" cstate="print"/>
                <a:stretch>
                  <a:fillRect/>
                </a:stretch>
              </a:blipFill>
            </p:spPr>
            <p:txBody>
              <a:bodyPr/>
              <a:lstStyle/>
              <a:p>
                <a:r>
                  <a:rPr lang="es-CO">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a:bodyPr>
          <a:lstStyle/>
          <a:p>
            <a:r>
              <a:rPr lang="es-MX" sz="3400" u="sng" dirty="0">
                <a:solidFill>
                  <a:prstClr val="black"/>
                </a:solidFill>
              </a:rPr>
              <a:t>Regresión discontinua </a:t>
            </a:r>
            <a:r>
              <a:rPr lang="es-MX" sz="3400" u="sng" dirty="0" smtClean="0">
                <a:solidFill>
                  <a:prstClr val="black"/>
                </a:solidFill>
              </a:rPr>
              <a:t>nítida:</a:t>
            </a:r>
            <a:r>
              <a:rPr lang="es-MX" sz="3400" u="sng" dirty="0">
                <a:solidFill>
                  <a:prstClr val="black"/>
                </a:solidFill>
              </a:rPr>
              <a:t/>
            </a:r>
            <a:br>
              <a:rPr lang="es-MX" sz="3400" u="sng" dirty="0">
                <a:solidFill>
                  <a:prstClr val="black"/>
                </a:solidFill>
              </a:rPr>
            </a:br>
            <a:r>
              <a:rPr lang="es-MX" sz="3400" u="sng" dirty="0" smtClean="0">
                <a:solidFill>
                  <a:prstClr val="black"/>
                </a:solidFill>
              </a:rPr>
              <a:t>Efecto </a:t>
            </a:r>
            <a:r>
              <a:rPr lang="es-MX" sz="3400" u="sng" dirty="0">
                <a:solidFill>
                  <a:prstClr val="black"/>
                </a:solidFill>
              </a:rPr>
              <a:t>del programa</a:t>
            </a: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p:txBody>
              <a:bodyPr>
                <a:normAutofit fontScale="92500" lnSpcReduction="10000"/>
              </a:bodyPr>
              <a:lstStyle/>
              <a:p>
                <a:endParaRPr lang="es-ES" sz="2700" dirty="0" smtClean="0"/>
              </a:p>
              <a:p>
                <a:r>
                  <a:rPr lang="es-ES" sz="2700" dirty="0" smtClean="0"/>
                  <a:t>El </a:t>
                </a:r>
                <a:r>
                  <a:rPr lang="es-ES" sz="2700" dirty="0"/>
                  <a:t>diseño RD identifica el efecto promedio del tratamiento para individuos cercanos al punto de discontinuidad. </a:t>
                </a:r>
                <a:endParaRPr lang="es-ES" sz="2700" dirty="0" smtClean="0"/>
              </a:p>
              <a:p>
                <a:endParaRPr lang="es-ES" sz="2700" dirty="0" smtClean="0"/>
              </a:p>
              <a:p>
                <a:r>
                  <a:rPr lang="es-ES" sz="2700" dirty="0" smtClean="0"/>
                  <a:t>En </a:t>
                </a:r>
                <a:r>
                  <a:rPr lang="es-ES" sz="2700" dirty="0"/>
                  <a:t>particular,  mide el impacto del tratamiento sobre un individuo seleccionado aleatoriamente con características observables </a:t>
                </a:r>
                <a:r>
                  <a:rPr lang="es-ES" sz="2700" dirty="0" smtClean="0"/>
                  <a:t> </a:t>
                </a:r>
                <a14:m>
                  <m:oMath xmlns:m="http://schemas.openxmlformats.org/officeDocument/2006/math">
                    <m:sSub>
                      <m:sSubPr>
                        <m:ctrlPr>
                          <a:rPr lang="es-CO" sz="2700" b="0" i="1" smtClean="0">
                            <a:latin typeface="Cambria Math"/>
                          </a:rPr>
                        </m:ctrlPr>
                      </m:sSubPr>
                      <m:e>
                        <m:r>
                          <a:rPr lang="es-CO" sz="2700" b="0" i="1" smtClean="0">
                            <a:latin typeface="Cambria Math"/>
                          </a:rPr>
                          <m:t>𝑍</m:t>
                        </m:r>
                      </m:e>
                      <m:sub>
                        <m:r>
                          <a:rPr lang="es-CO" sz="2700" b="0" i="1" smtClean="0">
                            <a:latin typeface="Cambria Math"/>
                          </a:rPr>
                          <m:t>𝑖</m:t>
                        </m:r>
                      </m:sub>
                    </m:sSub>
                    <m:r>
                      <a:rPr lang="es-CO" sz="2700" b="0" i="1" smtClean="0">
                        <a:latin typeface="Cambria Math"/>
                      </a:rPr>
                      <m:t>= </m:t>
                    </m:r>
                    <m:acc>
                      <m:accPr>
                        <m:chr m:val="̅"/>
                        <m:ctrlPr>
                          <a:rPr lang="es-CO" sz="2700" b="0" i="1" smtClean="0">
                            <a:latin typeface="Cambria Math"/>
                          </a:rPr>
                        </m:ctrlPr>
                      </m:accPr>
                      <m:e>
                        <m:r>
                          <a:rPr lang="es-CO" sz="2700" b="0" i="1" smtClean="0">
                            <a:latin typeface="Cambria Math"/>
                          </a:rPr>
                          <m:t>𝑍</m:t>
                        </m:r>
                      </m:e>
                    </m:acc>
                  </m:oMath>
                </a14:m>
                <a:r>
                  <a:rPr lang="es-ES" sz="2700" dirty="0" smtClean="0"/>
                  <a:t>. </a:t>
                </a:r>
              </a:p>
              <a:p>
                <a:pPr lvl="1"/>
                <a:r>
                  <a:rPr lang="es-ES" sz="2300" dirty="0" smtClean="0"/>
                  <a:t>Es </a:t>
                </a:r>
                <a:r>
                  <a:rPr lang="es-ES" sz="2300" dirty="0"/>
                  <a:t>un estimador del impacto </a:t>
                </a:r>
                <a:r>
                  <a:rPr lang="es-ES" sz="2300" i="1" dirty="0"/>
                  <a:t>local</a:t>
                </a:r>
                <a:r>
                  <a:rPr lang="es-ES" sz="2300" dirty="0"/>
                  <a:t> del programa. </a:t>
                </a:r>
                <a:endParaRPr lang="es-ES" sz="2300" dirty="0" smtClean="0"/>
              </a:p>
              <a:p>
                <a:endParaRPr lang="es-ES" sz="2700" dirty="0" smtClean="0"/>
              </a:p>
              <a:p>
                <a:r>
                  <a:rPr lang="es-ES" sz="2700" dirty="0" smtClean="0"/>
                  <a:t>En </a:t>
                </a:r>
                <a:r>
                  <a:rPr lang="es-ES" sz="2700" dirty="0"/>
                  <a:t>esta medida, existe una tensión entre la validez interna y la validez externa de la evaluación. </a:t>
                </a:r>
                <a:endParaRPr lang="es-ES" sz="2700" dirty="0" smtClean="0"/>
              </a:p>
              <a:p>
                <a:endParaRPr lang="en-US"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blipFill rotWithShape="1">
                <a:blip r:embed="rId3" cstate="print"/>
                <a:stretch>
                  <a:fillRect l="-1037" r="-1852"/>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6963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69635" name="Rectangle 3"/>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29</a:t>
            </a:fld>
            <a:endParaRPr lang="es-ES" sz="1500" dirty="0">
              <a:solidFill>
                <a:schemeClr val="tx1">
                  <a:lumMod val="50000"/>
                  <a:lumOff val="50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14588" y="285728"/>
            <a:ext cx="6729412" cy="1131910"/>
          </a:xfrm>
        </p:spPr>
        <p:txBody>
          <a:bodyPr>
            <a:normAutofit fontScale="90000"/>
          </a:bodyPr>
          <a:lstStyle/>
          <a:p>
            <a:r>
              <a:rPr lang="es-MX" u="sng" dirty="0" smtClean="0"/>
              <a:t>Regresión discontinua borrosa:</a:t>
            </a:r>
            <a:br>
              <a:rPr lang="es-MX" u="sng" dirty="0" smtClean="0"/>
            </a:br>
            <a:r>
              <a:rPr lang="es-MX" u="sng" dirty="0" smtClean="0"/>
              <a:t>Aspectos teóricos</a:t>
            </a: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2251524"/>
                <a:ext cx="8229600" cy="4183063"/>
              </a:xfrm>
            </p:spPr>
            <p:txBody>
              <a:bodyPr>
                <a:normAutofit lnSpcReduction="10000"/>
              </a:bodyPr>
              <a:lstStyle/>
              <a:p>
                <a:r>
                  <a:rPr lang="es-MX" sz="2900" dirty="0" smtClean="0"/>
                  <a:t>En este caso, la participación efectiva en el programa depende de: </a:t>
                </a:r>
              </a:p>
              <a:p>
                <a:pPr lvl="1"/>
                <a:r>
                  <a:rPr lang="es-CO" sz="2400" dirty="0" smtClean="0"/>
                  <a:t>Variable observable continua de focalización </a:t>
                </a:r>
                <a:r>
                  <a:rPr lang="es-CO" sz="2400" i="1" dirty="0" smtClean="0">
                    <a:latin typeface="Times New Roman" pitchFamily="18" charset="0"/>
                    <a:cs typeface="Times New Roman" pitchFamily="18" charset="0"/>
                  </a:rPr>
                  <a:t>Z.</a:t>
                </a:r>
                <a:endParaRPr lang="es-CO" sz="2400" i="1" dirty="0" smtClean="0">
                  <a:latin typeface="+mj-lt"/>
                  <a:cs typeface="Times New Roman" pitchFamily="18" charset="0"/>
                </a:endParaRPr>
              </a:p>
              <a:p>
                <a:pPr lvl="1"/>
                <a:r>
                  <a:rPr lang="es-MX" sz="2400" dirty="0" smtClean="0"/>
                  <a:t>Otras dimensiones observadas y no observadas de los individuos. En últimas, no todos los individuos a la izquierda participan, y algunos individuos a la derecha del umbral también participan.</a:t>
                </a:r>
              </a:p>
              <a:p>
                <a:endParaRPr lang="es-MX" sz="1800" dirty="0" smtClean="0"/>
              </a:p>
              <a:p>
                <a:r>
                  <a:rPr lang="es-MX" sz="2900" dirty="0" smtClean="0"/>
                  <a:t>La </a:t>
                </a:r>
                <a:r>
                  <a:rPr lang="es-MX" sz="2900" dirty="0" smtClean="0">
                    <a:effectLst>
                      <a:outerShdw blurRad="38100" dist="38100" dir="2700000" algn="tl">
                        <a:srgbClr val="000000">
                          <a:alpha val="43137"/>
                        </a:srgbClr>
                      </a:outerShdw>
                    </a:effectLst>
                  </a:rPr>
                  <a:t>probabilidad</a:t>
                </a:r>
                <a:r>
                  <a:rPr lang="es-MX" sz="2900" dirty="0" smtClean="0"/>
                  <a:t> de participación cambia discontinuamente en el punto </a:t>
                </a:r>
                <a14:m>
                  <m:oMath xmlns:m="http://schemas.openxmlformats.org/officeDocument/2006/math">
                    <m:acc>
                      <m:accPr>
                        <m:chr m:val="̅"/>
                        <m:ctrlPr>
                          <a:rPr lang="es-CO" sz="2900" b="0" i="1" smtClean="0">
                            <a:latin typeface="Cambria Math"/>
                          </a:rPr>
                        </m:ctrlPr>
                      </m:accPr>
                      <m:e>
                        <m:r>
                          <a:rPr lang="es-CO" sz="2900" b="0" i="1" smtClean="0">
                            <a:latin typeface="Cambria Math"/>
                          </a:rPr>
                          <m:t>𝑍</m:t>
                        </m:r>
                      </m:e>
                    </m:acc>
                  </m:oMath>
                </a14:m>
                <a:r>
                  <a:rPr lang="es-MX" sz="2900" dirty="0" smtClean="0"/>
                  <a:t>. </a:t>
                </a:r>
              </a:p>
              <a:p>
                <a:endParaRPr lang="es-MX" sz="2900" dirty="0"/>
              </a:p>
              <a:p>
                <a:endParaRPr lang="en-US"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2251524"/>
                <a:ext cx="8229600" cy="4183063"/>
              </a:xfrm>
              <a:blipFill rotWithShape="1">
                <a:blip r:embed="rId2" cstate="print"/>
                <a:stretch>
                  <a:fillRect l="-1333" t="-2620"/>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30</a:t>
            </a:fld>
            <a:endParaRPr lang="es-ES" sz="1500" dirty="0">
              <a:solidFill>
                <a:schemeClr val="tx1">
                  <a:lumMod val="50000"/>
                  <a:lumOff val="50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14588" y="285728"/>
            <a:ext cx="6457950" cy="1131910"/>
          </a:xfrm>
        </p:spPr>
        <p:txBody>
          <a:bodyPr>
            <a:noAutofit/>
          </a:bodyPr>
          <a:lstStyle/>
          <a:p>
            <a:r>
              <a:rPr lang="es-MX" sz="3600" u="sng" dirty="0" smtClean="0"/>
              <a:t>Regresión discontinua borrosa:</a:t>
            </a:r>
            <a:br>
              <a:rPr lang="es-MX" sz="3600" u="sng" dirty="0" smtClean="0"/>
            </a:br>
            <a:r>
              <a:rPr lang="es-MX" sz="3600" u="sng" dirty="0" smtClean="0"/>
              <a:t>Aspectos teóricos</a:t>
            </a:r>
            <a:endParaRPr lang="en-US" sz="36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mc:AlternateContent xmlns:mc="http://schemas.openxmlformats.org/markup-compatibility/2006">
        <mc:Choice xmlns:a14="http://schemas.microsoft.com/office/drawing/2010/main" xmlns="" Requires="a14">
          <p:sp>
            <p:nvSpPr>
              <p:cNvPr id="7" name="6 CuadroTexto"/>
              <p:cNvSpPr txBox="1"/>
              <p:nvPr/>
            </p:nvSpPr>
            <p:spPr>
              <a:xfrm>
                <a:off x="685800" y="5043487"/>
                <a:ext cx="8086725" cy="1137940"/>
              </a:xfrm>
              <a:prstGeom prst="rect">
                <a:avLst/>
              </a:prstGeom>
              <a:noFill/>
            </p:spPr>
            <p:txBody>
              <a:bodyPr wrap="square" rtlCol="0">
                <a:spAutoFit/>
              </a:bodyPr>
              <a:lstStyle/>
              <a:p>
                <a:pPr algn="just"/>
                <a:r>
                  <a:rPr lang="es-MX" sz="2200" dirty="0" smtClean="0"/>
                  <a:t>La probabilidad de recibir el tratamiento es positiva tanto a la izquierda como a la derecha de </a:t>
                </a:r>
                <a14:m>
                  <m:oMath xmlns:m="http://schemas.openxmlformats.org/officeDocument/2006/math">
                    <m:acc>
                      <m:accPr>
                        <m:chr m:val="̅"/>
                        <m:ctrlPr>
                          <a:rPr lang="es-MX" sz="2200" i="1" smtClean="0">
                            <a:latin typeface="Cambria Math"/>
                          </a:rPr>
                        </m:ctrlPr>
                      </m:accPr>
                      <m:e>
                        <m:r>
                          <a:rPr lang="es-CO" sz="2200" b="0" i="1" smtClean="0">
                            <a:latin typeface="Cambria Math"/>
                          </a:rPr>
                          <m:t>𝑍</m:t>
                        </m:r>
                      </m:e>
                    </m:acc>
                  </m:oMath>
                </a14:m>
                <a:r>
                  <a:rPr lang="es-MX" sz="2200" dirty="0" smtClean="0"/>
                  <a:t>, pero hay un cambio discreto en esa probabilidad justo en el umbral. </a:t>
                </a:r>
                <a:endParaRPr lang="en-US" sz="2200" dirty="0"/>
              </a:p>
            </p:txBody>
          </p:sp>
        </mc:Choice>
        <mc:Fallback>
          <p:sp>
            <p:nvSpPr>
              <p:cNvPr id="7" name="6 CuadroTexto"/>
              <p:cNvSpPr txBox="1">
                <a:spLocks noRot="1" noChangeAspect="1" noMove="1" noResize="1" noEditPoints="1" noAdjustHandles="1" noChangeArrowheads="1" noChangeShapeType="1" noTextEdit="1"/>
              </p:cNvSpPr>
              <p:nvPr/>
            </p:nvSpPr>
            <p:spPr>
              <a:xfrm>
                <a:off x="685800" y="5043487"/>
                <a:ext cx="8086725" cy="1137940"/>
              </a:xfrm>
              <a:prstGeom prst="rect">
                <a:avLst/>
              </a:prstGeom>
              <a:blipFill rotWithShape="1">
                <a:blip r:embed="rId3" cstate="print"/>
                <a:stretch>
                  <a:fillRect l="-980" t="-3209" r="-980" b="-6952"/>
                </a:stretch>
              </a:blipFill>
            </p:spPr>
            <p:txBody>
              <a:bodyPr/>
              <a:lstStyle/>
              <a:p>
                <a:r>
                  <a:rPr lang="es-CO">
                    <a:noFill/>
                  </a:rPr>
                  <a:t> </a:t>
                </a:r>
              </a:p>
            </p:txBody>
          </p:sp>
        </mc:Fallback>
      </mc:AlternateContent>
      <p:pic>
        <p:nvPicPr>
          <p:cNvPr id="125954" name="Picture 2"/>
          <p:cNvPicPr>
            <a:picLocks noChangeAspect="1" noChangeArrowheads="1"/>
          </p:cNvPicPr>
          <p:nvPr/>
        </p:nvPicPr>
        <p:blipFill>
          <a:blip r:embed="rId4" cstate="print"/>
          <a:srcRect/>
          <a:stretch>
            <a:fillRect/>
          </a:stretch>
        </p:blipFill>
        <p:spPr bwMode="auto">
          <a:xfrm>
            <a:off x="296697" y="1460499"/>
            <a:ext cx="8329461" cy="3253389"/>
          </a:xfrm>
          <a:prstGeom prst="rect">
            <a:avLst/>
          </a:prstGeom>
          <a:noFill/>
          <a:ln w="9525">
            <a:noFill/>
            <a:miter lim="800000"/>
            <a:headEnd/>
            <a:tailEnd/>
          </a:ln>
          <a:effectLst/>
        </p:spPr>
      </p:pic>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31</a:t>
            </a:fld>
            <a:endParaRPr lang="es-ES" sz="1500" dirty="0">
              <a:solidFill>
                <a:schemeClr val="tx1">
                  <a:lumMod val="50000"/>
                  <a:lumOff val="50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00297" y="285728"/>
            <a:ext cx="6422985" cy="1131910"/>
          </a:xfrm>
        </p:spPr>
        <p:txBody>
          <a:bodyPr>
            <a:normAutofit fontScale="90000"/>
          </a:bodyPr>
          <a:lstStyle/>
          <a:p>
            <a:r>
              <a:rPr lang="es-MX" sz="3600" u="sng" dirty="0" smtClean="0">
                <a:solidFill>
                  <a:prstClr val="black"/>
                </a:solidFill>
              </a:rPr>
              <a:t>Regresión discontinua borrosa (RDB):</a:t>
            </a:r>
            <a:br>
              <a:rPr lang="es-MX" sz="3600" u="sng" dirty="0" smtClean="0">
                <a:solidFill>
                  <a:prstClr val="black"/>
                </a:solidFill>
              </a:rPr>
            </a:br>
            <a:r>
              <a:rPr lang="es-MX" sz="3600" u="sng" dirty="0" smtClean="0">
                <a:solidFill>
                  <a:prstClr val="black"/>
                </a:solidFill>
              </a:rPr>
              <a:t>Aspectos teóricos</a:t>
            </a:r>
            <a:endParaRPr lang="en-US" dirty="0"/>
          </a:p>
        </p:txBody>
      </p:sp>
      <mc:AlternateContent xmlns:mc="http://schemas.openxmlformats.org/markup-compatibility/2006">
        <mc:Choice xmlns:a14="http://schemas.microsoft.com/office/drawing/2010/main" xmlns="" Requires="a14">
          <p:sp>
            <p:nvSpPr>
              <p:cNvPr id="7" name="6 Marcador de contenido"/>
              <p:cNvSpPr>
                <a:spLocks noGrp="1"/>
              </p:cNvSpPr>
              <p:nvPr>
                <p:ph sz="half" idx="2"/>
              </p:nvPr>
            </p:nvSpPr>
            <p:spPr>
              <a:xfrm>
                <a:off x="4303986" y="1771656"/>
                <a:ext cx="4619297" cy="4525963"/>
              </a:xfrm>
            </p:spPr>
            <p:txBody>
              <a:bodyPr>
                <a:normAutofit fontScale="92500" lnSpcReduction="10000"/>
              </a:bodyPr>
              <a:lstStyle/>
              <a:p>
                <a:r>
                  <a:rPr lang="es-ES" dirty="0" smtClean="0">
                    <a:solidFill>
                      <a:schemeClr val="accent5">
                        <a:lumMod val="75000"/>
                      </a:schemeClr>
                    </a:solidFill>
                  </a:rPr>
                  <a:t>Condición de identificación: </a:t>
                </a:r>
              </a:p>
              <a:p>
                <a:endParaRPr lang="es-ES" dirty="0" smtClean="0"/>
              </a:p>
              <a:p>
                <a:pPr marL="0" indent="0">
                  <a:buNone/>
                </a:pPr>
                <a14:m>
                  <m:oMathPara xmlns:m="http://schemas.openxmlformats.org/officeDocument/2006/math">
                    <m:oMathParaPr>
                      <m:jc m:val="centerGroup"/>
                    </m:oMathParaPr>
                    <m:oMath xmlns:m="http://schemas.openxmlformats.org/officeDocument/2006/math">
                      <m:func>
                        <m:funcPr>
                          <m:ctrlPr>
                            <a:rPr lang="es-CO" sz="1900" i="1">
                              <a:latin typeface="Cambria Math"/>
                            </a:rPr>
                          </m:ctrlPr>
                        </m:funcPr>
                        <m:fName>
                          <m:limLow>
                            <m:limLowPr>
                              <m:ctrlPr>
                                <a:rPr lang="es-CO" sz="1900" i="1">
                                  <a:latin typeface="Cambria Math"/>
                                </a:rPr>
                              </m:ctrlPr>
                            </m:limLowPr>
                            <m:e>
                              <m:r>
                                <m:rPr>
                                  <m:sty m:val="p"/>
                                </m:rPr>
                                <a:rPr lang="es-ES" sz="1900">
                                  <a:latin typeface="Cambria Math"/>
                                </a:rPr>
                                <m:t>lim</m:t>
                              </m:r>
                            </m:e>
                            <m:lim>
                              <m:r>
                                <a:rPr lang="es-ES" sz="1900" i="1">
                                  <a:latin typeface="Cambria Math"/>
                                </a:rPr>
                                <m:t>𝑧</m:t>
                              </m:r>
                              <m:r>
                                <a:rPr lang="es-ES" sz="1900" i="1">
                                  <a:latin typeface="Cambria Math"/>
                                </a:rPr>
                                <m:t>↓</m:t>
                              </m:r>
                              <m:acc>
                                <m:accPr>
                                  <m:chr m:val="̅"/>
                                  <m:ctrlPr>
                                    <a:rPr lang="es-CO" sz="1900" i="1">
                                      <a:latin typeface="Cambria Math"/>
                                    </a:rPr>
                                  </m:ctrlPr>
                                </m:accPr>
                                <m:e>
                                  <m:r>
                                    <a:rPr lang="es-ES" sz="1900" i="1">
                                      <a:latin typeface="Cambria Math"/>
                                    </a:rPr>
                                    <m:t>𝑍</m:t>
                                  </m:r>
                                </m:e>
                              </m:acc>
                            </m:lim>
                          </m:limLow>
                        </m:fName>
                        <m:e>
                          <m:r>
                            <a:rPr lang="es-ES" sz="1900" i="1">
                              <a:latin typeface="Cambria Math"/>
                            </a:rPr>
                            <m:t>𝑃𝑟</m:t>
                          </m:r>
                          <m:d>
                            <m:dPr>
                              <m:ctrlPr>
                                <a:rPr lang="es-CO" sz="1900" i="1">
                                  <a:latin typeface="Cambria Math"/>
                                </a:rPr>
                              </m:ctrlPr>
                            </m:dPr>
                            <m:e>
                              <m:r>
                                <a:rPr lang="es-ES" sz="1900" i="1">
                                  <a:latin typeface="Cambria Math"/>
                                </a:rPr>
                                <m:t>𝐷</m:t>
                              </m:r>
                              <m:r>
                                <a:rPr lang="es-ES" sz="1900" i="1">
                                  <a:latin typeface="Cambria Math"/>
                                </a:rPr>
                                <m:t>=1|</m:t>
                              </m:r>
                              <m:r>
                                <a:rPr lang="es-ES" sz="1900" i="1">
                                  <a:latin typeface="Cambria Math"/>
                                </a:rPr>
                                <m:t>𝑍</m:t>
                              </m:r>
                              <m:r>
                                <a:rPr lang="es-ES" sz="1900" i="1">
                                  <a:latin typeface="Cambria Math"/>
                                </a:rPr>
                                <m:t>=</m:t>
                              </m:r>
                              <m:r>
                                <a:rPr lang="es-ES" sz="1900" i="1">
                                  <a:latin typeface="Cambria Math"/>
                                </a:rPr>
                                <m:t>𝑧</m:t>
                              </m:r>
                            </m:e>
                          </m:d>
                          <m:r>
                            <a:rPr lang="es-ES" sz="1900" i="1">
                              <a:latin typeface="Cambria Math"/>
                            </a:rPr>
                            <m:t>≠</m:t>
                          </m:r>
                        </m:e>
                      </m:func>
                      <m:func>
                        <m:funcPr>
                          <m:ctrlPr>
                            <a:rPr lang="es-CO" sz="1900" i="1">
                              <a:latin typeface="Cambria Math"/>
                            </a:rPr>
                          </m:ctrlPr>
                        </m:funcPr>
                        <m:fName>
                          <m:limLow>
                            <m:limLowPr>
                              <m:ctrlPr>
                                <a:rPr lang="es-CO" sz="1900" i="1">
                                  <a:latin typeface="Cambria Math"/>
                                </a:rPr>
                              </m:ctrlPr>
                            </m:limLowPr>
                            <m:e>
                              <m:r>
                                <m:rPr>
                                  <m:sty m:val="p"/>
                                </m:rPr>
                                <a:rPr lang="es-ES" sz="1900">
                                  <a:latin typeface="Cambria Math"/>
                                </a:rPr>
                                <m:t>lim</m:t>
                              </m:r>
                            </m:e>
                            <m:lim>
                              <m:r>
                                <a:rPr lang="es-ES" sz="1900" i="1">
                                  <a:latin typeface="Cambria Math"/>
                                </a:rPr>
                                <m:t>𝑧</m:t>
                              </m:r>
                              <m:r>
                                <a:rPr lang="es-ES" sz="1900" i="1">
                                  <a:latin typeface="Cambria Math"/>
                                </a:rPr>
                                <m:t>↑</m:t>
                              </m:r>
                              <m:acc>
                                <m:accPr>
                                  <m:chr m:val="̅"/>
                                  <m:ctrlPr>
                                    <a:rPr lang="es-CO" sz="1900" i="1">
                                      <a:latin typeface="Cambria Math"/>
                                    </a:rPr>
                                  </m:ctrlPr>
                                </m:accPr>
                                <m:e>
                                  <m:r>
                                    <a:rPr lang="es-ES" sz="1900" i="1">
                                      <a:latin typeface="Cambria Math"/>
                                    </a:rPr>
                                    <m:t>𝑍</m:t>
                                  </m:r>
                                </m:e>
                              </m:acc>
                            </m:lim>
                          </m:limLow>
                        </m:fName>
                        <m:e>
                          <m:r>
                            <a:rPr lang="es-ES" sz="1900" i="1">
                              <a:latin typeface="Cambria Math"/>
                            </a:rPr>
                            <m:t>𝑃𝑟</m:t>
                          </m:r>
                          <m:d>
                            <m:dPr>
                              <m:ctrlPr>
                                <a:rPr lang="es-CO" sz="1900" i="1">
                                  <a:latin typeface="Cambria Math"/>
                                </a:rPr>
                              </m:ctrlPr>
                            </m:dPr>
                            <m:e>
                              <m:r>
                                <a:rPr lang="es-ES" sz="1900" i="1">
                                  <a:latin typeface="Cambria Math"/>
                                </a:rPr>
                                <m:t>𝐷</m:t>
                              </m:r>
                              <m:r>
                                <a:rPr lang="es-ES" sz="1900" i="1">
                                  <a:latin typeface="Cambria Math"/>
                                </a:rPr>
                                <m:t>=1|</m:t>
                              </m:r>
                              <m:r>
                                <a:rPr lang="es-ES" sz="1900" i="1">
                                  <a:latin typeface="Cambria Math"/>
                                </a:rPr>
                                <m:t>𝑍</m:t>
                              </m:r>
                              <m:r>
                                <a:rPr lang="es-ES" sz="1900" i="1">
                                  <a:latin typeface="Cambria Math"/>
                                </a:rPr>
                                <m:t>=</m:t>
                              </m:r>
                              <m:r>
                                <a:rPr lang="es-ES" sz="1900" i="1">
                                  <a:latin typeface="Cambria Math"/>
                                </a:rPr>
                                <m:t>𝑧</m:t>
                              </m:r>
                            </m:e>
                          </m:d>
                        </m:e>
                      </m:func>
                    </m:oMath>
                  </m:oMathPara>
                </a14:m>
                <a:endParaRPr lang="es-ES" sz="1900" dirty="0" smtClean="0"/>
              </a:p>
              <a:p>
                <a:endParaRPr lang="es-ES" dirty="0" smtClean="0"/>
              </a:p>
              <a:p>
                <a:r>
                  <a:rPr lang="es-ES" dirty="0" smtClean="0"/>
                  <a:t>La principal fuente de identificación en RDB es la discontinuidad en la probabilidad de participación en el tratamiento en un punto específico de la distribución de </a:t>
                </a:r>
                <a:r>
                  <a:rPr lang="es-ES" i="1" dirty="0" smtClean="0">
                    <a:latin typeface="Times New Roman" pitchFamily="18" charset="0"/>
                    <a:cs typeface="Times New Roman" pitchFamily="18" charset="0"/>
                  </a:rPr>
                  <a:t>Z</a:t>
                </a:r>
                <a:r>
                  <a:rPr lang="es-ES" i="1" dirty="0" smtClean="0"/>
                  <a:t>. </a:t>
                </a:r>
              </a:p>
              <a:p>
                <a:endParaRPr lang="en-US" dirty="0"/>
              </a:p>
            </p:txBody>
          </p:sp>
        </mc:Choice>
        <mc:Fallback>
          <p:sp>
            <p:nvSpPr>
              <p:cNvPr id="7" name="6 Marcador de contenido"/>
              <p:cNvSpPr>
                <a:spLocks noGrp="1" noRot="1" noChangeAspect="1" noMove="1" noResize="1" noEditPoints="1" noAdjustHandles="1" noChangeArrowheads="1" noChangeShapeType="1" noTextEdit="1"/>
              </p:cNvSpPr>
              <p:nvPr>
                <p:ph sz="half" idx="2"/>
              </p:nvPr>
            </p:nvSpPr>
            <p:spPr>
              <a:xfrm>
                <a:off x="4303986" y="1771656"/>
                <a:ext cx="4619297" cy="4525963"/>
              </a:xfrm>
              <a:blipFill rotWithShape="1">
                <a:blip r:embed="rId2" cstate="print"/>
                <a:stretch>
                  <a:fillRect l="-1979" t="-2022" r="-2639"/>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028"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9" name="Rectangle 5"/>
          <p:cNvSpPr>
            <a:spLocks noChangeArrowheads="1"/>
          </p:cNvSpPr>
          <p:nvPr/>
        </p:nvSpPr>
        <p:spPr bwMode="auto">
          <a:xfrm>
            <a:off x="914400" y="819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pic>
        <p:nvPicPr>
          <p:cNvPr id="12" name="Picture 2"/>
          <p:cNvPicPr>
            <a:picLocks noChangeAspect="1" noChangeArrowheads="1"/>
          </p:cNvPicPr>
          <p:nvPr/>
        </p:nvPicPr>
        <p:blipFill>
          <a:blip r:embed="rId4" cstate="print"/>
          <a:srcRect/>
          <a:stretch>
            <a:fillRect/>
          </a:stretch>
        </p:blipFill>
        <p:spPr bwMode="auto">
          <a:xfrm>
            <a:off x="-554663" y="1728522"/>
            <a:ext cx="5757261" cy="3505638"/>
          </a:xfrm>
          <a:prstGeom prst="rect">
            <a:avLst/>
          </a:prstGeom>
          <a:noFill/>
          <a:ln w="9525">
            <a:noFill/>
            <a:miter lim="800000"/>
            <a:headEnd/>
            <a:tailEnd/>
          </a:ln>
          <a:effectLst/>
        </p:spPr>
      </p:pic>
      <p:sp>
        <p:nvSpPr>
          <p:cNvPr id="655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65539" name="Rectangle 3"/>
          <p:cNvSpPr>
            <a:spLocks noChangeArrowheads="1"/>
          </p:cNvSpPr>
          <p:nvPr/>
        </p:nvSpPr>
        <p:spPr bwMode="auto">
          <a:xfrm>
            <a:off x="0" y="819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32</a:t>
            </a:fld>
            <a:endParaRPr lang="es-ES" sz="1500" dirty="0">
              <a:solidFill>
                <a:schemeClr val="tx1">
                  <a:lumMod val="50000"/>
                  <a:lumOff val="50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57298"/>
            <a:ext cx="8229600" cy="4768865"/>
          </a:xfrm>
          <a:ln w="28575">
            <a:solidFill>
              <a:schemeClr val="accent1">
                <a:lumMod val="75000"/>
              </a:schemeClr>
            </a:solidFill>
          </a:ln>
        </p:spPr>
        <p:txBody>
          <a:bodyPr/>
          <a:lstStyle/>
          <a:p>
            <a:pPr>
              <a:buNone/>
            </a:pPr>
            <a:r>
              <a:rPr lang="es-ES_tradnl" sz="2500" b="1" dirty="0" smtClean="0"/>
              <a:t>	</a:t>
            </a:r>
            <a:r>
              <a:rPr lang="es-ES_tradnl" sz="2500" b="1" u="sng" dirty="0" smtClean="0"/>
              <a:t>Población elegible:</a:t>
            </a:r>
            <a:r>
              <a:rPr lang="es-ES_tradnl" sz="2500" dirty="0" smtClean="0"/>
              <a:t> Hogares </a:t>
            </a:r>
            <a:r>
              <a:rPr lang="es-ES_tradnl" sz="2500" dirty="0" err="1" smtClean="0"/>
              <a:t>Sisben</a:t>
            </a:r>
            <a:r>
              <a:rPr lang="es-ES_tradnl" sz="2500" dirty="0" smtClean="0"/>
              <a:t> 1, PERO los individuos deben decidir si hacen la solicitud o no.  </a:t>
            </a:r>
            <a:endParaRPr lang="es-ES" sz="2500" b="1" u="sng" dirty="0"/>
          </a:p>
        </p:txBody>
      </p:sp>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AR" sz="4200" dirty="0" smtClean="0"/>
              <a:t>Ejemplo 1: </a:t>
            </a:r>
            <a:r>
              <a:rPr lang="es-AR" sz="4200" i="1" dirty="0" smtClean="0"/>
              <a:t>Canasta</a:t>
            </a:r>
            <a:endParaRPr lang="es-AR" sz="4200" dirty="0"/>
          </a:p>
        </p:txBody>
      </p:sp>
      <p:cxnSp>
        <p:nvCxnSpPr>
          <p:cNvPr id="7" name="6 Conector recto de flecha"/>
          <p:cNvCxnSpPr/>
          <p:nvPr/>
        </p:nvCxnSpPr>
        <p:spPr>
          <a:xfrm>
            <a:off x="4888302" y="2109014"/>
            <a:ext cx="897643" cy="318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5863312" y="2227374"/>
            <a:ext cx="2539157" cy="477054"/>
          </a:xfrm>
          <a:prstGeom prst="rect">
            <a:avLst/>
          </a:prstGeom>
          <a:noFill/>
        </p:spPr>
        <p:txBody>
          <a:bodyPr wrap="none" rtlCol="0">
            <a:spAutoFit/>
          </a:bodyPr>
          <a:lstStyle/>
          <a:p>
            <a:r>
              <a:rPr lang="es-ES_tradnl" sz="2500" b="1" dirty="0" smtClean="0"/>
              <a:t>No es obligatorio.</a:t>
            </a:r>
            <a:endParaRPr lang="es-ES" sz="2500" b="1" dirty="0"/>
          </a:p>
        </p:txBody>
      </p:sp>
      <p:sp>
        <p:nvSpPr>
          <p:cNvPr id="10" name="9 CuadroTexto"/>
          <p:cNvSpPr txBox="1"/>
          <p:nvPr/>
        </p:nvSpPr>
        <p:spPr>
          <a:xfrm>
            <a:off x="928662" y="2380442"/>
            <a:ext cx="1702517" cy="477054"/>
          </a:xfrm>
          <a:prstGeom prst="rect">
            <a:avLst/>
          </a:prstGeom>
          <a:noFill/>
        </p:spPr>
        <p:txBody>
          <a:bodyPr wrap="none" rtlCol="0">
            <a:spAutoFit/>
          </a:bodyPr>
          <a:lstStyle/>
          <a:p>
            <a:r>
              <a:rPr lang="es-ES_tradnl" sz="2500" dirty="0" smtClean="0"/>
              <a:t>El umbral    </a:t>
            </a:r>
            <a:endParaRPr lang="es-ES" sz="2500" dirty="0"/>
          </a:p>
        </p:txBody>
      </p:sp>
      <p:cxnSp>
        <p:nvCxnSpPr>
          <p:cNvPr id="16" name="15 Conector recto"/>
          <p:cNvCxnSpPr/>
          <p:nvPr/>
        </p:nvCxnSpPr>
        <p:spPr>
          <a:xfrm rot="5400000">
            <a:off x="1535885" y="2893215"/>
            <a:ext cx="2143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de flecha"/>
          <p:cNvCxnSpPr/>
          <p:nvPr/>
        </p:nvCxnSpPr>
        <p:spPr>
          <a:xfrm>
            <a:off x="1643042" y="3000372"/>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2500298" y="2786058"/>
            <a:ext cx="6000792" cy="861774"/>
          </a:xfrm>
          <a:prstGeom prst="rect">
            <a:avLst/>
          </a:prstGeom>
          <a:noFill/>
        </p:spPr>
        <p:txBody>
          <a:bodyPr wrap="square" rtlCol="0">
            <a:spAutoFit/>
          </a:bodyPr>
          <a:lstStyle/>
          <a:p>
            <a:r>
              <a:rPr lang="es-ES_tradnl" sz="2500" dirty="0" smtClean="0"/>
              <a:t>Determina parcialmente la participación en el programa. </a:t>
            </a:r>
            <a:endParaRPr lang="es-ES" sz="2500" dirty="0"/>
          </a:p>
        </p:txBody>
      </p:sp>
      <p:sp>
        <p:nvSpPr>
          <p:cNvPr id="21" name="20 CuadroTexto"/>
          <p:cNvSpPr txBox="1"/>
          <p:nvPr/>
        </p:nvSpPr>
        <p:spPr>
          <a:xfrm>
            <a:off x="1071538" y="3786190"/>
            <a:ext cx="4348434" cy="477054"/>
          </a:xfrm>
          <a:prstGeom prst="rect">
            <a:avLst/>
          </a:prstGeom>
          <a:noFill/>
        </p:spPr>
        <p:txBody>
          <a:bodyPr wrap="none" rtlCol="0">
            <a:spAutoFit/>
          </a:bodyPr>
          <a:lstStyle/>
          <a:p>
            <a:r>
              <a:rPr lang="es-ES_tradnl" sz="2500" dirty="0" smtClean="0"/>
              <a:t>La probabilidad de participación</a:t>
            </a:r>
            <a:endParaRPr lang="es-ES" sz="2500" dirty="0"/>
          </a:p>
        </p:txBody>
      </p:sp>
      <p:cxnSp>
        <p:nvCxnSpPr>
          <p:cNvPr id="22" name="21 Conector recto"/>
          <p:cNvCxnSpPr/>
          <p:nvPr/>
        </p:nvCxnSpPr>
        <p:spPr>
          <a:xfrm rot="5400000">
            <a:off x="1535885" y="4393413"/>
            <a:ext cx="21431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p:nvPr/>
        </p:nvCxnSpPr>
        <p:spPr>
          <a:xfrm>
            <a:off x="1643042" y="4500570"/>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23 CuadroTexto"/>
          <p:cNvSpPr txBox="1"/>
          <p:nvPr/>
        </p:nvSpPr>
        <p:spPr>
          <a:xfrm>
            <a:off x="2500298" y="4214818"/>
            <a:ext cx="6000792" cy="861774"/>
          </a:xfrm>
          <a:prstGeom prst="rect">
            <a:avLst/>
          </a:prstGeom>
          <a:noFill/>
        </p:spPr>
        <p:txBody>
          <a:bodyPr wrap="square" rtlCol="0">
            <a:spAutoFit/>
          </a:bodyPr>
          <a:lstStyle/>
          <a:p>
            <a:r>
              <a:rPr lang="es-ES_tradnl" sz="2500" dirty="0" smtClean="0"/>
              <a:t>Si                , entonces la probabilidad de participación es mayor o igual a cero.</a:t>
            </a:r>
            <a:endParaRPr lang="es-ES" sz="2500" dirty="0"/>
          </a:p>
        </p:txBody>
      </p:sp>
      <p:sp>
        <p:nvSpPr>
          <p:cNvPr id="8806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88067"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8806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88070" name="Rectangle 6"/>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8807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88073" name="Rectangle 9"/>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cxnSp>
        <p:nvCxnSpPr>
          <p:cNvPr id="26" name="25 Conector recto"/>
          <p:cNvCxnSpPr/>
          <p:nvPr/>
        </p:nvCxnSpPr>
        <p:spPr>
          <a:xfrm rot="5400000">
            <a:off x="1250133" y="4893479"/>
            <a:ext cx="78581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26 Conector recto de flecha"/>
          <p:cNvCxnSpPr/>
          <p:nvPr/>
        </p:nvCxnSpPr>
        <p:spPr>
          <a:xfrm>
            <a:off x="1643042" y="5286388"/>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28 CuadroTexto"/>
          <p:cNvSpPr txBox="1"/>
          <p:nvPr/>
        </p:nvSpPr>
        <p:spPr>
          <a:xfrm>
            <a:off x="2500298" y="5000636"/>
            <a:ext cx="6000792" cy="861774"/>
          </a:xfrm>
          <a:prstGeom prst="rect">
            <a:avLst/>
          </a:prstGeom>
          <a:noFill/>
        </p:spPr>
        <p:txBody>
          <a:bodyPr wrap="square" rtlCol="0">
            <a:spAutoFit/>
          </a:bodyPr>
          <a:lstStyle/>
          <a:p>
            <a:r>
              <a:rPr lang="es-ES_tradnl" sz="2500" dirty="0" smtClean="0"/>
              <a:t>Si                 ,entonces la probabilidad de participación es cero.</a:t>
            </a:r>
            <a:endParaRPr lang="es-ES" sz="2500" dirty="0"/>
          </a:p>
        </p:txBody>
      </p:sp>
      <p:sp>
        <p:nvSpPr>
          <p:cNvPr id="286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8675"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86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8678" name="Rectangle 6"/>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graphicFrame>
        <p:nvGraphicFramePr>
          <p:cNvPr id="60417" name="Object 1"/>
          <p:cNvGraphicFramePr>
            <a:graphicFrameLocks noChangeAspect="1"/>
          </p:cNvGraphicFramePr>
          <p:nvPr/>
        </p:nvGraphicFramePr>
        <p:xfrm>
          <a:off x="-32" y="4949840"/>
          <a:ext cx="6908800" cy="693738"/>
        </p:xfrm>
        <a:graphic>
          <a:graphicData uri="http://schemas.openxmlformats.org/presentationml/2006/ole">
            <p:oleObj spid="_x0000_s64565" name="Documento" r:id="rId5" imgW="5397500" imgH="556276" progId="Word.Document.12">
              <p:embed/>
            </p:oleObj>
          </a:graphicData>
        </a:graphic>
      </p:graphicFrame>
      <p:graphicFrame>
        <p:nvGraphicFramePr>
          <p:cNvPr id="60418" name="Object 2"/>
          <p:cNvGraphicFramePr>
            <a:graphicFrameLocks noChangeAspect="1"/>
          </p:cNvGraphicFramePr>
          <p:nvPr/>
        </p:nvGraphicFramePr>
        <p:xfrm>
          <a:off x="-50784" y="4164022"/>
          <a:ext cx="6908800" cy="693738"/>
        </p:xfrm>
        <a:graphic>
          <a:graphicData uri="http://schemas.openxmlformats.org/presentationml/2006/ole">
            <p:oleObj spid="_x0000_s64566" name="Documento" r:id="rId6" imgW="5397500" imgH="556276" progId="Word.Document.12">
              <p:embed/>
            </p:oleObj>
          </a:graphicData>
        </a:graphic>
      </p:graphicFrame>
      <p:graphicFrame>
        <p:nvGraphicFramePr>
          <p:cNvPr id="60419" name="Object 3"/>
          <p:cNvGraphicFramePr>
            <a:graphicFrameLocks noChangeAspect="1"/>
          </p:cNvGraphicFramePr>
          <p:nvPr/>
        </p:nvGraphicFramePr>
        <p:xfrm>
          <a:off x="-285784" y="2357430"/>
          <a:ext cx="5411787" cy="606425"/>
        </p:xfrm>
        <a:graphic>
          <a:graphicData uri="http://schemas.openxmlformats.org/presentationml/2006/ole">
            <p:oleObj spid="_x0000_s64567" name="Documento" r:id="rId7" imgW="5397500" imgH="607470" progId="Word.Document.12">
              <p:embed/>
            </p:oleObj>
          </a:graphicData>
        </a:graphic>
      </p:graphicFrame>
      <p:sp>
        <p:nvSpPr>
          <p:cNvPr id="33" name="3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33</a:t>
            </a:fld>
            <a:endParaRPr lang="es-ES" sz="1500" dirty="0">
              <a:solidFill>
                <a:schemeClr val="tx1">
                  <a:lumMod val="50000"/>
                  <a:lumOff val="50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ES_tradnl" sz="2500" b="1" u="sng" dirty="0" smtClean="0"/>
              <a:t>Población elegible:</a:t>
            </a:r>
            <a:r>
              <a:rPr lang="es-ES_tradnl" sz="2500" dirty="0" smtClean="0"/>
              <a:t> 	Hogares de </a:t>
            </a:r>
            <a:r>
              <a:rPr lang="es-ES_tradnl" sz="2500" dirty="0" err="1" smtClean="0"/>
              <a:t>Sisben</a:t>
            </a:r>
            <a:r>
              <a:rPr lang="es-ES_tradnl" sz="2500" dirty="0" smtClean="0"/>
              <a:t> 1 y 2.</a:t>
            </a:r>
          </a:p>
          <a:p>
            <a:pPr>
              <a:buNone/>
            </a:pPr>
            <a:r>
              <a:rPr lang="es-ES_tradnl" sz="2500" dirty="0" smtClean="0"/>
              <a:t>				Cobertura </a:t>
            </a:r>
            <a:r>
              <a:rPr lang="es-ES_tradnl" sz="2500" u="sng" dirty="0" smtClean="0"/>
              <a:t>universal</a:t>
            </a:r>
            <a:r>
              <a:rPr lang="es-ES_tradnl" sz="2500" dirty="0" smtClean="0"/>
              <a:t> para </a:t>
            </a:r>
            <a:r>
              <a:rPr lang="es-ES_tradnl" sz="2500" dirty="0" err="1" smtClean="0"/>
              <a:t>Sisben</a:t>
            </a:r>
            <a:r>
              <a:rPr lang="es-ES_tradnl" sz="2500" dirty="0" smtClean="0"/>
              <a:t> 1.</a:t>
            </a:r>
          </a:p>
          <a:p>
            <a:pPr>
              <a:buNone/>
            </a:pPr>
            <a:r>
              <a:rPr lang="es-ES_tradnl" sz="2500" dirty="0" smtClean="0"/>
              <a:t>				Mercado para todos lo hogares.</a:t>
            </a:r>
          </a:p>
          <a:p>
            <a:pPr>
              <a:buNone/>
            </a:pPr>
            <a:r>
              <a:rPr lang="es-ES_tradnl" sz="2500" dirty="0" smtClean="0"/>
              <a:t>				Cobertura </a:t>
            </a:r>
            <a:r>
              <a:rPr lang="es-ES_tradnl" sz="2500" u="sng" dirty="0" smtClean="0"/>
              <a:t>parcial</a:t>
            </a:r>
            <a:r>
              <a:rPr lang="es-ES_tradnl" sz="2500" dirty="0" smtClean="0"/>
              <a:t> para </a:t>
            </a:r>
            <a:r>
              <a:rPr lang="es-ES_tradnl" sz="2500" dirty="0" err="1" smtClean="0"/>
              <a:t>Sisben</a:t>
            </a:r>
            <a:r>
              <a:rPr lang="es-ES_tradnl" sz="2500" dirty="0" smtClean="0"/>
              <a:t> 2.</a:t>
            </a:r>
          </a:p>
          <a:p>
            <a:pPr>
              <a:buNone/>
            </a:pPr>
            <a:r>
              <a:rPr lang="es-ES_tradnl" sz="2500" dirty="0" smtClean="0"/>
              <a:t>				Mercado para 100,000 hogares </a:t>
            </a:r>
          </a:p>
          <a:p>
            <a:pPr>
              <a:buNone/>
            </a:pPr>
            <a:r>
              <a:rPr lang="es-ES_tradnl" sz="2500" dirty="0" smtClean="0"/>
              <a:t>                                      aleatoriamente escogidos.</a:t>
            </a:r>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AR" sz="4200" dirty="0" smtClean="0"/>
              <a:t>Ejemplo 2: </a:t>
            </a:r>
            <a:r>
              <a:rPr lang="es-AR" sz="4200" i="1" dirty="0" smtClean="0"/>
              <a:t>Canasta</a:t>
            </a:r>
            <a:endParaRPr lang="es-AR" sz="4200" dirty="0"/>
          </a:p>
        </p:txBody>
      </p:sp>
      <p:cxnSp>
        <p:nvCxnSpPr>
          <p:cNvPr id="9" name="8 Conector recto"/>
          <p:cNvCxnSpPr/>
          <p:nvPr/>
        </p:nvCxnSpPr>
        <p:spPr>
          <a:xfrm rot="10800000">
            <a:off x="2786051" y="2285992"/>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5400000">
            <a:off x="2536017" y="2536025"/>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a:off x="2786050" y="278605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10800000">
            <a:off x="2786051" y="3213097"/>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rot="5400000">
            <a:off x="2536811" y="3463925"/>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2786050" y="371316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500034" y="4309268"/>
            <a:ext cx="4358501" cy="477054"/>
          </a:xfrm>
          <a:prstGeom prst="rect">
            <a:avLst/>
          </a:prstGeom>
          <a:noFill/>
        </p:spPr>
        <p:txBody>
          <a:bodyPr wrap="none" rtlCol="0">
            <a:spAutoFit/>
          </a:bodyPr>
          <a:lstStyle/>
          <a:p>
            <a:r>
              <a:rPr lang="es-ES_tradnl" sz="2500" dirty="0" smtClean="0"/>
              <a:t>La probabilidad de participación</a:t>
            </a:r>
            <a:endParaRPr lang="es-ES" sz="2500" dirty="0"/>
          </a:p>
        </p:txBody>
      </p:sp>
      <p:cxnSp>
        <p:nvCxnSpPr>
          <p:cNvPr id="18" name="17 Conector recto de flecha"/>
          <p:cNvCxnSpPr/>
          <p:nvPr/>
        </p:nvCxnSpPr>
        <p:spPr>
          <a:xfrm>
            <a:off x="1428728" y="4999048"/>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2285984" y="4786322"/>
            <a:ext cx="6000792" cy="861774"/>
          </a:xfrm>
          <a:prstGeom prst="rect">
            <a:avLst/>
          </a:prstGeom>
          <a:noFill/>
        </p:spPr>
        <p:txBody>
          <a:bodyPr wrap="square" rtlCol="0">
            <a:spAutoFit/>
          </a:bodyPr>
          <a:lstStyle/>
          <a:p>
            <a:r>
              <a:rPr lang="es-ES" sz="2500" dirty="0" smtClean="0"/>
              <a:t>Puede ser mayor a cero tanto a la izquierda como a la derecha de   .</a:t>
            </a:r>
            <a:endParaRPr lang="es-ES" sz="2500" dirty="0"/>
          </a:p>
        </p:txBody>
      </p:sp>
      <p:cxnSp>
        <p:nvCxnSpPr>
          <p:cNvPr id="25" name="24 Conector recto"/>
          <p:cNvCxnSpPr/>
          <p:nvPr/>
        </p:nvCxnSpPr>
        <p:spPr>
          <a:xfrm rot="5400000" flipH="1" flipV="1">
            <a:off x="1321571" y="4893479"/>
            <a:ext cx="214314"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20"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225398" y="5290164"/>
            <a:ext cx="137143" cy="274286"/>
          </a:xfrm>
          <a:prstGeom prst="rect">
            <a:avLst/>
          </a:prstGeom>
          <a:noFill/>
        </p:spPr>
      </p:pic>
      <p:sp>
        <p:nvSpPr>
          <p:cNvPr id="21" name="2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34</a:t>
            </a:fld>
            <a:endParaRPr lang="es-ES" sz="1500" dirty="0">
              <a:solidFill>
                <a:schemeClr val="tx1">
                  <a:lumMod val="50000"/>
                  <a:lumOff val="50000"/>
                </a:schemeClr>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ES" sz="2500" dirty="0" smtClean="0"/>
              <a:t>	</a:t>
            </a:r>
            <a:r>
              <a:rPr lang="es-ES" sz="2500" u="sng" dirty="0" smtClean="0"/>
              <a:t>Bajo este diseño</a:t>
            </a:r>
            <a:r>
              <a:rPr lang="es-ES" sz="2500" dirty="0" smtClean="0"/>
              <a:t>:</a:t>
            </a:r>
          </a:p>
          <a:p>
            <a:pPr>
              <a:buNone/>
            </a:pPr>
            <a:r>
              <a:rPr lang="es-ES" sz="2500" dirty="0" smtClean="0"/>
              <a:t>	Hay individuos participantes a ambos lados del umbral      . </a:t>
            </a:r>
          </a:p>
          <a:p>
            <a:pPr>
              <a:buNone/>
            </a:pPr>
            <a:r>
              <a:rPr lang="es-ES" sz="2500" dirty="0" smtClean="0"/>
              <a:t>	</a:t>
            </a:r>
          </a:p>
          <a:p>
            <a:pPr>
              <a:buNone/>
            </a:pPr>
            <a:r>
              <a:rPr lang="es-ES" sz="2500" dirty="0" smtClean="0"/>
              <a:t>	Debido a que la cobertura es parcial para </a:t>
            </a:r>
            <a:r>
              <a:rPr lang="es-ES" sz="2500" dirty="0" err="1" smtClean="0"/>
              <a:t>Sisben</a:t>
            </a:r>
            <a:r>
              <a:rPr lang="es-ES" sz="2500" dirty="0" smtClean="0"/>
              <a:t> 2, </a:t>
            </a:r>
            <a:br>
              <a:rPr lang="es-ES" sz="2500" dirty="0" smtClean="0"/>
            </a:br>
            <a:r>
              <a:rPr lang="es-ES" sz="2500" dirty="0" smtClean="0"/>
              <a:t>la probabilidad cambia discretamente en el punto de corte </a:t>
            </a:r>
          </a:p>
          <a:p>
            <a:pPr algn="just">
              <a:buNone/>
            </a:pPr>
            <a:r>
              <a:rPr lang="es-ES" sz="2500" dirty="0" smtClean="0"/>
              <a:t>         .</a:t>
            </a:r>
            <a:endParaRPr lang="es-ES" sz="2500"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AR" sz="4200" dirty="0" smtClean="0"/>
              <a:t>Ejemplo 2: </a:t>
            </a:r>
            <a:r>
              <a:rPr lang="es-AR" sz="4200" i="1" dirty="0" smtClean="0"/>
              <a:t>Canasta</a:t>
            </a:r>
            <a:endParaRPr lang="es-AR" sz="4200" i="1" dirty="0"/>
          </a:p>
        </p:txBody>
      </p:sp>
      <p:cxnSp>
        <p:nvCxnSpPr>
          <p:cNvPr id="11" name="10 Conector recto de flecha"/>
          <p:cNvCxnSpPr/>
          <p:nvPr/>
        </p:nvCxnSpPr>
        <p:spPr>
          <a:xfrm>
            <a:off x="1428728" y="4570420"/>
            <a:ext cx="10715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p:cNvCxnSpPr/>
          <p:nvPr/>
        </p:nvCxnSpPr>
        <p:spPr>
          <a:xfrm rot="5400000" flipH="1" flipV="1">
            <a:off x="1250927" y="4392619"/>
            <a:ext cx="35719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2500298" y="4325645"/>
            <a:ext cx="5929354" cy="1823576"/>
          </a:xfrm>
          <a:prstGeom prst="rect">
            <a:avLst/>
          </a:prstGeom>
          <a:noFill/>
        </p:spPr>
        <p:txBody>
          <a:bodyPr wrap="square" rtlCol="0">
            <a:spAutoFit/>
          </a:bodyPr>
          <a:lstStyle/>
          <a:p>
            <a:pPr>
              <a:lnSpc>
                <a:spcPts val="2700"/>
              </a:lnSpc>
            </a:pPr>
            <a:r>
              <a:rPr lang="es-ES" sz="2500" dirty="0" smtClean="0"/>
              <a:t>La probabilidad cambia discretamente en el punto de corte     , porque para </a:t>
            </a:r>
            <a:r>
              <a:rPr lang="es-ES" sz="2500" dirty="0" err="1" smtClean="0"/>
              <a:t>Sisben</a:t>
            </a:r>
            <a:r>
              <a:rPr lang="es-ES" sz="2500" dirty="0" smtClean="0"/>
              <a:t> 2 es más improbable participar en el programa dado que  tienen un número restringido de cupos.</a:t>
            </a:r>
            <a:endParaRPr lang="es-ES" sz="2500" dirty="0"/>
          </a:p>
        </p:txBody>
      </p:sp>
      <p:graphicFrame>
        <p:nvGraphicFramePr>
          <p:cNvPr id="56321" name="Object 1"/>
          <p:cNvGraphicFramePr>
            <a:graphicFrameLocks noChangeAspect="1"/>
          </p:cNvGraphicFramePr>
          <p:nvPr/>
        </p:nvGraphicFramePr>
        <p:xfrm>
          <a:off x="5518195" y="2036757"/>
          <a:ext cx="5411787" cy="606425"/>
        </p:xfrm>
        <a:graphic>
          <a:graphicData uri="http://schemas.openxmlformats.org/presentationml/2006/ole">
            <p:oleObj spid="_x0000_s66613" name="Documento" r:id="rId4" imgW="5397500" imgH="607470" progId="Word.Document.12">
              <p:embed/>
            </p:oleObj>
          </a:graphicData>
        </a:graphic>
      </p:graphicFrame>
      <p:graphicFrame>
        <p:nvGraphicFramePr>
          <p:cNvPr id="56322" name="Object 2"/>
          <p:cNvGraphicFramePr>
            <a:graphicFrameLocks noChangeAspect="1"/>
          </p:cNvGraphicFramePr>
          <p:nvPr/>
        </p:nvGraphicFramePr>
        <p:xfrm>
          <a:off x="-1643106" y="3786190"/>
          <a:ext cx="5411787" cy="606425"/>
        </p:xfrm>
        <a:graphic>
          <a:graphicData uri="http://schemas.openxmlformats.org/presentationml/2006/ole">
            <p:oleObj spid="_x0000_s66614" name="Documento" r:id="rId5" imgW="5397500" imgH="607470" progId="Word.Document.12">
              <p:embed/>
            </p:oleObj>
          </a:graphicData>
        </a:graphic>
      </p:graphicFrame>
      <p:graphicFrame>
        <p:nvGraphicFramePr>
          <p:cNvPr id="56323" name="Object 3"/>
          <p:cNvGraphicFramePr>
            <a:graphicFrameLocks noChangeAspect="1"/>
          </p:cNvGraphicFramePr>
          <p:nvPr/>
        </p:nvGraphicFramePr>
        <p:xfrm>
          <a:off x="2017733" y="4632665"/>
          <a:ext cx="5411787" cy="606425"/>
        </p:xfrm>
        <a:graphic>
          <a:graphicData uri="http://schemas.openxmlformats.org/presentationml/2006/ole">
            <p:oleObj spid="_x0000_s66615" name="Documento" r:id="rId6" imgW="5397500" imgH="607470" progId="Word.Document.12">
              <p:embed/>
            </p:oleObj>
          </a:graphicData>
        </a:graphic>
      </p:graphicFrame>
      <p:sp>
        <p:nvSpPr>
          <p:cNvPr id="14" name="13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35</a:t>
            </a:fld>
            <a:endParaRPr lang="es-ES" sz="1500" dirty="0">
              <a:solidFill>
                <a:schemeClr val="tx1">
                  <a:lumMod val="50000"/>
                  <a:lumOff val="50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sz="3400" u="sng" dirty="0" smtClean="0">
                <a:solidFill>
                  <a:prstClr val="black"/>
                </a:solidFill>
              </a:rPr>
              <a:t>Regresión discontinua borrosa:</a:t>
            </a:r>
            <a:br>
              <a:rPr lang="es-MX" sz="3400" u="sng" dirty="0" smtClean="0">
                <a:solidFill>
                  <a:prstClr val="black"/>
                </a:solidFill>
              </a:rPr>
            </a:br>
            <a:r>
              <a:rPr lang="es-MX" sz="3400" u="sng" dirty="0" smtClean="0">
                <a:solidFill>
                  <a:prstClr val="black"/>
                </a:solidFill>
              </a:rPr>
              <a:t>Expectativas condicionales de las variables de resultado</a:t>
            </a:r>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7" name="6 Rectángulo"/>
          <p:cNvSpPr/>
          <p:nvPr/>
        </p:nvSpPr>
        <p:spPr>
          <a:xfrm>
            <a:off x="720780" y="4999654"/>
            <a:ext cx="7950254" cy="769441"/>
          </a:xfrm>
          <a:prstGeom prst="rect">
            <a:avLst/>
          </a:prstGeom>
        </p:spPr>
        <p:txBody>
          <a:bodyPr wrap="square">
            <a:spAutoFit/>
          </a:bodyPr>
          <a:lstStyle/>
          <a:p>
            <a:pPr algn="ctr"/>
            <a:r>
              <a:rPr lang="es-ES" sz="2200" dirty="0" smtClean="0"/>
              <a:t>La expectativa condicional de la variable de resultado </a:t>
            </a:r>
            <a:r>
              <a:rPr lang="es-ES" sz="2200" i="1" dirty="0" smtClean="0"/>
              <a:t>observada</a:t>
            </a:r>
            <a:r>
              <a:rPr lang="es-ES" sz="2200" dirty="0" smtClean="0"/>
              <a:t> está dada por la línea sólida en la gráfica. </a:t>
            </a:r>
          </a:p>
        </p:txBody>
      </p:sp>
      <p:sp>
        <p:nvSpPr>
          <p:cNvPr id="28672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pic>
        <p:nvPicPr>
          <p:cNvPr id="286721" name="Imagen 44"/>
          <p:cNvPicPr>
            <a:picLocks noChangeAspect="1" noChangeArrowheads="1"/>
          </p:cNvPicPr>
          <p:nvPr/>
        </p:nvPicPr>
        <p:blipFill>
          <a:blip r:embed="rId3" cstate="print"/>
          <a:srcRect/>
          <a:stretch>
            <a:fillRect/>
          </a:stretch>
        </p:blipFill>
        <p:spPr bwMode="auto">
          <a:xfrm>
            <a:off x="1103588" y="1481959"/>
            <a:ext cx="7047185" cy="3465005"/>
          </a:xfrm>
          <a:prstGeom prst="rect">
            <a:avLst/>
          </a:prstGeom>
          <a:noFill/>
        </p:spPr>
      </p:pic>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36</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42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542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10" name="9 CuadroTexto"/>
          <p:cNvSpPr txBox="1"/>
          <p:nvPr/>
        </p:nvSpPr>
        <p:spPr>
          <a:xfrm>
            <a:off x="714348" y="3823488"/>
            <a:ext cx="6200672" cy="477054"/>
          </a:xfrm>
          <a:prstGeom prst="rect">
            <a:avLst/>
          </a:prstGeom>
          <a:noFill/>
        </p:spPr>
        <p:txBody>
          <a:bodyPr wrap="none" rtlCol="0">
            <a:spAutoFit/>
          </a:bodyPr>
          <a:lstStyle/>
          <a:p>
            <a:r>
              <a:rPr lang="es-CO" sz="2500" dirty="0" smtClean="0"/>
              <a:t>En este caso </a:t>
            </a:r>
            <a:r>
              <a:rPr lang="es-CO" sz="2500" b="1" u="sng" dirty="0" smtClean="0"/>
              <a:t>no</a:t>
            </a:r>
            <a:r>
              <a:rPr lang="es-CO" sz="2500" b="1" dirty="0" smtClean="0"/>
              <a:t> </a:t>
            </a:r>
            <a:r>
              <a:rPr lang="es-CO" sz="2500" dirty="0" smtClean="0"/>
              <a:t>es necesariamente cierto que:</a:t>
            </a:r>
            <a:endParaRPr lang="es-ES" sz="2500" dirty="0"/>
          </a:p>
        </p:txBody>
      </p:sp>
      <p:sp>
        <p:nvSpPr>
          <p:cNvPr id="54278"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dirty="0"/>
          </a:p>
        </p:txBody>
      </p:sp>
      <p:sp>
        <p:nvSpPr>
          <p:cNvPr id="54279" name="Rectangle 7"/>
          <p:cNvSpPr>
            <a:spLocks noChangeArrowheads="1"/>
          </p:cNvSpPr>
          <p:nvPr/>
        </p:nvSpPr>
        <p:spPr bwMode="auto">
          <a:xfrm>
            <a:off x="0" y="838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dirty="0" smtClean="0">
              <a:ln>
                <a:noFill/>
              </a:ln>
              <a:solidFill>
                <a:schemeClr val="tx1"/>
              </a:solidFill>
              <a:effectLst/>
              <a:latin typeface="Arial" pitchFamily="34" charset="0"/>
            </a:endParaRPr>
          </a:p>
        </p:txBody>
      </p:sp>
      <p:sp>
        <p:nvSpPr>
          <p:cNvPr id="15" name="14 Flecha abajo"/>
          <p:cNvSpPr/>
          <p:nvPr/>
        </p:nvSpPr>
        <p:spPr>
          <a:xfrm>
            <a:off x="4572000" y="5086360"/>
            <a:ext cx="500066" cy="428628"/>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6" name="15 CuadroTexto"/>
          <p:cNvSpPr txBox="1"/>
          <p:nvPr/>
        </p:nvSpPr>
        <p:spPr>
          <a:xfrm>
            <a:off x="1285852" y="5586426"/>
            <a:ext cx="7297062" cy="477054"/>
          </a:xfrm>
          <a:prstGeom prst="rect">
            <a:avLst/>
          </a:prstGeom>
          <a:noFill/>
        </p:spPr>
        <p:txBody>
          <a:bodyPr wrap="none" rtlCol="0">
            <a:spAutoFit/>
          </a:bodyPr>
          <a:lstStyle/>
          <a:p>
            <a:r>
              <a:rPr lang="es-CO" sz="2500" dirty="0" smtClean="0"/>
              <a:t>Porque </a:t>
            </a:r>
            <a:r>
              <a:rPr lang="es-CO" sz="2500" i="1" dirty="0" smtClean="0">
                <a:latin typeface="Times New Roman" pitchFamily="18" charset="0"/>
                <a:cs typeface="Times New Roman" pitchFamily="18" charset="0"/>
              </a:rPr>
              <a:t>Z</a:t>
            </a:r>
            <a:r>
              <a:rPr lang="es-CO" sz="2500" dirty="0" smtClean="0"/>
              <a:t> sólo determina parcialmente el tratamiento.</a:t>
            </a:r>
            <a:endParaRPr lang="es-ES" sz="2500" dirty="0"/>
          </a:p>
        </p:txBody>
      </p:sp>
      <p:sp>
        <p:nvSpPr>
          <p:cNvPr id="19" name="1 Título"/>
          <p:cNvSpPr txBox="1">
            <a:spLocks/>
          </p:cNvSpPr>
          <p:nvPr/>
        </p:nvSpPr>
        <p:spPr>
          <a:xfrm>
            <a:off x="2419336" y="214290"/>
            <a:ext cx="6581820" cy="1571636"/>
          </a:xfrm>
          <a:prstGeom prst="rect">
            <a:avLst/>
          </a:prstGeom>
        </p:spPr>
        <p:txBody>
          <a:bodyPr vert="horz" lIns="91440" tIns="45720" rIns="91440" bIns="45720" rtlCol="0" anchor="ctr">
            <a:noAutofit/>
          </a:bodyPr>
          <a:lstStyle/>
          <a:p>
            <a:pPr algn="ctr">
              <a:spcBef>
                <a:spcPct val="0"/>
              </a:spcBef>
              <a:defRPr/>
            </a:pPr>
            <a:r>
              <a:rPr lang="es-MX" sz="3100" u="sng" dirty="0" smtClean="0">
                <a:solidFill>
                  <a:prstClr val="black"/>
                </a:solidFill>
                <a:ea typeface="+mj-ea"/>
                <a:cs typeface="+mj-cs"/>
              </a:rPr>
              <a:t>Regresión discontinua borrosa:</a:t>
            </a:r>
            <a:br>
              <a:rPr lang="es-MX" sz="3100" u="sng" dirty="0" smtClean="0">
                <a:solidFill>
                  <a:prstClr val="black"/>
                </a:solidFill>
                <a:ea typeface="+mj-ea"/>
                <a:cs typeface="+mj-cs"/>
              </a:rPr>
            </a:br>
            <a:r>
              <a:rPr lang="es-MX" sz="3100" u="sng" dirty="0" smtClean="0">
                <a:solidFill>
                  <a:prstClr val="black"/>
                </a:solidFill>
                <a:ea typeface="+mj-ea"/>
                <a:cs typeface="+mj-cs"/>
              </a:rPr>
              <a:t>Expectativas condicionales de las variables de resultado</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sp>
        <p:nvSpPr>
          <p:cNvPr id="73735"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73736" name="Rectangle 8"/>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endParaRPr>
          </a:p>
        </p:txBody>
      </p:sp>
      <p:sp>
        <p:nvSpPr>
          <p:cNvPr id="7373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mc:AlternateContent xmlns:mc="http://schemas.openxmlformats.org/markup-compatibility/2006">
        <mc:Choice xmlns:a14="http://schemas.microsoft.com/office/drawing/2010/main" xmlns="" Requires="a14">
          <p:sp>
            <p:nvSpPr>
              <p:cNvPr id="23" name="22 CuadroTexto"/>
              <p:cNvSpPr txBox="1"/>
              <p:nvPr/>
            </p:nvSpPr>
            <p:spPr>
              <a:xfrm>
                <a:off x="728661" y="2085971"/>
                <a:ext cx="7611298" cy="1569660"/>
              </a:xfrm>
              <a:prstGeom prst="rect">
                <a:avLst/>
              </a:prstGeom>
              <a:noFill/>
            </p:spPr>
            <p:txBody>
              <a:bodyPr wrap="square" rtlCol="0">
                <a:spAutoFit/>
              </a:bodyPr>
              <a:lstStyle/>
              <a:p>
                <a:r>
                  <a:rPr lang="es-MX" sz="2500" dirty="0" smtClean="0">
                    <a:solidFill>
                      <a:schemeClr val="accent5">
                        <a:lumMod val="75000"/>
                      </a:schemeClr>
                    </a:solidFill>
                  </a:rPr>
                  <a:t>Expectativa condicional observada: </a:t>
                </a:r>
              </a:p>
              <a:p>
                <a:endParaRPr lang="es-MX" sz="2500" dirty="0">
                  <a:solidFill>
                    <a:schemeClr val="accent5">
                      <a:lumMod val="75000"/>
                    </a:schemeClr>
                  </a:solidFill>
                </a:endParaRPr>
              </a:p>
              <a:p>
                <a:pPr/>
                <a14:m>
                  <m:oMathPara xmlns:m="http://schemas.openxmlformats.org/officeDocument/2006/math">
                    <m:oMathParaPr>
                      <m:jc m:val="centerGroup"/>
                    </m:oMathParaPr>
                    <m:oMath xmlns:m="http://schemas.openxmlformats.org/officeDocument/2006/math">
                      <m:r>
                        <a:rPr lang="es-ES" sz="2300" i="1">
                          <a:latin typeface="Cambria Math"/>
                        </a:rPr>
                        <m:t>𝐸</m:t>
                      </m:r>
                      <m:d>
                        <m:dPr>
                          <m:begChr m:val="["/>
                          <m:endChr m:val="]"/>
                          <m:ctrlPr>
                            <a:rPr lang="es-CO" sz="2300" i="1">
                              <a:latin typeface="Cambria Math"/>
                            </a:rPr>
                          </m:ctrlPr>
                        </m:dPr>
                        <m:e>
                          <m:r>
                            <a:rPr lang="es-ES" sz="2300" i="1">
                              <a:latin typeface="Cambria Math"/>
                            </a:rPr>
                            <m:t>𝑌</m:t>
                          </m:r>
                        </m:e>
                        <m:e>
                          <m:r>
                            <a:rPr lang="es-ES" sz="2300" i="1">
                              <a:latin typeface="Cambria Math"/>
                            </a:rPr>
                            <m:t>𝑍</m:t>
                          </m:r>
                          <m:r>
                            <a:rPr lang="es-ES" sz="2300" i="1">
                              <a:latin typeface="Cambria Math"/>
                            </a:rPr>
                            <m:t>=</m:t>
                          </m:r>
                          <m:r>
                            <a:rPr lang="es-ES" sz="2300" i="1">
                              <a:latin typeface="Cambria Math"/>
                            </a:rPr>
                            <m:t>𝑧</m:t>
                          </m:r>
                        </m:e>
                      </m:d>
                      <m:r>
                        <a:rPr lang="es-ES" sz="2300" i="1">
                          <a:latin typeface="Cambria Math"/>
                        </a:rPr>
                        <m:t>=</m:t>
                      </m:r>
                      <m:r>
                        <a:rPr lang="es-ES" sz="2300" i="1">
                          <a:latin typeface="Cambria Math"/>
                        </a:rPr>
                        <m:t>𝐸</m:t>
                      </m:r>
                      <m:d>
                        <m:dPr>
                          <m:begChr m:val="["/>
                          <m:endChr m:val="]"/>
                          <m:ctrlPr>
                            <a:rPr lang="es-CO" sz="2300" i="1">
                              <a:latin typeface="Cambria Math"/>
                            </a:rPr>
                          </m:ctrlPr>
                        </m:dPr>
                        <m:e>
                          <m:r>
                            <a:rPr lang="es-ES" sz="2300" i="1">
                              <a:latin typeface="Cambria Math"/>
                            </a:rPr>
                            <m:t>𝑌</m:t>
                          </m:r>
                          <m:d>
                            <m:dPr>
                              <m:ctrlPr>
                                <a:rPr lang="es-CO" sz="2300" i="1">
                                  <a:latin typeface="Cambria Math"/>
                                </a:rPr>
                              </m:ctrlPr>
                            </m:dPr>
                            <m:e>
                              <m:r>
                                <a:rPr lang="es-ES" sz="2300" i="1">
                                  <a:latin typeface="Cambria Math"/>
                                </a:rPr>
                                <m:t>0</m:t>
                              </m:r>
                            </m:e>
                          </m:d>
                        </m:e>
                        <m:e>
                          <m:r>
                            <a:rPr lang="es-ES" sz="2300" i="1">
                              <a:latin typeface="Cambria Math"/>
                            </a:rPr>
                            <m:t>𝐷</m:t>
                          </m:r>
                          <m:r>
                            <a:rPr lang="es-ES" sz="2300" i="1">
                              <a:latin typeface="Cambria Math"/>
                            </a:rPr>
                            <m:t>=0,</m:t>
                          </m:r>
                          <m:r>
                            <a:rPr lang="es-ES" sz="2300" i="1">
                              <a:latin typeface="Cambria Math"/>
                            </a:rPr>
                            <m:t>𝑍</m:t>
                          </m:r>
                          <m:r>
                            <a:rPr lang="es-ES" sz="2300" i="1">
                              <a:latin typeface="Cambria Math"/>
                            </a:rPr>
                            <m:t>=</m:t>
                          </m:r>
                          <m:r>
                            <a:rPr lang="es-ES" sz="2300" i="1">
                              <a:latin typeface="Cambria Math"/>
                            </a:rPr>
                            <m:t>𝑧</m:t>
                          </m:r>
                        </m:e>
                      </m:d>
                      <m:func>
                        <m:funcPr>
                          <m:ctrlPr>
                            <a:rPr lang="es-CO" sz="2300" i="1">
                              <a:latin typeface="Cambria Math"/>
                            </a:rPr>
                          </m:ctrlPr>
                        </m:funcPr>
                        <m:fName>
                          <m:r>
                            <m:rPr>
                              <m:sty m:val="p"/>
                            </m:rPr>
                            <a:rPr lang="es-ES" sz="2300">
                              <a:latin typeface="Cambria Math"/>
                            </a:rPr>
                            <m:t>Pr</m:t>
                          </m:r>
                        </m:fName>
                        <m:e>
                          <m:d>
                            <m:dPr>
                              <m:ctrlPr>
                                <a:rPr lang="es-CO" sz="2300" i="1">
                                  <a:latin typeface="Cambria Math"/>
                                </a:rPr>
                              </m:ctrlPr>
                            </m:dPr>
                            <m:e>
                              <m:r>
                                <a:rPr lang="es-ES" sz="2300" i="1">
                                  <a:latin typeface="Cambria Math"/>
                                </a:rPr>
                                <m:t>𝐷</m:t>
                              </m:r>
                              <m:r>
                                <a:rPr lang="es-ES" sz="2300" i="1">
                                  <a:latin typeface="Cambria Math"/>
                                </a:rPr>
                                <m:t>=0</m:t>
                              </m:r>
                            </m:e>
                            <m:e>
                              <m:r>
                                <a:rPr lang="es-ES" sz="2300" i="1">
                                  <a:latin typeface="Cambria Math"/>
                                </a:rPr>
                                <m:t>𝑍</m:t>
                              </m:r>
                              <m:r>
                                <a:rPr lang="es-ES" sz="2300" i="1">
                                  <a:latin typeface="Cambria Math"/>
                                </a:rPr>
                                <m:t>=</m:t>
                              </m:r>
                              <m:r>
                                <a:rPr lang="es-ES" sz="2300" i="1">
                                  <a:latin typeface="Cambria Math"/>
                                </a:rPr>
                                <m:t>𝑧</m:t>
                              </m:r>
                            </m:e>
                          </m:d>
                        </m:e>
                      </m:func>
                      <m:r>
                        <a:rPr lang="es-ES" sz="2300" i="1">
                          <a:latin typeface="Cambria Math"/>
                        </a:rPr>
                        <m:t>+</m:t>
                      </m:r>
                    </m:oMath>
                  </m:oMathPara>
                </a14:m>
                <a:endParaRPr lang="es-CO" sz="2300" dirty="0"/>
              </a:p>
              <a:p>
                <a:r>
                  <a:rPr lang="es-ES" sz="2300" dirty="0" smtClean="0"/>
                  <a:t>	                 </a:t>
                </a:r>
                <a14:m>
                  <m:oMath xmlns:m="http://schemas.openxmlformats.org/officeDocument/2006/math">
                    <m:r>
                      <a:rPr lang="es-ES" sz="2300" i="1">
                        <a:latin typeface="Cambria Math"/>
                      </a:rPr>
                      <m:t>𝐸</m:t>
                    </m:r>
                    <m:d>
                      <m:dPr>
                        <m:begChr m:val="["/>
                        <m:endChr m:val="]"/>
                        <m:ctrlPr>
                          <a:rPr lang="es-CO" sz="2300" i="1">
                            <a:latin typeface="Cambria Math"/>
                          </a:rPr>
                        </m:ctrlPr>
                      </m:dPr>
                      <m:e>
                        <m:r>
                          <a:rPr lang="es-ES" sz="2300" i="1">
                            <a:latin typeface="Cambria Math"/>
                          </a:rPr>
                          <m:t>𝑌</m:t>
                        </m:r>
                        <m:d>
                          <m:dPr>
                            <m:ctrlPr>
                              <a:rPr lang="es-CO" sz="2300" i="1">
                                <a:latin typeface="Cambria Math"/>
                              </a:rPr>
                            </m:ctrlPr>
                          </m:dPr>
                          <m:e>
                            <m:r>
                              <a:rPr lang="es-ES" sz="2300" i="1">
                                <a:latin typeface="Cambria Math"/>
                              </a:rPr>
                              <m:t>1</m:t>
                            </m:r>
                          </m:e>
                        </m:d>
                      </m:e>
                      <m:e>
                        <m:r>
                          <a:rPr lang="es-ES" sz="2300" i="1">
                            <a:latin typeface="Cambria Math"/>
                          </a:rPr>
                          <m:t>𝐷</m:t>
                        </m:r>
                        <m:r>
                          <a:rPr lang="es-ES" sz="2300" i="1">
                            <a:latin typeface="Cambria Math"/>
                          </a:rPr>
                          <m:t>=1,</m:t>
                        </m:r>
                        <m:r>
                          <a:rPr lang="es-ES" sz="2300" i="1">
                            <a:latin typeface="Cambria Math"/>
                          </a:rPr>
                          <m:t>𝑍</m:t>
                        </m:r>
                        <m:r>
                          <a:rPr lang="es-ES" sz="2300" i="1">
                            <a:latin typeface="Cambria Math"/>
                          </a:rPr>
                          <m:t>=</m:t>
                        </m:r>
                        <m:r>
                          <a:rPr lang="es-ES" sz="2300" i="1">
                            <a:latin typeface="Cambria Math"/>
                          </a:rPr>
                          <m:t>𝑧</m:t>
                        </m:r>
                      </m:e>
                    </m:d>
                    <m:func>
                      <m:funcPr>
                        <m:ctrlPr>
                          <a:rPr lang="es-CO" sz="2300" i="1">
                            <a:latin typeface="Cambria Math"/>
                          </a:rPr>
                        </m:ctrlPr>
                      </m:funcPr>
                      <m:fName>
                        <m:r>
                          <m:rPr>
                            <m:sty m:val="p"/>
                          </m:rPr>
                          <a:rPr lang="es-ES" sz="2300">
                            <a:latin typeface="Cambria Math"/>
                          </a:rPr>
                          <m:t>Pr</m:t>
                        </m:r>
                      </m:fName>
                      <m:e>
                        <m:d>
                          <m:dPr>
                            <m:ctrlPr>
                              <a:rPr lang="es-CO" sz="2300" i="1">
                                <a:latin typeface="Cambria Math"/>
                              </a:rPr>
                            </m:ctrlPr>
                          </m:dPr>
                          <m:e>
                            <m:r>
                              <a:rPr lang="es-ES" sz="2300" i="1">
                                <a:latin typeface="Cambria Math"/>
                              </a:rPr>
                              <m:t>𝐷</m:t>
                            </m:r>
                            <m:r>
                              <a:rPr lang="es-ES" sz="2300" i="1">
                                <a:latin typeface="Cambria Math"/>
                              </a:rPr>
                              <m:t>=1</m:t>
                            </m:r>
                          </m:e>
                          <m:e>
                            <m:r>
                              <a:rPr lang="es-ES" sz="2300" i="1">
                                <a:latin typeface="Cambria Math"/>
                              </a:rPr>
                              <m:t>𝑍</m:t>
                            </m:r>
                            <m:r>
                              <a:rPr lang="es-ES" sz="2300" i="1">
                                <a:latin typeface="Cambria Math"/>
                              </a:rPr>
                              <m:t>=</m:t>
                            </m:r>
                            <m:r>
                              <a:rPr lang="es-ES" sz="2300" i="1">
                                <a:latin typeface="Cambria Math"/>
                              </a:rPr>
                              <m:t>𝑧</m:t>
                            </m:r>
                          </m:e>
                        </m:d>
                      </m:e>
                    </m:func>
                  </m:oMath>
                </a14:m>
                <a:endParaRPr lang="en-US" sz="2300" dirty="0">
                  <a:solidFill>
                    <a:schemeClr val="accent5">
                      <a:lumMod val="75000"/>
                    </a:schemeClr>
                  </a:solidFill>
                </a:endParaRPr>
              </a:p>
            </p:txBody>
          </p:sp>
        </mc:Choice>
        <mc:Fallback>
          <p:sp>
            <p:nvSpPr>
              <p:cNvPr id="23" name="22 CuadroTexto"/>
              <p:cNvSpPr txBox="1">
                <a:spLocks noRot="1" noChangeAspect="1" noMove="1" noResize="1" noEditPoints="1" noAdjustHandles="1" noChangeArrowheads="1" noChangeShapeType="1" noTextEdit="1"/>
              </p:cNvSpPr>
              <p:nvPr/>
            </p:nvSpPr>
            <p:spPr>
              <a:xfrm>
                <a:off x="728661" y="2085971"/>
                <a:ext cx="7611298" cy="1569660"/>
              </a:xfrm>
              <a:prstGeom prst="rect">
                <a:avLst/>
              </a:prstGeom>
              <a:blipFill rotWithShape="1">
                <a:blip r:embed="rId4" cstate="print"/>
                <a:stretch>
                  <a:fillRect l="-1362" t="-2713"/>
                </a:stretch>
              </a:blipFill>
            </p:spPr>
            <p:txBody>
              <a:bodyPr/>
              <a:lstStyle/>
              <a:p>
                <a:r>
                  <a:rPr lang="es-CO">
                    <a:noFill/>
                  </a:rPr>
                  <a:t> </a:t>
                </a:r>
              </a:p>
            </p:txBody>
          </p:sp>
        </mc:Fallback>
      </mc:AlternateContent>
      <p:sp>
        <p:nvSpPr>
          <p:cNvPr id="21" name="2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37</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2428285" y="4521341"/>
                <a:ext cx="479214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200" i="1">
                          <a:latin typeface="Cambria Math"/>
                        </a:rPr>
                        <m:t>𝐸</m:t>
                      </m:r>
                      <m:d>
                        <m:dPr>
                          <m:begChr m:val="["/>
                          <m:endChr m:val="]"/>
                          <m:ctrlPr>
                            <a:rPr lang="es-CO" sz="2200" i="1">
                              <a:latin typeface="Cambria Math"/>
                            </a:rPr>
                          </m:ctrlPr>
                        </m:dPr>
                        <m:e>
                          <m:r>
                            <a:rPr lang="es-ES" sz="2200" i="1">
                              <a:latin typeface="Cambria Math"/>
                            </a:rPr>
                            <m:t>𝑌</m:t>
                          </m:r>
                          <m:d>
                            <m:dPr>
                              <m:ctrlPr>
                                <a:rPr lang="es-CO" sz="2200" i="1">
                                  <a:latin typeface="Cambria Math"/>
                                </a:rPr>
                              </m:ctrlPr>
                            </m:dPr>
                            <m:e>
                              <m:r>
                                <a:rPr lang="es-ES" sz="2200" i="1">
                                  <a:latin typeface="Cambria Math"/>
                                </a:rPr>
                                <m:t>𝑧</m:t>
                              </m:r>
                            </m:e>
                          </m:d>
                        </m:e>
                        <m:e>
                          <m:r>
                            <a:rPr lang="es-ES" sz="2200" i="1">
                              <a:latin typeface="Cambria Math"/>
                            </a:rPr>
                            <m:t>𝐷</m:t>
                          </m:r>
                          <m:r>
                            <a:rPr lang="es-ES" sz="2200" i="1">
                              <a:latin typeface="Cambria Math"/>
                            </a:rPr>
                            <m:t>=</m:t>
                          </m:r>
                          <m:r>
                            <a:rPr lang="es-ES" sz="2200" i="1">
                              <a:latin typeface="Cambria Math"/>
                            </a:rPr>
                            <m:t>𝑑</m:t>
                          </m:r>
                          <m:r>
                            <a:rPr lang="es-ES" sz="2200" i="1">
                              <a:latin typeface="Cambria Math"/>
                            </a:rPr>
                            <m:t>,</m:t>
                          </m:r>
                          <m:r>
                            <a:rPr lang="es-ES" sz="2200" i="1">
                              <a:latin typeface="Cambria Math"/>
                            </a:rPr>
                            <m:t>𝑍</m:t>
                          </m:r>
                          <m:r>
                            <a:rPr lang="es-ES" sz="2200" i="1">
                              <a:latin typeface="Cambria Math"/>
                            </a:rPr>
                            <m:t>=</m:t>
                          </m:r>
                          <m:r>
                            <a:rPr lang="es-ES" sz="2200" i="1">
                              <a:latin typeface="Cambria Math"/>
                            </a:rPr>
                            <m:t>𝑧</m:t>
                          </m:r>
                        </m:e>
                      </m:d>
                      <m:r>
                        <a:rPr lang="es-ES" sz="2200" i="1">
                          <a:latin typeface="Cambria Math"/>
                        </a:rPr>
                        <m:t>=</m:t>
                      </m:r>
                      <m:r>
                        <a:rPr lang="es-ES" sz="2200" i="1">
                          <a:latin typeface="Cambria Math"/>
                        </a:rPr>
                        <m:t>𝐸</m:t>
                      </m:r>
                      <m:d>
                        <m:dPr>
                          <m:begChr m:val="["/>
                          <m:endChr m:val="]"/>
                          <m:ctrlPr>
                            <a:rPr lang="es-CO" sz="2200" i="1">
                              <a:latin typeface="Cambria Math"/>
                            </a:rPr>
                          </m:ctrlPr>
                        </m:dPr>
                        <m:e>
                          <m:r>
                            <a:rPr lang="es-ES" sz="2200" i="1">
                              <a:latin typeface="Cambria Math"/>
                            </a:rPr>
                            <m:t>𝑌</m:t>
                          </m:r>
                          <m:d>
                            <m:dPr>
                              <m:ctrlPr>
                                <a:rPr lang="es-CO" sz="2200" i="1">
                                  <a:latin typeface="Cambria Math"/>
                                </a:rPr>
                              </m:ctrlPr>
                            </m:dPr>
                            <m:e>
                              <m:r>
                                <a:rPr lang="es-ES" sz="2200" i="1">
                                  <a:latin typeface="Cambria Math"/>
                                </a:rPr>
                                <m:t>𝑧</m:t>
                              </m:r>
                            </m:e>
                          </m:d>
                        </m:e>
                        <m:e>
                          <m:r>
                            <a:rPr lang="es-ES" sz="2200" i="1">
                              <a:latin typeface="Cambria Math"/>
                            </a:rPr>
                            <m:t>𝑍</m:t>
                          </m:r>
                          <m:r>
                            <a:rPr lang="es-ES" sz="2200" i="1">
                              <a:latin typeface="Cambria Math"/>
                            </a:rPr>
                            <m:t>=</m:t>
                          </m:r>
                          <m:r>
                            <a:rPr lang="es-ES" sz="2200" i="1">
                              <a:latin typeface="Cambria Math"/>
                            </a:rPr>
                            <m:t>𝑧</m:t>
                          </m:r>
                        </m:e>
                      </m:d>
                    </m:oMath>
                  </m:oMathPara>
                </a14:m>
                <a:endParaRPr lang="es-CO" sz="2200" dirty="0"/>
              </a:p>
            </p:txBody>
          </p:sp>
        </mc:Choice>
        <mc:Fallback>
          <p:sp>
            <p:nvSpPr>
              <p:cNvPr id="2" name="1 Rectángulo"/>
              <p:cNvSpPr>
                <a:spLocks noRot="1" noChangeAspect="1" noMove="1" noResize="1" noEditPoints="1" noAdjustHandles="1" noChangeArrowheads="1" noChangeShapeType="1" noTextEdit="1"/>
              </p:cNvSpPr>
              <p:nvPr/>
            </p:nvSpPr>
            <p:spPr>
              <a:xfrm>
                <a:off x="2428285" y="4521341"/>
                <a:ext cx="4792146" cy="430887"/>
              </a:xfrm>
              <a:prstGeom prst="rect">
                <a:avLst/>
              </a:prstGeom>
              <a:blipFill rotWithShape="1">
                <a:blip r:embed="rId5" cstate="print"/>
                <a:stretch>
                  <a:fillRect/>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349062" y="285728"/>
            <a:ext cx="6605752" cy="1131910"/>
          </a:xfrm>
        </p:spPr>
        <p:txBody>
          <a:bodyPr>
            <a:normAutofit fontScale="90000"/>
          </a:bodyPr>
          <a:lstStyle/>
          <a:p>
            <a:r>
              <a:rPr lang="es-MX" u="sng" dirty="0" smtClean="0"/>
              <a:t>Regresión discontinua borrosa: Análisis gráfico </a:t>
            </a:r>
            <a:endParaRPr lang="en-US" u="sng" dirty="0"/>
          </a:p>
        </p:txBody>
      </p:sp>
      <p:sp>
        <p:nvSpPr>
          <p:cNvPr id="10" name="9 Marcador de contenido"/>
          <p:cNvSpPr>
            <a:spLocks noGrp="1"/>
          </p:cNvSpPr>
          <p:nvPr>
            <p:ph idx="1"/>
          </p:nvPr>
        </p:nvSpPr>
        <p:spPr>
          <a:xfrm>
            <a:off x="457200" y="1771650"/>
            <a:ext cx="8229600" cy="4354513"/>
          </a:xfrm>
        </p:spPr>
        <p:txBody>
          <a:bodyPr>
            <a:normAutofit fontScale="85000" lnSpcReduction="20000"/>
          </a:bodyPr>
          <a:lstStyle/>
          <a:p>
            <a:endParaRPr lang="es-MX" dirty="0" smtClean="0"/>
          </a:p>
          <a:p>
            <a:r>
              <a:rPr lang="es-MX" dirty="0" smtClean="0"/>
              <a:t>El análisis gráfico es un componente central al hacer una evaluación a través del método de RDB, al igual que lo es en RDN. </a:t>
            </a:r>
          </a:p>
          <a:p>
            <a:endParaRPr lang="es-MX" dirty="0"/>
          </a:p>
          <a:p>
            <a:r>
              <a:rPr lang="es-MX" dirty="0" smtClean="0"/>
              <a:t>Es importante observar: </a:t>
            </a:r>
          </a:p>
          <a:p>
            <a:pPr lvl="1"/>
            <a:r>
              <a:rPr lang="es-MX" dirty="0" smtClean="0"/>
              <a:t>El impacto del programa alrededor del umbral o puntaje de corte. </a:t>
            </a:r>
          </a:p>
          <a:p>
            <a:pPr lvl="1"/>
            <a:r>
              <a:rPr lang="es-MX" dirty="0" smtClean="0"/>
              <a:t>Variable observables como función del instrumento de focalización para comprobar el supuesto de continuidad local.</a:t>
            </a:r>
          </a:p>
          <a:p>
            <a:pPr lvl="1"/>
            <a:r>
              <a:rPr lang="es-MX" dirty="0" smtClean="0"/>
              <a:t>Densidad del instrumento de focalización </a:t>
            </a:r>
            <a:r>
              <a:rPr lang="es-MX" i="1" dirty="0" smtClean="0">
                <a:latin typeface="Times New Roman" pitchFamily="18" charset="0"/>
                <a:cs typeface="Times New Roman" pitchFamily="18" charset="0"/>
              </a:rPr>
              <a:t>Z</a:t>
            </a:r>
            <a:r>
              <a:rPr lang="es-MX" dirty="0" smtClean="0"/>
              <a:t>. </a:t>
            </a:r>
          </a:p>
          <a:p>
            <a:pPr lvl="1"/>
            <a:endParaRPr lang="es-MX" dirty="0" smtClean="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38</a:t>
            </a:fld>
            <a:endParaRPr lang="es-ES" sz="1500" dirty="0">
              <a:solidFill>
                <a:schemeClr val="tx1">
                  <a:lumMod val="50000"/>
                  <a:lumOff val="50000"/>
                </a:schemeClr>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57450" y="285728"/>
            <a:ext cx="6443663" cy="1131910"/>
          </a:xfrm>
        </p:spPr>
        <p:txBody>
          <a:bodyPr>
            <a:noAutofit/>
          </a:bodyPr>
          <a:lstStyle/>
          <a:p>
            <a:r>
              <a:rPr lang="es-MX" sz="3400" u="sng" dirty="0" smtClean="0"/>
              <a:t>Regresión discontinua borrosa: Estimador del efecto del programa</a:t>
            </a:r>
            <a:endParaRPr lang="en-US" sz="3400" dirty="0"/>
          </a:p>
        </p:txBody>
      </p:sp>
      <p:sp>
        <p:nvSpPr>
          <p:cNvPr id="10" name="9 Marcador de contenido"/>
          <p:cNvSpPr>
            <a:spLocks noGrp="1"/>
          </p:cNvSpPr>
          <p:nvPr>
            <p:ph idx="1"/>
          </p:nvPr>
        </p:nvSpPr>
        <p:spPr>
          <a:xfrm>
            <a:off x="457199" y="1403132"/>
            <a:ext cx="8339959" cy="4723032"/>
          </a:xfrm>
        </p:spPr>
        <p:txBody>
          <a:bodyPr>
            <a:normAutofit fontScale="92500" lnSpcReduction="10000"/>
          </a:bodyPr>
          <a:lstStyle/>
          <a:p>
            <a:endParaRPr lang="es-MX" dirty="0" smtClean="0"/>
          </a:p>
          <a:p>
            <a:r>
              <a:rPr lang="es-MX" sz="2800" dirty="0" smtClean="0"/>
              <a:t>Ahora en el caso de RDB, el salto de </a:t>
            </a:r>
            <a:r>
              <a:rPr lang="es-MX" sz="2600" i="1" dirty="0" smtClean="0">
                <a:latin typeface="Times New Roman" pitchFamily="18" charset="0"/>
                <a:cs typeface="Times New Roman" pitchFamily="18" charset="0"/>
              </a:rPr>
              <a:t>Y</a:t>
            </a:r>
            <a:r>
              <a:rPr lang="es-MX" sz="2800" dirty="0" smtClean="0"/>
              <a:t> en el umbral ya no estima el impacto del programa, porque no todos los de la izquierda participan y no todos los de la derecha no participan.</a:t>
            </a:r>
          </a:p>
          <a:p>
            <a:endParaRPr lang="es-MX" sz="1100" dirty="0" smtClean="0"/>
          </a:p>
          <a:p>
            <a:r>
              <a:rPr lang="es-MX" sz="2800" dirty="0" smtClean="0"/>
              <a:t>En este caso, el salto en </a:t>
            </a:r>
            <a:r>
              <a:rPr lang="es-MX" sz="2700" i="1" dirty="0" smtClean="0">
                <a:latin typeface="Times New Roman" pitchFamily="18" charset="0"/>
                <a:cs typeface="Times New Roman" pitchFamily="18" charset="0"/>
              </a:rPr>
              <a:t>Y</a:t>
            </a:r>
            <a:r>
              <a:rPr lang="es-MX" sz="2800" dirty="0" smtClean="0"/>
              <a:t> en el umbral estima el impacto de la </a:t>
            </a:r>
            <a:r>
              <a:rPr lang="es-MX" sz="2800" i="1" dirty="0" smtClean="0"/>
              <a:t>elegibilidad</a:t>
            </a:r>
            <a:r>
              <a:rPr lang="es-MX" sz="2800" dirty="0" smtClean="0"/>
              <a:t> de participar, porque el umbral determina la elegibilidad; pero no establece completamente la participación.</a:t>
            </a:r>
          </a:p>
          <a:p>
            <a:endParaRPr lang="es-MX" sz="1100" dirty="0" smtClean="0"/>
          </a:p>
          <a:p>
            <a:r>
              <a:rPr lang="es-MX" sz="2800" dirty="0" smtClean="0"/>
              <a:t>Es necesario tener en cuenta el cambio discreto en la probabilidad de participar en el programa en el umbral. </a:t>
            </a:r>
          </a:p>
          <a:p>
            <a:endParaRPr lang="es-MX" sz="2800" dirty="0" smtClean="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45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454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39</a:t>
            </a:fld>
            <a:endParaRPr lang="es-ES" sz="1500" dirty="0">
              <a:solidFill>
                <a:schemeClr val="tx1">
                  <a:lumMod val="50000"/>
                  <a:lumOff val="50000"/>
                </a:schemeClr>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57450" y="285728"/>
            <a:ext cx="6443663" cy="1131910"/>
          </a:xfrm>
        </p:spPr>
        <p:txBody>
          <a:bodyPr>
            <a:noAutofit/>
          </a:bodyPr>
          <a:lstStyle/>
          <a:p>
            <a:r>
              <a:rPr lang="es-MX" sz="3400" u="sng" dirty="0" smtClean="0"/>
              <a:t>Regresión discontinua borrosa: Estimador del efecto del programa</a:t>
            </a:r>
            <a:endParaRPr lang="en-US" sz="3400"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378370" y="1560790"/>
                <a:ext cx="8875986" cy="5060727"/>
              </a:xfrm>
            </p:spPr>
            <p:txBody>
              <a:bodyPr>
                <a:normAutofit fontScale="92500"/>
              </a:bodyPr>
              <a:lstStyle/>
              <a:p>
                <a:r>
                  <a:rPr lang="es-MX" sz="2800" dirty="0" smtClean="0">
                    <a:solidFill>
                      <a:schemeClr val="accent5">
                        <a:lumMod val="75000"/>
                      </a:schemeClr>
                    </a:solidFill>
                  </a:rPr>
                  <a:t>El efecto del programa es </a:t>
                </a:r>
                <a:r>
                  <a:rPr lang="es-MX" sz="2700" dirty="0" smtClean="0"/>
                  <a:t>el salto en </a:t>
                </a:r>
                <a:r>
                  <a:rPr lang="es-MX" sz="2700" i="1" dirty="0" smtClean="0">
                    <a:latin typeface="Times New Roman" pitchFamily="18" charset="0"/>
                    <a:cs typeface="Times New Roman" pitchFamily="18" charset="0"/>
                  </a:rPr>
                  <a:t>Y</a:t>
                </a:r>
                <a:r>
                  <a:rPr lang="es-MX" sz="2700" dirty="0" smtClean="0"/>
                  <a:t> en el umbral ponderado por el salto en la probabilidad de participación en el umbral.</a:t>
                </a:r>
                <a:r>
                  <a:rPr lang="es-MX" sz="2800" dirty="0" smtClean="0">
                    <a:solidFill>
                      <a:schemeClr val="accent5">
                        <a:lumMod val="75000"/>
                      </a:schemeClr>
                    </a:solidFill>
                  </a:rPr>
                  <a:t> </a:t>
                </a:r>
                <a:endParaRPr lang="es-CO" sz="2800" i="1" dirty="0" smtClean="0"/>
              </a:p>
              <a:p>
                <a:endParaRPr lang="es-CO" sz="1600" i="1" dirty="0" smtClean="0"/>
              </a:p>
              <a:p>
                <a:pPr marL="0" indent="0">
                  <a:buNone/>
                </a:pPr>
                <a14:m>
                  <m:oMathPara xmlns:m="http://schemas.openxmlformats.org/officeDocument/2006/math">
                    <m:oMathParaPr>
                      <m:jc m:val="left"/>
                    </m:oMathParaPr>
                    <m:oMath xmlns:m="http://schemas.openxmlformats.org/officeDocument/2006/math">
                      <m:r>
                        <a:rPr lang="es-CO" sz="2800" b="0" i="1" smtClean="0">
                          <a:latin typeface="Cambria Math"/>
                        </a:rPr>
                        <m:t>     </m:t>
                      </m:r>
                      <m:sSub>
                        <m:sSubPr>
                          <m:ctrlPr>
                            <a:rPr lang="es-CO" sz="2800" i="1">
                              <a:latin typeface="Cambria Math"/>
                            </a:rPr>
                          </m:ctrlPr>
                        </m:sSubPr>
                        <m:e>
                          <m:r>
                            <a:rPr lang="es-ES" sz="2800" i="1">
                              <a:latin typeface="Cambria Math"/>
                            </a:rPr>
                            <m:t>𝜏</m:t>
                          </m:r>
                        </m:e>
                        <m:sub>
                          <m:r>
                            <a:rPr lang="es-ES" sz="2800" i="1">
                              <a:latin typeface="Cambria Math"/>
                            </a:rPr>
                            <m:t>𝑅𝐷𝑁</m:t>
                          </m:r>
                        </m:sub>
                      </m:sSub>
                      <m:d>
                        <m:dPr>
                          <m:ctrlPr>
                            <a:rPr lang="es-CO" sz="2800" i="1">
                              <a:latin typeface="Cambria Math"/>
                            </a:rPr>
                          </m:ctrlPr>
                        </m:dPr>
                        <m:e>
                          <m:acc>
                            <m:accPr>
                              <m:chr m:val="̅"/>
                              <m:ctrlPr>
                                <a:rPr lang="es-CO" sz="2800" i="1">
                                  <a:latin typeface="Cambria Math"/>
                                </a:rPr>
                              </m:ctrlPr>
                            </m:accPr>
                            <m:e>
                              <m:r>
                                <a:rPr lang="es-ES" sz="2800" i="1">
                                  <a:latin typeface="Cambria Math"/>
                                </a:rPr>
                                <m:t>𝑍</m:t>
                              </m:r>
                            </m:e>
                          </m:acc>
                        </m:e>
                      </m:d>
                      <m:r>
                        <a:rPr lang="es-ES" sz="2800" i="1">
                          <a:latin typeface="Cambria Math"/>
                        </a:rPr>
                        <m:t>=</m:t>
                      </m:r>
                      <m:r>
                        <a:rPr lang="es-ES" sz="2800" i="1">
                          <a:latin typeface="Cambria Math"/>
                        </a:rPr>
                        <m:t>𝐸</m:t>
                      </m:r>
                      <m:d>
                        <m:dPr>
                          <m:ctrlPr>
                            <a:rPr lang="es-CO" sz="2800" i="1">
                              <a:latin typeface="Cambria Math"/>
                            </a:rPr>
                          </m:ctrlPr>
                        </m:dPr>
                        <m:e>
                          <m:sSub>
                            <m:sSubPr>
                              <m:ctrlPr>
                                <a:rPr lang="es-CO" sz="2800" i="1">
                                  <a:latin typeface="Cambria Math"/>
                                </a:rPr>
                              </m:ctrlPr>
                            </m:sSubPr>
                            <m:e>
                              <m:r>
                                <a:rPr lang="es-ES" sz="2800" i="1">
                                  <a:latin typeface="Cambria Math"/>
                                </a:rPr>
                                <m:t>𝜏</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𝐷</m:t>
                              </m:r>
                            </m:e>
                            <m:sub>
                              <m:r>
                                <a:rPr lang="es-ES" sz="2800" i="1">
                                  <a:latin typeface="Cambria Math"/>
                                </a:rPr>
                                <m:t>𝑖</m:t>
                              </m:r>
                            </m:sub>
                          </m:sSub>
                          <m:r>
                            <a:rPr lang="es-ES" sz="2800" i="1">
                              <a:latin typeface="Cambria Math"/>
                            </a:rPr>
                            <m:t>=1,</m:t>
                          </m:r>
                          <m:r>
                            <a:rPr lang="es-ES" sz="2800" i="1">
                              <a:latin typeface="Cambria Math"/>
                            </a:rPr>
                            <m:t>𝑍</m:t>
                          </m:r>
                          <m:r>
                            <a:rPr lang="es-ES" sz="2800" i="1">
                              <a:latin typeface="Cambria Math"/>
                            </a:rPr>
                            <m:t>≥</m:t>
                          </m:r>
                          <m:acc>
                            <m:accPr>
                              <m:chr m:val="̅"/>
                              <m:ctrlPr>
                                <a:rPr lang="es-CO" sz="2800" i="1">
                                  <a:latin typeface="Cambria Math"/>
                                </a:rPr>
                              </m:ctrlPr>
                            </m:accPr>
                            <m:e>
                              <m:r>
                                <a:rPr lang="es-ES" sz="2800" i="1">
                                  <a:latin typeface="Cambria Math"/>
                                </a:rPr>
                                <m:t>𝑍</m:t>
                              </m:r>
                            </m:e>
                          </m:acc>
                        </m:e>
                      </m:d>
                      <m:r>
                        <a:rPr lang="es-ES" sz="2800" i="1">
                          <a:latin typeface="Cambria Math"/>
                        </a:rPr>
                        <m:t>    </m:t>
                      </m:r>
                    </m:oMath>
                  </m:oMathPara>
                </a14:m>
                <a:endParaRPr lang="es-CO" sz="2800" i="1" dirty="0" smtClean="0"/>
              </a:p>
              <a:p>
                <a:pPr marL="0" indent="0">
                  <a:buNone/>
                </a:pPr>
                <a14:m>
                  <m:oMathPara xmlns:m="http://schemas.openxmlformats.org/officeDocument/2006/math">
                    <m:oMathParaPr>
                      <m:jc m:val="centerGroup"/>
                    </m:oMathParaPr>
                    <m:oMath xmlns:m="http://schemas.openxmlformats.org/officeDocument/2006/math">
                      <m:r>
                        <a:rPr lang="es-ES" sz="1600" i="1">
                          <a:latin typeface="Cambria Math"/>
                        </a:rPr>
                        <m:t>     </m:t>
                      </m:r>
                      <m:r>
                        <a:rPr lang="es-CO" sz="1600" b="0" i="1" smtClean="0">
                          <a:latin typeface="Cambria Math"/>
                        </a:rPr>
                        <m:t> </m:t>
                      </m:r>
                    </m:oMath>
                  </m:oMathPara>
                </a14:m>
                <a:endParaRPr lang="es-CO" sz="1600" b="0" i="1" dirty="0" smtClean="0">
                  <a:latin typeface="Cambria Math"/>
                </a:endParaRPr>
              </a:p>
              <a:p>
                <a:pPr marL="0" indent="0">
                  <a:buNone/>
                </a:pPr>
                <a14:m>
                  <m:oMathPara xmlns:m="http://schemas.openxmlformats.org/officeDocument/2006/math">
                    <m:oMathParaPr>
                      <m:jc m:val="centerGroup"/>
                    </m:oMathParaPr>
                    <m:oMath xmlns:m="http://schemas.openxmlformats.org/officeDocument/2006/math">
                      <m:r>
                        <a:rPr lang="es-CO" sz="2800" b="0" i="1" smtClean="0">
                          <a:latin typeface="Cambria Math"/>
                        </a:rPr>
                        <m:t>           </m:t>
                      </m:r>
                      <m:r>
                        <a:rPr lang="es-ES" sz="2800" i="1">
                          <a:latin typeface="Cambria Math"/>
                        </a:rPr>
                        <m:t>=</m:t>
                      </m:r>
                      <m:f>
                        <m:fPr>
                          <m:ctrlPr>
                            <a:rPr lang="es-CO" sz="2800" i="1">
                              <a:latin typeface="Cambria Math"/>
                            </a:rPr>
                          </m:ctrlPr>
                        </m:fPr>
                        <m:num>
                          <m:func>
                            <m:funcPr>
                              <m:ctrlPr>
                                <a:rPr lang="es-CO" sz="2800" i="1">
                                  <a:latin typeface="Cambria Math"/>
                                </a:rPr>
                              </m:ctrlPr>
                            </m:funcPr>
                            <m:fName>
                              <m:limLow>
                                <m:limLowPr>
                                  <m:ctrlPr>
                                    <a:rPr lang="es-CO" sz="2800" i="1">
                                      <a:latin typeface="Cambria Math"/>
                                    </a:rPr>
                                  </m:ctrlPr>
                                </m:limLowPr>
                                <m:e>
                                  <m:r>
                                    <m:rPr>
                                      <m:sty m:val="p"/>
                                    </m:rPr>
                                    <a:rPr lang="es-ES" sz="2800">
                                      <a:latin typeface="Cambria Math"/>
                                    </a:rPr>
                                    <m:t>lim</m:t>
                                  </m:r>
                                </m:e>
                                <m:lim>
                                  <m:r>
                                    <a:rPr lang="es-ES" sz="2800" i="1">
                                      <a:latin typeface="Cambria Math"/>
                                    </a:rPr>
                                    <m:t>𝑧</m:t>
                                  </m:r>
                                  <m:r>
                                    <a:rPr lang="es-ES" sz="2800" i="1">
                                      <a:latin typeface="Cambria Math"/>
                                    </a:rPr>
                                    <m:t>↓</m:t>
                                  </m:r>
                                  <m:acc>
                                    <m:accPr>
                                      <m:chr m:val="̅"/>
                                      <m:ctrlPr>
                                        <a:rPr lang="es-CO" sz="2800" i="1">
                                          <a:latin typeface="Cambria Math"/>
                                        </a:rPr>
                                      </m:ctrlPr>
                                    </m:accPr>
                                    <m:e>
                                      <m:r>
                                        <a:rPr lang="es-ES" sz="2800" i="1">
                                          <a:latin typeface="Cambria Math"/>
                                        </a:rPr>
                                        <m:t>𝑍</m:t>
                                      </m:r>
                                    </m:e>
                                  </m:acc>
                                </m:lim>
                              </m:limLow>
                            </m:fName>
                            <m:e>
                              <m:r>
                                <a:rPr lang="es-ES" sz="2800" i="1">
                                  <a:latin typeface="Cambria Math"/>
                                </a:rPr>
                                <m:t>𝐸</m:t>
                              </m:r>
                              <m:d>
                                <m:dPr>
                                  <m:begChr m:val="["/>
                                  <m:endChr m:val="]"/>
                                  <m:ctrlPr>
                                    <a:rPr lang="es-CO" sz="2800" i="1">
                                      <a:latin typeface="Cambria Math"/>
                                    </a:rPr>
                                  </m:ctrlPr>
                                </m:dPr>
                                <m:e>
                                  <m:sSub>
                                    <m:sSubPr>
                                      <m:ctrlPr>
                                        <a:rPr lang="es-CO" sz="2800" i="1">
                                          <a:latin typeface="Cambria Math"/>
                                        </a:rPr>
                                      </m:ctrlPr>
                                    </m:sSubPr>
                                    <m:e>
                                      <m:r>
                                        <a:rPr lang="es-ES" sz="2800" i="1">
                                          <a:latin typeface="Cambria Math"/>
                                        </a:rPr>
                                        <m:t>𝑌</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𝑍</m:t>
                                      </m:r>
                                    </m:e>
                                    <m:sub>
                                      <m:r>
                                        <a:rPr lang="es-ES" sz="2800" i="1">
                                          <a:latin typeface="Cambria Math"/>
                                        </a:rPr>
                                        <m:t>𝑖</m:t>
                                      </m:r>
                                    </m:sub>
                                  </m:sSub>
                                  <m:r>
                                    <a:rPr lang="es-ES" sz="2800" i="1">
                                      <a:latin typeface="Cambria Math"/>
                                    </a:rPr>
                                    <m:t>=</m:t>
                                  </m:r>
                                  <m:r>
                                    <a:rPr lang="es-ES" sz="2800" i="1">
                                      <a:latin typeface="Cambria Math"/>
                                    </a:rPr>
                                    <m:t>𝑧</m:t>
                                  </m:r>
                                </m:e>
                              </m:d>
                              <m:r>
                                <a:rPr lang="es-ES" sz="2800" i="1">
                                  <a:latin typeface="Cambria Math"/>
                                </a:rPr>
                                <m:t>−</m:t>
                              </m:r>
                            </m:e>
                          </m:func>
                          <m:func>
                            <m:funcPr>
                              <m:ctrlPr>
                                <a:rPr lang="es-CO" sz="2800" i="1">
                                  <a:latin typeface="Cambria Math"/>
                                </a:rPr>
                              </m:ctrlPr>
                            </m:funcPr>
                            <m:fName>
                              <m:limLow>
                                <m:limLowPr>
                                  <m:ctrlPr>
                                    <a:rPr lang="es-CO" sz="2800" i="1">
                                      <a:latin typeface="Cambria Math"/>
                                    </a:rPr>
                                  </m:ctrlPr>
                                </m:limLowPr>
                                <m:e>
                                  <m:r>
                                    <m:rPr>
                                      <m:sty m:val="p"/>
                                    </m:rPr>
                                    <a:rPr lang="es-ES" sz="2800">
                                      <a:latin typeface="Cambria Math"/>
                                    </a:rPr>
                                    <m:t>lim</m:t>
                                  </m:r>
                                </m:e>
                                <m:lim>
                                  <m:r>
                                    <a:rPr lang="es-ES" sz="2800" i="1">
                                      <a:latin typeface="Cambria Math"/>
                                    </a:rPr>
                                    <m:t>𝑧</m:t>
                                  </m:r>
                                  <m:r>
                                    <a:rPr lang="es-ES" sz="2800" i="1">
                                      <a:latin typeface="Cambria Math"/>
                                    </a:rPr>
                                    <m:t>↑</m:t>
                                  </m:r>
                                  <m:acc>
                                    <m:accPr>
                                      <m:chr m:val="̅"/>
                                      <m:ctrlPr>
                                        <a:rPr lang="es-CO" sz="2800" i="1">
                                          <a:latin typeface="Cambria Math"/>
                                        </a:rPr>
                                      </m:ctrlPr>
                                    </m:accPr>
                                    <m:e>
                                      <m:r>
                                        <a:rPr lang="es-ES" sz="2800" i="1">
                                          <a:latin typeface="Cambria Math"/>
                                        </a:rPr>
                                        <m:t>𝑍</m:t>
                                      </m:r>
                                    </m:e>
                                  </m:acc>
                                </m:lim>
                              </m:limLow>
                            </m:fName>
                            <m:e>
                              <m:r>
                                <a:rPr lang="es-ES" sz="2800" i="1">
                                  <a:latin typeface="Cambria Math"/>
                                </a:rPr>
                                <m:t>𝐸</m:t>
                              </m:r>
                              <m:d>
                                <m:dPr>
                                  <m:begChr m:val="["/>
                                  <m:endChr m:val="]"/>
                                  <m:ctrlPr>
                                    <a:rPr lang="es-CO" sz="2800" i="1">
                                      <a:latin typeface="Cambria Math"/>
                                    </a:rPr>
                                  </m:ctrlPr>
                                </m:dPr>
                                <m:e>
                                  <m:sSub>
                                    <m:sSubPr>
                                      <m:ctrlPr>
                                        <a:rPr lang="es-CO" sz="2800" i="1">
                                          <a:latin typeface="Cambria Math"/>
                                        </a:rPr>
                                      </m:ctrlPr>
                                    </m:sSubPr>
                                    <m:e>
                                      <m:r>
                                        <a:rPr lang="es-ES" sz="2800" i="1">
                                          <a:latin typeface="Cambria Math"/>
                                        </a:rPr>
                                        <m:t>𝑌</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𝑍</m:t>
                                      </m:r>
                                    </m:e>
                                    <m:sub>
                                      <m:r>
                                        <a:rPr lang="es-ES" sz="2800" i="1">
                                          <a:latin typeface="Cambria Math"/>
                                        </a:rPr>
                                        <m:t>𝑖</m:t>
                                      </m:r>
                                    </m:sub>
                                  </m:sSub>
                                  <m:r>
                                    <a:rPr lang="es-ES" sz="2800" i="1">
                                      <a:latin typeface="Cambria Math"/>
                                    </a:rPr>
                                    <m:t>=</m:t>
                                  </m:r>
                                  <m:r>
                                    <a:rPr lang="es-ES" sz="2800" i="1">
                                      <a:latin typeface="Cambria Math"/>
                                    </a:rPr>
                                    <m:t>𝑧</m:t>
                                  </m:r>
                                </m:e>
                              </m:d>
                            </m:e>
                          </m:func>
                        </m:num>
                        <m:den>
                          <m:limLow>
                            <m:limLowPr>
                              <m:ctrlPr>
                                <a:rPr lang="es-CO" sz="2800" i="1">
                                  <a:latin typeface="Cambria Math"/>
                                </a:rPr>
                              </m:ctrlPr>
                            </m:limLowPr>
                            <m:e>
                              <m:r>
                                <m:rPr>
                                  <m:sty m:val="p"/>
                                </m:rPr>
                                <a:rPr lang="es-ES" sz="2800">
                                  <a:latin typeface="Cambria Math"/>
                                </a:rPr>
                                <m:t>lim</m:t>
                              </m:r>
                            </m:e>
                            <m:lim>
                              <m:r>
                                <a:rPr lang="es-ES" sz="2800" i="1">
                                  <a:latin typeface="Cambria Math"/>
                                </a:rPr>
                                <m:t>𝑧</m:t>
                              </m:r>
                              <m:r>
                                <a:rPr lang="es-ES" sz="2800" i="1">
                                  <a:latin typeface="Cambria Math"/>
                                </a:rPr>
                                <m:t>↓</m:t>
                              </m:r>
                              <m:acc>
                                <m:accPr>
                                  <m:chr m:val="̅"/>
                                  <m:ctrlPr>
                                    <a:rPr lang="es-CO" sz="2800" i="1">
                                      <a:latin typeface="Cambria Math"/>
                                    </a:rPr>
                                  </m:ctrlPr>
                                </m:accPr>
                                <m:e>
                                  <m:r>
                                    <a:rPr lang="es-ES" sz="2800" i="1">
                                      <a:latin typeface="Cambria Math"/>
                                    </a:rPr>
                                    <m:t>𝑍</m:t>
                                  </m:r>
                                </m:e>
                              </m:acc>
                            </m:lim>
                          </m:limLow>
                          <m:r>
                            <a:rPr lang="es-ES" sz="2800" i="1">
                              <a:latin typeface="Cambria Math"/>
                            </a:rPr>
                            <m:t>𝑃𝑟</m:t>
                          </m:r>
                          <m:d>
                            <m:dPr>
                              <m:ctrlPr>
                                <a:rPr lang="es-CO" sz="2800" i="1">
                                  <a:latin typeface="Cambria Math"/>
                                </a:rPr>
                              </m:ctrlPr>
                            </m:dPr>
                            <m:e>
                              <m:r>
                                <a:rPr lang="es-ES" sz="2800" i="1">
                                  <a:latin typeface="Cambria Math"/>
                                </a:rPr>
                                <m:t>𝐷</m:t>
                              </m:r>
                              <m:r>
                                <a:rPr lang="es-ES" sz="2800" i="1">
                                  <a:latin typeface="Cambria Math"/>
                                </a:rPr>
                                <m:t>=1|</m:t>
                              </m:r>
                              <m:r>
                                <a:rPr lang="es-ES" sz="2800" i="1">
                                  <a:latin typeface="Cambria Math"/>
                                </a:rPr>
                                <m:t>𝑍</m:t>
                              </m:r>
                              <m:r>
                                <a:rPr lang="es-ES" sz="2800" i="1">
                                  <a:latin typeface="Cambria Math"/>
                                </a:rPr>
                                <m:t>=</m:t>
                              </m:r>
                              <m:r>
                                <a:rPr lang="es-ES" sz="2800" i="1">
                                  <a:latin typeface="Cambria Math"/>
                                </a:rPr>
                                <m:t>𝑧</m:t>
                              </m:r>
                            </m:e>
                          </m:d>
                          <m:r>
                            <a:rPr lang="es-ES" sz="2800" i="1">
                              <a:latin typeface="Cambria Math"/>
                            </a:rPr>
                            <m:t>−</m:t>
                          </m:r>
                          <m:limLow>
                            <m:limLowPr>
                              <m:ctrlPr>
                                <a:rPr lang="es-CO" sz="2800" i="1">
                                  <a:latin typeface="Cambria Math"/>
                                </a:rPr>
                              </m:ctrlPr>
                            </m:limLowPr>
                            <m:e>
                              <m:r>
                                <m:rPr>
                                  <m:sty m:val="p"/>
                                </m:rPr>
                                <a:rPr lang="es-ES" sz="2800">
                                  <a:latin typeface="Cambria Math"/>
                                </a:rPr>
                                <m:t>lim</m:t>
                              </m:r>
                            </m:e>
                            <m:lim>
                              <m:r>
                                <a:rPr lang="es-ES" sz="2800" i="1">
                                  <a:latin typeface="Cambria Math"/>
                                </a:rPr>
                                <m:t>𝑧</m:t>
                              </m:r>
                              <m:r>
                                <a:rPr lang="es-ES" sz="2800" i="1">
                                  <a:latin typeface="Cambria Math"/>
                                </a:rPr>
                                <m:t>↑</m:t>
                              </m:r>
                              <m:acc>
                                <m:accPr>
                                  <m:chr m:val="̅"/>
                                  <m:ctrlPr>
                                    <a:rPr lang="es-CO" sz="2800" i="1">
                                      <a:latin typeface="Cambria Math"/>
                                    </a:rPr>
                                  </m:ctrlPr>
                                </m:accPr>
                                <m:e>
                                  <m:r>
                                    <a:rPr lang="es-ES" sz="2800" i="1">
                                      <a:latin typeface="Cambria Math"/>
                                    </a:rPr>
                                    <m:t>𝑍</m:t>
                                  </m:r>
                                </m:e>
                              </m:acc>
                            </m:lim>
                          </m:limLow>
                          <m:r>
                            <a:rPr lang="es-ES" sz="2800" i="1">
                              <a:latin typeface="Cambria Math"/>
                            </a:rPr>
                            <m:t>𝑃𝑟</m:t>
                          </m:r>
                          <m:d>
                            <m:dPr>
                              <m:ctrlPr>
                                <a:rPr lang="es-CO" sz="2800" i="1">
                                  <a:latin typeface="Cambria Math"/>
                                </a:rPr>
                              </m:ctrlPr>
                            </m:dPr>
                            <m:e>
                              <m:r>
                                <a:rPr lang="es-ES" sz="2800" i="1">
                                  <a:latin typeface="Cambria Math"/>
                                </a:rPr>
                                <m:t>𝐷</m:t>
                              </m:r>
                              <m:r>
                                <a:rPr lang="es-ES" sz="2800" i="1">
                                  <a:latin typeface="Cambria Math"/>
                                </a:rPr>
                                <m:t>=1|</m:t>
                              </m:r>
                              <m:r>
                                <a:rPr lang="es-ES" sz="2800" i="1">
                                  <a:latin typeface="Cambria Math"/>
                                </a:rPr>
                                <m:t>𝑍</m:t>
                              </m:r>
                              <m:r>
                                <a:rPr lang="es-ES" sz="2800" i="1">
                                  <a:latin typeface="Cambria Math"/>
                                </a:rPr>
                                <m:t>=</m:t>
                              </m:r>
                              <m:r>
                                <a:rPr lang="es-ES" sz="2800" i="1">
                                  <a:latin typeface="Cambria Math"/>
                                </a:rPr>
                                <m:t>𝑧</m:t>
                              </m:r>
                            </m:e>
                          </m:d>
                        </m:den>
                      </m:f>
                    </m:oMath>
                  </m:oMathPara>
                </a14:m>
                <a:endParaRPr lang="es-MX" sz="2800" dirty="0" smtClean="0">
                  <a:solidFill>
                    <a:schemeClr val="accent5">
                      <a:lumMod val="75000"/>
                    </a:schemeClr>
                  </a:solidFill>
                </a:endParaRPr>
              </a:p>
              <a:p>
                <a:endParaRPr lang="es-MX" sz="1100" dirty="0" smtClean="0">
                  <a:solidFill>
                    <a:schemeClr val="accent5">
                      <a:lumMod val="75000"/>
                    </a:schemeClr>
                  </a:solidFill>
                </a:endParaRPr>
              </a:p>
              <a:p>
                <a:r>
                  <a:rPr lang="es-MX" sz="2800" dirty="0" smtClean="0">
                    <a:solidFill>
                      <a:schemeClr val="accent5">
                        <a:lumMod val="75000"/>
                      </a:schemeClr>
                    </a:solidFill>
                  </a:rPr>
                  <a:t>Siempre que:</a:t>
                </a:r>
                <a:r>
                  <a:rPr lang="es-MX" sz="2800" dirty="0" smtClean="0"/>
                  <a:t> </a:t>
                </a:r>
              </a:p>
              <a:p>
                <a:pPr lvl="1">
                  <a:lnSpc>
                    <a:spcPts val="2500"/>
                  </a:lnSpc>
                </a:pPr>
                <a:r>
                  <a:rPr lang="es-MX" sz="2600" dirty="0" smtClean="0"/>
                  <a:t>No existan externalidades del programa.</a:t>
                </a:r>
              </a:p>
              <a:p>
                <a:pPr lvl="1">
                  <a:lnSpc>
                    <a:spcPts val="2500"/>
                  </a:lnSpc>
                </a:pPr>
                <a:r>
                  <a:rPr lang="es-MX" sz="2600" dirty="0" smtClean="0"/>
                  <a:t>Se cumpla la condición de identificación. </a:t>
                </a:r>
              </a:p>
              <a:p>
                <a:pPr lvl="1">
                  <a:lnSpc>
                    <a:spcPts val="2500"/>
                  </a:lnSpc>
                </a:pPr>
                <a:r>
                  <a:rPr lang="es-MX" sz="2600" dirty="0" smtClean="0"/>
                  <a:t>Se cumpla el supuesto de continuidad local. </a:t>
                </a:r>
                <a:endParaRPr lang="en-US" sz="26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378370" y="1560790"/>
                <a:ext cx="8875986" cy="5060727"/>
              </a:xfrm>
              <a:blipFill rotWithShape="1">
                <a:blip r:embed="rId3" cstate="print"/>
                <a:stretch>
                  <a:fillRect l="-1030" t="-964" r="-275"/>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45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454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819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819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819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81603"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81604" name="Rectangle 4"/>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816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16" name="1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40</a:t>
            </a:fld>
            <a:endParaRPr lang="es-ES" sz="1500" dirty="0">
              <a:solidFill>
                <a:schemeClr val="tx1">
                  <a:lumMod val="50000"/>
                  <a:lumOff val="50000"/>
                </a:schemeClr>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57450" y="285728"/>
            <a:ext cx="6443663" cy="1131910"/>
          </a:xfrm>
        </p:spPr>
        <p:txBody>
          <a:bodyPr>
            <a:noAutofit/>
          </a:bodyPr>
          <a:lstStyle/>
          <a:p>
            <a:r>
              <a:rPr lang="es-MX" sz="3400" u="sng" dirty="0" smtClean="0"/>
              <a:t>Regresión discontinua borrosa: Estimador del efecto del programa</a:t>
            </a:r>
            <a:endParaRPr lang="en-US" sz="3400"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1489842"/>
                <a:ext cx="8686800" cy="4863661"/>
              </a:xfrm>
            </p:spPr>
            <p:txBody>
              <a:bodyPr>
                <a:normAutofit/>
              </a:bodyPr>
              <a:lstStyle/>
              <a:p>
                <a:endParaRPr lang="es-MX" sz="2800" dirty="0" smtClean="0"/>
              </a:p>
              <a:p>
                <a:pPr>
                  <a:buNone/>
                </a:pPr>
                <a:r>
                  <a:rPr lang="es-MX" sz="2800" dirty="0" smtClean="0">
                    <a:solidFill>
                      <a:schemeClr val="accent5">
                        <a:lumMod val="75000"/>
                      </a:schemeClr>
                    </a:solidFill>
                  </a:rPr>
                  <a:t>El efecto del programa es: </a:t>
                </a:r>
              </a:p>
              <a:p>
                <a:pPr marL="0" indent="0">
                  <a:buNone/>
                </a:pPr>
                <a14:m>
                  <m:oMathPara xmlns:m="http://schemas.openxmlformats.org/officeDocument/2006/math">
                    <m:oMathParaPr>
                      <m:jc m:val="left"/>
                    </m:oMathParaPr>
                    <m:oMath xmlns:m="http://schemas.openxmlformats.org/officeDocument/2006/math">
                      <m:sSub>
                        <m:sSubPr>
                          <m:ctrlPr>
                            <a:rPr lang="es-CO" sz="2800" i="1">
                              <a:latin typeface="Cambria Math"/>
                            </a:rPr>
                          </m:ctrlPr>
                        </m:sSubPr>
                        <m:e>
                          <m:r>
                            <a:rPr lang="es-ES" sz="2800" i="1">
                              <a:latin typeface="Cambria Math"/>
                            </a:rPr>
                            <m:t>𝜏</m:t>
                          </m:r>
                        </m:e>
                        <m:sub>
                          <m:r>
                            <a:rPr lang="es-ES" sz="2800" i="1">
                              <a:latin typeface="Cambria Math"/>
                            </a:rPr>
                            <m:t>𝑅𝐷𝑁</m:t>
                          </m:r>
                        </m:sub>
                      </m:sSub>
                      <m:d>
                        <m:dPr>
                          <m:ctrlPr>
                            <a:rPr lang="es-CO" sz="2800" i="1">
                              <a:latin typeface="Cambria Math"/>
                            </a:rPr>
                          </m:ctrlPr>
                        </m:dPr>
                        <m:e>
                          <m:acc>
                            <m:accPr>
                              <m:chr m:val="̅"/>
                              <m:ctrlPr>
                                <a:rPr lang="es-CO" sz="2800" i="1">
                                  <a:latin typeface="Cambria Math"/>
                                </a:rPr>
                              </m:ctrlPr>
                            </m:accPr>
                            <m:e>
                              <m:r>
                                <a:rPr lang="es-ES" sz="2800" i="1">
                                  <a:latin typeface="Cambria Math"/>
                                </a:rPr>
                                <m:t>𝑍</m:t>
                              </m:r>
                            </m:e>
                          </m:acc>
                        </m:e>
                      </m:d>
                      <m:r>
                        <a:rPr lang="es-ES" sz="2800" i="1">
                          <a:latin typeface="Cambria Math"/>
                        </a:rPr>
                        <m:t>=</m:t>
                      </m:r>
                      <m:r>
                        <a:rPr lang="es-ES" sz="2800" i="1">
                          <a:latin typeface="Cambria Math"/>
                        </a:rPr>
                        <m:t>𝐸</m:t>
                      </m:r>
                      <m:d>
                        <m:dPr>
                          <m:ctrlPr>
                            <a:rPr lang="es-CO" sz="2800" i="1">
                              <a:latin typeface="Cambria Math"/>
                            </a:rPr>
                          </m:ctrlPr>
                        </m:dPr>
                        <m:e>
                          <m:sSub>
                            <m:sSubPr>
                              <m:ctrlPr>
                                <a:rPr lang="es-CO" sz="2800" i="1">
                                  <a:latin typeface="Cambria Math"/>
                                </a:rPr>
                              </m:ctrlPr>
                            </m:sSubPr>
                            <m:e>
                              <m:r>
                                <a:rPr lang="es-ES" sz="2800" i="1">
                                  <a:latin typeface="Cambria Math"/>
                                </a:rPr>
                                <m:t>𝜏</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𝐷</m:t>
                              </m:r>
                            </m:e>
                            <m:sub>
                              <m:r>
                                <a:rPr lang="es-ES" sz="2800" i="1">
                                  <a:latin typeface="Cambria Math"/>
                                </a:rPr>
                                <m:t>𝑖</m:t>
                              </m:r>
                            </m:sub>
                          </m:sSub>
                          <m:r>
                            <a:rPr lang="es-ES" sz="2800" i="1">
                              <a:latin typeface="Cambria Math"/>
                            </a:rPr>
                            <m:t>=1,</m:t>
                          </m:r>
                          <m:r>
                            <a:rPr lang="es-ES" sz="2800" i="1">
                              <a:latin typeface="Cambria Math"/>
                            </a:rPr>
                            <m:t>𝑍</m:t>
                          </m:r>
                          <m:r>
                            <a:rPr lang="es-ES" sz="2800" i="1">
                              <a:latin typeface="Cambria Math"/>
                            </a:rPr>
                            <m:t>≥</m:t>
                          </m:r>
                          <m:acc>
                            <m:accPr>
                              <m:chr m:val="̅"/>
                              <m:ctrlPr>
                                <a:rPr lang="es-CO" sz="2800" i="1">
                                  <a:latin typeface="Cambria Math"/>
                                </a:rPr>
                              </m:ctrlPr>
                            </m:accPr>
                            <m:e>
                              <m:r>
                                <a:rPr lang="es-ES" sz="2800" i="1">
                                  <a:latin typeface="Cambria Math"/>
                                </a:rPr>
                                <m:t>𝑍</m:t>
                              </m:r>
                            </m:e>
                          </m:acc>
                        </m:e>
                      </m:d>
                    </m:oMath>
                  </m:oMathPara>
                </a14:m>
                <a:endParaRPr lang="es-MX" sz="2800" dirty="0" smtClean="0">
                  <a:solidFill>
                    <a:schemeClr val="accent5">
                      <a:lumMod val="75000"/>
                    </a:schemeClr>
                  </a:solidFill>
                </a:endParaRPr>
              </a:p>
              <a:p>
                <a:pPr marL="0" indent="0">
                  <a:buNone/>
                </a:pPr>
                <a:endParaRPr lang="es-MX" sz="2800" dirty="0" smtClean="0">
                  <a:solidFill>
                    <a:schemeClr val="accent5">
                      <a:lumMod val="75000"/>
                    </a:schemeClr>
                  </a:solidFill>
                </a:endParaRPr>
              </a:p>
              <a:p>
                <a:pPr marL="0" indent="0">
                  <a:buNone/>
                </a:pPr>
                <a14:m>
                  <m:oMathPara xmlns:m="http://schemas.openxmlformats.org/officeDocument/2006/math">
                    <m:oMathParaPr>
                      <m:jc m:val="left"/>
                    </m:oMathParaPr>
                    <m:oMath xmlns:m="http://schemas.openxmlformats.org/officeDocument/2006/math">
                      <m:sSub>
                        <m:sSubPr>
                          <m:ctrlPr>
                            <a:rPr lang="es-CO" sz="2000" i="1">
                              <a:latin typeface="Cambria Math"/>
                            </a:rPr>
                          </m:ctrlPr>
                        </m:sSubPr>
                        <m:e>
                          <m:r>
                            <a:rPr lang="es-ES" sz="2000" i="1">
                              <a:latin typeface="Cambria Math"/>
                            </a:rPr>
                            <m:t>𝜏</m:t>
                          </m:r>
                        </m:e>
                        <m:sub>
                          <m:r>
                            <a:rPr lang="es-ES" sz="2000" i="1">
                              <a:latin typeface="Cambria Math"/>
                            </a:rPr>
                            <m:t>𝑅𝐷𝐵</m:t>
                          </m:r>
                        </m:sub>
                      </m:sSub>
                      <m:d>
                        <m:dPr>
                          <m:ctrlPr>
                            <a:rPr lang="es-CO" sz="2000" i="1">
                              <a:latin typeface="Cambria Math"/>
                            </a:rPr>
                          </m:ctrlPr>
                        </m:dPr>
                        <m:e>
                          <m:acc>
                            <m:accPr>
                              <m:chr m:val="̅"/>
                              <m:ctrlPr>
                                <a:rPr lang="es-CO" sz="2000" i="1">
                                  <a:latin typeface="Cambria Math"/>
                                </a:rPr>
                              </m:ctrlPr>
                            </m:accPr>
                            <m:e>
                              <m:r>
                                <a:rPr lang="es-ES" sz="2000" i="1">
                                  <a:latin typeface="Cambria Math"/>
                                </a:rPr>
                                <m:t>𝑍</m:t>
                              </m:r>
                            </m:e>
                          </m:acc>
                        </m:e>
                      </m:d>
                      <m:r>
                        <a:rPr lang="es-ES" sz="2000" i="1">
                          <a:latin typeface="Cambria Math"/>
                        </a:rPr>
                        <m:t>=</m:t>
                      </m:r>
                      <m:f>
                        <m:fPr>
                          <m:ctrlPr>
                            <a:rPr lang="es-CO" sz="2000" i="1">
                              <a:latin typeface="Cambria Math"/>
                            </a:rPr>
                          </m:ctrlPr>
                        </m:fPr>
                        <m:num>
                          <m:func>
                            <m:funcPr>
                              <m:ctrlPr>
                                <a:rPr lang="es-CO" sz="2000" i="1">
                                  <a:latin typeface="Cambria Math"/>
                                </a:rPr>
                              </m:ctrlPr>
                            </m:funcPr>
                            <m:fName>
                              <m:limLow>
                                <m:limLowPr>
                                  <m:ctrlPr>
                                    <a:rPr lang="es-CO" sz="2000" i="1">
                                      <a:latin typeface="Cambria Math"/>
                                    </a:rPr>
                                  </m:ctrlPr>
                                </m:limLowPr>
                                <m:e>
                                  <m:r>
                                    <m:rPr>
                                      <m:sty m:val="p"/>
                                    </m:rPr>
                                    <a:rPr lang="es-ES" sz="2000">
                                      <a:latin typeface="Cambria Math"/>
                                    </a:rPr>
                                    <m:t>lim</m:t>
                                  </m:r>
                                </m:e>
                                <m:lim>
                                  <m:r>
                                    <a:rPr lang="es-ES" sz="2000" i="1">
                                      <a:latin typeface="Cambria Math"/>
                                    </a:rPr>
                                    <m:t>𝑧</m:t>
                                  </m:r>
                                  <m:r>
                                    <a:rPr lang="es-ES" sz="2000" i="1">
                                      <a:latin typeface="Cambria Math"/>
                                    </a:rPr>
                                    <m:t>↓</m:t>
                                  </m:r>
                                  <m:acc>
                                    <m:accPr>
                                      <m:chr m:val="̅"/>
                                      <m:ctrlPr>
                                        <a:rPr lang="es-CO" sz="2000" i="1">
                                          <a:latin typeface="Cambria Math"/>
                                        </a:rPr>
                                      </m:ctrlPr>
                                    </m:accPr>
                                    <m:e>
                                      <m:r>
                                        <a:rPr lang="es-ES" sz="2000" i="1">
                                          <a:latin typeface="Cambria Math"/>
                                        </a:rPr>
                                        <m:t>𝑍</m:t>
                                      </m:r>
                                    </m:e>
                                  </m:acc>
                                </m:lim>
                              </m:limLow>
                            </m:fName>
                            <m:e>
                              <m:r>
                                <a:rPr lang="es-ES" sz="2000" i="1">
                                  <a:latin typeface="Cambria Math"/>
                                </a:rPr>
                                <m:t>𝐸</m:t>
                              </m:r>
                              <m:d>
                                <m:dPr>
                                  <m:begChr m:val="["/>
                                  <m:endChr m:val="]"/>
                                  <m:ctrlPr>
                                    <a:rPr lang="es-CO" sz="2000" i="1">
                                      <a:latin typeface="Cambria Math"/>
                                    </a:rPr>
                                  </m:ctrlPr>
                                </m:dPr>
                                <m:e>
                                  <m:sSub>
                                    <m:sSubPr>
                                      <m:ctrlPr>
                                        <a:rPr lang="es-CO" sz="2000" i="1">
                                          <a:latin typeface="Cambria Math"/>
                                        </a:rPr>
                                      </m:ctrlPr>
                                    </m:sSubPr>
                                    <m:e>
                                      <m:r>
                                        <a:rPr lang="es-ES" sz="2000" i="1">
                                          <a:latin typeface="Cambria Math"/>
                                        </a:rPr>
                                        <m:t>𝑌</m:t>
                                      </m:r>
                                    </m:e>
                                    <m:sub>
                                      <m:r>
                                        <a:rPr lang="es-ES" sz="2000" i="1">
                                          <a:latin typeface="Cambria Math"/>
                                        </a:rPr>
                                        <m:t>𝑖</m:t>
                                      </m:r>
                                    </m:sub>
                                  </m:sSub>
                                  <m:r>
                                    <a:rPr lang="es-ES" sz="2000" i="1">
                                      <a:latin typeface="Cambria Math"/>
                                    </a:rPr>
                                    <m:t>|</m:t>
                                  </m:r>
                                  <m:sSub>
                                    <m:sSubPr>
                                      <m:ctrlPr>
                                        <a:rPr lang="es-CO" sz="2000" i="1">
                                          <a:latin typeface="Cambria Math"/>
                                        </a:rPr>
                                      </m:ctrlPr>
                                    </m:sSubPr>
                                    <m:e>
                                      <m:r>
                                        <a:rPr lang="es-ES" sz="2000" i="1">
                                          <a:latin typeface="Cambria Math"/>
                                        </a:rPr>
                                        <m:t>𝑍</m:t>
                                      </m:r>
                                    </m:e>
                                    <m:sub>
                                      <m:r>
                                        <a:rPr lang="es-ES" sz="2000" i="1">
                                          <a:latin typeface="Cambria Math"/>
                                        </a:rPr>
                                        <m:t>𝑖</m:t>
                                      </m:r>
                                    </m:sub>
                                  </m:sSub>
                                  <m:r>
                                    <a:rPr lang="es-ES" sz="2000" i="1">
                                      <a:latin typeface="Cambria Math"/>
                                    </a:rPr>
                                    <m:t>=</m:t>
                                  </m:r>
                                  <m:r>
                                    <a:rPr lang="es-ES" sz="2000" i="1">
                                      <a:latin typeface="Cambria Math"/>
                                    </a:rPr>
                                    <m:t>𝑧</m:t>
                                  </m:r>
                                </m:e>
                              </m:d>
                              <m:r>
                                <a:rPr lang="es-ES" sz="2000" i="1">
                                  <a:latin typeface="Cambria Math"/>
                                </a:rPr>
                                <m:t>−</m:t>
                              </m:r>
                            </m:e>
                          </m:func>
                          <m:func>
                            <m:funcPr>
                              <m:ctrlPr>
                                <a:rPr lang="es-CO" sz="2000" i="1">
                                  <a:latin typeface="Cambria Math"/>
                                </a:rPr>
                              </m:ctrlPr>
                            </m:funcPr>
                            <m:fName>
                              <m:limLow>
                                <m:limLowPr>
                                  <m:ctrlPr>
                                    <a:rPr lang="es-CO" sz="2000" i="1">
                                      <a:latin typeface="Cambria Math"/>
                                    </a:rPr>
                                  </m:ctrlPr>
                                </m:limLowPr>
                                <m:e>
                                  <m:r>
                                    <m:rPr>
                                      <m:sty m:val="p"/>
                                    </m:rPr>
                                    <a:rPr lang="es-ES" sz="2000">
                                      <a:latin typeface="Cambria Math"/>
                                    </a:rPr>
                                    <m:t>lim</m:t>
                                  </m:r>
                                </m:e>
                                <m:lim>
                                  <m:r>
                                    <a:rPr lang="es-ES" sz="2000" i="1">
                                      <a:latin typeface="Cambria Math"/>
                                    </a:rPr>
                                    <m:t>𝑧</m:t>
                                  </m:r>
                                  <m:acc>
                                    <m:accPr>
                                      <m:chr m:val="̅"/>
                                      <m:ctrlPr>
                                        <a:rPr lang="es-CO" sz="2000" i="1">
                                          <a:latin typeface="Cambria Math"/>
                                        </a:rPr>
                                      </m:ctrlPr>
                                    </m:accPr>
                                    <m:e>
                                      <m:r>
                                        <a:rPr lang="es-ES" sz="2000" i="1">
                                          <a:latin typeface="Cambria Math"/>
                                        </a:rPr>
                                        <m:t>↑</m:t>
                                      </m:r>
                                      <m:r>
                                        <a:rPr lang="es-ES" sz="2000" i="1">
                                          <a:latin typeface="Cambria Math"/>
                                        </a:rPr>
                                        <m:t>𝑍</m:t>
                                      </m:r>
                                    </m:e>
                                  </m:acc>
                                </m:lim>
                              </m:limLow>
                            </m:fName>
                            <m:e>
                              <m:r>
                                <a:rPr lang="es-ES" sz="2000" i="1">
                                  <a:latin typeface="Cambria Math"/>
                                </a:rPr>
                                <m:t>𝐸</m:t>
                              </m:r>
                              <m:d>
                                <m:dPr>
                                  <m:begChr m:val="["/>
                                  <m:endChr m:val="]"/>
                                  <m:ctrlPr>
                                    <a:rPr lang="es-CO" sz="2000" i="1">
                                      <a:latin typeface="Cambria Math"/>
                                    </a:rPr>
                                  </m:ctrlPr>
                                </m:dPr>
                                <m:e>
                                  <m:sSub>
                                    <m:sSubPr>
                                      <m:ctrlPr>
                                        <a:rPr lang="es-CO" sz="2000" i="1">
                                          <a:latin typeface="Cambria Math"/>
                                        </a:rPr>
                                      </m:ctrlPr>
                                    </m:sSubPr>
                                    <m:e>
                                      <m:r>
                                        <a:rPr lang="es-ES" sz="2000" i="1">
                                          <a:latin typeface="Cambria Math"/>
                                        </a:rPr>
                                        <m:t>𝑌</m:t>
                                      </m:r>
                                    </m:e>
                                    <m:sub>
                                      <m:r>
                                        <a:rPr lang="es-ES" sz="2000" i="1">
                                          <a:latin typeface="Cambria Math"/>
                                        </a:rPr>
                                        <m:t>𝑖</m:t>
                                      </m:r>
                                    </m:sub>
                                  </m:sSub>
                                  <m:r>
                                    <a:rPr lang="es-ES" sz="2000" i="1">
                                      <a:latin typeface="Cambria Math"/>
                                    </a:rPr>
                                    <m:t>|</m:t>
                                  </m:r>
                                  <m:sSub>
                                    <m:sSubPr>
                                      <m:ctrlPr>
                                        <a:rPr lang="es-CO" sz="2000" i="1">
                                          <a:latin typeface="Cambria Math"/>
                                        </a:rPr>
                                      </m:ctrlPr>
                                    </m:sSubPr>
                                    <m:e>
                                      <m:r>
                                        <a:rPr lang="es-ES" sz="2000" i="1">
                                          <a:latin typeface="Cambria Math"/>
                                        </a:rPr>
                                        <m:t>𝑍</m:t>
                                      </m:r>
                                    </m:e>
                                    <m:sub>
                                      <m:r>
                                        <a:rPr lang="es-ES" sz="2000" i="1">
                                          <a:latin typeface="Cambria Math"/>
                                        </a:rPr>
                                        <m:t>𝑖</m:t>
                                      </m:r>
                                    </m:sub>
                                  </m:sSub>
                                  <m:r>
                                    <a:rPr lang="es-ES" sz="2000" i="1">
                                      <a:latin typeface="Cambria Math"/>
                                    </a:rPr>
                                    <m:t>=</m:t>
                                  </m:r>
                                  <m:r>
                                    <a:rPr lang="es-ES" sz="2000" i="1">
                                      <a:latin typeface="Cambria Math"/>
                                    </a:rPr>
                                    <m:t>𝑧</m:t>
                                  </m:r>
                                </m:e>
                              </m:d>
                            </m:e>
                          </m:func>
                        </m:num>
                        <m:den>
                          <m:limLow>
                            <m:limLowPr>
                              <m:ctrlPr>
                                <a:rPr lang="es-CO" sz="2000" i="1">
                                  <a:latin typeface="Cambria Math"/>
                                </a:rPr>
                              </m:ctrlPr>
                            </m:limLowPr>
                            <m:e>
                              <m:r>
                                <m:rPr>
                                  <m:sty m:val="p"/>
                                </m:rPr>
                                <a:rPr lang="es-ES" sz="2000">
                                  <a:latin typeface="Cambria Math"/>
                                </a:rPr>
                                <m:t>lim</m:t>
                              </m:r>
                            </m:e>
                            <m:lim>
                              <m:r>
                                <a:rPr lang="es-ES" sz="2000" i="1">
                                  <a:latin typeface="Cambria Math"/>
                                </a:rPr>
                                <m:t>𝑧</m:t>
                              </m:r>
                              <m:r>
                                <a:rPr lang="es-ES" sz="2000" i="1">
                                  <a:latin typeface="Cambria Math"/>
                                </a:rPr>
                                <m:t>↓</m:t>
                              </m:r>
                              <m:acc>
                                <m:accPr>
                                  <m:chr m:val="̅"/>
                                  <m:ctrlPr>
                                    <a:rPr lang="es-CO" sz="2000" i="1">
                                      <a:latin typeface="Cambria Math"/>
                                    </a:rPr>
                                  </m:ctrlPr>
                                </m:accPr>
                                <m:e>
                                  <m:r>
                                    <a:rPr lang="es-ES" sz="2000" i="1">
                                      <a:latin typeface="Cambria Math"/>
                                    </a:rPr>
                                    <m:t>𝑍</m:t>
                                  </m:r>
                                </m:e>
                              </m:acc>
                            </m:lim>
                          </m:limLow>
                          <m:r>
                            <a:rPr lang="es-ES" sz="2000" i="1">
                              <a:latin typeface="Cambria Math"/>
                            </a:rPr>
                            <m:t>𝑃𝑟</m:t>
                          </m:r>
                          <m:d>
                            <m:dPr>
                              <m:ctrlPr>
                                <a:rPr lang="es-CO" sz="2000" i="1">
                                  <a:latin typeface="Cambria Math"/>
                                </a:rPr>
                              </m:ctrlPr>
                            </m:dPr>
                            <m:e>
                              <m:r>
                                <a:rPr lang="es-ES" sz="2000" i="1">
                                  <a:latin typeface="Cambria Math"/>
                                </a:rPr>
                                <m:t>𝐷</m:t>
                              </m:r>
                              <m:r>
                                <a:rPr lang="es-ES" sz="2000" i="1">
                                  <a:latin typeface="Cambria Math"/>
                                </a:rPr>
                                <m:t>=1|</m:t>
                              </m:r>
                              <m:r>
                                <a:rPr lang="es-ES" sz="2000" i="1">
                                  <a:latin typeface="Cambria Math"/>
                                </a:rPr>
                                <m:t>𝑍</m:t>
                              </m:r>
                              <m:r>
                                <a:rPr lang="es-ES" sz="2000" i="1">
                                  <a:latin typeface="Cambria Math"/>
                                </a:rPr>
                                <m:t>=</m:t>
                              </m:r>
                              <m:r>
                                <a:rPr lang="es-ES" sz="2000" i="1">
                                  <a:latin typeface="Cambria Math"/>
                                </a:rPr>
                                <m:t>𝑧</m:t>
                              </m:r>
                            </m:e>
                          </m:d>
                          <m:r>
                            <a:rPr lang="es-ES" sz="2000" i="1">
                              <a:latin typeface="Cambria Math"/>
                            </a:rPr>
                            <m:t>−</m:t>
                          </m:r>
                          <m:limLow>
                            <m:limLowPr>
                              <m:ctrlPr>
                                <a:rPr lang="es-CO" sz="2000" i="1">
                                  <a:latin typeface="Cambria Math"/>
                                </a:rPr>
                              </m:ctrlPr>
                            </m:limLowPr>
                            <m:e>
                              <m:r>
                                <m:rPr>
                                  <m:sty m:val="p"/>
                                </m:rPr>
                                <a:rPr lang="es-ES" sz="2000">
                                  <a:latin typeface="Cambria Math"/>
                                </a:rPr>
                                <m:t>lim</m:t>
                              </m:r>
                            </m:e>
                            <m:lim>
                              <m:r>
                                <a:rPr lang="es-ES" sz="2000" i="1">
                                  <a:latin typeface="Cambria Math"/>
                                </a:rPr>
                                <m:t>𝑧</m:t>
                              </m:r>
                              <m:r>
                                <a:rPr lang="es-ES" sz="2000" i="1">
                                  <a:latin typeface="Cambria Math"/>
                                </a:rPr>
                                <m:t>↑</m:t>
                              </m:r>
                              <m:acc>
                                <m:accPr>
                                  <m:chr m:val="̅"/>
                                  <m:ctrlPr>
                                    <a:rPr lang="es-CO" sz="2000" i="1">
                                      <a:latin typeface="Cambria Math"/>
                                    </a:rPr>
                                  </m:ctrlPr>
                                </m:accPr>
                                <m:e>
                                  <m:r>
                                    <a:rPr lang="es-ES" sz="2000" i="1">
                                      <a:latin typeface="Cambria Math"/>
                                    </a:rPr>
                                    <m:t>𝑍</m:t>
                                  </m:r>
                                </m:e>
                              </m:acc>
                            </m:lim>
                          </m:limLow>
                          <m:r>
                            <a:rPr lang="es-ES" sz="2000" i="1">
                              <a:latin typeface="Cambria Math"/>
                            </a:rPr>
                            <m:t>𝑃𝑟</m:t>
                          </m:r>
                          <m:d>
                            <m:dPr>
                              <m:ctrlPr>
                                <a:rPr lang="es-CO" sz="2000" i="1">
                                  <a:latin typeface="Cambria Math"/>
                                </a:rPr>
                              </m:ctrlPr>
                            </m:dPr>
                            <m:e>
                              <m:r>
                                <a:rPr lang="es-ES" sz="2000" i="1">
                                  <a:latin typeface="Cambria Math"/>
                                </a:rPr>
                                <m:t>𝐷</m:t>
                              </m:r>
                              <m:r>
                                <a:rPr lang="es-ES" sz="2000" i="1">
                                  <a:latin typeface="Cambria Math"/>
                                </a:rPr>
                                <m:t>=1|</m:t>
                              </m:r>
                              <m:r>
                                <a:rPr lang="es-ES" sz="2000" i="1">
                                  <a:latin typeface="Cambria Math"/>
                                </a:rPr>
                                <m:t>𝑍</m:t>
                              </m:r>
                              <m:r>
                                <a:rPr lang="es-ES" sz="2000" i="1">
                                  <a:latin typeface="Cambria Math"/>
                                </a:rPr>
                                <m:t>=</m:t>
                              </m:r>
                              <m:r>
                                <a:rPr lang="es-ES" sz="2000" i="1">
                                  <a:latin typeface="Cambria Math"/>
                                </a:rPr>
                                <m:t>𝑧</m:t>
                              </m:r>
                            </m:e>
                          </m:d>
                        </m:den>
                      </m:f>
                    </m:oMath>
                  </m:oMathPara>
                </a14:m>
                <a:endParaRPr lang="es-MX" sz="2000" dirty="0" smtClean="0"/>
              </a:p>
              <a:p>
                <a:endParaRPr lang="es-MX" sz="2800" dirty="0" smtClean="0"/>
              </a:p>
              <a:p>
                <a:pPr>
                  <a:buNone/>
                </a:pPr>
                <a:endParaRPr lang="es-MX" sz="2800" dirty="0" smtClean="0">
                  <a:solidFill>
                    <a:schemeClr val="accent5">
                      <a:lumMod val="75000"/>
                    </a:schemeClr>
                  </a:solidFill>
                </a:endParaRPr>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1489842"/>
                <a:ext cx="8686800" cy="4863661"/>
              </a:xfrm>
              <a:blipFill rotWithShape="1">
                <a:blip r:embed="rId3" cstate="print"/>
                <a:stretch>
                  <a:fillRect l="-1404"/>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454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1454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819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819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819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dirty="0"/>
          </a:p>
        </p:txBody>
      </p:sp>
      <p:sp>
        <p:nvSpPr>
          <p:cNvPr id="281603"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81604" name="Rectangle 4"/>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816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16" name="15 CuadroTexto"/>
          <p:cNvSpPr txBox="1"/>
          <p:nvPr/>
        </p:nvSpPr>
        <p:spPr>
          <a:xfrm>
            <a:off x="6653049" y="3310759"/>
            <a:ext cx="2296847" cy="369332"/>
          </a:xfrm>
          <a:prstGeom prst="rect">
            <a:avLst/>
          </a:prstGeom>
          <a:noFill/>
        </p:spPr>
        <p:txBody>
          <a:bodyPr wrap="none" rtlCol="0">
            <a:spAutoFit/>
          </a:bodyPr>
          <a:lstStyle/>
          <a:p>
            <a:r>
              <a:rPr lang="es-CO" dirty="0" smtClean="0">
                <a:solidFill>
                  <a:schemeClr val="accent1">
                    <a:lumMod val="75000"/>
                  </a:schemeClr>
                </a:solidFill>
              </a:rPr>
              <a:t>Covarianza entre Y </a:t>
            </a:r>
            <a:r>
              <a:rPr lang="es-CO" dirty="0">
                <a:solidFill>
                  <a:schemeClr val="accent1">
                    <a:lumMod val="75000"/>
                  </a:schemeClr>
                </a:solidFill>
              </a:rPr>
              <a:t>&amp;</a:t>
            </a:r>
            <a:r>
              <a:rPr lang="es-CO" dirty="0" smtClean="0">
                <a:solidFill>
                  <a:schemeClr val="accent1">
                    <a:lumMod val="75000"/>
                  </a:schemeClr>
                </a:solidFill>
              </a:rPr>
              <a:t> Z</a:t>
            </a:r>
            <a:endParaRPr lang="es-CO" dirty="0">
              <a:solidFill>
                <a:schemeClr val="accent1">
                  <a:lumMod val="75000"/>
                </a:schemeClr>
              </a:solidFill>
            </a:endParaRPr>
          </a:p>
        </p:txBody>
      </p:sp>
      <p:sp>
        <p:nvSpPr>
          <p:cNvPr id="18" name="17 CuadroTexto"/>
          <p:cNvSpPr txBox="1"/>
          <p:nvPr/>
        </p:nvSpPr>
        <p:spPr>
          <a:xfrm>
            <a:off x="6758155" y="3873060"/>
            <a:ext cx="2380203" cy="369332"/>
          </a:xfrm>
          <a:prstGeom prst="rect">
            <a:avLst/>
          </a:prstGeom>
          <a:noFill/>
        </p:spPr>
        <p:txBody>
          <a:bodyPr wrap="none" rtlCol="0">
            <a:spAutoFit/>
          </a:bodyPr>
          <a:lstStyle/>
          <a:p>
            <a:r>
              <a:rPr lang="es-CO" dirty="0" smtClean="0">
                <a:solidFill>
                  <a:schemeClr val="accent1">
                    <a:lumMod val="75000"/>
                  </a:schemeClr>
                </a:solidFill>
              </a:rPr>
              <a:t>Covarianza entre D &amp; Z</a:t>
            </a:r>
            <a:endParaRPr lang="es-CO" dirty="0">
              <a:solidFill>
                <a:schemeClr val="accent1">
                  <a:lumMod val="75000"/>
                </a:schemeClr>
              </a:solidFill>
            </a:endParaRPr>
          </a:p>
        </p:txBody>
      </p:sp>
      <p:cxnSp>
        <p:nvCxnSpPr>
          <p:cNvPr id="20" name="19 Conector recto de flecha"/>
          <p:cNvCxnSpPr>
            <a:stCxn id="16" idx="1"/>
          </p:cNvCxnSpPr>
          <p:nvPr/>
        </p:nvCxnSpPr>
        <p:spPr>
          <a:xfrm flipH="1">
            <a:off x="6243145" y="3495425"/>
            <a:ext cx="409904" cy="4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a:stCxn id="18" idx="1"/>
          </p:cNvCxnSpPr>
          <p:nvPr/>
        </p:nvCxnSpPr>
        <p:spPr>
          <a:xfrm flipH="1">
            <a:off x="6448097" y="4057726"/>
            <a:ext cx="3100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24 Flecha abajo"/>
          <p:cNvSpPr/>
          <p:nvPr/>
        </p:nvSpPr>
        <p:spPr>
          <a:xfrm>
            <a:off x="4146331" y="4650825"/>
            <a:ext cx="599090" cy="4729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25 CuadroTexto"/>
          <p:cNvSpPr txBox="1"/>
          <p:nvPr/>
        </p:nvSpPr>
        <p:spPr>
          <a:xfrm>
            <a:off x="599090" y="5155316"/>
            <a:ext cx="8245365" cy="1323439"/>
          </a:xfrm>
          <a:prstGeom prst="rect">
            <a:avLst/>
          </a:prstGeom>
          <a:noFill/>
        </p:spPr>
        <p:txBody>
          <a:bodyPr wrap="square" rtlCol="0">
            <a:spAutoFit/>
          </a:bodyPr>
          <a:lstStyle/>
          <a:p>
            <a:r>
              <a:rPr lang="es-CO" sz="2000" dirty="0" smtClean="0"/>
              <a:t>Es decir, coincide exactamente con el </a:t>
            </a:r>
            <a:r>
              <a:rPr lang="es-CO" sz="2000" dirty="0" smtClean="0">
                <a:effectLst>
                  <a:outerShdw blurRad="38100" dist="38100" dir="2700000" algn="tl">
                    <a:srgbClr val="000000">
                      <a:alpha val="43137"/>
                    </a:srgbClr>
                  </a:outerShdw>
                </a:effectLst>
              </a:rPr>
              <a:t>estimador de </a:t>
            </a:r>
            <a:r>
              <a:rPr lang="es-CO" sz="2000" dirty="0" err="1" smtClean="0">
                <a:effectLst>
                  <a:outerShdw blurRad="38100" dist="38100" dir="2700000" algn="tl">
                    <a:srgbClr val="000000">
                      <a:alpha val="43137"/>
                    </a:srgbClr>
                  </a:outerShdw>
                </a:effectLst>
              </a:rPr>
              <a:t>Wald</a:t>
            </a:r>
            <a:r>
              <a:rPr lang="es-CO" sz="2000" dirty="0" smtClean="0"/>
              <a:t> que estudiamos en el capítulo de “variables instrumentales”. El numerador tiene la covarianza entre la variable de resultado y el instrumento, y el denominador tiene la covarianza entre la variable endógena (participación) y el instrumento.</a:t>
            </a:r>
            <a:endParaRPr lang="es-CO" sz="2000" dirty="0"/>
          </a:p>
        </p:txBody>
      </p:sp>
      <p:sp>
        <p:nvSpPr>
          <p:cNvPr id="22" name="2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41</a:t>
            </a:fld>
            <a:endParaRPr lang="es-ES" sz="1500" dirty="0">
              <a:solidFill>
                <a:schemeClr val="tx1">
                  <a:lumMod val="50000"/>
                  <a:lumOff val="50000"/>
                </a:schemeClr>
              </a:solidFill>
            </a:endParaRPr>
          </a:p>
        </p:txBody>
      </p:sp>
      <p:sp>
        <p:nvSpPr>
          <p:cNvPr id="2" name="1 Rectángulo"/>
          <p:cNvSpPr/>
          <p:nvPr/>
        </p:nvSpPr>
        <p:spPr>
          <a:xfrm>
            <a:off x="1187085" y="3372740"/>
            <a:ext cx="4616011" cy="953851"/>
          </a:xfrm>
          <a:prstGeom prst="rect">
            <a:avLst/>
          </a:prstGeom>
        </p:spPr>
        <p:txBody>
          <a:bodyPr wrap="square">
            <a:spAutoFit/>
          </a:bodyPr>
          <a:lstStyle/>
          <a:p>
            <a:endParaRPr lang="es-CO" sz="2000" dirty="0"/>
          </a:p>
        </p:txBody>
      </p:sp>
    </p:spTree>
    <p:extLst>
      <p:ext uri="{BB962C8B-B14F-4D97-AF65-F5344CB8AC3E}">
        <p14:creationId xmlns:p14="http://schemas.microsoft.com/office/powerpoint/2010/main" xmlns="" val="184628331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a:bodyPr>
          <a:lstStyle/>
          <a:p>
            <a:r>
              <a:rPr lang="es-MX" sz="3400" u="sng" dirty="0">
                <a:solidFill>
                  <a:prstClr val="black"/>
                </a:solidFill>
              </a:rPr>
              <a:t>Regresión discontinua </a:t>
            </a:r>
            <a:r>
              <a:rPr lang="es-MX" sz="3400" u="sng" dirty="0" smtClean="0">
                <a:solidFill>
                  <a:prstClr val="black"/>
                </a:solidFill>
              </a:rPr>
              <a:t>borrosa: Efecto </a:t>
            </a:r>
            <a:r>
              <a:rPr lang="es-MX" sz="3400" u="sng" dirty="0">
                <a:solidFill>
                  <a:prstClr val="black"/>
                </a:solidFill>
              </a:rPr>
              <a:t>del programa</a:t>
            </a:r>
            <a:endParaRPr lang="en-US" dirty="0"/>
          </a:p>
        </p:txBody>
      </p:sp>
      <p:sp>
        <p:nvSpPr>
          <p:cNvPr id="10" name="9 Marcador de contenido"/>
          <p:cNvSpPr>
            <a:spLocks noGrp="1"/>
          </p:cNvSpPr>
          <p:nvPr>
            <p:ph idx="1"/>
          </p:nvPr>
        </p:nvSpPr>
        <p:spPr>
          <a:xfrm>
            <a:off x="457200" y="1474072"/>
            <a:ext cx="8434552" cy="4879428"/>
          </a:xfrm>
        </p:spPr>
        <p:txBody>
          <a:bodyPr>
            <a:normAutofit/>
          </a:bodyPr>
          <a:lstStyle/>
          <a:p>
            <a:endParaRPr lang="es-ES" sz="2700" dirty="0" smtClean="0"/>
          </a:p>
          <a:p>
            <a:r>
              <a:rPr lang="es-ES" sz="2700" dirty="0" smtClean="0"/>
              <a:t>El estimador de regresión discontinua borrosa coincide con el estimador de </a:t>
            </a:r>
            <a:r>
              <a:rPr lang="es-ES" sz="2700" dirty="0" err="1" smtClean="0"/>
              <a:t>Wald</a:t>
            </a:r>
            <a:r>
              <a:rPr lang="es-ES" sz="2700" dirty="0" smtClean="0"/>
              <a:t> para variables instrumentales. </a:t>
            </a:r>
          </a:p>
          <a:p>
            <a:pPr lvl="1"/>
            <a:r>
              <a:rPr lang="es-ES" sz="2300" dirty="0" smtClean="0"/>
              <a:t>Se debe interpretar como efecto local. </a:t>
            </a:r>
          </a:p>
          <a:p>
            <a:pPr lvl="1"/>
            <a:endParaRPr lang="es-ES" sz="1100" dirty="0" smtClean="0"/>
          </a:p>
          <a:p>
            <a:r>
              <a:rPr lang="es-ES" sz="2700" dirty="0" err="1" smtClean="0"/>
              <a:t>Hann</a:t>
            </a:r>
            <a:r>
              <a:rPr lang="es-ES" sz="2700" dirty="0" smtClean="0"/>
              <a:t>, </a:t>
            </a:r>
            <a:r>
              <a:rPr lang="es-ES" sz="2700" dirty="0" err="1" smtClean="0"/>
              <a:t>Todd</a:t>
            </a:r>
            <a:r>
              <a:rPr lang="es-ES" sz="2700" dirty="0" smtClean="0"/>
              <a:t> y van der </a:t>
            </a:r>
            <a:r>
              <a:rPr lang="es-ES" sz="2700" dirty="0" err="1" smtClean="0"/>
              <a:t>Klaaw</a:t>
            </a:r>
            <a:r>
              <a:rPr lang="es-ES" sz="2700" dirty="0" smtClean="0"/>
              <a:t> (2001) utilizan el supuesto de </a:t>
            </a:r>
            <a:r>
              <a:rPr lang="es-ES" sz="2700" dirty="0" err="1" smtClean="0"/>
              <a:t>monotonicidad</a:t>
            </a:r>
            <a:r>
              <a:rPr lang="es-ES" sz="2700" dirty="0" smtClean="0"/>
              <a:t> local, que es un supuesto más fuerte, según el cual los individuos a cada lado del umbral son idénticos en variables observadas y en variables no observadas.</a:t>
            </a:r>
          </a:p>
          <a:p>
            <a:pPr lvl="1"/>
            <a:r>
              <a:rPr lang="es-ES" sz="2300" dirty="0" smtClean="0"/>
              <a:t>Se interpreta como efecto local promedio. </a:t>
            </a:r>
          </a:p>
          <a:p>
            <a:pPr lvl="1"/>
            <a:endParaRPr lang="es-ES" sz="2300" dirty="0" smtClean="0"/>
          </a:p>
          <a:p>
            <a:endParaRPr lang="es-ES" sz="2700" dirty="0" smtClean="0"/>
          </a:p>
          <a:p>
            <a:endParaRPr lang="es-ES" sz="2700" dirty="0" smtClean="0"/>
          </a:p>
          <a:p>
            <a:endParaRPr lang="en-U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42</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2 Marcador de contenido"/>
              <p:cNvSpPr>
                <a:spLocks noGrp="1"/>
              </p:cNvSpPr>
              <p:nvPr>
                <p:ph idx="1"/>
              </p:nvPr>
            </p:nvSpPr>
            <p:spPr>
              <a:xfrm>
                <a:off x="457200" y="1443026"/>
                <a:ext cx="8229600" cy="4768865"/>
              </a:xfrm>
              <a:ln w="28575">
                <a:solidFill>
                  <a:schemeClr val="accent1">
                    <a:lumMod val="75000"/>
                  </a:schemeClr>
                </a:solidFill>
              </a:ln>
            </p:spPr>
            <p:txBody>
              <a:bodyPr/>
              <a:lstStyle/>
              <a:p>
                <a:r>
                  <a:rPr lang="es-ES_tradnl" sz="2500" b="1" u="sng" dirty="0" smtClean="0"/>
                  <a:t>Población elegible:</a:t>
                </a:r>
                <a:r>
                  <a:rPr lang="es-ES_tradnl" sz="2500" dirty="0" smtClean="0"/>
                  <a:t> Sólo hogares </a:t>
                </a:r>
                <a:r>
                  <a:rPr lang="es-ES_tradnl" sz="2500" dirty="0" err="1" smtClean="0"/>
                  <a:t>Sisben</a:t>
                </a:r>
                <a:r>
                  <a:rPr lang="es-ES_tradnl" sz="2500" dirty="0" smtClean="0"/>
                  <a:t> 1, PERO los individuos deben decidir si hacen la solicitud o no (no es obligatorio). </a:t>
                </a:r>
              </a:p>
              <a:p>
                <a:pPr>
                  <a:buNone/>
                </a:pPr>
                <a:endParaRPr lang="es-ES_tradnl" sz="2500" b="1" u="sng" dirty="0" smtClean="0"/>
              </a:p>
              <a:p>
                <a:r>
                  <a:rPr lang="es-ES_tradnl" sz="2500" dirty="0" smtClean="0"/>
                  <a:t>Sólo los individuos con puntaje </a:t>
                </a:r>
                <a:r>
                  <a:rPr lang="es-ES_tradnl" sz="2500" dirty="0" err="1" smtClean="0"/>
                  <a:t>Sisben</a:t>
                </a:r>
                <a:r>
                  <a:rPr lang="es-ES_tradnl" sz="2500" dirty="0" smtClean="0"/>
                  <a:t> menor al umbral pueden participar con probabilidad positiva. </a:t>
                </a:r>
              </a:p>
              <a:p>
                <a:endParaRPr lang="es-ES_tradnl" sz="2500" dirty="0" smtClean="0"/>
              </a:p>
              <a:p>
                <a:r>
                  <a:rPr lang="es-ES_tradnl" sz="2500" dirty="0" smtClean="0">
                    <a:solidFill>
                      <a:schemeClr val="accent5">
                        <a:lumMod val="75000"/>
                      </a:schemeClr>
                    </a:solidFill>
                  </a:rPr>
                  <a:t>El efecto del programa en este caso particular es: </a:t>
                </a:r>
              </a:p>
              <a:p>
                <a:pPr marL="0" indent="0">
                  <a:buNone/>
                </a:pPr>
                <a14:m>
                  <m:oMathPara xmlns:m="http://schemas.openxmlformats.org/officeDocument/2006/math">
                    <m:oMathParaPr>
                      <m:jc m:val="centerGroup"/>
                    </m:oMathParaPr>
                    <m:oMath xmlns:m="http://schemas.openxmlformats.org/officeDocument/2006/math">
                      <m:f>
                        <m:fPr>
                          <m:ctrlPr>
                            <a:rPr lang="es-CO" sz="2800" i="1">
                              <a:latin typeface="Cambria Math"/>
                            </a:rPr>
                          </m:ctrlPr>
                        </m:fPr>
                        <m:num>
                          <m:func>
                            <m:funcPr>
                              <m:ctrlPr>
                                <a:rPr lang="es-CO" sz="2800" i="1">
                                  <a:latin typeface="Cambria Math"/>
                                </a:rPr>
                              </m:ctrlPr>
                            </m:funcPr>
                            <m:fName>
                              <m:limLow>
                                <m:limLowPr>
                                  <m:ctrlPr>
                                    <a:rPr lang="es-CO" sz="2800" i="1">
                                      <a:latin typeface="Cambria Math"/>
                                    </a:rPr>
                                  </m:ctrlPr>
                                </m:limLowPr>
                                <m:e>
                                  <m:r>
                                    <m:rPr>
                                      <m:sty m:val="p"/>
                                    </m:rPr>
                                    <a:rPr lang="es-ES" sz="2800">
                                      <a:latin typeface="Cambria Math"/>
                                    </a:rPr>
                                    <m:t>lim</m:t>
                                  </m:r>
                                </m:e>
                                <m:lim>
                                  <m:r>
                                    <a:rPr lang="es-ES" sz="2800" i="1">
                                      <a:latin typeface="Cambria Math"/>
                                    </a:rPr>
                                    <m:t>𝑧</m:t>
                                  </m:r>
                                  <m:r>
                                    <a:rPr lang="es-ES" sz="2800" i="1">
                                      <a:latin typeface="Cambria Math"/>
                                    </a:rPr>
                                    <m:t>↑</m:t>
                                  </m:r>
                                  <m:acc>
                                    <m:accPr>
                                      <m:chr m:val="̅"/>
                                      <m:ctrlPr>
                                        <a:rPr lang="es-CO" sz="2800" i="1">
                                          <a:latin typeface="Cambria Math"/>
                                        </a:rPr>
                                      </m:ctrlPr>
                                    </m:accPr>
                                    <m:e>
                                      <m:r>
                                        <a:rPr lang="es-ES" sz="2800" i="1">
                                          <a:latin typeface="Cambria Math"/>
                                        </a:rPr>
                                        <m:t>𝑍</m:t>
                                      </m:r>
                                    </m:e>
                                  </m:acc>
                                </m:lim>
                              </m:limLow>
                            </m:fName>
                            <m:e>
                              <m:r>
                                <a:rPr lang="es-ES" sz="2800" i="1">
                                  <a:latin typeface="Cambria Math"/>
                                </a:rPr>
                                <m:t>𝐸</m:t>
                              </m:r>
                              <m:d>
                                <m:dPr>
                                  <m:begChr m:val="["/>
                                  <m:endChr m:val="]"/>
                                  <m:ctrlPr>
                                    <a:rPr lang="es-CO" sz="2800" i="1">
                                      <a:latin typeface="Cambria Math"/>
                                    </a:rPr>
                                  </m:ctrlPr>
                                </m:dPr>
                                <m:e>
                                  <m:sSub>
                                    <m:sSubPr>
                                      <m:ctrlPr>
                                        <a:rPr lang="es-CO" sz="2800" i="1">
                                          <a:latin typeface="Cambria Math"/>
                                        </a:rPr>
                                      </m:ctrlPr>
                                    </m:sSubPr>
                                    <m:e>
                                      <m:r>
                                        <a:rPr lang="es-ES" sz="2800" i="1">
                                          <a:latin typeface="Cambria Math"/>
                                        </a:rPr>
                                        <m:t>𝑌</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𝑍</m:t>
                                      </m:r>
                                    </m:e>
                                    <m:sub>
                                      <m:r>
                                        <a:rPr lang="es-ES" sz="2800" i="1">
                                          <a:latin typeface="Cambria Math"/>
                                        </a:rPr>
                                        <m:t>𝑖</m:t>
                                      </m:r>
                                    </m:sub>
                                  </m:sSub>
                                  <m:r>
                                    <a:rPr lang="es-ES" sz="2800" i="1">
                                      <a:latin typeface="Cambria Math"/>
                                    </a:rPr>
                                    <m:t>=</m:t>
                                  </m:r>
                                  <m:r>
                                    <a:rPr lang="es-ES" sz="2800" i="1">
                                      <a:latin typeface="Cambria Math"/>
                                    </a:rPr>
                                    <m:t>𝑧</m:t>
                                  </m:r>
                                </m:e>
                              </m:d>
                            </m:e>
                          </m:func>
                          <m:r>
                            <a:rPr lang="es-CO" sz="2800" b="0" i="1" smtClean="0">
                              <a:latin typeface="Cambria Math"/>
                            </a:rPr>
                            <m:t>− </m:t>
                          </m:r>
                          <m:func>
                            <m:funcPr>
                              <m:ctrlPr>
                                <a:rPr lang="es-CO" sz="2800" i="1">
                                  <a:latin typeface="Cambria Math"/>
                                </a:rPr>
                              </m:ctrlPr>
                            </m:funcPr>
                            <m:fName>
                              <m:limLow>
                                <m:limLowPr>
                                  <m:ctrlPr>
                                    <a:rPr lang="es-CO" sz="2800" i="1">
                                      <a:latin typeface="Cambria Math"/>
                                    </a:rPr>
                                  </m:ctrlPr>
                                </m:limLowPr>
                                <m:e>
                                  <m:r>
                                    <m:rPr>
                                      <m:sty m:val="p"/>
                                    </m:rPr>
                                    <a:rPr lang="es-ES" sz="2800">
                                      <a:latin typeface="Cambria Math"/>
                                    </a:rPr>
                                    <m:t>lim</m:t>
                                  </m:r>
                                </m:e>
                                <m:lim>
                                  <m:r>
                                    <a:rPr lang="es-ES" sz="2800" i="1">
                                      <a:latin typeface="Cambria Math"/>
                                    </a:rPr>
                                    <m:t>𝑧</m:t>
                                  </m:r>
                                  <m:r>
                                    <a:rPr lang="es-ES" sz="2800" i="1">
                                      <a:latin typeface="Cambria Math"/>
                                    </a:rPr>
                                    <m:t>↓</m:t>
                                  </m:r>
                                  <m:acc>
                                    <m:accPr>
                                      <m:chr m:val="̅"/>
                                      <m:ctrlPr>
                                        <a:rPr lang="es-CO" sz="2800" i="1">
                                          <a:latin typeface="Cambria Math"/>
                                        </a:rPr>
                                      </m:ctrlPr>
                                    </m:accPr>
                                    <m:e>
                                      <m:r>
                                        <a:rPr lang="es-ES" sz="2800" i="1">
                                          <a:latin typeface="Cambria Math"/>
                                        </a:rPr>
                                        <m:t>𝑍</m:t>
                                      </m:r>
                                    </m:e>
                                  </m:acc>
                                </m:lim>
                              </m:limLow>
                            </m:fName>
                            <m:e>
                              <m:r>
                                <a:rPr lang="es-ES" sz="2800" i="1">
                                  <a:latin typeface="Cambria Math"/>
                                </a:rPr>
                                <m:t>𝐸</m:t>
                              </m:r>
                              <m:d>
                                <m:dPr>
                                  <m:begChr m:val="["/>
                                  <m:endChr m:val="]"/>
                                  <m:ctrlPr>
                                    <a:rPr lang="es-CO" sz="2800" i="1">
                                      <a:latin typeface="Cambria Math"/>
                                    </a:rPr>
                                  </m:ctrlPr>
                                </m:dPr>
                                <m:e>
                                  <m:sSub>
                                    <m:sSubPr>
                                      <m:ctrlPr>
                                        <a:rPr lang="es-CO" sz="2800" i="1">
                                          <a:latin typeface="Cambria Math"/>
                                        </a:rPr>
                                      </m:ctrlPr>
                                    </m:sSubPr>
                                    <m:e>
                                      <m:r>
                                        <a:rPr lang="es-ES" sz="2800" i="1">
                                          <a:latin typeface="Cambria Math"/>
                                        </a:rPr>
                                        <m:t>𝑌</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𝑍</m:t>
                                      </m:r>
                                    </m:e>
                                    <m:sub>
                                      <m:r>
                                        <a:rPr lang="es-ES" sz="2800" i="1">
                                          <a:latin typeface="Cambria Math"/>
                                        </a:rPr>
                                        <m:t>𝑖</m:t>
                                      </m:r>
                                    </m:sub>
                                  </m:sSub>
                                  <m:r>
                                    <a:rPr lang="es-ES" sz="2800" i="1">
                                      <a:latin typeface="Cambria Math"/>
                                    </a:rPr>
                                    <m:t>=</m:t>
                                  </m:r>
                                  <m:r>
                                    <a:rPr lang="es-ES" sz="2800" i="1">
                                      <a:latin typeface="Cambria Math"/>
                                    </a:rPr>
                                    <m:t>𝑧</m:t>
                                  </m:r>
                                </m:e>
                              </m:d>
                            </m:e>
                          </m:func>
                        </m:num>
                        <m:den>
                          <m:limLow>
                            <m:limLowPr>
                              <m:ctrlPr>
                                <a:rPr lang="es-CO" sz="2800" i="1">
                                  <a:latin typeface="Cambria Math"/>
                                </a:rPr>
                              </m:ctrlPr>
                            </m:limLowPr>
                            <m:e>
                              <m:r>
                                <m:rPr>
                                  <m:sty m:val="p"/>
                                </m:rPr>
                                <a:rPr lang="es-ES" sz="2800">
                                  <a:latin typeface="Cambria Math"/>
                                </a:rPr>
                                <m:t>lim</m:t>
                              </m:r>
                            </m:e>
                            <m:lim>
                              <m:r>
                                <a:rPr lang="es-ES" sz="2800" i="1">
                                  <a:latin typeface="Cambria Math"/>
                                </a:rPr>
                                <m:t>𝑧</m:t>
                              </m:r>
                              <m:r>
                                <a:rPr lang="es-ES" sz="2800" i="1">
                                  <a:latin typeface="Cambria Math"/>
                                </a:rPr>
                                <m:t>↑</m:t>
                              </m:r>
                              <m:acc>
                                <m:accPr>
                                  <m:chr m:val="̅"/>
                                  <m:ctrlPr>
                                    <a:rPr lang="es-CO" sz="2800" i="1">
                                      <a:latin typeface="Cambria Math"/>
                                    </a:rPr>
                                  </m:ctrlPr>
                                </m:accPr>
                                <m:e>
                                  <m:r>
                                    <a:rPr lang="es-ES" sz="2800" i="1">
                                      <a:latin typeface="Cambria Math"/>
                                    </a:rPr>
                                    <m:t>𝑍</m:t>
                                  </m:r>
                                </m:e>
                              </m:acc>
                            </m:lim>
                          </m:limLow>
                          <m:r>
                            <a:rPr lang="es-ES" sz="2800" i="1">
                              <a:latin typeface="Cambria Math"/>
                            </a:rPr>
                            <m:t>𝑃𝑟</m:t>
                          </m:r>
                          <m:d>
                            <m:dPr>
                              <m:ctrlPr>
                                <a:rPr lang="es-CO" sz="2800" i="1">
                                  <a:latin typeface="Cambria Math"/>
                                </a:rPr>
                              </m:ctrlPr>
                            </m:dPr>
                            <m:e>
                              <m:r>
                                <a:rPr lang="es-ES" sz="2800" i="1">
                                  <a:latin typeface="Cambria Math"/>
                                </a:rPr>
                                <m:t>𝐷</m:t>
                              </m:r>
                              <m:r>
                                <a:rPr lang="es-ES" sz="2800" i="1">
                                  <a:latin typeface="Cambria Math"/>
                                </a:rPr>
                                <m:t>=1|</m:t>
                              </m:r>
                              <m:r>
                                <a:rPr lang="es-ES" sz="2800" i="1">
                                  <a:latin typeface="Cambria Math"/>
                                </a:rPr>
                                <m:t>𝑍</m:t>
                              </m:r>
                              <m:r>
                                <a:rPr lang="es-ES" sz="2800" i="1">
                                  <a:latin typeface="Cambria Math"/>
                                </a:rPr>
                                <m:t>=</m:t>
                              </m:r>
                              <m:r>
                                <a:rPr lang="es-ES" sz="2800" i="1">
                                  <a:latin typeface="Cambria Math"/>
                                </a:rPr>
                                <m:t>𝑧</m:t>
                              </m:r>
                            </m:e>
                          </m:d>
                          <m:r>
                            <a:rPr lang="es-CO" sz="2800" b="0" i="1" smtClean="0">
                              <a:latin typeface="Cambria Math"/>
                            </a:rPr>
                            <m:t>−0</m:t>
                          </m:r>
                        </m:den>
                      </m:f>
                    </m:oMath>
                  </m:oMathPara>
                </a14:m>
                <a:endParaRPr lang="es-ES_tradnl" sz="2500" dirty="0" smtClean="0"/>
              </a:p>
              <a:p>
                <a:endParaRPr lang="es-ES_tradnl" sz="2500" dirty="0" smtClean="0"/>
              </a:p>
            </p:txBody>
          </p:sp>
        </mc:Choice>
        <mc:Fallback>
          <p:sp>
            <p:nvSpPr>
              <p:cNvPr id="3" name="2 Marcador de contenido"/>
              <p:cNvSpPr>
                <a:spLocks noGrp="1" noRot="1" noChangeAspect="1" noMove="1" noResize="1" noEditPoints="1" noAdjustHandles="1" noChangeArrowheads="1" noChangeShapeType="1" noTextEdit="1"/>
              </p:cNvSpPr>
              <p:nvPr>
                <p:ph idx="1"/>
              </p:nvPr>
            </p:nvSpPr>
            <p:spPr>
              <a:xfrm>
                <a:off x="457200" y="1443026"/>
                <a:ext cx="8229600" cy="4768865"/>
              </a:xfrm>
              <a:blipFill rotWithShape="1">
                <a:blip r:embed="rId3" cstate="print"/>
                <a:stretch>
                  <a:fillRect l="-886" t="-635"/>
                </a:stretch>
              </a:blipFill>
              <a:ln w="28575">
                <a:solidFill>
                  <a:schemeClr val="accent1">
                    <a:lumMod val="75000"/>
                  </a:schemeClr>
                </a:solidFill>
              </a:ln>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AR" sz="4200" dirty="0" smtClean="0"/>
              <a:t>Ejemplo 1: Canasta</a:t>
            </a:r>
            <a:endParaRPr lang="es-AR" sz="4200" dirty="0"/>
          </a:p>
        </p:txBody>
      </p:sp>
      <p:sp>
        <p:nvSpPr>
          <p:cNvPr id="8806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88067"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8806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88070" name="Rectangle 6"/>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88072"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88073" name="Rectangle 9"/>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86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8675" name="Rectangle 3"/>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2867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ES"/>
          </a:p>
        </p:txBody>
      </p:sp>
      <p:sp>
        <p:nvSpPr>
          <p:cNvPr id="28678" name="Rectangle 6"/>
          <p:cNvSpPr>
            <a:spLocks noChangeArrowheads="1"/>
          </p:cNvSpPr>
          <p:nvPr/>
        </p:nvSpPr>
        <p:spPr bwMode="auto">
          <a:xfrm>
            <a:off x="0" y="8763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ES" sz="1800" b="0" i="0" u="none" strike="noStrike" cap="none" normalizeH="0" baseline="0" smtClean="0">
              <a:ln>
                <a:noFill/>
              </a:ln>
              <a:solidFill>
                <a:schemeClr val="tx1"/>
              </a:solidFill>
              <a:effectLst/>
              <a:latin typeface="Arial" pitchFamily="34" charset="0"/>
            </a:endParaRPr>
          </a:p>
        </p:txBody>
      </p:sp>
      <p:sp>
        <p:nvSpPr>
          <p:cNvPr id="8397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7545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5459" name="Rectangle 3"/>
          <p:cNvSpPr>
            <a:spLocks noChangeArrowheads="1"/>
          </p:cNvSpPr>
          <p:nvPr/>
        </p:nvSpPr>
        <p:spPr bwMode="auto">
          <a:xfrm>
            <a:off x="0" y="1162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7546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1" name="2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43</a:t>
            </a:fld>
            <a:endParaRPr lang="es-ES" sz="1500" dirty="0">
              <a:solidFill>
                <a:schemeClr val="tx1">
                  <a:lumMod val="50000"/>
                  <a:lumOff val="50000"/>
                </a:schemeClr>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72201" cy="1131910"/>
          </a:xfrm>
        </p:spPr>
        <p:txBody>
          <a:bodyPr>
            <a:noAutofit/>
          </a:bodyPr>
          <a:lstStyle/>
          <a:p>
            <a:r>
              <a:rPr lang="es-MX" sz="3600" u="sng" dirty="0" smtClean="0">
                <a:solidFill>
                  <a:prstClr val="black"/>
                </a:solidFill>
              </a:rPr>
              <a:t>Regresión discontinua borrosa:</a:t>
            </a:r>
            <a:br>
              <a:rPr lang="es-MX" sz="3600" u="sng" dirty="0" smtClean="0">
                <a:solidFill>
                  <a:prstClr val="black"/>
                </a:solidFill>
              </a:rPr>
            </a:br>
            <a:r>
              <a:rPr lang="es-MX" sz="3600" u="sng" dirty="0" smtClean="0">
                <a:solidFill>
                  <a:prstClr val="black"/>
                </a:solidFill>
              </a:rPr>
              <a:t>Análogo muestral</a:t>
            </a:r>
            <a:endParaRPr lang="en-US" sz="36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1" name="10 Marcador de contenido"/>
          <p:cNvSpPr>
            <a:spLocks noGrp="1"/>
          </p:cNvSpPr>
          <p:nvPr>
            <p:ph idx="1"/>
          </p:nvPr>
        </p:nvSpPr>
        <p:spPr>
          <a:xfrm>
            <a:off x="457200" y="1615966"/>
            <a:ext cx="8229600" cy="4525963"/>
          </a:xfrm>
        </p:spPr>
        <p:txBody>
          <a:bodyPr/>
          <a:lstStyle/>
          <a:p>
            <a:endParaRPr lang="es-MX" dirty="0" smtClean="0"/>
          </a:p>
          <a:p>
            <a:endParaRPr lang="es-MX" dirty="0" smtClean="0"/>
          </a:p>
          <a:p>
            <a:endParaRPr lang="es-MX" dirty="0" smtClean="0"/>
          </a:p>
          <a:p>
            <a:r>
              <a:rPr lang="es-MX" sz="2600" dirty="0" smtClean="0">
                <a:solidFill>
                  <a:schemeClr val="accent5">
                    <a:lumMod val="75000"/>
                  </a:schemeClr>
                </a:solidFill>
              </a:rPr>
              <a:t>Donde:</a:t>
            </a:r>
            <a:r>
              <a:rPr lang="es-MX" sz="2600" dirty="0" smtClean="0"/>
              <a:t/>
            </a:r>
            <a:br>
              <a:rPr lang="es-MX" sz="2600" dirty="0" smtClean="0"/>
            </a:br>
            <a:r>
              <a:rPr lang="es-MX" sz="2600" dirty="0" smtClean="0"/>
              <a:t>	   </a:t>
            </a:r>
            <a:br>
              <a:rPr lang="es-MX" sz="2600" dirty="0" smtClean="0"/>
            </a:br>
            <a:r>
              <a:rPr lang="es-MX" sz="2600" dirty="0" smtClean="0"/>
              <a:t>	  </a:t>
            </a:r>
            <a:br>
              <a:rPr lang="es-MX" sz="2600" dirty="0" smtClean="0"/>
            </a:br>
            <a:r>
              <a:rPr lang="es-MX" sz="2600" dirty="0" smtClean="0"/>
              <a:t>		</a:t>
            </a:r>
          </a:p>
          <a:p>
            <a:pPr>
              <a:buNone/>
            </a:pPr>
            <a:r>
              <a:rPr lang="es-MX" sz="2600" dirty="0" smtClean="0"/>
              <a:t>				 </a:t>
            </a:r>
            <a:endParaRPr lang="en-US" sz="2600" dirty="0"/>
          </a:p>
        </p:txBody>
      </p:sp>
      <p:sp>
        <p:nvSpPr>
          <p:cNvPr id="717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174" name="Rectangle 6"/>
          <p:cNvSpPr>
            <a:spLocks noChangeArrowheads="1"/>
          </p:cNvSpPr>
          <p:nvPr/>
        </p:nvSpPr>
        <p:spPr bwMode="auto">
          <a:xfrm>
            <a:off x="914400" y="1104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717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178"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180"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182"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 name="22 Cerrar llave"/>
          <p:cNvSpPr/>
          <p:nvPr/>
        </p:nvSpPr>
        <p:spPr>
          <a:xfrm>
            <a:off x="2380594" y="3815255"/>
            <a:ext cx="204951" cy="77251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23 Cerrar llave"/>
          <p:cNvSpPr/>
          <p:nvPr/>
        </p:nvSpPr>
        <p:spPr>
          <a:xfrm>
            <a:off x="2422635" y="4771697"/>
            <a:ext cx="257503" cy="104577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24 CuadroTexto"/>
          <p:cNvSpPr txBox="1"/>
          <p:nvPr/>
        </p:nvSpPr>
        <p:spPr>
          <a:xfrm>
            <a:off x="2822024" y="3673361"/>
            <a:ext cx="5186860" cy="1107996"/>
          </a:xfrm>
          <a:prstGeom prst="rect">
            <a:avLst/>
          </a:prstGeom>
          <a:noFill/>
        </p:spPr>
        <p:txBody>
          <a:bodyPr wrap="square" rtlCol="0">
            <a:spAutoFit/>
          </a:bodyPr>
          <a:lstStyle/>
          <a:p>
            <a:r>
              <a:rPr lang="es-CO" sz="2200" dirty="0" smtClean="0"/>
              <a:t>Promedios </a:t>
            </a:r>
            <a:r>
              <a:rPr lang="es-CO" sz="2200" dirty="0" err="1" smtClean="0"/>
              <a:t>muestrales</a:t>
            </a:r>
            <a:r>
              <a:rPr lang="es-CO" sz="2200" dirty="0" smtClean="0"/>
              <a:t> de la variable de  resultado a la izquierda y a la derecha del umbral, respectivamente.</a:t>
            </a:r>
            <a:endParaRPr lang="es-ES" sz="2200" dirty="0" smtClean="0"/>
          </a:p>
        </p:txBody>
      </p:sp>
      <p:sp>
        <p:nvSpPr>
          <p:cNvPr id="26" name="25 CuadroTexto"/>
          <p:cNvSpPr txBox="1"/>
          <p:nvPr/>
        </p:nvSpPr>
        <p:spPr>
          <a:xfrm>
            <a:off x="2832534" y="4771699"/>
            <a:ext cx="5186860" cy="1107996"/>
          </a:xfrm>
          <a:prstGeom prst="rect">
            <a:avLst/>
          </a:prstGeom>
          <a:noFill/>
        </p:spPr>
        <p:txBody>
          <a:bodyPr wrap="square" rtlCol="0">
            <a:spAutoFit/>
          </a:bodyPr>
          <a:lstStyle/>
          <a:p>
            <a:r>
              <a:rPr lang="es-ES" sz="2200" dirty="0" smtClean="0"/>
              <a:t>Estimadores de probabilidad de participación a la izquierda y a la derecha del umbral, respectivamente.</a:t>
            </a:r>
          </a:p>
        </p:txBody>
      </p:sp>
      <p:sp>
        <p:nvSpPr>
          <p:cNvPr id="27341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73411" name="Rectangle 3"/>
          <p:cNvSpPr>
            <a:spLocks noChangeArrowheads="1"/>
          </p:cNvSpPr>
          <p:nvPr/>
        </p:nvSpPr>
        <p:spPr bwMode="auto">
          <a:xfrm>
            <a:off x="0" y="1038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7" name="2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44</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3" name="2 CuadroTexto"/>
              <p:cNvSpPr txBox="1"/>
              <p:nvPr/>
            </p:nvSpPr>
            <p:spPr>
              <a:xfrm>
                <a:off x="1166657" y="3760074"/>
                <a:ext cx="9548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s-CO" i="1" dirty="0" smtClean="0">
                              <a:latin typeface="Cambria Math"/>
                            </a:rPr>
                          </m:ctrlPr>
                        </m:accPr>
                        <m:e>
                          <m:r>
                            <a:rPr lang="es-CO" b="0" i="1" dirty="0" smtClean="0">
                              <a:latin typeface="Cambria Math"/>
                            </a:rPr>
                            <m:t>𝑌</m:t>
                          </m:r>
                        </m:e>
                      </m:acc>
                      <m:r>
                        <a:rPr lang="es-CO" b="0" i="1" dirty="0" smtClean="0">
                          <a:latin typeface="Cambria Math"/>
                        </a:rPr>
                        <m:t> (</m:t>
                      </m:r>
                      <m:sSup>
                        <m:sSupPr>
                          <m:ctrlPr>
                            <a:rPr lang="es-CO" b="0" i="1" dirty="0" smtClean="0">
                              <a:latin typeface="Cambria Math"/>
                            </a:rPr>
                          </m:ctrlPr>
                        </m:sSupPr>
                        <m:e>
                          <m:acc>
                            <m:accPr>
                              <m:chr m:val="̅"/>
                              <m:ctrlPr>
                                <a:rPr lang="es-CO" b="0" i="1" dirty="0" smtClean="0">
                                  <a:latin typeface="Cambria Math"/>
                                </a:rPr>
                              </m:ctrlPr>
                            </m:accPr>
                            <m:e>
                              <m:r>
                                <a:rPr lang="es-CO" b="0" i="1" dirty="0" smtClean="0">
                                  <a:latin typeface="Cambria Math"/>
                                </a:rPr>
                                <m:t>𝑍</m:t>
                              </m:r>
                            </m:e>
                          </m:acc>
                        </m:e>
                        <m:sup>
                          <m:r>
                            <a:rPr lang="es-CO" b="0" i="1" dirty="0" smtClean="0">
                              <a:latin typeface="Cambria Math"/>
                            </a:rPr>
                            <m:t>−</m:t>
                          </m:r>
                        </m:sup>
                      </m:sSup>
                      <m:r>
                        <a:rPr lang="es-CO" b="0" i="1" dirty="0" smtClean="0">
                          <a:latin typeface="Cambria Math"/>
                        </a:rPr>
                        <m:t> )</m:t>
                      </m:r>
                    </m:oMath>
                  </m:oMathPara>
                </a14:m>
                <a:endParaRPr lang="es-CO" dirty="0"/>
              </a:p>
            </p:txBody>
          </p:sp>
        </mc:Choice>
        <mc:Fallback>
          <p:sp>
            <p:nvSpPr>
              <p:cNvPr id="3" name="2 CuadroTexto"/>
              <p:cNvSpPr txBox="1">
                <a:spLocks noRot="1" noChangeAspect="1" noMove="1" noResize="1" noEditPoints="1" noAdjustHandles="1" noChangeArrowheads="1" noChangeShapeType="1" noTextEdit="1"/>
              </p:cNvSpPr>
              <p:nvPr/>
            </p:nvSpPr>
            <p:spPr>
              <a:xfrm>
                <a:off x="1166657" y="3760074"/>
                <a:ext cx="954877" cy="369332"/>
              </a:xfrm>
              <a:prstGeom prst="rect">
                <a:avLst/>
              </a:prstGeom>
              <a:blipFill rotWithShape="1">
                <a:blip r:embed="rId3" cstate="print"/>
                <a:stretch>
                  <a:fillRect b="-13333"/>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5" name="4 Rectángulo"/>
              <p:cNvSpPr/>
              <p:nvPr/>
            </p:nvSpPr>
            <p:spPr>
              <a:xfrm>
                <a:off x="626981" y="5301635"/>
                <a:ext cx="1673022" cy="3765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s-CO" i="1" smtClean="0">
                              <a:latin typeface="Cambria Math"/>
                            </a:rPr>
                          </m:ctrlPr>
                        </m:accPr>
                        <m:e>
                          <m:r>
                            <a:rPr lang="es-CO" i="1">
                              <a:latin typeface="Cambria Math"/>
                            </a:rPr>
                            <m:t>𝑃𝑟</m:t>
                          </m:r>
                        </m:e>
                      </m:acc>
                      <m:r>
                        <a:rPr lang="es-CO" b="0" i="1" smtClean="0">
                          <a:latin typeface="Cambria Math"/>
                        </a:rPr>
                        <m:t> </m:t>
                      </m:r>
                      <m:d>
                        <m:dPr>
                          <m:ctrlPr>
                            <a:rPr lang="es-CO" i="1">
                              <a:latin typeface="Cambria Math"/>
                            </a:rPr>
                          </m:ctrlPr>
                        </m:dPr>
                        <m:e>
                          <m:r>
                            <a:rPr lang="es-CO" i="1">
                              <a:latin typeface="Cambria Math"/>
                            </a:rPr>
                            <m:t>𝐷</m:t>
                          </m:r>
                          <m:r>
                            <a:rPr lang="es-CO" i="1">
                              <a:latin typeface="Cambria Math"/>
                            </a:rPr>
                            <m:t>=1|</m:t>
                          </m:r>
                          <m:sSup>
                            <m:sSupPr>
                              <m:ctrlPr>
                                <a:rPr lang="es-CO" b="0" i="1" smtClean="0">
                                  <a:latin typeface="Cambria Math"/>
                                </a:rPr>
                              </m:ctrlPr>
                            </m:sSupPr>
                            <m:e>
                              <m:acc>
                                <m:accPr>
                                  <m:chr m:val="̅"/>
                                  <m:ctrlPr>
                                    <a:rPr lang="es-CO" i="1" smtClean="0">
                                      <a:latin typeface="Cambria Math"/>
                                    </a:rPr>
                                  </m:ctrlPr>
                                </m:accPr>
                                <m:e>
                                  <m:r>
                                    <a:rPr lang="es-CO" b="0" i="1" smtClean="0">
                                      <a:latin typeface="Cambria Math"/>
                                    </a:rPr>
                                    <m:t>𝑍</m:t>
                                  </m:r>
                                </m:e>
                              </m:acc>
                            </m:e>
                            <m:sup>
                              <m:r>
                                <a:rPr lang="es-CO" b="0" i="1" smtClean="0">
                                  <a:latin typeface="Cambria Math"/>
                                </a:rPr>
                                <m:t>+</m:t>
                              </m:r>
                            </m:sup>
                          </m:sSup>
                        </m:e>
                      </m:d>
                    </m:oMath>
                  </m:oMathPara>
                </a14:m>
                <a:endParaRPr lang="es-CO" dirty="0"/>
              </a:p>
            </p:txBody>
          </p:sp>
        </mc:Choice>
        <mc:Fallback>
          <p:sp>
            <p:nvSpPr>
              <p:cNvPr id="5" name="4 Rectángulo"/>
              <p:cNvSpPr>
                <a:spLocks noRot="1" noChangeAspect="1" noMove="1" noResize="1" noEditPoints="1" noAdjustHandles="1" noChangeArrowheads="1" noChangeShapeType="1" noTextEdit="1"/>
              </p:cNvSpPr>
              <p:nvPr/>
            </p:nvSpPr>
            <p:spPr>
              <a:xfrm>
                <a:off x="626981" y="5301635"/>
                <a:ext cx="1673022" cy="376513"/>
              </a:xfrm>
              <a:prstGeom prst="rect">
                <a:avLst/>
              </a:prstGeom>
              <a:blipFill rotWithShape="1">
                <a:blip r:embed="rId4" cstate="print"/>
                <a:stretch>
                  <a:fillRect t="-1639" r="-365" b="-14754"/>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29" name="28 Rectángulo"/>
              <p:cNvSpPr/>
              <p:nvPr/>
            </p:nvSpPr>
            <p:spPr>
              <a:xfrm>
                <a:off x="672131" y="4836781"/>
                <a:ext cx="1699953" cy="3924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s-CO" sz="1900" i="1" smtClean="0">
                              <a:latin typeface="Cambria Math"/>
                            </a:rPr>
                          </m:ctrlPr>
                        </m:accPr>
                        <m:e>
                          <m:r>
                            <a:rPr lang="es-CO" sz="1900" i="1">
                              <a:latin typeface="Cambria Math"/>
                            </a:rPr>
                            <m:t>𝑃𝑟</m:t>
                          </m:r>
                        </m:e>
                      </m:acc>
                      <m:d>
                        <m:dPr>
                          <m:ctrlPr>
                            <a:rPr lang="es-CO" sz="1900" i="1">
                              <a:latin typeface="Cambria Math"/>
                            </a:rPr>
                          </m:ctrlPr>
                        </m:dPr>
                        <m:e>
                          <m:r>
                            <a:rPr lang="es-CO" sz="1900" i="1">
                              <a:latin typeface="Cambria Math"/>
                            </a:rPr>
                            <m:t>𝐷</m:t>
                          </m:r>
                          <m:r>
                            <a:rPr lang="es-CO" sz="1900" i="1">
                              <a:latin typeface="Cambria Math"/>
                            </a:rPr>
                            <m:t>=1|</m:t>
                          </m:r>
                          <m:sSup>
                            <m:sSupPr>
                              <m:ctrlPr>
                                <a:rPr lang="es-CO" sz="1900" b="0" i="1" smtClean="0">
                                  <a:latin typeface="Cambria Math"/>
                                </a:rPr>
                              </m:ctrlPr>
                            </m:sSupPr>
                            <m:e>
                              <m:acc>
                                <m:accPr>
                                  <m:chr m:val="̅"/>
                                  <m:ctrlPr>
                                    <a:rPr lang="es-CO" sz="1900" i="1" smtClean="0">
                                      <a:latin typeface="Cambria Math"/>
                                    </a:rPr>
                                  </m:ctrlPr>
                                </m:accPr>
                                <m:e>
                                  <m:r>
                                    <a:rPr lang="es-CO" sz="1900" b="0" i="1" smtClean="0">
                                      <a:latin typeface="Cambria Math"/>
                                    </a:rPr>
                                    <m:t>𝑍</m:t>
                                  </m:r>
                                </m:e>
                              </m:acc>
                            </m:e>
                            <m:sup>
                              <m:r>
                                <a:rPr lang="es-CO" sz="1900" b="0" i="1" smtClean="0">
                                  <a:latin typeface="Cambria Math"/>
                                </a:rPr>
                                <m:t>−</m:t>
                              </m:r>
                            </m:sup>
                          </m:sSup>
                        </m:e>
                      </m:d>
                    </m:oMath>
                  </m:oMathPara>
                </a14:m>
                <a:endParaRPr lang="es-CO" sz="1900" dirty="0"/>
              </a:p>
            </p:txBody>
          </p:sp>
        </mc:Choice>
        <mc:Fallback>
          <p:sp>
            <p:nvSpPr>
              <p:cNvPr id="29" name="28 Rectángulo"/>
              <p:cNvSpPr>
                <a:spLocks noRot="1" noChangeAspect="1" noMove="1" noResize="1" noEditPoints="1" noAdjustHandles="1" noChangeArrowheads="1" noChangeShapeType="1" noTextEdit="1"/>
              </p:cNvSpPr>
              <p:nvPr/>
            </p:nvSpPr>
            <p:spPr>
              <a:xfrm>
                <a:off x="672131" y="4836781"/>
                <a:ext cx="1699953" cy="392415"/>
              </a:xfrm>
              <a:prstGeom prst="rect">
                <a:avLst/>
              </a:prstGeom>
              <a:blipFill rotWithShape="1">
                <a:blip r:embed="rId5" cstate="print"/>
                <a:stretch>
                  <a:fillRect t="-10769" b="-12308"/>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31" name="30 CuadroTexto"/>
              <p:cNvSpPr txBox="1"/>
              <p:nvPr/>
            </p:nvSpPr>
            <p:spPr>
              <a:xfrm>
                <a:off x="1177163" y="4212028"/>
                <a:ext cx="9548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s-CO" i="1" dirty="0" smtClean="0">
                              <a:latin typeface="Cambria Math"/>
                            </a:rPr>
                          </m:ctrlPr>
                        </m:accPr>
                        <m:e>
                          <m:r>
                            <a:rPr lang="es-CO" b="0" i="1" dirty="0" smtClean="0">
                              <a:latin typeface="Cambria Math"/>
                            </a:rPr>
                            <m:t>𝑌</m:t>
                          </m:r>
                        </m:e>
                      </m:acc>
                      <m:r>
                        <a:rPr lang="es-CO" b="0" i="1" dirty="0" smtClean="0">
                          <a:latin typeface="Cambria Math"/>
                        </a:rPr>
                        <m:t> (</m:t>
                      </m:r>
                      <m:sSup>
                        <m:sSupPr>
                          <m:ctrlPr>
                            <a:rPr lang="es-CO" b="0" i="1" dirty="0" smtClean="0">
                              <a:latin typeface="Cambria Math"/>
                            </a:rPr>
                          </m:ctrlPr>
                        </m:sSupPr>
                        <m:e>
                          <m:acc>
                            <m:accPr>
                              <m:chr m:val="̅"/>
                              <m:ctrlPr>
                                <a:rPr lang="es-CO" b="0" i="1" dirty="0" smtClean="0">
                                  <a:latin typeface="Cambria Math"/>
                                </a:rPr>
                              </m:ctrlPr>
                            </m:accPr>
                            <m:e>
                              <m:r>
                                <a:rPr lang="es-CO" b="0" i="1" dirty="0" smtClean="0">
                                  <a:latin typeface="Cambria Math"/>
                                </a:rPr>
                                <m:t>𝑍</m:t>
                              </m:r>
                            </m:e>
                          </m:acc>
                        </m:e>
                        <m:sup>
                          <m:r>
                            <a:rPr lang="es-CO" b="0" i="1" dirty="0" smtClean="0">
                              <a:latin typeface="Cambria Math"/>
                            </a:rPr>
                            <m:t>+</m:t>
                          </m:r>
                        </m:sup>
                      </m:sSup>
                      <m:r>
                        <a:rPr lang="es-CO" b="0" i="1" dirty="0" smtClean="0">
                          <a:latin typeface="Cambria Math"/>
                        </a:rPr>
                        <m:t> )</m:t>
                      </m:r>
                    </m:oMath>
                  </m:oMathPara>
                </a14:m>
                <a:endParaRPr lang="es-CO" dirty="0"/>
              </a:p>
            </p:txBody>
          </p:sp>
        </mc:Choice>
        <mc:Fallback>
          <p:sp>
            <p:nvSpPr>
              <p:cNvPr id="31" name="30 CuadroTexto"/>
              <p:cNvSpPr txBox="1">
                <a:spLocks noRot="1" noChangeAspect="1" noMove="1" noResize="1" noEditPoints="1" noAdjustHandles="1" noChangeArrowheads="1" noChangeShapeType="1" noTextEdit="1"/>
              </p:cNvSpPr>
              <p:nvPr/>
            </p:nvSpPr>
            <p:spPr>
              <a:xfrm>
                <a:off x="1177163" y="4212028"/>
                <a:ext cx="954877" cy="369332"/>
              </a:xfrm>
              <a:prstGeom prst="rect">
                <a:avLst/>
              </a:prstGeom>
              <a:blipFill rotWithShape="1">
                <a:blip r:embed="rId6" cstate="print"/>
                <a:stretch>
                  <a:fillRect b="-11475"/>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6" name="5 Rectángulo"/>
              <p:cNvSpPr/>
              <p:nvPr/>
            </p:nvSpPr>
            <p:spPr>
              <a:xfrm>
                <a:off x="1443596" y="1782440"/>
                <a:ext cx="6060633" cy="12991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500" i="1">
                              <a:latin typeface="Cambria Math"/>
                            </a:rPr>
                          </m:ctrlPr>
                        </m:sSubPr>
                        <m:e>
                          <m:acc>
                            <m:accPr>
                              <m:chr m:val="̂"/>
                              <m:ctrlPr>
                                <a:rPr lang="es-CO" sz="2500" i="1">
                                  <a:latin typeface="Cambria Math"/>
                                </a:rPr>
                              </m:ctrlPr>
                            </m:accPr>
                            <m:e>
                              <m:r>
                                <a:rPr lang="es-CO" sz="2500" i="1">
                                  <a:latin typeface="Cambria Math"/>
                                </a:rPr>
                                <m:t>𝜏</m:t>
                              </m:r>
                            </m:e>
                          </m:acc>
                        </m:e>
                        <m:sub>
                          <m:r>
                            <a:rPr lang="es-CO" sz="2500" i="1">
                              <a:latin typeface="Cambria Math"/>
                            </a:rPr>
                            <m:t>𝑅𝐷𝐵</m:t>
                          </m:r>
                        </m:sub>
                      </m:sSub>
                      <m:d>
                        <m:dPr>
                          <m:ctrlPr>
                            <a:rPr lang="es-CO" sz="2500" i="1">
                              <a:latin typeface="Cambria Math"/>
                            </a:rPr>
                          </m:ctrlPr>
                        </m:dPr>
                        <m:e>
                          <m:acc>
                            <m:accPr>
                              <m:chr m:val="̅"/>
                              <m:ctrlPr>
                                <a:rPr lang="es-CO" sz="2500" i="1">
                                  <a:latin typeface="Cambria Math"/>
                                </a:rPr>
                              </m:ctrlPr>
                            </m:accPr>
                            <m:e>
                              <m:r>
                                <a:rPr lang="es-CO" sz="2500" i="1">
                                  <a:latin typeface="Cambria Math"/>
                                </a:rPr>
                                <m:t>𝑍</m:t>
                              </m:r>
                            </m:e>
                          </m:acc>
                        </m:e>
                      </m:d>
                      <m:r>
                        <a:rPr lang="es-CO" sz="2500" i="1">
                          <a:latin typeface="Cambria Math"/>
                        </a:rPr>
                        <m:t>=</m:t>
                      </m:r>
                      <m:f>
                        <m:fPr>
                          <m:ctrlPr>
                            <a:rPr lang="es-CO" sz="2500" i="1">
                              <a:latin typeface="Cambria Math"/>
                            </a:rPr>
                          </m:ctrlPr>
                        </m:fPr>
                        <m:num>
                          <m:acc>
                            <m:accPr>
                              <m:chr m:val="̅"/>
                              <m:ctrlPr>
                                <a:rPr lang="es-CO" sz="2500" i="1">
                                  <a:latin typeface="Cambria Math"/>
                                </a:rPr>
                              </m:ctrlPr>
                            </m:accPr>
                            <m:e>
                              <m:r>
                                <a:rPr lang="es-CO" sz="2500" i="1">
                                  <a:latin typeface="Cambria Math"/>
                                </a:rPr>
                                <m:t>𝑌</m:t>
                              </m:r>
                            </m:e>
                          </m:acc>
                          <m:d>
                            <m:dPr>
                              <m:ctrlPr>
                                <a:rPr lang="es-CO" sz="2500" i="1">
                                  <a:latin typeface="Cambria Math"/>
                                </a:rPr>
                              </m:ctrlPr>
                            </m:dPr>
                            <m:e>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r>
                            <a:rPr lang="es-CO" sz="2500" i="1">
                              <a:latin typeface="Cambria Math"/>
                            </a:rPr>
                            <m:t>−</m:t>
                          </m:r>
                          <m:acc>
                            <m:accPr>
                              <m:chr m:val="̅"/>
                              <m:ctrlPr>
                                <a:rPr lang="es-CO" sz="2500" i="1">
                                  <a:latin typeface="Cambria Math"/>
                                </a:rPr>
                              </m:ctrlPr>
                            </m:accPr>
                            <m:e>
                              <m:r>
                                <a:rPr lang="es-CO" sz="2500" i="1">
                                  <a:latin typeface="Cambria Math"/>
                                </a:rPr>
                                <m:t>𝑌</m:t>
                              </m:r>
                            </m:e>
                          </m:acc>
                          <m:d>
                            <m:dPr>
                              <m:ctrlPr>
                                <a:rPr lang="es-CO" sz="2500" i="1">
                                  <a:latin typeface="Cambria Math"/>
                                </a:rPr>
                              </m:ctrlPr>
                            </m:dPr>
                            <m:e>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num>
                        <m:den>
                          <m:acc>
                            <m:accPr>
                              <m:chr m:val="̂"/>
                              <m:ctrlPr>
                                <a:rPr lang="es-CO" sz="2500" i="1">
                                  <a:latin typeface="Cambria Math"/>
                                </a:rPr>
                              </m:ctrlPr>
                            </m:accPr>
                            <m:e>
                              <m:r>
                                <a:rPr lang="es-CO" sz="2500" i="1">
                                  <a:latin typeface="Cambria Math"/>
                                </a:rPr>
                                <m:t>𝑃𝑟</m:t>
                              </m:r>
                            </m:e>
                          </m:acc>
                          <m:d>
                            <m:dPr>
                              <m:ctrlPr>
                                <a:rPr lang="es-CO" sz="2500" i="1">
                                  <a:latin typeface="Cambria Math"/>
                                </a:rPr>
                              </m:ctrlPr>
                            </m:dPr>
                            <m:e>
                              <m:r>
                                <a:rPr lang="es-CO" sz="2500" i="1">
                                  <a:latin typeface="Cambria Math"/>
                                </a:rPr>
                                <m:t>𝐷</m:t>
                              </m:r>
                              <m:r>
                                <a:rPr lang="es-CO" sz="2500" i="1">
                                  <a:latin typeface="Cambria Math"/>
                                </a:rPr>
                                <m:t>=1|</m:t>
                              </m:r>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r>
                            <a:rPr lang="es-CO" sz="2500" i="1">
                              <a:latin typeface="Cambria Math"/>
                            </a:rPr>
                            <m:t>−</m:t>
                          </m:r>
                          <m:acc>
                            <m:accPr>
                              <m:chr m:val="̂"/>
                              <m:ctrlPr>
                                <a:rPr lang="es-CO" sz="2500" i="1">
                                  <a:latin typeface="Cambria Math"/>
                                </a:rPr>
                              </m:ctrlPr>
                            </m:accPr>
                            <m:e>
                              <m:r>
                                <a:rPr lang="es-CO" sz="2500" i="1">
                                  <a:latin typeface="Cambria Math"/>
                                </a:rPr>
                                <m:t>𝑃𝑟</m:t>
                              </m:r>
                            </m:e>
                          </m:acc>
                          <m:d>
                            <m:dPr>
                              <m:ctrlPr>
                                <a:rPr lang="es-CO" sz="2500" i="1">
                                  <a:latin typeface="Cambria Math"/>
                                </a:rPr>
                              </m:ctrlPr>
                            </m:dPr>
                            <m:e>
                              <m:r>
                                <a:rPr lang="es-CO" sz="2500" i="1">
                                  <a:latin typeface="Cambria Math"/>
                                </a:rPr>
                                <m:t>𝐷</m:t>
                              </m:r>
                              <m:r>
                                <a:rPr lang="es-CO" sz="2500" i="1">
                                  <a:latin typeface="Cambria Math"/>
                                </a:rPr>
                                <m:t>=1|</m:t>
                              </m:r>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den>
                      </m:f>
                    </m:oMath>
                  </m:oMathPara>
                </a14:m>
                <a:endParaRPr lang="es-CO" sz="2500" dirty="0"/>
              </a:p>
            </p:txBody>
          </p:sp>
        </mc:Choice>
        <mc:Fallback>
          <p:sp>
            <p:nvSpPr>
              <p:cNvPr id="6" name="5 Rectángulo"/>
              <p:cNvSpPr>
                <a:spLocks noRot="1" noChangeAspect="1" noMove="1" noResize="1" noEditPoints="1" noAdjustHandles="1" noChangeArrowheads="1" noChangeShapeType="1" noTextEdit="1"/>
              </p:cNvSpPr>
              <p:nvPr/>
            </p:nvSpPr>
            <p:spPr>
              <a:xfrm>
                <a:off x="1443596" y="1782440"/>
                <a:ext cx="6060633" cy="1299138"/>
              </a:xfrm>
              <a:prstGeom prst="rect">
                <a:avLst/>
              </a:prstGeom>
              <a:blipFill rotWithShape="1">
                <a:blip r:embed="rId7" cstate="print"/>
                <a:stretch>
                  <a:fillRect/>
                </a:stretch>
              </a:blipFill>
            </p:spPr>
            <p:txBody>
              <a:bodyPr/>
              <a:lstStyle/>
              <a:p>
                <a:r>
                  <a:rPr lang="es-CO">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lstStyle/>
          <a:p>
            <a:r>
              <a:rPr lang="es-MX" u="sng" dirty="0" smtClean="0"/>
              <a:t>Implementación empírica</a:t>
            </a:r>
            <a:endParaRPr lang="en-US" u="sng"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31437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pic>
        <p:nvPicPr>
          <p:cNvPr id="314369" name="Imagen 111"/>
          <p:cNvPicPr>
            <a:picLocks noChangeAspect="1" noChangeArrowheads="1"/>
          </p:cNvPicPr>
          <p:nvPr/>
        </p:nvPicPr>
        <p:blipFill>
          <a:blip r:embed="rId3" cstate="print"/>
          <a:srcRect/>
          <a:stretch>
            <a:fillRect/>
          </a:stretch>
        </p:blipFill>
        <p:spPr bwMode="auto">
          <a:xfrm>
            <a:off x="1103584" y="1087818"/>
            <a:ext cx="6858002" cy="3595592"/>
          </a:xfrm>
          <a:prstGeom prst="rect">
            <a:avLst/>
          </a:prstGeom>
          <a:noFill/>
        </p:spPr>
      </p:pic>
      <p:sp>
        <p:nvSpPr>
          <p:cNvPr id="314371" name="Rectangle 3"/>
          <p:cNvSpPr>
            <a:spLocks noChangeArrowheads="1"/>
          </p:cNvSpPr>
          <p:nvPr/>
        </p:nvSpPr>
        <p:spPr bwMode="auto">
          <a:xfrm>
            <a:off x="449263" y="2924175"/>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10 CuadroTexto"/>
          <p:cNvSpPr txBox="1"/>
          <p:nvPr/>
        </p:nvSpPr>
        <p:spPr>
          <a:xfrm>
            <a:off x="378372" y="4792718"/>
            <a:ext cx="8450317" cy="1785104"/>
          </a:xfrm>
          <a:prstGeom prst="rect">
            <a:avLst/>
          </a:prstGeom>
          <a:noFill/>
        </p:spPr>
        <p:txBody>
          <a:bodyPr wrap="square" rtlCol="0">
            <a:spAutoFit/>
          </a:bodyPr>
          <a:lstStyle/>
          <a:p>
            <a:pPr>
              <a:lnSpc>
                <a:spcPts val="2200"/>
              </a:lnSpc>
            </a:pPr>
            <a:r>
              <a:rPr lang="es-CO" sz="2000" dirty="0" smtClean="0"/>
              <a:t>Los simples promedios a la izquierda y derecha del umbral corresponden a las líneas horizontales, el salto entre los dos estaría dado por el segmento b-c. Si, en cambio, ajustamos una regresión lineal a los datos en la vecindad izquierda y derecha del umbral (línea sólida en negrilla), entonces el salto en el umbral estaría dado por el segmento a-d. El último se ajusta más al verdadero salto, que el primero.</a:t>
            </a:r>
            <a:endParaRPr lang="es-CO" sz="2000" dirty="0"/>
          </a:p>
        </p:txBody>
      </p:sp>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45</a:t>
            </a:fld>
            <a:endParaRPr lang="es-ES" sz="1500" dirty="0">
              <a:solidFill>
                <a:schemeClr val="tx1">
                  <a:lumMod val="50000"/>
                  <a:lumOff val="50000"/>
                </a:schemeClr>
              </a:solidFill>
            </a:endParaRPr>
          </a:p>
        </p:txBody>
      </p:sp>
      <p:sp>
        <p:nvSpPr>
          <p:cNvPr id="2" name="1 Rectángulo"/>
          <p:cNvSpPr/>
          <p:nvPr/>
        </p:nvSpPr>
        <p:spPr>
          <a:xfrm>
            <a:off x="2126397" y="2704278"/>
            <a:ext cx="804041" cy="5509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13 Rectángulo"/>
          <p:cNvSpPr/>
          <p:nvPr/>
        </p:nvSpPr>
        <p:spPr>
          <a:xfrm>
            <a:off x="4887264" y="3063921"/>
            <a:ext cx="804041" cy="5509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a14="http://schemas.microsoft.com/office/drawing/2010/main" xmlns="" Requires="a14">
          <p:sp>
            <p:nvSpPr>
              <p:cNvPr id="13" name="12 CuadroTexto"/>
              <p:cNvSpPr txBox="1"/>
              <p:nvPr/>
            </p:nvSpPr>
            <p:spPr>
              <a:xfrm>
                <a:off x="4887264" y="3089711"/>
                <a:ext cx="9548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s-CO" i="1" dirty="0" smtClean="0">
                              <a:latin typeface="Cambria Math"/>
                            </a:rPr>
                          </m:ctrlPr>
                        </m:accPr>
                        <m:e>
                          <m:r>
                            <a:rPr lang="es-CO" b="0" i="1" dirty="0" smtClean="0">
                              <a:latin typeface="Cambria Math"/>
                            </a:rPr>
                            <m:t>𝑌</m:t>
                          </m:r>
                        </m:e>
                      </m:acc>
                      <m:r>
                        <a:rPr lang="es-CO" b="0" i="1" dirty="0" smtClean="0">
                          <a:latin typeface="Cambria Math"/>
                        </a:rPr>
                        <m:t> (</m:t>
                      </m:r>
                      <m:sSup>
                        <m:sSupPr>
                          <m:ctrlPr>
                            <a:rPr lang="es-CO" b="0" i="1" dirty="0" smtClean="0">
                              <a:latin typeface="Cambria Math"/>
                            </a:rPr>
                          </m:ctrlPr>
                        </m:sSupPr>
                        <m:e>
                          <m:acc>
                            <m:accPr>
                              <m:chr m:val="̅"/>
                              <m:ctrlPr>
                                <a:rPr lang="es-CO" b="0" i="1" dirty="0" smtClean="0">
                                  <a:latin typeface="Cambria Math"/>
                                </a:rPr>
                              </m:ctrlPr>
                            </m:accPr>
                            <m:e>
                              <m:r>
                                <a:rPr lang="es-CO" b="0" i="1" dirty="0" smtClean="0">
                                  <a:latin typeface="Cambria Math"/>
                                </a:rPr>
                                <m:t>𝑍</m:t>
                              </m:r>
                            </m:e>
                          </m:acc>
                        </m:e>
                        <m:sup>
                          <m:r>
                            <a:rPr lang="es-CO" b="0" i="1" dirty="0" smtClean="0">
                              <a:latin typeface="Cambria Math"/>
                            </a:rPr>
                            <m:t>+</m:t>
                          </m:r>
                        </m:sup>
                      </m:sSup>
                      <m:r>
                        <a:rPr lang="es-CO" b="0" i="1" dirty="0" smtClean="0">
                          <a:latin typeface="Cambria Math"/>
                        </a:rPr>
                        <m:t> )</m:t>
                      </m:r>
                    </m:oMath>
                  </m:oMathPara>
                </a14:m>
                <a:endParaRPr lang="es-CO" dirty="0"/>
              </a:p>
            </p:txBody>
          </p:sp>
        </mc:Choice>
        <mc:Fallback>
          <p:sp>
            <p:nvSpPr>
              <p:cNvPr id="13" name="12 CuadroTexto"/>
              <p:cNvSpPr txBox="1">
                <a:spLocks noRot="1" noChangeAspect="1" noMove="1" noResize="1" noEditPoints="1" noAdjustHandles="1" noChangeArrowheads="1" noChangeShapeType="1" noTextEdit="1"/>
              </p:cNvSpPr>
              <p:nvPr/>
            </p:nvSpPr>
            <p:spPr>
              <a:xfrm>
                <a:off x="4887264" y="3089711"/>
                <a:ext cx="954877" cy="369332"/>
              </a:xfrm>
              <a:prstGeom prst="rect">
                <a:avLst/>
              </a:prstGeom>
              <a:blipFill rotWithShape="1">
                <a:blip r:embed="rId4" cstate="print"/>
                <a:stretch>
                  <a:fillRect b="-13333"/>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12" name="11 CuadroTexto"/>
              <p:cNvSpPr txBox="1"/>
              <p:nvPr/>
            </p:nvSpPr>
            <p:spPr>
              <a:xfrm>
                <a:off x="2117455" y="2751590"/>
                <a:ext cx="9548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s-CO" i="1" dirty="0" smtClean="0">
                              <a:latin typeface="Cambria Math"/>
                            </a:rPr>
                          </m:ctrlPr>
                        </m:accPr>
                        <m:e>
                          <m:r>
                            <a:rPr lang="es-CO" b="0" i="1" dirty="0" smtClean="0">
                              <a:latin typeface="Cambria Math"/>
                            </a:rPr>
                            <m:t>𝑌</m:t>
                          </m:r>
                        </m:e>
                      </m:acc>
                      <m:r>
                        <a:rPr lang="es-CO" b="0" i="1" dirty="0" smtClean="0">
                          <a:latin typeface="Cambria Math"/>
                        </a:rPr>
                        <m:t> (</m:t>
                      </m:r>
                      <m:sSup>
                        <m:sSupPr>
                          <m:ctrlPr>
                            <a:rPr lang="es-CO" b="0" i="1" dirty="0" smtClean="0">
                              <a:latin typeface="Cambria Math"/>
                            </a:rPr>
                          </m:ctrlPr>
                        </m:sSupPr>
                        <m:e>
                          <m:acc>
                            <m:accPr>
                              <m:chr m:val="̅"/>
                              <m:ctrlPr>
                                <a:rPr lang="es-CO" b="0" i="1" dirty="0" smtClean="0">
                                  <a:latin typeface="Cambria Math"/>
                                </a:rPr>
                              </m:ctrlPr>
                            </m:accPr>
                            <m:e>
                              <m:r>
                                <a:rPr lang="es-CO" b="0" i="1" dirty="0" smtClean="0">
                                  <a:latin typeface="Cambria Math"/>
                                </a:rPr>
                                <m:t>𝑍</m:t>
                              </m:r>
                            </m:e>
                          </m:acc>
                        </m:e>
                        <m:sup>
                          <m:r>
                            <a:rPr lang="es-CO" b="0" i="1" dirty="0" smtClean="0">
                              <a:latin typeface="Cambria Math"/>
                            </a:rPr>
                            <m:t>−</m:t>
                          </m:r>
                        </m:sup>
                      </m:sSup>
                      <m:r>
                        <a:rPr lang="es-CO" b="0" i="1" dirty="0" smtClean="0">
                          <a:latin typeface="Cambria Math"/>
                        </a:rPr>
                        <m:t> )</m:t>
                      </m:r>
                    </m:oMath>
                  </m:oMathPara>
                </a14:m>
                <a:endParaRPr lang="es-CO" dirty="0"/>
              </a:p>
            </p:txBody>
          </p:sp>
        </mc:Choice>
        <mc:Fallback>
          <p:sp>
            <p:nvSpPr>
              <p:cNvPr id="12" name="11 CuadroTexto"/>
              <p:cNvSpPr txBox="1">
                <a:spLocks noRot="1" noChangeAspect="1" noMove="1" noResize="1" noEditPoints="1" noAdjustHandles="1" noChangeArrowheads="1" noChangeShapeType="1" noTextEdit="1"/>
              </p:cNvSpPr>
              <p:nvPr/>
            </p:nvSpPr>
            <p:spPr>
              <a:xfrm>
                <a:off x="2117455" y="2751590"/>
                <a:ext cx="954877" cy="369332"/>
              </a:xfrm>
              <a:prstGeom prst="rect">
                <a:avLst/>
              </a:prstGeom>
              <a:blipFill rotWithShape="1">
                <a:blip r:embed="rId5" cstate="print"/>
                <a:stretch>
                  <a:fillRect b="-11475"/>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lstStyle/>
          <a:p>
            <a:r>
              <a:rPr lang="es-MX" u="sng" dirty="0" smtClean="0"/>
              <a:t>Implementación empírica</a:t>
            </a:r>
            <a:endParaRPr lang="en-US" u="sng" dirty="0"/>
          </a:p>
        </p:txBody>
      </p:sp>
      <p:sp>
        <p:nvSpPr>
          <p:cNvPr id="10" name="9 Marcador de contenido"/>
          <p:cNvSpPr>
            <a:spLocks noGrp="1"/>
          </p:cNvSpPr>
          <p:nvPr>
            <p:ph idx="1"/>
          </p:nvPr>
        </p:nvSpPr>
        <p:spPr>
          <a:xfrm>
            <a:off x="457200" y="1828800"/>
            <a:ext cx="8229600" cy="4297363"/>
          </a:xfrm>
        </p:spPr>
        <p:txBody>
          <a:bodyPr>
            <a:normAutofit/>
          </a:bodyPr>
          <a:lstStyle/>
          <a:p>
            <a:r>
              <a:rPr lang="es-MX" sz="3000" dirty="0" smtClean="0"/>
              <a:t>Se puede utilizar un método de estimación:</a:t>
            </a:r>
          </a:p>
          <a:p>
            <a:pPr lvl="1"/>
            <a:r>
              <a:rPr lang="es-MX" sz="2600" dirty="0" smtClean="0"/>
              <a:t>Paramétrico .</a:t>
            </a:r>
          </a:p>
          <a:p>
            <a:pPr lvl="1"/>
            <a:r>
              <a:rPr lang="es-MX" sz="2600" dirty="0" err="1" smtClean="0"/>
              <a:t>Semiparamétrico</a:t>
            </a:r>
            <a:r>
              <a:rPr lang="es-MX" sz="2600" dirty="0" smtClean="0"/>
              <a:t>. </a:t>
            </a:r>
          </a:p>
          <a:p>
            <a:pPr lvl="1"/>
            <a:r>
              <a:rPr lang="es-MX" sz="2600" dirty="0" smtClean="0"/>
              <a:t>No paramétrico. </a:t>
            </a:r>
          </a:p>
          <a:p>
            <a:pPr lvl="1"/>
            <a:endParaRPr lang="es-MX" dirty="0" smtClean="0"/>
          </a:p>
          <a:p>
            <a:r>
              <a:rPr lang="es-MX" sz="3000" dirty="0" smtClean="0"/>
              <a:t>El efecto de regresión discontinua requiere la estimación de puntos límite alrededor del umbral de las funciones de expectativa condicional. </a:t>
            </a:r>
            <a:endParaRPr lang="en-US" sz="30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46</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Implementación empírica:</a:t>
            </a:r>
            <a:br>
              <a:rPr lang="es-MX" u="sng" dirty="0" smtClean="0"/>
            </a:br>
            <a:r>
              <a:rPr lang="es-MX" sz="4000" dirty="0" smtClean="0"/>
              <a:t>Estimación paramétrica de RDN</a:t>
            </a:r>
            <a:endParaRPr lang="en-US" sz="4000"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1742094"/>
                <a:ext cx="8229600" cy="4525963"/>
              </a:xfrm>
            </p:spPr>
            <p:txBody>
              <a:bodyPr>
                <a:normAutofit lnSpcReduction="10000"/>
              </a:bodyPr>
              <a:lstStyle/>
              <a:p>
                <a:r>
                  <a:rPr lang="es-MX" sz="2600" dirty="0" smtClean="0">
                    <a:solidFill>
                      <a:schemeClr val="accent5">
                        <a:lumMod val="75000"/>
                      </a:schemeClr>
                    </a:solidFill>
                  </a:rPr>
                  <a:t>El efecto del programa puede estimarse por medio de: </a:t>
                </a:r>
              </a:p>
              <a:p>
                <a:endParaRPr lang="es-MX" sz="2600" dirty="0" smtClean="0">
                  <a:solidFill>
                    <a:schemeClr val="accent5">
                      <a:lumMod val="75000"/>
                    </a:schemeClr>
                  </a:solidFill>
                </a:endParaRPr>
              </a:p>
              <a:p>
                <a:endParaRPr lang="es-MX" sz="2600" dirty="0" smtClean="0">
                  <a:solidFill>
                    <a:schemeClr val="accent5">
                      <a:lumMod val="75000"/>
                    </a:schemeClr>
                  </a:solidFill>
                </a:endParaRPr>
              </a:p>
              <a:p>
                <a:pPr>
                  <a:buNone/>
                </a:pPr>
                <a:r>
                  <a:rPr lang="es-MX" sz="2600" dirty="0" smtClean="0"/>
                  <a:t>	Donde :</a:t>
                </a:r>
              </a:p>
              <a:p>
                <a:pPr>
                  <a:buNone/>
                </a:pPr>
                <a:endParaRPr lang="es-MX" sz="2600" dirty="0" smtClean="0"/>
              </a:p>
              <a:p>
                <a:pPr>
                  <a:buNone/>
                </a:pPr>
                <a:endParaRPr lang="es-MX" sz="2600" dirty="0" smtClean="0"/>
              </a:p>
              <a:p>
                <a:pPr>
                  <a:buNone/>
                </a:pPr>
                <a:endParaRPr lang="es-MX" sz="2600" dirty="0" smtClean="0"/>
              </a:p>
              <a:p>
                <a:pPr>
                  <a:buNone/>
                </a:pPr>
                <a:endParaRPr lang="es-MX" sz="2600" dirty="0" smtClean="0"/>
              </a:p>
              <a:p>
                <a:pPr>
                  <a:buNone/>
                </a:pPr>
                <a:endParaRPr lang="es-MX" sz="2600" dirty="0" smtClean="0"/>
              </a:p>
              <a:p>
                <a:r>
                  <a:rPr lang="es-MX" sz="2600" dirty="0" smtClean="0">
                    <a:solidFill>
                      <a:schemeClr val="accent5">
                        <a:lumMod val="75000"/>
                      </a:schemeClr>
                    </a:solidFill>
                    <a:latin typeface="Symbol" pitchFamily="18" charset="2"/>
                  </a:rPr>
                  <a:t>b</a:t>
                </a:r>
                <a:r>
                  <a:rPr lang="es-MX" sz="2000" baseline="-25000" dirty="0" smtClean="0">
                    <a:solidFill>
                      <a:schemeClr val="accent5">
                        <a:lumMod val="75000"/>
                      </a:schemeClr>
                    </a:solidFill>
                  </a:rPr>
                  <a:t>1</a:t>
                </a:r>
                <a:r>
                  <a:rPr lang="es-MX" sz="2600" dirty="0" smtClean="0">
                    <a:solidFill>
                      <a:schemeClr val="accent5">
                        <a:lumMod val="75000"/>
                      </a:schemeClr>
                    </a:solidFill>
                  </a:rPr>
                  <a:t>:</a:t>
                </a:r>
                <a:r>
                  <a:rPr lang="es-MX" sz="2600" dirty="0" smtClean="0"/>
                  <a:t> Efecto promedio del tratamiento en </a:t>
                </a:r>
                <a14:m>
                  <m:oMath xmlns:m="http://schemas.openxmlformats.org/officeDocument/2006/math">
                    <m:acc>
                      <m:accPr>
                        <m:chr m:val="̅"/>
                        <m:ctrlPr>
                          <a:rPr lang="es-MX" sz="2600" i="1" smtClean="0">
                            <a:latin typeface="Cambria Math"/>
                          </a:rPr>
                        </m:ctrlPr>
                      </m:accPr>
                      <m:e>
                        <m:r>
                          <a:rPr lang="es-CO" sz="2600" b="0" i="1" smtClean="0">
                            <a:latin typeface="Cambria Math"/>
                          </a:rPr>
                          <m:t>𝑍</m:t>
                        </m:r>
                      </m:e>
                    </m:acc>
                  </m:oMath>
                </a14:m>
                <a:r>
                  <a:rPr lang="es-MX" sz="2600" dirty="0" smtClean="0"/>
                  <a:t> .</a:t>
                </a:r>
                <a:endParaRPr lang="en-US" sz="26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1742094"/>
                <a:ext cx="8229600" cy="4525963"/>
              </a:xfrm>
              <a:blipFill rotWithShape="1">
                <a:blip r:embed="rId2" cstate="print"/>
                <a:stretch>
                  <a:fillRect l="-1111" t="-2022" b="-135"/>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3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 name="11 Abrir llave"/>
          <p:cNvSpPr/>
          <p:nvPr/>
        </p:nvSpPr>
        <p:spPr>
          <a:xfrm rot="16200000">
            <a:off x="4638995" y="1880017"/>
            <a:ext cx="331099" cy="52420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12 CuadroTexto"/>
          <p:cNvSpPr txBox="1"/>
          <p:nvPr/>
        </p:nvSpPr>
        <p:spPr>
          <a:xfrm>
            <a:off x="2144110" y="4650815"/>
            <a:ext cx="5439103" cy="800219"/>
          </a:xfrm>
          <a:prstGeom prst="rect">
            <a:avLst/>
          </a:prstGeom>
          <a:noFill/>
        </p:spPr>
        <p:txBody>
          <a:bodyPr wrap="square" rtlCol="0">
            <a:spAutoFit/>
          </a:bodyPr>
          <a:lstStyle/>
          <a:p>
            <a:r>
              <a:rPr lang="es-MX" sz="2300" dirty="0" smtClean="0"/>
              <a:t>Por el supuesto de continuidad local es una función  continua de </a:t>
            </a:r>
            <a:r>
              <a:rPr lang="es-MX" sz="2300" i="1" dirty="0" smtClean="0">
                <a:latin typeface="Times New Roman" pitchFamily="18" charset="0"/>
                <a:cs typeface="Times New Roman" pitchFamily="18" charset="0"/>
              </a:rPr>
              <a:t>Z</a:t>
            </a:r>
            <a:r>
              <a:rPr lang="es-MX" sz="2300" dirty="0" smtClean="0"/>
              <a:t> en el umbral </a:t>
            </a:r>
            <a:endParaRPr lang="en-US" sz="2300" dirty="0"/>
          </a:p>
        </p:txBody>
      </p:sp>
      <p:pic>
        <p:nvPicPr>
          <p:cNvPr id="14" name="Picture 1"/>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6595522" y="5066094"/>
            <a:ext cx="175277" cy="350554"/>
          </a:xfrm>
          <a:prstGeom prst="rect">
            <a:avLst/>
          </a:prstGeom>
          <a:noFill/>
        </p:spPr>
      </p:pic>
      <p:sp>
        <p:nvSpPr>
          <p:cNvPr id="18" name="1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47</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2745905" y="2347992"/>
                <a:ext cx="3417667" cy="5143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500" i="1">
                              <a:latin typeface="Cambria Math"/>
                            </a:rPr>
                          </m:ctrlPr>
                        </m:sSubPr>
                        <m:e>
                          <m:r>
                            <a:rPr lang="es-ES" sz="2500" i="1">
                              <a:latin typeface="Cambria Math"/>
                            </a:rPr>
                            <m:t>𝑌</m:t>
                          </m:r>
                        </m:e>
                        <m:sub>
                          <m:r>
                            <a:rPr lang="es-ES" sz="2500" i="1">
                              <a:latin typeface="Cambria Math"/>
                            </a:rPr>
                            <m:t>𝑖</m:t>
                          </m:r>
                        </m:sub>
                      </m:sSub>
                      <m:r>
                        <a:rPr lang="es-ES" sz="2500" i="1">
                          <a:latin typeface="Cambria Math"/>
                        </a:rPr>
                        <m:t>=</m:t>
                      </m:r>
                      <m:r>
                        <a:rPr lang="es-ES" sz="2500" i="1">
                          <a:latin typeface="Cambria Math"/>
                        </a:rPr>
                        <m:t>𝑚</m:t>
                      </m:r>
                      <m:d>
                        <m:dPr>
                          <m:ctrlPr>
                            <a:rPr lang="es-CO" sz="2500" i="1">
                              <a:latin typeface="Cambria Math"/>
                            </a:rPr>
                          </m:ctrlPr>
                        </m:dPr>
                        <m:e>
                          <m:sSub>
                            <m:sSubPr>
                              <m:ctrlPr>
                                <a:rPr lang="es-CO" sz="2500" i="1">
                                  <a:latin typeface="Cambria Math"/>
                                </a:rPr>
                              </m:ctrlPr>
                            </m:sSubPr>
                            <m:e>
                              <m:r>
                                <a:rPr lang="es-ES" sz="2500" i="1">
                                  <a:latin typeface="Cambria Math"/>
                                </a:rPr>
                                <m:t>𝑍</m:t>
                              </m:r>
                            </m:e>
                            <m:sub>
                              <m:r>
                                <a:rPr lang="es-ES" sz="2500" i="1">
                                  <a:latin typeface="Cambria Math"/>
                                </a:rPr>
                                <m:t>𝑖</m:t>
                              </m:r>
                            </m:sub>
                          </m:sSub>
                        </m:e>
                      </m:d>
                      <m:r>
                        <a:rPr lang="es-ES" sz="2500" i="1">
                          <a:latin typeface="Cambria Math"/>
                        </a:rPr>
                        <m:t>+</m:t>
                      </m:r>
                      <m:sSub>
                        <m:sSubPr>
                          <m:ctrlPr>
                            <a:rPr lang="es-CO" sz="2500" i="1">
                              <a:latin typeface="Cambria Math"/>
                            </a:rPr>
                          </m:ctrlPr>
                        </m:sSubPr>
                        <m:e>
                          <m:r>
                            <a:rPr lang="es-ES" sz="2500" i="1">
                              <a:latin typeface="Cambria Math"/>
                            </a:rPr>
                            <m:t>𝛽</m:t>
                          </m:r>
                        </m:e>
                        <m:sub>
                          <m:r>
                            <a:rPr lang="es-ES" sz="2500" i="1">
                              <a:latin typeface="Cambria Math"/>
                            </a:rPr>
                            <m:t>1</m:t>
                          </m:r>
                        </m:sub>
                      </m:sSub>
                      <m:sSub>
                        <m:sSubPr>
                          <m:ctrlPr>
                            <a:rPr lang="es-CO" sz="2500" i="1">
                              <a:latin typeface="Cambria Math"/>
                            </a:rPr>
                          </m:ctrlPr>
                        </m:sSubPr>
                        <m:e>
                          <m:r>
                            <a:rPr lang="es-ES" sz="2500" i="1">
                              <a:latin typeface="Cambria Math"/>
                            </a:rPr>
                            <m:t>𝐷</m:t>
                          </m:r>
                        </m:e>
                        <m:sub>
                          <m:r>
                            <a:rPr lang="es-ES" sz="2500" i="1">
                              <a:latin typeface="Cambria Math"/>
                            </a:rPr>
                            <m:t>𝑖</m:t>
                          </m:r>
                        </m:sub>
                      </m:sSub>
                      <m:r>
                        <a:rPr lang="es-ES" sz="2500" i="1">
                          <a:latin typeface="Cambria Math"/>
                        </a:rPr>
                        <m:t>+</m:t>
                      </m:r>
                      <m:sSub>
                        <m:sSubPr>
                          <m:ctrlPr>
                            <a:rPr lang="es-CO" sz="2500" i="1">
                              <a:latin typeface="Cambria Math"/>
                            </a:rPr>
                          </m:ctrlPr>
                        </m:sSubPr>
                        <m:e>
                          <m:r>
                            <a:rPr lang="es-ES" sz="2500" i="1">
                              <a:latin typeface="Cambria Math"/>
                            </a:rPr>
                            <m:t>𝑒</m:t>
                          </m:r>
                        </m:e>
                        <m:sub>
                          <m:r>
                            <a:rPr lang="es-ES" sz="2500" i="1">
                              <a:latin typeface="Cambria Math"/>
                            </a:rPr>
                            <m:t>𝑖</m:t>
                          </m:r>
                        </m:sub>
                      </m:sSub>
                    </m:oMath>
                  </m:oMathPara>
                </a14:m>
                <a:endParaRPr lang="es-CO" sz="2500" dirty="0"/>
              </a:p>
            </p:txBody>
          </p:sp>
        </mc:Choice>
        <mc:Fallback>
          <p:sp>
            <p:nvSpPr>
              <p:cNvPr id="2" name="1 Rectángulo"/>
              <p:cNvSpPr>
                <a:spLocks noRot="1" noChangeAspect="1" noMove="1" noResize="1" noEditPoints="1" noAdjustHandles="1" noChangeArrowheads="1" noChangeShapeType="1" noTextEdit="1"/>
              </p:cNvSpPr>
              <p:nvPr/>
            </p:nvSpPr>
            <p:spPr>
              <a:xfrm>
                <a:off x="2745905" y="2347992"/>
                <a:ext cx="3417667" cy="514308"/>
              </a:xfrm>
              <a:prstGeom prst="rect">
                <a:avLst/>
              </a:prstGeom>
              <a:blipFill rotWithShape="1">
                <a:blip r:embed="rId5" cstate="print"/>
                <a:stretch>
                  <a:fillRect b="-7059"/>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3" name="2 Rectángulo"/>
              <p:cNvSpPr/>
              <p:nvPr/>
            </p:nvSpPr>
            <p:spPr>
              <a:xfrm>
                <a:off x="2990015" y="3401994"/>
                <a:ext cx="2864695" cy="446276"/>
              </a:xfrm>
              <a:prstGeom prst="rect">
                <a:avLst/>
              </a:prstGeom>
            </p:spPr>
            <p:txBody>
              <a:bodyPr wrap="none">
                <a:spAutoFit/>
              </a:bodyPr>
              <a:lstStyle/>
              <a:p>
                <a14:m>
                  <m:oMath xmlns:m="http://schemas.openxmlformats.org/officeDocument/2006/math">
                    <m:sSub>
                      <m:sSubPr>
                        <m:ctrlPr>
                          <a:rPr lang="es-CO" sz="2300" i="1">
                            <a:latin typeface="Cambria Math"/>
                          </a:rPr>
                        </m:ctrlPr>
                      </m:sSubPr>
                      <m:e>
                        <m:r>
                          <a:rPr lang="es-ES" sz="2300" i="1">
                            <a:latin typeface="Cambria Math"/>
                          </a:rPr>
                          <m:t>𝑒</m:t>
                        </m:r>
                      </m:e>
                      <m:sub>
                        <m:r>
                          <a:rPr lang="es-ES" sz="2300" i="1">
                            <a:latin typeface="Cambria Math"/>
                          </a:rPr>
                          <m:t>𝑖</m:t>
                        </m:r>
                      </m:sub>
                    </m:sSub>
                    <m:r>
                      <a:rPr lang="es-ES" sz="2300" i="1">
                        <a:latin typeface="Cambria Math"/>
                      </a:rPr>
                      <m:t>=</m:t>
                    </m:r>
                    <m:sSub>
                      <m:sSubPr>
                        <m:ctrlPr>
                          <a:rPr lang="es-CO" sz="2300" i="1">
                            <a:latin typeface="Cambria Math"/>
                          </a:rPr>
                        </m:ctrlPr>
                      </m:sSubPr>
                      <m:e>
                        <m:r>
                          <a:rPr lang="es-ES" sz="2300" i="1">
                            <a:latin typeface="Cambria Math"/>
                          </a:rPr>
                          <m:t>𝑌</m:t>
                        </m:r>
                      </m:e>
                      <m:sub>
                        <m:r>
                          <a:rPr lang="es-ES" sz="2300" i="1">
                            <a:latin typeface="Cambria Math"/>
                          </a:rPr>
                          <m:t>𝑖</m:t>
                        </m:r>
                      </m:sub>
                    </m:sSub>
                    <m:r>
                      <a:rPr lang="es-ES" sz="2300" i="1">
                        <a:latin typeface="Cambria Math"/>
                      </a:rPr>
                      <m:t>−</m:t>
                    </m:r>
                    <m:r>
                      <a:rPr lang="es-ES" sz="2300" i="1">
                        <a:latin typeface="Cambria Math"/>
                      </a:rPr>
                      <m:t>𝐸</m:t>
                    </m:r>
                    <m:r>
                      <a:rPr lang="es-ES" sz="2300" i="1">
                        <a:latin typeface="Cambria Math"/>
                      </a:rPr>
                      <m:t>[</m:t>
                    </m:r>
                    <m:sSub>
                      <m:sSubPr>
                        <m:ctrlPr>
                          <a:rPr lang="es-CO" sz="2300" i="1">
                            <a:latin typeface="Cambria Math"/>
                          </a:rPr>
                        </m:ctrlPr>
                      </m:sSubPr>
                      <m:e>
                        <m:r>
                          <a:rPr lang="es-ES" sz="2300" i="1">
                            <a:latin typeface="Cambria Math"/>
                          </a:rPr>
                          <m:t>𝑌</m:t>
                        </m:r>
                      </m:e>
                      <m:sub>
                        <m:r>
                          <a:rPr lang="es-ES" sz="2300" i="1">
                            <a:latin typeface="Cambria Math"/>
                          </a:rPr>
                          <m:t>𝑖</m:t>
                        </m:r>
                      </m:sub>
                    </m:sSub>
                    <m:r>
                      <a:rPr lang="es-ES" sz="2300" i="1">
                        <a:latin typeface="Cambria Math"/>
                      </a:rPr>
                      <m:t>|</m:t>
                    </m:r>
                    <m:sSub>
                      <m:sSubPr>
                        <m:ctrlPr>
                          <a:rPr lang="es-CO" sz="2300" i="1">
                            <a:latin typeface="Cambria Math"/>
                          </a:rPr>
                        </m:ctrlPr>
                      </m:sSubPr>
                      <m:e>
                        <m:r>
                          <a:rPr lang="es-ES" sz="2300" i="1">
                            <a:latin typeface="Cambria Math"/>
                          </a:rPr>
                          <m:t>𝐷</m:t>
                        </m:r>
                      </m:e>
                      <m:sub>
                        <m:r>
                          <a:rPr lang="es-ES" sz="2300" i="1">
                            <a:latin typeface="Cambria Math"/>
                          </a:rPr>
                          <m:t>𝑖</m:t>
                        </m:r>
                      </m:sub>
                    </m:sSub>
                    <m:r>
                      <a:rPr lang="es-ES" sz="2300" i="1">
                        <a:latin typeface="Cambria Math"/>
                      </a:rPr>
                      <m:t>,</m:t>
                    </m:r>
                    <m:sSub>
                      <m:sSubPr>
                        <m:ctrlPr>
                          <a:rPr lang="es-CO" sz="2300" i="1">
                            <a:latin typeface="Cambria Math"/>
                          </a:rPr>
                        </m:ctrlPr>
                      </m:sSubPr>
                      <m:e>
                        <m:r>
                          <a:rPr lang="es-ES" sz="2300" i="1">
                            <a:latin typeface="Cambria Math"/>
                          </a:rPr>
                          <m:t>𝑍</m:t>
                        </m:r>
                      </m:e>
                      <m:sub>
                        <m:r>
                          <a:rPr lang="es-ES" sz="2300" i="1">
                            <a:latin typeface="Cambria Math"/>
                          </a:rPr>
                          <m:t>𝑖</m:t>
                        </m:r>
                      </m:sub>
                    </m:sSub>
                    <m:r>
                      <a:rPr lang="es-ES" sz="2300" i="1">
                        <a:latin typeface="Cambria Math"/>
                      </a:rPr>
                      <m:t>]</m:t>
                    </m:r>
                  </m:oMath>
                </a14:m>
                <a:r>
                  <a:rPr lang="es-ES" sz="2300" dirty="0"/>
                  <a:t> </a:t>
                </a:r>
                <a:endParaRPr lang="es-CO" sz="2300" dirty="0"/>
              </a:p>
            </p:txBody>
          </p:sp>
        </mc:Choice>
        <mc:Fallback>
          <p:sp>
            <p:nvSpPr>
              <p:cNvPr id="3" name="2 Rectángulo"/>
              <p:cNvSpPr>
                <a:spLocks noRot="1" noChangeAspect="1" noMove="1" noResize="1" noEditPoints="1" noAdjustHandles="1" noChangeArrowheads="1" noChangeShapeType="1" noTextEdit="1"/>
              </p:cNvSpPr>
              <p:nvPr/>
            </p:nvSpPr>
            <p:spPr>
              <a:xfrm>
                <a:off x="2990015" y="3401994"/>
                <a:ext cx="2864695" cy="446276"/>
              </a:xfrm>
              <a:prstGeom prst="rect">
                <a:avLst/>
              </a:prstGeom>
              <a:blipFill rotWithShape="1">
                <a:blip r:embed="rId6" cstate="print"/>
                <a:stretch>
                  <a:fillRect b="-17808"/>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5" name="4 Rectángulo"/>
              <p:cNvSpPr/>
              <p:nvPr/>
            </p:nvSpPr>
            <p:spPr>
              <a:xfrm>
                <a:off x="2335989" y="3994317"/>
                <a:ext cx="4974823"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sz="2200" i="1">
                          <a:latin typeface="Cambria Math"/>
                        </a:rPr>
                        <m:t>𝑚</m:t>
                      </m:r>
                      <m:d>
                        <m:dPr>
                          <m:ctrlPr>
                            <a:rPr lang="es-CO" sz="2200" i="1">
                              <a:latin typeface="Cambria Math"/>
                            </a:rPr>
                          </m:ctrlPr>
                        </m:dPr>
                        <m:e>
                          <m:r>
                            <a:rPr lang="es-ES" sz="2200" i="1">
                              <a:latin typeface="Cambria Math"/>
                            </a:rPr>
                            <m:t>𝑍</m:t>
                          </m:r>
                        </m:e>
                      </m:d>
                      <m:r>
                        <a:rPr lang="es-ES" sz="2200" i="1">
                          <a:latin typeface="Cambria Math"/>
                        </a:rPr>
                        <m:t>=</m:t>
                      </m:r>
                      <m:r>
                        <a:rPr lang="es-ES" sz="2200" i="1">
                          <a:latin typeface="Cambria Math"/>
                        </a:rPr>
                        <m:t>𝐸</m:t>
                      </m:r>
                      <m:d>
                        <m:dPr>
                          <m:begChr m:val="["/>
                          <m:endChr m:val="]"/>
                          <m:ctrlPr>
                            <a:rPr lang="es-CO" sz="2200" i="1">
                              <a:latin typeface="Cambria Math"/>
                            </a:rPr>
                          </m:ctrlPr>
                        </m:dPr>
                        <m:e>
                          <m:sSub>
                            <m:sSubPr>
                              <m:ctrlPr>
                                <a:rPr lang="es-CO" sz="2200" i="1">
                                  <a:latin typeface="Cambria Math"/>
                                </a:rPr>
                              </m:ctrlPr>
                            </m:sSubPr>
                            <m:e>
                              <m:r>
                                <a:rPr lang="es-ES" sz="2200" i="1">
                                  <a:latin typeface="Cambria Math"/>
                                </a:rPr>
                                <m:t>𝑢</m:t>
                              </m:r>
                            </m:e>
                            <m:sub>
                              <m:r>
                                <a:rPr lang="es-ES" sz="2200" i="1">
                                  <a:latin typeface="Cambria Math"/>
                                </a:rPr>
                                <m:t>𝑖</m:t>
                              </m:r>
                            </m:sub>
                          </m:sSub>
                        </m:e>
                        <m:e>
                          <m:r>
                            <a:rPr lang="es-ES" sz="2200" i="1">
                              <a:latin typeface="Cambria Math"/>
                            </a:rPr>
                            <m:t>𝑍</m:t>
                          </m:r>
                        </m:e>
                      </m:d>
                      <m:r>
                        <a:rPr lang="es-ES" sz="2200" i="1">
                          <a:latin typeface="Cambria Math"/>
                        </a:rPr>
                        <m:t>+(</m:t>
                      </m:r>
                      <m:r>
                        <a:rPr lang="es-ES" sz="2200" i="1">
                          <a:latin typeface="Cambria Math"/>
                        </a:rPr>
                        <m:t>𝐸</m:t>
                      </m:r>
                      <m:d>
                        <m:dPr>
                          <m:begChr m:val="["/>
                          <m:endChr m:val="]"/>
                          <m:ctrlPr>
                            <a:rPr lang="es-CO" sz="2200" i="1">
                              <a:latin typeface="Cambria Math"/>
                            </a:rPr>
                          </m:ctrlPr>
                        </m:dPr>
                        <m:e>
                          <m:sSub>
                            <m:sSubPr>
                              <m:ctrlPr>
                                <a:rPr lang="es-CO" sz="2200" i="1">
                                  <a:latin typeface="Cambria Math"/>
                                </a:rPr>
                              </m:ctrlPr>
                            </m:sSubPr>
                            <m:e>
                              <m:r>
                                <a:rPr lang="es-ES" sz="2200" i="1">
                                  <a:latin typeface="Cambria Math"/>
                                </a:rPr>
                                <m:t>𝜏</m:t>
                              </m:r>
                            </m:e>
                            <m:sub>
                              <m:r>
                                <a:rPr lang="es-ES" sz="2200" i="1">
                                  <a:latin typeface="Cambria Math"/>
                                </a:rPr>
                                <m:t>𝑖</m:t>
                              </m:r>
                            </m:sub>
                          </m:sSub>
                        </m:e>
                        <m:e>
                          <m:r>
                            <a:rPr lang="es-ES" sz="2200" i="1">
                              <a:latin typeface="Cambria Math"/>
                            </a:rPr>
                            <m:t>𝑍</m:t>
                          </m:r>
                        </m:e>
                      </m:d>
                      <m:r>
                        <a:rPr lang="es-ES" sz="2200" i="1">
                          <a:latin typeface="Cambria Math"/>
                        </a:rPr>
                        <m:t>−</m:t>
                      </m:r>
                      <m:r>
                        <a:rPr lang="es-ES" sz="2200" i="1">
                          <a:latin typeface="Cambria Math"/>
                        </a:rPr>
                        <m:t>𝐸</m:t>
                      </m:r>
                      <m:d>
                        <m:dPr>
                          <m:begChr m:val="["/>
                          <m:endChr m:val="]"/>
                          <m:ctrlPr>
                            <a:rPr lang="es-CO" sz="2200" i="1">
                              <a:latin typeface="Cambria Math"/>
                            </a:rPr>
                          </m:ctrlPr>
                        </m:dPr>
                        <m:e>
                          <m:sSub>
                            <m:sSubPr>
                              <m:ctrlPr>
                                <a:rPr lang="es-CO" sz="2200" i="1">
                                  <a:latin typeface="Cambria Math"/>
                                </a:rPr>
                              </m:ctrlPr>
                            </m:sSubPr>
                            <m:e>
                              <m:r>
                                <a:rPr lang="es-ES" sz="2200" i="1">
                                  <a:latin typeface="Cambria Math"/>
                                </a:rPr>
                                <m:t>𝜏</m:t>
                              </m:r>
                            </m:e>
                            <m:sub>
                              <m:r>
                                <a:rPr lang="es-ES" sz="2200" i="1">
                                  <a:latin typeface="Cambria Math"/>
                                </a:rPr>
                                <m:t>𝑖</m:t>
                              </m:r>
                            </m:sub>
                          </m:sSub>
                        </m:e>
                        <m:e>
                          <m:acc>
                            <m:accPr>
                              <m:chr m:val="̅"/>
                              <m:ctrlPr>
                                <a:rPr lang="es-CO" sz="2200" i="1">
                                  <a:latin typeface="Cambria Math"/>
                                </a:rPr>
                              </m:ctrlPr>
                            </m:accPr>
                            <m:e>
                              <m:r>
                                <a:rPr lang="es-ES" sz="2200" i="1">
                                  <a:latin typeface="Cambria Math"/>
                                </a:rPr>
                                <m:t>𝑍</m:t>
                              </m:r>
                            </m:e>
                          </m:acc>
                        </m:e>
                      </m:d>
                      <m:r>
                        <a:rPr lang="es-ES" sz="2200" i="1">
                          <a:latin typeface="Cambria Math"/>
                        </a:rPr>
                        <m:t>)</m:t>
                      </m:r>
                      <m:sSub>
                        <m:sSubPr>
                          <m:ctrlPr>
                            <a:rPr lang="es-CO" sz="2200" i="1">
                              <a:latin typeface="Cambria Math"/>
                            </a:rPr>
                          </m:ctrlPr>
                        </m:sSubPr>
                        <m:e>
                          <m:r>
                            <a:rPr lang="es-ES" sz="2200" i="1">
                              <a:latin typeface="Cambria Math"/>
                            </a:rPr>
                            <m:t>𝐷</m:t>
                          </m:r>
                        </m:e>
                        <m:sub>
                          <m:r>
                            <a:rPr lang="es-ES" sz="2200" i="1">
                              <a:latin typeface="Cambria Math"/>
                            </a:rPr>
                            <m:t>𝑖</m:t>
                          </m:r>
                        </m:sub>
                      </m:sSub>
                    </m:oMath>
                  </m:oMathPara>
                </a14:m>
                <a:endParaRPr lang="es-CO" sz="2200" dirty="0"/>
              </a:p>
            </p:txBody>
          </p:sp>
        </mc:Choice>
        <mc:Fallback>
          <p:sp>
            <p:nvSpPr>
              <p:cNvPr id="5" name="4 Rectángulo"/>
              <p:cNvSpPr>
                <a:spLocks noRot="1" noChangeAspect="1" noMove="1" noResize="1" noEditPoints="1" noAdjustHandles="1" noChangeArrowheads="1" noChangeShapeType="1" noTextEdit="1"/>
              </p:cNvSpPr>
              <p:nvPr/>
            </p:nvSpPr>
            <p:spPr>
              <a:xfrm>
                <a:off x="2335989" y="3994317"/>
                <a:ext cx="4974823" cy="430887"/>
              </a:xfrm>
              <a:prstGeom prst="rect">
                <a:avLst/>
              </a:prstGeom>
              <a:blipFill rotWithShape="1">
                <a:blip r:embed="rId7" cstate="print"/>
                <a:stretch>
                  <a:fillRect b="-15493"/>
                </a:stretch>
              </a:blipFill>
            </p:spPr>
            <p:txBody>
              <a:bodyPr/>
              <a:lstStyle/>
              <a:p>
                <a:r>
                  <a:rPr lang="es-CO">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1742094"/>
                <a:ext cx="8229600" cy="4525963"/>
              </a:xfrm>
            </p:spPr>
            <p:txBody>
              <a:bodyPr>
                <a:normAutofit lnSpcReduction="10000"/>
              </a:bodyPr>
              <a:lstStyle/>
              <a:p>
                <a:r>
                  <a:rPr lang="es-MX" sz="2600" dirty="0" smtClean="0">
                    <a:solidFill>
                      <a:schemeClr val="accent5">
                        <a:lumMod val="75000"/>
                      </a:schemeClr>
                    </a:solidFill>
                  </a:rPr>
                  <a:t>El efecto del programa puede estimarse por medio de: </a:t>
                </a:r>
              </a:p>
              <a:p>
                <a:pPr marL="0" indent="0">
                  <a:buNone/>
                </a:pPr>
                <a:endParaRPr lang="es-CO" sz="2800" i="1" dirty="0" smtClean="0"/>
              </a:p>
              <a:p>
                <a:pPr marL="0" indent="0">
                  <a:buNone/>
                </a:pPr>
                <a14:m>
                  <m:oMathPara xmlns:m="http://schemas.openxmlformats.org/officeDocument/2006/math">
                    <m:oMathParaPr>
                      <m:jc m:val="centerGroup"/>
                    </m:oMathParaPr>
                    <m:oMath xmlns:m="http://schemas.openxmlformats.org/officeDocument/2006/math">
                      <m:sSub>
                        <m:sSubPr>
                          <m:ctrlPr>
                            <a:rPr lang="es-CO" sz="2800" i="1">
                              <a:latin typeface="Cambria Math"/>
                            </a:rPr>
                          </m:ctrlPr>
                        </m:sSubPr>
                        <m:e>
                          <m:r>
                            <a:rPr lang="es-ES" sz="2800" i="1">
                              <a:latin typeface="Cambria Math"/>
                            </a:rPr>
                            <m:t>𝑌</m:t>
                          </m:r>
                        </m:e>
                        <m:sub>
                          <m:r>
                            <a:rPr lang="es-ES" sz="2800" i="1">
                              <a:latin typeface="Cambria Math"/>
                            </a:rPr>
                            <m:t>𝑖</m:t>
                          </m:r>
                        </m:sub>
                      </m:sSub>
                      <m:r>
                        <a:rPr lang="es-ES" sz="2800" i="1">
                          <a:latin typeface="Cambria Math"/>
                        </a:rPr>
                        <m:t>=</m:t>
                      </m:r>
                      <m:r>
                        <a:rPr lang="es-ES" sz="2800" i="1">
                          <a:latin typeface="Cambria Math"/>
                        </a:rPr>
                        <m:t>𝑚</m:t>
                      </m:r>
                      <m:d>
                        <m:dPr>
                          <m:ctrlPr>
                            <a:rPr lang="es-CO" sz="2800" i="1">
                              <a:latin typeface="Cambria Math"/>
                            </a:rPr>
                          </m:ctrlPr>
                        </m:dPr>
                        <m:e>
                          <m:sSub>
                            <m:sSubPr>
                              <m:ctrlPr>
                                <a:rPr lang="es-CO" sz="2800" i="1">
                                  <a:latin typeface="Cambria Math"/>
                                </a:rPr>
                              </m:ctrlPr>
                            </m:sSubPr>
                            <m:e>
                              <m:r>
                                <a:rPr lang="es-ES" sz="2800" i="1">
                                  <a:latin typeface="Cambria Math"/>
                                </a:rPr>
                                <m:t>𝑍</m:t>
                              </m:r>
                            </m:e>
                            <m:sub>
                              <m:r>
                                <a:rPr lang="es-ES" sz="2800" i="1">
                                  <a:latin typeface="Cambria Math"/>
                                </a:rPr>
                                <m:t>𝑖</m:t>
                              </m:r>
                            </m:sub>
                          </m:sSub>
                        </m:e>
                      </m:d>
                      <m:r>
                        <a:rPr lang="es-ES" sz="2800" i="1">
                          <a:latin typeface="Cambria Math"/>
                        </a:rPr>
                        <m:t>+</m:t>
                      </m:r>
                      <m:sSub>
                        <m:sSubPr>
                          <m:ctrlPr>
                            <a:rPr lang="es-CO" sz="2800" i="1">
                              <a:latin typeface="Cambria Math"/>
                            </a:rPr>
                          </m:ctrlPr>
                        </m:sSubPr>
                        <m:e>
                          <m:r>
                            <a:rPr lang="es-ES" sz="2800" i="1">
                              <a:latin typeface="Cambria Math"/>
                            </a:rPr>
                            <m:t>𝛽</m:t>
                          </m:r>
                        </m:e>
                        <m:sub>
                          <m:r>
                            <a:rPr lang="es-ES" sz="2800" i="1">
                              <a:latin typeface="Cambria Math"/>
                            </a:rPr>
                            <m:t>1</m:t>
                          </m:r>
                        </m:sub>
                      </m:sSub>
                      <m:sSub>
                        <m:sSubPr>
                          <m:ctrlPr>
                            <a:rPr lang="es-CO" sz="2800" i="1">
                              <a:latin typeface="Cambria Math"/>
                            </a:rPr>
                          </m:ctrlPr>
                        </m:sSubPr>
                        <m:e>
                          <m:r>
                            <a:rPr lang="es-ES" sz="2800" i="1">
                              <a:latin typeface="Cambria Math"/>
                            </a:rPr>
                            <m:t>𝐸</m:t>
                          </m:r>
                          <m:r>
                            <a:rPr lang="es-ES" sz="2800" i="1">
                              <a:latin typeface="Cambria Math"/>
                            </a:rPr>
                            <m:t>[</m:t>
                          </m:r>
                          <m:r>
                            <a:rPr lang="es-ES" sz="2800" i="1">
                              <a:latin typeface="Cambria Math"/>
                            </a:rPr>
                            <m:t>𝐷</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𝑍</m:t>
                          </m:r>
                        </m:e>
                        <m:sub>
                          <m:r>
                            <a:rPr lang="es-ES" sz="2800" i="1">
                              <a:latin typeface="Cambria Math"/>
                            </a:rPr>
                            <m:t>𝑖</m:t>
                          </m:r>
                        </m:sub>
                      </m:sSub>
                      <m:r>
                        <a:rPr lang="es-ES" sz="2800" i="1">
                          <a:latin typeface="Cambria Math"/>
                        </a:rPr>
                        <m:t>]+</m:t>
                      </m:r>
                      <m:sSub>
                        <m:sSubPr>
                          <m:ctrlPr>
                            <a:rPr lang="es-CO" sz="2800" i="1">
                              <a:latin typeface="Cambria Math"/>
                            </a:rPr>
                          </m:ctrlPr>
                        </m:sSubPr>
                        <m:e>
                          <m:r>
                            <a:rPr lang="es-ES" sz="2800" i="1">
                              <a:latin typeface="Cambria Math"/>
                            </a:rPr>
                            <m:t>𝜔</m:t>
                          </m:r>
                        </m:e>
                        <m:sub>
                          <m:r>
                            <a:rPr lang="es-ES" sz="2800" i="1">
                              <a:latin typeface="Cambria Math"/>
                            </a:rPr>
                            <m:t>𝑖</m:t>
                          </m:r>
                        </m:sub>
                      </m:sSub>
                    </m:oMath>
                  </m:oMathPara>
                </a14:m>
                <a:endParaRPr lang="es-MX" sz="2600" dirty="0" smtClean="0">
                  <a:solidFill>
                    <a:schemeClr val="accent5">
                      <a:lumMod val="75000"/>
                    </a:schemeClr>
                  </a:solidFill>
                </a:endParaRPr>
              </a:p>
              <a:p>
                <a:endParaRPr lang="es-MX" sz="2600" dirty="0" smtClean="0">
                  <a:solidFill>
                    <a:schemeClr val="accent5">
                      <a:lumMod val="75000"/>
                    </a:schemeClr>
                  </a:solidFill>
                </a:endParaRPr>
              </a:p>
              <a:p>
                <a:pPr>
                  <a:buNone/>
                </a:pPr>
                <a:r>
                  <a:rPr lang="es-MX" sz="2600" dirty="0" smtClean="0"/>
                  <a:t>	Donde :</a:t>
                </a:r>
              </a:p>
              <a:p>
                <a:pPr>
                  <a:buNone/>
                </a:pPr>
                <a:r>
                  <a:rPr lang="es-MX" sz="2600" dirty="0" smtClean="0"/>
                  <a:t>	</a:t>
                </a:r>
                <a:r>
                  <a:rPr lang="es-MX" sz="2500" i="1" dirty="0" smtClean="0">
                    <a:solidFill>
                      <a:schemeClr val="accent5">
                        <a:lumMod val="75000"/>
                      </a:schemeClr>
                    </a:solidFill>
                    <a:latin typeface="Times New Roman" pitchFamily="18" charset="0"/>
                    <a:cs typeface="Times New Roman" pitchFamily="18" charset="0"/>
                  </a:rPr>
                  <a:t>m(Z)</a:t>
                </a:r>
                <a:r>
                  <a:rPr lang="es-MX" sz="2600" dirty="0" smtClean="0">
                    <a:solidFill>
                      <a:schemeClr val="accent5">
                        <a:lumMod val="75000"/>
                      </a:schemeClr>
                    </a:solidFill>
                  </a:rPr>
                  <a:t>:</a:t>
                </a:r>
                <a:r>
                  <a:rPr lang="es-MX" sz="2600" dirty="0" smtClean="0"/>
                  <a:t> Es una función continua de </a:t>
                </a:r>
                <a:r>
                  <a:rPr lang="es-MX" sz="2600" i="1" dirty="0" smtClean="0"/>
                  <a:t>z</a:t>
                </a:r>
                <a:r>
                  <a:rPr lang="es-MX" sz="2600" dirty="0" smtClean="0"/>
                  <a:t> en </a:t>
                </a:r>
                <a14:m>
                  <m:oMath xmlns:m="http://schemas.openxmlformats.org/officeDocument/2006/math">
                    <m:acc>
                      <m:accPr>
                        <m:chr m:val="̅"/>
                        <m:ctrlPr>
                          <a:rPr lang="es-MX" sz="2600" i="1" smtClean="0">
                            <a:latin typeface="Cambria Math"/>
                          </a:rPr>
                        </m:ctrlPr>
                      </m:accPr>
                      <m:e>
                        <m:r>
                          <a:rPr lang="es-CO" sz="2600" b="0" i="1" smtClean="0">
                            <a:latin typeface="Cambria Math"/>
                          </a:rPr>
                          <m:t>𝑍</m:t>
                        </m:r>
                      </m:e>
                    </m:acc>
                  </m:oMath>
                </a14:m>
                <a:r>
                  <a:rPr lang="es-MX" sz="2600" dirty="0" smtClean="0"/>
                  <a:t>.</a:t>
                </a:r>
              </a:p>
              <a:p>
                <a:pPr>
                  <a:buNone/>
                </a:pPr>
                <a:r>
                  <a:rPr lang="es-MX" sz="2600" dirty="0" smtClean="0">
                    <a:solidFill>
                      <a:schemeClr val="accent5">
                        <a:lumMod val="75000"/>
                      </a:schemeClr>
                    </a:solidFill>
                  </a:rPr>
                  <a:t>	</a:t>
                </a:r>
                <a:r>
                  <a:rPr lang="es-MX" sz="2600" i="1" dirty="0" smtClean="0">
                    <a:solidFill>
                      <a:schemeClr val="accent5">
                        <a:lumMod val="75000"/>
                      </a:schemeClr>
                    </a:solidFill>
                    <a:latin typeface="Times New Roman" pitchFamily="18" charset="0"/>
                    <a:cs typeface="Times New Roman" pitchFamily="18" charset="0"/>
                  </a:rPr>
                  <a:t>E</a:t>
                </a:r>
                <a:r>
                  <a:rPr lang="es-MX" sz="2600" dirty="0" smtClean="0">
                    <a:solidFill>
                      <a:schemeClr val="accent5">
                        <a:lumMod val="75000"/>
                      </a:schemeClr>
                    </a:solidFill>
                    <a:latin typeface="Times New Roman" pitchFamily="18" charset="0"/>
                    <a:cs typeface="Times New Roman" pitchFamily="18" charset="0"/>
                  </a:rPr>
                  <a:t>[</a:t>
                </a:r>
                <a:r>
                  <a:rPr lang="es-MX" sz="2600" i="1" dirty="0" smtClean="0">
                    <a:solidFill>
                      <a:schemeClr val="accent5">
                        <a:lumMod val="75000"/>
                      </a:schemeClr>
                    </a:solidFill>
                    <a:latin typeface="Times New Roman" pitchFamily="18" charset="0"/>
                    <a:cs typeface="Times New Roman" pitchFamily="18" charset="0"/>
                  </a:rPr>
                  <a:t>D</a:t>
                </a:r>
                <a:r>
                  <a:rPr lang="es-MX" sz="2000" i="1" baseline="-25000" dirty="0" smtClean="0">
                    <a:solidFill>
                      <a:schemeClr val="accent5">
                        <a:lumMod val="75000"/>
                      </a:schemeClr>
                    </a:solidFill>
                    <a:latin typeface="Times New Roman" pitchFamily="18" charset="0"/>
                    <a:cs typeface="Times New Roman" pitchFamily="18" charset="0"/>
                  </a:rPr>
                  <a:t>i</a:t>
                </a:r>
                <a:r>
                  <a:rPr lang="es-MX" sz="2600" i="1" dirty="0" smtClean="0">
                    <a:solidFill>
                      <a:schemeClr val="accent5">
                        <a:lumMod val="75000"/>
                      </a:schemeClr>
                    </a:solidFill>
                    <a:latin typeface="Times New Roman" pitchFamily="18" charset="0"/>
                    <a:cs typeface="Times New Roman" pitchFamily="18" charset="0"/>
                  </a:rPr>
                  <a:t>|Z</a:t>
                </a:r>
                <a:r>
                  <a:rPr lang="es-MX" sz="2000" i="1" baseline="-25000" dirty="0" smtClean="0">
                    <a:solidFill>
                      <a:schemeClr val="accent5">
                        <a:lumMod val="75000"/>
                      </a:schemeClr>
                    </a:solidFill>
                    <a:latin typeface="Times New Roman" pitchFamily="18" charset="0"/>
                    <a:cs typeface="Times New Roman" pitchFamily="18" charset="0"/>
                  </a:rPr>
                  <a:t>i</a:t>
                </a:r>
                <a:r>
                  <a:rPr lang="es-MX" sz="2600" dirty="0" smtClean="0">
                    <a:solidFill>
                      <a:schemeClr val="accent5">
                        <a:lumMod val="75000"/>
                      </a:schemeClr>
                    </a:solidFill>
                    <a:latin typeface="Times New Roman" pitchFamily="18" charset="0"/>
                    <a:cs typeface="Times New Roman" pitchFamily="18" charset="0"/>
                  </a:rPr>
                  <a:t>]</a:t>
                </a:r>
                <a:r>
                  <a:rPr lang="es-MX" sz="2600" dirty="0" smtClean="0">
                    <a:solidFill>
                      <a:schemeClr val="accent5">
                        <a:lumMod val="75000"/>
                      </a:schemeClr>
                    </a:solidFill>
                  </a:rPr>
                  <a:t>:</a:t>
                </a:r>
                <a:r>
                  <a:rPr lang="es-MX" sz="2600" dirty="0" smtClean="0"/>
                  <a:t> Es discontinuo en el umbral. </a:t>
                </a:r>
              </a:p>
              <a:p>
                <a:pPr>
                  <a:buNone/>
                </a:pPr>
                <a:r>
                  <a:rPr lang="es-MX" sz="2600" dirty="0" smtClean="0"/>
                  <a:t>	</a:t>
                </a:r>
                <a:r>
                  <a:rPr lang="es-MX" sz="2600" i="1" dirty="0" smtClean="0">
                    <a:solidFill>
                      <a:schemeClr val="accent5">
                        <a:lumMod val="75000"/>
                      </a:schemeClr>
                    </a:solidFill>
                    <a:latin typeface="Symbol" pitchFamily="18" charset="2"/>
                  </a:rPr>
                  <a:t>b</a:t>
                </a:r>
                <a:r>
                  <a:rPr lang="es-MX" sz="2000" i="1" baseline="-25000" dirty="0" smtClean="0">
                    <a:solidFill>
                      <a:schemeClr val="accent5">
                        <a:lumMod val="75000"/>
                      </a:schemeClr>
                    </a:solidFill>
                  </a:rPr>
                  <a:t>1</a:t>
                </a:r>
                <a:r>
                  <a:rPr lang="es-MX" sz="2600" dirty="0" smtClean="0">
                    <a:solidFill>
                      <a:schemeClr val="accent5">
                        <a:lumMod val="75000"/>
                      </a:schemeClr>
                    </a:solidFill>
                  </a:rPr>
                  <a:t>:</a:t>
                </a:r>
                <a:r>
                  <a:rPr lang="es-MX" sz="2600" dirty="0" smtClean="0"/>
                  <a:t> Efecto promedio del tratamiento en el umbral o el efecto local promedio dependiendo del supuesto adaptado. </a:t>
                </a:r>
                <a:endParaRPr lang="en-US" sz="26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1742094"/>
                <a:ext cx="8229600" cy="4525963"/>
              </a:xfrm>
              <a:blipFill rotWithShape="1">
                <a:blip r:embed="rId2" cstate="print"/>
                <a:stretch>
                  <a:fillRect l="-1111" t="-2022"/>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307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24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 name="8 Título"/>
          <p:cNvSpPr>
            <a:spLocks noGrp="1"/>
          </p:cNvSpPr>
          <p:nvPr>
            <p:ph type="title"/>
          </p:nvPr>
        </p:nvSpPr>
        <p:spPr>
          <a:xfrm>
            <a:off x="2557462" y="285728"/>
            <a:ext cx="6129337" cy="1131910"/>
          </a:xfrm>
        </p:spPr>
        <p:txBody>
          <a:bodyPr>
            <a:normAutofit fontScale="90000"/>
          </a:bodyPr>
          <a:lstStyle/>
          <a:p>
            <a:r>
              <a:rPr lang="es-MX" u="sng" dirty="0" smtClean="0"/>
              <a:t>Implementación empírica:</a:t>
            </a:r>
            <a:br>
              <a:rPr lang="es-MX" u="sng" dirty="0" smtClean="0"/>
            </a:br>
            <a:r>
              <a:rPr lang="es-MX" sz="4000" dirty="0" smtClean="0"/>
              <a:t>Estimación paramétrica de RDN</a:t>
            </a:r>
            <a:endParaRPr lang="en-US" sz="4000" dirty="0"/>
          </a:p>
        </p:txBody>
      </p:sp>
      <p:sp>
        <p:nvSpPr>
          <p:cNvPr id="14" name="13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48</a:t>
            </a:fld>
            <a:endParaRPr lang="es-ES" sz="1500" dirty="0">
              <a:solidFill>
                <a:schemeClr val="tx1">
                  <a:lumMod val="50000"/>
                  <a:lumOff val="50000"/>
                </a:schemeClr>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1844566"/>
                <a:ext cx="8229600" cy="4281597"/>
              </a:xfrm>
            </p:spPr>
            <p:txBody>
              <a:bodyPr/>
              <a:lstStyle/>
              <a:p>
                <a:r>
                  <a:rPr lang="es-MX" dirty="0" smtClean="0">
                    <a:solidFill>
                      <a:schemeClr val="accent5">
                        <a:lumMod val="75000"/>
                      </a:schemeClr>
                    </a:solidFill>
                  </a:rPr>
                  <a:t>Estimación en dos etapas:</a:t>
                </a:r>
              </a:p>
              <a:p>
                <a:pPr lvl="1"/>
                <a:r>
                  <a:rPr lang="es-MX" dirty="0" smtClean="0"/>
                  <a:t>Primera etapa </a:t>
                </a:r>
                <a:r>
                  <a:rPr lang="es-MX" dirty="0" smtClean="0">
                    <a:sym typeface="Wingdings" pitchFamily="2" charset="2"/>
                  </a:rPr>
                  <a:t> P</a:t>
                </a:r>
                <a:r>
                  <a:rPr lang="es-MX" dirty="0" smtClean="0"/>
                  <a:t>robabilidad de participación</a:t>
                </a:r>
              </a:p>
              <a:p>
                <a:pPr lvl="1"/>
                <a:endParaRPr lang="es-MX" dirty="0" smtClean="0"/>
              </a:p>
              <a:p>
                <a:pPr lvl="1"/>
                <a:endParaRPr lang="es-MX" dirty="0" smtClean="0"/>
              </a:p>
              <a:p>
                <a:pPr lvl="1">
                  <a:buNone/>
                </a:pPr>
                <a:r>
                  <a:rPr lang="es-MX" dirty="0" smtClean="0"/>
                  <a:t>	</a:t>
                </a:r>
                <a:r>
                  <a:rPr lang="el-GR" dirty="0" smtClean="0">
                    <a:solidFill>
                      <a:schemeClr val="accent5">
                        <a:lumMod val="75000"/>
                      </a:schemeClr>
                    </a:solidFill>
                  </a:rPr>
                  <a:t>γ</a:t>
                </a:r>
                <a:r>
                  <a:rPr lang="es-MX" dirty="0" smtClean="0">
                    <a:solidFill>
                      <a:schemeClr val="accent5">
                        <a:lumMod val="75000"/>
                      </a:schemeClr>
                    </a:solidFill>
                  </a:rPr>
                  <a:t>: </a:t>
                </a:r>
                <a:r>
                  <a:rPr lang="es-MX" dirty="0" smtClean="0"/>
                  <a:t>Mide la discontinuidad de la probabilidad de participación en </a:t>
                </a:r>
                <a14:m>
                  <m:oMath xmlns:m="http://schemas.openxmlformats.org/officeDocument/2006/math">
                    <m:acc>
                      <m:accPr>
                        <m:chr m:val="̅"/>
                        <m:ctrlPr>
                          <a:rPr lang="es-MX" i="1" smtClean="0">
                            <a:latin typeface="Cambria Math"/>
                          </a:rPr>
                        </m:ctrlPr>
                      </m:accPr>
                      <m:e>
                        <m:r>
                          <a:rPr lang="es-CO" b="0" i="1" smtClean="0">
                            <a:latin typeface="Cambria Math"/>
                          </a:rPr>
                          <m:t>𝑍</m:t>
                        </m:r>
                      </m:e>
                    </m:acc>
                  </m:oMath>
                </a14:m>
                <a:r>
                  <a:rPr lang="es-MX" dirty="0" smtClean="0"/>
                  <a:t>.</a:t>
                </a:r>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1844566"/>
                <a:ext cx="8229600" cy="4281597"/>
              </a:xfrm>
              <a:blipFill rotWithShape="1">
                <a:blip r:embed="rId2" cstate="print"/>
                <a:stretch>
                  <a:fillRect l="-1630" t="-1852"/>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40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02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69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14" name="8 Título"/>
          <p:cNvSpPr txBox="1">
            <a:spLocks/>
          </p:cNvSpPr>
          <p:nvPr/>
        </p:nvSpPr>
        <p:spPr>
          <a:xfrm>
            <a:off x="2557462" y="285728"/>
            <a:ext cx="6129337" cy="1131910"/>
          </a:xfrm>
          <a:prstGeom prst="rect">
            <a:avLst/>
          </a:prstGeom>
        </p:spPr>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MX" sz="4400" b="0" i="0" u="sng" strike="noStrike" kern="1200" cap="none" spc="0" normalizeH="0" baseline="0" noProof="0" dirty="0" smtClean="0">
                <a:ln>
                  <a:noFill/>
                </a:ln>
                <a:solidFill>
                  <a:schemeClr val="tx1"/>
                </a:solidFill>
                <a:effectLst/>
                <a:uLnTx/>
                <a:uFillTx/>
                <a:latin typeface="+mj-lt"/>
                <a:ea typeface="+mj-ea"/>
                <a:cs typeface="+mj-cs"/>
              </a:rPr>
              <a:t>Implementación empírica:</a:t>
            </a:r>
            <a:br>
              <a:rPr kumimoji="0" lang="es-MX" sz="4400" b="0" i="0" u="sng" strike="noStrike" kern="1200" cap="none" spc="0" normalizeH="0" baseline="0" noProof="0" dirty="0" smtClean="0">
                <a:ln>
                  <a:noFill/>
                </a:ln>
                <a:solidFill>
                  <a:schemeClr val="tx1"/>
                </a:solidFill>
                <a:effectLst/>
                <a:uLnTx/>
                <a:uFillTx/>
                <a:latin typeface="+mj-lt"/>
                <a:ea typeface="+mj-ea"/>
                <a:cs typeface="+mj-cs"/>
              </a:rPr>
            </a:br>
            <a:r>
              <a:rPr kumimoji="0" lang="es-MX" sz="4000" b="0" i="0" u="none" strike="noStrike" kern="1200" cap="none" spc="0" normalizeH="0" baseline="0" noProof="0" dirty="0" smtClean="0">
                <a:ln>
                  <a:noFill/>
                </a:ln>
                <a:solidFill>
                  <a:schemeClr val="tx1"/>
                </a:solidFill>
                <a:effectLst/>
                <a:uLnTx/>
                <a:uFillTx/>
                <a:latin typeface="+mj-lt"/>
                <a:ea typeface="+mj-ea"/>
                <a:cs typeface="+mj-cs"/>
              </a:rPr>
              <a:t>Estimación paramétrica de RDB</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49</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1440870" y="3228568"/>
                <a:ext cx="6542945" cy="4924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600" i="1">
                              <a:latin typeface="Cambria Math"/>
                            </a:rPr>
                          </m:ctrlPr>
                        </m:sSubPr>
                        <m:e>
                          <m:r>
                            <a:rPr lang="es-CO" sz="2600" i="1">
                              <a:latin typeface="Cambria Math"/>
                            </a:rPr>
                            <m:t>𝐷</m:t>
                          </m:r>
                        </m:e>
                        <m:sub>
                          <m:r>
                            <a:rPr lang="es-CO" sz="2600" i="1">
                              <a:latin typeface="Cambria Math"/>
                            </a:rPr>
                            <m:t>𝑖</m:t>
                          </m:r>
                        </m:sub>
                      </m:sSub>
                      <m:r>
                        <a:rPr lang="es-CO" sz="2600" i="1">
                          <a:latin typeface="Cambria Math"/>
                        </a:rPr>
                        <m:t>=</m:t>
                      </m:r>
                      <m:r>
                        <a:rPr lang="es-CO" sz="2600" i="1">
                          <a:latin typeface="Cambria Math"/>
                        </a:rPr>
                        <m:t>𝐸</m:t>
                      </m:r>
                      <m:d>
                        <m:dPr>
                          <m:begChr m:val="["/>
                          <m:endChr m:val="]"/>
                          <m:ctrlPr>
                            <a:rPr lang="es-CO" sz="2600" i="1">
                              <a:latin typeface="Cambria Math"/>
                            </a:rPr>
                          </m:ctrlPr>
                        </m:dPr>
                        <m:e>
                          <m:sSub>
                            <m:sSubPr>
                              <m:ctrlPr>
                                <a:rPr lang="es-CO" sz="2600" i="1">
                                  <a:latin typeface="Cambria Math"/>
                                </a:rPr>
                              </m:ctrlPr>
                            </m:sSubPr>
                            <m:e>
                              <m:r>
                                <a:rPr lang="es-CO" sz="2600" i="1">
                                  <a:latin typeface="Cambria Math"/>
                                </a:rPr>
                                <m:t>𝐷</m:t>
                              </m:r>
                            </m:e>
                            <m:sub>
                              <m:r>
                                <a:rPr lang="es-CO" sz="2600" i="1">
                                  <a:latin typeface="Cambria Math"/>
                                </a:rPr>
                                <m:t>𝑖</m:t>
                              </m:r>
                            </m:sub>
                          </m:sSub>
                          <m:r>
                            <a:rPr lang="es-CO" sz="2600" i="1">
                              <a:latin typeface="Cambria Math"/>
                            </a:rPr>
                            <m:t>|</m:t>
                          </m:r>
                          <m:sSub>
                            <m:sSubPr>
                              <m:ctrlPr>
                                <a:rPr lang="es-CO" sz="2600" i="1">
                                  <a:latin typeface="Cambria Math"/>
                                </a:rPr>
                              </m:ctrlPr>
                            </m:sSubPr>
                            <m:e>
                              <m:r>
                                <a:rPr lang="es-CO" sz="2600" i="1">
                                  <a:latin typeface="Cambria Math"/>
                                </a:rPr>
                                <m:t>𝑍</m:t>
                              </m:r>
                            </m:e>
                            <m:sub>
                              <m:r>
                                <a:rPr lang="es-CO" sz="2600" i="1">
                                  <a:latin typeface="Cambria Math"/>
                                </a:rPr>
                                <m:t>𝑖</m:t>
                              </m:r>
                            </m:sub>
                          </m:sSub>
                        </m:e>
                      </m:d>
                      <m:r>
                        <a:rPr lang="es-CO" sz="2600" i="1">
                          <a:latin typeface="Cambria Math"/>
                        </a:rPr>
                        <m:t>+</m:t>
                      </m:r>
                      <m:sSub>
                        <m:sSubPr>
                          <m:ctrlPr>
                            <a:rPr lang="es-CO" sz="2600" i="1">
                              <a:latin typeface="Cambria Math"/>
                            </a:rPr>
                          </m:ctrlPr>
                        </m:sSubPr>
                        <m:e>
                          <m:r>
                            <a:rPr lang="es-CO" sz="2600" i="1">
                              <a:latin typeface="Cambria Math"/>
                            </a:rPr>
                            <m:t>𝑣</m:t>
                          </m:r>
                        </m:e>
                        <m:sub>
                          <m:r>
                            <a:rPr lang="es-CO" sz="2600" i="1">
                              <a:latin typeface="Cambria Math"/>
                            </a:rPr>
                            <m:t>𝑖</m:t>
                          </m:r>
                        </m:sub>
                      </m:sSub>
                      <m:r>
                        <a:rPr lang="es-CO" sz="2600" i="1">
                          <a:latin typeface="Cambria Math"/>
                        </a:rPr>
                        <m:t>=</m:t>
                      </m:r>
                      <m:r>
                        <a:rPr lang="es-CO" sz="2600" i="1">
                          <a:latin typeface="Cambria Math"/>
                        </a:rPr>
                        <m:t>𝑓</m:t>
                      </m:r>
                      <m:d>
                        <m:dPr>
                          <m:ctrlPr>
                            <a:rPr lang="es-CO" sz="2600" i="1">
                              <a:latin typeface="Cambria Math"/>
                            </a:rPr>
                          </m:ctrlPr>
                        </m:dPr>
                        <m:e>
                          <m:sSub>
                            <m:sSubPr>
                              <m:ctrlPr>
                                <a:rPr lang="es-CO" sz="2600" i="1">
                                  <a:latin typeface="Cambria Math"/>
                                </a:rPr>
                              </m:ctrlPr>
                            </m:sSubPr>
                            <m:e>
                              <m:r>
                                <a:rPr lang="es-CO" sz="2600" i="1">
                                  <a:latin typeface="Cambria Math"/>
                                </a:rPr>
                                <m:t>𝑍</m:t>
                              </m:r>
                            </m:e>
                            <m:sub>
                              <m:r>
                                <a:rPr lang="es-CO" sz="2600" i="1">
                                  <a:latin typeface="Cambria Math"/>
                                </a:rPr>
                                <m:t>𝑖</m:t>
                              </m:r>
                            </m:sub>
                          </m:sSub>
                        </m:e>
                      </m:d>
                      <m:r>
                        <a:rPr lang="es-CO" sz="2600" i="1">
                          <a:latin typeface="Cambria Math"/>
                        </a:rPr>
                        <m:t>+</m:t>
                      </m:r>
                      <m:r>
                        <a:rPr lang="es-CO" sz="2600" i="1">
                          <a:latin typeface="Cambria Math"/>
                        </a:rPr>
                        <m:t>𝛾</m:t>
                      </m:r>
                      <m:r>
                        <a:rPr lang="es-CO" sz="2600" i="1">
                          <a:latin typeface="Cambria Math"/>
                        </a:rPr>
                        <m:t>𝐼</m:t>
                      </m:r>
                      <m:d>
                        <m:dPr>
                          <m:begChr m:val="["/>
                          <m:endChr m:val="]"/>
                          <m:ctrlPr>
                            <a:rPr lang="es-CO" sz="2600" i="1">
                              <a:latin typeface="Cambria Math"/>
                            </a:rPr>
                          </m:ctrlPr>
                        </m:dPr>
                        <m:e>
                          <m:sSub>
                            <m:sSubPr>
                              <m:ctrlPr>
                                <a:rPr lang="es-CO" sz="2600" i="1">
                                  <a:latin typeface="Cambria Math"/>
                                </a:rPr>
                              </m:ctrlPr>
                            </m:sSubPr>
                            <m:e>
                              <m:r>
                                <a:rPr lang="es-CO" sz="2600" i="1">
                                  <a:latin typeface="Cambria Math"/>
                                </a:rPr>
                                <m:t>𝑍</m:t>
                              </m:r>
                            </m:e>
                            <m:sub>
                              <m:r>
                                <a:rPr lang="es-CO" sz="2600" i="1">
                                  <a:latin typeface="Cambria Math"/>
                                </a:rPr>
                                <m:t>𝑖</m:t>
                              </m:r>
                            </m:sub>
                          </m:sSub>
                          <m:r>
                            <a:rPr lang="es-CO" sz="2600" i="1">
                              <a:latin typeface="Cambria Math"/>
                            </a:rPr>
                            <m:t>≥</m:t>
                          </m:r>
                          <m:acc>
                            <m:accPr>
                              <m:chr m:val="̅"/>
                              <m:ctrlPr>
                                <a:rPr lang="es-CO" sz="2600" i="1">
                                  <a:latin typeface="Cambria Math"/>
                                </a:rPr>
                              </m:ctrlPr>
                            </m:accPr>
                            <m:e>
                              <m:r>
                                <a:rPr lang="es-ES" sz="2600" i="1">
                                  <a:latin typeface="Cambria Math"/>
                                </a:rPr>
                                <m:t>𝑍</m:t>
                              </m:r>
                            </m:e>
                          </m:acc>
                        </m:e>
                      </m:d>
                      <m:r>
                        <a:rPr lang="es-ES" sz="2600" i="1">
                          <a:latin typeface="Cambria Math"/>
                        </a:rPr>
                        <m:t>+</m:t>
                      </m:r>
                      <m:sSub>
                        <m:sSubPr>
                          <m:ctrlPr>
                            <a:rPr lang="es-CO" sz="2600" i="1">
                              <a:latin typeface="Cambria Math"/>
                            </a:rPr>
                          </m:ctrlPr>
                        </m:sSubPr>
                        <m:e>
                          <m:r>
                            <a:rPr lang="es-CO" sz="2600" i="1">
                              <a:latin typeface="Cambria Math"/>
                            </a:rPr>
                            <m:t>𝑣</m:t>
                          </m:r>
                        </m:e>
                        <m:sub>
                          <m:r>
                            <a:rPr lang="es-CO" sz="2600" i="1">
                              <a:latin typeface="Cambria Math"/>
                            </a:rPr>
                            <m:t>𝑖</m:t>
                          </m:r>
                        </m:sub>
                      </m:sSub>
                    </m:oMath>
                  </m:oMathPara>
                </a14:m>
                <a:endParaRPr lang="es-CO" sz="2600" dirty="0"/>
              </a:p>
            </p:txBody>
          </p:sp>
        </mc:Choice>
        <mc:Fallback>
          <p:sp>
            <p:nvSpPr>
              <p:cNvPr id="2" name="1 Rectángulo"/>
              <p:cNvSpPr>
                <a:spLocks noRot="1" noChangeAspect="1" noMove="1" noResize="1" noEditPoints="1" noAdjustHandles="1" noChangeArrowheads="1" noChangeShapeType="1" noTextEdit="1"/>
              </p:cNvSpPr>
              <p:nvPr/>
            </p:nvSpPr>
            <p:spPr>
              <a:xfrm>
                <a:off x="1440870" y="3228568"/>
                <a:ext cx="6542945" cy="492443"/>
              </a:xfrm>
              <a:prstGeom prst="rect">
                <a:avLst/>
              </a:prstGeom>
              <a:blipFill rotWithShape="1">
                <a:blip r:embed="rId4" cstate="print"/>
                <a:stretch>
                  <a:fillRect/>
                </a:stretch>
              </a:blipFill>
            </p:spPr>
            <p:txBody>
              <a:bodyPr/>
              <a:lstStyle/>
              <a:p>
                <a:r>
                  <a:rPr lang="es-CO">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199" y="1844566"/>
                <a:ext cx="8276897" cy="4335517"/>
              </a:xfrm>
            </p:spPr>
            <p:txBody>
              <a:bodyPr>
                <a:normAutofit fontScale="92500" lnSpcReduction="20000"/>
              </a:bodyPr>
              <a:lstStyle/>
              <a:p>
                <a:r>
                  <a:rPr lang="es-MX" dirty="0" smtClean="0">
                    <a:solidFill>
                      <a:schemeClr val="accent5">
                        <a:lumMod val="75000"/>
                      </a:schemeClr>
                    </a:solidFill>
                  </a:rPr>
                  <a:t>Estimación en dos etapas:</a:t>
                </a:r>
              </a:p>
              <a:p>
                <a:pPr lvl="1"/>
                <a:r>
                  <a:rPr lang="es-MX" dirty="0" smtClean="0"/>
                  <a:t>Segunda etapa</a:t>
                </a:r>
                <a:r>
                  <a:rPr lang="es-MX" dirty="0" smtClean="0">
                    <a:sym typeface="Wingdings" pitchFamily="2" charset="2"/>
                  </a:rPr>
                  <a:t>:</a:t>
                </a:r>
              </a:p>
              <a:p>
                <a:pPr marL="457200" lvl="1" indent="0">
                  <a:buNone/>
                </a:pPr>
                <a:endParaRPr lang="es-CO" sz="1200" i="1" dirty="0" smtClean="0">
                  <a:latin typeface="Cambria Math"/>
                </a:endParaRPr>
              </a:p>
              <a:p>
                <a:pPr marL="457200" lvl="1" indent="0">
                  <a:buNone/>
                </a:pPr>
                <a14:m>
                  <m:oMathPara xmlns:m="http://schemas.openxmlformats.org/officeDocument/2006/math">
                    <m:oMathParaPr>
                      <m:jc m:val="centerGroup"/>
                    </m:oMathParaPr>
                    <m:oMath xmlns:m="http://schemas.openxmlformats.org/officeDocument/2006/math">
                      <m:sSub>
                        <m:sSubPr>
                          <m:ctrlPr>
                            <a:rPr lang="es-CO" i="1">
                              <a:latin typeface="Cambria Math"/>
                            </a:rPr>
                          </m:ctrlPr>
                        </m:sSubPr>
                        <m:e>
                          <m:r>
                            <a:rPr lang="es-ES" i="1">
                              <a:latin typeface="Cambria Math"/>
                            </a:rPr>
                            <m:t>𝑌</m:t>
                          </m:r>
                        </m:e>
                        <m:sub>
                          <m:r>
                            <a:rPr lang="es-ES" i="1">
                              <a:latin typeface="Cambria Math"/>
                            </a:rPr>
                            <m:t>𝑖</m:t>
                          </m:r>
                        </m:sub>
                      </m:sSub>
                      <m:r>
                        <a:rPr lang="es-ES" i="1">
                          <a:latin typeface="Cambria Math"/>
                        </a:rPr>
                        <m:t>=</m:t>
                      </m:r>
                      <m:r>
                        <a:rPr lang="es-ES" i="1">
                          <a:latin typeface="Cambria Math"/>
                        </a:rPr>
                        <m:t>𝑚</m:t>
                      </m:r>
                      <m:d>
                        <m:dPr>
                          <m:ctrlPr>
                            <a:rPr lang="es-CO" i="1">
                              <a:latin typeface="Cambria Math"/>
                            </a:rPr>
                          </m:ctrlPr>
                        </m:dPr>
                        <m:e>
                          <m:sSub>
                            <m:sSubPr>
                              <m:ctrlPr>
                                <a:rPr lang="es-CO" i="1">
                                  <a:latin typeface="Cambria Math"/>
                                </a:rPr>
                              </m:ctrlPr>
                            </m:sSubPr>
                            <m:e>
                              <m:r>
                                <a:rPr lang="es-ES" i="1">
                                  <a:latin typeface="Cambria Math"/>
                                </a:rPr>
                                <m:t>𝑍</m:t>
                              </m:r>
                            </m:e>
                            <m:sub>
                              <m:r>
                                <a:rPr lang="es-ES" i="1">
                                  <a:latin typeface="Cambria Math"/>
                                </a:rPr>
                                <m:t>𝑖</m:t>
                              </m:r>
                            </m:sub>
                          </m:sSub>
                        </m:e>
                      </m:d>
                      <m:r>
                        <a:rPr lang="es-ES" i="1">
                          <a:latin typeface="Cambria Math"/>
                        </a:rPr>
                        <m:t>+</m:t>
                      </m:r>
                      <m:sSub>
                        <m:sSubPr>
                          <m:ctrlPr>
                            <a:rPr lang="es-CO" i="1">
                              <a:latin typeface="Cambria Math"/>
                            </a:rPr>
                          </m:ctrlPr>
                        </m:sSubPr>
                        <m:e>
                          <m:r>
                            <a:rPr lang="es-ES" i="1">
                              <a:latin typeface="Cambria Math"/>
                            </a:rPr>
                            <m:t>𝛽</m:t>
                          </m:r>
                        </m:e>
                        <m:sub>
                          <m:r>
                            <a:rPr lang="es-ES" i="1">
                              <a:latin typeface="Cambria Math"/>
                            </a:rPr>
                            <m:t>1</m:t>
                          </m:r>
                        </m:sub>
                      </m:sSub>
                      <m:sSub>
                        <m:sSubPr>
                          <m:ctrlPr>
                            <a:rPr lang="es-CO" i="1">
                              <a:latin typeface="Cambria Math"/>
                            </a:rPr>
                          </m:ctrlPr>
                        </m:sSubPr>
                        <m:e>
                          <m:r>
                            <a:rPr lang="es-ES" i="1">
                              <a:latin typeface="Cambria Math"/>
                            </a:rPr>
                            <m:t>𝐸</m:t>
                          </m:r>
                          <m:r>
                            <a:rPr lang="es-ES" i="1">
                              <a:latin typeface="Cambria Math"/>
                            </a:rPr>
                            <m:t>[</m:t>
                          </m:r>
                          <m:r>
                            <a:rPr lang="es-ES" i="1">
                              <a:latin typeface="Cambria Math"/>
                            </a:rPr>
                            <m:t>𝐷</m:t>
                          </m:r>
                        </m:e>
                        <m:sub>
                          <m:r>
                            <a:rPr lang="es-ES" i="1">
                              <a:latin typeface="Cambria Math"/>
                            </a:rPr>
                            <m:t>𝑖</m:t>
                          </m:r>
                        </m:sub>
                      </m:sSub>
                      <m:r>
                        <a:rPr lang="es-ES" i="1">
                          <a:latin typeface="Cambria Math"/>
                        </a:rPr>
                        <m:t>|</m:t>
                      </m:r>
                      <m:sSub>
                        <m:sSubPr>
                          <m:ctrlPr>
                            <a:rPr lang="es-CO" i="1">
                              <a:latin typeface="Cambria Math"/>
                            </a:rPr>
                          </m:ctrlPr>
                        </m:sSubPr>
                        <m:e>
                          <m:r>
                            <a:rPr lang="es-ES" i="1">
                              <a:latin typeface="Cambria Math"/>
                            </a:rPr>
                            <m:t>𝑍</m:t>
                          </m:r>
                        </m:e>
                        <m:sub>
                          <m:r>
                            <a:rPr lang="es-ES" i="1">
                              <a:latin typeface="Cambria Math"/>
                            </a:rPr>
                            <m:t>𝑖</m:t>
                          </m:r>
                        </m:sub>
                      </m:sSub>
                      <m:r>
                        <a:rPr lang="es-ES" i="1">
                          <a:latin typeface="Cambria Math"/>
                        </a:rPr>
                        <m:t>]+</m:t>
                      </m:r>
                      <m:sSub>
                        <m:sSubPr>
                          <m:ctrlPr>
                            <a:rPr lang="es-CO" i="1">
                              <a:latin typeface="Cambria Math"/>
                            </a:rPr>
                          </m:ctrlPr>
                        </m:sSubPr>
                        <m:e>
                          <m:r>
                            <a:rPr lang="es-ES" i="1">
                              <a:latin typeface="Cambria Math"/>
                            </a:rPr>
                            <m:t>𝜔</m:t>
                          </m:r>
                        </m:e>
                        <m:sub>
                          <m:r>
                            <a:rPr lang="es-ES" i="1">
                              <a:latin typeface="Cambria Math"/>
                            </a:rPr>
                            <m:t>𝑖</m:t>
                          </m:r>
                        </m:sub>
                      </m:sSub>
                    </m:oMath>
                  </m:oMathPara>
                </a14:m>
                <a:endParaRPr lang="es-MX" dirty="0" smtClean="0">
                  <a:sym typeface="Wingdings" pitchFamily="2" charset="2"/>
                </a:endParaRPr>
              </a:p>
              <a:p>
                <a:pPr lvl="1"/>
                <a:endParaRPr lang="es-MX" dirty="0" smtClean="0">
                  <a:sym typeface="Wingdings" pitchFamily="2" charset="2"/>
                </a:endParaRPr>
              </a:p>
              <a:p>
                <a:pPr marL="514350" indent="-514350">
                  <a:buNone/>
                </a:pPr>
                <a:r>
                  <a:rPr lang="es-MX" dirty="0" smtClean="0">
                    <a:sym typeface="Wingdings" pitchFamily="2" charset="2"/>
                  </a:rPr>
                  <a:t>	</a:t>
                </a:r>
                <a:r>
                  <a:rPr lang="es-MX" sz="2800" dirty="0" smtClean="0">
                    <a:sym typeface="Wingdings" pitchFamily="2" charset="2"/>
                  </a:rPr>
                  <a:t>Donde se reemplaza </a:t>
                </a:r>
                <a:r>
                  <a:rPr lang="es-MX" sz="2800" i="1" dirty="0" smtClean="0">
                    <a:latin typeface="Times New Roman" pitchFamily="18" charset="0"/>
                    <a:cs typeface="Times New Roman" pitchFamily="18" charset="0"/>
                  </a:rPr>
                  <a:t>E</a:t>
                </a:r>
                <a:r>
                  <a:rPr lang="es-MX" sz="2800" dirty="0" smtClean="0">
                    <a:latin typeface="Times New Roman" pitchFamily="18" charset="0"/>
                    <a:cs typeface="Times New Roman" pitchFamily="18" charset="0"/>
                  </a:rPr>
                  <a:t>[</a:t>
                </a:r>
                <a:r>
                  <a:rPr lang="es-MX" sz="2800" i="1" dirty="0" smtClean="0">
                    <a:latin typeface="Times New Roman" pitchFamily="18" charset="0"/>
                    <a:cs typeface="Times New Roman" pitchFamily="18" charset="0"/>
                  </a:rPr>
                  <a:t>D</a:t>
                </a:r>
                <a:r>
                  <a:rPr lang="es-MX" sz="2400" i="1" baseline="-25000" dirty="0" smtClean="0">
                    <a:latin typeface="Times New Roman" pitchFamily="18" charset="0"/>
                    <a:cs typeface="Times New Roman" pitchFamily="18" charset="0"/>
                  </a:rPr>
                  <a:t>i</a:t>
                </a:r>
                <a:r>
                  <a:rPr lang="es-MX" sz="2800" i="1" dirty="0" smtClean="0">
                    <a:latin typeface="Times New Roman" pitchFamily="18" charset="0"/>
                    <a:cs typeface="Times New Roman" pitchFamily="18" charset="0"/>
                  </a:rPr>
                  <a:t>|Z</a:t>
                </a:r>
                <a:r>
                  <a:rPr lang="es-MX" sz="2400" i="1" baseline="-25000" dirty="0" smtClean="0">
                    <a:latin typeface="Times New Roman" pitchFamily="18" charset="0"/>
                    <a:cs typeface="Times New Roman" pitchFamily="18" charset="0"/>
                  </a:rPr>
                  <a:t>i</a:t>
                </a:r>
                <a:r>
                  <a:rPr lang="es-MX" sz="2800" dirty="0" smtClean="0">
                    <a:latin typeface="Times New Roman" pitchFamily="18" charset="0"/>
                    <a:cs typeface="Times New Roman" pitchFamily="18" charset="0"/>
                  </a:rPr>
                  <a:t>]</a:t>
                </a:r>
                <a:r>
                  <a:rPr lang="es-MX" sz="2800" dirty="0" smtClean="0"/>
                  <a:t> por</a:t>
                </a:r>
                <a:r>
                  <a:rPr lang="es-MX" sz="2800" dirty="0" smtClean="0">
                    <a:solidFill>
                      <a:schemeClr val="accent5">
                        <a:lumMod val="75000"/>
                      </a:schemeClr>
                    </a:solidFill>
                  </a:rPr>
                  <a:t> </a:t>
                </a:r>
                <a14:m>
                  <m:oMath xmlns:m="http://schemas.openxmlformats.org/officeDocument/2006/math">
                    <m:acc>
                      <m:accPr>
                        <m:chr m:val="̂"/>
                        <m:ctrlPr>
                          <a:rPr lang="es-CO" sz="2800" i="1">
                            <a:latin typeface="Cambria Math"/>
                          </a:rPr>
                        </m:ctrlPr>
                      </m:accPr>
                      <m:e>
                        <m:r>
                          <a:rPr lang="es-CO" sz="2800" i="1">
                            <a:latin typeface="Cambria Math"/>
                          </a:rPr>
                          <m:t>𝑃𝑟</m:t>
                        </m:r>
                      </m:e>
                    </m:acc>
                    <m:d>
                      <m:dPr>
                        <m:ctrlPr>
                          <a:rPr lang="es-CO" sz="2800" i="1">
                            <a:latin typeface="Cambria Math"/>
                          </a:rPr>
                        </m:ctrlPr>
                      </m:dPr>
                      <m:e>
                        <m:r>
                          <a:rPr lang="es-CO" sz="2800" i="1">
                            <a:latin typeface="Cambria Math"/>
                          </a:rPr>
                          <m:t>𝐷</m:t>
                        </m:r>
                        <m:r>
                          <a:rPr lang="es-CO" sz="2800" i="1">
                            <a:latin typeface="Cambria Math"/>
                          </a:rPr>
                          <m:t>=1|</m:t>
                        </m:r>
                        <m:sSub>
                          <m:sSubPr>
                            <m:ctrlPr>
                              <a:rPr lang="es-CO" sz="2800" i="1">
                                <a:latin typeface="Cambria Math"/>
                              </a:rPr>
                            </m:ctrlPr>
                          </m:sSubPr>
                          <m:e>
                            <m:r>
                              <a:rPr lang="es-CO" sz="2800" i="1">
                                <a:latin typeface="Cambria Math"/>
                              </a:rPr>
                              <m:t>𝑍</m:t>
                            </m:r>
                          </m:e>
                          <m:sub>
                            <m:r>
                              <a:rPr lang="es-CO" sz="2800" i="1">
                                <a:latin typeface="Cambria Math"/>
                              </a:rPr>
                              <m:t>𝑖</m:t>
                            </m:r>
                          </m:sub>
                        </m:sSub>
                      </m:e>
                    </m:d>
                    <m:r>
                      <a:rPr lang="es-CO" sz="2800" i="1">
                        <a:latin typeface="Cambria Math"/>
                      </a:rPr>
                      <m:t> </m:t>
                    </m:r>
                  </m:oMath>
                </a14:m>
                <a:r>
                  <a:rPr lang="es-MX" sz="2800" dirty="0" smtClean="0"/>
                  <a:t>predicho con base en los estimadores de la primera etapa (note similitud con el método de variables instrumentales por MC2E).</a:t>
                </a:r>
              </a:p>
              <a:p>
                <a:pPr marL="514350" indent="-514350">
                  <a:buNone/>
                </a:pPr>
                <a:endParaRPr lang="es-MX" sz="2200" dirty="0" smtClean="0"/>
              </a:p>
              <a:p>
                <a:pPr marL="514350" indent="-514350"/>
                <a:r>
                  <a:rPr lang="es-MX" sz="2800" dirty="0" smtClean="0"/>
                  <a:t>f(.) y m(.) pueden ser funciones </a:t>
                </a:r>
                <a:r>
                  <a:rPr lang="es-MX" sz="2800" dirty="0" err="1" smtClean="0"/>
                  <a:t>polinómicas</a:t>
                </a:r>
                <a:r>
                  <a:rPr lang="es-MX" sz="2800" dirty="0" smtClean="0"/>
                  <a:t> o funciones </a:t>
                </a:r>
                <a:r>
                  <a:rPr lang="es-MX" sz="2800" i="1" dirty="0" err="1" smtClean="0"/>
                  <a:t>spline</a:t>
                </a:r>
                <a:r>
                  <a:rPr lang="es-MX" sz="2800" dirty="0" smtClean="0"/>
                  <a:t> de </a:t>
                </a:r>
                <a:r>
                  <a:rPr lang="es-MX" sz="2800" i="1" dirty="0" smtClean="0">
                    <a:latin typeface="Times New Roman" pitchFamily="18" charset="0"/>
                    <a:cs typeface="Times New Roman" pitchFamily="18" charset="0"/>
                  </a:rPr>
                  <a:t>z</a:t>
                </a:r>
                <a:r>
                  <a:rPr lang="es-MX" sz="2800" dirty="0" smtClean="0"/>
                  <a:t>. </a:t>
                </a:r>
                <a:r>
                  <a:rPr lang="es-MX" sz="2400" dirty="0" smtClean="0"/>
                  <a:t> </a:t>
                </a:r>
              </a:p>
              <a:p>
                <a:pPr lvl="1"/>
                <a:endParaRPr lang="es-MX" dirty="0" smtClean="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199" y="1844566"/>
                <a:ext cx="8276897" cy="4335517"/>
              </a:xfrm>
              <a:blipFill rotWithShape="1">
                <a:blip r:embed="rId3" cstate="print"/>
                <a:stretch>
                  <a:fillRect l="-1473" t="-3657" r="-2062" b="-1688"/>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40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02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87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4" name="8 Título"/>
          <p:cNvSpPr txBox="1">
            <a:spLocks/>
          </p:cNvSpPr>
          <p:nvPr/>
        </p:nvSpPr>
        <p:spPr>
          <a:xfrm>
            <a:off x="2557462" y="285728"/>
            <a:ext cx="6129337" cy="1131910"/>
          </a:xfrm>
          <a:prstGeom prst="rect">
            <a:avLst/>
          </a:prstGeom>
        </p:spPr>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MX" sz="4400" b="0" i="0" u="sng" strike="noStrike" kern="1200" cap="none" spc="0" normalizeH="0" baseline="0" noProof="0" dirty="0" smtClean="0">
                <a:ln>
                  <a:noFill/>
                </a:ln>
                <a:solidFill>
                  <a:schemeClr val="tx1"/>
                </a:solidFill>
                <a:effectLst/>
                <a:uLnTx/>
                <a:uFillTx/>
                <a:latin typeface="+mj-lt"/>
                <a:ea typeface="+mj-ea"/>
                <a:cs typeface="+mj-cs"/>
              </a:rPr>
              <a:t>Implementación empírica:</a:t>
            </a:r>
            <a:br>
              <a:rPr kumimoji="0" lang="es-MX" sz="4400" b="0" i="0" u="sng" strike="noStrike" kern="1200" cap="none" spc="0" normalizeH="0" baseline="0" noProof="0" dirty="0" smtClean="0">
                <a:ln>
                  <a:noFill/>
                </a:ln>
                <a:solidFill>
                  <a:schemeClr val="tx1"/>
                </a:solidFill>
                <a:effectLst/>
                <a:uLnTx/>
                <a:uFillTx/>
                <a:latin typeface="+mj-lt"/>
                <a:ea typeface="+mj-ea"/>
                <a:cs typeface="+mj-cs"/>
              </a:rPr>
            </a:br>
            <a:r>
              <a:rPr kumimoji="0" lang="es-MX" sz="4000" b="0" i="0" u="none" strike="noStrike" kern="1200" cap="none" spc="0" normalizeH="0" baseline="0" noProof="0" dirty="0" smtClean="0">
                <a:ln>
                  <a:noFill/>
                </a:ln>
                <a:solidFill>
                  <a:schemeClr val="tx1"/>
                </a:solidFill>
                <a:effectLst/>
                <a:uLnTx/>
                <a:uFillTx/>
                <a:latin typeface="+mj-lt"/>
                <a:ea typeface="+mj-ea"/>
                <a:cs typeface="+mj-cs"/>
              </a:rPr>
              <a:t>Estimación paramétrica de RDB</a:t>
            </a:r>
            <a:endParaRPr kumimoji="0" lang="en-US" sz="4000" b="0" i="0" u="none" strike="noStrike" kern="1200" cap="none" spc="0" normalizeH="0" baseline="0" noProof="0" dirty="0">
              <a:ln>
                <a:noFill/>
              </a:ln>
              <a:solidFill>
                <a:schemeClr val="tx1"/>
              </a:solidFill>
              <a:effectLst/>
              <a:uLnTx/>
              <a:uFillTx/>
              <a:latin typeface="+mj-lt"/>
              <a:ea typeface="+mj-ea"/>
              <a:cs typeface="+mj-cs"/>
            </a:endParaRPr>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50</a:t>
            </a:fld>
            <a:endParaRPr lang="es-ES" sz="1500" dirty="0">
              <a:solidFill>
                <a:schemeClr val="tx1">
                  <a:lumMod val="50000"/>
                  <a:lumOff val="50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 o </a:t>
            </a:r>
            <a:r>
              <a:rPr lang="es-MX" u="sng" dirty="0" err="1" smtClean="0"/>
              <a:t>semiparamétrica</a:t>
            </a:r>
            <a:endParaRPr lang="en-US" u="sng" dirty="0"/>
          </a:p>
        </p:txBody>
      </p:sp>
      <p:sp>
        <p:nvSpPr>
          <p:cNvPr id="10" name="9 Marcador de contenido"/>
          <p:cNvSpPr>
            <a:spLocks noGrp="1"/>
          </p:cNvSpPr>
          <p:nvPr>
            <p:ph idx="1"/>
          </p:nvPr>
        </p:nvSpPr>
        <p:spPr/>
        <p:txBody>
          <a:bodyPr>
            <a:normAutofit lnSpcReduction="10000"/>
          </a:bodyPr>
          <a:lstStyle/>
          <a:p>
            <a:endParaRPr lang="es-MX" dirty="0" smtClean="0"/>
          </a:p>
          <a:p>
            <a:r>
              <a:rPr lang="es-MX" dirty="0" smtClean="0"/>
              <a:t>Reduce el sesgo asociado a error de especificación en f(.) y m(.).</a:t>
            </a:r>
            <a:endParaRPr lang="en-US" dirty="0" smtClean="0"/>
          </a:p>
          <a:p>
            <a:endParaRPr lang="es-MX" dirty="0" smtClean="0"/>
          </a:p>
          <a:p>
            <a:r>
              <a:rPr lang="es-MX" dirty="0" smtClean="0">
                <a:solidFill>
                  <a:schemeClr val="accent5">
                    <a:lumMod val="75000"/>
                  </a:schemeClr>
                </a:solidFill>
              </a:rPr>
              <a:t>Estimación no paramétrica: </a:t>
            </a:r>
          </a:p>
          <a:p>
            <a:pPr lvl="1"/>
            <a:r>
              <a:rPr lang="es-MX" dirty="0" smtClean="0"/>
              <a:t>Regresión no paramétrica de </a:t>
            </a:r>
            <a:r>
              <a:rPr lang="es-MX" i="1" dirty="0" smtClean="0">
                <a:latin typeface="Times New Roman" pitchFamily="18" charset="0"/>
                <a:cs typeface="Times New Roman" pitchFamily="18" charset="0"/>
              </a:rPr>
              <a:t>Y</a:t>
            </a:r>
            <a:r>
              <a:rPr lang="es-MX" dirty="0" smtClean="0"/>
              <a:t> sobre </a:t>
            </a:r>
            <a:r>
              <a:rPr lang="es-MX" i="1" dirty="0" smtClean="0">
                <a:latin typeface="Times New Roman" pitchFamily="18" charset="0"/>
                <a:cs typeface="Times New Roman" pitchFamily="18" charset="0"/>
              </a:rPr>
              <a:t>Z</a:t>
            </a:r>
            <a:r>
              <a:rPr lang="es-MX" dirty="0" smtClean="0"/>
              <a:t> a cada lado del punto de discontinuidad.</a:t>
            </a:r>
          </a:p>
          <a:p>
            <a:pPr lvl="1"/>
            <a:r>
              <a:rPr lang="es-MX" dirty="0" smtClean="0"/>
              <a:t>Regresión no paramétrica de </a:t>
            </a:r>
            <a:r>
              <a:rPr lang="es-MX" i="1" dirty="0" smtClean="0">
                <a:latin typeface="Times New Roman" pitchFamily="18" charset="0"/>
                <a:cs typeface="Times New Roman" pitchFamily="18" charset="0"/>
              </a:rPr>
              <a:t>D</a:t>
            </a:r>
            <a:r>
              <a:rPr lang="es-MX" dirty="0" smtClean="0"/>
              <a:t> sobre </a:t>
            </a:r>
            <a:r>
              <a:rPr lang="es-MX" i="1" dirty="0" smtClean="0">
                <a:latin typeface="Times New Roman" pitchFamily="18" charset="0"/>
                <a:cs typeface="Times New Roman" pitchFamily="18" charset="0"/>
              </a:rPr>
              <a:t>Z</a:t>
            </a:r>
            <a:r>
              <a:rPr lang="es-MX" dirty="0" smtClean="0"/>
              <a:t> a cada lado del punto de discontinuidad. </a:t>
            </a:r>
          </a:p>
          <a:p>
            <a:pPr lvl="1"/>
            <a:endParaRPr lang="es-MX" dirty="0" smtClean="0"/>
          </a:p>
          <a:p>
            <a:pPr lvl="1"/>
            <a:endParaRPr lang="es-MX" dirty="0" smtClean="0"/>
          </a:p>
          <a:p>
            <a:pPr lvl="1"/>
            <a:endParaRPr lang="en-US" dirty="0" smtClean="0"/>
          </a:p>
          <a:p>
            <a:pPr lvl="1"/>
            <a:endParaRPr lang="en-U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51</a:t>
            </a:fld>
            <a:endParaRPr lang="es-ES" sz="1500" dirty="0">
              <a:solidFill>
                <a:schemeClr val="tx1">
                  <a:lumMod val="50000"/>
                  <a:lumOff val="50000"/>
                </a:schemeClr>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a:t>
            </a:r>
            <a:br>
              <a:rPr lang="es-MX" u="sng" dirty="0" smtClean="0"/>
            </a:br>
            <a:r>
              <a:rPr lang="es-MX" sz="3900" dirty="0" smtClean="0"/>
              <a:t>Ancho de banda (h) </a:t>
            </a:r>
            <a:endParaRPr lang="en-US" sz="3900" dirty="0"/>
          </a:p>
        </p:txBody>
      </p:sp>
      <p:sp>
        <p:nvSpPr>
          <p:cNvPr id="10" name="9 Marcador de contenido"/>
          <p:cNvSpPr>
            <a:spLocks noGrp="1"/>
          </p:cNvSpPr>
          <p:nvPr>
            <p:ph idx="1"/>
          </p:nvPr>
        </p:nvSpPr>
        <p:spPr>
          <a:xfrm>
            <a:off x="299546" y="1529252"/>
            <a:ext cx="8623738" cy="5202620"/>
          </a:xfrm>
        </p:spPr>
        <p:txBody>
          <a:bodyPr>
            <a:normAutofit fontScale="85000" lnSpcReduction="20000"/>
          </a:bodyPr>
          <a:lstStyle/>
          <a:p>
            <a:r>
              <a:rPr lang="es-MX" dirty="0" smtClean="0">
                <a:solidFill>
                  <a:schemeClr val="accent5">
                    <a:lumMod val="75000"/>
                  </a:schemeClr>
                </a:solidFill>
              </a:rPr>
              <a:t>Ancho de banda </a:t>
            </a:r>
            <a:r>
              <a:rPr lang="es-MX" dirty="0" smtClean="0"/>
              <a:t>es la ventana de observaciones que define la vecindad arbitrariamente pequeña a cada lado del umbral.</a:t>
            </a:r>
          </a:p>
          <a:p>
            <a:endParaRPr lang="es-MX" sz="1300" dirty="0" smtClean="0">
              <a:solidFill>
                <a:schemeClr val="accent5">
                  <a:lumMod val="75000"/>
                </a:schemeClr>
              </a:solidFill>
            </a:endParaRPr>
          </a:p>
          <a:p>
            <a:r>
              <a:rPr lang="es-MX" dirty="0" smtClean="0">
                <a:solidFill>
                  <a:schemeClr val="accent5">
                    <a:lumMod val="75000"/>
                  </a:schemeClr>
                </a:solidFill>
              </a:rPr>
              <a:t>Ventajas de un ancho de banda más amplio: </a:t>
            </a:r>
            <a:endParaRPr lang="es-MX" dirty="0" smtClean="0">
              <a:solidFill>
                <a:schemeClr val="accent5">
                  <a:lumMod val="75000"/>
                </a:schemeClr>
              </a:solidFill>
              <a:sym typeface="Wingdings" pitchFamily="2" charset="2"/>
            </a:endParaRPr>
          </a:p>
          <a:p>
            <a:pPr lvl="1">
              <a:buFont typeface="Calibri" pitchFamily="34" charset="0"/>
              <a:buChar char="→"/>
            </a:pPr>
            <a:r>
              <a:rPr lang="es-MX" dirty="0" smtClean="0">
                <a:sym typeface="Wingdings" pitchFamily="2" charset="2"/>
              </a:rPr>
              <a:t>Mayor número de observaciones. </a:t>
            </a:r>
          </a:p>
          <a:p>
            <a:pPr lvl="1">
              <a:buFont typeface="Calibri" pitchFamily="34" charset="0"/>
              <a:buChar char="→"/>
            </a:pPr>
            <a:r>
              <a:rPr lang="es-MX" dirty="0" smtClean="0">
                <a:sym typeface="Wingdings" pitchFamily="2" charset="2"/>
              </a:rPr>
              <a:t> Estimadores más eficientes. </a:t>
            </a:r>
          </a:p>
          <a:p>
            <a:pPr lvl="1">
              <a:buFont typeface="Calibri" pitchFamily="34" charset="0"/>
              <a:buChar char="→"/>
            </a:pPr>
            <a:r>
              <a:rPr lang="es-MX" dirty="0" smtClean="0">
                <a:sym typeface="Wingdings" pitchFamily="2" charset="2"/>
              </a:rPr>
              <a:t>Disminuye la varianza. </a:t>
            </a:r>
          </a:p>
          <a:p>
            <a:pPr lvl="1">
              <a:buFont typeface="Calibri" pitchFamily="34" charset="0"/>
              <a:buChar char="→"/>
            </a:pPr>
            <a:endParaRPr lang="es-MX" sz="1300" dirty="0" smtClean="0">
              <a:sym typeface="Wingdings" pitchFamily="2" charset="2"/>
            </a:endParaRPr>
          </a:p>
          <a:p>
            <a:r>
              <a:rPr lang="es-MX" dirty="0" smtClean="0">
                <a:solidFill>
                  <a:schemeClr val="accent5">
                    <a:lumMod val="75000"/>
                  </a:schemeClr>
                </a:solidFill>
              </a:rPr>
              <a:t> Desventajas de un ancho de banda más amplio: </a:t>
            </a:r>
          </a:p>
          <a:p>
            <a:pPr lvl="1">
              <a:lnSpc>
                <a:spcPts val="2200"/>
              </a:lnSpc>
              <a:buFont typeface="Calibri" pitchFamily="34" charset="0"/>
              <a:buChar char="→"/>
            </a:pPr>
            <a:r>
              <a:rPr lang="es-MX" dirty="0" smtClean="0"/>
              <a:t> Individuos más alejados del umbral pueden ser muy distintos de los individuos cercanos a éste. </a:t>
            </a:r>
          </a:p>
          <a:p>
            <a:pPr lvl="1">
              <a:lnSpc>
                <a:spcPts val="2200"/>
              </a:lnSpc>
              <a:buFont typeface="Calibri" pitchFamily="34" charset="0"/>
              <a:buChar char="→"/>
            </a:pPr>
            <a:r>
              <a:rPr lang="es-MX" dirty="0" smtClean="0"/>
              <a:t>El grupo de control puede resultar muy heterogéneo y, por lo tanto, no comparable con el grupo de tratamiento. </a:t>
            </a:r>
          </a:p>
          <a:p>
            <a:pPr lvl="1">
              <a:lnSpc>
                <a:spcPts val="2200"/>
              </a:lnSpc>
              <a:buFont typeface="Calibri" pitchFamily="34" charset="0"/>
              <a:buChar char="→"/>
            </a:pPr>
            <a:r>
              <a:rPr lang="es-MX" dirty="0" smtClean="0"/>
              <a:t>Aumenta el sesgo. </a:t>
            </a:r>
          </a:p>
          <a:p>
            <a:pPr lvl="2">
              <a:buNone/>
            </a:pPr>
            <a:endParaRPr lang="es-MX" dirty="0" smtClean="0">
              <a:sym typeface="Wingdings" pitchFamily="2" charset="2"/>
            </a:endParaRPr>
          </a:p>
          <a:p>
            <a:pPr lvl="1"/>
            <a:endParaRPr lang="es-MX" dirty="0" smtClean="0">
              <a:sym typeface="Wingdings" pitchFamily="2" charset="2"/>
            </a:endParaRPr>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52</a:t>
            </a:fld>
            <a:endParaRPr lang="es-ES" sz="1500" dirty="0">
              <a:solidFill>
                <a:schemeClr val="tx1">
                  <a:lumMod val="50000"/>
                  <a:lumOff val="50000"/>
                </a:scheme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a:t>
            </a:r>
            <a:endParaRPr lang="en-US" dirty="0"/>
          </a:p>
        </p:txBody>
      </p:sp>
      <p:sp>
        <p:nvSpPr>
          <p:cNvPr id="10" name="9 Marcador de contenido"/>
          <p:cNvSpPr>
            <a:spLocks noGrp="1"/>
          </p:cNvSpPr>
          <p:nvPr>
            <p:ph idx="1"/>
          </p:nvPr>
        </p:nvSpPr>
        <p:spPr/>
        <p:txBody>
          <a:bodyPr/>
          <a:lstStyle/>
          <a:p>
            <a:endParaRPr lang="es-MX" dirty="0" smtClean="0"/>
          </a:p>
          <a:p>
            <a:r>
              <a:rPr lang="es-MX" dirty="0" smtClean="0">
                <a:solidFill>
                  <a:schemeClr val="accent5">
                    <a:lumMod val="75000"/>
                  </a:schemeClr>
                </a:solidFill>
              </a:rPr>
              <a:t>Métodos más populares en RD: </a:t>
            </a:r>
          </a:p>
          <a:p>
            <a:pPr lvl="1"/>
            <a:r>
              <a:rPr lang="es-MX" dirty="0" smtClean="0"/>
              <a:t>Estimador de </a:t>
            </a:r>
            <a:r>
              <a:rPr lang="es-MX" dirty="0" err="1" smtClean="0"/>
              <a:t>Kernel</a:t>
            </a:r>
            <a:r>
              <a:rPr lang="es-MX" dirty="0" smtClean="0"/>
              <a:t>. </a:t>
            </a:r>
          </a:p>
          <a:p>
            <a:pPr lvl="1"/>
            <a:r>
              <a:rPr lang="es-MX" dirty="0" smtClean="0"/>
              <a:t>Estimador de regresión lineal. </a:t>
            </a:r>
          </a:p>
          <a:p>
            <a:pPr lvl="1"/>
            <a:r>
              <a:rPr lang="es-MX" dirty="0" smtClean="0"/>
              <a:t>Regresión </a:t>
            </a:r>
            <a:r>
              <a:rPr lang="es-MX" dirty="0" err="1" smtClean="0"/>
              <a:t>polinomial</a:t>
            </a:r>
            <a:r>
              <a:rPr lang="es-MX" dirty="0" smtClean="0"/>
              <a:t> local. </a:t>
            </a:r>
          </a:p>
          <a:p>
            <a:pPr lvl="1"/>
            <a:r>
              <a:rPr lang="es-MX" dirty="0" smtClean="0"/>
              <a:t>Estimador de modelo lineal parcial. </a:t>
            </a:r>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53</a:t>
            </a:fld>
            <a:endParaRPr lang="es-ES" sz="1500" dirty="0">
              <a:solidFill>
                <a:schemeClr val="tx1">
                  <a:lumMod val="50000"/>
                  <a:lumOff val="50000"/>
                </a:schemeClr>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a:t>
            </a:r>
            <a:br>
              <a:rPr lang="es-MX" u="sng" dirty="0" smtClean="0"/>
            </a:br>
            <a:r>
              <a:rPr lang="es-MX" u="sng" dirty="0" smtClean="0"/>
              <a:t>Estimador de Kernel</a:t>
            </a:r>
            <a:endParaRPr lang="en-US" dirty="0"/>
          </a:p>
        </p:txBody>
      </p:sp>
      <p:sp>
        <p:nvSpPr>
          <p:cNvPr id="10" name="9 Marcador de contenido"/>
          <p:cNvSpPr>
            <a:spLocks noGrp="1"/>
          </p:cNvSpPr>
          <p:nvPr>
            <p:ph idx="1"/>
          </p:nvPr>
        </p:nvSpPr>
        <p:spPr/>
        <p:txBody>
          <a:bodyPr/>
          <a:lstStyle/>
          <a:p>
            <a:endParaRPr lang="es-MX" dirty="0" smtClean="0"/>
          </a:p>
          <a:p>
            <a:endParaRPr lang="es-MX" dirty="0" smtClean="0"/>
          </a:p>
          <a:p>
            <a:endParaRPr lang="es-MX" dirty="0" smtClean="0"/>
          </a:p>
          <a:p>
            <a:r>
              <a:rPr lang="es-MX" sz="2600" dirty="0" smtClean="0"/>
              <a:t>Donde: </a:t>
            </a:r>
          </a:p>
          <a:p>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6" name="15 Cerrar llave"/>
          <p:cNvSpPr/>
          <p:nvPr/>
        </p:nvSpPr>
        <p:spPr>
          <a:xfrm>
            <a:off x="4020207" y="3689131"/>
            <a:ext cx="441434" cy="219140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16 CuadroTexto"/>
          <p:cNvSpPr txBox="1"/>
          <p:nvPr/>
        </p:nvSpPr>
        <p:spPr>
          <a:xfrm>
            <a:off x="4508934" y="3894077"/>
            <a:ext cx="4524703" cy="1569660"/>
          </a:xfrm>
          <a:prstGeom prst="rect">
            <a:avLst/>
          </a:prstGeom>
          <a:noFill/>
        </p:spPr>
        <p:txBody>
          <a:bodyPr wrap="square" rtlCol="0">
            <a:spAutoFit/>
          </a:bodyPr>
          <a:lstStyle/>
          <a:p>
            <a:r>
              <a:rPr lang="es-MX" sz="2400" dirty="0" smtClean="0"/>
              <a:t>Promedio ponderado de la variable de resultado en una vecindad de distancia </a:t>
            </a:r>
            <a:r>
              <a:rPr lang="es-MX" sz="2400" i="1" dirty="0" smtClean="0">
                <a:latin typeface="Times New Roman" pitchFamily="18" charset="0"/>
                <a:cs typeface="Times New Roman" pitchFamily="18" charset="0"/>
              </a:rPr>
              <a:t>h,</a:t>
            </a:r>
            <a:r>
              <a:rPr lang="es-MX" sz="2400" dirty="0" smtClean="0"/>
              <a:t> a cada lado del punto de discontinuidad. </a:t>
            </a:r>
            <a:endParaRPr lang="en-US" sz="2400" dirty="0"/>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54</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1482590" y="1877037"/>
                <a:ext cx="6131166" cy="12991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CO" sz="2500" i="1">
                              <a:latin typeface="Cambria Math"/>
                            </a:rPr>
                          </m:ctrlPr>
                        </m:sSubPr>
                        <m:e>
                          <m:acc>
                            <m:accPr>
                              <m:chr m:val="̂"/>
                              <m:ctrlPr>
                                <a:rPr lang="es-CO" sz="2500" i="1">
                                  <a:latin typeface="Cambria Math"/>
                                </a:rPr>
                              </m:ctrlPr>
                            </m:accPr>
                            <m:e>
                              <m:r>
                                <a:rPr lang="es-CO" sz="2500" i="1">
                                  <a:latin typeface="Cambria Math"/>
                                </a:rPr>
                                <m:t>𝜏</m:t>
                              </m:r>
                            </m:e>
                          </m:acc>
                        </m:e>
                        <m:sub>
                          <m:r>
                            <a:rPr lang="es-CO" sz="2500" i="1">
                              <a:latin typeface="Cambria Math"/>
                            </a:rPr>
                            <m:t>𝑅𝐷𝐵</m:t>
                          </m:r>
                        </m:sub>
                      </m:sSub>
                      <m:d>
                        <m:dPr>
                          <m:ctrlPr>
                            <a:rPr lang="es-CO" sz="2500" i="1">
                              <a:latin typeface="Cambria Math"/>
                            </a:rPr>
                          </m:ctrlPr>
                        </m:dPr>
                        <m:e>
                          <m:acc>
                            <m:accPr>
                              <m:chr m:val="̅"/>
                              <m:ctrlPr>
                                <a:rPr lang="es-CO" sz="2500" i="1">
                                  <a:latin typeface="Cambria Math"/>
                                </a:rPr>
                              </m:ctrlPr>
                            </m:accPr>
                            <m:e>
                              <m:r>
                                <a:rPr lang="es-CO" sz="2500" i="1">
                                  <a:latin typeface="Cambria Math"/>
                                </a:rPr>
                                <m:t>𝑍</m:t>
                              </m:r>
                            </m:e>
                          </m:acc>
                        </m:e>
                      </m:d>
                      <m:r>
                        <a:rPr lang="es-CO" sz="2500" i="1">
                          <a:latin typeface="Cambria Math"/>
                        </a:rPr>
                        <m:t>=</m:t>
                      </m:r>
                      <m:f>
                        <m:fPr>
                          <m:ctrlPr>
                            <a:rPr lang="es-CO" sz="2500" i="1">
                              <a:latin typeface="Cambria Math"/>
                            </a:rPr>
                          </m:ctrlPr>
                        </m:fPr>
                        <m:num>
                          <m:acc>
                            <m:accPr>
                              <m:chr m:val="̅"/>
                              <m:ctrlPr>
                                <a:rPr lang="es-CO" sz="2500" i="1">
                                  <a:latin typeface="Cambria Math"/>
                                </a:rPr>
                              </m:ctrlPr>
                            </m:accPr>
                            <m:e>
                              <m:r>
                                <a:rPr lang="es-CO" sz="2500" i="1">
                                  <a:latin typeface="Cambria Math"/>
                                </a:rPr>
                                <m:t>𝑌</m:t>
                              </m:r>
                            </m:e>
                          </m:acc>
                          <m:d>
                            <m:dPr>
                              <m:ctrlPr>
                                <a:rPr lang="es-CO" sz="2500" i="1">
                                  <a:latin typeface="Cambria Math"/>
                                </a:rPr>
                              </m:ctrlPr>
                            </m:dPr>
                            <m:e>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r>
                            <a:rPr lang="es-CO" sz="2500" i="1">
                              <a:latin typeface="Cambria Math"/>
                            </a:rPr>
                            <m:t>−</m:t>
                          </m:r>
                          <m:acc>
                            <m:accPr>
                              <m:chr m:val="̅"/>
                              <m:ctrlPr>
                                <a:rPr lang="es-CO" sz="2500" i="1">
                                  <a:latin typeface="Cambria Math"/>
                                </a:rPr>
                              </m:ctrlPr>
                            </m:accPr>
                            <m:e>
                              <m:r>
                                <a:rPr lang="es-CO" sz="2500" i="1">
                                  <a:latin typeface="Cambria Math"/>
                                </a:rPr>
                                <m:t>𝑌</m:t>
                              </m:r>
                            </m:e>
                          </m:acc>
                          <m:d>
                            <m:dPr>
                              <m:ctrlPr>
                                <a:rPr lang="es-CO" sz="2500" i="1">
                                  <a:latin typeface="Cambria Math"/>
                                </a:rPr>
                              </m:ctrlPr>
                            </m:dPr>
                            <m:e>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num>
                        <m:den>
                          <m:acc>
                            <m:accPr>
                              <m:chr m:val="̂"/>
                              <m:ctrlPr>
                                <a:rPr lang="es-CO" sz="2500" i="1">
                                  <a:latin typeface="Cambria Math"/>
                                </a:rPr>
                              </m:ctrlPr>
                            </m:accPr>
                            <m:e>
                              <m:r>
                                <a:rPr lang="es-CO" sz="2500" i="1">
                                  <a:latin typeface="Cambria Math"/>
                                </a:rPr>
                                <m:t>𝑃𝑟</m:t>
                              </m:r>
                            </m:e>
                          </m:acc>
                          <m:d>
                            <m:dPr>
                              <m:ctrlPr>
                                <a:rPr lang="es-CO" sz="2500" i="1">
                                  <a:latin typeface="Cambria Math"/>
                                </a:rPr>
                              </m:ctrlPr>
                            </m:dPr>
                            <m:e>
                              <m:r>
                                <a:rPr lang="es-CO" sz="2500" i="1">
                                  <a:latin typeface="Cambria Math"/>
                                </a:rPr>
                                <m:t>𝐷</m:t>
                              </m:r>
                              <m:r>
                                <a:rPr lang="es-CO" sz="2500" i="1">
                                  <a:latin typeface="Cambria Math"/>
                                </a:rPr>
                                <m:t>=1|</m:t>
                              </m:r>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r>
                            <a:rPr lang="es-CO" sz="2500" i="1">
                              <a:latin typeface="Cambria Math"/>
                            </a:rPr>
                            <m:t>−</m:t>
                          </m:r>
                          <m:acc>
                            <m:accPr>
                              <m:chr m:val="̂"/>
                              <m:ctrlPr>
                                <a:rPr lang="es-CO" sz="2500" i="1">
                                  <a:latin typeface="Cambria Math"/>
                                </a:rPr>
                              </m:ctrlPr>
                            </m:accPr>
                            <m:e>
                              <m:r>
                                <a:rPr lang="es-CO" sz="2500" i="1">
                                  <a:latin typeface="Cambria Math"/>
                                </a:rPr>
                                <m:t>𝑃𝑟</m:t>
                              </m:r>
                            </m:e>
                          </m:acc>
                          <m:d>
                            <m:dPr>
                              <m:ctrlPr>
                                <a:rPr lang="es-CO" sz="2500" i="1">
                                  <a:latin typeface="Cambria Math"/>
                                </a:rPr>
                              </m:ctrlPr>
                            </m:dPr>
                            <m:e>
                              <m:r>
                                <a:rPr lang="es-CO" sz="2500" i="1">
                                  <a:latin typeface="Cambria Math"/>
                                </a:rPr>
                                <m:t>𝐷</m:t>
                              </m:r>
                              <m:r>
                                <a:rPr lang="es-CO" sz="2500" i="1">
                                  <a:latin typeface="Cambria Math"/>
                                </a:rPr>
                                <m:t>=1|</m:t>
                              </m:r>
                              <m:sSup>
                                <m:sSupPr>
                                  <m:ctrlPr>
                                    <a:rPr lang="es-CO" sz="2500" i="1">
                                      <a:latin typeface="Cambria Math"/>
                                    </a:rPr>
                                  </m:ctrlPr>
                                </m:sSupPr>
                                <m:e>
                                  <m:acc>
                                    <m:accPr>
                                      <m:chr m:val="̅"/>
                                      <m:ctrlPr>
                                        <a:rPr lang="es-CO" sz="2500" i="1">
                                          <a:latin typeface="Cambria Math"/>
                                        </a:rPr>
                                      </m:ctrlPr>
                                    </m:accPr>
                                    <m:e>
                                      <m:r>
                                        <a:rPr lang="es-CO" sz="2500" i="1">
                                          <a:latin typeface="Cambria Math"/>
                                        </a:rPr>
                                        <m:t>𝑍</m:t>
                                      </m:r>
                                    </m:e>
                                  </m:acc>
                                </m:e>
                                <m:sup>
                                  <m:r>
                                    <a:rPr lang="es-CO" sz="2500" i="1">
                                      <a:latin typeface="Cambria Math"/>
                                    </a:rPr>
                                    <m:t>−</m:t>
                                  </m:r>
                                </m:sup>
                              </m:sSup>
                            </m:e>
                          </m:d>
                        </m:den>
                      </m:f>
                      <m:r>
                        <a:rPr lang="es-CO" sz="2500" i="1">
                          <a:latin typeface="Cambria Math"/>
                        </a:rPr>
                        <m:t> </m:t>
                      </m:r>
                    </m:oMath>
                  </m:oMathPara>
                </a14:m>
                <a:endParaRPr lang="es-CO" sz="2500" dirty="0"/>
              </a:p>
            </p:txBody>
          </p:sp>
        </mc:Choice>
        <mc:Fallback>
          <p:sp>
            <p:nvSpPr>
              <p:cNvPr id="2" name="1 Rectángulo"/>
              <p:cNvSpPr>
                <a:spLocks noRot="1" noChangeAspect="1" noMove="1" noResize="1" noEditPoints="1" noAdjustHandles="1" noChangeArrowheads="1" noChangeShapeType="1" noTextEdit="1"/>
              </p:cNvSpPr>
              <p:nvPr/>
            </p:nvSpPr>
            <p:spPr>
              <a:xfrm>
                <a:off x="1482590" y="1877037"/>
                <a:ext cx="6131166" cy="1299138"/>
              </a:xfrm>
              <a:prstGeom prst="rect">
                <a:avLst/>
              </a:prstGeom>
              <a:blipFill rotWithShape="1">
                <a:blip r:embed="rId3" cstate="print"/>
                <a:stretch>
                  <a:fillRect/>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3" name="2 Rectángulo"/>
              <p:cNvSpPr/>
              <p:nvPr/>
            </p:nvSpPr>
            <p:spPr>
              <a:xfrm>
                <a:off x="27558" y="3689131"/>
                <a:ext cx="4572000" cy="2270493"/>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acc>
                        <m:accPr>
                          <m:chr m:val="̅"/>
                          <m:ctrlPr>
                            <a:rPr lang="es-CO" sz="1600" i="1" smtClean="0">
                              <a:latin typeface="Cambria Math"/>
                            </a:rPr>
                          </m:ctrlPr>
                        </m:accPr>
                        <m:e>
                          <m:r>
                            <a:rPr lang="es-ES" sz="1600" i="1">
                              <a:latin typeface="Cambria Math"/>
                            </a:rPr>
                            <m:t>𝑌</m:t>
                          </m:r>
                        </m:e>
                      </m:acc>
                      <m:d>
                        <m:dPr>
                          <m:ctrlPr>
                            <a:rPr lang="es-CO" sz="1600" i="1">
                              <a:latin typeface="Cambria Math"/>
                            </a:rPr>
                          </m:ctrlPr>
                        </m:dPr>
                        <m:e>
                          <m:sSup>
                            <m:sSupPr>
                              <m:ctrlPr>
                                <a:rPr lang="es-CO" sz="1600" i="1">
                                  <a:latin typeface="Cambria Math"/>
                                </a:rPr>
                              </m:ctrlPr>
                            </m:sSupPr>
                            <m:e>
                              <m:acc>
                                <m:accPr>
                                  <m:chr m:val="̅"/>
                                  <m:ctrlPr>
                                    <a:rPr lang="es-CO" sz="1600" i="1">
                                      <a:latin typeface="Cambria Math"/>
                                    </a:rPr>
                                  </m:ctrlPr>
                                </m:accPr>
                                <m:e>
                                  <m:r>
                                    <a:rPr lang="es-ES" sz="1600" i="1">
                                      <a:latin typeface="Cambria Math"/>
                                    </a:rPr>
                                    <m:t>𝑍</m:t>
                                  </m:r>
                                </m:e>
                              </m:acc>
                            </m:e>
                            <m:sup>
                              <m:r>
                                <a:rPr lang="es-CO" sz="1600" b="0" i="1" smtClean="0">
                                  <a:latin typeface="Cambria Math"/>
                                </a:rPr>
                                <m:t> </m:t>
                              </m:r>
                              <m:r>
                                <a:rPr lang="es-ES" sz="1600" i="1">
                                  <a:latin typeface="Cambria Math"/>
                                </a:rPr>
                                <m:t>+</m:t>
                              </m:r>
                            </m:sup>
                          </m:sSup>
                        </m:e>
                      </m:d>
                      <m:r>
                        <a:rPr lang="es-ES" sz="1600" i="1">
                          <a:latin typeface="Cambria Math"/>
                        </a:rPr>
                        <m:t>=</m:t>
                      </m:r>
                      <m:f>
                        <m:fPr>
                          <m:ctrlPr>
                            <a:rPr lang="es-CO" sz="1600" i="1">
                              <a:latin typeface="Cambria Math"/>
                            </a:rPr>
                          </m:ctrlPr>
                        </m:fPr>
                        <m:num>
                          <m:nary>
                            <m:naryPr>
                              <m:chr m:val="∑"/>
                              <m:limLoc m:val="undOvr"/>
                              <m:supHide m:val="on"/>
                              <m:ctrlPr>
                                <a:rPr lang="es-CO" sz="1600" i="1">
                                  <a:latin typeface="Cambria Math"/>
                                </a:rPr>
                              </m:ctrlPr>
                            </m:naryPr>
                            <m:sub>
                              <m:r>
                                <a:rPr lang="es-ES" sz="1600" i="1">
                                  <a:latin typeface="Cambria Math"/>
                                </a:rPr>
                                <m:t>𝑖</m:t>
                              </m:r>
                            </m:sub>
                            <m:sup/>
                            <m:e>
                              <m:sSub>
                                <m:sSubPr>
                                  <m:ctrlPr>
                                    <a:rPr lang="es-CO" sz="1600" i="1">
                                      <a:latin typeface="Cambria Math"/>
                                    </a:rPr>
                                  </m:ctrlPr>
                                </m:sSubPr>
                                <m:e>
                                  <m:r>
                                    <a:rPr lang="es-ES" sz="1600" i="1">
                                      <a:latin typeface="Cambria Math"/>
                                    </a:rPr>
                                    <m:t>𝑌</m:t>
                                  </m:r>
                                </m:e>
                                <m:sub>
                                  <m:r>
                                    <a:rPr lang="es-ES" sz="1600" i="1">
                                      <a:latin typeface="Cambria Math"/>
                                    </a:rPr>
                                    <m:t>𝑖</m:t>
                                  </m:r>
                                </m:sub>
                              </m:sSub>
                              <m:r>
                                <a:rPr lang="es-ES" sz="1600" i="1">
                                  <a:latin typeface="Cambria Math"/>
                                </a:rPr>
                                <m:t>𝐼</m:t>
                              </m:r>
                              <m:d>
                                <m:dPr>
                                  <m:begChr m:val="["/>
                                  <m:endChr m:val="]"/>
                                  <m:ctrlPr>
                                    <a:rPr lang="es-CO" sz="1600" i="1">
                                      <a:latin typeface="Cambria Math"/>
                                    </a:rPr>
                                  </m:ctrlPr>
                                </m:dPr>
                                <m:e>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m:t>
                                  </m:r>
                                  <m:acc>
                                    <m:accPr>
                                      <m:chr m:val="̅"/>
                                      <m:ctrlPr>
                                        <a:rPr lang="es-CO" sz="1600" i="1">
                                          <a:latin typeface="Cambria Math"/>
                                        </a:rPr>
                                      </m:ctrlPr>
                                    </m:accPr>
                                    <m:e>
                                      <m:r>
                                        <a:rPr lang="es-ES" sz="1600" i="1">
                                          <a:latin typeface="Cambria Math"/>
                                        </a:rPr>
                                        <m:t>𝑍</m:t>
                                      </m:r>
                                    </m:e>
                                  </m:acc>
                                </m:e>
                              </m:d>
                              <m:r>
                                <a:rPr lang="es-ES" sz="1600" i="1">
                                  <a:latin typeface="Cambria Math"/>
                                </a:rPr>
                                <m:t>𝐾</m:t>
                              </m:r>
                              <m:d>
                                <m:dPr>
                                  <m:ctrlPr>
                                    <a:rPr lang="es-CO" sz="1600" i="1">
                                      <a:latin typeface="Cambria Math"/>
                                    </a:rPr>
                                  </m:ctrlPr>
                                </m:dPr>
                                <m:e>
                                  <m:f>
                                    <m:fPr>
                                      <m:ctrlPr>
                                        <a:rPr lang="es-CO" sz="1600" i="1">
                                          <a:latin typeface="Cambria Math"/>
                                        </a:rPr>
                                      </m:ctrlPr>
                                    </m:fPr>
                                    <m:num>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m:t>
                                      </m:r>
                                      <m:acc>
                                        <m:accPr>
                                          <m:chr m:val="̅"/>
                                          <m:ctrlPr>
                                            <a:rPr lang="es-CO" sz="1600" i="1">
                                              <a:latin typeface="Cambria Math"/>
                                            </a:rPr>
                                          </m:ctrlPr>
                                        </m:accPr>
                                        <m:e>
                                          <m:r>
                                            <a:rPr lang="es-ES" sz="1600" i="1">
                                              <a:latin typeface="Cambria Math"/>
                                            </a:rPr>
                                            <m:t>𝑍</m:t>
                                          </m:r>
                                        </m:e>
                                      </m:acc>
                                    </m:num>
                                    <m:den>
                                      <m:r>
                                        <a:rPr lang="es-ES" sz="1600" i="1">
                                          <a:latin typeface="Cambria Math"/>
                                        </a:rPr>
                                        <m:t>h</m:t>
                                      </m:r>
                                    </m:den>
                                  </m:f>
                                </m:e>
                              </m:d>
                            </m:e>
                          </m:nary>
                        </m:num>
                        <m:den>
                          <m:nary>
                            <m:naryPr>
                              <m:chr m:val="∑"/>
                              <m:limLoc m:val="undOvr"/>
                              <m:supHide m:val="on"/>
                              <m:ctrlPr>
                                <a:rPr lang="es-CO" sz="1600" i="1">
                                  <a:latin typeface="Cambria Math"/>
                                </a:rPr>
                              </m:ctrlPr>
                            </m:naryPr>
                            <m:sub>
                              <m:r>
                                <a:rPr lang="es-ES" sz="1600" i="1">
                                  <a:latin typeface="Cambria Math"/>
                                </a:rPr>
                                <m:t>𝑖</m:t>
                              </m:r>
                            </m:sub>
                            <m:sup/>
                            <m:e>
                              <m:r>
                                <a:rPr lang="es-ES" sz="1600" i="1">
                                  <a:latin typeface="Cambria Math"/>
                                </a:rPr>
                                <m:t>𝐼</m:t>
                              </m:r>
                              <m:d>
                                <m:dPr>
                                  <m:begChr m:val="["/>
                                  <m:endChr m:val="]"/>
                                  <m:ctrlPr>
                                    <a:rPr lang="es-CO" sz="1600" i="1">
                                      <a:latin typeface="Cambria Math"/>
                                    </a:rPr>
                                  </m:ctrlPr>
                                </m:dPr>
                                <m:e>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m:t>
                                  </m:r>
                                  <m:acc>
                                    <m:accPr>
                                      <m:chr m:val="̅"/>
                                      <m:ctrlPr>
                                        <a:rPr lang="es-CO" sz="1600" i="1">
                                          <a:latin typeface="Cambria Math"/>
                                        </a:rPr>
                                      </m:ctrlPr>
                                    </m:accPr>
                                    <m:e>
                                      <m:r>
                                        <a:rPr lang="es-ES" sz="1600" i="1">
                                          <a:latin typeface="Cambria Math"/>
                                        </a:rPr>
                                        <m:t>𝑍</m:t>
                                      </m:r>
                                    </m:e>
                                  </m:acc>
                                </m:e>
                              </m:d>
                              <m:r>
                                <a:rPr lang="es-ES" sz="1600" i="1">
                                  <a:latin typeface="Cambria Math"/>
                                </a:rPr>
                                <m:t>𝐾</m:t>
                              </m:r>
                              <m:d>
                                <m:dPr>
                                  <m:ctrlPr>
                                    <a:rPr lang="es-CO" sz="1600" i="1">
                                      <a:latin typeface="Cambria Math"/>
                                    </a:rPr>
                                  </m:ctrlPr>
                                </m:dPr>
                                <m:e>
                                  <m:f>
                                    <m:fPr>
                                      <m:ctrlPr>
                                        <a:rPr lang="es-CO" sz="1600" i="1">
                                          <a:latin typeface="Cambria Math"/>
                                        </a:rPr>
                                      </m:ctrlPr>
                                    </m:fPr>
                                    <m:num>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m:t>
                                      </m:r>
                                      <m:acc>
                                        <m:accPr>
                                          <m:chr m:val="̅"/>
                                          <m:ctrlPr>
                                            <a:rPr lang="es-CO" sz="1600" i="1">
                                              <a:latin typeface="Cambria Math"/>
                                            </a:rPr>
                                          </m:ctrlPr>
                                        </m:accPr>
                                        <m:e>
                                          <m:r>
                                            <a:rPr lang="es-ES" sz="1600" i="1">
                                              <a:latin typeface="Cambria Math"/>
                                            </a:rPr>
                                            <m:t>𝑍</m:t>
                                          </m:r>
                                        </m:e>
                                      </m:acc>
                                    </m:num>
                                    <m:den>
                                      <m:r>
                                        <a:rPr lang="es-ES" sz="1600" i="1">
                                          <a:latin typeface="Cambria Math"/>
                                        </a:rPr>
                                        <m:t>h</m:t>
                                      </m:r>
                                    </m:den>
                                  </m:f>
                                </m:e>
                              </m:d>
                            </m:e>
                          </m:nary>
                        </m:den>
                      </m:f>
                    </m:oMath>
                  </m:oMathPara>
                </a14:m>
                <a:endParaRPr lang="es-CO" sz="1600" dirty="0"/>
              </a:p>
              <a:p>
                <a:r>
                  <a:rPr lang="es-ES" sz="1600" dirty="0"/>
                  <a:t> </a:t>
                </a:r>
                <a:endParaRPr lang="es-CO" sz="1600" dirty="0"/>
              </a:p>
              <a:p>
                <a:pPr/>
                <a14:m>
                  <m:oMathPara xmlns:m="http://schemas.openxmlformats.org/officeDocument/2006/math">
                    <m:oMathParaPr>
                      <m:jc m:val="centerGroup"/>
                    </m:oMathParaPr>
                    <m:oMath xmlns:m="http://schemas.openxmlformats.org/officeDocument/2006/math">
                      <m:r>
                        <a:rPr lang="es-ES" sz="1600" i="1">
                          <a:latin typeface="Cambria Math"/>
                        </a:rPr>
                        <m:t> </m:t>
                      </m:r>
                      <m:acc>
                        <m:accPr>
                          <m:chr m:val="̅"/>
                          <m:ctrlPr>
                            <a:rPr lang="es-CO" sz="1600" i="1">
                              <a:latin typeface="Cambria Math"/>
                            </a:rPr>
                          </m:ctrlPr>
                        </m:accPr>
                        <m:e>
                          <m:r>
                            <a:rPr lang="es-ES" sz="1600" i="1">
                              <a:latin typeface="Cambria Math"/>
                            </a:rPr>
                            <m:t>𝑌</m:t>
                          </m:r>
                        </m:e>
                      </m:acc>
                      <m:d>
                        <m:dPr>
                          <m:ctrlPr>
                            <a:rPr lang="es-CO" sz="1600" i="1">
                              <a:latin typeface="Cambria Math"/>
                            </a:rPr>
                          </m:ctrlPr>
                        </m:dPr>
                        <m:e>
                          <m:sSup>
                            <m:sSupPr>
                              <m:ctrlPr>
                                <a:rPr lang="es-CO" sz="1600" i="1">
                                  <a:latin typeface="Cambria Math"/>
                                </a:rPr>
                              </m:ctrlPr>
                            </m:sSupPr>
                            <m:e>
                              <m:acc>
                                <m:accPr>
                                  <m:chr m:val="̅"/>
                                  <m:ctrlPr>
                                    <a:rPr lang="es-CO" sz="1600" i="1">
                                      <a:latin typeface="Cambria Math"/>
                                    </a:rPr>
                                  </m:ctrlPr>
                                </m:accPr>
                                <m:e>
                                  <m:r>
                                    <a:rPr lang="es-CO" sz="1600" b="0" i="1" smtClean="0">
                                      <a:latin typeface="Cambria Math"/>
                                    </a:rPr>
                                    <m:t> </m:t>
                                  </m:r>
                                  <m:r>
                                    <a:rPr lang="es-ES" sz="1600" i="1">
                                      <a:latin typeface="Cambria Math"/>
                                    </a:rPr>
                                    <m:t>𝑍</m:t>
                                  </m:r>
                                </m:e>
                              </m:acc>
                            </m:e>
                            <m:sup>
                              <m:r>
                                <a:rPr lang="es-ES" sz="1600" i="1">
                                  <a:latin typeface="Cambria Math"/>
                                </a:rPr>
                                <m:t>−</m:t>
                              </m:r>
                            </m:sup>
                          </m:sSup>
                        </m:e>
                      </m:d>
                      <m:r>
                        <a:rPr lang="es-ES" sz="1600" i="1">
                          <a:latin typeface="Cambria Math"/>
                        </a:rPr>
                        <m:t>=</m:t>
                      </m:r>
                      <m:f>
                        <m:fPr>
                          <m:ctrlPr>
                            <a:rPr lang="es-CO" sz="1600" i="1">
                              <a:latin typeface="Cambria Math"/>
                            </a:rPr>
                          </m:ctrlPr>
                        </m:fPr>
                        <m:num>
                          <m:nary>
                            <m:naryPr>
                              <m:chr m:val="∑"/>
                              <m:limLoc m:val="undOvr"/>
                              <m:supHide m:val="on"/>
                              <m:ctrlPr>
                                <a:rPr lang="es-CO" sz="1600" i="1">
                                  <a:latin typeface="Cambria Math"/>
                                </a:rPr>
                              </m:ctrlPr>
                            </m:naryPr>
                            <m:sub>
                              <m:r>
                                <a:rPr lang="es-ES" sz="1600" i="1">
                                  <a:latin typeface="Cambria Math"/>
                                </a:rPr>
                                <m:t>𝑖</m:t>
                              </m:r>
                            </m:sub>
                            <m:sup/>
                            <m:e>
                              <m:sSub>
                                <m:sSubPr>
                                  <m:ctrlPr>
                                    <a:rPr lang="es-CO" sz="1600" i="1">
                                      <a:latin typeface="Cambria Math"/>
                                    </a:rPr>
                                  </m:ctrlPr>
                                </m:sSubPr>
                                <m:e>
                                  <m:r>
                                    <a:rPr lang="es-ES" sz="1600" i="1">
                                      <a:latin typeface="Cambria Math"/>
                                    </a:rPr>
                                    <m:t>𝑌</m:t>
                                  </m:r>
                                </m:e>
                                <m:sub>
                                  <m:r>
                                    <a:rPr lang="es-ES" sz="1600" i="1">
                                      <a:latin typeface="Cambria Math"/>
                                    </a:rPr>
                                    <m:t>𝑖</m:t>
                                  </m:r>
                                </m:sub>
                              </m:sSub>
                              <m:r>
                                <a:rPr lang="es-ES" sz="1600" i="1">
                                  <a:latin typeface="Cambria Math"/>
                                </a:rPr>
                                <m:t>𝐼</m:t>
                              </m:r>
                              <m:d>
                                <m:dPr>
                                  <m:begChr m:val="["/>
                                  <m:endChr m:val="]"/>
                                  <m:ctrlPr>
                                    <a:rPr lang="es-CO" sz="1600" i="1">
                                      <a:latin typeface="Cambria Math"/>
                                    </a:rPr>
                                  </m:ctrlPr>
                                </m:dPr>
                                <m:e>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&lt;</m:t>
                                  </m:r>
                                  <m:acc>
                                    <m:accPr>
                                      <m:chr m:val="̅"/>
                                      <m:ctrlPr>
                                        <a:rPr lang="es-CO" sz="1600" i="1">
                                          <a:latin typeface="Cambria Math"/>
                                        </a:rPr>
                                      </m:ctrlPr>
                                    </m:accPr>
                                    <m:e>
                                      <m:r>
                                        <a:rPr lang="es-ES" sz="1600" i="1">
                                          <a:latin typeface="Cambria Math"/>
                                        </a:rPr>
                                        <m:t>𝑍</m:t>
                                      </m:r>
                                    </m:e>
                                  </m:acc>
                                </m:e>
                              </m:d>
                              <m:r>
                                <a:rPr lang="es-ES" sz="1600" i="1">
                                  <a:latin typeface="Cambria Math"/>
                                </a:rPr>
                                <m:t>𝐾</m:t>
                              </m:r>
                              <m:d>
                                <m:dPr>
                                  <m:ctrlPr>
                                    <a:rPr lang="es-CO" sz="1600" i="1">
                                      <a:latin typeface="Cambria Math"/>
                                    </a:rPr>
                                  </m:ctrlPr>
                                </m:dPr>
                                <m:e>
                                  <m:f>
                                    <m:fPr>
                                      <m:ctrlPr>
                                        <a:rPr lang="es-CO" sz="1600" i="1">
                                          <a:latin typeface="Cambria Math"/>
                                        </a:rPr>
                                      </m:ctrlPr>
                                    </m:fPr>
                                    <m:num>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m:t>
                                      </m:r>
                                      <m:acc>
                                        <m:accPr>
                                          <m:chr m:val="̅"/>
                                          <m:ctrlPr>
                                            <a:rPr lang="es-CO" sz="1600" i="1">
                                              <a:latin typeface="Cambria Math"/>
                                            </a:rPr>
                                          </m:ctrlPr>
                                        </m:accPr>
                                        <m:e>
                                          <m:r>
                                            <a:rPr lang="es-ES" sz="1600" i="1">
                                              <a:latin typeface="Cambria Math"/>
                                            </a:rPr>
                                            <m:t>𝑍</m:t>
                                          </m:r>
                                        </m:e>
                                      </m:acc>
                                    </m:num>
                                    <m:den>
                                      <m:r>
                                        <a:rPr lang="es-ES" sz="1600" i="1">
                                          <a:latin typeface="Cambria Math"/>
                                        </a:rPr>
                                        <m:t>h</m:t>
                                      </m:r>
                                    </m:den>
                                  </m:f>
                                </m:e>
                              </m:d>
                            </m:e>
                          </m:nary>
                        </m:num>
                        <m:den>
                          <m:nary>
                            <m:naryPr>
                              <m:chr m:val="∑"/>
                              <m:limLoc m:val="undOvr"/>
                              <m:supHide m:val="on"/>
                              <m:ctrlPr>
                                <a:rPr lang="es-CO" sz="1600" i="1">
                                  <a:latin typeface="Cambria Math"/>
                                </a:rPr>
                              </m:ctrlPr>
                            </m:naryPr>
                            <m:sub>
                              <m:r>
                                <a:rPr lang="es-ES" sz="1600" i="1">
                                  <a:latin typeface="Cambria Math"/>
                                </a:rPr>
                                <m:t>𝑖</m:t>
                              </m:r>
                            </m:sub>
                            <m:sup/>
                            <m:e>
                              <m:r>
                                <a:rPr lang="es-ES" sz="1600" i="1">
                                  <a:latin typeface="Cambria Math"/>
                                </a:rPr>
                                <m:t>𝐼</m:t>
                              </m:r>
                              <m:d>
                                <m:dPr>
                                  <m:begChr m:val="["/>
                                  <m:endChr m:val="]"/>
                                  <m:ctrlPr>
                                    <a:rPr lang="es-CO" sz="1600" i="1">
                                      <a:latin typeface="Cambria Math"/>
                                    </a:rPr>
                                  </m:ctrlPr>
                                </m:dPr>
                                <m:e>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&lt;</m:t>
                                  </m:r>
                                  <m:acc>
                                    <m:accPr>
                                      <m:chr m:val="̅"/>
                                      <m:ctrlPr>
                                        <a:rPr lang="es-CO" sz="1600" i="1">
                                          <a:latin typeface="Cambria Math"/>
                                        </a:rPr>
                                      </m:ctrlPr>
                                    </m:accPr>
                                    <m:e>
                                      <m:r>
                                        <a:rPr lang="es-ES" sz="1600" i="1">
                                          <a:latin typeface="Cambria Math"/>
                                        </a:rPr>
                                        <m:t>𝑍</m:t>
                                      </m:r>
                                    </m:e>
                                  </m:acc>
                                </m:e>
                              </m:d>
                              <m:r>
                                <a:rPr lang="es-ES" sz="1600" i="1">
                                  <a:latin typeface="Cambria Math"/>
                                </a:rPr>
                                <m:t>𝐾</m:t>
                              </m:r>
                              <m:d>
                                <m:dPr>
                                  <m:ctrlPr>
                                    <a:rPr lang="es-CO" sz="1600" i="1">
                                      <a:latin typeface="Cambria Math"/>
                                    </a:rPr>
                                  </m:ctrlPr>
                                </m:dPr>
                                <m:e>
                                  <m:f>
                                    <m:fPr>
                                      <m:ctrlPr>
                                        <a:rPr lang="es-CO" sz="1600" i="1">
                                          <a:latin typeface="Cambria Math"/>
                                        </a:rPr>
                                      </m:ctrlPr>
                                    </m:fPr>
                                    <m:num>
                                      <m:sSub>
                                        <m:sSubPr>
                                          <m:ctrlPr>
                                            <a:rPr lang="es-CO" sz="1600" i="1">
                                              <a:latin typeface="Cambria Math"/>
                                            </a:rPr>
                                          </m:ctrlPr>
                                        </m:sSubPr>
                                        <m:e>
                                          <m:r>
                                            <a:rPr lang="es-ES" sz="1600" i="1">
                                              <a:latin typeface="Cambria Math"/>
                                            </a:rPr>
                                            <m:t>𝑍</m:t>
                                          </m:r>
                                        </m:e>
                                        <m:sub>
                                          <m:r>
                                            <a:rPr lang="es-ES" sz="1600" i="1">
                                              <a:latin typeface="Cambria Math"/>
                                            </a:rPr>
                                            <m:t>𝑖</m:t>
                                          </m:r>
                                        </m:sub>
                                      </m:sSub>
                                      <m:r>
                                        <a:rPr lang="es-ES" sz="1600" i="1">
                                          <a:latin typeface="Cambria Math"/>
                                        </a:rPr>
                                        <m:t>−</m:t>
                                      </m:r>
                                      <m:acc>
                                        <m:accPr>
                                          <m:chr m:val="̅"/>
                                          <m:ctrlPr>
                                            <a:rPr lang="es-CO" sz="1600" i="1">
                                              <a:latin typeface="Cambria Math"/>
                                            </a:rPr>
                                          </m:ctrlPr>
                                        </m:accPr>
                                        <m:e>
                                          <m:r>
                                            <a:rPr lang="es-ES" sz="1600" i="1">
                                              <a:latin typeface="Cambria Math"/>
                                            </a:rPr>
                                            <m:t>𝑍</m:t>
                                          </m:r>
                                        </m:e>
                                      </m:acc>
                                    </m:num>
                                    <m:den>
                                      <m:r>
                                        <a:rPr lang="es-ES" sz="1600" i="1">
                                          <a:latin typeface="Cambria Math"/>
                                        </a:rPr>
                                        <m:t>h</m:t>
                                      </m:r>
                                    </m:den>
                                  </m:f>
                                </m:e>
                              </m:d>
                            </m:e>
                          </m:nary>
                        </m:den>
                      </m:f>
                    </m:oMath>
                  </m:oMathPara>
                </a14:m>
                <a:endParaRPr lang="es-CO" sz="1600" dirty="0"/>
              </a:p>
            </p:txBody>
          </p:sp>
        </mc:Choice>
        <mc:Fallback>
          <p:sp>
            <p:nvSpPr>
              <p:cNvPr id="3" name="2 Rectángulo"/>
              <p:cNvSpPr>
                <a:spLocks noRot="1" noChangeAspect="1" noMove="1" noResize="1" noEditPoints="1" noAdjustHandles="1" noChangeArrowheads="1" noChangeShapeType="1" noTextEdit="1"/>
              </p:cNvSpPr>
              <p:nvPr/>
            </p:nvSpPr>
            <p:spPr>
              <a:xfrm>
                <a:off x="27558" y="3689131"/>
                <a:ext cx="4572000" cy="2270493"/>
              </a:xfrm>
              <a:prstGeom prst="rect">
                <a:avLst/>
              </a:prstGeom>
              <a:blipFill rotWithShape="1">
                <a:blip r:embed="rId4" cstate="print"/>
                <a:stretch>
                  <a:fillRect/>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16 Marcador de contenido"/>
          <p:cNvSpPr>
            <a:spLocks noGrp="1"/>
          </p:cNvSpPr>
          <p:nvPr>
            <p:ph idx="1"/>
          </p:nvPr>
        </p:nvSpPr>
        <p:spPr/>
        <p:txBody>
          <a:bodyPr>
            <a:normAutofit fontScale="92500" lnSpcReduction="10000"/>
          </a:bodyPr>
          <a:lstStyle/>
          <a:p>
            <a:endParaRPr lang="es-MX" dirty="0" smtClean="0"/>
          </a:p>
          <a:p>
            <a:endParaRPr lang="es-MX" dirty="0" smtClean="0"/>
          </a:p>
          <a:p>
            <a:endParaRPr lang="es-MX" dirty="0" smtClean="0"/>
          </a:p>
          <a:p>
            <a:endParaRPr lang="es-MX" dirty="0" smtClean="0"/>
          </a:p>
          <a:p>
            <a:endParaRPr lang="es-MX" sz="2600" dirty="0" smtClean="0"/>
          </a:p>
          <a:p>
            <a:r>
              <a:rPr lang="es-MX" sz="2600" i="1" dirty="0" smtClean="0">
                <a:solidFill>
                  <a:schemeClr val="accent5">
                    <a:lumMod val="75000"/>
                  </a:schemeClr>
                </a:solidFill>
              </a:rPr>
              <a:t>K</a:t>
            </a:r>
            <a:r>
              <a:rPr lang="es-MX" sz="2600" dirty="0" smtClean="0">
                <a:solidFill>
                  <a:schemeClr val="accent5">
                    <a:lumMod val="75000"/>
                  </a:schemeClr>
                </a:solidFill>
              </a:rPr>
              <a:t>(.):</a:t>
            </a:r>
            <a:r>
              <a:rPr lang="es-MX" sz="2600" dirty="0" smtClean="0"/>
              <a:t> Función </a:t>
            </a:r>
            <a:r>
              <a:rPr lang="es-MX" sz="2600" dirty="0" err="1" smtClean="0"/>
              <a:t>Kernel</a:t>
            </a:r>
            <a:r>
              <a:rPr lang="es-MX" sz="2600" dirty="0" smtClean="0"/>
              <a:t>  (que pesa la observación </a:t>
            </a:r>
            <a:r>
              <a:rPr lang="es-MX" sz="2600" i="1" dirty="0" smtClean="0">
                <a:latin typeface="Times New Roman" pitchFamily="18" charset="0"/>
                <a:cs typeface="Times New Roman" pitchFamily="18" charset="0"/>
              </a:rPr>
              <a:t>i</a:t>
            </a:r>
            <a:r>
              <a:rPr lang="es-MX" sz="2600" dirty="0" smtClean="0"/>
              <a:t> dependiendo  </a:t>
            </a:r>
          </a:p>
          <a:p>
            <a:pPr>
              <a:buNone/>
            </a:pPr>
            <a:r>
              <a:rPr lang="es-MX" sz="2600" dirty="0" smtClean="0"/>
              <a:t>              de qué tan lejos está del umbral).</a:t>
            </a:r>
          </a:p>
          <a:p>
            <a:r>
              <a:rPr lang="es-MX" sz="2600" i="1" dirty="0" smtClean="0">
                <a:solidFill>
                  <a:schemeClr val="accent5">
                    <a:lumMod val="75000"/>
                  </a:schemeClr>
                </a:solidFill>
              </a:rPr>
              <a:t>h</a:t>
            </a:r>
            <a:r>
              <a:rPr lang="es-MX" sz="2600" dirty="0" smtClean="0">
                <a:solidFill>
                  <a:schemeClr val="accent5">
                    <a:lumMod val="75000"/>
                  </a:schemeClr>
                </a:solidFill>
              </a:rPr>
              <a:t>:</a:t>
            </a:r>
            <a:r>
              <a:rPr lang="es-MX" sz="2600" dirty="0" smtClean="0"/>
              <a:t> Ancho de banda</a:t>
            </a:r>
          </a:p>
          <a:p>
            <a:r>
              <a:rPr lang="es-MX" sz="2600" i="1" dirty="0" smtClean="0">
                <a:solidFill>
                  <a:schemeClr val="accent5">
                    <a:lumMod val="75000"/>
                  </a:schemeClr>
                </a:solidFill>
                <a:latin typeface="Times New Roman" pitchFamily="18" charset="0"/>
                <a:cs typeface="Times New Roman" pitchFamily="18" charset="0"/>
              </a:rPr>
              <a:t>I</a:t>
            </a:r>
            <a:r>
              <a:rPr lang="es-MX" sz="2600" dirty="0" smtClean="0">
                <a:solidFill>
                  <a:schemeClr val="accent5">
                    <a:lumMod val="75000"/>
                  </a:schemeClr>
                </a:solidFill>
              </a:rPr>
              <a:t>(*):</a:t>
            </a:r>
            <a:r>
              <a:rPr lang="es-MX" sz="2600" dirty="0" smtClean="0"/>
              <a:t> 1 </a:t>
            </a:r>
            <a:r>
              <a:rPr lang="es-MX" sz="2600" dirty="0" smtClean="0">
                <a:sym typeface="Wingdings" pitchFamily="2" charset="2"/>
              </a:rPr>
              <a:t> S</a:t>
            </a:r>
            <a:r>
              <a:rPr lang="es-MX" sz="2600" dirty="0" smtClean="0"/>
              <a:t>i la condición (*) se cumple </a:t>
            </a:r>
          </a:p>
          <a:p>
            <a:pPr>
              <a:buNone/>
            </a:pPr>
            <a:r>
              <a:rPr lang="es-MX" sz="2600" dirty="0" smtClean="0"/>
              <a:t>		0  </a:t>
            </a:r>
            <a:r>
              <a:rPr lang="es-MX" sz="2600" dirty="0" smtClean="0">
                <a:sym typeface="Wingdings" pitchFamily="2" charset="2"/>
              </a:rPr>
              <a:t> De lo contrario </a:t>
            </a:r>
            <a:endParaRPr lang="es-MX" sz="2600" dirty="0" smtClean="0"/>
          </a:p>
          <a:p>
            <a:endParaRPr lang="en-US" sz="1000" dirty="0" smtClean="0"/>
          </a:p>
          <a:p>
            <a:endParaRPr lang="es-MX" sz="2600" dirty="0" smtClean="0"/>
          </a:p>
        </p:txBody>
      </p:sp>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a:t>
            </a:r>
            <a:br>
              <a:rPr lang="es-MX" u="sng" dirty="0" smtClean="0"/>
            </a:br>
            <a:r>
              <a:rPr lang="es-MX" u="sng" dirty="0" smtClean="0"/>
              <a:t>Estimador de Kernel</a:t>
            </a:r>
            <a:endParaRPr lang="en-U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4" name="13 Cerrar llave"/>
          <p:cNvSpPr/>
          <p:nvPr/>
        </p:nvSpPr>
        <p:spPr>
          <a:xfrm>
            <a:off x="4698124" y="1891867"/>
            <a:ext cx="362607" cy="204951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15 CuadroTexto"/>
          <p:cNvSpPr txBox="1"/>
          <p:nvPr/>
        </p:nvSpPr>
        <p:spPr>
          <a:xfrm>
            <a:off x="5202621" y="1876101"/>
            <a:ext cx="3578772" cy="1246495"/>
          </a:xfrm>
          <a:prstGeom prst="rect">
            <a:avLst/>
          </a:prstGeom>
          <a:noFill/>
        </p:spPr>
        <p:txBody>
          <a:bodyPr wrap="square" rtlCol="0">
            <a:spAutoFit/>
          </a:bodyPr>
          <a:lstStyle/>
          <a:p>
            <a:r>
              <a:rPr lang="es-MX" sz="2400" dirty="0" smtClean="0"/>
              <a:t>Probabilidad de participación a cada lado del umbral. </a:t>
            </a:r>
            <a:endParaRPr lang="en-US" sz="2400" dirty="0"/>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55</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559683" y="1834635"/>
                <a:ext cx="4572000" cy="2134687"/>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acc>
                        <m:accPr>
                          <m:chr m:val="̂"/>
                          <m:ctrlPr>
                            <a:rPr lang="es-CO" sz="1500" i="1">
                              <a:latin typeface="Cambria Math"/>
                            </a:rPr>
                          </m:ctrlPr>
                        </m:accPr>
                        <m:e>
                          <m:r>
                            <a:rPr lang="es-ES" sz="1500" i="1">
                              <a:latin typeface="Cambria Math"/>
                            </a:rPr>
                            <m:t>𝑃𝑟</m:t>
                          </m:r>
                        </m:e>
                      </m:acc>
                      <m:d>
                        <m:dPr>
                          <m:ctrlPr>
                            <a:rPr lang="es-CO" sz="1500" i="1">
                              <a:latin typeface="Cambria Math"/>
                            </a:rPr>
                          </m:ctrlPr>
                        </m:dPr>
                        <m:e>
                          <m:r>
                            <a:rPr lang="es-ES" sz="1500" i="1">
                              <a:latin typeface="Cambria Math"/>
                            </a:rPr>
                            <m:t>𝐷</m:t>
                          </m:r>
                          <m:r>
                            <a:rPr lang="es-ES" sz="1500" i="1">
                              <a:latin typeface="Cambria Math"/>
                            </a:rPr>
                            <m:t>=1|</m:t>
                          </m:r>
                          <m:sSup>
                            <m:sSupPr>
                              <m:ctrlPr>
                                <a:rPr lang="es-CO" sz="1500" i="1">
                                  <a:latin typeface="Cambria Math"/>
                                </a:rPr>
                              </m:ctrlPr>
                            </m:sSupPr>
                            <m:e>
                              <m:acc>
                                <m:accPr>
                                  <m:chr m:val="̅"/>
                                  <m:ctrlPr>
                                    <a:rPr lang="es-CO" sz="1500" i="1">
                                      <a:latin typeface="Cambria Math"/>
                                    </a:rPr>
                                  </m:ctrlPr>
                                </m:accPr>
                                <m:e>
                                  <m:r>
                                    <a:rPr lang="es-ES" sz="1500" i="1">
                                      <a:latin typeface="Cambria Math"/>
                                    </a:rPr>
                                    <m:t>𝑍</m:t>
                                  </m:r>
                                </m:e>
                              </m:acc>
                            </m:e>
                            <m:sup>
                              <m:r>
                                <a:rPr lang="es-ES" sz="1500" i="1">
                                  <a:latin typeface="Cambria Math"/>
                                </a:rPr>
                                <m:t>+</m:t>
                              </m:r>
                            </m:sup>
                          </m:sSup>
                        </m:e>
                      </m:d>
                      <m:r>
                        <a:rPr lang="es-ES" sz="1500" i="1">
                          <a:latin typeface="Cambria Math"/>
                        </a:rPr>
                        <m:t>=</m:t>
                      </m:r>
                      <m:f>
                        <m:fPr>
                          <m:ctrlPr>
                            <a:rPr lang="es-CO" sz="1500" i="1">
                              <a:latin typeface="Cambria Math"/>
                            </a:rPr>
                          </m:ctrlPr>
                        </m:fPr>
                        <m:num>
                          <m:nary>
                            <m:naryPr>
                              <m:chr m:val="∑"/>
                              <m:limLoc m:val="undOvr"/>
                              <m:supHide m:val="on"/>
                              <m:ctrlPr>
                                <a:rPr lang="es-CO" sz="1500" i="1">
                                  <a:latin typeface="Cambria Math"/>
                                </a:rPr>
                              </m:ctrlPr>
                            </m:naryPr>
                            <m:sub>
                              <m:r>
                                <a:rPr lang="es-ES" sz="1500" i="1">
                                  <a:latin typeface="Cambria Math"/>
                                </a:rPr>
                                <m:t>𝑖</m:t>
                              </m:r>
                            </m:sub>
                            <m:sup/>
                            <m:e>
                              <m:sSub>
                                <m:sSubPr>
                                  <m:ctrlPr>
                                    <a:rPr lang="es-CO" sz="1500" i="1">
                                      <a:latin typeface="Cambria Math"/>
                                    </a:rPr>
                                  </m:ctrlPr>
                                </m:sSubPr>
                                <m:e>
                                  <m:r>
                                    <a:rPr lang="es-ES" sz="1500" i="1">
                                      <a:latin typeface="Cambria Math"/>
                                    </a:rPr>
                                    <m:t>𝐷</m:t>
                                  </m:r>
                                </m:e>
                                <m:sub>
                                  <m:r>
                                    <a:rPr lang="es-ES" sz="1500" i="1">
                                      <a:latin typeface="Cambria Math"/>
                                    </a:rPr>
                                    <m:t>𝑖</m:t>
                                  </m:r>
                                </m:sub>
                              </m:sSub>
                              <m:r>
                                <a:rPr lang="es-ES" sz="1500" i="1">
                                  <a:latin typeface="Cambria Math"/>
                                </a:rPr>
                                <m:t>𝐼</m:t>
                              </m:r>
                              <m:d>
                                <m:dPr>
                                  <m:begChr m:val="["/>
                                  <m:endChr m:val="]"/>
                                  <m:ctrlPr>
                                    <a:rPr lang="es-CO" sz="1500" i="1">
                                      <a:latin typeface="Cambria Math"/>
                                    </a:rPr>
                                  </m:ctrlPr>
                                </m:dPr>
                                <m:e>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m:t>
                                  </m:r>
                                  <m:acc>
                                    <m:accPr>
                                      <m:chr m:val="̅"/>
                                      <m:ctrlPr>
                                        <a:rPr lang="es-CO" sz="1500" i="1">
                                          <a:latin typeface="Cambria Math"/>
                                        </a:rPr>
                                      </m:ctrlPr>
                                    </m:accPr>
                                    <m:e>
                                      <m:r>
                                        <a:rPr lang="es-ES" sz="1500" i="1">
                                          <a:latin typeface="Cambria Math"/>
                                        </a:rPr>
                                        <m:t>𝑍</m:t>
                                      </m:r>
                                    </m:e>
                                  </m:acc>
                                </m:e>
                              </m:d>
                              <m:r>
                                <a:rPr lang="es-ES" sz="1500" i="1">
                                  <a:latin typeface="Cambria Math"/>
                                </a:rPr>
                                <m:t>𝐾</m:t>
                              </m:r>
                              <m:d>
                                <m:dPr>
                                  <m:ctrlPr>
                                    <a:rPr lang="es-CO" sz="1500" i="1">
                                      <a:latin typeface="Cambria Math"/>
                                    </a:rPr>
                                  </m:ctrlPr>
                                </m:dPr>
                                <m:e>
                                  <m:f>
                                    <m:fPr>
                                      <m:ctrlPr>
                                        <a:rPr lang="es-CO" sz="1500" i="1">
                                          <a:latin typeface="Cambria Math"/>
                                        </a:rPr>
                                      </m:ctrlPr>
                                    </m:fPr>
                                    <m:num>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m:t>
                                      </m:r>
                                      <m:acc>
                                        <m:accPr>
                                          <m:chr m:val="̅"/>
                                          <m:ctrlPr>
                                            <a:rPr lang="es-CO" sz="1500" i="1">
                                              <a:latin typeface="Cambria Math"/>
                                            </a:rPr>
                                          </m:ctrlPr>
                                        </m:accPr>
                                        <m:e>
                                          <m:r>
                                            <a:rPr lang="es-ES" sz="1500" i="1">
                                              <a:latin typeface="Cambria Math"/>
                                            </a:rPr>
                                            <m:t>𝑍</m:t>
                                          </m:r>
                                        </m:e>
                                      </m:acc>
                                    </m:num>
                                    <m:den>
                                      <m:r>
                                        <a:rPr lang="es-ES" sz="1500" i="1">
                                          <a:latin typeface="Cambria Math"/>
                                        </a:rPr>
                                        <m:t>h</m:t>
                                      </m:r>
                                    </m:den>
                                  </m:f>
                                </m:e>
                              </m:d>
                            </m:e>
                          </m:nary>
                        </m:num>
                        <m:den>
                          <m:nary>
                            <m:naryPr>
                              <m:chr m:val="∑"/>
                              <m:limLoc m:val="undOvr"/>
                              <m:supHide m:val="on"/>
                              <m:ctrlPr>
                                <a:rPr lang="es-CO" sz="1500" i="1">
                                  <a:latin typeface="Cambria Math"/>
                                </a:rPr>
                              </m:ctrlPr>
                            </m:naryPr>
                            <m:sub>
                              <m:r>
                                <a:rPr lang="es-ES" sz="1500" i="1">
                                  <a:latin typeface="Cambria Math"/>
                                </a:rPr>
                                <m:t>𝑖</m:t>
                              </m:r>
                            </m:sub>
                            <m:sup/>
                            <m:e>
                              <m:r>
                                <a:rPr lang="es-ES" sz="1500" i="1">
                                  <a:latin typeface="Cambria Math"/>
                                </a:rPr>
                                <m:t>𝐼</m:t>
                              </m:r>
                              <m:d>
                                <m:dPr>
                                  <m:begChr m:val="["/>
                                  <m:endChr m:val="]"/>
                                  <m:ctrlPr>
                                    <a:rPr lang="es-CO" sz="1500" i="1">
                                      <a:latin typeface="Cambria Math"/>
                                    </a:rPr>
                                  </m:ctrlPr>
                                </m:dPr>
                                <m:e>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m:t>
                                  </m:r>
                                  <m:acc>
                                    <m:accPr>
                                      <m:chr m:val="̅"/>
                                      <m:ctrlPr>
                                        <a:rPr lang="es-CO" sz="1500" i="1">
                                          <a:latin typeface="Cambria Math"/>
                                        </a:rPr>
                                      </m:ctrlPr>
                                    </m:accPr>
                                    <m:e>
                                      <m:r>
                                        <a:rPr lang="es-ES" sz="1500" i="1">
                                          <a:latin typeface="Cambria Math"/>
                                        </a:rPr>
                                        <m:t>𝑍</m:t>
                                      </m:r>
                                    </m:e>
                                  </m:acc>
                                </m:e>
                              </m:d>
                              <m:r>
                                <a:rPr lang="es-ES" sz="1500" i="1">
                                  <a:latin typeface="Cambria Math"/>
                                </a:rPr>
                                <m:t>𝐾</m:t>
                              </m:r>
                              <m:d>
                                <m:dPr>
                                  <m:ctrlPr>
                                    <a:rPr lang="es-CO" sz="1500" i="1">
                                      <a:latin typeface="Cambria Math"/>
                                    </a:rPr>
                                  </m:ctrlPr>
                                </m:dPr>
                                <m:e>
                                  <m:f>
                                    <m:fPr>
                                      <m:ctrlPr>
                                        <a:rPr lang="es-CO" sz="1500" i="1">
                                          <a:latin typeface="Cambria Math"/>
                                        </a:rPr>
                                      </m:ctrlPr>
                                    </m:fPr>
                                    <m:num>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m:t>
                                      </m:r>
                                      <m:acc>
                                        <m:accPr>
                                          <m:chr m:val="̅"/>
                                          <m:ctrlPr>
                                            <a:rPr lang="es-CO" sz="1500" i="1">
                                              <a:latin typeface="Cambria Math"/>
                                            </a:rPr>
                                          </m:ctrlPr>
                                        </m:accPr>
                                        <m:e>
                                          <m:r>
                                            <a:rPr lang="es-ES" sz="1500" i="1">
                                              <a:latin typeface="Cambria Math"/>
                                            </a:rPr>
                                            <m:t>𝑍</m:t>
                                          </m:r>
                                        </m:e>
                                      </m:acc>
                                    </m:num>
                                    <m:den>
                                      <m:r>
                                        <a:rPr lang="es-ES" sz="1500" i="1">
                                          <a:latin typeface="Cambria Math"/>
                                        </a:rPr>
                                        <m:t>h</m:t>
                                      </m:r>
                                    </m:den>
                                  </m:f>
                                </m:e>
                              </m:d>
                            </m:e>
                          </m:nary>
                        </m:den>
                      </m:f>
                    </m:oMath>
                  </m:oMathPara>
                </a14:m>
                <a:endParaRPr lang="es-CO" sz="1500" dirty="0"/>
              </a:p>
              <a:p>
                <a:r>
                  <a:rPr lang="es-ES" sz="1500" dirty="0"/>
                  <a:t> </a:t>
                </a:r>
                <a:endParaRPr lang="es-CO" sz="1500" dirty="0"/>
              </a:p>
              <a:p>
                <a:pPr/>
                <a14:m>
                  <m:oMathPara xmlns:m="http://schemas.openxmlformats.org/officeDocument/2006/math">
                    <m:oMathParaPr>
                      <m:jc m:val="centerGroup"/>
                    </m:oMathParaPr>
                    <m:oMath xmlns:m="http://schemas.openxmlformats.org/officeDocument/2006/math">
                      <m:acc>
                        <m:accPr>
                          <m:chr m:val="̂"/>
                          <m:ctrlPr>
                            <a:rPr lang="es-CO" sz="1500" i="1">
                              <a:latin typeface="Cambria Math"/>
                            </a:rPr>
                          </m:ctrlPr>
                        </m:accPr>
                        <m:e>
                          <m:r>
                            <a:rPr lang="es-ES" sz="1500" i="1">
                              <a:latin typeface="Cambria Math"/>
                            </a:rPr>
                            <m:t>𝑃𝑟</m:t>
                          </m:r>
                        </m:e>
                      </m:acc>
                      <m:d>
                        <m:dPr>
                          <m:ctrlPr>
                            <a:rPr lang="es-CO" sz="1500" i="1">
                              <a:latin typeface="Cambria Math"/>
                            </a:rPr>
                          </m:ctrlPr>
                        </m:dPr>
                        <m:e>
                          <m:r>
                            <a:rPr lang="es-ES" sz="1500" i="1">
                              <a:latin typeface="Cambria Math"/>
                            </a:rPr>
                            <m:t>𝐷</m:t>
                          </m:r>
                          <m:r>
                            <a:rPr lang="es-ES" sz="1500" i="1">
                              <a:latin typeface="Cambria Math"/>
                            </a:rPr>
                            <m:t>=1|</m:t>
                          </m:r>
                          <m:sSup>
                            <m:sSupPr>
                              <m:ctrlPr>
                                <a:rPr lang="es-CO" sz="1500" i="1">
                                  <a:latin typeface="Cambria Math"/>
                                </a:rPr>
                              </m:ctrlPr>
                            </m:sSupPr>
                            <m:e>
                              <m:acc>
                                <m:accPr>
                                  <m:chr m:val="̅"/>
                                  <m:ctrlPr>
                                    <a:rPr lang="es-CO" sz="1500" i="1">
                                      <a:latin typeface="Cambria Math"/>
                                    </a:rPr>
                                  </m:ctrlPr>
                                </m:accPr>
                                <m:e>
                                  <m:r>
                                    <a:rPr lang="es-ES" sz="1500" i="1">
                                      <a:latin typeface="Cambria Math"/>
                                    </a:rPr>
                                    <m:t>𝑍</m:t>
                                  </m:r>
                                </m:e>
                              </m:acc>
                            </m:e>
                            <m:sup>
                              <m:r>
                                <a:rPr lang="es-ES" sz="1500" i="1">
                                  <a:latin typeface="Cambria Math"/>
                                </a:rPr>
                                <m:t>−</m:t>
                              </m:r>
                            </m:sup>
                          </m:sSup>
                        </m:e>
                      </m:d>
                      <m:r>
                        <a:rPr lang="es-ES" sz="1500" i="1">
                          <a:latin typeface="Cambria Math"/>
                        </a:rPr>
                        <m:t>=</m:t>
                      </m:r>
                      <m:f>
                        <m:fPr>
                          <m:ctrlPr>
                            <a:rPr lang="es-CO" sz="1500" i="1">
                              <a:latin typeface="Cambria Math"/>
                            </a:rPr>
                          </m:ctrlPr>
                        </m:fPr>
                        <m:num>
                          <m:nary>
                            <m:naryPr>
                              <m:chr m:val="∑"/>
                              <m:limLoc m:val="undOvr"/>
                              <m:supHide m:val="on"/>
                              <m:ctrlPr>
                                <a:rPr lang="es-CO" sz="1500" i="1">
                                  <a:latin typeface="Cambria Math"/>
                                </a:rPr>
                              </m:ctrlPr>
                            </m:naryPr>
                            <m:sub>
                              <m:r>
                                <a:rPr lang="es-ES" sz="1500" i="1">
                                  <a:latin typeface="Cambria Math"/>
                                </a:rPr>
                                <m:t>𝑖</m:t>
                              </m:r>
                            </m:sub>
                            <m:sup/>
                            <m:e>
                              <m:sSub>
                                <m:sSubPr>
                                  <m:ctrlPr>
                                    <a:rPr lang="es-CO" sz="1500" i="1">
                                      <a:latin typeface="Cambria Math"/>
                                    </a:rPr>
                                  </m:ctrlPr>
                                </m:sSubPr>
                                <m:e>
                                  <m:r>
                                    <a:rPr lang="es-ES" sz="1500" i="1">
                                      <a:latin typeface="Cambria Math"/>
                                    </a:rPr>
                                    <m:t>𝐷</m:t>
                                  </m:r>
                                </m:e>
                                <m:sub>
                                  <m:r>
                                    <a:rPr lang="es-ES" sz="1500" i="1">
                                      <a:latin typeface="Cambria Math"/>
                                    </a:rPr>
                                    <m:t>𝑖</m:t>
                                  </m:r>
                                </m:sub>
                              </m:sSub>
                              <m:r>
                                <a:rPr lang="es-ES" sz="1500" i="1">
                                  <a:latin typeface="Cambria Math"/>
                                </a:rPr>
                                <m:t>𝐼</m:t>
                              </m:r>
                              <m:d>
                                <m:dPr>
                                  <m:begChr m:val="["/>
                                  <m:endChr m:val="]"/>
                                  <m:ctrlPr>
                                    <a:rPr lang="es-CO" sz="1500" i="1">
                                      <a:latin typeface="Cambria Math"/>
                                    </a:rPr>
                                  </m:ctrlPr>
                                </m:dPr>
                                <m:e>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&lt;</m:t>
                                  </m:r>
                                  <m:acc>
                                    <m:accPr>
                                      <m:chr m:val="̅"/>
                                      <m:ctrlPr>
                                        <a:rPr lang="es-CO" sz="1500" i="1">
                                          <a:latin typeface="Cambria Math"/>
                                        </a:rPr>
                                      </m:ctrlPr>
                                    </m:accPr>
                                    <m:e>
                                      <m:r>
                                        <a:rPr lang="es-ES" sz="1500" i="1">
                                          <a:latin typeface="Cambria Math"/>
                                        </a:rPr>
                                        <m:t>𝑍</m:t>
                                      </m:r>
                                    </m:e>
                                  </m:acc>
                                </m:e>
                              </m:d>
                              <m:r>
                                <a:rPr lang="es-ES" sz="1500" i="1">
                                  <a:latin typeface="Cambria Math"/>
                                </a:rPr>
                                <m:t>𝐾</m:t>
                              </m:r>
                              <m:d>
                                <m:dPr>
                                  <m:ctrlPr>
                                    <a:rPr lang="es-CO" sz="1500" i="1">
                                      <a:latin typeface="Cambria Math"/>
                                    </a:rPr>
                                  </m:ctrlPr>
                                </m:dPr>
                                <m:e>
                                  <m:f>
                                    <m:fPr>
                                      <m:ctrlPr>
                                        <a:rPr lang="es-CO" sz="1500" i="1">
                                          <a:latin typeface="Cambria Math"/>
                                        </a:rPr>
                                      </m:ctrlPr>
                                    </m:fPr>
                                    <m:num>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m:t>
                                      </m:r>
                                      <m:acc>
                                        <m:accPr>
                                          <m:chr m:val="̅"/>
                                          <m:ctrlPr>
                                            <a:rPr lang="es-CO" sz="1500" i="1">
                                              <a:latin typeface="Cambria Math"/>
                                            </a:rPr>
                                          </m:ctrlPr>
                                        </m:accPr>
                                        <m:e>
                                          <m:r>
                                            <a:rPr lang="es-ES" sz="1500" i="1">
                                              <a:latin typeface="Cambria Math"/>
                                            </a:rPr>
                                            <m:t>𝑍</m:t>
                                          </m:r>
                                        </m:e>
                                      </m:acc>
                                    </m:num>
                                    <m:den>
                                      <m:r>
                                        <a:rPr lang="es-ES" sz="1500" i="1">
                                          <a:latin typeface="Cambria Math"/>
                                        </a:rPr>
                                        <m:t>h</m:t>
                                      </m:r>
                                    </m:den>
                                  </m:f>
                                </m:e>
                              </m:d>
                            </m:e>
                          </m:nary>
                        </m:num>
                        <m:den>
                          <m:nary>
                            <m:naryPr>
                              <m:chr m:val="∑"/>
                              <m:limLoc m:val="undOvr"/>
                              <m:supHide m:val="on"/>
                              <m:ctrlPr>
                                <a:rPr lang="es-CO" sz="1500" i="1">
                                  <a:latin typeface="Cambria Math"/>
                                </a:rPr>
                              </m:ctrlPr>
                            </m:naryPr>
                            <m:sub>
                              <m:r>
                                <a:rPr lang="es-ES" sz="1500" i="1">
                                  <a:latin typeface="Cambria Math"/>
                                </a:rPr>
                                <m:t>𝑖</m:t>
                              </m:r>
                            </m:sub>
                            <m:sup/>
                            <m:e>
                              <m:r>
                                <a:rPr lang="es-ES" sz="1500" i="1">
                                  <a:latin typeface="Cambria Math"/>
                                </a:rPr>
                                <m:t>𝐼</m:t>
                              </m:r>
                              <m:d>
                                <m:dPr>
                                  <m:begChr m:val="["/>
                                  <m:endChr m:val="]"/>
                                  <m:ctrlPr>
                                    <a:rPr lang="es-CO" sz="1500" i="1">
                                      <a:latin typeface="Cambria Math"/>
                                    </a:rPr>
                                  </m:ctrlPr>
                                </m:dPr>
                                <m:e>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&lt;</m:t>
                                  </m:r>
                                  <m:acc>
                                    <m:accPr>
                                      <m:chr m:val="̅"/>
                                      <m:ctrlPr>
                                        <a:rPr lang="es-CO" sz="1500" i="1">
                                          <a:latin typeface="Cambria Math"/>
                                        </a:rPr>
                                      </m:ctrlPr>
                                    </m:accPr>
                                    <m:e>
                                      <m:r>
                                        <a:rPr lang="es-ES" sz="1500" i="1">
                                          <a:latin typeface="Cambria Math"/>
                                        </a:rPr>
                                        <m:t>𝑍</m:t>
                                      </m:r>
                                    </m:e>
                                  </m:acc>
                                </m:e>
                              </m:d>
                              <m:r>
                                <a:rPr lang="es-ES" sz="1500" i="1">
                                  <a:latin typeface="Cambria Math"/>
                                </a:rPr>
                                <m:t>𝐾</m:t>
                              </m:r>
                              <m:d>
                                <m:dPr>
                                  <m:ctrlPr>
                                    <a:rPr lang="es-CO" sz="1500" i="1">
                                      <a:latin typeface="Cambria Math"/>
                                    </a:rPr>
                                  </m:ctrlPr>
                                </m:dPr>
                                <m:e>
                                  <m:f>
                                    <m:fPr>
                                      <m:ctrlPr>
                                        <a:rPr lang="es-CO" sz="1500" i="1">
                                          <a:latin typeface="Cambria Math"/>
                                        </a:rPr>
                                      </m:ctrlPr>
                                    </m:fPr>
                                    <m:num>
                                      <m:sSub>
                                        <m:sSubPr>
                                          <m:ctrlPr>
                                            <a:rPr lang="es-CO" sz="1500" i="1">
                                              <a:latin typeface="Cambria Math"/>
                                            </a:rPr>
                                          </m:ctrlPr>
                                        </m:sSubPr>
                                        <m:e>
                                          <m:r>
                                            <a:rPr lang="es-ES" sz="1500" i="1">
                                              <a:latin typeface="Cambria Math"/>
                                            </a:rPr>
                                            <m:t>𝑍</m:t>
                                          </m:r>
                                        </m:e>
                                        <m:sub>
                                          <m:r>
                                            <a:rPr lang="es-ES" sz="1500" i="1">
                                              <a:latin typeface="Cambria Math"/>
                                            </a:rPr>
                                            <m:t>𝑖</m:t>
                                          </m:r>
                                        </m:sub>
                                      </m:sSub>
                                      <m:r>
                                        <a:rPr lang="es-ES" sz="1500" i="1">
                                          <a:latin typeface="Cambria Math"/>
                                        </a:rPr>
                                        <m:t>−</m:t>
                                      </m:r>
                                      <m:acc>
                                        <m:accPr>
                                          <m:chr m:val="̅"/>
                                          <m:ctrlPr>
                                            <a:rPr lang="es-CO" sz="1500" i="1">
                                              <a:latin typeface="Cambria Math"/>
                                            </a:rPr>
                                          </m:ctrlPr>
                                        </m:accPr>
                                        <m:e>
                                          <m:r>
                                            <a:rPr lang="es-ES" sz="1500" i="1">
                                              <a:latin typeface="Cambria Math"/>
                                            </a:rPr>
                                            <m:t>𝑍</m:t>
                                          </m:r>
                                        </m:e>
                                      </m:acc>
                                    </m:num>
                                    <m:den>
                                      <m:r>
                                        <a:rPr lang="es-ES" sz="1500" i="1">
                                          <a:latin typeface="Cambria Math"/>
                                        </a:rPr>
                                        <m:t>h</m:t>
                                      </m:r>
                                    </m:den>
                                  </m:f>
                                </m:e>
                              </m:d>
                            </m:e>
                          </m:nary>
                        </m:den>
                      </m:f>
                    </m:oMath>
                  </m:oMathPara>
                </a14:m>
                <a:endParaRPr lang="es-CO" sz="1500" dirty="0"/>
              </a:p>
            </p:txBody>
          </p:sp>
        </mc:Choice>
        <mc:Fallback>
          <p:sp>
            <p:nvSpPr>
              <p:cNvPr id="2" name="1 Rectángulo"/>
              <p:cNvSpPr>
                <a:spLocks noRot="1" noChangeAspect="1" noMove="1" noResize="1" noEditPoints="1" noAdjustHandles="1" noChangeArrowheads="1" noChangeShapeType="1" noTextEdit="1"/>
              </p:cNvSpPr>
              <p:nvPr/>
            </p:nvSpPr>
            <p:spPr>
              <a:xfrm>
                <a:off x="559683" y="1834635"/>
                <a:ext cx="4572000" cy="2134687"/>
              </a:xfrm>
              <a:prstGeom prst="rect">
                <a:avLst/>
              </a:prstGeom>
              <a:blipFill rotWithShape="1">
                <a:blip r:embed="rId4" cstate="print"/>
                <a:stretch>
                  <a:fillRect/>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a:t>
            </a:r>
            <a:br>
              <a:rPr lang="es-MX" u="sng" dirty="0" smtClean="0"/>
            </a:br>
            <a:r>
              <a:rPr lang="es-MX" u="sng" dirty="0" smtClean="0"/>
              <a:t>Regresión lineal local </a:t>
            </a:r>
            <a:endParaRPr lang="en-US" dirty="0"/>
          </a:p>
        </p:txBody>
      </p:sp>
      <p:sp>
        <p:nvSpPr>
          <p:cNvPr id="10" name="9 Marcador de contenido"/>
          <p:cNvSpPr>
            <a:spLocks noGrp="1"/>
          </p:cNvSpPr>
          <p:nvPr>
            <p:ph idx="1"/>
          </p:nvPr>
        </p:nvSpPr>
        <p:spPr/>
        <p:txBody>
          <a:bodyPr>
            <a:normAutofit/>
          </a:bodyPr>
          <a:lstStyle/>
          <a:p>
            <a:endParaRPr lang="es-ES" sz="2600" dirty="0" smtClean="0"/>
          </a:p>
          <a:p>
            <a:r>
              <a:rPr lang="es-ES" sz="2600" dirty="0" smtClean="0"/>
              <a:t>La regresión lineal local tiene mejor desempeño en los límites que la función Kernel. </a:t>
            </a:r>
            <a:endParaRPr lang="es-ES" sz="2600"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31075"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1076" name="Rectangle 4"/>
          <p:cNvSpPr>
            <a:spLocks noChangeArrowheads="1"/>
          </p:cNvSpPr>
          <p:nvPr/>
        </p:nvSpPr>
        <p:spPr bwMode="auto">
          <a:xfrm>
            <a:off x="0" y="11811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31077" name="Rectangle 5"/>
          <p:cNvSpPr>
            <a:spLocks noChangeArrowheads="1"/>
          </p:cNvSpPr>
          <p:nvPr/>
        </p:nvSpPr>
        <p:spPr bwMode="auto">
          <a:xfrm>
            <a:off x="0" y="313474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1" name="10 Cerrar llave"/>
          <p:cNvSpPr/>
          <p:nvPr/>
        </p:nvSpPr>
        <p:spPr>
          <a:xfrm>
            <a:off x="5044966" y="3389630"/>
            <a:ext cx="236482" cy="66215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11 Cerrar llave"/>
          <p:cNvSpPr/>
          <p:nvPr/>
        </p:nvSpPr>
        <p:spPr>
          <a:xfrm>
            <a:off x="5039710" y="4283010"/>
            <a:ext cx="236482" cy="66215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12 CuadroTexto"/>
          <p:cNvSpPr txBox="1"/>
          <p:nvPr/>
        </p:nvSpPr>
        <p:spPr>
          <a:xfrm>
            <a:off x="5376041" y="3310802"/>
            <a:ext cx="3484179" cy="830997"/>
          </a:xfrm>
          <a:prstGeom prst="rect">
            <a:avLst/>
          </a:prstGeom>
          <a:noFill/>
        </p:spPr>
        <p:txBody>
          <a:bodyPr wrap="square" rtlCol="0">
            <a:spAutoFit/>
          </a:bodyPr>
          <a:lstStyle/>
          <a:p>
            <a:r>
              <a:rPr lang="es-MX" sz="2400" dirty="0" smtClean="0"/>
              <a:t>Regresión lineal local a la izquierda del umbral. </a:t>
            </a:r>
            <a:endParaRPr lang="en-US" sz="2400" dirty="0"/>
          </a:p>
        </p:txBody>
      </p:sp>
      <p:sp>
        <p:nvSpPr>
          <p:cNvPr id="14" name="13 CuadroTexto"/>
          <p:cNvSpPr txBox="1"/>
          <p:nvPr/>
        </p:nvSpPr>
        <p:spPr>
          <a:xfrm>
            <a:off x="5386549" y="4156884"/>
            <a:ext cx="3484179" cy="830997"/>
          </a:xfrm>
          <a:prstGeom prst="rect">
            <a:avLst/>
          </a:prstGeom>
          <a:noFill/>
        </p:spPr>
        <p:txBody>
          <a:bodyPr wrap="square" rtlCol="0">
            <a:spAutoFit/>
          </a:bodyPr>
          <a:lstStyle/>
          <a:p>
            <a:r>
              <a:rPr lang="es-MX" sz="2400" dirty="0" smtClean="0"/>
              <a:t>Regresión lineal local a la derecha del umbral. </a:t>
            </a:r>
            <a:endParaRPr lang="en-US" sz="2400" dirty="0"/>
          </a:p>
        </p:txBody>
      </p:sp>
      <p:sp>
        <p:nvSpPr>
          <p:cNvPr id="16" name="1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56</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15771" y="3331718"/>
                <a:ext cx="5533696" cy="17740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s-CO" sz="2100" i="1">
                              <a:latin typeface="Cambria Math"/>
                            </a:rPr>
                          </m:ctrlPr>
                        </m:funcPr>
                        <m:fName>
                          <m:limLow>
                            <m:limLowPr>
                              <m:ctrlPr>
                                <a:rPr lang="es-CO" sz="2100" i="1">
                                  <a:latin typeface="Cambria Math"/>
                                </a:rPr>
                              </m:ctrlPr>
                            </m:limLowPr>
                            <m:e>
                              <m:r>
                                <m:rPr>
                                  <m:sty m:val="p"/>
                                </m:rPr>
                                <a:rPr lang="es-ES" sz="2100">
                                  <a:latin typeface="Cambria Math"/>
                                </a:rPr>
                                <m:t>min</m:t>
                              </m:r>
                            </m:e>
                            <m:lim>
                              <m:sSub>
                                <m:sSubPr>
                                  <m:ctrlPr>
                                    <a:rPr lang="es-CO" sz="2100" i="1">
                                      <a:latin typeface="Cambria Math"/>
                                    </a:rPr>
                                  </m:ctrlPr>
                                </m:sSubPr>
                                <m:e>
                                  <m:r>
                                    <a:rPr lang="es-ES" sz="2100" i="1">
                                      <a:latin typeface="Cambria Math"/>
                                    </a:rPr>
                                    <m:t>𝛼</m:t>
                                  </m:r>
                                </m:e>
                                <m:sub>
                                  <m:r>
                                    <a:rPr lang="es-ES" sz="2100" i="1">
                                      <a:latin typeface="Cambria Math"/>
                                    </a:rPr>
                                    <m:t>1</m:t>
                                  </m:r>
                                </m:sub>
                              </m:sSub>
                              <m:r>
                                <a:rPr lang="es-ES" sz="2100" i="1">
                                  <a:latin typeface="Cambria Math"/>
                                </a:rPr>
                                <m:t>,</m:t>
                              </m:r>
                              <m:sSub>
                                <m:sSubPr>
                                  <m:ctrlPr>
                                    <a:rPr lang="es-CO" sz="2100" i="1">
                                      <a:latin typeface="Cambria Math"/>
                                    </a:rPr>
                                  </m:ctrlPr>
                                </m:sSubPr>
                                <m:e>
                                  <m:r>
                                    <a:rPr lang="es-ES" sz="2100" i="1">
                                      <a:latin typeface="Cambria Math"/>
                                    </a:rPr>
                                    <m:t>𝛽</m:t>
                                  </m:r>
                                </m:e>
                                <m:sub>
                                  <m:r>
                                    <a:rPr lang="es-ES" sz="2100" i="1">
                                      <a:latin typeface="Cambria Math"/>
                                    </a:rPr>
                                    <m:t>1</m:t>
                                  </m:r>
                                </m:sub>
                              </m:sSub>
                            </m:lim>
                          </m:limLow>
                        </m:fName>
                        <m:e>
                          <m:nary>
                            <m:naryPr>
                              <m:chr m:val="∑"/>
                              <m:limLoc m:val="undOvr"/>
                              <m:supHide m:val="on"/>
                              <m:ctrlPr>
                                <a:rPr lang="es-CO" sz="2100" i="1">
                                  <a:latin typeface="Cambria Math"/>
                                </a:rPr>
                              </m:ctrlPr>
                            </m:naryPr>
                            <m:sub>
                              <m:r>
                                <a:rPr lang="es-ES" sz="2100" i="1">
                                  <a:latin typeface="Cambria Math"/>
                                </a:rPr>
                                <m:t>𝑖</m:t>
                              </m:r>
                              <m:r>
                                <a:rPr lang="es-ES" sz="2100" i="1">
                                  <a:latin typeface="Cambria Math"/>
                                </a:rPr>
                                <m:t>|</m:t>
                              </m:r>
                              <m:acc>
                                <m:accPr>
                                  <m:chr m:val="̅"/>
                                  <m:ctrlPr>
                                    <a:rPr lang="es-CO" sz="2100" i="1">
                                      <a:latin typeface="Cambria Math"/>
                                    </a:rPr>
                                  </m:ctrlPr>
                                </m:accPr>
                                <m:e>
                                  <m:r>
                                    <a:rPr lang="es-ES" sz="2100" i="1">
                                      <a:latin typeface="Cambria Math"/>
                                    </a:rPr>
                                    <m:t>𝑍</m:t>
                                  </m:r>
                                </m:e>
                              </m:acc>
                              <m:r>
                                <a:rPr lang="es-ES" sz="2100" i="1">
                                  <a:latin typeface="Cambria Math"/>
                                </a:rPr>
                                <m:t>−</m:t>
                              </m:r>
                              <m:r>
                                <a:rPr lang="es-ES" sz="2100" i="1">
                                  <a:latin typeface="Cambria Math"/>
                                </a:rPr>
                                <m:t>h</m:t>
                              </m:r>
                              <m:r>
                                <a:rPr lang="es-ES" sz="2100" i="1">
                                  <a:latin typeface="Cambria Math"/>
                                </a:rPr>
                                <m:t>&lt;</m:t>
                              </m:r>
                              <m:sSub>
                                <m:sSubPr>
                                  <m:ctrlPr>
                                    <a:rPr lang="es-CO" sz="2100" i="1">
                                      <a:latin typeface="Cambria Math"/>
                                    </a:rPr>
                                  </m:ctrlPr>
                                </m:sSubPr>
                                <m:e>
                                  <m:r>
                                    <a:rPr lang="es-ES" sz="2100" i="1">
                                      <a:latin typeface="Cambria Math"/>
                                    </a:rPr>
                                    <m:t>𝑍</m:t>
                                  </m:r>
                                </m:e>
                                <m:sub>
                                  <m:r>
                                    <a:rPr lang="es-ES" sz="2100" i="1">
                                      <a:latin typeface="Cambria Math"/>
                                    </a:rPr>
                                    <m:t>𝑖</m:t>
                                  </m:r>
                                </m:sub>
                              </m:sSub>
                              <m:r>
                                <a:rPr lang="es-ES" sz="2100" i="1">
                                  <a:latin typeface="Cambria Math"/>
                                </a:rPr>
                                <m:t>&lt;</m:t>
                              </m:r>
                              <m:acc>
                                <m:accPr>
                                  <m:chr m:val="̅"/>
                                  <m:ctrlPr>
                                    <a:rPr lang="es-CO" sz="2100" i="1">
                                      <a:latin typeface="Cambria Math"/>
                                    </a:rPr>
                                  </m:ctrlPr>
                                </m:accPr>
                                <m:e>
                                  <m:r>
                                    <a:rPr lang="es-ES" sz="2100" i="1">
                                      <a:latin typeface="Cambria Math"/>
                                    </a:rPr>
                                    <m:t>𝑍</m:t>
                                  </m:r>
                                </m:e>
                              </m:acc>
                            </m:sub>
                            <m:sup/>
                            <m:e>
                              <m:sSup>
                                <m:sSupPr>
                                  <m:ctrlPr>
                                    <a:rPr lang="es-CO" sz="2100" i="1">
                                      <a:latin typeface="Cambria Math"/>
                                    </a:rPr>
                                  </m:ctrlPr>
                                </m:sSupPr>
                                <m:e>
                                  <m:d>
                                    <m:dPr>
                                      <m:ctrlPr>
                                        <a:rPr lang="es-CO" sz="2100" i="1">
                                          <a:latin typeface="Cambria Math"/>
                                        </a:rPr>
                                      </m:ctrlPr>
                                    </m:dPr>
                                    <m:e>
                                      <m:sSub>
                                        <m:sSubPr>
                                          <m:ctrlPr>
                                            <a:rPr lang="es-CO" sz="2100" i="1">
                                              <a:latin typeface="Cambria Math"/>
                                            </a:rPr>
                                          </m:ctrlPr>
                                        </m:sSubPr>
                                        <m:e>
                                          <m:r>
                                            <a:rPr lang="es-ES" sz="2100" i="1">
                                              <a:latin typeface="Cambria Math"/>
                                            </a:rPr>
                                            <m:t>𝑌</m:t>
                                          </m:r>
                                        </m:e>
                                        <m:sub>
                                          <m:r>
                                            <a:rPr lang="es-ES" sz="2100" i="1">
                                              <a:latin typeface="Cambria Math"/>
                                            </a:rPr>
                                            <m:t>𝑖</m:t>
                                          </m:r>
                                        </m:sub>
                                      </m:sSub>
                                      <m:r>
                                        <a:rPr lang="es-ES" sz="2100" i="1">
                                          <a:latin typeface="Cambria Math"/>
                                        </a:rPr>
                                        <m:t>−</m:t>
                                      </m:r>
                                      <m:sSub>
                                        <m:sSubPr>
                                          <m:ctrlPr>
                                            <a:rPr lang="es-CO" sz="2100" i="1">
                                              <a:latin typeface="Cambria Math"/>
                                            </a:rPr>
                                          </m:ctrlPr>
                                        </m:sSubPr>
                                        <m:e>
                                          <m:r>
                                            <a:rPr lang="es-ES" sz="2100" i="1">
                                              <a:latin typeface="Cambria Math"/>
                                            </a:rPr>
                                            <m:t>𝛼</m:t>
                                          </m:r>
                                        </m:e>
                                        <m:sub>
                                          <m:r>
                                            <a:rPr lang="es-ES" sz="2100" i="1">
                                              <a:latin typeface="Cambria Math"/>
                                            </a:rPr>
                                            <m:t>1</m:t>
                                          </m:r>
                                        </m:sub>
                                      </m:sSub>
                                      <m:r>
                                        <a:rPr lang="es-ES" sz="2100" i="1">
                                          <a:latin typeface="Cambria Math"/>
                                        </a:rPr>
                                        <m:t>−</m:t>
                                      </m:r>
                                      <m:sSub>
                                        <m:sSubPr>
                                          <m:ctrlPr>
                                            <a:rPr lang="es-CO" sz="2100" i="1">
                                              <a:latin typeface="Cambria Math"/>
                                            </a:rPr>
                                          </m:ctrlPr>
                                        </m:sSubPr>
                                        <m:e>
                                          <m:r>
                                            <a:rPr lang="es-ES" sz="2100" i="1">
                                              <a:latin typeface="Cambria Math"/>
                                            </a:rPr>
                                            <m:t>𝛽</m:t>
                                          </m:r>
                                        </m:e>
                                        <m:sub>
                                          <m:r>
                                            <a:rPr lang="es-ES" sz="2100" i="1">
                                              <a:latin typeface="Cambria Math"/>
                                            </a:rPr>
                                            <m:t>1</m:t>
                                          </m:r>
                                        </m:sub>
                                      </m:sSub>
                                      <m:r>
                                        <a:rPr lang="es-ES" sz="2100" i="1">
                                          <a:latin typeface="Cambria Math"/>
                                        </a:rPr>
                                        <m:t>(</m:t>
                                      </m:r>
                                      <m:sSub>
                                        <m:sSubPr>
                                          <m:ctrlPr>
                                            <a:rPr lang="es-CO" sz="2100" i="1">
                                              <a:latin typeface="Cambria Math"/>
                                            </a:rPr>
                                          </m:ctrlPr>
                                        </m:sSubPr>
                                        <m:e>
                                          <m:r>
                                            <a:rPr lang="es-ES" sz="2100" i="1">
                                              <a:latin typeface="Cambria Math"/>
                                            </a:rPr>
                                            <m:t>𝑍</m:t>
                                          </m:r>
                                        </m:e>
                                        <m:sub>
                                          <m:r>
                                            <a:rPr lang="es-ES" sz="2100" i="1">
                                              <a:latin typeface="Cambria Math"/>
                                            </a:rPr>
                                            <m:t>𝑖</m:t>
                                          </m:r>
                                        </m:sub>
                                      </m:sSub>
                                      <m:r>
                                        <a:rPr lang="es-ES" sz="2100" i="1">
                                          <a:latin typeface="Cambria Math"/>
                                        </a:rPr>
                                        <m:t>−</m:t>
                                      </m:r>
                                      <m:acc>
                                        <m:accPr>
                                          <m:chr m:val="̅"/>
                                          <m:ctrlPr>
                                            <a:rPr lang="es-CO" sz="2100" i="1">
                                              <a:latin typeface="Cambria Math"/>
                                            </a:rPr>
                                          </m:ctrlPr>
                                        </m:accPr>
                                        <m:e>
                                          <m:r>
                                            <a:rPr lang="es-ES" sz="2100" i="1">
                                              <a:latin typeface="Cambria Math"/>
                                            </a:rPr>
                                            <m:t>𝑍</m:t>
                                          </m:r>
                                        </m:e>
                                      </m:acc>
                                      <m:r>
                                        <a:rPr lang="es-ES" sz="2100" i="1">
                                          <a:latin typeface="Cambria Math"/>
                                        </a:rPr>
                                        <m:t>)</m:t>
                                      </m:r>
                                    </m:e>
                                  </m:d>
                                </m:e>
                                <m:sup>
                                  <m:r>
                                    <a:rPr lang="es-ES" sz="2100" i="1">
                                      <a:latin typeface="Cambria Math"/>
                                    </a:rPr>
                                    <m:t>2</m:t>
                                  </m:r>
                                </m:sup>
                              </m:sSup>
                            </m:e>
                          </m:nary>
                        </m:e>
                      </m:func>
                    </m:oMath>
                  </m:oMathPara>
                </a14:m>
                <a:endParaRPr lang="es-CO" sz="2100" dirty="0"/>
              </a:p>
              <a:p>
                <a:pPr/>
                <a14:m>
                  <m:oMathPara xmlns:m="http://schemas.openxmlformats.org/officeDocument/2006/math">
                    <m:oMathParaPr>
                      <m:jc m:val="centerGroup"/>
                    </m:oMathParaPr>
                    <m:oMath xmlns:m="http://schemas.openxmlformats.org/officeDocument/2006/math">
                      <m:func>
                        <m:funcPr>
                          <m:ctrlPr>
                            <a:rPr lang="es-CO" sz="2100" i="1">
                              <a:latin typeface="Cambria Math"/>
                            </a:rPr>
                          </m:ctrlPr>
                        </m:funcPr>
                        <m:fName>
                          <m:limLow>
                            <m:limLowPr>
                              <m:ctrlPr>
                                <a:rPr lang="es-CO" sz="2100" i="1">
                                  <a:latin typeface="Cambria Math"/>
                                </a:rPr>
                              </m:ctrlPr>
                            </m:limLowPr>
                            <m:e>
                              <m:r>
                                <m:rPr>
                                  <m:sty m:val="p"/>
                                </m:rPr>
                                <a:rPr lang="es-ES" sz="2100">
                                  <a:latin typeface="Cambria Math"/>
                                </a:rPr>
                                <m:t>min</m:t>
                              </m:r>
                            </m:e>
                            <m:lim>
                              <m:sSub>
                                <m:sSubPr>
                                  <m:ctrlPr>
                                    <a:rPr lang="es-CO" sz="2100" i="1">
                                      <a:latin typeface="Cambria Math"/>
                                    </a:rPr>
                                  </m:ctrlPr>
                                </m:sSubPr>
                                <m:e>
                                  <m:r>
                                    <a:rPr lang="es-ES" sz="2100" i="1">
                                      <a:latin typeface="Cambria Math"/>
                                    </a:rPr>
                                    <m:t>𝛼</m:t>
                                  </m:r>
                                </m:e>
                                <m:sub>
                                  <m:r>
                                    <a:rPr lang="es-ES" sz="2100" i="1">
                                      <a:latin typeface="Cambria Math"/>
                                    </a:rPr>
                                    <m:t>2</m:t>
                                  </m:r>
                                </m:sub>
                              </m:sSub>
                              <m:r>
                                <a:rPr lang="es-ES" sz="2100" i="1">
                                  <a:latin typeface="Cambria Math"/>
                                </a:rPr>
                                <m:t>,</m:t>
                              </m:r>
                              <m:sSub>
                                <m:sSubPr>
                                  <m:ctrlPr>
                                    <a:rPr lang="es-CO" sz="2100" i="1">
                                      <a:latin typeface="Cambria Math"/>
                                    </a:rPr>
                                  </m:ctrlPr>
                                </m:sSubPr>
                                <m:e>
                                  <m:r>
                                    <a:rPr lang="es-ES" sz="2100" i="1">
                                      <a:latin typeface="Cambria Math"/>
                                    </a:rPr>
                                    <m:t>𝛽</m:t>
                                  </m:r>
                                </m:e>
                                <m:sub>
                                  <m:r>
                                    <a:rPr lang="es-ES" sz="2100" i="1">
                                      <a:latin typeface="Cambria Math"/>
                                    </a:rPr>
                                    <m:t>2</m:t>
                                  </m:r>
                                </m:sub>
                              </m:sSub>
                            </m:lim>
                          </m:limLow>
                        </m:fName>
                        <m:e>
                          <m:nary>
                            <m:naryPr>
                              <m:chr m:val="∑"/>
                              <m:limLoc m:val="undOvr"/>
                              <m:supHide m:val="on"/>
                              <m:ctrlPr>
                                <a:rPr lang="es-CO" sz="2100" i="1">
                                  <a:latin typeface="Cambria Math"/>
                                </a:rPr>
                              </m:ctrlPr>
                            </m:naryPr>
                            <m:sub>
                              <m:r>
                                <a:rPr lang="es-ES" sz="2100" i="1">
                                  <a:latin typeface="Cambria Math"/>
                                </a:rPr>
                                <m:t>𝑖</m:t>
                              </m:r>
                              <m:r>
                                <a:rPr lang="es-ES" sz="2100" i="1">
                                  <a:latin typeface="Cambria Math"/>
                                </a:rPr>
                                <m:t>|</m:t>
                              </m:r>
                              <m:acc>
                                <m:accPr>
                                  <m:chr m:val="̅"/>
                                  <m:ctrlPr>
                                    <a:rPr lang="es-CO" sz="2100" i="1">
                                      <a:latin typeface="Cambria Math"/>
                                    </a:rPr>
                                  </m:ctrlPr>
                                </m:accPr>
                                <m:e>
                                  <m:r>
                                    <a:rPr lang="es-ES" sz="2100" i="1">
                                      <a:latin typeface="Cambria Math"/>
                                    </a:rPr>
                                    <m:t>𝑍</m:t>
                                  </m:r>
                                </m:e>
                              </m:acc>
                              <m:r>
                                <a:rPr lang="es-ES" sz="2100" i="1">
                                  <a:latin typeface="Cambria Math"/>
                                </a:rPr>
                                <m:t>&lt;</m:t>
                              </m:r>
                              <m:sSub>
                                <m:sSubPr>
                                  <m:ctrlPr>
                                    <a:rPr lang="es-CO" sz="2100" i="1">
                                      <a:latin typeface="Cambria Math"/>
                                    </a:rPr>
                                  </m:ctrlPr>
                                </m:sSubPr>
                                <m:e>
                                  <m:r>
                                    <a:rPr lang="es-ES" sz="2100" i="1">
                                      <a:latin typeface="Cambria Math"/>
                                    </a:rPr>
                                    <m:t>𝑍</m:t>
                                  </m:r>
                                </m:e>
                                <m:sub>
                                  <m:r>
                                    <a:rPr lang="es-ES" sz="2100" i="1">
                                      <a:latin typeface="Cambria Math"/>
                                    </a:rPr>
                                    <m:t>𝑖</m:t>
                                  </m:r>
                                </m:sub>
                              </m:sSub>
                              <m:r>
                                <a:rPr lang="es-ES" sz="2100" i="1">
                                  <a:latin typeface="Cambria Math"/>
                                </a:rPr>
                                <m:t>&lt;</m:t>
                              </m:r>
                              <m:acc>
                                <m:accPr>
                                  <m:chr m:val="̅"/>
                                  <m:ctrlPr>
                                    <a:rPr lang="es-CO" sz="2100" i="1">
                                      <a:latin typeface="Cambria Math"/>
                                    </a:rPr>
                                  </m:ctrlPr>
                                </m:accPr>
                                <m:e>
                                  <m:r>
                                    <a:rPr lang="es-ES" sz="2100" i="1">
                                      <a:latin typeface="Cambria Math"/>
                                    </a:rPr>
                                    <m:t>𝑍</m:t>
                                  </m:r>
                                </m:e>
                              </m:acc>
                              <m:r>
                                <a:rPr lang="es-ES" sz="2100" i="1">
                                  <a:latin typeface="Cambria Math"/>
                                </a:rPr>
                                <m:t>+</m:t>
                              </m:r>
                              <m:r>
                                <a:rPr lang="es-ES" sz="2100" i="1">
                                  <a:latin typeface="Cambria Math"/>
                                </a:rPr>
                                <m:t>h</m:t>
                              </m:r>
                            </m:sub>
                            <m:sup/>
                            <m:e>
                              <m:sSup>
                                <m:sSupPr>
                                  <m:ctrlPr>
                                    <a:rPr lang="es-CO" sz="2100" i="1">
                                      <a:latin typeface="Cambria Math"/>
                                    </a:rPr>
                                  </m:ctrlPr>
                                </m:sSupPr>
                                <m:e>
                                  <m:d>
                                    <m:dPr>
                                      <m:ctrlPr>
                                        <a:rPr lang="es-CO" sz="2100" i="1">
                                          <a:latin typeface="Cambria Math"/>
                                        </a:rPr>
                                      </m:ctrlPr>
                                    </m:dPr>
                                    <m:e>
                                      <m:sSub>
                                        <m:sSubPr>
                                          <m:ctrlPr>
                                            <a:rPr lang="es-CO" sz="2100" i="1">
                                              <a:latin typeface="Cambria Math"/>
                                            </a:rPr>
                                          </m:ctrlPr>
                                        </m:sSubPr>
                                        <m:e>
                                          <m:r>
                                            <a:rPr lang="es-ES" sz="2100" i="1">
                                              <a:latin typeface="Cambria Math"/>
                                            </a:rPr>
                                            <m:t>𝑌</m:t>
                                          </m:r>
                                        </m:e>
                                        <m:sub>
                                          <m:r>
                                            <a:rPr lang="es-ES" sz="2100" i="1">
                                              <a:latin typeface="Cambria Math"/>
                                            </a:rPr>
                                            <m:t>𝑖</m:t>
                                          </m:r>
                                        </m:sub>
                                      </m:sSub>
                                      <m:r>
                                        <a:rPr lang="es-ES" sz="2100" i="1">
                                          <a:latin typeface="Cambria Math"/>
                                        </a:rPr>
                                        <m:t>−</m:t>
                                      </m:r>
                                      <m:sSub>
                                        <m:sSubPr>
                                          <m:ctrlPr>
                                            <a:rPr lang="es-CO" sz="2100" i="1">
                                              <a:latin typeface="Cambria Math"/>
                                            </a:rPr>
                                          </m:ctrlPr>
                                        </m:sSubPr>
                                        <m:e>
                                          <m:r>
                                            <a:rPr lang="es-ES" sz="2100" i="1">
                                              <a:latin typeface="Cambria Math"/>
                                            </a:rPr>
                                            <m:t>𝛼</m:t>
                                          </m:r>
                                        </m:e>
                                        <m:sub>
                                          <m:r>
                                            <a:rPr lang="es-ES" sz="2100" i="1">
                                              <a:latin typeface="Cambria Math"/>
                                            </a:rPr>
                                            <m:t>2</m:t>
                                          </m:r>
                                        </m:sub>
                                      </m:sSub>
                                      <m:r>
                                        <a:rPr lang="es-ES" sz="2100" i="1">
                                          <a:latin typeface="Cambria Math"/>
                                        </a:rPr>
                                        <m:t>−</m:t>
                                      </m:r>
                                      <m:sSub>
                                        <m:sSubPr>
                                          <m:ctrlPr>
                                            <a:rPr lang="es-CO" sz="2100" i="1">
                                              <a:latin typeface="Cambria Math"/>
                                            </a:rPr>
                                          </m:ctrlPr>
                                        </m:sSubPr>
                                        <m:e>
                                          <m:r>
                                            <a:rPr lang="es-ES" sz="2100" i="1">
                                              <a:latin typeface="Cambria Math"/>
                                            </a:rPr>
                                            <m:t>𝛽</m:t>
                                          </m:r>
                                        </m:e>
                                        <m:sub>
                                          <m:r>
                                            <a:rPr lang="es-ES" sz="2100" i="1">
                                              <a:latin typeface="Cambria Math"/>
                                            </a:rPr>
                                            <m:t>2</m:t>
                                          </m:r>
                                        </m:sub>
                                      </m:sSub>
                                      <m:r>
                                        <a:rPr lang="es-ES" sz="2100" i="1">
                                          <a:latin typeface="Cambria Math"/>
                                        </a:rPr>
                                        <m:t>(</m:t>
                                      </m:r>
                                      <m:sSub>
                                        <m:sSubPr>
                                          <m:ctrlPr>
                                            <a:rPr lang="es-CO" sz="2100" i="1">
                                              <a:latin typeface="Cambria Math"/>
                                            </a:rPr>
                                          </m:ctrlPr>
                                        </m:sSubPr>
                                        <m:e>
                                          <m:r>
                                            <a:rPr lang="es-ES" sz="2100" i="1">
                                              <a:latin typeface="Cambria Math"/>
                                            </a:rPr>
                                            <m:t>𝑍</m:t>
                                          </m:r>
                                        </m:e>
                                        <m:sub>
                                          <m:r>
                                            <a:rPr lang="es-ES" sz="2100" i="1">
                                              <a:latin typeface="Cambria Math"/>
                                            </a:rPr>
                                            <m:t>𝑖</m:t>
                                          </m:r>
                                        </m:sub>
                                      </m:sSub>
                                      <m:r>
                                        <a:rPr lang="es-ES" sz="2100" i="1">
                                          <a:latin typeface="Cambria Math"/>
                                        </a:rPr>
                                        <m:t>−</m:t>
                                      </m:r>
                                      <m:acc>
                                        <m:accPr>
                                          <m:chr m:val="̅"/>
                                          <m:ctrlPr>
                                            <a:rPr lang="es-CO" sz="2100" i="1">
                                              <a:latin typeface="Cambria Math"/>
                                            </a:rPr>
                                          </m:ctrlPr>
                                        </m:accPr>
                                        <m:e>
                                          <m:r>
                                            <a:rPr lang="es-ES" sz="2100" i="1">
                                              <a:latin typeface="Cambria Math"/>
                                            </a:rPr>
                                            <m:t>𝑍</m:t>
                                          </m:r>
                                        </m:e>
                                      </m:acc>
                                      <m:r>
                                        <a:rPr lang="es-ES" sz="2100" i="1">
                                          <a:latin typeface="Cambria Math"/>
                                        </a:rPr>
                                        <m:t>)</m:t>
                                      </m:r>
                                    </m:e>
                                  </m:d>
                                </m:e>
                                <m:sup>
                                  <m:r>
                                    <a:rPr lang="es-ES" sz="2100" i="1">
                                      <a:latin typeface="Cambria Math"/>
                                    </a:rPr>
                                    <m:t>2</m:t>
                                  </m:r>
                                </m:sup>
                              </m:sSup>
                            </m:e>
                          </m:nary>
                        </m:e>
                      </m:func>
                    </m:oMath>
                  </m:oMathPara>
                </a14:m>
                <a:endParaRPr lang="es-CO" sz="2100" dirty="0"/>
              </a:p>
            </p:txBody>
          </p:sp>
        </mc:Choice>
        <mc:Fallback>
          <p:sp>
            <p:nvSpPr>
              <p:cNvPr id="2" name="1 Rectángulo"/>
              <p:cNvSpPr>
                <a:spLocks noRot="1" noChangeAspect="1" noMove="1" noResize="1" noEditPoints="1" noAdjustHandles="1" noChangeArrowheads="1" noChangeShapeType="1" noTextEdit="1"/>
              </p:cNvSpPr>
              <p:nvPr/>
            </p:nvSpPr>
            <p:spPr>
              <a:xfrm>
                <a:off x="15771" y="3331718"/>
                <a:ext cx="5533696" cy="1774075"/>
              </a:xfrm>
              <a:prstGeom prst="rect">
                <a:avLst/>
              </a:prstGeom>
              <a:blipFill rotWithShape="1">
                <a:blip r:embed="rId3" cstate="print"/>
                <a:stretch>
                  <a:fillRect/>
                </a:stretch>
              </a:blipFill>
            </p:spPr>
            <p:txBody>
              <a:bodyPr/>
              <a:lstStyle/>
              <a:p>
                <a:r>
                  <a:rPr lang="es-CO">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a:t>
            </a:r>
            <a:br>
              <a:rPr lang="es-MX" u="sng" dirty="0" smtClean="0"/>
            </a:br>
            <a:r>
              <a:rPr lang="es-MX" u="sng" dirty="0" smtClean="0"/>
              <a:t>Regresión lineal local </a:t>
            </a: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p:txBody>
              <a:bodyPr>
                <a:normAutofit fontScale="85000" lnSpcReduction="10000"/>
              </a:bodyPr>
              <a:lstStyle/>
              <a:p>
                <a:endParaRPr lang="es-MX" sz="2600" dirty="0" smtClean="0"/>
              </a:p>
              <a:p>
                <a:r>
                  <a:rPr lang="es-MX" sz="2600" dirty="0" smtClean="0">
                    <a:solidFill>
                      <a:schemeClr val="accent5">
                        <a:lumMod val="75000"/>
                      </a:schemeClr>
                    </a:solidFill>
                  </a:rPr>
                  <a:t>Los estimadores de los límites en la variable de resultado estarían dados por: </a:t>
                </a:r>
              </a:p>
              <a:p>
                <a:endParaRPr lang="es-MX" sz="1800" dirty="0" smtClean="0">
                  <a:solidFill>
                    <a:schemeClr val="accent5">
                      <a:lumMod val="75000"/>
                    </a:schemeClr>
                  </a:solidFill>
                </a:endParaRPr>
              </a:p>
              <a:p>
                <a:pPr marL="0" indent="0">
                  <a:buNone/>
                </a:pPr>
                <a14:m>
                  <m:oMathPara xmlns:m="http://schemas.openxmlformats.org/officeDocument/2006/math">
                    <m:oMathParaPr>
                      <m:jc m:val="centerGroup"/>
                    </m:oMathParaPr>
                    <m:oMath xmlns:m="http://schemas.openxmlformats.org/officeDocument/2006/math">
                      <m:acc>
                        <m:accPr>
                          <m:chr m:val="̅"/>
                          <m:ctrlPr>
                            <a:rPr lang="es-CO" sz="2800" i="1">
                              <a:latin typeface="Cambria Math"/>
                            </a:rPr>
                          </m:ctrlPr>
                        </m:accPr>
                        <m:e>
                          <m:r>
                            <a:rPr lang="es-ES" sz="2800" i="1">
                              <a:latin typeface="Cambria Math"/>
                            </a:rPr>
                            <m:t>𝑌</m:t>
                          </m:r>
                        </m:e>
                      </m:acc>
                      <m:d>
                        <m:dPr>
                          <m:ctrlPr>
                            <a:rPr lang="es-CO" sz="2800" i="1">
                              <a:latin typeface="Cambria Math"/>
                            </a:rPr>
                          </m:ctrlPr>
                        </m:dPr>
                        <m:e>
                          <m:sSup>
                            <m:sSupPr>
                              <m:ctrlPr>
                                <a:rPr lang="es-CO" sz="2800" i="1">
                                  <a:latin typeface="Cambria Math"/>
                                </a:rPr>
                              </m:ctrlPr>
                            </m:sSupPr>
                            <m:e>
                              <m:r>
                                <a:rPr lang="es-ES" sz="2800" i="1">
                                  <a:latin typeface="Cambria Math"/>
                                </a:rPr>
                                <m:t>𝑍</m:t>
                              </m:r>
                            </m:e>
                            <m:sup>
                              <m:r>
                                <a:rPr lang="es-ES" sz="2800" i="1">
                                  <a:latin typeface="Cambria Math"/>
                                </a:rPr>
                                <m:t>−</m:t>
                              </m:r>
                            </m:sup>
                          </m:sSup>
                        </m:e>
                      </m:d>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𝛼</m:t>
                              </m:r>
                            </m:e>
                          </m:acc>
                        </m:e>
                        <m:sub>
                          <m:r>
                            <a:rPr lang="es-ES" sz="2800" i="1">
                              <a:latin typeface="Cambria Math"/>
                            </a:rPr>
                            <m:t>1</m:t>
                          </m:r>
                        </m:sub>
                      </m:sSub>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𝛽</m:t>
                              </m:r>
                            </m:e>
                          </m:acc>
                        </m:e>
                        <m:sub>
                          <m:r>
                            <a:rPr lang="es-ES" sz="2800" i="1">
                              <a:latin typeface="Cambria Math"/>
                            </a:rPr>
                            <m:t>1</m:t>
                          </m:r>
                        </m:sub>
                      </m:sSub>
                      <m:d>
                        <m:dPr>
                          <m:ctrlPr>
                            <a:rPr lang="es-CO" sz="2800" i="1">
                              <a:latin typeface="Cambria Math"/>
                            </a:rPr>
                          </m:ctrlPr>
                        </m:dPr>
                        <m:e>
                          <m:acc>
                            <m:accPr>
                              <m:chr m:val="̅"/>
                              <m:ctrlPr>
                                <a:rPr lang="es-CO" sz="2800" i="1">
                                  <a:latin typeface="Cambria Math"/>
                                </a:rPr>
                              </m:ctrlPr>
                            </m:accPr>
                            <m:e>
                              <m:r>
                                <a:rPr lang="es-ES" sz="2800" i="1">
                                  <a:latin typeface="Cambria Math"/>
                                </a:rPr>
                                <m:t>𝑍</m:t>
                              </m:r>
                            </m:e>
                          </m:acc>
                          <m:r>
                            <a:rPr lang="es-ES" sz="2800" i="1">
                              <a:latin typeface="Cambria Math"/>
                            </a:rPr>
                            <m:t>−</m:t>
                          </m:r>
                          <m:acc>
                            <m:accPr>
                              <m:chr m:val="̅"/>
                              <m:ctrlPr>
                                <a:rPr lang="es-CO" sz="2800" i="1">
                                  <a:latin typeface="Cambria Math"/>
                                </a:rPr>
                              </m:ctrlPr>
                            </m:accPr>
                            <m:e>
                              <m:r>
                                <a:rPr lang="es-ES" sz="2800" i="1">
                                  <a:latin typeface="Cambria Math"/>
                                </a:rPr>
                                <m:t>𝑍</m:t>
                              </m:r>
                            </m:e>
                          </m:acc>
                        </m:e>
                      </m:d>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𝛼</m:t>
                              </m:r>
                            </m:e>
                          </m:acc>
                        </m:e>
                        <m:sub>
                          <m:r>
                            <a:rPr lang="es-ES" sz="2800" i="1">
                              <a:latin typeface="Cambria Math"/>
                            </a:rPr>
                            <m:t>1</m:t>
                          </m:r>
                        </m:sub>
                      </m:sSub>
                    </m:oMath>
                  </m:oMathPara>
                </a14:m>
                <a:endParaRPr lang="es-CO" sz="2800" i="1" dirty="0" smtClean="0"/>
              </a:p>
              <a:p>
                <a:pPr marL="0" indent="0" algn="ctr">
                  <a:buNone/>
                </a:pPr>
                <a:r>
                  <a:rPr lang="es-CO" sz="2800" dirty="0" smtClean="0"/>
                  <a:t> </a:t>
                </a:r>
                <a14:m>
                  <m:oMath xmlns:m="http://schemas.openxmlformats.org/officeDocument/2006/math">
                    <m:acc>
                      <m:accPr>
                        <m:chr m:val="̅"/>
                        <m:ctrlPr>
                          <a:rPr lang="es-CO" sz="2800" i="1">
                            <a:latin typeface="Cambria Math"/>
                          </a:rPr>
                        </m:ctrlPr>
                      </m:accPr>
                      <m:e>
                        <m:r>
                          <a:rPr lang="es-ES" sz="2800" i="1">
                            <a:latin typeface="Cambria Math"/>
                          </a:rPr>
                          <m:t> </m:t>
                        </m:r>
                        <m:r>
                          <a:rPr lang="es-ES" sz="2800" i="1">
                            <a:latin typeface="Cambria Math"/>
                          </a:rPr>
                          <m:t>𝑌</m:t>
                        </m:r>
                      </m:e>
                    </m:acc>
                    <m:d>
                      <m:dPr>
                        <m:ctrlPr>
                          <a:rPr lang="es-CO" sz="2800" i="1">
                            <a:latin typeface="Cambria Math"/>
                          </a:rPr>
                        </m:ctrlPr>
                      </m:dPr>
                      <m:e>
                        <m:sSup>
                          <m:sSupPr>
                            <m:ctrlPr>
                              <a:rPr lang="es-CO" sz="2800" i="1">
                                <a:latin typeface="Cambria Math"/>
                              </a:rPr>
                            </m:ctrlPr>
                          </m:sSupPr>
                          <m:e>
                            <m:r>
                              <a:rPr lang="es-ES" sz="2800" i="1">
                                <a:latin typeface="Cambria Math"/>
                              </a:rPr>
                              <m:t>𝑍</m:t>
                            </m:r>
                          </m:e>
                          <m:sup>
                            <m:r>
                              <a:rPr lang="es-ES" sz="2800" i="1">
                                <a:latin typeface="Cambria Math"/>
                              </a:rPr>
                              <m:t>+</m:t>
                            </m:r>
                          </m:sup>
                        </m:sSup>
                      </m:e>
                    </m:d>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𝛼</m:t>
                            </m:r>
                          </m:e>
                        </m:acc>
                      </m:e>
                      <m:sub>
                        <m:r>
                          <a:rPr lang="es-ES" sz="2800" i="1">
                            <a:latin typeface="Cambria Math"/>
                          </a:rPr>
                          <m:t>2</m:t>
                        </m:r>
                      </m:sub>
                    </m:sSub>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𝛽</m:t>
                            </m:r>
                          </m:e>
                        </m:acc>
                      </m:e>
                      <m:sub>
                        <m:r>
                          <a:rPr lang="es-ES" sz="2800" i="1">
                            <a:latin typeface="Cambria Math"/>
                          </a:rPr>
                          <m:t>2</m:t>
                        </m:r>
                      </m:sub>
                    </m:sSub>
                    <m:d>
                      <m:dPr>
                        <m:ctrlPr>
                          <a:rPr lang="es-CO" sz="2800" i="1">
                            <a:latin typeface="Cambria Math"/>
                          </a:rPr>
                        </m:ctrlPr>
                      </m:dPr>
                      <m:e>
                        <m:acc>
                          <m:accPr>
                            <m:chr m:val="̅"/>
                            <m:ctrlPr>
                              <a:rPr lang="es-CO" sz="2800" i="1">
                                <a:latin typeface="Cambria Math"/>
                              </a:rPr>
                            </m:ctrlPr>
                          </m:accPr>
                          <m:e>
                            <m:r>
                              <a:rPr lang="es-ES" sz="2800" i="1">
                                <a:latin typeface="Cambria Math"/>
                              </a:rPr>
                              <m:t>𝑍</m:t>
                            </m:r>
                          </m:e>
                        </m:acc>
                        <m:r>
                          <a:rPr lang="es-ES" sz="2800" i="1">
                            <a:latin typeface="Cambria Math"/>
                          </a:rPr>
                          <m:t>−</m:t>
                        </m:r>
                        <m:acc>
                          <m:accPr>
                            <m:chr m:val="̅"/>
                            <m:ctrlPr>
                              <a:rPr lang="es-CO" sz="2800" i="1">
                                <a:latin typeface="Cambria Math"/>
                              </a:rPr>
                            </m:ctrlPr>
                          </m:accPr>
                          <m:e>
                            <m:r>
                              <a:rPr lang="es-ES" sz="2800" i="1">
                                <a:latin typeface="Cambria Math"/>
                              </a:rPr>
                              <m:t>𝑍</m:t>
                            </m:r>
                          </m:e>
                        </m:acc>
                      </m:e>
                    </m:d>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𝛼</m:t>
                            </m:r>
                          </m:e>
                        </m:acc>
                      </m:e>
                      <m:sub>
                        <m:r>
                          <a:rPr lang="es-ES" sz="2800" i="1">
                            <a:latin typeface="Cambria Math"/>
                          </a:rPr>
                          <m:t>2</m:t>
                        </m:r>
                      </m:sub>
                    </m:sSub>
                  </m:oMath>
                </a14:m>
                <a:r>
                  <a:rPr lang="es-ES" sz="2800" dirty="0"/>
                  <a:t> </a:t>
                </a:r>
                <a:endParaRPr lang="es-MX" sz="2600" dirty="0" smtClean="0">
                  <a:solidFill>
                    <a:schemeClr val="accent5">
                      <a:lumMod val="75000"/>
                    </a:schemeClr>
                  </a:solidFill>
                </a:endParaRPr>
              </a:p>
              <a:p>
                <a:endParaRPr lang="es-MX" sz="2600" dirty="0" smtClean="0">
                  <a:solidFill>
                    <a:schemeClr val="accent5">
                      <a:lumMod val="75000"/>
                    </a:schemeClr>
                  </a:solidFill>
                </a:endParaRPr>
              </a:p>
              <a:p>
                <a:r>
                  <a:rPr lang="es-MX" sz="2600" dirty="0" smtClean="0">
                    <a:solidFill>
                      <a:schemeClr val="accent5">
                        <a:lumMod val="75000"/>
                      </a:schemeClr>
                    </a:solidFill>
                  </a:rPr>
                  <a:t>El estimador del efecto del tratamiento en RDN sería el salto: </a:t>
                </a:r>
              </a:p>
              <a:p>
                <a:pPr marL="0" indent="0">
                  <a:buNone/>
                </a:pPr>
                <a:endParaRPr lang="es-CO" sz="1800" i="1" dirty="0" smtClean="0"/>
              </a:p>
              <a:p>
                <a:pPr marL="0" indent="0">
                  <a:buNone/>
                </a:pPr>
                <a14:m>
                  <m:oMathPara xmlns:m="http://schemas.openxmlformats.org/officeDocument/2006/math">
                    <m:oMathParaPr>
                      <m:jc m:val="centerGroup"/>
                    </m:oMathParaPr>
                    <m:oMath xmlns:m="http://schemas.openxmlformats.org/officeDocument/2006/math">
                      <m:sSub>
                        <m:sSubPr>
                          <m:ctrlPr>
                            <a:rPr lang="es-CO" sz="2800" i="1">
                              <a:latin typeface="Cambria Math"/>
                            </a:rPr>
                          </m:ctrlPr>
                        </m:sSubPr>
                        <m:e>
                          <m:acc>
                            <m:accPr>
                              <m:chr m:val="̂"/>
                              <m:ctrlPr>
                                <a:rPr lang="es-CO" sz="2800" i="1">
                                  <a:latin typeface="Cambria Math"/>
                                </a:rPr>
                              </m:ctrlPr>
                            </m:accPr>
                            <m:e>
                              <m:r>
                                <a:rPr lang="es-ES" sz="2800" i="1">
                                  <a:latin typeface="Cambria Math"/>
                                </a:rPr>
                                <m:t>𝜏</m:t>
                              </m:r>
                            </m:e>
                          </m:acc>
                        </m:e>
                        <m:sub>
                          <m:r>
                            <a:rPr lang="es-ES" sz="2800" i="1">
                              <a:latin typeface="Cambria Math"/>
                            </a:rPr>
                            <m:t>𝑅𝐷</m:t>
                          </m:r>
                        </m:sub>
                      </m:sSub>
                      <m:d>
                        <m:dPr>
                          <m:ctrlPr>
                            <a:rPr lang="es-CO" sz="2800" i="1">
                              <a:latin typeface="Cambria Math"/>
                            </a:rPr>
                          </m:ctrlPr>
                        </m:dPr>
                        <m:e>
                          <m:acc>
                            <m:accPr>
                              <m:chr m:val="̅"/>
                              <m:ctrlPr>
                                <a:rPr lang="es-CO" sz="2800" i="1">
                                  <a:latin typeface="Cambria Math"/>
                                </a:rPr>
                              </m:ctrlPr>
                            </m:accPr>
                            <m:e>
                              <m:r>
                                <a:rPr lang="es-ES" sz="2800" i="1">
                                  <a:latin typeface="Cambria Math"/>
                                </a:rPr>
                                <m:t>𝑍</m:t>
                              </m:r>
                            </m:e>
                          </m:acc>
                        </m:e>
                      </m:d>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𝛼</m:t>
                              </m:r>
                            </m:e>
                          </m:acc>
                        </m:e>
                        <m:sub>
                          <m:r>
                            <a:rPr lang="es-ES" sz="2800" i="1">
                              <a:latin typeface="Cambria Math"/>
                            </a:rPr>
                            <m:t>2</m:t>
                          </m:r>
                        </m:sub>
                      </m:sSub>
                      <m:r>
                        <a:rPr lang="es-ES" sz="2800" i="1">
                          <a:latin typeface="Cambria Math"/>
                        </a:rPr>
                        <m:t>−</m:t>
                      </m:r>
                      <m:sSub>
                        <m:sSubPr>
                          <m:ctrlPr>
                            <a:rPr lang="es-CO" sz="2800" i="1">
                              <a:latin typeface="Cambria Math"/>
                            </a:rPr>
                          </m:ctrlPr>
                        </m:sSubPr>
                        <m:e>
                          <m:acc>
                            <m:accPr>
                              <m:chr m:val="̂"/>
                              <m:ctrlPr>
                                <a:rPr lang="es-CO" sz="2800" i="1">
                                  <a:latin typeface="Cambria Math"/>
                                </a:rPr>
                              </m:ctrlPr>
                            </m:accPr>
                            <m:e>
                              <m:r>
                                <a:rPr lang="es-ES" sz="2800" i="1">
                                  <a:latin typeface="Cambria Math"/>
                                </a:rPr>
                                <m:t>𝛼</m:t>
                              </m:r>
                            </m:e>
                          </m:acc>
                        </m:e>
                        <m:sub>
                          <m:r>
                            <a:rPr lang="es-ES" sz="2800" i="1">
                              <a:latin typeface="Cambria Math"/>
                            </a:rPr>
                            <m:t>1</m:t>
                          </m:r>
                        </m:sub>
                      </m:sSub>
                    </m:oMath>
                  </m:oMathPara>
                </a14:m>
                <a:endParaRPr lang="es-MX" sz="2600" dirty="0" smtClean="0">
                  <a:solidFill>
                    <a:schemeClr val="accent5">
                      <a:lumMod val="75000"/>
                    </a:schemeClr>
                  </a:solidFill>
                </a:endParaRPr>
              </a:p>
              <a:p>
                <a:endParaRPr lang="es-MX" sz="2600" dirty="0" smtClean="0">
                  <a:solidFill>
                    <a:schemeClr val="accent5">
                      <a:lumMod val="75000"/>
                    </a:schemeClr>
                  </a:solidFill>
                </a:endParaRPr>
              </a:p>
              <a:p>
                <a:r>
                  <a:rPr lang="es-MX" sz="2600" dirty="0" smtClean="0"/>
                  <a:t>El resultado depende de la validez del supuesto de continuidad local. </a:t>
                </a:r>
              </a:p>
              <a:p>
                <a:endParaRPr lang="en-US" sz="26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blipFill rotWithShape="1">
                <a:blip r:embed="rId2" cstate="print"/>
                <a:stretch>
                  <a:fillRect l="-815"/>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28003"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8004" name="Rectangle 4"/>
          <p:cNvSpPr>
            <a:spLocks noChangeArrowheads="1"/>
          </p:cNvSpPr>
          <p:nvPr/>
        </p:nvSpPr>
        <p:spPr bwMode="auto">
          <a:xfrm>
            <a:off x="0" y="781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2000" b="0" i="0" u="none" strike="noStrike" cap="none" normalizeH="0" baseline="0" smtClean="0">
                <a:ln>
                  <a:noFill/>
                </a:ln>
                <a:solidFill>
                  <a:schemeClr val="tx1"/>
                </a:solidFill>
                <a:effectLst/>
                <a:latin typeface="Arial" pitchFamily="34" charset="0"/>
                <a:ea typeface="Times New Roman" pitchFamily="18" charset="0"/>
              </a:rPr>
              <a:t>                   </a:t>
            </a:r>
            <a:endParaRPr kumimoji="0" lang="es-ES" sz="1800" b="0" i="0" u="none" strike="noStrike" cap="none" normalizeH="0" baseline="0" smtClean="0">
              <a:ln>
                <a:noFill/>
              </a:ln>
              <a:solidFill>
                <a:schemeClr val="tx1"/>
              </a:solidFill>
              <a:effectLst/>
              <a:latin typeface="Arial" pitchFamily="34" charset="0"/>
            </a:endParaRPr>
          </a:p>
        </p:txBody>
      </p:sp>
      <p:sp>
        <p:nvSpPr>
          <p:cNvPr id="1280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 name="12 Rectángulo"/>
          <p:cNvSpPr/>
          <p:nvPr/>
        </p:nvSpPr>
        <p:spPr>
          <a:xfrm>
            <a:off x="0" y="6581001"/>
            <a:ext cx="9144000" cy="323165"/>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57</a:t>
            </a:fld>
            <a:endParaRPr lang="es-ES" sz="1500" dirty="0">
              <a:solidFill>
                <a:schemeClr val="tx1">
                  <a:lumMod val="50000"/>
                  <a:lumOff val="50000"/>
                </a:schemeClr>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u="sng" dirty="0" smtClean="0"/>
              <a:t>Estimación no paramétrica</a:t>
            </a:r>
            <a:br>
              <a:rPr lang="es-MX" u="sng" dirty="0" smtClean="0"/>
            </a:br>
            <a:r>
              <a:rPr lang="es-MX" u="sng" dirty="0" smtClean="0"/>
              <a:t>Regresión lineal local </a:t>
            </a:r>
            <a:endParaRPr lang="en-US" dirty="0"/>
          </a:p>
        </p:txBody>
      </p:sp>
      <p:sp>
        <p:nvSpPr>
          <p:cNvPr id="10" name="9 Marcador de contenido"/>
          <p:cNvSpPr>
            <a:spLocks noGrp="1"/>
          </p:cNvSpPr>
          <p:nvPr>
            <p:ph idx="1"/>
          </p:nvPr>
        </p:nvSpPr>
        <p:spPr>
          <a:xfrm>
            <a:off x="457200" y="1749972"/>
            <a:ext cx="8229600" cy="4376191"/>
          </a:xfrm>
        </p:spPr>
        <p:txBody>
          <a:bodyPr>
            <a:normAutofit fontScale="92500" lnSpcReduction="20000"/>
          </a:bodyPr>
          <a:lstStyle/>
          <a:p>
            <a:endParaRPr lang="es-MX" dirty="0" smtClean="0">
              <a:solidFill>
                <a:schemeClr val="accent5">
                  <a:lumMod val="75000"/>
                </a:schemeClr>
              </a:solidFill>
            </a:endParaRPr>
          </a:p>
          <a:p>
            <a:r>
              <a:rPr lang="es-MX" dirty="0" smtClean="0">
                <a:solidFill>
                  <a:schemeClr val="accent5">
                    <a:lumMod val="75000"/>
                  </a:schemeClr>
                </a:solidFill>
              </a:rPr>
              <a:t>Supuesto de continuidad local:</a:t>
            </a:r>
            <a:r>
              <a:rPr lang="es-MX" dirty="0" smtClean="0"/>
              <a:t> </a:t>
            </a:r>
            <a:br>
              <a:rPr lang="es-MX" dirty="0" smtClean="0"/>
            </a:br>
            <a:r>
              <a:rPr lang="es-MX" dirty="0" smtClean="0"/>
              <a:t>Para establecer la validez de este supuesto es necesario: </a:t>
            </a:r>
          </a:p>
          <a:p>
            <a:pPr lvl="1"/>
            <a:r>
              <a:rPr lang="es-MX" dirty="0" smtClean="0"/>
              <a:t>Comparar las características observadas promedio de los individuos en una vecindad arbitrariamente pequeña del umbral a cada lado. </a:t>
            </a:r>
          </a:p>
          <a:p>
            <a:pPr lvl="1"/>
            <a:r>
              <a:rPr lang="es-MX" dirty="0" smtClean="0"/>
              <a:t>Evaluar la sensibilidad del estimador de RD a la inclusión de variables observadas adicionales. </a:t>
            </a:r>
          </a:p>
          <a:p>
            <a:pPr lvl="1"/>
            <a:r>
              <a:rPr lang="es-MX" dirty="0" smtClean="0"/>
              <a:t>Datos panel: Estimador de RD con datos del período de línea base. </a:t>
            </a:r>
          </a:p>
          <a:p>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58</a:t>
            </a:fld>
            <a:endParaRPr lang="es-ES" sz="1500" dirty="0">
              <a:solidFill>
                <a:schemeClr val="tx1">
                  <a:lumMod val="50000"/>
                  <a:lumOff val="50000"/>
                </a:scheme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fontScale="90000"/>
          </a:bodyPr>
          <a:lstStyle/>
          <a:p>
            <a:r>
              <a:rPr lang="es-MX" dirty="0" smtClean="0"/>
              <a:t>Implementación del diseño de RD en </a:t>
            </a:r>
            <a:r>
              <a:rPr lang="es-MX" dirty="0" err="1" smtClean="0"/>
              <a:t>Stata</a:t>
            </a:r>
            <a:endParaRPr lang="en-US" dirty="0"/>
          </a:p>
        </p:txBody>
      </p:sp>
      <p:sp>
        <p:nvSpPr>
          <p:cNvPr id="10" name="9 Marcador de contenido"/>
          <p:cNvSpPr>
            <a:spLocks noGrp="1"/>
          </p:cNvSpPr>
          <p:nvPr>
            <p:ph idx="1"/>
          </p:nvPr>
        </p:nvSpPr>
        <p:spPr/>
        <p:txBody>
          <a:bodyPr/>
          <a:lstStyle/>
          <a:p>
            <a:endParaRPr lang="es-MX" dirty="0" smtClean="0"/>
          </a:p>
          <a:p>
            <a:r>
              <a:rPr lang="es-MX" dirty="0" smtClean="0"/>
              <a:t>Metodologías: </a:t>
            </a:r>
          </a:p>
          <a:p>
            <a:pPr lvl="1"/>
            <a:r>
              <a:rPr lang="es-MX" dirty="0" err="1" smtClean="0"/>
              <a:t>Imbens</a:t>
            </a:r>
            <a:r>
              <a:rPr lang="es-MX" dirty="0" smtClean="0"/>
              <a:t> y </a:t>
            </a:r>
            <a:r>
              <a:rPr lang="es-MX" dirty="0" err="1" smtClean="0"/>
              <a:t>Lemieux</a:t>
            </a:r>
            <a:r>
              <a:rPr lang="es-MX" dirty="0" smtClean="0"/>
              <a:t> (2007). </a:t>
            </a:r>
          </a:p>
          <a:p>
            <a:pPr lvl="1"/>
            <a:r>
              <a:rPr lang="es-MX" dirty="0" err="1" smtClean="0"/>
              <a:t>Imbens</a:t>
            </a:r>
            <a:r>
              <a:rPr lang="es-MX" dirty="0" smtClean="0"/>
              <a:t> y </a:t>
            </a:r>
            <a:r>
              <a:rPr lang="es-MX" dirty="0" err="1" smtClean="0"/>
              <a:t>Lemieux</a:t>
            </a:r>
            <a:r>
              <a:rPr lang="es-MX" dirty="0" smtClean="0"/>
              <a:t> con peso tipo triangular.</a:t>
            </a:r>
          </a:p>
          <a:p>
            <a:pPr lvl="1"/>
            <a:r>
              <a:rPr lang="es-MX" dirty="0" smtClean="0"/>
              <a:t>Modificación de </a:t>
            </a:r>
            <a:r>
              <a:rPr lang="es-MX" dirty="0" err="1" smtClean="0"/>
              <a:t>Imbens</a:t>
            </a:r>
            <a:r>
              <a:rPr lang="es-MX" dirty="0" smtClean="0"/>
              <a:t> y </a:t>
            </a:r>
            <a:r>
              <a:rPr lang="es-MX" dirty="0" err="1" smtClean="0"/>
              <a:t>Lemieux</a:t>
            </a:r>
            <a:r>
              <a:rPr lang="es-MX" dirty="0" smtClean="0"/>
              <a:t>  con pesos tipo triangular. </a:t>
            </a:r>
          </a:p>
          <a:p>
            <a:pPr lvl="1"/>
            <a:r>
              <a:rPr lang="es-MX" dirty="0" smtClean="0"/>
              <a:t>Rutina “</a:t>
            </a:r>
            <a:r>
              <a:rPr lang="es-MX" dirty="0" err="1" smtClean="0"/>
              <a:t>rd</a:t>
            </a:r>
            <a:r>
              <a:rPr lang="es-MX" dirty="0" smtClean="0"/>
              <a:t>” (</a:t>
            </a:r>
            <a:r>
              <a:rPr lang="es-MX" dirty="0" err="1" smtClean="0"/>
              <a:t>Nichols</a:t>
            </a:r>
            <a:r>
              <a:rPr lang="es-MX" dirty="0" smtClean="0"/>
              <a:t>, 2007). </a:t>
            </a:r>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59</a:t>
            </a:fld>
            <a:endParaRPr lang="es-ES" sz="1500" dirty="0">
              <a:solidFill>
                <a:schemeClr val="tx1">
                  <a:lumMod val="50000"/>
                  <a:lumOff val="50000"/>
                </a:schemeClr>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ES_tradnl" sz="2500" b="1" u="sng" dirty="0" smtClean="0"/>
              <a:t>Población elegible:</a:t>
            </a:r>
            <a:r>
              <a:rPr lang="es-ES_tradnl" sz="2500" dirty="0" smtClean="0"/>
              <a:t> 	Hogares de </a:t>
            </a:r>
            <a:r>
              <a:rPr lang="es-ES_tradnl" sz="2500" dirty="0" err="1" smtClean="0"/>
              <a:t>Sisben</a:t>
            </a:r>
            <a:r>
              <a:rPr lang="es-ES_tradnl" sz="2500" dirty="0" smtClean="0"/>
              <a:t> 1 y 2.</a:t>
            </a:r>
          </a:p>
          <a:p>
            <a:pPr>
              <a:buNone/>
            </a:pPr>
            <a:r>
              <a:rPr lang="es-ES_tradnl" sz="2500" dirty="0" smtClean="0"/>
              <a:t>				Cobertura </a:t>
            </a:r>
            <a:r>
              <a:rPr lang="es-ES_tradnl" sz="2500" u="sng" dirty="0" smtClean="0"/>
              <a:t>universal</a:t>
            </a:r>
            <a:r>
              <a:rPr lang="es-ES_tradnl" sz="2500" dirty="0" smtClean="0"/>
              <a:t> para </a:t>
            </a:r>
            <a:r>
              <a:rPr lang="es-ES_tradnl" sz="2500" dirty="0" err="1" smtClean="0"/>
              <a:t>Sisben</a:t>
            </a:r>
            <a:r>
              <a:rPr lang="es-ES_tradnl" sz="2500" dirty="0" smtClean="0"/>
              <a:t> 1.</a:t>
            </a:r>
          </a:p>
          <a:p>
            <a:pPr>
              <a:buNone/>
            </a:pPr>
            <a:r>
              <a:rPr lang="es-ES_tradnl" sz="2500" dirty="0" smtClean="0"/>
              <a:t>				Mercado para todos los hogares.</a:t>
            </a:r>
          </a:p>
          <a:p>
            <a:pPr>
              <a:buNone/>
            </a:pPr>
            <a:r>
              <a:rPr lang="es-ES_tradnl" sz="2500" dirty="0" smtClean="0"/>
              <a:t>				Cobertura </a:t>
            </a:r>
            <a:r>
              <a:rPr lang="es-ES_tradnl" sz="2500" u="sng" dirty="0" smtClean="0"/>
              <a:t>parcial</a:t>
            </a:r>
            <a:r>
              <a:rPr lang="es-ES_tradnl" sz="2500" dirty="0" smtClean="0"/>
              <a:t> para </a:t>
            </a:r>
            <a:r>
              <a:rPr lang="es-ES_tradnl" sz="2500" dirty="0" err="1" smtClean="0"/>
              <a:t>Sisben</a:t>
            </a:r>
            <a:r>
              <a:rPr lang="es-ES_tradnl" sz="2500" dirty="0" smtClean="0"/>
              <a:t> 2.</a:t>
            </a:r>
          </a:p>
          <a:p>
            <a:pPr>
              <a:buNone/>
            </a:pPr>
            <a:r>
              <a:rPr lang="es-ES_tradnl" sz="2500" dirty="0" smtClean="0"/>
              <a:t>				Mercado para 100,000 hogares </a:t>
            </a:r>
          </a:p>
          <a:p>
            <a:pPr>
              <a:buNone/>
            </a:pPr>
            <a:r>
              <a:rPr lang="es-ES_tradnl" sz="2500" dirty="0" smtClean="0"/>
              <a:t>                                       escogidos al azar.</a:t>
            </a:r>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MX" sz="3000" dirty="0" smtClean="0">
                <a:solidFill>
                  <a:prstClr val="black"/>
                </a:solidFill>
              </a:rPr>
              <a:t>Implementación del diseño de RD </a:t>
            </a:r>
            <a:r>
              <a:rPr lang="es-AR" sz="4200" dirty="0" smtClean="0"/>
              <a:t/>
            </a:r>
            <a:br>
              <a:rPr lang="es-AR" sz="4200" dirty="0" smtClean="0"/>
            </a:br>
            <a:r>
              <a:rPr lang="es-AR" sz="4200" dirty="0" smtClean="0"/>
              <a:t>Ejemplo 2: </a:t>
            </a:r>
            <a:r>
              <a:rPr lang="es-AR" sz="4200" i="1" dirty="0" smtClean="0"/>
              <a:t>Canasta</a:t>
            </a:r>
            <a:endParaRPr lang="es-AR" sz="4200" dirty="0"/>
          </a:p>
        </p:txBody>
      </p:sp>
      <p:cxnSp>
        <p:nvCxnSpPr>
          <p:cNvPr id="9" name="8 Conector recto"/>
          <p:cNvCxnSpPr/>
          <p:nvPr/>
        </p:nvCxnSpPr>
        <p:spPr>
          <a:xfrm rot="10800000">
            <a:off x="2786051" y="2285992"/>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rot="5400000">
            <a:off x="2536017" y="2536025"/>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p:nvPr/>
        </p:nvCxnSpPr>
        <p:spPr>
          <a:xfrm>
            <a:off x="2786050" y="2786058"/>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p:cNvCxnSpPr/>
          <p:nvPr/>
        </p:nvCxnSpPr>
        <p:spPr>
          <a:xfrm rot="10800000">
            <a:off x="2786051" y="3213097"/>
            <a:ext cx="35719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rot="5400000">
            <a:off x="2536811" y="3463925"/>
            <a:ext cx="50006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15 Conector recto de flecha"/>
          <p:cNvCxnSpPr/>
          <p:nvPr/>
        </p:nvCxnSpPr>
        <p:spPr>
          <a:xfrm>
            <a:off x="2786050" y="3713164"/>
            <a:ext cx="42862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16 CuadroTexto"/>
          <p:cNvSpPr txBox="1"/>
          <p:nvPr/>
        </p:nvSpPr>
        <p:spPr>
          <a:xfrm>
            <a:off x="500034" y="4309268"/>
            <a:ext cx="4348434" cy="477054"/>
          </a:xfrm>
          <a:prstGeom prst="rect">
            <a:avLst/>
          </a:prstGeom>
          <a:noFill/>
        </p:spPr>
        <p:txBody>
          <a:bodyPr wrap="none" rtlCol="0">
            <a:spAutoFit/>
          </a:bodyPr>
          <a:lstStyle/>
          <a:p>
            <a:r>
              <a:rPr lang="es-ES_tradnl" sz="2500" dirty="0" smtClean="0"/>
              <a:t>La probabilidad de participación</a:t>
            </a:r>
            <a:endParaRPr lang="es-ES" sz="2500" dirty="0"/>
          </a:p>
        </p:txBody>
      </p:sp>
      <p:cxnSp>
        <p:nvCxnSpPr>
          <p:cNvPr id="18" name="17 Conector recto de flecha"/>
          <p:cNvCxnSpPr/>
          <p:nvPr/>
        </p:nvCxnSpPr>
        <p:spPr>
          <a:xfrm>
            <a:off x="1428728" y="4999048"/>
            <a:ext cx="85725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21 CuadroTexto"/>
          <p:cNvSpPr txBox="1"/>
          <p:nvPr/>
        </p:nvSpPr>
        <p:spPr>
          <a:xfrm>
            <a:off x="2285984" y="4786322"/>
            <a:ext cx="6000792" cy="861774"/>
          </a:xfrm>
          <a:prstGeom prst="rect">
            <a:avLst/>
          </a:prstGeom>
          <a:noFill/>
        </p:spPr>
        <p:txBody>
          <a:bodyPr wrap="square" rtlCol="0">
            <a:spAutoFit/>
          </a:bodyPr>
          <a:lstStyle/>
          <a:p>
            <a:r>
              <a:rPr lang="es-ES" sz="2500" dirty="0" smtClean="0"/>
              <a:t>Mayor o igual a cero tanto a la izquierda como a la derecha de </a:t>
            </a:r>
            <a:r>
              <a:rPr lang="es-ES" sz="2500" b="1" dirty="0" smtClean="0"/>
              <a:t>10</a:t>
            </a:r>
            <a:r>
              <a:rPr lang="es-ES" sz="2500" dirty="0" smtClean="0"/>
              <a:t>.</a:t>
            </a:r>
            <a:endParaRPr lang="es-ES" sz="2500" dirty="0"/>
          </a:p>
        </p:txBody>
      </p:sp>
      <p:cxnSp>
        <p:nvCxnSpPr>
          <p:cNvPr id="25" name="24 Conector recto"/>
          <p:cNvCxnSpPr/>
          <p:nvPr/>
        </p:nvCxnSpPr>
        <p:spPr>
          <a:xfrm rot="5400000" flipH="1" flipV="1">
            <a:off x="1321571" y="4893479"/>
            <a:ext cx="214314" cy="1588"/>
          </a:xfrm>
          <a:prstGeom prst="line">
            <a:avLst/>
          </a:prstGeom>
        </p:spPr>
        <p:style>
          <a:lnRef idx="1">
            <a:schemeClr val="accent1"/>
          </a:lnRef>
          <a:fillRef idx="0">
            <a:schemeClr val="accent1"/>
          </a:fillRef>
          <a:effectRef idx="0">
            <a:schemeClr val="accent1"/>
          </a:effectRef>
          <a:fontRef idx="minor">
            <a:schemeClr val="tx1"/>
          </a:fontRef>
        </p:style>
      </p:cxnSp>
      <p:sp>
        <p:nvSpPr>
          <p:cNvPr id="20" name="1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60</a:t>
            </a:fld>
            <a:endParaRPr lang="es-ES" sz="1500" dirty="0">
              <a:solidFill>
                <a:schemeClr val="tx1">
                  <a:lumMod val="50000"/>
                  <a:lumOff val="50000"/>
                </a:schemeClr>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ln w="28575">
            <a:solidFill>
              <a:schemeClr val="accent1">
                <a:lumMod val="75000"/>
              </a:schemeClr>
            </a:solidFill>
          </a:ln>
        </p:spPr>
        <p:txBody>
          <a:bodyPr/>
          <a:lstStyle/>
          <a:p>
            <a:pPr>
              <a:buNone/>
            </a:pPr>
            <a:r>
              <a:rPr lang="es-ES" sz="2500" dirty="0" smtClean="0"/>
              <a:t>	</a:t>
            </a:r>
            <a:r>
              <a:rPr lang="es-ES" sz="2500" u="sng" dirty="0" smtClean="0"/>
              <a:t>Bajo este diseño</a:t>
            </a:r>
            <a:r>
              <a:rPr lang="es-ES" sz="2500" dirty="0" smtClean="0"/>
              <a:t>:</a:t>
            </a:r>
          </a:p>
          <a:p>
            <a:pPr>
              <a:buNone/>
            </a:pPr>
            <a:r>
              <a:rPr lang="es-ES" sz="2500" dirty="0" smtClean="0"/>
              <a:t>	Hay individuos participantes a ambos lados del umbral </a:t>
            </a:r>
            <a:r>
              <a:rPr lang="es-ES" sz="2500" b="1" dirty="0" smtClean="0"/>
              <a:t>10</a:t>
            </a:r>
            <a:r>
              <a:rPr lang="es-ES" sz="2500" dirty="0" smtClean="0"/>
              <a:t>. </a:t>
            </a:r>
          </a:p>
          <a:p>
            <a:pPr>
              <a:buNone/>
            </a:pPr>
            <a:r>
              <a:rPr lang="es-ES" sz="2500" dirty="0" smtClean="0"/>
              <a:t>	</a:t>
            </a:r>
          </a:p>
          <a:p>
            <a:pPr>
              <a:buNone/>
            </a:pPr>
            <a:r>
              <a:rPr lang="es-ES" sz="2500" dirty="0" smtClean="0"/>
              <a:t>	Debido a que la cobertura es parcial para </a:t>
            </a:r>
            <a:r>
              <a:rPr lang="es-ES" sz="2500" dirty="0" err="1" smtClean="0"/>
              <a:t>Sisben</a:t>
            </a:r>
            <a:r>
              <a:rPr lang="es-ES" sz="2500" dirty="0" smtClean="0"/>
              <a:t> 2, </a:t>
            </a:r>
            <a:br>
              <a:rPr lang="es-ES" sz="2500" dirty="0" smtClean="0"/>
            </a:br>
            <a:r>
              <a:rPr lang="es-ES" sz="2500" dirty="0" smtClean="0"/>
              <a:t>la probabilidad cambia discretamente en el punto de corte 10.</a:t>
            </a:r>
          </a:p>
          <a:p>
            <a:pPr algn="just">
              <a:buNone/>
            </a:pPr>
            <a:endParaRPr lang="es-ES" sz="2500" dirty="0" smtClean="0"/>
          </a:p>
          <a:p>
            <a:pPr>
              <a:buNone/>
            </a:pPr>
            <a:r>
              <a:rPr lang="es-ES" sz="2500" dirty="0" smtClean="0"/>
              <a:t>	</a:t>
            </a:r>
            <a:r>
              <a:rPr lang="es-ES" sz="2500" i="1" dirty="0" smtClean="0"/>
              <a:t>El ejemplo se refiere a un caso de regresión discontinua borrosa. </a:t>
            </a:r>
            <a:endParaRPr lang="es-ES" sz="2500" i="1"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a:spLocks noGrp="1"/>
          </p:cNvSpPr>
          <p:nvPr>
            <p:ph type="title"/>
          </p:nvPr>
        </p:nvSpPr>
        <p:spPr>
          <a:xfrm>
            <a:off x="2571736" y="142852"/>
            <a:ext cx="6143668" cy="1225536"/>
          </a:xfrm>
        </p:spPr>
        <p:txBody>
          <a:bodyPr>
            <a:noAutofit/>
          </a:bodyPr>
          <a:lstStyle/>
          <a:p>
            <a:r>
              <a:rPr lang="es-MX" sz="3000" dirty="0" smtClean="0">
                <a:solidFill>
                  <a:prstClr val="black"/>
                </a:solidFill>
              </a:rPr>
              <a:t>Implementación del diseño de RD </a:t>
            </a:r>
            <a:r>
              <a:rPr lang="es-AR" sz="4200" dirty="0" smtClean="0"/>
              <a:t/>
            </a:r>
            <a:br>
              <a:rPr lang="es-AR" sz="4200" dirty="0" smtClean="0"/>
            </a:br>
            <a:r>
              <a:rPr lang="es-AR" sz="4200" dirty="0" smtClean="0"/>
              <a:t>Ejemplo 2: </a:t>
            </a:r>
            <a:r>
              <a:rPr lang="es-AR" sz="4200" i="1" dirty="0" smtClean="0"/>
              <a:t>Canasta</a:t>
            </a:r>
            <a:endParaRPr lang="es-AR" sz="4200" dirty="0"/>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61</a:t>
            </a:fld>
            <a:endParaRPr lang="es-ES" sz="1500" dirty="0">
              <a:solidFill>
                <a:schemeClr val="tx1">
                  <a:lumMod val="50000"/>
                  <a:lumOff val="50000"/>
                </a:schemeClr>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223931" cy="1131910"/>
          </a:xfrm>
        </p:spPr>
        <p:txBody>
          <a:bodyPr>
            <a:noAutofit/>
          </a:bodyPr>
          <a:lstStyle/>
          <a:p>
            <a:pPr lvl="1" algn="ctr" rtl="0">
              <a:spcBef>
                <a:spcPct val="0"/>
              </a:spcBef>
            </a:pPr>
            <a:r>
              <a:rPr lang="es-MX" sz="3000" dirty="0" smtClean="0"/>
              <a:t>Implementación del diseño de RD:  </a:t>
            </a:r>
            <a:br>
              <a:rPr lang="es-MX" sz="3000" dirty="0" smtClean="0"/>
            </a:br>
            <a:r>
              <a:rPr lang="es-MX" sz="3000" dirty="0" err="1" smtClean="0"/>
              <a:t>Imbens</a:t>
            </a:r>
            <a:r>
              <a:rPr lang="es-MX" sz="3000" dirty="0" smtClean="0"/>
              <a:t> y </a:t>
            </a:r>
            <a:r>
              <a:rPr lang="es-MX" sz="3000" dirty="0" err="1" smtClean="0"/>
              <a:t>Lemieux</a:t>
            </a:r>
            <a:r>
              <a:rPr lang="es-MX" sz="3000" dirty="0" smtClean="0"/>
              <a:t> (2007) </a:t>
            </a:r>
            <a:endParaRPr lang="en-US" sz="3000" dirty="0"/>
          </a:p>
        </p:txBody>
      </p:sp>
      <p:sp>
        <p:nvSpPr>
          <p:cNvPr id="10" name="9 Marcador de contenido"/>
          <p:cNvSpPr>
            <a:spLocks noGrp="1"/>
          </p:cNvSpPr>
          <p:nvPr>
            <p:ph idx="1"/>
          </p:nvPr>
        </p:nvSpPr>
        <p:spPr>
          <a:xfrm>
            <a:off x="457200" y="1749970"/>
            <a:ext cx="8371490" cy="4461641"/>
          </a:xfrm>
        </p:spPr>
        <p:txBody>
          <a:bodyPr>
            <a:normAutofit fontScale="85000" lnSpcReduction="20000"/>
          </a:bodyPr>
          <a:lstStyle/>
          <a:p>
            <a:pPr marL="514350" indent="-514350">
              <a:buFont typeface="+mj-lt"/>
              <a:buAutoNum type="arabicPeriod"/>
            </a:pPr>
            <a:r>
              <a:rPr lang="es-MX" dirty="0" smtClean="0"/>
              <a:t>Definir el ancho de banda. </a:t>
            </a:r>
          </a:p>
          <a:p>
            <a:pPr marL="514350" indent="-514350">
              <a:buFont typeface="+mj-lt"/>
              <a:buAutoNum type="arabicPeriod"/>
            </a:pPr>
            <a:r>
              <a:rPr lang="es-MX" dirty="0" smtClean="0"/>
              <a:t>Estimar dos regresiones, una a cada lado del umbral. </a:t>
            </a:r>
          </a:p>
          <a:p>
            <a:pPr marL="514350" indent="-514350">
              <a:buFont typeface="+mj-lt"/>
              <a:buAutoNum type="arabicPeriod"/>
            </a:pPr>
            <a:r>
              <a:rPr lang="es-MX" dirty="0" smtClean="0"/>
              <a:t>Calcular la predicción de la variable de resultado, </a:t>
            </a:r>
            <a:r>
              <a:rPr lang="es-MX" i="1" dirty="0" smtClean="0"/>
              <a:t>Y</a:t>
            </a:r>
            <a:r>
              <a:rPr lang="es-MX" dirty="0" smtClean="0"/>
              <a:t>, condicional en el puntaje </a:t>
            </a:r>
            <a:r>
              <a:rPr lang="es-MX" dirty="0" err="1" smtClean="0"/>
              <a:t>Sisben</a:t>
            </a:r>
            <a:r>
              <a:rPr lang="es-MX" dirty="0" smtClean="0"/>
              <a:t> a cada lado del umbral con base en esas regresiones.</a:t>
            </a:r>
          </a:p>
          <a:p>
            <a:pPr marL="514350" indent="-514350">
              <a:buFont typeface="+mj-lt"/>
              <a:buAutoNum type="arabicPeriod"/>
            </a:pPr>
            <a:r>
              <a:rPr lang="es-MX" dirty="0" smtClean="0"/>
              <a:t>Estimar el salto de la variable de resultado en el punto de discontinuidad. </a:t>
            </a:r>
          </a:p>
          <a:p>
            <a:pPr marL="514350" indent="-514350">
              <a:buFont typeface="+mj-lt"/>
              <a:buAutoNum type="arabicPeriod"/>
            </a:pPr>
            <a:r>
              <a:rPr lang="es-MX" dirty="0" smtClean="0"/>
              <a:t>Mismo procedimiento para la probabilidad de participación en el programa.</a:t>
            </a:r>
          </a:p>
          <a:p>
            <a:pPr marL="514350" indent="-514350">
              <a:buFont typeface="+mj-lt"/>
              <a:buAutoNum type="arabicPeriod"/>
            </a:pPr>
            <a:r>
              <a:rPr lang="es-MX" dirty="0" smtClean="0"/>
              <a:t>El efecto del programa es el cociente entre el salto en </a:t>
            </a:r>
            <a:r>
              <a:rPr lang="es-MX" i="1" dirty="0" smtClean="0"/>
              <a:t>Y</a:t>
            </a:r>
            <a:r>
              <a:rPr lang="es-MX" dirty="0" smtClean="0"/>
              <a:t> </a:t>
            </a:r>
            <a:r>
              <a:rPr lang="es-MX" dirty="0" err="1" smtClean="0"/>
              <a:t>y</a:t>
            </a:r>
            <a:r>
              <a:rPr lang="es-MX" dirty="0" smtClean="0"/>
              <a:t> el salto en la probabilidad de participación en el umbral.</a:t>
            </a:r>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62</a:t>
            </a:fld>
            <a:endParaRPr lang="es-ES" sz="1500" dirty="0">
              <a:solidFill>
                <a:schemeClr val="tx1">
                  <a:lumMod val="50000"/>
                  <a:lumOff val="50000"/>
                </a:schemeClr>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a:bodyPr>
          <a:lstStyle/>
          <a:p>
            <a:r>
              <a:rPr lang="es-MX" sz="3000" kern="0" dirty="0" smtClean="0">
                <a:solidFill>
                  <a:sysClr val="windowText" lastClr="000000"/>
                </a:solidFill>
              </a:rPr>
              <a:t>Implementación del diseño de RD:  </a:t>
            </a:r>
            <a:br>
              <a:rPr lang="es-MX" sz="3000" kern="0" dirty="0" smtClean="0">
                <a:solidFill>
                  <a:sysClr val="windowText" lastClr="000000"/>
                </a:solidFill>
              </a:rPr>
            </a:br>
            <a:r>
              <a:rPr lang="es-MX" sz="3000" kern="0" dirty="0" err="1" smtClean="0">
                <a:solidFill>
                  <a:sysClr val="windowText" lastClr="000000"/>
                </a:solidFill>
              </a:rPr>
              <a:t>Imbens</a:t>
            </a:r>
            <a:r>
              <a:rPr lang="es-MX" sz="3000" kern="0" dirty="0" smtClean="0">
                <a:solidFill>
                  <a:sysClr val="windowText" lastClr="000000"/>
                </a:solidFill>
              </a:rPr>
              <a:t> y </a:t>
            </a:r>
            <a:r>
              <a:rPr lang="es-MX" sz="3000" kern="0" dirty="0" err="1" smtClean="0">
                <a:solidFill>
                  <a:sysClr val="windowText" lastClr="000000"/>
                </a:solidFill>
              </a:rPr>
              <a:t>Lemieux</a:t>
            </a:r>
            <a:r>
              <a:rPr lang="es-MX" sz="3000" kern="0" dirty="0" smtClean="0">
                <a:solidFill>
                  <a:sysClr val="windowText" lastClr="000000"/>
                </a:solidFill>
              </a:rPr>
              <a:t> (2007) </a:t>
            </a: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p:txBody>
              <a:bodyPr>
                <a:normAutofit fontScale="77500" lnSpcReduction="20000"/>
              </a:bodyPr>
              <a:lstStyle/>
              <a:p>
                <a:r>
                  <a:rPr lang="es-MX" dirty="0" smtClean="0">
                    <a:solidFill>
                      <a:schemeClr val="accent5">
                        <a:lumMod val="75000"/>
                      </a:schemeClr>
                    </a:solidFill>
                  </a:rPr>
                  <a:t>Formalmente: </a:t>
                </a:r>
              </a:p>
              <a:p>
                <a:pPr marL="0" indent="0">
                  <a:buNone/>
                </a:pPr>
                <a14:m>
                  <m:oMathPara xmlns:m="http://schemas.openxmlformats.org/officeDocument/2006/math">
                    <m:oMathParaPr>
                      <m:jc m:val="centerGroup"/>
                    </m:oMathParaPr>
                    <m:oMath xmlns:m="http://schemas.openxmlformats.org/officeDocument/2006/math">
                      <m:d>
                        <m:dPr>
                          <m:ctrlPr>
                            <a:rPr lang="es-CO" sz="2800" i="1">
                              <a:latin typeface="Cambria Math"/>
                            </a:rPr>
                          </m:ctrlPr>
                        </m:dPr>
                        <m:e>
                          <m:acc>
                            <m:accPr>
                              <m:chr m:val="̂"/>
                              <m:ctrlPr>
                                <a:rPr lang="es-CO" sz="2800" i="1">
                                  <a:latin typeface="Cambria Math"/>
                                </a:rPr>
                              </m:ctrlPr>
                            </m:accPr>
                            <m:e>
                              <m:sSub>
                                <m:sSubPr>
                                  <m:ctrlPr>
                                    <a:rPr lang="es-CO" sz="2800" i="1">
                                      <a:latin typeface="Cambria Math"/>
                                    </a:rPr>
                                  </m:ctrlPr>
                                </m:sSubPr>
                                <m:e>
                                  <m:r>
                                    <a:rPr lang="es-MX" sz="2800" i="1">
                                      <a:latin typeface="Cambria Math"/>
                                    </a:rPr>
                                    <m:t>𝛼</m:t>
                                  </m:r>
                                </m:e>
                                <m:sub>
                                  <m:r>
                                    <a:rPr lang="es-MX" sz="2800" i="1">
                                      <a:latin typeface="Cambria Math"/>
                                    </a:rPr>
                                    <m:t>𝑙</m:t>
                                  </m:r>
                                </m:sub>
                              </m:sSub>
                            </m:e>
                          </m:acc>
                          <m:r>
                            <a:rPr lang="es-MX" sz="2800" i="1">
                              <a:latin typeface="Cambria Math"/>
                            </a:rPr>
                            <m:t>,</m:t>
                          </m:r>
                          <m:acc>
                            <m:accPr>
                              <m:chr m:val="̂"/>
                              <m:ctrlPr>
                                <a:rPr lang="es-CO" sz="2800" i="1">
                                  <a:latin typeface="Cambria Math"/>
                                </a:rPr>
                              </m:ctrlPr>
                            </m:accPr>
                            <m:e>
                              <m:sSub>
                                <m:sSubPr>
                                  <m:ctrlPr>
                                    <a:rPr lang="es-CO" sz="2800" i="1">
                                      <a:latin typeface="Cambria Math"/>
                                    </a:rPr>
                                  </m:ctrlPr>
                                </m:sSubPr>
                                <m:e>
                                  <m:r>
                                    <a:rPr lang="es-MX" sz="2800" i="1">
                                      <a:latin typeface="Cambria Math"/>
                                    </a:rPr>
                                    <m:t>𝛽</m:t>
                                  </m:r>
                                </m:e>
                                <m:sub>
                                  <m:r>
                                    <a:rPr lang="es-MX" sz="2800" i="1">
                                      <a:latin typeface="Cambria Math"/>
                                    </a:rPr>
                                    <m:t>𝑙</m:t>
                                  </m:r>
                                </m:sub>
                              </m:sSub>
                            </m:e>
                          </m:acc>
                        </m:e>
                      </m:d>
                      <m:r>
                        <a:rPr lang="es-MX" sz="2800" i="1">
                          <a:latin typeface="Cambria Math"/>
                        </a:rPr>
                        <m:t>=</m:t>
                      </m:r>
                      <m:r>
                        <a:rPr lang="es-MX" sz="2800" i="1">
                          <a:latin typeface="Cambria Math"/>
                        </a:rPr>
                        <m:t>𝑎𝑟𝑔</m:t>
                      </m:r>
                      <m:func>
                        <m:funcPr>
                          <m:ctrlPr>
                            <a:rPr lang="es-CO" sz="2800" i="1">
                              <a:latin typeface="Cambria Math"/>
                            </a:rPr>
                          </m:ctrlPr>
                        </m:funcPr>
                        <m:fName>
                          <m:limLow>
                            <m:limLowPr>
                              <m:ctrlPr>
                                <a:rPr lang="es-CO" sz="2800" i="1">
                                  <a:latin typeface="Cambria Math"/>
                                </a:rPr>
                              </m:ctrlPr>
                            </m:limLowPr>
                            <m:e>
                              <m:r>
                                <m:rPr>
                                  <m:sty m:val="p"/>
                                </m:rPr>
                                <a:rPr lang="es-MX" sz="2800">
                                  <a:latin typeface="Cambria Math"/>
                                </a:rPr>
                                <m:t>min</m:t>
                              </m:r>
                            </m:e>
                            <m:lim>
                              <m:r>
                                <a:rPr lang="es-MX" sz="2800" i="1">
                                  <a:latin typeface="Cambria Math"/>
                                </a:rPr>
                                <m:t>𝛼</m:t>
                              </m:r>
                              <m:r>
                                <a:rPr lang="es-MX" sz="2800" i="1">
                                  <a:latin typeface="Cambria Math"/>
                                </a:rPr>
                                <m:t>,</m:t>
                              </m:r>
                              <m:r>
                                <a:rPr lang="es-MX" sz="2800" i="1">
                                  <a:latin typeface="Cambria Math"/>
                                </a:rPr>
                                <m:t>𝛽</m:t>
                              </m:r>
                            </m:lim>
                          </m:limLow>
                        </m:fName>
                        <m:e>
                          <m:nary>
                            <m:naryPr>
                              <m:chr m:val="∑"/>
                              <m:limLoc m:val="undOvr"/>
                              <m:supHide m:val="on"/>
                              <m:ctrlPr>
                                <a:rPr lang="es-CO" sz="2800" i="1">
                                  <a:latin typeface="Cambria Math"/>
                                </a:rPr>
                              </m:ctrlPr>
                            </m:naryPr>
                            <m:sub>
                              <m:r>
                                <a:rPr lang="es-MX" sz="2800" i="1">
                                  <a:latin typeface="Cambria Math"/>
                                </a:rPr>
                                <m:t>𝑖</m:t>
                              </m:r>
                              <m:r>
                                <a:rPr lang="es-MX" sz="2800" i="1">
                                  <a:latin typeface="Cambria Math"/>
                                </a:rPr>
                                <m:t>|10−</m:t>
                              </m:r>
                              <m:r>
                                <a:rPr lang="es-MX" sz="2800" i="1">
                                  <a:latin typeface="Cambria Math"/>
                                </a:rPr>
                                <m:t>h</m:t>
                              </m:r>
                              <m:r>
                                <a:rPr lang="es-MX" sz="2800" i="1">
                                  <a:latin typeface="Cambria Math"/>
                                </a:rPr>
                                <m:t>&lt;</m:t>
                              </m:r>
                              <m:sSub>
                                <m:sSubPr>
                                  <m:ctrlPr>
                                    <a:rPr lang="es-CO" sz="2800" i="1">
                                      <a:latin typeface="Cambria Math"/>
                                    </a:rPr>
                                  </m:ctrlPr>
                                </m:sSubPr>
                                <m:e>
                                  <m:r>
                                    <a:rPr lang="es-MX" sz="2800" i="1">
                                      <a:latin typeface="Cambria Math"/>
                                    </a:rPr>
                                    <m:t>𝑆𝐼𝑆𝐵𝐸𝑁</m:t>
                                  </m:r>
                                </m:e>
                                <m:sub>
                                  <m:r>
                                    <a:rPr lang="es-MX" sz="2800" i="1">
                                      <a:latin typeface="Cambria Math"/>
                                    </a:rPr>
                                    <m:t>𝑖</m:t>
                                  </m:r>
                                </m:sub>
                              </m:sSub>
                              <m:r>
                                <a:rPr lang="es-MX" sz="2800" i="1">
                                  <a:latin typeface="Cambria Math"/>
                                </a:rPr>
                                <m:t>&lt;10</m:t>
                              </m:r>
                            </m:sub>
                            <m:sup/>
                            <m:e>
                              <m:r>
                                <a:rPr lang="es-MX" sz="2800" i="1">
                                  <a:latin typeface="Cambria Math"/>
                                </a:rPr>
                                <m:t>(</m:t>
                              </m:r>
                              <m:sSub>
                                <m:sSubPr>
                                  <m:ctrlPr>
                                    <a:rPr lang="es-CO" sz="2800" i="1">
                                      <a:latin typeface="Cambria Math"/>
                                    </a:rPr>
                                  </m:ctrlPr>
                                </m:sSubPr>
                                <m:e>
                                  <m:r>
                                    <a:rPr lang="es-MX" sz="2800" i="1">
                                      <a:latin typeface="Cambria Math"/>
                                    </a:rPr>
                                    <m:t>𝑌</m:t>
                                  </m:r>
                                </m:e>
                                <m:sub>
                                  <m:r>
                                    <a:rPr lang="es-MX" sz="2800" i="1">
                                      <a:latin typeface="Cambria Math"/>
                                    </a:rPr>
                                    <m:t>𝑖</m:t>
                                  </m:r>
                                </m:sub>
                              </m:sSub>
                              <m:r>
                                <a:rPr lang="es-MX" sz="2800" i="1">
                                  <a:latin typeface="Cambria Math"/>
                                </a:rPr>
                                <m:t>−</m:t>
                              </m:r>
                              <m:r>
                                <a:rPr lang="es-MX" sz="2800" i="1">
                                  <a:latin typeface="Cambria Math"/>
                                </a:rPr>
                                <m:t>𝛼</m:t>
                              </m:r>
                              <m:r>
                                <a:rPr lang="es-MX" sz="2800" i="1">
                                  <a:latin typeface="Cambria Math"/>
                                </a:rPr>
                                <m:t>−</m:t>
                              </m:r>
                              <m:r>
                                <a:rPr lang="es-MX" sz="2800" i="1">
                                  <a:latin typeface="Cambria Math"/>
                                </a:rPr>
                                <m:t>𝛽</m:t>
                              </m:r>
                              <m:d>
                                <m:dPr>
                                  <m:ctrlPr>
                                    <a:rPr lang="es-CO" sz="2800" i="1">
                                      <a:latin typeface="Cambria Math"/>
                                    </a:rPr>
                                  </m:ctrlPr>
                                </m:dPr>
                                <m:e>
                                  <m:sSub>
                                    <m:sSubPr>
                                      <m:ctrlPr>
                                        <a:rPr lang="es-CO" sz="2800" i="1">
                                          <a:latin typeface="Cambria Math"/>
                                        </a:rPr>
                                      </m:ctrlPr>
                                    </m:sSubPr>
                                    <m:e>
                                      <m:r>
                                        <a:rPr lang="es-MX" sz="2800" i="1">
                                          <a:latin typeface="Cambria Math"/>
                                        </a:rPr>
                                        <m:t>𝑆𝐼𝑆𝐵𝐸𝑁</m:t>
                                      </m:r>
                                    </m:e>
                                    <m:sub>
                                      <m:r>
                                        <a:rPr lang="es-MX" sz="2800" i="1">
                                          <a:latin typeface="Cambria Math"/>
                                        </a:rPr>
                                        <m:t>𝑖</m:t>
                                      </m:r>
                                    </m:sub>
                                  </m:sSub>
                                  <m:r>
                                    <a:rPr lang="es-MX" sz="2800" i="1">
                                      <a:latin typeface="Cambria Math"/>
                                    </a:rPr>
                                    <m:t>−10</m:t>
                                  </m:r>
                                </m:e>
                              </m:d>
                              <m:sSup>
                                <m:sSupPr>
                                  <m:ctrlPr>
                                    <a:rPr lang="es-CO" sz="2800" i="1">
                                      <a:latin typeface="Cambria Math"/>
                                    </a:rPr>
                                  </m:ctrlPr>
                                </m:sSupPr>
                                <m:e>
                                  <m:r>
                                    <a:rPr lang="es-MX" sz="2800" i="1">
                                      <a:latin typeface="Cambria Math"/>
                                    </a:rPr>
                                    <m:t>)</m:t>
                                  </m:r>
                                </m:e>
                                <m:sup>
                                  <m:r>
                                    <a:rPr lang="es-MX" sz="2800" i="1">
                                      <a:latin typeface="Cambria Math"/>
                                    </a:rPr>
                                    <m:t>2</m:t>
                                  </m:r>
                                </m:sup>
                              </m:sSup>
                            </m:e>
                          </m:nary>
                        </m:e>
                      </m:func>
                      <m:r>
                        <a:rPr lang="es-MX" sz="2800" i="1">
                          <a:latin typeface="Cambria Math"/>
                        </a:rPr>
                        <m:t> </m:t>
                      </m:r>
                    </m:oMath>
                  </m:oMathPara>
                </a14:m>
                <a:endParaRPr lang="es-MX" sz="2800" dirty="0" smtClean="0"/>
              </a:p>
              <a:p>
                <a:endParaRPr lang="es-MX" dirty="0" smtClean="0"/>
              </a:p>
              <a:p>
                <a:pPr marL="0" indent="0">
                  <a:buNone/>
                </a:pPr>
                <a:r>
                  <a:rPr lang="en-US" dirty="0" err="1" smtClean="0"/>
                  <a:t>Regresión</a:t>
                </a:r>
                <a:r>
                  <a:rPr lang="en-US" dirty="0" smtClean="0"/>
                  <a:t> de </a:t>
                </a:r>
                <a:r>
                  <a:rPr lang="en-US" i="1" dirty="0" smtClean="0">
                    <a:latin typeface="Times New Roman" pitchFamily="18" charset="0"/>
                    <a:cs typeface="Times New Roman" pitchFamily="18" charset="0"/>
                  </a:rPr>
                  <a:t>Y</a:t>
                </a:r>
                <a:r>
                  <a:rPr lang="en-US" dirty="0" smtClean="0"/>
                  <a:t> </a:t>
                </a:r>
                <a:r>
                  <a:rPr lang="en-US" dirty="0" err="1" smtClean="0"/>
                  <a:t>sobre</a:t>
                </a:r>
                <a:r>
                  <a:rPr lang="en-US" dirty="0" smtClean="0"/>
                  <a:t> el </a:t>
                </a:r>
                <a:r>
                  <a:rPr lang="en-US" dirty="0" err="1" smtClean="0"/>
                  <a:t>instrumento</a:t>
                </a:r>
                <a:r>
                  <a:rPr lang="en-US" dirty="0" smtClean="0"/>
                  <a:t> de </a:t>
                </a:r>
                <a:r>
                  <a:rPr lang="en-US" dirty="0" err="1" smtClean="0"/>
                  <a:t>focalización</a:t>
                </a:r>
                <a:r>
                  <a:rPr lang="en-US" dirty="0" smtClean="0"/>
                  <a:t> </a:t>
                </a:r>
                <a:r>
                  <a:rPr lang="en-US" dirty="0" err="1" smtClean="0"/>
                  <a:t>normalizado</a:t>
                </a:r>
                <a:r>
                  <a:rPr lang="en-US" dirty="0" smtClean="0"/>
                  <a:t> en el </a:t>
                </a:r>
                <a:r>
                  <a:rPr lang="en-US" dirty="0" err="1" smtClean="0"/>
                  <a:t>umbral</a:t>
                </a:r>
                <a:r>
                  <a:rPr lang="en-US" dirty="0" smtClean="0"/>
                  <a:t>  </a:t>
                </a:r>
                <a14:m>
                  <m:oMath xmlns:m="http://schemas.openxmlformats.org/officeDocument/2006/math">
                    <m:acc>
                      <m:accPr>
                        <m:chr m:val="̅"/>
                        <m:ctrlPr>
                          <a:rPr lang="en-US" i="1" smtClean="0">
                            <a:latin typeface="Cambria Math"/>
                          </a:rPr>
                        </m:ctrlPr>
                      </m:accPr>
                      <m:e>
                        <m:r>
                          <a:rPr lang="es-CO" b="0" i="1" smtClean="0">
                            <a:latin typeface="Cambria Math"/>
                          </a:rPr>
                          <m:t>𝑍</m:t>
                        </m:r>
                      </m:e>
                    </m:acc>
                  </m:oMath>
                </a14:m>
                <a:r>
                  <a:rPr lang="en-US" dirty="0" smtClean="0"/>
                  <a:t>  , con </a:t>
                </a:r>
                <a:r>
                  <a:rPr lang="en-US" dirty="0" err="1" smtClean="0"/>
                  <a:t>observaciones</a:t>
                </a:r>
                <a:r>
                  <a:rPr lang="en-US" dirty="0" smtClean="0"/>
                  <a:t> a la </a:t>
                </a:r>
                <a:r>
                  <a:rPr lang="en-US" dirty="0" err="1" smtClean="0"/>
                  <a:t>izquierda</a:t>
                </a:r>
                <a:r>
                  <a:rPr lang="en-US" dirty="0" smtClean="0"/>
                  <a:t> </a:t>
                </a:r>
                <a:r>
                  <a:rPr lang="en-US" dirty="0" err="1" smtClean="0"/>
                  <a:t>únicamente</a:t>
                </a:r>
                <a:r>
                  <a:rPr lang="en-US" dirty="0" smtClean="0"/>
                  <a:t>. </a:t>
                </a:r>
                <a:r>
                  <a:rPr lang="en-US" dirty="0" err="1" smtClean="0"/>
                  <a:t>Luego</a:t>
                </a:r>
                <a:r>
                  <a:rPr lang="en-US" dirty="0" smtClean="0"/>
                  <a:t> </a:t>
                </a:r>
                <a:r>
                  <a:rPr lang="en-US" dirty="0" err="1" smtClean="0"/>
                  <a:t>repite</a:t>
                </a:r>
                <a:r>
                  <a:rPr lang="en-US" dirty="0" smtClean="0"/>
                  <a:t> a la </a:t>
                </a:r>
                <a:r>
                  <a:rPr lang="en-US" dirty="0" err="1" smtClean="0"/>
                  <a:t>derecha</a:t>
                </a:r>
                <a:r>
                  <a:rPr lang="en-US" dirty="0" smtClean="0"/>
                  <a:t>.</a:t>
                </a:r>
              </a:p>
              <a:p>
                <a:pPr marL="0" indent="0">
                  <a:buNone/>
                </a:pPr>
                <a:endParaRPr lang="en-US" dirty="0" smtClean="0"/>
              </a:p>
              <a:p>
                <a:pPr>
                  <a:lnSpc>
                    <a:spcPts val="3200"/>
                  </a:lnSpc>
                </a:pPr>
                <a:r>
                  <a:rPr lang="en-US" i="1" dirty="0" smtClean="0">
                    <a:solidFill>
                      <a:schemeClr val="accent5">
                        <a:lumMod val="75000"/>
                      </a:schemeClr>
                    </a:solidFill>
                  </a:rPr>
                  <a:t>α</a:t>
                </a:r>
                <a:r>
                  <a:rPr lang="en-US" i="1" baseline="-25000" dirty="0" smtClean="0">
                    <a:solidFill>
                      <a:schemeClr val="accent5">
                        <a:lumMod val="75000"/>
                      </a:schemeClr>
                    </a:solidFill>
                    <a:latin typeface="Times New Roman" pitchFamily="18" charset="0"/>
                    <a:cs typeface="Times New Roman" pitchFamily="18" charset="0"/>
                  </a:rPr>
                  <a:t>l</a:t>
                </a:r>
                <a:r>
                  <a:rPr lang="en-US" dirty="0" smtClean="0">
                    <a:solidFill>
                      <a:schemeClr val="accent5">
                        <a:lumMod val="75000"/>
                      </a:schemeClr>
                    </a:solidFill>
                  </a:rPr>
                  <a:t>: </a:t>
                </a:r>
                <a:r>
                  <a:rPr lang="en-US" dirty="0" err="1" smtClean="0"/>
                  <a:t>Intercepto</a:t>
                </a:r>
                <a:r>
                  <a:rPr lang="en-US" dirty="0" smtClean="0"/>
                  <a:t> </a:t>
                </a:r>
                <a:r>
                  <a:rPr lang="en-US" dirty="0" smtClean="0">
                    <a:sym typeface="Wingdings" pitchFamily="2" charset="2"/>
                  </a:rPr>
                  <a:t> </a:t>
                </a:r>
                <a:r>
                  <a:rPr lang="en-US" dirty="0" smtClean="0"/>
                  <a:t>Estimador de </a:t>
                </a:r>
                <a:r>
                  <a:rPr lang="en-US" i="1" dirty="0" smtClean="0">
                    <a:latin typeface="Times New Roman" pitchFamily="18" charset="0"/>
                    <a:cs typeface="Times New Roman" pitchFamily="18" charset="0"/>
                  </a:rPr>
                  <a:t>Y</a:t>
                </a:r>
                <a:r>
                  <a:rPr lang="en-US" dirty="0" smtClean="0"/>
                  <a:t> al </a:t>
                </a:r>
                <a:r>
                  <a:rPr lang="en-US" dirty="0" err="1" smtClean="0"/>
                  <a:t>acercarse</a:t>
                </a:r>
                <a:r>
                  <a:rPr lang="en-US" dirty="0" smtClean="0"/>
                  <a:t> al </a:t>
                </a:r>
                <a:r>
                  <a:rPr lang="en-US" dirty="0" err="1" smtClean="0"/>
                  <a:t>umbral</a:t>
                </a:r>
                <a:r>
                  <a:rPr lang="en-US" dirty="0" smtClean="0"/>
                  <a:t> </a:t>
                </a:r>
                <a:r>
                  <a:rPr lang="en-US" dirty="0" err="1" smtClean="0"/>
                  <a:t>por</a:t>
                </a:r>
                <a:r>
                  <a:rPr lang="en-US" dirty="0" smtClean="0"/>
                  <a:t> 		          la </a:t>
                </a:r>
                <a:r>
                  <a:rPr lang="en-US" dirty="0" err="1" smtClean="0"/>
                  <a:t>izquierda</a:t>
                </a:r>
                <a:r>
                  <a:rPr lang="en-US" dirty="0" smtClean="0"/>
                  <a:t>. </a:t>
                </a:r>
              </a:p>
              <a:p>
                <a:r>
                  <a:rPr lang="en-US" i="1" dirty="0" smtClean="0">
                    <a:solidFill>
                      <a:schemeClr val="accent5">
                        <a:lumMod val="75000"/>
                      </a:schemeClr>
                    </a:solidFill>
                    <a:latin typeface="Symbol" pitchFamily="18" charset="2"/>
                  </a:rPr>
                  <a:t>b</a:t>
                </a:r>
                <a:r>
                  <a:rPr lang="en-US" i="1" baseline="-25000" dirty="0" smtClean="0">
                    <a:solidFill>
                      <a:schemeClr val="accent5">
                        <a:lumMod val="75000"/>
                      </a:schemeClr>
                    </a:solidFill>
                    <a:latin typeface="Times New Roman" pitchFamily="18" charset="0"/>
                    <a:cs typeface="Times New Roman" pitchFamily="18" charset="0"/>
                  </a:rPr>
                  <a:t>l</a:t>
                </a:r>
                <a:r>
                  <a:rPr lang="en-US" dirty="0" smtClean="0">
                    <a:solidFill>
                      <a:schemeClr val="accent5">
                        <a:lumMod val="75000"/>
                      </a:schemeClr>
                    </a:solidFill>
                  </a:rPr>
                  <a:t>: </a:t>
                </a:r>
                <a:r>
                  <a:rPr lang="en-US" dirty="0" err="1" smtClean="0"/>
                  <a:t>Pendiente</a:t>
                </a:r>
                <a:r>
                  <a:rPr lang="en-US" dirty="0" smtClean="0"/>
                  <a:t> de la </a:t>
                </a:r>
                <a:r>
                  <a:rPr lang="en-US" dirty="0" err="1" smtClean="0"/>
                  <a:t>regresión</a:t>
                </a:r>
                <a:r>
                  <a:rPr lang="en-US" sz="2600" dirty="0" smtClean="0"/>
                  <a:t>. </a:t>
                </a:r>
              </a:p>
              <a:p>
                <a:endParaRPr lang="en-US"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blipFill rotWithShape="1">
                <a:blip r:embed="rId2" cstate="print"/>
                <a:stretch>
                  <a:fillRect l="-1185" t="-2426"/>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2498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4986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49861" name="Rectangle 5"/>
          <p:cNvSpPr>
            <a:spLocks noChangeArrowheads="1"/>
          </p:cNvSpPr>
          <p:nvPr/>
        </p:nvSpPr>
        <p:spPr bwMode="auto">
          <a:xfrm>
            <a:off x="0" y="1066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1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63</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00298" y="285728"/>
            <a:ext cx="6186502" cy="1131910"/>
          </a:xfrm>
        </p:spPr>
        <p:txBody>
          <a:bodyPr>
            <a:normAutofit/>
          </a:bodyPr>
          <a:lstStyle/>
          <a:p>
            <a:r>
              <a:rPr lang="es-MX" sz="3000" kern="0" dirty="0" smtClean="0">
                <a:solidFill>
                  <a:sysClr val="windowText" lastClr="000000"/>
                </a:solidFill>
              </a:rPr>
              <a:t>Implementación del diseño de RD:  </a:t>
            </a:r>
            <a:br>
              <a:rPr lang="es-MX" sz="3000" kern="0" dirty="0" smtClean="0">
                <a:solidFill>
                  <a:sysClr val="windowText" lastClr="000000"/>
                </a:solidFill>
              </a:rPr>
            </a:br>
            <a:r>
              <a:rPr lang="es-MX" sz="3000" kern="0" dirty="0" err="1" smtClean="0">
                <a:solidFill>
                  <a:sysClr val="windowText" lastClr="000000"/>
                </a:solidFill>
              </a:rPr>
              <a:t>Imbens</a:t>
            </a:r>
            <a:r>
              <a:rPr lang="es-MX" sz="3000" kern="0" dirty="0" smtClean="0">
                <a:solidFill>
                  <a:sysClr val="windowText" lastClr="000000"/>
                </a:solidFill>
              </a:rPr>
              <a:t> y </a:t>
            </a:r>
            <a:r>
              <a:rPr lang="es-MX" sz="3000" kern="0" dirty="0" err="1" smtClean="0">
                <a:solidFill>
                  <a:sysClr val="windowText" lastClr="000000"/>
                </a:solidFill>
              </a:rPr>
              <a:t>Lemieux</a:t>
            </a:r>
            <a:r>
              <a:rPr lang="es-MX" sz="3000" kern="0" dirty="0" smtClean="0">
                <a:solidFill>
                  <a:sysClr val="windowText" lastClr="000000"/>
                </a:solidFill>
              </a:rPr>
              <a:t> (2007) </a:t>
            </a:r>
            <a:endParaRPr lang="en-US" dirty="0"/>
          </a:p>
        </p:txBody>
      </p:sp>
      <p:sp>
        <p:nvSpPr>
          <p:cNvPr id="7" name="6 Marcador de contenido"/>
          <p:cNvSpPr>
            <a:spLocks noGrp="1"/>
          </p:cNvSpPr>
          <p:nvPr>
            <p:ph sz="half" idx="2"/>
          </p:nvPr>
        </p:nvSpPr>
        <p:spPr>
          <a:xfrm>
            <a:off x="5312978" y="1600200"/>
            <a:ext cx="3373821" cy="4525963"/>
          </a:xfrm>
        </p:spPr>
        <p:txBody>
          <a:bodyPr>
            <a:normAutofit fontScale="92500"/>
          </a:bodyPr>
          <a:lstStyle/>
          <a:p>
            <a:endParaRPr lang="en-US" dirty="0" smtClean="0">
              <a:solidFill>
                <a:schemeClr val="accent5">
                  <a:lumMod val="75000"/>
                </a:schemeClr>
              </a:solidFill>
            </a:endParaRPr>
          </a:p>
          <a:p>
            <a:r>
              <a:rPr lang="en-US" dirty="0" smtClean="0"/>
              <a:t>De </a:t>
            </a:r>
            <a:r>
              <a:rPr lang="en-US" dirty="0" err="1" smtClean="0"/>
              <a:t>manera</a:t>
            </a:r>
            <a:r>
              <a:rPr lang="en-US" dirty="0" smtClean="0"/>
              <a:t> </a:t>
            </a:r>
            <a:r>
              <a:rPr lang="en-US" dirty="0" err="1" smtClean="0"/>
              <a:t>análoga</a:t>
            </a:r>
            <a:r>
              <a:rPr lang="en-US" dirty="0" smtClean="0"/>
              <a:t>, </a:t>
            </a:r>
            <a:r>
              <a:rPr lang="en-US" dirty="0" err="1" smtClean="0">
                <a:solidFill>
                  <a:schemeClr val="accent5">
                    <a:lumMod val="75000"/>
                  </a:schemeClr>
                </a:solidFill>
              </a:rPr>
              <a:t>α</a:t>
            </a:r>
            <a:r>
              <a:rPr lang="en-US" baseline="-25000" dirty="0" err="1" smtClean="0">
                <a:solidFill>
                  <a:schemeClr val="accent5">
                    <a:lumMod val="75000"/>
                  </a:schemeClr>
                </a:solidFill>
              </a:rPr>
              <a:t>r</a:t>
            </a:r>
            <a:r>
              <a:rPr lang="en-US" dirty="0" smtClean="0">
                <a:solidFill>
                  <a:schemeClr val="accent5">
                    <a:lumMod val="75000"/>
                  </a:schemeClr>
                </a:solidFill>
              </a:rPr>
              <a:t> y </a:t>
            </a:r>
            <a:r>
              <a:rPr lang="en-US" dirty="0" err="1" smtClean="0">
                <a:solidFill>
                  <a:schemeClr val="accent5">
                    <a:lumMod val="75000"/>
                  </a:schemeClr>
                </a:solidFill>
              </a:rPr>
              <a:t>β</a:t>
            </a:r>
            <a:r>
              <a:rPr lang="en-US" baseline="-25000" dirty="0" err="1" smtClean="0">
                <a:solidFill>
                  <a:schemeClr val="accent5">
                    <a:lumMod val="75000"/>
                  </a:schemeClr>
                </a:solidFill>
              </a:rPr>
              <a:t>r</a:t>
            </a:r>
            <a:r>
              <a:rPr lang="en-US" dirty="0" smtClean="0">
                <a:solidFill>
                  <a:schemeClr val="accent5">
                    <a:lumMod val="75000"/>
                  </a:schemeClr>
                </a:solidFill>
              </a:rPr>
              <a:t>: </a:t>
            </a:r>
            <a:r>
              <a:rPr lang="en-US" dirty="0" err="1" smtClean="0"/>
              <a:t>Intercepto</a:t>
            </a:r>
            <a:r>
              <a:rPr lang="en-US" dirty="0" smtClean="0"/>
              <a:t> y </a:t>
            </a:r>
            <a:r>
              <a:rPr lang="en-US" dirty="0" err="1" smtClean="0"/>
              <a:t>pendiente</a:t>
            </a:r>
            <a:r>
              <a:rPr lang="en-US" dirty="0" smtClean="0"/>
              <a:t> al </a:t>
            </a:r>
            <a:r>
              <a:rPr lang="en-US" dirty="0" err="1" smtClean="0"/>
              <a:t>acercarse</a:t>
            </a:r>
            <a:r>
              <a:rPr lang="en-US" dirty="0" smtClean="0"/>
              <a:t> al </a:t>
            </a:r>
            <a:r>
              <a:rPr lang="en-US" dirty="0" err="1" smtClean="0"/>
              <a:t>umbral</a:t>
            </a:r>
            <a:r>
              <a:rPr lang="en-US" dirty="0" smtClean="0"/>
              <a:t> </a:t>
            </a:r>
            <a:r>
              <a:rPr lang="en-US" dirty="0" err="1" smtClean="0"/>
              <a:t>por</a:t>
            </a:r>
            <a:r>
              <a:rPr lang="en-US" dirty="0" smtClean="0"/>
              <a:t> la </a:t>
            </a:r>
            <a:r>
              <a:rPr lang="en-US" dirty="0" err="1" smtClean="0"/>
              <a:t>derecha</a:t>
            </a:r>
            <a:r>
              <a:rPr lang="en-US" dirty="0" smtClean="0"/>
              <a:t>. </a:t>
            </a:r>
          </a:p>
          <a:p>
            <a:endParaRPr lang="es-MX" dirty="0" smtClean="0">
              <a:solidFill>
                <a:schemeClr val="accent5">
                  <a:lumMod val="75000"/>
                </a:schemeClr>
              </a:solidFill>
            </a:endParaRPr>
          </a:p>
          <a:p>
            <a:r>
              <a:rPr lang="en-US" dirty="0" err="1" smtClean="0">
                <a:solidFill>
                  <a:schemeClr val="accent5">
                    <a:lumMod val="75000"/>
                  </a:schemeClr>
                </a:solidFill>
              </a:rPr>
              <a:t>α</a:t>
            </a:r>
            <a:r>
              <a:rPr lang="en-US" sz="2700" baseline="-25000" dirty="0" err="1" smtClean="0">
                <a:solidFill>
                  <a:schemeClr val="accent5">
                    <a:lumMod val="75000"/>
                  </a:schemeClr>
                </a:solidFill>
              </a:rPr>
              <a:t>I</a:t>
            </a:r>
            <a:r>
              <a:rPr lang="en-US" dirty="0" smtClean="0">
                <a:solidFill>
                  <a:schemeClr val="accent5">
                    <a:lumMod val="75000"/>
                  </a:schemeClr>
                </a:solidFill>
              </a:rPr>
              <a:t>:</a:t>
            </a:r>
            <a:r>
              <a:rPr lang="en-US" dirty="0" smtClean="0"/>
              <a:t> Estimador de </a:t>
            </a:r>
            <a:r>
              <a:rPr lang="en-US" i="1" dirty="0" smtClean="0">
                <a:latin typeface="Times New Roman" pitchFamily="18" charset="0"/>
                <a:cs typeface="Times New Roman" pitchFamily="18" charset="0"/>
              </a:rPr>
              <a:t>Y</a:t>
            </a:r>
            <a:r>
              <a:rPr lang="en-US" dirty="0" smtClean="0"/>
              <a:t> al </a:t>
            </a:r>
            <a:r>
              <a:rPr lang="en-US" dirty="0" err="1" smtClean="0"/>
              <a:t>acercarse</a:t>
            </a:r>
            <a:r>
              <a:rPr lang="en-US" dirty="0" smtClean="0"/>
              <a:t> al </a:t>
            </a:r>
            <a:r>
              <a:rPr lang="en-US" dirty="0" err="1" smtClean="0"/>
              <a:t>umbral</a:t>
            </a:r>
            <a:r>
              <a:rPr lang="en-US" dirty="0" smtClean="0"/>
              <a:t> </a:t>
            </a:r>
            <a:r>
              <a:rPr lang="en-US" dirty="0" err="1" smtClean="0"/>
              <a:t>por</a:t>
            </a:r>
            <a:r>
              <a:rPr lang="en-US" dirty="0" smtClean="0"/>
              <a:t> la </a:t>
            </a:r>
            <a:r>
              <a:rPr lang="en-US" dirty="0" err="1" smtClean="0"/>
              <a:t>izquierda</a:t>
            </a:r>
            <a:r>
              <a:rPr lang="en-US" dirty="0" smtClean="0"/>
              <a:t>. </a:t>
            </a:r>
            <a:endParaRPr lang="en-US" dirty="0" smtClean="0">
              <a:solidFill>
                <a:schemeClr val="accent5">
                  <a:lumMod val="75000"/>
                </a:schemeClr>
              </a:solidFill>
            </a:endParaRPr>
          </a:p>
          <a:p>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24883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pic>
        <p:nvPicPr>
          <p:cNvPr id="2" name="Imagen 47"/>
          <p:cNvPicPr>
            <a:picLocks noChangeAspect="1" noChangeArrowheads="1"/>
          </p:cNvPicPr>
          <p:nvPr/>
        </p:nvPicPr>
        <p:blipFill>
          <a:blip r:embed="rId3" cstate="print"/>
          <a:srcRect/>
          <a:stretch>
            <a:fillRect/>
          </a:stretch>
        </p:blipFill>
        <p:spPr bwMode="auto">
          <a:xfrm>
            <a:off x="-378372" y="2049516"/>
            <a:ext cx="5991129" cy="3421118"/>
          </a:xfrm>
          <a:prstGeom prst="rect">
            <a:avLst/>
          </a:prstGeom>
          <a:noFill/>
        </p:spPr>
      </p:pic>
      <p:sp>
        <p:nvSpPr>
          <p:cNvPr id="248835" name="Rectangle 3"/>
          <p:cNvSpPr>
            <a:spLocks noChangeArrowheads="1"/>
          </p:cNvSpPr>
          <p:nvPr/>
        </p:nvSpPr>
        <p:spPr bwMode="auto">
          <a:xfrm>
            <a:off x="0" y="27146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10 CuadroTexto"/>
          <p:cNvSpPr txBox="1"/>
          <p:nvPr/>
        </p:nvSpPr>
        <p:spPr>
          <a:xfrm>
            <a:off x="1418895" y="1718437"/>
            <a:ext cx="3328540" cy="430887"/>
          </a:xfrm>
          <a:prstGeom prst="rect">
            <a:avLst/>
          </a:prstGeom>
          <a:noFill/>
        </p:spPr>
        <p:txBody>
          <a:bodyPr wrap="none" rtlCol="0">
            <a:spAutoFit/>
          </a:bodyPr>
          <a:lstStyle/>
          <a:p>
            <a:r>
              <a:rPr lang="es-CO" sz="2200" dirty="0" smtClean="0"/>
              <a:t>Talla del niño según la edad</a:t>
            </a:r>
            <a:endParaRPr lang="es-CO" sz="2200" dirty="0"/>
          </a:p>
        </p:txBody>
      </p:sp>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64</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00298" y="285728"/>
            <a:ext cx="6186502" cy="1131910"/>
          </a:xfrm>
        </p:spPr>
        <p:txBody>
          <a:bodyPr>
            <a:normAutofit/>
          </a:bodyPr>
          <a:lstStyle/>
          <a:p>
            <a:r>
              <a:rPr lang="es-MX" sz="3000" kern="0" dirty="0" smtClean="0">
                <a:solidFill>
                  <a:sysClr val="windowText" lastClr="000000"/>
                </a:solidFill>
              </a:rPr>
              <a:t>Implementación del diseño de RD:  </a:t>
            </a:r>
            <a:br>
              <a:rPr lang="es-MX" sz="3000" kern="0" dirty="0" smtClean="0">
                <a:solidFill>
                  <a:sysClr val="windowText" lastClr="000000"/>
                </a:solidFill>
              </a:rPr>
            </a:br>
            <a:r>
              <a:rPr lang="es-MX" sz="3000" kern="0" dirty="0" err="1" smtClean="0">
                <a:solidFill>
                  <a:sysClr val="windowText" lastClr="000000"/>
                </a:solidFill>
              </a:rPr>
              <a:t>Imbens</a:t>
            </a:r>
            <a:r>
              <a:rPr lang="es-MX" sz="3000" kern="0" dirty="0" smtClean="0">
                <a:solidFill>
                  <a:sysClr val="windowText" lastClr="000000"/>
                </a:solidFill>
              </a:rPr>
              <a:t> y </a:t>
            </a:r>
            <a:r>
              <a:rPr lang="es-MX" sz="3000" kern="0" dirty="0" err="1" smtClean="0">
                <a:solidFill>
                  <a:sysClr val="windowText" lastClr="000000"/>
                </a:solidFill>
              </a:rPr>
              <a:t>Lemieux</a:t>
            </a:r>
            <a:r>
              <a:rPr lang="es-MX" sz="3000" kern="0" dirty="0" smtClean="0">
                <a:solidFill>
                  <a:sysClr val="windowText" lastClr="000000"/>
                </a:solidFill>
              </a:rPr>
              <a:t> (2007) </a:t>
            </a:r>
            <a:endParaRPr lang="en-U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781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81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81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mc:Choice xmlns:a14="http://schemas.microsoft.com/office/drawing/2010/main" xmlns="" Requires="a14">
          <p:sp>
            <p:nvSpPr>
              <p:cNvPr id="19" name="18 Marcador de contenido"/>
              <p:cNvSpPr>
                <a:spLocks noGrp="1"/>
              </p:cNvSpPr>
              <p:nvPr>
                <p:ph sz="half" idx="2"/>
              </p:nvPr>
            </p:nvSpPr>
            <p:spPr>
              <a:xfrm>
                <a:off x="472939" y="4666607"/>
                <a:ext cx="8182329" cy="2342440"/>
              </a:xfrm>
            </p:spPr>
            <p:txBody>
              <a:bodyPr/>
              <a:lstStyle/>
              <a:p>
                <a:endParaRPr lang="es-MX" dirty="0" smtClean="0">
                  <a:solidFill>
                    <a:schemeClr val="accent5">
                      <a:lumMod val="75000"/>
                    </a:schemeClr>
                  </a:solidFill>
                </a:endParaRPr>
              </a:p>
              <a:p>
                <a:pPr>
                  <a:buNone/>
                </a:pPr>
                <a:r>
                  <a:rPr lang="es-MX" sz="2500" dirty="0" smtClean="0">
                    <a:solidFill>
                      <a:schemeClr val="accent5">
                        <a:lumMod val="75000"/>
                      </a:schemeClr>
                    </a:solidFill>
                  </a:rPr>
                  <a:t>Estimador del efecto por regresión discontinua nítida</a:t>
                </a:r>
                <a:r>
                  <a:rPr lang="es-MX" dirty="0" smtClean="0">
                    <a:solidFill>
                      <a:schemeClr val="accent5">
                        <a:lumMod val="75000"/>
                      </a:schemeClr>
                    </a:solidFill>
                  </a:rPr>
                  <a:t>: </a:t>
                </a:r>
              </a:p>
              <a:p>
                <a:pPr marL="0" indent="0">
                  <a:buNone/>
                </a:pPr>
                <a14:m>
                  <m:oMathPara xmlns:m="http://schemas.openxmlformats.org/officeDocument/2006/math">
                    <m:oMathParaPr>
                      <m:jc m:val="centerGroup"/>
                    </m:oMathParaPr>
                    <m:oMath xmlns:m="http://schemas.openxmlformats.org/officeDocument/2006/math">
                      <m:sSub>
                        <m:sSubPr>
                          <m:ctrlPr>
                            <a:rPr lang="es-CO" i="1" smtClean="0">
                              <a:latin typeface="Cambria Math"/>
                            </a:rPr>
                          </m:ctrlPr>
                        </m:sSubPr>
                        <m:e>
                          <m:acc>
                            <m:accPr>
                              <m:chr m:val="̂"/>
                              <m:ctrlPr>
                                <a:rPr lang="es-CO" i="1">
                                  <a:latin typeface="Cambria Math"/>
                                </a:rPr>
                              </m:ctrlPr>
                            </m:accPr>
                            <m:e>
                              <m:r>
                                <a:rPr lang="es-MX" i="1">
                                  <a:latin typeface="Cambria Math"/>
                                </a:rPr>
                                <m:t>𝜏</m:t>
                              </m:r>
                            </m:e>
                          </m:acc>
                        </m:e>
                        <m:sub>
                          <m:r>
                            <a:rPr lang="es-MX" i="1">
                              <a:latin typeface="Cambria Math"/>
                            </a:rPr>
                            <m:t>𝑦</m:t>
                          </m:r>
                        </m:sub>
                      </m:sSub>
                      <m:r>
                        <a:rPr lang="es-MX" i="1">
                          <a:latin typeface="Cambria Math"/>
                        </a:rPr>
                        <m:t>(</m:t>
                      </m:r>
                      <m:acc>
                        <m:accPr>
                          <m:chr m:val="̅"/>
                          <m:ctrlPr>
                            <a:rPr lang="es-MX" i="1" smtClean="0">
                              <a:latin typeface="Cambria Math"/>
                            </a:rPr>
                          </m:ctrlPr>
                        </m:accPr>
                        <m:e>
                          <m:r>
                            <a:rPr lang="es-CO" b="0" i="1" smtClean="0">
                              <a:latin typeface="Cambria Math"/>
                            </a:rPr>
                            <m:t>𝑍</m:t>
                          </m:r>
                        </m:e>
                      </m:acc>
                      <m:r>
                        <a:rPr lang="es-ES">
                          <a:latin typeface="Cambria Math"/>
                        </a:rPr>
                        <m:t> )</m:t>
                      </m:r>
                      <m:r>
                        <a:rPr lang="es-MX" i="1">
                          <a:latin typeface="Cambria Math"/>
                        </a:rPr>
                        <m:t>=</m:t>
                      </m:r>
                      <m:acc>
                        <m:accPr>
                          <m:chr m:val="̂"/>
                          <m:ctrlPr>
                            <a:rPr lang="es-CO" i="1">
                              <a:latin typeface="Cambria Math"/>
                            </a:rPr>
                          </m:ctrlPr>
                        </m:accPr>
                        <m:e>
                          <m:sSub>
                            <m:sSubPr>
                              <m:ctrlPr>
                                <a:rPr lang="es-CO" i="1">
                                  <a:latin typeface="Cambria Math"/>
                                </a:rPr>
                              </m:ctrlPr>
                            </m:sSubPr>
                            <m:e>
                              <m:r>
                                <a:rPr lang="es-MX" i="1">
                                  <a:latin typeface="Cambria Math"/>
                                </a:rPr>
                                <m:t>𝛼</m:t>
                              </m:r>
                            </m:e>
                            <m:sub>
                              <m:r>
                                <a:rPr lang="es-MX" i="1">
                                  <a:latin typeface="Cambria Math"/>
                                </a:rPr>
                                <m:t>𝑙</m:t>
                              </m:r>
                            </m:sub>
                          </m:sSub>
                        </m:e>
                      </m:acc>
                      <m:r>
                        <a:rPr lang="es-MX" i="1">
                          <a:latin typeface="Cambria Math"/>
                        </a:rPr>
                        <m:t>−</m:t>
                      </m:r>
                      <m:acc>
                        <m:accPr>
                          <m:chr m:val="̂"/>
                          <m:ctrlPr>
                            <a:rPr lang="es-CO" i="1">
                              <a:latin typeface="Cambria Math"/>
                            </a:rPr>
                          </m:ctrlPr>
                        </m:accPr>
                        <m:e>
                          <m:sSub>
                            <m:sSubPr>
                              <m:ctrlPr>
                                <a:rPr lang="es-CO" i="1">
                                  <a:latin typeface="Cambria Math"/>
                                </a:rPr>
                              </m:ctrlPr>
                            </m:sSubPr>
                            <m:e>
                              <m:r>
                                <a:rPr lang="es-MX" i="1">
                                  <a:latin typeface="Cambria Math"/>
                                </a:rPr>
                                <m:t>𝛼</m:t>
                              </m:r>
                            </m:e>
                            <m:sub>
                              <m:r>
                                <a:rPr lang="es-MX" i="1">
                                  <a:latin typeface="Cambria Math"/>
                                </a:rPr>
                                <m:t>𝑟</m:t>
                              </m:r>
                            </m:sub>
                          </m:sSub>
                        </m:e>
                      </m:acc>
                    </m:oMath>
                  </m:oMathPara>
                </a14:m>
                <a:endParaRPr lang="es-MX" dirty="0" smtClean="0">
                  <a:solidFill>
                    <a:schemeClr val="accent5">
                      <a:lumMod val="75000"/>
                    </a:schemeClr>
                  </a:solidFill>
                </a:endParaRPr>
              </a:p>
              <a:p>
                <a:endParaRPr lang="es-MX" dirty="0" smtClean="0">
                  <a:solidFill>
                    <a:schemeClr val="accent5">
                      <a:lumMod val="75000"/>
                    </a:schemeClr>
                  </a:solidFill>
                </a:endParaRPr>
              </a:p>
              <a:p>
                <a:endParaRPr lang="es-MX" dirty="0" smtClean="0">
                  <a:solidFill>
                    <a:schemeClr val="accent5">
                      <a:lumMod val="75000"/>
                    </a:schemeClr>
                  </a:solidFill>
                </a:endParaRPr>
              </a:p>
              <a:p>
                <a:endParaRPr lang="en-US" dirty="0"/>
              </a:p>
            </p:txBody>
          </p:sp>
        </mc:Choice>
        <mc:Fallback>
          <p:sp>
            <p:nvSpPr>
              <p:cNvPr id="19" name="18 Marcador de contenido"/>
              <p:cNvSpPr>
                <a:spLocks noGrp="1" noRot="1" noChangeAspect="1" noMove="1" noResize="1" noEditPoints="1" noAdjustHandles="1" noChangeArrowheads="1" noChangeShapeType="1" noTextEdit="1"/>
              </p:cNvSpPr>
              <p:nvPr>
                <p:ph sz="half" idx="2"/>
              </p:nvPr>
            </p:nvSpPr>
            <p:spPr>
              <a:xfrm>
                <a:off x="472939" y="4666607"/>
                <a:ext cx="8182329" cy="2342440"/>
              </a:xfrm>
              <a:blipFill rotWithShape="1">
                <a:blip r:embed="rId4" cstate="print"/>
                <a:stretch>
                  <a:fillRect l="-1267"/>
                </a:stretch>
              </a:blipFill>
            </p:spPr>
            <p:txBody>
              <a:bodyPr/>
              <a:lstStyle/>
              <a:p>
                <a:r>
                  <a:rPr lang="es-CO">
                    <a:noFill/>
                  </a:rPr>
                  <a:t> </a:t>
                </a:r>
              </a:p>
            </p:txBody>
          </p:sp>
        </mc:Fallback>
      </mc:AlternateContent>
      <p:sp>
        <p:nvSpPr>
          <p:cNvPr id="17818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781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Rectangle 3"/>
          <p:cNvSpPr>
            <a:spLocks noChangeArrowheads="1"/>
          </p:cNvSpPr>
          <p:nvPr/>
        </p:nvSpPr>
        <p:spPr bwMode="auto">
          <a:xfrm>
            <a:off x="0" y="2809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4781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pic>
        <p:nvPicPr>
          <p:cNvPr id="247812" name="Imagen 48"/>
          <p:cNvPicPr>
            <a:picLocks noChangeAspect="1" noChangeArrowheads="1"/>
          </p:cNvPicPr>
          <p:nvPr/>
        </p:nvPicPr>
        <p:blipFill>
          <a:blip r:embed="rId5" cstate="print"/>
          <a:srcRect/>
          <a:stretch>
            <a:fillRect/>
          </a:stretch>
        </p:blipFill>
        <p:spPr bwMode="auto">
          <a:xfrm>
            <a:off x="583325" y="1576552"/>
            <a:ext cx="8008882" cy="3690660"/>
          </a:xfrm>
          <a:prstGeom prst="rect">
            <a:avLst/>
          </a:prstGeom>
          <a:noFill/>
        </p:spPr>
      </p:pic>
      <p:sp>
        <p:nvSpPr>
          <p:cNvPr id="247814" name="Rectangle 6"/>
          <p:cNvSpPr>
            <a:spLocks noChangeArrowheads="1"/>
          </p:cNvSpPr>
          <p:nvPr/>
        </p:nvSpPr>
        <p:spPr bwMode="auto">
          <a:xfrm>
            <a:off x="0" y="2809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1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65</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rmAutofit/>
          </a:bodyPr>
          <a:lstStyle/>
          <a:p>
            <a:r>
              <a:rPr lang="es-MX" sz="3000" kern="0" dirty="0" smtClean="0">
                <a:solidFill>
                  <a:sysClr val="windowText" lastClr="000000"/>
                </a:solidFill>
              </a:rPr>
              <a:t>Implementación del diseño de RD:  </a:t>
            </a:r>
            <a:br>
              <a:rPr lang="es-MX" sz="3000" kern="0" dirty="0" smtClean="0">
                <a:solidFill>
                  <a:sysClr val="windowText" lastClr="000000"/>
                </a:solidFill>
              </a:rPr>
            </a:br>
            <a:r>
              <a:rPr lang="es-MX" sz="3000" kern="0" dirty="0" err="1" smtClean="0">
                <a:solidFill>
                  <a:sysClr val="windowText" lastClr="000000"/>
                </a:solidFill>
              </a:rPr>
              <a:t>Imbens</a:t>
            </a:r>
            <a:r>
              <a:rPr lang="es-MX" sz="3000" kern="0" dirty="0" smtClean="0">
                <a:solidFill>
                  <a:sysClr val="windowText" lastClr="000000"/>
                </a:solidFill>
              </a:rPr>
              <a:t> y </a:t>
            </a:r>
            <a:r>
              <a:rPr lang="es-MX" sz="3000" kern="0" dirty="0" err="1" smtClean="0">
                <a:solidFill>
                  <a:sysClr val="windowText" lastClr="000000"/>
                </a:solidFill>
              </a:rPr>
              <a:t>Lemieux</a:t>
            </a:r>
            <a:r>
              <a:rPr lang="es-MX" sz="3000" kern="0" dirty="0" smtClean="0">
                <a:solidFill>
                  <a:sysClr val="windowText" lastClr="000000"/>
                </a:solidFill>
              </a:rPr>
              <a:t> (2007) </a:t>
            </a: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299544" y="1600200"/>
                <a:ext cx="8623739" cy="5257800"/>
              </a:xfrm>
            </p:spPr>
            <p:txBody>
              <a:bodyPr>
                <a:normAutofit fontScale="85000" lnSpcReduction="10000"/>
              </a:bodyPr>
              <a:lstStyle/>
              <a:p>
                <a:r>
                  <a:rPr lang="es-MX" dirty="0" smtClean="0">
                    <a:solidFill>
                      <a:schemeClr val="accent5">
                        <a:lumMod val="75000"/>
                      </a:schemeClr>
                    </a:solidFill>
                  </a:rPr>
                  <a:t>Estimador del efecto en regresión discontinua borrosa: </a:t>
                </a:r>
              </a:p>
              <a:p>
                <a:pPr lvl="1"/>
                <a:r>
                  <a:rPr lang="es-MX" dirty="0" smtClean="0"/>
                  <a:t>Es necesario estimar también la probabilidad de participación en el tratamiento a ambos lados del punto de discontinuidad: </a:t>
                </a:r>
              </a:p>
              <a:p>
                <a:pPr lvl="1"/>
                <a:endParaRPr lang="es-MX" dirty="0" smtClean="0"/>
              </a:p>
              <a:p>
                <a:pPr lvl="1"/>
                <a:endParaRPr lang="es-MX" dirty="0" smtClean="0"/>
              </a:p>
              <a:p>
                <a:pPr lvl="1"/>
                <a:endParaRPr lang="es-MX" sz="1200" dirty="0" smtClean="0"/>
              </a:p>
              <a:p>
                <a:pPr>
                  <a:buNone/>
                </a:pPr>
                <a:r>
                  <a:rPr lang="es-MX" dirty="0" smtClean="0"/>
                  <a:t>	</a:t>
                </a:r>
                <a:r>
                  <a:rPr lang="en-US" sz="3100" dirty="0" err="1" smtClean="0"/>
                  <a:t>Regresión</a:t>
                </a:r>
                <a:r>
                  <a:rPr lang="en-US" sz="3100" dirty="0" smtClean="0"/>
                  <a:t> de </a:t>
                </a:r>
                <a:r>
                  <a:rPr lang="en-US" sz="3100" i="1" dirty="0" smtClean="0">
                    <a:latin typeface="Times New Roman" pitchFamily="18" charset="0"/>
                    <a:cs typeface="Times New Roman" pitchFamily="18" charset="0"/>
                  </a:rPr>
                  <a:t>D</a:t>
                </a:r>
                <a:r>
                  <a:rPr lang="en-US" sz="3100" dirty="0" smtClean="0"/>
                  <a:t> </a:t>
                </a:r>
                <a:r>
                  <a:rPr lang="en-US" sz="3100" dirty="0" err="1" smtClean="0"/>
                  <a:t>sobre</a:t>
                </a:r>
                <a:r>
                  <a:rPr lang="en-US" sz="3100" dirty="0" smtClean="0"/>
                  <a:t> el </a:t>
                </a:r>
                <a:r>
                  <a:rPr lang="en-US" sz="3100" dirty="0" err="1" smtClean="0"/>
                  <a:t>instrumento</a:t>
                </a:r>
                <a:r>
                  <a:rPr lang="en-US" sz="3100" dirty="0" smtClean="0"/>
                  <a:t> de </a:t>
                </a:r>
                <a:r>
                  <a:rPr lang="en-US" sz="3100" dirty="0" err="1" smtClean="0"/>
                  <a:t>focalización</a:t>
                </a:r>
                <a:r>
                  <a:rPr lang="en-US" sz="3100" dirty="0" smtClean="0"/>
                  <a:t> </a:t>
                </a:r>
                <a:r>
                  <a:rPr lang="en-US" sz="3100" dirty="0" err="1" smtClean="0"/>
                  <a:t>normalizado</a:t>
                </a:r>
                <a:r>
                  <a:rPr lang="en-US" sz="3100" dirty="0" smtClean="0"/>
                  <a:t> en el </a:t>
                </a:r>
                <a:r>
                  <a:rPr lang="en-US" sz="3100" dirty="0" err="1" smtClean="0"/>
                  <a:t>umbral</a:t>
                </a:r>
                <a:r>
                  <a:rPr lang="en-US" sz="3100" dirty="0" smtClean="0"/>
                  <a:t>  </a:t>
                </a:r>
                <a14:m>
                  <m:oMath xmlns:m="http://schemas.openxmlformats.org/officeDocument/2006/math">
                    <m:acc>
                      <m:accPr>
                        <m:chr m:val="̅"/>
                        <m:ctrlPr>
                          <a:rPr lang="en-US" sz="3100" i="1" smtClean="0">
                            <a:latin typeface="Cambria Math"/>
                          </a:rPr>
                        </m:ctrlPr>
                      </m:accPr>
                      <m:e>
                        <m:r>
                          <a:rPr lang="es-CO" sz="3100" b="0" i="1" smtClean="0">
                            <a:latin typeface="Cambria Math"/>
                          </a:rPr>
                          <m:t>𝑍</m:t>
                        </m:r>
                      </m:e>
                    </m:acc>
                  </m:oMath>
                </a14:m>
                <a:r>
                  <a:rPr lang="en-US" sz="3100" dirty="0" smtClean="0"/>
                  <a:t>, con </a:t>
                </a:r>
                <a:r>
                  <a:rPr lang="en-US" sz="3100" dirty="0" err="1" smtClean="0"/>
                  <a:t>observaciones</a:t>
                </a:r>
                <a:r>
                  <a:rPr lang="en-US" sz="3100" dirty="0" smtClean="0"/>
                  <a:t> a la </a:t>
                </a:r>
                <a:r>
                  <a:rPr lang="en-US" sz="3100" dirty="0" err="1" smtClean="0"/>
                  <a:t>izquierda</a:t>
                </a:r>
                <a:r>
                  <a:rPr lang="en-US" sz="3100" dirty="0" smtClean="0"/>
                  <a:t> </a:t>
                </a:r>
                <a:r>
                  <a:rPr lang="en-US" sz="3100" dirty="0" err="1" smtClean="0"/>
                  <a:t>únicamente</a:t>
                </a:r>
                <a:r>
                  <a:rPr lang="en-US" sz="3100" dirty="0" smtClean="0"/>
                  <a:t>. </a:t>
                </a:r>
                <a:r>
                  <a:rPr lang="en-US" sz="3100" dirty="0" err="1" smtClean="0"/>
                  <a:t>Luego</a:t>
                </a:r>
                <a:r>
                  <a:rPr lang="en-US" sz="3100" dirty="0" smtClean="0"/>
                  <a:t> </a:t>
                </a:r>
                <a:r>
                  <a:rPr lang="en-US" sz="3100" dirty="0" err="1" smtClean="0"/>
                  <a:t>repite</a:t>
                </a:r>
                <a:r>
                  <a:rPr lang="en-US" sz="3100" dirty="0" smtClean="0"/>
                  <a:t> a la </a:t>
                </a:r>
                <a:r>
                  <a:rPr lang="en-US" sz="3100" dirty="0" err="1" smtClean="0"/>
                  <a:t>derecha</a:t>
                </a:r>
                <a:r>
                  <a:rPr lang="en-US" sz="3100" dirty="0" smtClean="0"/>
                  <a:t>.</a:t>
                </a:r>
              </a:p>
              <a:p>
                <a:pPr>
                  <a:buNone/>
                </a:pPr>
                <a:endParaRPr lang="en-US" sz="1200" dirty="0" smtClean="0"/>
              </a:p>
              <a:p>
                <a:pPr>
                  <a:buNone/>
                </a:pPr>
                <a:r>
                  <a:rPr lang="en-US" sz="3100" dirty="0" smtClean="0"/>
                  <a:t>     El </a:t>
                </a:r>
                <a:r>
                  <a:rPr lang="en-US" sz="3100" dirty="0" err="1" smtClean="0"/>
                  <a:t>estimador</a:t>
                </a:r>
                <a:r>
                  <a:rPr lang="en-US" sz="3100" dirty="0" smtClean="0"/>
                  <a:t> del </a:t>
                </a:r>
                <a:r>
                  <a:rPr lang="en-US" sz="3100" dirty="0" err="1" smtClean="0"/>
                  <a:t>impacto</a:t>
                </a:r>
                <a:r>
                  <a:rPr lang="en-US" sz="3100" dirty="0" smtClean="0"/>
                  <a:t> </a:t>
                </a:r>
                <a:r>
                  <a:rPr lang="en-US" sz="3100" dirty="0" err="1" smtClean="0"/>
                  <a:t>por</a:t>
                </a:r>
                <a:r>
                  <a:rPr lang="en-US" sz="3100" dirty="0" smtClean="0"/>
                  <a:t> RDB </a:t>
                </a:r>
                <a:r>
                  <a:rPr lang="en-US" sz="3100" dirty="0" err="1" smtClean="0"/>
                  <a:t>estaría</a:t>
                </a:r>
                <a:r>
                  <a:rPr lang="en-US" sz="3100" dirty="0" smtClean="0"/>
                  <a:t> dado </a:t>
                </a:r>
                <a:r>
                  <a:rPr lang="en-US" sz="3100" dirty="0" err="1" smtClean="0"/>
                  <a:t>por</a:t>
                </a:r>
                <a:r>
                  <a:rPr lang="en-US" dirty="0" smtClean="0"/>
                  <a:t>:</a:t>
                </a:r>
              </a:p>
              <a:p>
                <a:pPr algn="ctr">
                  <a:buNone/>
                </a:pPr>
                <a:r>
                  <a:rPr lang="es-CO" dirty="0"/>
                  <a:t> </a:t>
                </a:r>
                <a14:m>
                  <m:oMath xmlns:m="http://schemas.openxmlformats.org/officeDocument/2006/math">
                    <m:acc>
                      <m:accPr>
                        <m:chr m:val="̂"/>
                        <m:ctrlPr>
                          <a:rPr lang="es-CO" i="1">
                            <a:latin typeface="Cambria Math"/>
                          </a:rPr>
                        </m:ctrlPr>
                      </m:accPr>
                      <m:e>
                        <m:r>
                          <a:rPr lang="es-MX" i="1">
                            <a:latin typeface="Cambria Math"/>
                          </a:rPr>
                          <m:t>𝜏</m:t>
                        </m:r>
                      </m:e>
                    </m:acc>
                    <m:d>
                      <m:dPr>
                        <m:ctrlPr>
                          <a:rPr lang="es-CO" i="1">
                            <a:latin typeface="Cambria Math"/>
                          </a:rPr>
                        </m:ctrlPr>
                      </m:dPr>
                      <m:e>
                        <m:acc>
                          <m:accPr>
                            <m:chr m:val="̅"/>
                            <m:ctrlPr>
                              <a:rPr lang="es-CO" i="1" smtClean="0">
                                <a:latin typeface="Cambria Math"/>
                              </a:rPr>
                            </m:ctrlPr>
                          </m:accPr>
                          <m:e>
                            <m:r>
                              <a:rPr lang="es-CO" b="0" i="1" smtClean="0">
                                <a:latin typeface="Cambria Math"/>
                              </a:rPr>
                              <m:t>𝑍</m:t>
                            </m:r>
                          </m:e>
                        </m:acc>
                        <m:r>
                          <a:rPr lang="es-ES">
                            <a:latin typeface="Cambria Math"/>
                          </a:rPr>
                          <m:t> </m:t>
                        </m:r>
                      </m:e>
                    </m:d>
                    <m:r>
                      <a:rPr lang="es-MX" i="1">
                        <a:latin typeface="Cambria Math"/>
                      </a:rPr>
                      <m:t>=</m:t>
                    </m:r>
                    <m:f>
                      <m:fPr>
                        <m:ctrlPr>
                          <a:rPr lang="es-CO" i="1">
                            <a:latin typeface="Cambria Math"/>
                          </a:rPr>
                        </m:ctrlPr>
                      </m:fPr>
                      <m:num>
                        <m:sSub>
                          <m:sSubPr>
                            <m:ctrlPr>
                              <a:rPr lang="es-CO" i="1">
                                <a:latin typeface="Cambria Math"/>
                              </a:rPr>
                            </m:ctrlPr>
                          </m:sSubPr>
                          <m:e>
                            <m:acc>
                              <m:accPr>
                                <m:chr m:val="̂"/>
                                <m:ctrlPr>
                                  <a:rPr lang="es-CO" i="1">
                                    <a:latin typeface="Cambria Math"/>
                                  </a:rPr>
                                </m:ctrlPr>
                              </m:accPr>
                              <m:e>
                                <m:r>
                                  <a:rPr lang="es-MX" i="1">
                                    <a:latin typeface="Cambria Math"/>
                                  </a:rPr>
                                  <m:t>𝜏</m:t>
                                </m:r>
                              </m:e>
                            </m:acc>
                          </m:e>
                          <m:sub>
                            <m:r>
                              <a:rPr lang="es-MX" i="1">
                                <a:latin typeface="Cambria Math"/>
                              </a:rPr>
                              <m:t>𝑦</m:t>
                            </m:r>
                          </m:sub>
                        </m:sSub>
                      </m:num>
                      <m:den>
                        <m:sSub>
                          <m:sSubPr>
                            <m:ctrlPr>
                              <a:rPr lang="es-CO" i="1">
                                <a:latin typeface="Cambria Math"/>
                              </a:rPr>
                            </m:ctrlPr>
                          </m:sSubPr>
                          <m:e>
                            <m:acc>
                              <m:accPr>
                                <m:chr m:val="̂"/>
                                <m:ctrlPr>
                                  <a:rPr lang="es-CO" i="1">
                                    <a:latin typeface="Cambria Math"/>
                                  </a:rPr>
                                </m:ctrlPr>
                              </m:accPr>
                              <m:e>
                                <m:r>
                                  <a:rPr lang="es-MX" i="1">
                                    <a:latin typeface="Cambria Math"/>
                                  </a:rPr>
                                  <m:t>𝜏</m:t>
                                </m:r>
                              </m:e>
                            </m:acc>
                          </m:e>
                          <m:sub>
                            <m:r>
                              <a:rPr lang="es-MX" i="1">
                                <a:latin typeface="Cambria Math"/>
                              </a:rPr>
                              <m:t>𝑑</m:t>
                            </m:r>
                          </m:sub>
                        </m:sSub>
                      </m:den>
                    </m:f>
                    <m:r>
                      <a:rPr lang="es-MX" i="1">
                        <a:latin typeface="Cambria Math"/>
                      </a:rPr>
                      <m:t>=</m:t>
                    </m:r>
                    <m:f>
                      <m:fPr>
                        <m:ctrlPr>
                          <a:rPr lang="es-CO" i="1">
                            <a:latin typeface="Cambria Math"/>
                          </a:rPr>
                        </m:ctrlPr>
                      </m:fPr>
                      <m:num>
                        <m:acc>
                          <m:accPr>
                            <m:chr m:val="̂"/>
                            <m:ctrlPr>
                              <a:rPr lang="es-CO" i="1">
                                <a:latin typeface="Cambria Math"/>
                              </a:rPr>
                            </m:ctrlPr>
                          </m:accPr>
                          <m:e>
                            <m:sSub>
                              <m:sSubPr>
                                <m:ctrlPr>
                                  <a:rPr lang="es-CO" i="1">
                                    <a:latin typeface="Cambria Math"/>
                                  </a:rPr>
                                </m:ctrlPr>
                              </m:sSubPr>
                              <m:e>
                                <m:r>
                                  <a:rPr lang="es-MX" i="1">
                                    <a:latin typeface="Cambria Math"/>
                                  </a:rPr>
                                  <m:t>𝛼</m:t>
                                </m:r>
                              </m:e>
                              <m:sub>
                                <m:r>
                                  <a:rPr lang="es-MX" i="1">
                                    <a:latin typeface="Cambria Math"/>
                                  </a:rPr>
                                  <m:t>𝑙</m:t>
                                </m:r>
                              </m:sub>
                            </m:sSub>
                          </m:e>
                        </m:acc>
                        <m:r>
                          <a:rPr lang="es-MX" i="1">
                            <a:latin typeface="Cambria Math"/>
                          </a:rPr>
                          <m:t>−</m:t>
                        </m:r>
                        <m:acc>
                          <m:accPr>
                            <m:chr m:val="̂"/>
                            <m:ctrlPr>
                              <a:rPr lang="es-CO" i="1">
                                <a:latin typeface="Cambria Math"/>
                              </a:rPr>
                            </m:ctrlPr>
                          </m:accPr>
                          <m:e>
                            <m:sSub>
                              <m:sSubPr>
                                <m:ctrlPr>
                                  <a:rPr lang="es-CO" i="1">
                                    <a:latin typeface="Cambria Math"/>
                                  </a:rPr>
                                </m:ctrlPr>
                              </m:sSubPr>
                              <m:e>
                                <m:r>
                                  <a:rPr lang="es-MX" i="1">
                                    <a:latin typeface="Cambria Math"/>
                                  </a:rPr>
                                  <m:t>𝛼</m:t>
                                </m:r>
                              </m:e>
                              <m:sub>
                                <m:r>
                                  <a:rPr lang="es-MX" i="1">
                                    <a:latin typeface="Cambria Math"/>
                                  </a:rPr>
                                  <m:t>𝑟</m:t>
                                </m:r>
                              </m:sub>
                            </m:sSub>
                          </m:e>
                        </m:acc>
                      </m:num>
                      <m:den>
                        <m:acc>
                          <m:accPr>
                            <m:chr m:val="̂"/>
                            <m:ctrlPr>
                              <a:rPr lang="es-CO" i="1">
                                <a:latin typeface="Cambria Math"/>
                              </a:rPr>
                            </m:ctrlPr>
                          </m:accPr>
                          <m:e>
                            <m:sSub>
                              <m:sSubPr>
                                <m:ctrlPr>
                                  <a:rPr lang="es-CO" i="1">
                                    <a:latin typeface="Cambria Math"/>
                                  </a:rPr>
                                </m:ctrlPr>
                              </m:sSubPr>
                              <m:e>
                                <m:r>
                                  <a:rPr lang="es-MX" i="1">
                                    <a:latin typeface="Cambria Math"/>
                                  </a:rPr>
                                  <m:t>𝛼</m:t>
                                </m:r>
                              </m:e>
                              <m:sub>
                                <m:r>
                                  <a:rPr lang="es-MX" i="1">
                                    <a:latin typeface="Cambria Math"/>
                                  </a:rPr>
                                  <m:t>𝑑𝑙</m:t>
                                </m:r>
                              </m:sub>
                            </m:sSub>
                          </m:e>
                        </m:acc>
                        <m:r>
                          <a:rPr lang="es-MX" i="1">
                            <a:latin typeface="Cambria Math"/>
                          </a:rPr>
                          <m:t>−</m:t>
                        </m:r>
                        <m:acc>
                          <m:accPr>
                            <m:chr m:val="̂"/>
                            <m:ctrlPr>
                              <a:rPr lang="es-CO" i="1">
                                <a:latin typeface="Cambria Math"/>
                              </a:rPr>
                            </m:ctrlPr>
                          </m:accPr>
                          <m:e>
                            <m:sSub>
                              <m:sSubPr>
                                <m:ctrlPr>
                                  <a:rPr lang="es-CO" i="1">
                                    <a:latin typeface="Cambria Math"/>
                                  </a:rPr>
                                </m:ctrlPr>
                              </m:sSubPr>
                              <m:e>
                                <m:r>
                                  <a:rPr lang="es-MX" i="1">
                                    <a:latin typeface="Cambria Math"/>
                                  </a:rPr>
                                  <m:t>𝛼</m:t>
                                </m:r>
                              </m:e>
                              <m:sub>
                                <m:r>
                                  <a:rPr lang="es-MX" i="1">
                                    <a:latin typeface="Cambria Math"/>
                                  </a:rPr>
                                  <m:t>𝑑𝑟</m:t>
                                </m:r>
                              </m:sub>
                            </m:sSub>
                          </m:e>
                        </m:acc>
                      </m:den>
                    </m:f>
                  </m:oMath>
                </a14:m>
                <a:endParaRPr lang="es-MX" dirty="0" smtClean="0"/>
              </a:p>
              <a:p>
                <a:pPr>
                  <a:buNone/>
                </a:pPr>
                <a:r>
                  <a:rPr lang="es-MX" dirty="0" smtClean="0"/>
                  <a:t>	</a:t>
                </a:r>
                <a:endParaRPr lang="en-US" sz="28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299544" y="1600200"/>
                <a:ext cx="8623739" cy="5257800"/>
              </a:xfrm>
              <a:blipFill rotWithShape="1">
                <a:blip r:embed="rId2" cstate="print"/>
                <a:stretch>
                  <a:fillRect l="-1131" t="-1740" r="-848"/>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7613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7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45764"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45765" name="Rectangle 5"/>
          <p:cNvSpPr>
            <a:spLocks noChangeArrowheads="1"/>
          </p:cNvSpPr>
          <p:nvPr/>
        </p:nvSpPr>
        <p:spPr bwMode="auto">
          <a:xfrm>
            <a:off x="0" y="10287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5" name="14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66</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504497" y="2744022"/>
                <a:ext cx="8024648" cy="95532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s-CO" sz="2200" i="1">
                              <a:latin typeface="Cambria Math"/>
                            </a:rPr>
                          </m:ctrlPr>
                        </m:dPr>
                        <m:e>
                          <m:acc>
                            <m:accPr>
                              <m:chr m:val="̂"/>
                              <m:ctrlPr>
                                <a:rPr lang="es-CO" sz="2200" i="1">
                                  <a:latin typeface="Cambria Math"/>
                                </a:rPr>
                              </m:ctrlPr>
                            </m:accPr>
                            <m:e>
                              <m:sSub>
                                <m:sSubPr>
                                  <m:ctrlPr>
                                    <a:rPr lang="es-CO" sz="2200" i="1">
                                      <a:latin typeface="Cambria Math"/>
                                    </a:rPr>
                                  </m:ctrlPr>
                                </m:sSubPr>
                                <m:e>
                                  <m:r>
                                    <a:rPr lang="es-MX" sz="2200" i="1">
                                      <a:latin typeface="Cambria Math"/>
                                    </a:rPr>
                                    <m:t>𝛼</m:t>
                                  </m:r>
                                </m:e>
                                <m:sub>
                                  <m:r>
                                    <a:rPr lang="es-MX" sz="2200" i="1">
                                      <a:latin typeface="Cambria Math"/>
                                    </a:rPr>
                                    <m:t>𝑟</m:t>
                                  </m:r>
                                </m:sub>
                              </m:sSub>
                            </m:e>
                          </m:acc>
                          <m:r>
                            <a:rPr lang="en-US" sz="2200" i="1">
                              <a:latin typeface="Cambria Math"/>
                            </a:rPr>
                            <m:t>,</m:t>
                          </m:r>
                          <m:acc>
                            <m:accPr>
                              <m:chr m:val="̂"/>
                              <m:ctrlPr>
                                <a:rPr lang="es-CO" sz="2200" i="1">
                                  <a:latin typeface="Cambria Math"/>
                                </a:rPr>
                              </m:ctrlPr>
                            </m:accPr>
                            <m:e>
                              <m:sSub>
                                <m:sSubPr>
                                  <m:ctrlPr>
                                    <a:rPr lang="es-CO" sz="2200" i="1">
                                      <a:latin typeface="Cambria Math"/>
                                    </a:rPr>
                                  </m:ctrlPr>
                                </m:sSubPr>
                                <m:e>
                                  <m:r>
                                    <a:rPr lang="es-MX" sz="2200" i="1">
                                      <a:latin typeface="Cambria Math"/>
                                    </a:rPr>
                                    <m:t>𝛽</m:t>
                                  </m:r>
                                </m:e>
                                <m:sub>
                                  <m:r>
                                    <a:rPr lang="es-MX" sz="2200" i="1">
                                      <a:latin typeface="Cambria Math"/>
                                    </a:rPr>
                                    <m:t>𝑟</m:t>
                                  </m:r>
                                </m:sub>
                              </m:sSub>
                            </m:e>
                          </m:acc>
                        </m:e>
                      </m:d>
                      <m:r>
                        <a:rPr lang="en-US" sz="2200" i="1">
                          <a:latin typeface="Cambria Math"/>
                        </a:rPr>
                        <m:t>=</m:t>
                      </m:r>
                      <m:r>
                        <a:rPr lang="es-MX" sz="2200" i="1">
                          <a:latin typeface="Cambria Math"/>
                        </a:rPr>
                        <m:t>𝑎𝑟𝑔</m:t>
                      </m:r>
                      <m:func>
                        <m:funcPr>
                          <m:ctrlPr>
                            <a:rPr lang="es-CO" sz="2200" i="1">
                              <a:latin typeface="Cambria Math"/>
                            </a:rPr>
                          </m:ctrlPr>
                        </m:funcPr>
                        <m:fName>
                          <m:limLow>
                            <m:limLowPr>
                              <m:ctrlPr>
                                <a:rPr lang="es-CO" sz="2200" i="1">
                                  <a:latin typeface="Cambria Math"/>
                                </a:rPr>
                              </m:ctrlPr>
                            </m:limLowPr>
                            <m:e>
                              <m:r>
                                <m:rPr>
                                  <m:sty m:val="p"/>
                                </m:rPr>
                                <a:rPr lang="en-US" sz="2200">
                                  <a:latin typeface="Cambria Math"/>
                                </a:rPr>
                                <m:t>min</m:t>
                              </m:r>
                            </m:e>
                            <m:lim>
                              <m:r>
                                <a:rPr lang="es-MX" sz="2200" i="1">
                                  <a:latin typeface="Cambria Math"/>
                                </a:rPr>
                                <m:t>𝛼</m:t>
                              </m:r>
                              <m:r>
                                <a:rPr lang="en-US" sz="2200" i="1">
                                  <a:latin typeface="Cambria Math"/>
                                </a:rPr>
                                <m:t>,</m:t>
                              </m:r>
                              <m:r>
                                <a:rPr lang="es-MX" sz="2200" i="1">
                                  <a:latin typeface="Cambria Math"/>
                                </a:rPr>
                                <m:t>𝛽</m:t>
                              </m:r>
                            </m:lim>
                          </m:limLow>
                        </m:fName>
                        <m:e>
                          <m:nary>
                            <m:naryPr>
                              <m:chr m:val="∑"/>
                              <m:limLoc m:val="undOvr"/>
                              <m:supHide m:val="on"/>
                              <m:ctrlPr>
                                <a:rPr lang="es-CO" sz="2200" i="1">
                                  <a:latin typeface="Cambria Math"/>
                                </a:rPr>
                              </m:ctrlPr>
                            </m:naryPr>
                            <m:sub>
                              <m:r>
                                <a:rPr lang="es-MX" sz="2200" i="1">
                                  <a:latin typeface="Cambria Math"/>
                                </a:rPr>
                                <m:t>𝑖</m:t>
                              </m:r>
                              <m:r>
                                <a:rPr lang="en-US" sz="2200" i="1">
                                  <a:latin typeface="Cambria Math"/>
                                </a:rPr>
                                <m:t>|10≤</m:t>
                              </m:r>
                              <m:sSub>
                                <m:sSubPr>
                                  <m:ctrlPr>
                                    <a:rPr lang="es-CO" sz="2200" i="1">
                                      <a:latin typeface="Cambria Math"/>
                                    </a:rPr>
                                  </m:ctrlPr>
                                </m:sSubPr>
                                <m:e>
                                  <m:r>
                                    <a:rPr lang="es-MX" sz="2200" i="1">
                                      <a:latin typeface="Cambria Math"/>
                                    </a:rPr>
                                    <m:t>𝑆𝐼𝑆𝐵𝐸𝑁</m:t>
                                  </m:r>
                                </m:e>
                                <m:sub>
                                  <m:r>
                                    <a:rPr lang="es-MX" sz="2200" i="1">
                                      <a:latin typeface="Cambria Math"/>
                                    </a:rPr>
                                    <m:t>𝑖</m:t>
                                  </m:r>
                                </m:sub>
                              </m:sSub>
                              <m:r>
                                <a:rPr lang="en-US" sz="2200" i="1">
                                  <a:latin typeface="Cambria Math"/>
                                </a:rPr>
                                <m:t>&lt;10+</m:t>
                              </m:r>
                              <m:r>
                                <a:rPr lang="en-US" sz="2200" i="1">
                                  <a:latin typeface="Cambria Math"/>
                                </a:rPr>
                                <m:t>h</m:t>
                              </m:r>
                            </m:sub>
                            <m:sup/>
                            <m:e>
                              <m:r>
                                <a:rPr lang="en-US" sz="2200" i="1">
                                  <a:latin typeface="Cambria Math"/>
                                </a:rPr>
                                <m:t>(</m:t>
                              </m:r>
                              <m:sSub>
                                <m:sSubPr>
                                  <m:ctrlPr>
                                    <a:rPr lang="es-CO" sz="2200" i="1">
                                      <a:latin typeface="Cambria Math"/>
                                    </a:rPr>
                                  </m:ctrlPr>
                                </m:sSubPr>
                                <m:e>
                                  <m:r>
                                    <a:rPr lang="es-MX" sz="2200" i="1">
                                      <a:latin typeface="Cambria Math"/>
                                    </a:rPr>
                                    <m:t>𝑌</m:t>
                                  </m:r>
                                </m:e>
                                <m:sub>
                                  <m:r>
                                    <a:rPr lang="es-MX" sz="2200" i="1">
                                      <a:latin typeface="Cambria Math"/>
                                    </a:rPr>
                                    <m:t>𝑖</m:t>
                                  </m:r>
                                </m:sub>
                              </m:sSub>
                              <m:r>
                                <a:rPr lang="en-US" sz="2200" i="1">
                                  <a:latin typeface="Cambria Math"/>
                                </a:rPr>
                                <m:t>−</m:t>
                              </m:r>
                              <m:r>
                                <a:rPr lang="es-MX" sz="2200" i="1">
                                  <a:latin typeface="Cambria Math"/>
                                </a:rPr>
                                <m:t>𝛼</m:t>
                              </m:r>
                              <m:r>
                                <a:rPr lang="en-US" sz="2200" i="1">
                                  <a:latin typeface="Cambria Math"/>
                                </a:rPr>
                                <m:t>−</m:t>
                              </m:r>
                              <m:r>
                                <a:rPr lang="es-MX" sz="2200" i="1">
                                  <a:latin typeface="Cambria Math"/>
                                </a:rPr>
                                <m:t>𝛽</m:t>
                              </m:r>
                              <m:d>
                                <m:dPr>
                                  <m:ctrlPr>
                                    <a:rPr lang="es-CO" sz="2200" i="1">
                                      <a:latin typeface="Cambria Math"/>
                                    </a:rPr>
                                  </m:ctrlPr>
                                </m:dPr>
                                <m:e>
                                  <m:sSub>
                                    <m:sSubPr>
                                      <m:ctrlPr>
                                        <a:rPr lang="es-CO" sz="2200" i="1">
                                          <a:latin typeface="Cambria Math"/>
                                        </a:rPr>
                                      </m:ctrlPr>
                                    </m:sSubPr>
                                    <m:e>
                                      <m:r>
                                        <a:rPr lang="es-MX" sz="2200" i="1">
                                          <a:latin typeface="Cambria Math"/>
                                        </a:rPr>
                                        <m:t>𝑆𝐼𝑆𝐵𝐸𝑁</m:t>
                                      </m:r>
                                    </m:e>
                                    <m:sub>
                                      <m:r>
                                        <a:rPr lang="es-MX" sz="2200" i="1">
                                          <a:latin typeface="Cambria Math"/>
                                        </a:rPr>
                                        <m:t>𝑖</m:t>
                                      </m:r>
                                    </m:sub>
                                  </m:sSub>
                                  <m:r>
                                    <a:rPr lang="en-US" sz="2200" i="1">
                                      <a:latin typeface="Cambria Math"/>
                                    </a:rPr>
                                    <m:t>−10</m:t>
                                  </m:r>
                                </m:e>
                              </m:d>
                              <m:sSup>
                                <m:sSupPr>
                                  <m:ctrlPr>
                                    <a:rPr lang="es-CO" sz="2200" i="1">
                                      <a:latin typeface="Cambria Math"/>
                                    </a:rPr>
                                  </m:ctrlPr>
                                </m:sSupPr>
                                <m:e>
                                  <m:r>
                                    <a:rPr lang="en-US" sz="2200" i="1">
                                      <a:latin typeface="Cambria Math"/>
                                    </a:rPr>
                                    <m:t>)</m:t>
                                  </m:r>
                                </m:e>
                                <m:sup>
                                  <m:r>
                                    <a:rPr lang="en-US" sz="2200" i="1">
                                      <a:latin typeface="Cambria Math"/>
                                    </a:rPr>
                                    <m:t>2</m:t>
                                  </m:r>
                                </m:sup>
                              </m:sSup>
                            </m:e>
                          </m:nary>
                        </m:e>
                      </m:func>
                    </m:oMath>
                  </m:oMathPara>
                </a14:m>
                <a:endParaRPr lang="es-CO" sz="2200" dirty="0"/>
              </a:p>
            </p:txBody>
          </p:sp>
        </mc:Choice>
        <mc:Fallback>
          <p:sp>
            <p:nvSpPr>
              <p:cNvPr id="2" name="1 Rectángulo"/>
              <p:cNvSpPr>
                <a:spLocks noRot="1" noChangeAspect="1" noMove="1" noResize="1" noEditPoints="1" noAdjustHandles="1" noChangeArrowheads="1" noChangeShapeType="1" noTextEdit="1"/>
              </p:cNvSpPr>
              <p:nvPr/>
            </p:nvSpPr>
            <p:spPr>
              <a:xfrm>
                <a:off x="504497" y="2744022"/>
                <a:ext cx="8024648" cy="955326"/>
              </a:xfrm>
              <a:prstGeom prst="rect">
                <a:avLst/>
              </a:prstGeom>
              <a:blipFill rotWithShape="1">
                <a:blip r:embed="rId4" cstate="print"/>
                <a:stretch>
                  <a:fillRect/>
                </a:stretch>
              </a:blipFill>
            </p:spPr>
            <p:txBody>
              <a:bodyPr/>
              <a:lstStyle/>
              <a:p>
                <a:r>
                  <a:rPr lang="es-CO">
                    <a:noFill/>
                  </a:rPr>
                  <a:t> </a:t>
                </a:r>
              </a:p>
            </p:txBody>
          </p:sp>
        </mc:Fallback>
      </mc:AlternateContent>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443656" y="285728"/>
            <a:ext cx="6479628" cy="1131910"/>
          </a:xfrm>
        </p:spPr>
        <p:txBody>
          <a:bodyPr>
            <a:noAutofit/>
          </a:bodyPr>
          <a:lstStyle/>
          <a:p>
            <a:pPr lvl="1" algn="ctr" rtl="0">
              <a:spcBef>
                <a:spcPct val="0"/>
              </a:spcBef>
            </a:pPr>
            <a:r>
              <a:rPr lang="es-MX" sz="3200" kern="0" dirty="0" smtClean="0">
                <a:solidFill>
                  <a:sysClr val="windowText" lastClr="000000"/>
                </a:solidFill>
              </a:rPr>
              <a:t>Implementación del diseño de RD:  </a:t>
            </a:r>
            <a:br>
              <a:rPr lang="es-MX" sz="3200" kern="0" dirty="0" smtClean="0">
                <a:solidFill>
                  <a:sysClr val="windowText" lastClr="000000"/>
                </a:solidFill>
              </a:rPr>
            </a:br>
            <a:r>
              <a:rPr lang="es-MX" sz="3200" kern="0" dirty="0" err="1" smtClean="0">
                <a:solidFill>
                  <a:sysClr val="windowText" lastClr="000000"/>
                </a:solidFill>
              </a:rPr>
              <a:t>Imbens</a:t>
            </a:r>
            <a:r>
              <a:rPr lang="es-MX" sz="3200" kern="0" dirty="0" smtClean="0">
                <a:solidFill>
                  <a:sysClr val="windowText" lastClr="000000"/>
                </a:solidFill>
              </a:rPr>
              <a:t> y </a:t>
            </a:r>
            <a:r>
              <a:rPr lang="es-MX" sz="3200" kern="0" dirty="0" err="1" smtClean="0">
                <a:solidFill>
                  <a:sysClr val="windowText" lastClr="000000"/>
                </a:solidFill>
              </a:rPr>
              <a:t>Lemieux</a:t>
            </a:r>
            <a:r>
              <a:rPr lang="es-MX" sz="3200" kern="0" dirty="0" smtClean="0">
                <a:solidFill>
                  <a:sysClr val="windowText" lastClr="000000"/>
                </a:solidFill>
              </a:rPr>
              <a:t> </a:t>
            </a:r>
            <a:r>
              <a:rPr lang="es-MX" sz="3200" dirty="0" smtClean="0"/>
              <a:t>con peso tipo triangular</a:t>
            </a:r>
            <a:endParaRPr lang="en-US" sz="3200" dirty="0"/>
          </a:p>
        </p:txBody>
      </p:sp>
      <p:sp>
        <p:nvSpPr>
          <p:cNvPr id="10" name="9 Marcador de contenido"/>
          <p:cNvSpPr>
            <a:spLocks noGrp="1"/>
          </p:cNvSpPr>
          <p:nvPr>
            <p:ph idx="1"/>
          </p:nvPr>
        </p:nvSpPr>
        <p:spPr/>
        <p:txBody>
          <a:bodyPr/>
          <a:lstStyle/>
          <a:p>
            <a:endParaRPr lang="es-MX" dirty="0" smtClean="0"/>
          </a:p>
          <a:p>
            <a:r>
              <a:rPr lang="es-MX" dirty="0" smtClean="0"/>
              <a:t>Define un acho de banda. </a:t>
            </a:r>
          </a:p>
          <a:p>
            <a:r>
              <a:rPr lang="es-MX" dirty="0" smtClean="0"/>
              <a:t>En las estimaciones de los promedios a cada lado del umbral se les da ahora más peso a las observaciones más cercanas al umbral y menos peso a las observaciones más lejanas de éste, en vez de pesarlas todas igual.</a:t>
            </a:r>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67</a:t>
            </a:fld>
            <a:endParaRPr lang="es-ES" sz="1500" dirty="0">
              <a:solidFill>
                <a:schemeClr val="tx1">
                  <a:lumMod val="50000"/>
                  <a:lumOff val="50000"/>
                </a:schemeClr>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00298" y="285728"/>
            <a:ext cx="6643702" cy="1131910"/>
          </a:xfrm>
        </p:spPr>
        <p:txBody>
          <a:bodyPr>
            <a:noAutofit/>
          </a:bodyPr>
          <a:lstStyle/>
          <a:p>
            <a:r>
              <a:rPr lang="es-MX" sz="3600" kern="0" dirty="0" smtClean="0">
                <a:solidFill>
                  <a:sysClr val="windowText" lastClr="000000"/>
                </a:solidFill>
              </a:rPr>
              <a:t>Implementación del diseño de RD:  </a:t>
            </a:r>
            <a:br>
              <a:rPr lang="es-MX" sz="3600" kern="0" dirty="0" smtClean="0">
                <a:solidFill>
                  <a:sysClr val="windowText" lastClr="000000"/>
                </a:solidFill>
              </a:rPr>
            </a:br>
            <a:r>
              <a:rPr lang="es-MX" sz="3600" kern="0" dirty="0" smtClean="0">
                <a:solidFill>
                  <a:sysClr val="windowText" lastClr="000000"/>
                </a:solidFill>
              </a:rPr>
              <a:t> </a:t>
            </a:r>
            <a:r>
              <a:rPr lang="es-MX" sz="3600" kern="0" dirty="0" err="1" smtClean="0">
                <a:solidFill>
                  <a:sysClr val="windowText" lastClr="000000"/>
                </a:solidFill>
              </a:rPr>
              <a:t>Imbens</a:t>
            </a:r>
            <a:r>
              <a:rPr lang="es-MX" sz="3600" kern="0" dirty="0" smtClean="0">
                <a:solidFill>
                  <a:sysClr val="windowText" lastClr="000000"/>
                </a:solidFill>
              </a:rPr>
              <a:t> y </a:t>
            </a:r>
            <a:r>
              <a:rPr lang="es-MX" sz="3600" kern="0" dirty="0" err="1" smtClean="0">
                <a:solidFill>
                  <a:sysClr val="windowText" lastClr="000000"/>
                </a:solidFill>
              </a:rPr>
              <a:t>Lemieux</a:t>
            </a:r>
            <a:r>
              <a:rPr lang="es-MX" sz="3600" kern="0" dirty="0" smtClean="0">
                <a:solidFill>
                  <a:sysClr val="windowText" lastClr="000000"/>
                </a:solidFill>
              </a:rPr>
              <a:t> con peso tipo triangular</a:t>
            </a:r>
            <a:endParaRPr lang="en-US" sz="3600" dirty="0"/>
          </a:p>
        </p:txBody>
      </p:sp>
      <p:sp>
        <p:nvSpPr>
          <p:cNvPr id="7" name="6 Marcador de contenido"/>
          <p:cNvSpPr>
            <a:spLocks noGrp="1"/>
          </p:cNvSpPr>
          <p:nvPr>
            <p:ph sz="half" idx="2"/>
          </p:nvPr>
        </p:nvSpPr>
        <p:spPr/>
        <p:txBody>
          <a:bodyPr>
            <a:normAutofit/>
          </a:bodyPr>
          <a:lstStyle/>
          <a:p>
            <a:endParaRPr lang="es-MX" sz="2600" dirty="0" smtClean="0"/>
          </a:p>
          <a:p>
            <a:r>
              <a:rPr lang="es-MX" sz="2200" dirty="0" smtClean="0"/>
              <a:t>Los pesos de cada observación se calculan de acuerdo con</a:t>
            </a:r>
            <a:r>
              <a:rPr lang="es-MX" sz="2500" dirty="0" smtClean="0"/>
              <a:t>: </a:t>
            </a:r>
          </a:p>
          <a:p>
            <a:endParaRPr lang="es-MX" sz="2600" dirty="0" smtClean="0"/>
          </a:p>
          <a:p>
            <a:endParaRPr lang="es-MX" sz="2600" dirty="0" smtClean="0"/>
          </a:p>
          <a:p>
            <a:endParaRPr lang="es-MX" sz="2600" dirty="0" smtClean="0"/>
          </a:p>
          <a:p>
            <a:endParaRPr lang="es-MX" sz="2600" dirty="0" smtClean="0"/>
          </a:p>
          <a:p>
            <a:endParaRPr lang="es-MX" dirty="0" smtClean="0"/>
          </a:p>
          <a:p>
            <a:endParaRPr lang="en-US" dirty="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7203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2035" name="Rectangle 3"/>
          <p:cNvSpPr>
            <a:spLocks noChangeArrowheads="1"/>
          </p:cNvSpPr>
          <p:nvPr/>
        </p:nvSpPr>
        <p:spPr bwMode="auto">
          <a:xfrm>
            <a:off x="0" y="13335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pic>
        <p:nvPicPr>
          <p:cNvPr id="241665" name="Picture 1"/>
          <p:cNvPicPr>
            <a:picLocks noGrp="1" noChangeAspect="1" noChangeArrowheads="1"/>
          </p:cNvPicPr>
          <p:nvPr>
            <p:ph sz="half" idx="1"/>
          </p:nvPr>
        </p:nvPicPr>
        <p:blipFill>
          <a:blip r:embed="rId4" cstate="print"/>
          <a:srcRect/>
          <a:stretch>
            <a:fillRect/>
          </a:stretch>
        </p:blipFill>
        <p:spPr bwMode="auto">
          <a:xfrm>
            <a:off x="315312" y="2096804"/>
            <a:ext cx="4321097" cy="3404740"/>
          </a:xfrm>
          <a:prstGeom prst="rect">
            <a:avLst/>
          </a:prstGeom>
          <a:noFill/>
          <a:ln w="9525">
            <a:noFill/>
            <a:miter lim="800000"/>
            <a:headEnd/>
            <a:tailEnd/>
          </a:ln>
          <a:effectLst/>
        </p:spPr>
      </p:pic>
      <p:sp>
        <p:nvSpPr>
          <p:cNvPr id="11" name="10 CuadroTexto"/>
          <p:cNvSpPr txBox="1"/>
          <p:nvPr/>
        </p:nvSpPr>
        <p:spPr>
          <a:xfrm>
            <a:off x="5171091" y="4461641"/>
            <a:ext cx="3358055" cy="1785104"/>
          </a:xfrm>
          <a:prstGeom prst="rect">
            <a:avLst/>
          </a:prstGeom>
          <a:noFill/>
        </p:spPr>
        <p:txBody>
          <a:bodyPr wrap="square" rtlCol="0">
            <a:spAutoFit/>
          </a:bodyPr>
          <a:lstStyle/>
          <a:p>
            <a:r>
              <a:rPr lang="es-CO" sz="2200" dirty="0" smtClean="0"/>
              <a:t>Con lo cual, entre más cercana está la observación al umbral tiene un mayor peso </a:t>
            </a:r>
            <a:r>
              <a:rPr lang="es-CO" sz="2200" i="1" dirty="0" smtClean="0">
                <a:latin typeface="Times New Roman" pitchFamily="18" charset="0"/>
                <a:cs typeface="Times New Roman" pitchFamily="18" charset="0"/>
              </a:rPr>
              <a:t>k(Z</a:t>
            </a:r>
            <a:r>
              <a:rPr lang="es-CO" sz="2200" i="1" baseline="-25000" dirty="0" smtClean="0">
                <a:latin typeface="Times New Roman" pitchFamily="18" charset="0"/>
                <a:cs typeface="Times New Roman" pitchFamily="18" charset="0"/>
              </a:rPr>
              <a:t>i</a:t>
            </a:r>
            <a:r>
              <a:rPr lang="es-CO" sz="2200" i="1" dirty="0" smtClean="0">
                <a:latin typeface="Times New Roman" pitchFamily="18" charset="0"/>
                <a:cs typeface="Times New Roman" pitchFamily="18" charset="0"/>
              </a:rPr>
              <a:t>)</a:t>
            </a:r>
            <a:r>
              <a:rPr lang="es-CO" sz="2200" dirty="0" smtClean="0"/>
              <a:t> en la regresión, y viceversa.</a:t>
            </a:r>
            <a:endParaRPr lang="es-CO" sz="2200" dirty="0"/>
          </a:p>
        </p:txBody>
      </p:sp>
      <p:sp>
        <p:nvSpPr>
          <p:cNvPr id="12" name="1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68</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4690246" y="3167975"/>
                <a:ext cx="4572000" cy="976614"/>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es-CO" i="1">
                          <a:latin typeface="Cambria Math"/>
                        </a:rPr>
                        <m:t>𝑘</m:t>
                      </m:r>
                      <m:d>
                        <m:dPr>
                          <m:ctrlPr>
                            <a:rPr lang="es-CO" i="1">
                              <a:latin typeface="Cambria Math"/>
                            </a:rPr>
                          </m:ctrlPr>
                        </m:dPr>
                        <m:e>
                          <m:sSub>
                            <m:sSubPr>
                              <m:ctrlPr>
                                <a:rPr lang="es-CO" i="1">
                                  <a:latin typeface="Cambria Math"/>
                                </a:rPr>
                              </m:ctrlPr>
                            </m:sSubPr>
                            <m:e>
                              <m:r>
                                <a:rPr lang="es-CO" i="1">
                                  <a:latin typeface="Cambria Math"/>
                                </a:rPr>
                                <m:t>𝑍</m:t>
                              </m:r>
                            </m:e>
                            <m:sub>
                              <m:r>
                                <a:rPr lang="es-CO" i="1">
                                  <a:latin typeface="Cambria Math"/>
                                </a:rPr>
                                <m:t>𝑖</m:t>
                              </m:r>
                            </m:sub>
                          </m:sSub>
                        </m:e>
                      </m:d>
                      <m:r>
                        <a:rPr lang="es-CO" i="1">
                          <a:latin typeface="Cambria Math"/>
                        </a:rPr>
                        <m:t>=</m:t>
                      </m:r>
                      <m:d>
                        <m:dPr>
                          <m:begChr m:val="{"/>
                          <m:endChr m:val=""/>
                          <m:ctrlPr>
                            <a:rPr lang="es-CO" i="1">
                              <a:latin typeface="Cambria Math"/>
                            </a:rPr>
                          </m:ctrlPr>
                        </m:dPr>
                        <m:e>
                          <m:m>
                            <m:mPr>
                              <m:mcs>
                                <m:mc>
                                  <m:mcPr>
                                    <m:count m:val="2"/>
                                    <m:mcJc m:val="center"/>
                                  </m:mcPr>
                                </m:mc>
                              </m:mcs>
                              <m:ctrlPr>
                                <a:rPr lang="es-CO" i="1" smtClean="0">
                                  <a:latin typeface="Cambria Math"/>
                                </a:rPr>
                              </m:ctrlPr>
                            </m:mPr>
                            <m:mr>
                              <m:e>
                                <m:r>
                                  <a:rPr lang="es-CO" i="1">
                                    <a:latin typeface="Cambria Math"/>
                                  </a:rPr>
                                  <m:t>1−</m:t>
                                </m:r>
                                <m:f>
                                  <m:fPr>
                                    <m:ctrlPr>
                                      <a:rPr lang="es-CO" i="1">
                                        <a:latin typeface="Cambria Math"/>
                                      </a:rPr>
                                    </m:ctrlPr>
                                  </m:fPr>
                                  <m:num>
                                    <m:r>
                                      <a:rPr lang="es-CO" i="1">
                                        <a:latin typeface="Cambria Math"/>
                                      </a:rPr>
                                      <m:t>|</m:t>
                                    </m:r>
                                    <m:sSub>
                                      <m:sSubPr>
                                        <m:ctrlPr>
                                          <a:rPr lang="es-CO" i="1">
                                            <a:latin typeface="Cambria Math"/>
                                          </a:rPr>
                                        </m:ctrlPr>
                                      </m:sSubPr>
                                      <m:e>
                                        <m:r>
                                          <a:rPr lang="es-CO" i="1">
                                            <a:latin typeface="Cambria Math"/>
                                          </a:rPr>
                                          <m:t>𝑍</m:t>
                                        </m:r>
                                      </m:e>
                                      <m:sub>
                                        <m:r>
                                          <a:rPr lang="es-CO" i="1">
                                            <a:latin typeface="Cambria Math"/>
                                          </a:rPr>
                                          <m:t>𝑖</m:t>
                                        </m:r>
                                      </m:sub>
                                    </m:sSub>
                                    <m:r>
                                      <a:rPr lang="es-CO" i="1">
                                        <a:latin typeface="Cambria Math"/>
                                      </a:rPr>
                                      <m:t>−</m:t>
                                    </m:r>
                                    <m:acc>
                                      <m:accPr>
                                        <m:chr m:val="̅"/>
                                        <m:ctrlPr>
                                          <a:rPr lang="es-CO" i="1">
                                            <a:latin typeface="Cambria Math"/>
                                          </a:rPr>
                                        </m:ctrlPr>
                                      </m:accPr>
                                      <m:e>
                                        <m:r>
                                          <a:rPr lang="es-CO" i="1">
                                            <a:latin typeface="Cambria Math"/>
                                          </a:rPr>
                                          <m:t>𝑍</m:t>
                                        </m:r>
                                        <m:r>
                                          <a:rPr lang="es-CO" i="1">
                                            <a:latin typeface="Cambria Math"/>
                                          </a:rPr>
                                          <m:t>|</m:t>
                                        </m:r>
                                      </m:e>
                                    </m:acc>
                                  </m:num>
                                  <m:den>
                                    <m:r>
                                      <a:rPr lang="es-CO" i="1">
                                        <a:latin typeface="Cambria Math"/>
                                      </a:rPr>
                                      <m:t>h</m:t>
                                    </m:r>
                                  </m:den>
                                </m:f>
                              </m:e>
                              <m:e>
                                <m:r>
                                  <m:rPr>
                                    <m:nor/>
                                  </m:rPr>
                                  <a:rPr lang="es-CO"/>
                                  <m:t>si</m:t>
                                </m:r>
                                <m:r>
                                  <a:rPr lang="es-CO" i="1">
                                    <a:latin typeface="Cambria Math"/>
                                  </a:rPr>
                                  <m:t> </m:t>
                                </m:r>
                                <m:d>
                                  <m:dPr>
                                    <m:begChr m:val="|"/>
                                    <m:endChr m:val="|"/>
                                    <m:ctrlPr>
                                      <a:rPr lang="es-CO" i="1">
                                        <a:latin typeface="Cambria Math"/>
                                      </a:rPr>
                                    </m:ctrlPr>
                                  </m:dPr>
                                  <m:e>
                                    <m:sSub>
                                      <m:sSubPr>
                                        <m:ctrlPr>
                                          <a:rPr lang="es-CO" i="1">
                                            <a:latin typeface="Cambria Math"/>
                                          </a:rPr>
                                        </m:ctrlPr>
                                      </m:sSubPr>
                                      <m:e>
                                        <m:r>
                                          <a:rPr lang="es-CO" i="1">
                                            <a:latin typeface="Cambria Math"/>
                                          </a:rPr>
                                          <m:t>𝑍</m:t>
                                        </m:r>
                                      </m:e>
                                      <m:sub>
                                        <m:r>
                                          <a:rPr lang="es-CO" i="1">
                                            <a:latin typeface="Cambria Math"/>
                                          </a:rPr>
                                          <m:t>𝑖</m:t>
                                        </m:r>
                                      </m:sub>
                                    </m:sSub>
                                    <m:r>
                                      <a:rPr lang="es-CO" i="1">
                                        <a:latin typeface="Cambria Math"/>
                                      </a:rPr>
                                      <m:t>−</m:t>
                                    </m:r>
                                    <m:acc>
                                      <m:accPr>
                                        <m:chr m:val="̅"/>
                                        <m:ctrlPr>
                                          <a:rPr lang="es-CO" i="1">
                                            <a:latin typeface="Cambria Math"/>
                                          </a:rPr>
                                        </m:ctrlPr>
                                      </m:accPr>
                                      <m:e>
                                        <m:r>
                                          <a:rPr lang="es-CO" i="1">
                                            <a:latin typeface="Cambria Math"/>
                                          </a:rPr>
                                          <m:t>𝑍</m:t>
                                        </m:r>
                                      </m:e>
                                    </m:acc>
                                  </m:e>
                                </m:d>
                                <m:r>
                                  <a:rPr lang="es-CO" i="1">
                                    <a:latin typeface="Cambria Math"/>
                                  </a:rPr>
                                  <m:t>&lt;</m:t>
                                </m:r>
                                <m:r>
                                  <a:rPr lang="es-CO" i="1">
                                    <a:latin typeface="Cambria Math"/>
                                  </a:rPr>
                                  <m:t>h</m:t>
                                </m:r>
                              </m:e>
                            </m:mr>
                            <m:mr>
                              <m:e>
                                <m:r>
                                  <a:rPr lang="es-CO" i="1">
                                    <a:latin typeface="Cambria Math"/>
                                  </a:rPr>
                                  <m:t>0</m:t>
                                </m:r>
                              </m:e>
                              <m:e>
                                <m:r>
                                  <m:rPr>
                                    <m:nor/>
                                  </m:rPr>
                                  <a:rPr lang="es-CO"/>
                                  <m:t>caso</m:t>
                                </m:r>
                                <m:r>
                                  <m:rPr>
                                    <m:nor/>
                                  </m:rPr>
                                  <a:rPr lang="es-CO"/>
                                  <m:t> </m:t>
                                </m:r>
                                <m:r>
                                  <m:rPr>
                                    <m:nor/>
                                  </m:rPr>
                                  <a:rPr lang="es-CO"/>
                                  <m:t>contrario</m:t>
                                </m:r>
                              </m:e>
                            </m:mr>
                          </m:m>
                          <m:r>
                            <a:rPr lang="es-CO" i="1">
                              <a:latin typeface="Cambria Math"/>
                            </a:rPr>
                            <m:t>    </m:t>
                          </m:r>
                        </m:e>
                      </m:d>
                    </m:oMath>
                  </m:oMathPara>
                </a14:m>
                <a:endParaRPr lang="es-CO" dirty="0"/>
              </a:p>
            </p:txBody>
          </p:sp>
        </mc:Choice>
        <mc:Fallback>
          <p:sp>
            <p:nvSpPr>
              <p:cNvPr id="2" name="1 Rectángulo"/>
              <p:cNvSpPr>
                <a:spLocks noRot="1" noChangeAspect="1" noMove="1" noResize="1" noEditPoints="1" noAdjustHandles="1" noChangeArrowheads="1" noChangeShapeType="1" noTextEdit="1"/>
              </p:cNvSpPr>
              <p:nvPr/>
            </p:nvSpPr>
            <p:spPr>
              <a:xfrm>
                <a:off x="4690246" y="3167975"/>
                <a:ext cx="4572000" cy="976614"/>
              </a:xfrm>
              <a:prstGeom prst="rect">
                <a:avLst/>
              </a:prstGeom>
              <a:blipFill rotWithShape="1">
                <a:blip r:embed="rId5" cstate="print"/>
                <a:stretch>
                  <a:fillRect/>
                </a:stretch>
              </a:blipFill>
            </p:spPr>
            <p:txBody>
              <a:bodyPr/>
              <a:lstStyle/>
              <a:p>
                <a:r>
                  <a:rPr lang="es-CO">
                    <a:noFill/>
                  </a:rPr>
                  <a:t> </a:t>
                </a:r>
              </a:p>
            </p:txBody>
          </p:sp>
        </mc:Fallback>
      </mc:AlternateContent>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222939" y="695644"/>
            <a:ext cx="6921062" cy="1131910"/>
          </a:xfrm>
        </p:spPr>
        <p:txBody>
          <a:bodyPr>
            <a:normAutofit fontScale="90000"/>
          </a:bodyPr>
          <a:lstStyle/>
          <a:p>
            <a:pPr marL="742950" marR="0" lvl="1" indent="-285750" algn="ctr" defTabSz="914400" rtl="0" eaLnBrk="1" fontAlgn="auto" latinLnBrk="0" hangingPunct="1">
              <a:lnSpc>
                <a:spcPct val="100000"/>
              </a:lnSpc>
              <a:spcBef>
                <a:spcPct val="20000"/>
              </a:spcBef>
              <a:spcAft>
                <a:spcPts val="0"/>
              </a:spcAft>
              <a:tabLst/>
              <a:defRPr/>
            </a:pPr>
            <a:r>
              <a:rPr lang="es-MX" sz="3600" kern="0" dirty="0" smtClean="0">
                <a:solidFill>
                  <a:sysClr val="windowText" lastClr="000000"/>
                </a:solidFill>
              </a:rPr>
              <a:t>Implementación del diseño de </a:t>
            </a:r>
            <a:r>
              <a:rPr lang="es-MX" sz="3600" dirty="0" smtClean="0"/>
              <a:t>RD:</a:t>
            </a:r>
            <a:br>
              <a:rPr lang="es-MX" sz="3600" dirty="0" smtClean="0"/>
            </a:br>
            <a:r>
              <a:rPr lang="es-MX" sz="3600" dirty="0" smtClean="0"/>
              <a:t>Modificación de </a:t>
            </a:r>
            <a:r>
              <a:rPr lang="es-MX" sz="3600" dirty="0" err="1"/>
              <a:t>Imbens</a:t>
            </a:r>
            <a:r>
              <a:rPr lang="es-MX" sz="3600" dirty="0"/>
              <a:t> y </a:t>
            </a:r>
            <a:r>
              <a:rPr lang="es-MX" sz="3600" dirty="0" err="1"/>
              <a:t>Lemieux</a:t>
            </a:r>
            <a:r>
              <a:rPr lang="es-MX" sz="3600" dirty="0" smtClean="0"/>
              <a:t> </a:t>
            </a:r>
            <a:r>
              <a:rPr lang="es-MX" sz="3600" dirty="0"/>
              <a:t>con pesos tipo triangular </a:t>
            </a:r>
            <a:r>
              <a:rPr kumimoji="0" lang="es-MX" sz="2800" b="0" i="0" u="none" strike="noStrike" kern="1200" cap="none" spc="0" normalizeH="0" baseline="0" noProof="0" dirty="0" smtClean="0">
                <a:ln>
                  <a:noFill/>
                </a:ln>
                <a:solidFill>
                  <a:prstClr val="black"/>
                </a:solidFill>
                <a:effectLst/>
                <a:uLnTx/>
                <a:uFillTx/>
                <a:latin typeface="Calibri"/>
                <a:ea typeface="+mn-ea"/>
                <a:cs typeface="+mn-cs"/>
              </a:rPr>
              <a:t/>
            </a:r>
            <a:br>
              <a:rPr kumimoji="0" lang="es-MX" sz="2800" b="0" i="0" u="none" strike="noStrike" kern="1200" cap="none" spc="0" normalizeH="0" baseline="0" noProof="0" dirty="0" smtClean="0">
                <a:ln>
                  <a:noFill/>
                </a:ln>
                <a:solidFill>
                  <a:prstClr val="black"/>
                </a:solidFill>
                <a:effectLst/>
                <a:uLnTx/>
                <a:uFillTx/>
                <a:latin typeface="Calibri"/>
                <a:ea typeface="+mn-ea"/>
                <a:cs typeface="+mn-cs"/>
              </a:rPr>
            </a:br>
            <a:endParaRPr lang="en-US" dirty="0"/>
          </a:p>
        </p:txBody>
      </p:sp>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2112589"/>
                <a:ext cx="8229600" cy="3972904"/>
              </a:xfrm>
            </p:spPr>
            <p:txBody>
              <a:bodyPr>
                <a:normAutofit/>
              </a:bodyPr>
              <a:lstStyle/>
              <a:p>
                <a:r>
                  <a:rPr lang="es-MX" sz="2600" dirty="0" smtClean="0"/>
                  <a:t>Define un ancho de banda. </a:t>
                </a:r>
              </a:p>
              <a:p>
                <a:r>
                  <a:rPr lang="es-MX" sz="2600" dirty="0" smtClean="0"/>
                  <a:t>Hace una única regresión utilizando todas las observaciones a la derecha y a la izquierda del umbral.  </a:t>
                </a:r>
              </a:p>
              <a:p>
                <a:endParaRPr lang="es-MX" sz="2600" dirty="0" smtClean="0"/>
              </a:p>
              <a:p>
                <a:endParaRPr lang="es-MX" sz="2600" dirty="0" smtClean="0"/>
              </a:p>
              <a:p>
                <a:r>
                  <a:rPr lang="es-MX" sz="2600" dirty="0" smtClean="0"/>
                  <a:t>Donde </a:t>
                </a:r>
                <a:r>
                  <a:rPr lang="es-MX" sz="2600" i="1" dirty="0" smtClean="0">
                    <a:latin typeface="Times New Roman" pitchFamily="18" charset="0"/>
                    <a:cs typeface="Times New Roman" pitchFamily="18" charset="0"/>
                  </a:rPr>
                  <a:t>W </a:t>
                </a:r>
                <a:r>
                  <a:rPr lang="es-MX" sz="2600" dirty="0" smtClean="0"/>
                  <a:t>es un indicador de elegibilidad </a:t>
                </a:r>
              </a:p>
              <a:p>
                <a:endParaRPr lang="es-MX" sz="1500" dirty="0" smtClean="0"/>
              </a:p>
              <a:p>
                <a:pPr marL="0" indent="0">
                  <a:buNone/>
                </a:pPr>
                <a14:m>
                  <m:oMathPara xmlns:m="http://schemas.openxmlformats.org/officeDocument/2006/math">
                    <m:oMathParaPr>
                      <m:jc m:val="centerGroup"/>
                    </m:oMathParaPr>
                    <m:oMath xmlns:m="http://schemas.openxmlformats.org/officeDocument/2006/math">
                      <m:sSub>
                        <m:sSubPr>
                          <m:ctrlPr>
                            <a:rPr lang="es-CO" sz="2300" i="1">
                              <a:latin typeface="Cambria Math"/>
                            </a:rPr>
                          </m:ctrlPr>
                        </m:sSubPr>
                        <m:e>
                          <m:r>
                            <a:rPr lang="es-MX" sz="2300" i="1">
                              <a:latin typeface="Cambria Math"/>
                            </a:rPr>
                            <m:t>𝑊</m:t>
                          </m:r>
                        </m:e>
                        <m:sub>
                          <m:r>
                            <a:rPr lang="es-MX" sz="2300" i="1">
                              <a:latin typeface="Cambria Math"/>
                            </a:rPr>
                            <m:t>𝑖</m:t>
                          </m:r>
                        </m:sub>
                      </m:sSub>
                      <m:r>
                        <a:rPr lang="es-CO" sz="2300" i="1">
                          <a:latin typeface="Cambria Math"/>
                        </a:rPr>
                        <m:t>=</m:t>
                      </m:r>
                      <m:d>
                        <m:dPr>
                          <m:begChr m:val="{"/>
                          <m:endChr m:val=""/>
                          <m:ctrlPr>
                            <a:rPr lang="es-CO" sz="2300" i="1">
                              <a:latin typeface="Cambria Math"/>
                            </a:rPr>
                          </m:ctrlPr>
                        </m:dPr>
                        <m:e>
                          <m:m>
                            <m:mPr>
                              <m:mcs>
                                <m:mc>
                                  <m:mcPr>
                                    <m:count m:val="2"/>
                                    <m:mcJc m:val="center"/>
                                  </m:mcPr>
                                </m:mc>
                              </m:mcs>
                              <m:ctrlPr>
                                <a:rPr lang="es-CO" sz="2300" i="1">
                                  <a:latin typeface="Cambria Math"/>
                                </a:rPr>
                              </m:ctrlPr>
                            </m:mPr>
                            <m:mr>
                              <m:e>
                                <m:r>
                                  <a:rPr lang="es-CO" sz="2300" i="1">
                                    <a:latin typeface="Cambria Math"/>
                                  </a:rPr>
                                  <m:t>1</m:t>
                                </m:r>
                              </m:e>
                              <m:e>
                                <m:r>
                                  <m:rPr>
                                    <m:nor/>
                                  </m:rPr>
                                  <a:rPr lang="es-CO" sz="2300"/>
                                  <m:t>si</m:t>
                                </m:r>
                                <m:r>
                                  <m:rPr>
                                    <m:nor/>
                                  </m:rPr>
                                  <a:rPr lang="es-CO" sz="2300"/>
                                  <m:t> </m:t>
                                </m:r>
                                <m:sSub>
                                  <m:sSubPr>
                                    <m:ctrlPr>
                                      <a:rPr lang="es-CO" sz="2300" i="1">
                                        <a:latin typeface="Cambria Math"/>
                                      </a:rPr>
                                    </m:ctrlPr>
                                  </m:sSubPr>
                                  <m:e>
                                    <m:r>
                                      <m:rPr>
                                        <m:nor/>
                                      </m:rPr>
                                      <a:rPr lang="es-CO" sz="2300"/>
                                      <m:t>SISBEN</m:t>
                                    </m:r>
                                  </m:e>
                                  <m:sub>
                                    <m:r>
                                      <m:rPr>
                                        <m:nor/>
                                      </m:rPr>
                                      <a:rPr lang="es-CO" sz="2300"/>
                                      <m:t>i</m:t>
                                    </m:r>
                                  </m:sub>
                                </m:sSub>
                                <m:r>
                                  <a:rPr lang="es-CO" sz="2300" i="1">
                                    <a:latin typeface="Cambria Math"/>
                                  </a:rPr>
                                  <m:t>&lt;10</m:t>
                                </m:r>
                              </m:e>
                            </m:mr>
                            <m:mr>
                              <m:e>
                                <m:r>
                                  <a:rPr lang="es-CO" sz="2300" i="1">
                                    <a:latin typeface="Cambria Math"/>
                                  </a:rPr>
                                  <m:t>0</m:t>
                                </m:r>
                              </m:e>
                              <m:e>
                                <m:r>
                                  <m:rPr>
                                    <m:nor/>
                                  </m:rPr>
                                  <a:rPr lang="es-CO" sz="2300"/>
                                  <m:t>caso</m:t>
                                </m:r>
                                <m:r>
                                  <m:rPr>
                                    <m:nor/>
                                  </m:rPr>
                                  <a:rPr lang="es-CO" sz="2300"/>
                                  <m:t> </m:t>
                                </m:r>
                                <m:r>
                                  <m:rPr>
                                    <m:nor/>
                                  </m:rPr>
                                  <a:rPr lang="es-CO" sz="2300"/>
                                  <m:t>contrario</m:t>
                                </m:r>
                                <m:r>
                                  <a:rPr lang="es-CO" sz="2300" i="1">
                                    <a:latin typeface="Cambria Math"/>
                                  </a:rPr>
                                  <m:t>  </m:t>
                                </m:r>
                              </m:e>
                            </m:mr>
                          </m:m>
                        </m:e>
                      </m:d>
                    </m:oMath>
                  </m:oMathPara>
                </a14:m>
                <a:endParaRPr lang="es-MX" sz="2300" dirty="0" smtClean="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2112589"/>
                <a:ext cx="8229600" cy="3972904"/>
              </a:xfrm>
              <a:blipFill rotWithShape="1">
                <a:blip r:embed="rId2" cstate="print"/>
                <a:stretch>
                  <a:fillRect l="-1111" t="-1229"/>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730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30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306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961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39619" name="Rectangle 3"/>
          <p:cNvSpPr>
            <a:spLocks noChangeArrowheads="1"/>
          </p:cNvSpPr>
          <p:nvPr/>
        </p:nvSpPr>
        <p:spPr bwMode="auto">
          <a:xfrm>
            <a:off x="0" y="7143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CO" sz="15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    </a:t>
            </a: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69</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709451" y="3712788"/>
                <a:ext cx="7677807" cy="4000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i="1">
                              <a:latin typeface="Cambria Math"/>
                            </a:rPr>
                          </m:ctrlPr>
                        </m:sSubPr>
                        <m:e>
                          <m:r>
                            <a:rPr lang="es-MX" i="1">
                              <a:latin typeface="Cambria Math"/>
                            </a:rPr>
                            <m:t>𝑌</m:t>
                          </m:r>
                        </m:e>
                        <m:sub>
                          <m:r>
                            <a:rPr lang="es-MX" i="1">
                              <a:latin typeface="Cambria Math"/>
                            </a:rPr>
                            <m:t>𝑖</m:t>
                          </m:r>
                        </m:sub>
                      </m:sSub>
                      <m:r>
                        <a:rPr lang="es-CO" i="1">
                          <a:latin typeface="Cambria Math"/>
                        </a:rPr>
                        <m:t>=</m:t>
                      </m:r>
                      <m:sSub>
                        <m:sSubPr>
                          <m:ctrlPr>
                            <a:rPr lang="es-CO" i="1">
                              <a:latin typeface="Cambria Math"/>
                            </a:rPr>
                          </m:ctrlPr>
                        </m:sSubPr>
                        <m:e>
                          <m:r>
                            <a:rPr lang="es-MX" i="1">
                              <a:latin typeface="Cambria Math"/>
                            </a:rPr>
                            <m:t>𝛽</m:t>
                          </m:r>
                        </m:e>
                        <m:sub>
                          <m:r>
                            <a:rPr lang="es-CO" i="1">
                              <a:latin typeface="Cambria Math"/>
                            </a:rPr>
                            <m:t>0</m:t>
                          </m:r>
                        </m:sub>
                      </m:sSub>
                      <m:r>
                        <a:rPr lang="es-CO" i="1">
                          <a:latin typeface="Cambria Math"/>
                        </a:rPr>
                        <m:t>+</m:t>
                      </m:r>
                      <m:sSub>
                        <m:sSubPr>
                          <m:ctrlPr>
                            <a:rPr lang="es-CO" i="1">
                              <a:latin typeface="Cambria Math"/>
                            </a:rPr>
                          </m:ctrlPr>
                        </m:sSubPr>
                        <m:e>
                          <m:r>
                            <a:rPr lang="es-MX" i="1">
                              <a:latin typeface="Cambria Math"/>
                            </a:rPr>
                            <m:t>𝛽</m:t>
                          </m:r>
                        </m:e>
                        <m:sub>
                          <m:r>
                            <a:rPr lang="es-CO" i="1">
                              <a:latin typeface="Cambria Math"/>
                            </a:rPr>
                            <m:t>1</m:t>
                          </m:r>
                        </m:sub>
                      </m:sSub>
                      <m:sSub>
                        <m:sSubPr>
                          <m:ctrlPr>
                            <a:rPr lang="es-CO" i="1">
                              <a:latin typeface="Cambria Math"/>
                            </a:rPr>
                          </m:ctrlPr>
                        </m:sSubPr>
                        <m:e>
                          <m:r>
                            <a:rPr lang="es-MX" i="1">
                              <a:latin typeface="Cambria Math"/>
                            </a:rPr>
                            <m:t>𝑊</m:t>
                          </m:r>
                        </m:e>
                        <m:sub>
                          <m:r>
                            <a:rPr lang="es-MX" i="1">
                              <a:latin typeface="Cambria Math"/>
                            </a:rPr>
                            <m:t>𝑖</m:t>
                          </m:r>
                        </m:sub>
                      </m:sSub>
                      <m:r>
                        <a:rPr lang="es-CO" i="1">
                          <a:latin typeface="Cambria Math"/>
                        </a:rPr>
                        <m:t>+</m:t>
                      </m:r>
                      <m:sSub>
                        <m:sSubPr>
                          <m:ctrlPr>
                            <a:rPr lang="es-CO" i="1">
                              <a:latin typeface="Cambria Math"/>
                            </a:rPr>
                          </m:ctrlPr>
                        </m:sSubPr>
                        <m:e>
                          <m:r>
                            <a:rPr lang="es-MX" i="1">
                              <a:latin typeface="Cambria Math"/>
                            </a:rPr>
                            <m:t>𝛽</m:t>
                          </m:r>
                        </m:e>
                        <m:sub>
                          <m:r>
                            <a:rPr lang="es-CO" i="1">
                              <a:latin typeface="Cambria Math"/>
                            </a:rPr>
                            <m:t>2</m:t>
                          </m:r>
                        </m:sub>
                      </m:sSub>
                      <m:sSub>
                        <m:sSubPr>
                          <m:ctrlPr>
                            <a:rPr lang="es-CO" i="1">
                              <a:latin typeface="Cambria Math"/>
                            </a:rPr>
                          </m:ctrlPr>
                        </m:sSubPr>
                        <m:e>
                          <m:r>
                            <a:rPr lang="es-MX" i="1">
                              <a:latin typeface="Cambria Math"/>
                            </a:rPr>
                            <m:t>(</m:t>
                          </m:r>
                          <m:r>
                            <a:rPr lang="es-MX" i="1">
                              <a:latin typeface="Cambria Math"/>
                            </a:rPr>
                            <m:t>𝑆𝐼𝑆𝐵𝐸𝑁</m:t>
                          </m:r>
                          <m:r>
                            <a:rPr lang="es-MX" i="1">
                              <a:latin typeface="Cambria Math"/>
                            </a:rPr>
                            <m:t>−10)</m:t>
                          </m:r>
                        </m:e>
                        <m:sub>
                          <m:r>
                            <a:rPr lang="es-MX" i="1">
                              <a:latin typeface="Cambria Math"/>
                            </a:rPr>
                            <m:t>𝑖</m:t>
                          </m:r>
                        </m:sub>
                      </m:sSub>
                      <m:r>
                        <a:rPr lang="es-CO" i="1">
                          <a:latin typeface="Cambria Math"/>
                        </a:rPr>
                        <m:t>+</m:t>
                      </m:r>
                      <m:sSub>
                        <m:sSubPr>
                          <m:ctrlPr>
                            <a:rPr lang="es-CO" i="1">
                              <a:latin typeface="Cambria Math"/>
                            </a:rPr>
                          </m:ctrlPr>
                        </m:sSubPr>
                        <m:e>
                          <m:r>
                            <a:rPr lang="es-MX" i="1">
                              <a:latin typeface="Cambria Math"/>
                            </a:rPr>
                            <m:t>𝛽</m:t>
                          </m:r>
                        </m:e>
                        <m:sub>
                          <m:r>
                            <a:rPr lang="es-CO" i="1">
                              <a:latin typeface="Cambria Math"/>
                            </a:rPr>
                            <m:t>3</m:t>
                          </m:r>
                        </m:sub>
                      </m:sSub>
                      <m:r>
                        <a:rPr lang="es-MX" i="1">
                          <a:latin typeface="Cambria Math"/>
                        </a:rPr>
                        <m:t>(</m:t>
                      </m:r>
                      <m:sSub>
                        <m:sSubPr>
                          <m:ctrlPr>
                            <a:rPr lang="es-CO" i="1">
                              <a:latin typeface="Cambria Math"/>
                            </a:rPr>
                          </m:ctrlPr>
                        </m:sSubPr>
                        <m:e>
                          <m:r>
                            <a:rPr lang="es-MX" i="1">
                              <a:latin typeface="Cambria Math"/>
                            </a:rPr>
                            <m:t>(</m:t>
                          </m:r>
                          <m:r>
                            <a:rPr lang="es-MX" i="1">
                              <a:latin typeface="Cambria Math"/>
                            </a:rPr>
                            <m:t>𝑆𝐼𝑆𝐵𝐸𝑁</m:t>
                          </m:r>
                          <m:r>
                            <a:rPr lang="es-MX" i="1">
                              <a:latin typeface="Cambria Math"/>
                            </a:rPr>
                            <m:t>−10)</m:t>
                          </m:r>
                        </m:e>
                        <m:sub>
                          <m:r>
                            <a:rPr lang="es-MX" i="1">
                              <a:latin typeface="Cambria Math"/>
                            </a:rPr>
                            <m:t>𝑖</m:t>
                          </m:r>
                        </m:sub>
                      </m:sSub>
                      <m:r>
                        <a:rPr lang="es-CO" i="1">
                          <a:latin typeface="Cambria Math"/>
                        </a:rPr>
                        <m:t>∗</m:t>
                      </m:r>
                      <m:sSub>
                        <m:sSubPr>
                          <m:ctrlPr>
                            <a:rPr lang="es-CO" i="1">
                              <a:latin typeface="Cambria Math"/>
                            </a:rPr>
                          </m:ctrlPr>
                        </m:sSubPr>
                        <m:e>
                          <m:r>
                            <a:rPr lang="es-MX" i="1">
                              <a:latin typeface="Cambria Math"/>
                            </a:rPr>
                            <m:t>𝑊</m:t>
                          </m:r>
                        </m:e>
                        <m:sub>
                          <m:r>
                            <a:rPr lang="es-MX" i="1">
                              <a:latin typeface="Cambria Math"/>
                            </a:rPr>
                            <m:t>𝑖</m:t>
                          </m:r>
                        </m:sub>
                      </m:sSub>
                      <m:r>
                        <a:rPr lang="es-CO" i="1">
                          <a:latin typeface="Cambria Math"/>
                        </a:rPr>
                        <m:t>)+</m:t>
                      </m:r>
                      <m:sSub>
                        <m:sSubPr>
                          <m:ctrlPr>
                            <a:rPr lang="es-CO" i="1">
                              <a:latin typeface="Cambria Math"/>
                            </a:rPr>
                          </m:ctrlPr>
                        </m:sSubPr>
                        <m:e>
                          <m:r>
                            <a:rPr lang="es-MX" i="1">
                              <a:latin typeface="Cambria Math"/>
                            </a:rPr>
                            <m:t>𝜀</m:t>
                          </m:r>
                        </m:e>
                        <m:sub>
                          <m:r>
                            <a:rPr lang="es-MX" i="1">
                              <a:latin typeface="Cambria Math"/>
                            </a:rPr>
                            <m:t>𝑖</m:t>
                          </m:r>
                        </m:sub>
                      </m:sSub>
                    </m:oMath>
                  </m:oMathPara>
                </a14:m>
                <a:endParaRPr lang="es-CO" dirty="0"/>
              </a:p>
            </p:txBody>
          </p:sp>
        </mc:Choice>
        <mc:Fallback>
          <p:sp>
            <p:nvSpPr>
              <p:cNvPr id="2" name="1 Rectángulo"/>
              <p:cNvSpPr>
                <a:spLocks noRot="1" noChangeAspect="1" noMove="1" noResize="1" noEditPoints="1" noAdjustHandles="1" noChangeArrowheads="1" noChangeShapeType="1" noTextEdit="1"/>
              </p:cNvSpPr>
              <p:nvPr/>
            </p:nvSpPr>
            <p:spPr>
              <a:xfrm>
                <a:off x="709451" y="3712788"/>
                <a:ext cx="7677807" cy="400046"/>
              </a:xfrm>
              <a:prstGeom prst="rect">
                <a:avLst/>
              </a:prstGeom>
              <a:blipFill rotWithShape="1">
                <a:blip r:embed="rId4" cstate="print"/>
                <a:stretch>
                  <a:fillRect b="-4545"/>
                </a:stretch>
              </a:blipFill>
            </p:spPr>
            <p:txBody>
              <a:bodyPr/>
              <a:lstStyle/>
              <a:p>
                <a:r>
                  <a:rPr lang="es-CO">
                    <a:noFill/>
                  </a:rPr>
                  <a:t> </a:t>
                </a:r>
              </a:p>
            </p:txBody>
          </p:sp>
        </mc:Fallback>
      </mc:AlternateContent>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00298" y="285728"/>
            <a:ext cx="6186502" cy="1131910"/>
          </a:xfrm>
        </p:spPr>
        <p:txBody>
          <a:bodyPr>
            <a:normAutofit fontScale="90000"/>
          </a:bodyPr>
          <a:lstStyle/>
          <a:p>
            <a:r>
              <a:rPr lang="es-MX" sz="3600" kern="0" dirty="0" smtClean="0">
                <a:solidFill>
                  <a:sysClr val="windowText" lastClr="000000"/>
                </a:solidFill>
              </a:rPr>
              <a:t>Implementación del diseño de </a:t>
            </a:r>
            <a:r>
              <a:rPr lang="es-MX" sz="3600" dirty="0" smtClean="0">
                <a:solidFill>
                  <a:prstClr val="black"/>
                </a:solidFill>
              </a:rPr>
              <a:t>RD:</a:t>
            </a:r>
            <a:br>
              <a:rPr lang="es-MX" sz="3600" dirty="0" smtClean="0">
                <a:solidFill>
                  <a:prstClr val="black"/>
                </a:solidFill>
              </a:rPr>
            </a:br>
            <a:r>
              <a:rPr lang="es-MX" sz="3600" dirty="0" smtClean="0">
                <a:solidFill>
                  <a:prstClr val="black"/>
                </a:solidFill>
              </a:rPr>
              <a:t>Modificación de </a:t>
            </a:r>
            <a:r>
              <a:rPr lang="es-MX" sz="3600" kern="0" dirty="0" err="1" smtClean="0">
                <a:solidFill>
                  <a:sysClr val="windowText" lastClr="000000"/>
                </a:solidFill>
              </a:rPr>
              <a:t>Imbens</a:t>
            </a:r>
            <a:r>
              <a:rPr lang="es-MX" sz="3600" kern="0" dirty="0" smtClean="0">
                <a:solidFill>
                  <a:sysClr val="windowText" lastClr="000000"/>
                </a:solidFill>
              </a:rPr>
              <a:t> y </a:t>
            </a:r>
            <a:r>
              <a:rPr lang="es-MX" sz="3600" kern="0" dirty="0" err="1" smtClean="0">
                <a:solidFill>
                  <a:sysClr val="windowText" lastClr="000000"/>
                </a:solidFill>
              </a:rPr>
              <a:t>Lemieux</a:t>
            </a:r>
            <a:r>
              <a:rPr lang="es-MX" sz="3600" kern="0" dirty="0" smtClean="0">
                <a:solidFill>
                  <a:sysClr val="windowText" lastClr="000000"/>
                </a:solidFill>
              </a:rPr>
              <a:t> </a:t>
            </a:r>
            <a:r>
              <a:rPr lang="es-MX" sz="3600" dirty="0" smtClean="0">
                <a:solidFill>
                  <a:prstClr val="black"/>
                </a:solidFill>
              </a:rPr>
              <a:t>peso triangular </a:t>
            </a:r>
            <a:endParaRPr lang="en-US" dirty="0"/>
          </a:p>
        </p:txBody>
      </p:sp>
      <p:pic>
        <p:nvPicPr>
          <p:cNvPr id="4" name="Picture 1"/>
          <p:cNvPicPr>
            <a:picLocks noChangeAspect="1" noChangeArrowheads="1"/>
          </p:cNvPicPr>
          <p:nvPr/>
        </p:nvPicPr>
        <p:blipFill>
          <a:blip r:embed="rId2" cstate="print"/>
          <a:srcRect/>
          <a:stretch>
            <a:fillRect/>
          </a:stretch>
        </p:blipFill>
        <p:spPr bwMode="auto">
          <a:xfrm>
            <a:off x="0" y="-24"/>
            <a:ext cx="2500298" cy="1189301"/>
          </a:xfrm>
          <a:prstGeom prst="rect">
            <a:avLst/>
          </a:prstGeom>
          <a:noFill/>
          <a:ln w="9525">
            <a:noFill/>
            <a:miter lim="800000"/>
            <a:headEnd/>
            <a:tailEnd/>
          </a:ln>
          <a:effectLst/>
        </p:spPr>
      </p:pic>
      <p:sp>
        <p:nvSpPr>
          <p:cNvPr id="1689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38597" name="Picture 5"/>
          <p:cNvPicPr>
            <a:picLocks noChangeAspect="1" noChangeArrowheads="1"/>
          </p:cNvPicPr>
          <p:nvPr/>
        </p:nvPicPr>
        <p:blipFill>
          <a:blip r:embed="rId3" cstate="print"/>
          <a:srcRect/>
          <a:stretch>
            <a:fillRect/>
          </a:stretch>
        </p:blipFill>
        <p:spPr bwMode="auto">
          <a:xfrm>
            <a:off x="702058" y="1579836"/>
            <a:ext cx="8032039" cy="4650732"/>
          </a:xfrm>
          <a:prstGeom prst="rect">
            <a:avLst/>
          </a:prstGeom>
          <a:noFill/>
          <a:ln w="9525">
            <a:noFill/>
            <a:miter lim="800000"/>
            <a:headEnd/>
            <a:tailEnd/>
          </a:ln>
          <a:effectLst/>
        </p:spPr>
      </p:pic>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70</a:t>
            </a:fld>
            <a:endParaRPr lang="es-ES" sz="1500" dirty="0">
              <a:solidFill>
                <a:schemeClr val="tx1">
                  <a:lumMod val="50000"/>
                  <a:lumOff val="50000"/>
                </a:schemeClr>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2025882"/>
                <a:ext cx="8229600" cy="4525963"/>
              </a:xfrm>
            </p:spPr>
            <p:txBody>
              <a:bodyPr>
                <a:normAutofit fontScale="92500"/>
              </a:bodyPr>
              <a:lstStyle/>
              <a:p>
                <a:r>
                  <a:rPr lang="es-MX" dirty="0" smtClean="0">
                    <a:solidFill>
                      <a:schemeClr val="accent5">
                        <a:lumMod val="75000"/>
                      </a:schemeClr>
                    </a:solidFill>
                  </a:rPr>
                  <a:t>El intercepto a la izquierda del umbral estaría dado por: </a:t>
                </a:r>
              </a:p>
              <a:p>
                <a:endParaRPr lang="es-MX" dirty="0" smtClean="0">
                  <a:solidFill>
                    <a:schemeClr val="accent5">
                      <a:lumMod val="75000"/>
                    </a:schemeClr>
                  </a:solidFill>
                </a:endParaRPr>
              </a:p>
              <a:p>
                <a:pPr marL="0" indent="0">
                  <a:buNone/>
                </a:pPr>
                <a14:m>
                  <m:oMathPara xmlns:m="http://schemas.openxmlformats.org/officeDocument/2006/math">
                    <m:oMathParaPr>
                      <m:jc m:val="centerGroup"/>
                    </m:oMathParaPr>
                    <m:oMath xmlns:m="http://schemas.openxmlformats.org/officeDocument/2006/math">
                      <m:r>
                        <a:rPr lang="es-CO" sz="2300" i="1">
                          <a:latin typeface="Cambria Math"/>
                        </a:rPr>
                        <m:t>𝐸</m:t>
                      </m:r>
                      <m:d>
                        <m:dPr>
                          <m:begChr m:val="["/>
                          <m:endChr m:val="]"/>
                          <m:ctrlPr>
                            <a:rPr lang="es-CO" sz="2300" i="1">
                              <a:latin typeface="Cambria Math"/>
                            </a:rPr>
                          </m:ctrlPr>
                        </m:dPr>
                        <m:e>
                          <m:sSub>
                            <m:sSubPr>
                              <m:ctrlPr>
                                <a:rPr lang="es-CO" sz="2300" i="1">
                                  <a:latin typeface="Cambria Math"/>
                                </a:rPr>
                              </m:ctrlPr>
                            </m:sSubPr>
                            <m:e>
                              <m:r>
                                <a:rPr lang="es-CO" sz="2300" i="1">
                                  <a:latin typeface="Cambria Math"/>
                                </a:rPr>
                                <m:t>𝑌</m:t>
                              </m:r>
                            </m:e>
                            <m:sub>
                              <m:r>
                                <a:rPr lang="es-CO" sz="2300" i="1">
                                  <a:latin typeface="Cambria Math"/>
                                </a:rPr>
                                <m:t>𝑖</m:t>
                              </m:r>
                            </m:sub>
                          </m:sSub>
                        </m:e>
                        <m:e>
                          <m:sSub>
                            <m:sSubPr>
                              <m:ctrlPr>
                                <a:rPr lang="es-CO" sz="2300" i="1">
                                  <a:latin typeface="Cambria Math"/>
                                </a:rPr>
                              </m:ctrlPr>
                            </m:sSubPr>
                            <m:e>
                              <m:r>
                                <a:rPr lang="es-CO" sz="2300" i="1">
                                  <a:latin typeface="Cambria Math"/>
                                </a:rPr>
                                <m:t>𝑊</m:t>
                              </m:r>
                            </m:e>
                            <m:sub>
                              <m:r>
                                <a:rPr lang="es-CO" sz="2300" i="1">
                                  <a:latin typeface="Cambria Math"/>
                                </a:rPr>
                                <m:t>𝑖</m:t>
                              </m:r>
                            </m:sub>
                          </m:sSub>
                          <m:r>
                            <a:rPr lang="es-CO" sz="2300" i="1">
                              <a:latin typeface="Cambria Math"/>
                            </a:rPr>
                            <m:t>=1,</m:t>
                          </m:r>
                          <m:sSub>
                            <m:sSubPr>
                              <m:ctrlPr>
                                <a:rPr lang="es-CO" sz="2300" i="1">
                                  <a:latin typeface="Cambria Math"/>
                                </a:rPr>
                              </m:ctrlPr>
                            </m:sSubPr>
                            <m:e>
                              <m:r>
                                <a:rPr lang="es-CO" sz="2300" i="1">
                                  <a:latin typeface="Cambria Math"/>
                                </a:rPr>
                                <m:t>𝑍</m:t>
                              </m:r>
                            </m:e>
                            <m:sub>
                              <m:r>
                                <a:rPr lang="es-CO" sz="2300" i="1">
                                  <a:latin typeface="Cambria Math"/>
                                </a:rPr>
                                <m:t>𝑖</m:t>
                              </m:r>
                            </m:sub>
                          </m:sSub>
                          <m:r>
                            <a:rPr lang="es-CO" sz="2300" i="1">
                              <a:latin typeface="Cambria Math"/>
                            </a:rPr>
                            <m:t>=</m:t>
                          </m:r>
                          <m:acc>
                            <m:accPr>
                              <m:chr m:val="̅"/>
                              <m:ctrlPr>
                                <a:rPr lang="es-CO" sz="2300" i="1">
                                  <a:latin typeface="Cambria Math"/>
                                </a:rPr>
                              </m:ctrlPr>
                            </m:accPr>
                            <m:e>
                              <m:r>
                                <a:rPr lang="es-CO" sz="2300" i="1">
                                  <a:latin typeface="Cambria Math"/>
                                </a:rPr>
                                <m:t>𝑍</m:t>
                              </m:r>
                            </m:e>
                          </m:acc>
                        </m:e>
                      </m:d>
                      <m:r>
                        <a:rPr lang="es-CO" sz="2300" b="0" i="1" smtClean="0">
                          <a:latin typeface="Cambria Math"/>
                        </a:rPr>
                        <m:t>  </m:t>
                      </m:r>
                      <m:r>
                        <a:rPr lang="es-CO" sz="2300" i="1">
                          <a:latin typeface="Cambria Math"/>
                        </a:rPr>
                        <m:t>=</m:t>
                      </m:r>
                      <m:sSub>
                        <m:sSubPr>
                          <m:ctrlPr>
                            <a:rPr lang="es-CO" sz="2300" i="1">
                              <a:latin typeface="Cambria Math"/>
                            </a:rPr>
                          </m:ctrlPr>
                        </m:sSubPr>
                        <m:e>
                          <m:r>
                            <a:rPr lang="es-MX" sz="2300" i="1">
                              <a:latin typeface="Cambria Math"/>
                            </a:rPr>
                            <m:t>𝛽</m:t>
                          </m:r>
                        </m:e>
                        <m:sub>
                          <m:r>
                            <a:rPr lang="es-CO" sz="2300" i="1">
                              <a:latin typeface="Cambria Math"/>
                            </a:rPr>
                            <m:t>0</m:t>
                          </m:r>
                        </m:sub>
                      </m:sSub>
                      <m:r>
                        <a:rPr lang="es-CO" sz="2300" i="1">
                          <a:latin typeface="Cambria Math"/>
                        </a:rPr>
                        <m:t>+</m:t>
                      </m:r>
                      <m:sSub>
                        <m:sSubPr>
                          <m:ctrlPr>
                            <a:rPr lang="es-CO" sz="2300" i="1">
                              <a:latin typeface="Cambria Math"/>
                            </a:rPr>
                          </m:ctrlPr>
                        </m:sSubPr>
                        <m:e>
                          <m:r>
                            <a:rPr lang="es-MX" sz="2300" i="1">
                              <a:latin typeface="Cambria Math"/>
                            </a:rPr>
                            <m:t>𝛽</m:t>
                          </m:r>
                        </m:e>
                        <m:sub>
                          <m:r>
                            <a:rPr lang="es-CO" sz="2300" i="1">
                              <a:latin typeface="Cambria Math"/>
                            </a:rPr>
                            <m:t>1</m:t>
                          </m:r>
                        </m:sub>
                      </m:sSub>
                      <m:sSub>
                        <m:sSubPr>
                          <m:ctrlPr>
                            <a:rPr lang="es-CO" sz="2300" i="1">
                              <a:latin typeface="Cambria Math"/>
                            </a:rPr>
                          </m:ctrlPr>
                        </m:sSubPr>
                        <m:e>
                          <m:r>
                            <a:rPr lang="es-MX" sz="2300" i="1">
                              <a:latin typeface="Cambria Math"/>
                            </a:rPr>
                            <m:t>𝑊</m:t>
                          </m:r>
                        </m:e>
                        <m:sub>
                          <m:r>
                            <a:rPr lang="es-MX" sz="2300" i="1">
                              <a:latin typeface="Cambria Math"/>
                            </a:rPr>
                            <m:t>𝑖</m:t>
                          </m:r>
                        </m:sub>
                      </m:sSub>
                      <m:r>
                        <a:rPr lang="es-MX" sz="2300" i="1">
                          <a:latin typeface="Cambria Math"/>
                        </a:rPr>
                        <m:t>+</m:t>
                      </m:r>
                      <m:sSub>
                        <m:sSubPr>
                          <m:ctrlPr>
                            <a:rPr lang="es-CO" sz="2300" i="1">
                              <a:latin typeface="Cambria Math"/>
                            </a:rPr>
                          </m:ctrlPr>
                        </m:sSubPr>
                        <m:e>
                          <m:r>
                            <a:rPr lang="es-MX" sz="2300" i="1">
                              <a:latin typeface="Cambria Math"/>
                            </a:rPr>
                            <m:t>𝛽</m:t>
                          </m:r>
                        </m:e>
                        <m:sub>
                          <m:r>
                            <a:rPr lang="es-CO" sz="2300" i="1">
                              <a:latin typeface="Cambria Math"/>
                            </a:rPr>
                            <m:t>2</m:t>
                          </m:r>
                        </m:sub>
                      </m:sSub>
                      <m:d>
                        <m:dPr>
                          <m:ctrlPr>
                            <a:rPr lang="es-CO" sz="2300" i="1">
                              <a:latin typeface="Cambria Math"/>
                            </a:rPr>
                          </m:ctrlPr>
                        </m:dPr>
                        <m:e>
                          <m:sSub>
                            <m:sSubPr>
                              <m:ctrlPr>
                                <a:rPr lang="es-CO" sz="2300" i="1">
                                  <a:latin typeface="Cambria Math"/>
                                </a:rPr>
                              </m:ctrlPr>
                            </m:sSubPr>
                            <m:e>
                              <m:r>
                                <a:rPr lang="es-MX" sz="2300" i="1">
                                  <a:latin typeface="Cambria Math"/>
                                </a:rPr>
                                <m:t>𝑍</m:t>
                              </m:r>
                            </m:e>
                            <m:sub>
                              <m:r>
                                <a:rPr lang="es-MX" sz="2300" i="1">
                                  <a:latin typeface="Cambria Math"/>
                                </a:rPr>
                                <m:t>𝑖</m:t>
                              </m:r>
                            </m:sub>
                          </m:sSub>
                          <m:r>
                            <a:rPr lang="es-CO" sz="2300" i="1">
                              <a:latin typeface="Cambria Math"/>
                            </a:rPr>
                            <m:t>−</m:t>
                          </m:r>
                          <m:acc>
                            <m:accPr>
                              <m:chr m:val="̅"/>
                              <m:ctrlPr>
                                <a:rPr lang="es-CO" sz="2300" i="1">
                                  <a:latin typeface="Cambria Math"/>
                                </a:rPr>
                              </m:ctrlPr>
                            </m:accPr>
                            <m:e>
                              <m:r>
                                <a:rPr lang="es-CO" sz="2300" i="1">
                                  <a:latin typeface="Cambria Math"/>
                                </a:rPr>
                                <m:t>𝑍</m:t>
                              </m:r>
                            </m:e>
                          </m:acc>
                        </m:e>
                      </m:d>
                      <m:r>
                        <a:rPr lang="es-CO" sz="2300" i="1">
                          <a:latin typeface="Cambria Math"/>
                        </a:rPr>
                        <m:t>+</m:t>
                      </m:r>
                      <m:sSub>
                        <m:sSubPr>
                          <m:ctrlPr>
                            <a:rPr lang="es-CO" sz="2300" i="1">
                              <a:latin typeface="Cambria Math"/>
                            </a:rPr>
                          </m:ctrlPr>
                        </m:sSubPr>
                        <m:e>
                          <m:r>
                            <a:rPr lang="es-MX" sz="2300" i="1">
                              <a:latin typeface="Cambria Math"/>
                            </a:rPr>
                            <m:t>𝛽</m:t>
                          </m:r>
                        </m:e>
                        <m:sub>
                          <m:r>
                            <a:rPr lang="es-CO" sz="2300" i="1">
                              <a:latin typeface="Cambria Math"/>
                            </a:rPr>
                            <m:t>3</m:t>
                          </m:r>
                        </m:sub>
                      </m:sSub>
                      <m:d>
                        <m:dPr>
                          <m:ctrlPr>
                            <a:rPr lang="es-CO" sz="2300" i="1">
                              <a:latin typeface="Cambria Math"/>
                            </a:rPr>
                          </m:ctrlPr>
                        </m:dPr>
                        <m:e>
                          <m:d>
                            <m:dPr>
                              <m:ctrlPr>
                                <a:rPr lang="es-CO" sz="2300" i="1">
                                  <a:latin typeface="Cambria Math"/>
                                </a:rPr>
                              </m:ctrlPr>
                            </m:dPr>
                            <m:e>
                              <m:sSub>
                                <m:sSubPr>
                                  <m:ctrlPr>
                                    <a:rPr lang="es-CO" sz="2300" i="1">
                                      <a:latin typeface="Cambria Math"/>
                                    </a:rPr>
                                  </m:ctrlPr>
                                </m:sSubPr>
                                <m:e>
                                  <m:r>
                                    <a:rPr lang="es-MX" sz="2300" i="1">
                                      <a:latin typeface="Cambria Math"/>
                                    </a:rPr>
                                    <m:t>𝑍</m:t>
                                  </m:r>
                                </m:e>
                                <m:sub>
                                  <m:r>
                                    <a:rPr lang="es-MX" sz="2300" i="1">
                                      <a:latin typeface="Cambria Math"/>
                                    </a:rPr>
                                    <m:t>𝑖</m:t>
                                  </m:r>
                                </m:sub>
                              </m:sSub>
                              <m:r>
                                <a:rPr lang="es-CO" sz="2300" i="1">
                                  <a:latin typeface="Cambria Math"/>
                                </a:rPr>
                                <m:t>−</m:t>
                              </m:r>
                              <m:acc>
                                <m:accPr>
                                  <m:chr m:val="̅"/>
                                  <m:ctrlPr>
                                    <a:rPr lang="es-CO" sz="2300" i="1">
                                      <a:latin typeface="Cambria Math"/>
                                    </a:rPr>
                                  </m:ctrlPr>
                                </m:accPr>
                                <m:e>
                                  <m:r>
                                    <a:rPr lang="es-CO" sz="2300" i="1">
                                      <a:latin typeface="Cambria Math"/>
                                    </a:rPr>
                                    <m:t>𝑍</m:t>
                                  </m:r>
                                </m:e>
                              </m:acc>
                            </m:e>
                          </m:d>
                          <m:r>
                            <a:rPr lang="es-CO" sz="2300" i="1">
                              <a:latin typeface="Cambria Math"/>
                            </a:rPr>
                            <m:t>∗</m:t>
                          </m:r>
                          <m:sSub>
                            <m:sSubPr>
                              <m:ctrlPr>
                                <a:rPr lang="es-CO" sz="2300" i="1">
                                  <a:latin typeface="Cambria Math"/>
                                </a:rPr>
                              </m:ctrlPr>
                            </m:sSubPr>
                            <m:e>
                              <m:r>
                                <a:rPr lang="es-MX" sz="2300" i="1">
                                  <a:latin typeface="Cambria Math"/>
                                </a:rPr>
                                <m:t>𝑊</m:t>
                              </m:r>
                            </m:e>
                            <m:sub>
                              <m:r>
                                <a:rPr lang="es-MX" sz="2300" i="1">
                                  <a:latin typeface="Cambria Math"/>
                                </a:rPr>
                                <m:t>𝑖</m:t>
                              </m:r>
                            </m:sub>
                          </m:sSub>
                        </m:e>
                      </m:d>
                    </m:oMath>
                  </m:oMathPara>
                </a14:m>
                <a:endParaRPr lang="es-CO" sz="2300" dirty="0"/>
              </a:p>
              <a:p>
                <a:pPr marL="0" indent="0">
                  <a:buNone/>
                </a:pPr>
                <a14:m>
                  <m:oMathPara xmlns:m="http://schemas.openxmlformats.org/officeDocument/2006/math">
                    <m:oMathParaPr>
                      <m:jc m:val="centerGroup"/>
                    </m:oMathParaPr>
                    <m:oMath xmlns:m="http://schemas.openxmlformats.org/officeDocument/2006/math">
                      <m:r>
                        <a:rPr lang="es-CO" sz="2300" b="0" i="1" smtClean="0">
                          <a:latin typeface="Cambria Math"/>
                        </a:rPr>
                        <m:t> </m:t>
                      </m:r>
                    </m:oMath>
                  </m:oMathPara>
                </a14:m>
                <a:endParaRPr lang="es-CO" sz="2300" b="0" i="1" dirty="0" smtClean="0">
                  <a:latin typeface="Cambria Math"/>
                </a:endParaRPr>
              </a:p>
              <a:p>
                <a:pPr marL="0" indent="0">
                  <a:buNone/>
                </a:pPr>
                <a14:m>
                  <m:oMathPara xmlns:m="http://schemas.openxmlformats.org/officeDocument/2006/math">
                    <m:oMathParaPr>
                      <m:jc m:val="centerGroup"/>
                    </m:oMathParaPr>
                    <m:oMath xmlns:m="http://schemas.openxmlformats.org/officeDocument/2006/math">
                      <m:r>
                        <a:rPr lang="es-CO" sz="2300" i="1">
                          <a:latin typeface="Cambria Math"/>
                        </a:rPr>
                        <m:t>𝐸</m:t>
                      </m:r>
                      <m:d>
                        <m:dPr>
                          <m:begChr m:val="["/>
                          <m:endChr m:val="]"/>
                          <m:ctrlPr>
                            <a:rPr lang="es-CO" sz="2300" i="1">
                              <a:latin typeface="Cambria Math"/>
                            </a:rPr>
                          </m:ctrlPr>
                        </m:dPr>
                        <m:e>
                          <m:sSub>
                            <m:sSubPr>
                              <m:ctrlPr>
                                <a:rPr lang="es-CO" sz="2300" i="1">
                                  <a:latin typeface="Cambria Math"/>
                                </a:rPr>
                              </m:ctrlPr>
                            </m:sSubPr>
                            <m:e>
                              <m:r>
                                <a:rPr lang="es-CO" sz="2300" i="1">
                                  <a:latin typeface="Cambria Math"/>
                                </a:rPr>
                                <m:t>𝑌</m:t>
                              </m:r>
                            </m:e>
                            <m:sub>
                              <m:r>
                                <a:rPr lang="es-CO" sz="2300" i="1">
                                  <a:latin typeface="Cambria Math"/>
                                </a:rPr>
                                <m:t>𝑖</m:t>
                              </m:r>
                            </m:sub>
                          </m:sSub>
                        </m:e>
                        <m:e>
                          <m:sSub>
                            <m:sSubPr>
                              <m:ctrlPr>
                                <a:rPr lang="es-CO" sz="2300" i="1">
                                  <a:latin typeface="Cambria Math"/>
                                </a:rPr>
                              </m:ctrlPr>
                            </m:sSubPr>
                            <m:e>
                              <m:r>
                                <a:rPr lang="es-CO" sz="2300" i="1">
                                  <a:latin typeface="Cambria Math"/>
                                </a:rPr>
                                <m:t>𝑊</m:t>
                              </m:r>
                            </m:e>
                            <m:sub>
                              <m:r>
                                <a:rPr lang="es-CO" sz="2300" i="1">
                                  <a:latin typeface="Cambria Math"/>
                                </a:rPr>
                                <m:t>𝑖</m:t>
                              </m:r>
                            </m:sub>
                          </m:sSub>
                          <m:r>
                            <a:rPr lang="es-CO" sz="2300" i="1">
                              <a:latin typeface="Cambria Math"/>
                            </a:rPr>
                            <m:t>=1,</m:t>
                          </m:r>
                          <m:sSub>
                            <m:sSubPr>
                              <m:ctrlPr>
                                <a:rPr lang="es-CO" sz="2300" i="1">
                                  <a:latin typeface="Cambria Math"/>
                                </a:rPr>
                              </m:ctrlPr>
                            </m:sSubPr>
                            <m:e>
                              <m:r>
                                <a:rPr lang="es-CO" sz="2300" i="1">
                                  <a:latin typeface="Cambria Math"/>
                                </a:rPr>
                                <m:t>𝑍</m:t>
                              </m:r>
                            </m:e>
                            <m:sub>
                              <m:r>
                                <a:rPr lang="es-CO" sz="2300" i="1">
                                  <a:latin typeface="Cambria Math"/>
                                </a:rPr>
                                <m:t>𝑖</m:t>
                              </m:r>
                            </m:sub>
                          </m:sSub>
                          <m:r>
                            <a:rPr lang="es-CO" sz="2300" i="1">
                              <a:latin typeface="Cambria Math"/>
                            </a:rPr>
                            <m:t>=</m:t>
                          </m:r>
                          <m:acc>
                            <m:accPr>
                              <m:chr m:val="̅"/>
                              <m:ctrlPr>
                                <a:rPr lang="es-CO" sz="2300" i="1">
                                  <a:latin typeface="Cambria Math"/>
                                </a:rPr>
                              </m:ctrlPr>
                            </m:accPr>
                            <m:e>
                              <m:r>
                                <a:rPr lang="es-CO" sz="2300" i="1">
                                  <a:latin typeface="Cambria Math"/>
                                </a:rPr>
                                <m:t>𝑍</m:t>
                              </m:r>
                            </m:e>
                          </m:acc>
                        </m:e>
                      </m:d>
                      <m:r>
                        <a:rPr lang="es-CO" sz="2300" i="1">
                          <a:latin typeface="Cambria Math"/>
                        </a:rPr>
                        <m:t>=</m:t>
                      </m:r>
                      <m:sSub>
                        <m:sSubPr>
                          <m:ctrlPr>
                            <a:rPr lang="es-CO" sz="2300" i="1">
                              <a:latin typeface="Cambria Math"/>
                            </a:rPr>
                          </m:ctrlPr>
                        </m:sSubPr>
                        <m:e>
                          <m:r>
                            <a:rPr lang="es-MX" sz="2300" i="1">
                              <a:latin typeface="Cambria Math"/>
                            </a:rPr>
                            <m:t>𝛽</m:t>
                          </m:r>
                        </m:e>
                        <m:sub>
                          <m:r>
                            <a:rPr lang="es-CO" sz="2300" i="1">
                              <a:latin typeface="Cambria Math"/>
                            </a:rPr>
                            <m:t>0</m:t>
                          </m:r>
                        </m:sub>
                      </m:sSub>
                      <m:r>
                        <a:rPr lang="es-CO" sz="2300" i="1">
                          <a:latin typeface="Cambria Math"/>
                        </a:rPr>
                        <m:t>+</m:t>
                      </m:r>
                      <m:sSub>
                        <m:sSubPr>
                          <m:ctrlPr>
                            <a:rPr lang="es-CO" sz="2300" i="1">
                              <a:latin typeface="Cambria Math"/>
                            </a:rPr>
                          </m:ctrlPr>
                        </m:sSubPr>
                        <m:e>
                          <m:r>
                            <a:rPr lang="es-MX" sz="2300" i="1">
                              <a:latin typeface="Cambria Math"/>
                            </a:rPr>
                            <m:t>𝛽</m:t>
                          </m:r>
                        </m:e>
                        <m:sub>
                          <m:r>
                            <a:rPr lang="es-CO" sz="2300" i="1">
                              <a:latin typeface="Cambria Math"/>
                            </a:rPr>
                            <m:t>1</m:t>
                          </m:r>
                        </m:sub>
                      </m:sSub>
                      <m:r>
                        <a:rPr lang="es-MX" sz="2300" i="1">
                          <a:latin typeface="Cambria Math"/>
                        </a:rPr>
                        <m:t>(1)+</m:t>
                      </m:r>
                      <m:sSub>
                        <m:sSubPr>
                          <m:ctrlPr>
                            <a:rPr lang="es-CO" sz="2300" i="1">
                              <a:latin typeface="Cambria Math"/>
                            </a:rPr>
                          </m:ctrlPr>
                        </m:sSubPr>
                        <m:e>
                          <m:r>
                            <a:rPr lang="es-MX" sz="2300" i="1">
                              <a:latin typeface="Cambria Math"/>
                            </a:rPr>
                            <m:t>𝛽</m:t>
                          </m:r>
                        </m:e>
                        <m:sub>
                          <m:r>
                            <a:rPr lang="es-CO" sz="2300" i="1">
                              <a:latin typeface="Cambria Math"/>
                            </a:rPr>
                            <m:t>2</m:t>
                          </m:r>
                        </m:sub>
                      </m:sSub>
                      <m:d>
                        <m:dPr>
                          <m:ctrlPr>
                            <a:rPr lang="es-CO" sz="2300" i="1">
                              <a:latin typeface="Cambria Math"/>
                            </a:rPr>
                          </m:ctrlPr>
                        </m:dPr>
                        <m:e>
                          <m:r>
                            <a:rPr lang="es-MX" sz="2300" i="1">
                              <a:latin typeface="Cambria Math"/>
                            </a:rPr>
                            <m:t>0</m:t>
                          </m:r>
                        </m:e>
                      </m:d>
                      <m:r>
                        <a:rPr lang="es-CO" sz="2300" i="1">
                          <a:latin typeface="Cambria Math"/>
                        </a:rPr>
                        <m:t>+</m:t>
                      </m:r>
                      <m:sSub>
                        <m:sSubPr>
                          <m:ctrlPr>
                            <a:rPr lang="es-CO" sz="2300" i="1">
                              <a:latin typeface="Cambria Math"/>
                            </a:rPr>
                          </m:ctrlPr>
                        </m:sSubPr>
                        <m:e>
                          <m:r>
                            <a:rPr lang="es-MX" sz="2300" i="1">
                              <a:latin typeface="Cambria Math"/>
                            </a:rPr>
                            <m:t>𝛽</m:t>
                          </m:r>
                        </m:e>
                        <m:sub>
                          <m:r>
                            <a:rPr lang="es-CO" sz="2300" i="1">
                              <a:latin typeface="Cambria Math"/>
                            </a:rPr>
                            <m:t>3</m:t>
                          </m:r>
                        </m:sub>
                      </m:sSub>
                      <m:d>
                        <m:dPr>
                          <m:ctrlPr>
                            <a:rPr lang="es-CO" sz="2300" i="1">
                              <a:latin typeface="Cambria Math"/>
                            </a:rPr>
                          </m:ctrlPr>
                        </m:dPr>
                        <m:e>
                          <m:d>
                            <m:dPr>
                              <m:ctrlPr>
                                <a:rPr lang="es-CO" sz="2300" i="1">
                                  <a:latin typeface="Cambria Math"/>
                                </a:rPr>
                              </m:ctrlPr>
                            </m:dPr>
                            <m:e>
                              <m:r>
                                <a:rPr lang="es-MX" sz="2300" i="1">
                                  <a:latin typeface="Cambria Math"/>
                                </a:rPr>
                                <m:t>0</m:t>
                              </m:r>
                            </m:e>
                          </m:d>
                          <m:r>
                            <a:rPr lang="es-CO" sz="2300" i="1">
                              <a:latin typeface="Cambria Math"/>
                            </a:rPr>
                            <m:t>∗</m:t>
                          </m:r>
                          <m:r>
                            <a:rPr lang="es-MX" sz="2300" i="1">
                              <a:latin typeface="Cambria Math"/>
                            </a:rPr>
                            <m:t>1</m:t>
                          </m:r>
                        </m:e>
                      </m:d>
                    </m:oMath>
                  </m:oMathPara>
                </a14:m>
                <a:endParaRPr lang="es-CO" sz="2300" dirty="0"/>
              </a:p>
              <a:p>
                <a:pPr marL="0" indent="0">
                  <a:buNone/>
                </a:pPr>
                <a:endParaRPr lang="es-CO" sz="2300" i="1" dirty="0" smtClean="0"/>
              </a:p>
              <a:p>
                <a:pPr marL="0" indent="0">
                  <a:buNone/>
                </a:pPr>
                <a14:m>
                  <m:oMathPara xmlns:m="http://schemas.openxmlformats.org/officeDocument/2006/math">
                    <m:oMathParaPr>
                      <m:jc m:val="centerGroup"/>
                    </m:oMathParaPr>
                    <m:oMath xmlns:m="http://schemas.openxmlformats.org/officeDocument/2006/math">
                      <m:r>
                        <a:rPr lang="es-ES" sz="2300" i="1">
                          <a:latin typeface="Cambria Math"/>
                        </a:rPr>
                        <m:t>𝐸</m:t>
                      </m:r>
                      <m:d>
                        <m:dPr>
                          <m:begChr m:val="["/>
                          <m:endChr m:val="]"/>
                          <m:ctrlPr>
                            <a:rPr lang="es-CO" sz="2300" i="1">
                              <a:latin typeface="Cambria Math"/>
                            </a:rPr>
                          </m:ctrlPr>
                        </m:dPr>
                        <m:e>
                          <m:sSub>
                            <m:sSubPr>
                              <m:ctrlPr>
                                <a:rPr lang="es-CO" sz="2300" i="1">
                                  <a:latin typeface="Cambria Math"/>
                                </a:rPr>
                              </m:ctrlPr>
                            </m:sSubPr>
                            <m:e>
                              <m:r>
                                <a:rPr lang="es-ES" sz="2300" i="1">
                                  <a:latin typeface="Cambria Math"/>
                                </a:rPr>
                                <m:t>𝑌</m:t>
                              </m:r>
                            </m:e>
                            <m:sub>
                              <m:r>
                                <a:rPr lang="es-ES" sz="2300" i="1">
                                  <a:latin typeface="Cambria Math"/>
                                </a:rPr>
                                <m:t>𝑖</m:t>
                              </m:r>
                            </m:sub>
                          </m:sSub>
                        </m:e>
                        <m:e>
                          <m:sSub>
                            <m:sSubPr>
                              <m:ctrlPr>
                                <a:rPr lang="es-CO" sz="2300" i="1">
                                  <a:latin typeface="Cambria Math"/>
                                </a:rPr>
                              </m:ctrlPr>
                            </m:sSubPr>
                            <m:e>
                              <m:r>
                                <a:rPr lang="es-ES" sz="2300" i="1">
                                  <a:latin typeface="Cambria Math"/>
                                </a:rPr>
                                <m:t>𝑊</m:t>
                              </m:r>
                            </m:e>
                            <m:sub>
                              <m:r>
                                <a:rPr lang="es-ES" sz="2300" i="1">
                                  <a:latin typeface="Cambria Math"/>
                                </a:rPr>
                                <m:t>𝑖</m:t>
                              </m:r>
                            </m:sub>
                          </m:sSub>
                          <m:r>
                            <a:rPr lang="es-ES" sz="2300" i="1">
                              <a:latin typeface="Cambria Math"/>
                            </a:rPr>
                            <m:t>=1,</m:t>
                          </m:r>
                          <m:sSub>
                            <m:sSubPr>
                              <m:ctrlPr>
                                <a:rPr lang="es-CO" sz="2300" i="1">
                                  <a:latin typeface="Cambria Math"/>
                                </a:rPr>
                              </m:ctrlPr>
                            </m:sSubPr>
                            <m:e>
                              <m:r>
                                <a:rPr lang="es-ES" sz="2300" i="1">
                                  <a:latin typeface="Cambria Math"/>
                                </a:rPr>
                                <m:t>𝑍</m:t>
                              </m:r>
                            </m:e>
                            <m:sub>
                              <m:r>
                                <a:rPr lang="es-ES" sz="2300" i="1">
                                  <a:latin typeface="Cambria Math"/>
                                </a:rPr>
                                <m:t>𝑖</m:t>
                              </m:r>
                            </m:sub>
                          </m:sSub>
                          <m:r>
                            <a:rPr lang="es-ES" sz="2300" i="1">
                              <a:latin typeface="Cambria Math"/>
                            </a:rPr>
                            <m:t>=</m:t>
                          </m:r>
                          <m:acc>
                            <m:accPr>
                              <m:chr m:val="̅"/>
                              <m:ctrlPr>
                                <a:rPr lang="es-CO" sz="2300" i="1">
                                  <a:latin typeface="Cambria Math"/>
                                </a:rPr>
                              </m:ctrlPr>
                            </m:accPr>
                            <m:e>
                              <m:r>
                                <a:rPr lang="es-ES" sz="2300" i="1">
                                  <a:latin typeface="Cambria Math"/>
                                </a:rPr>
                                <m:t>𝑍</m:t>
                              </m:r>
                            </m:e>
                          </m:acc>
                        </m:e>
                      </m:d>
                      <m:r>
                        <a:rPr lang="es-ES" sz="2300" i="1">
                          <a:latin typeface="Cambria Math"/>
                        </a:rPr>
                        <m:t>=</m:t>
                      </m:r>
                      <m:sSub>
                        <m:sSubPr>
                          <m:ctrlPr>
                            <a:rPr lang="es-CO" sz="2300" i="1">
                              <a:latin typeface="Cambria Math"/>
                            </a:rPr>
                          </m:ctrlPr>
                        </m:sSubPr>
                        <m:e>
                          <m:r>
                            <a:rPr lang="es-MX" sz="2300" i="1">
                              <a:latin typeface="Cambria Math"/>
                            </a:rPr>
                            <m:t>𝛽</m:t>
                          </m:r>
                        </m:e>
                        <m:sub>
                          <m:r>
                            <a:rPr lang="es-ES" sz="2300" i="1">
                              <a:latin typeface="Cambria Math"/>
                            </a:rPr>
                            <m:t>0</m:t>
                          </m:r>
                        </m:sub>
                      </m:sSub>
                      <m:r>
                        <a:rPr lang="es-ES" sz="2300" i="1">
                          <a:latin typeface="Cambria Math"/>
                        </a:rPr>
                        <m:t>+</m:t>
                      </m:r>
                      <m:sSub>
                        <m:sSubPr>
                          <m:ctrlPr>
                            <a:rPr lang="es-CO" sz="2300" i="1">
                              <a:latin typeface="Cambria Math"/>
                            </a:rPr>
                          </m:ctrlPr>
                        </m:sSubPr>
                        <m:e>
                          <m:r>
                            <a:rPr lang="es-MX" sz="2300" i="1">
                              <a:latin typeface="Cambria Math"/>
                            </a:rPr>
                            <m:t>𝛽</m:t>
                          </m:r>
                        </m:e>
                        <m:sub>
                          <m:r>
                            <a:rPr lang="es-ES" sz="2300" i="1">
                              <a:latin typeface="Cambria Math"/>
                            </a:rPr>
                            <m:t>1</m:t>
                          </m:r>
                        </m:sub>
                      </m:sSub>
                      <m:r>
                        <a:rPr lang="es-MX" sz="2300" i="1">
                          <a:latin typeface="Cambria Math"/>
                        </a:rPr>
                        <m:t> </m:t>
                      </m:r>
                    </m:oMath>
                  </m:oMathPara>
                </a14:m>
                <a:endParaRPr lang="es-MX" sz="2300" dirty="0" smtClean="0">
                  <a:solidFill>
                    <a:schemeClr val="accent5">
                      <a:lumMod val="75000"/>
                    </a:schemeClr>
                  </a:solidFill>
                </a:endParaRPr>
              </a:p>
              <a:p>
                <a:pPr>
                  <a:buNone/>
                </a:pPr>
                <a:r>
                  <a:rPr lang="es-MX" sz="2800" dirty="0" smtClean="0">
                    <a:solidFill>
                      <a:schemeClr val="accent5">
                        <a:lumMod val="75000"/>
                      </a:schemeClr>
                    </a:solidFill>
                  </a:rPr>
                  <a:t/>
                </a:r>
                <a:br>
                  <a:rPr lang="es-MX" sz="2800" dirty="0" smtClean="0">
                    <a:solidFill>
                      <a:schemeClr val="accent5">
                        <a:lumMod val="75000"/>
                      </a:schemeClr>
                    </a:solidFill>
                  </a:rPr>
                </a:br>
                <a:endParaRPr lang="en-US" sz="2800" dirty="0">
                  <a:solidFill>
                    <a:schemeClr val="accent5">
                      <a:lumMod val="75000"/>
                    </a:schemeClr>
                  </a:solidFill>
                </a:endParaRPr>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2025882"/>
                <a:ext cx="8229600" cy="4525963"/>
              </a:xfrm>
              <a:blipFill rotWithShape="1">
                <a:blip r:embed="rId2" cstate="print"/>
                <a:stretch>
                  <a:fillRect l="-1481" t="-1615"/>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67939"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0" name="Rectangle 4"/>
          <p:cNvSpPr>
            <a:spLocks noChangeArrowheads="1"/>
          </p:cNvSpPr>
          <p:nvPr/>
        </p:nvSpPr>
        <p:spPr bwMode="auto">
          <a:xfrm>
            <a:off x="914400" y="666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1" name="Rectangle 5"/>
          <p:cNvSpPr>
            <a:spLocks noChangeArrowheads="1"/>
          </p:cNvSpPr>
          <p:nvPr/>
        </p:nvSpPr>
        <p:spPr bwMode="auto">
          <a:xfrm>
            <a:off x="914400" y="1076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8421" name="Rectangle 5"/>
          <p:cNvSpPr>
            <a:spLocks noChangeArrowheads="1"/>
          </p:cNvSpPr>
          <p:nvPr/>
        </p:nvSpPr>
        <p:spPr bwMode="auto">
          <a:xfrm>
            <a:off x="914400" y="685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2" name="Rectangle 6"/>
          <p:cNvSpPr>
            <a:spLocks noChangeArrowheads="1"/>
          </p:cNvSpPr>
          <p:nvPr/>
        </p:nvSpPr>
        <p:spPr bwMode="auto">
          <a:xfrm>
            <a:off x="914400" y="962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3" name="Rectangle 7"/>
          <p:cNvSpPr>
            <a:spLocks noChangeArrowheads="1"/>
          </p:cNvSpPr>
          <p:nvPr/>
        </p:nvSpPr>
        <p:spPr bwMode="auto">
          <a:xfrm>
            <a:off x="914400" y="12096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1200" b="0" i="0" u="none" strike="noStrike" cap="none" normalizeH="0" baseline="0" smtClean="0">
                <a:ln>
                  <a:noFill/>
                </a:ln>
                <a:solidFill>
                  <a:schemeClr val="tx1"/>
                </a:solidFill>
                <a:effectLst/>
                <a:latin typeface="Times New Roman" pitchFamily="18" charset="0"/>
                <a:ea typeface="Calibri" pitchFamily="34" charset="0"/>
                <a:cs typeface="Times New Roman" pitchFamily="18" charset="0"/>
              </a:rPr>
              <a:t>                                                        </a:t>
            </a:r>
            <a:endParaRPr kumimoji="0" lang="es-MX" sz="1800" b="0" i="0" u="none" strike="noStrike" cap="none" normalizeH="0" baseline="0" smtClean="0">
              <a:ln>
                <a:noFill/>
              </a:ln>
              <a:solidFill>
                <a:schemeClr val="tx1"/>
              </a:solidFill>
              <a:effectLst/>
              <a:latin typeface="Arial" pitchFamily="34" charset="0"/>
            </a:endParaRPr>
          </a:p>
        </p:txBody>
      </p:sp>
      <p:sp>
        <p:nvSpPr>
          <p:cNvPr id="18" name="4 Título"/>
          <p:cNvSpPr>
            <a:spLocks noGrp="1"/>
          </p:cNvSpPr>
          <p:nvPr>
            <p:ph type="title"/>
          </p:nvPr>
        </p:nvSpPr>
        <p:spPr>
          <a:xfrm>
            <a:off x="2500298" y="285728"/>
            <a:ext cx="6186502" cy="1131910"/>
          </a:xfrm>
        </p:spPr>
        <p:txBody>
          <a:bodyPr>
            <a:normAutofit fontScale="90000"/>
          </a:bodyPr>
          <a:lstStyle/>
          <a:p>
            <a:r>
              <a:rPr lang="es-MX" sz="3600" kern="0" dirty="0" smtClean="0">
                <a:solidFill>
                  <a:sysClr val="windowText" lastClr="000000"/>
                </a:solidFill>
              </a:rPr>
              <a:t>Implementación del diseño de </a:t>
            </a:r>
            <a:r>
              <a:rPr lang="es-MX" sz="3600" dirty="0" smtClean="0">
                <a:solidFill>
                  <a:prstClr val="black"/>
                </a:solidFill>
              </a:rPr>
              <a:t>RD:</a:t>
            </a:r>
            <a:br>
              <a:rPr lang="es-MX" sz="3600" dirty="0" smtClean="0">
                <a:solidFill>
                  <a:prstClr val="black"/>
                </a:solidFill>
              </a:rPr>
            </a:br>
            <a:r>
              <a:rPr lang="es-MX" sz="3600" dirty="0" smtClean="0">
                <a:solidFill>
                  <a:prstClr val="black"/>
                </a:solidFill>
              </a:rPr>
              <a:t>Modificación de </a:t>
            </a:r>
            <a:r>
              <a:rPr lang="es-MX" sz="3600" kern="0" dirty="0" err="1" smtClean="0">
                <a:solidFill>
                  <a:sysClr val="windowText" lastClr="000000"/>
                </a:solidFill>
              </a:rPr>
              <a:t>Imbens</a:t>
            </a:r>
            <a:r>
              <a:rPr lang="es-MX" sz="3600" kern="0" dirty="0" smtClean="0">
                <a:solidFill>
                  <a:sysClr val="windowText" lastClr="000000"/>
                </a:solidFill>
              </a:rPr>
              <a:t> y </a:t>
            </a:r>
            <a:r>
              <a:rPr lang="es-MX" sz="3600" kern="0" dirty="0" err="1" smtClean="0">
                <a:solidFill>
                  <a:sysClr val="windowText" lastClr="000000"/>
                </a:solidFill>
              </a:rPr>
              <a:t>Lemieux</a:t>
            </a:r>
            <a:r>
              <a:rPr lang="es-MX" sz="3600" dirty="0" smtClean="0">
                <a:solidFill>
                  <a:prstClr val="black"/>
                </a:solidFill>
              </a:rPr>
              <a:t> peso triangular </a:t>
            </a:r>
            <a:endParaRPr lang="en-US" dirty="0"/>
          </a:p>
        </p:txBody>
      </p:sp>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71</a:t>
            </a:fld>
            <a:endParaRPr lang="es-ES" sz="1500" dirty="0">
              <a:solidFill>
                <a:schemeClr val="tx1">
                  <a:lumMod val="50000"/>
                  <a:lumOff val="50000"/>
                </a:schemeClr>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Marcador de contenido"/>
          <p:cNvSpPr>
            <a:spLocks noGrp="1"/>
          </p:cNvSpPr>
          <p:nvPr>
            <p:ph idx="1"/>
          </p:nvPr>
        </p:nvSpPr>
        <p:spPr>
          <a:xfrm>
            <a:off x="457200" y="2017986"/>
            <a:ext cx="8229600" cy="4313135"/>
          </a:xfrm>
        </p:spPr>
        <p:txBody>
          <a:bodyPr>
            <a:normAutofit/>
          </a:bodyPr>
          <a:lstStyle/>
          <a:p>
            <a:r>
              <a:rPr lang="es-MX" sz="3000" dirty="0" smtClean="0"/>
              <a:t>De manera análoga, el intercepto a la derecha del umbral estaría dado por </a:t>
            </a:r>
            <a:r>
              <a:rPr lang="es-CO" sz="3000" i="1" dirty="0" smtClean="0">
                <a:latin typeface="Symbol" pitchFamily="18" charset="2"/>
              </a:rPr>
              <a:t>b</a:t>
            </a:r>
            <a:r>
              <a:rPr lang="es-MX" sz="2000" i="1" dirty="0" smtClean="0"/>
              <a:t>o.</a:t>
            </a:r>
          </a:p>
          <a:p>
            <a:r>
              <a:rPr lang="es-CO" sz="2800" dirty="0" smtClean="0">
                <a:latin typeface="+mj-lt"/>
              </a:rPr>
              <a:t>Entonces el salto en la discontinuidad está dado por la diferencia entre uno y otro (izquierda-derecha) =</a:t>
            </a:r>
          </a:p>
          <a:p>
            <a:pPr>
              <a:buNone/>
            </a:pPr>
            <a:r>
              <a:rPr lang="es-CO" sz="2800" i="1" dirty="0" smtClean="0">
                <a:latin typeface="Symbol" pitchFamily="18" charset="2"/>
              </a:rPr>
              <a:t>    b</a:t>
            </a:r>
            <a:r>
              <a:rPr lang="es-MX" sz="1800" dirty="0" smtClean="0"/>
              <a:t>1</a:t>
            </a:r>
            <a:r>
              <a:rPr lang="es-MX" sz="2800" dirty="0" smtClean="0"/>
              <a:t> </a:t>
            </a:r>
            <a:r>
              <a:rPr lang="es-MX" sz="2200" dirty="0" smtClean="0">
                <a:sym typeface="Wingdings" pitchFamily="2" charset="2"/>
              </a:rPr>
              <a:t> </a:t>
            </a:r>
            <a:r>
              <a:rPr lang="es-MX" sz="3000" dirty="0" smtClean="0"/>
              <a:t>Indica el valor de la discontinuidad para la variable de resultado y corresponde al efecto del tratamiento en regresión discontinua nítida. </a:t>
            </a:r>
          </a:p>
          <a:p>
            <a:endParaRPr lang="en-US" sz="2800" dirty="0">
              <a:solidFill>
                <a:schemeClr val="accent5">
                  <a:lumMod val="75000"/>
                </a:schemeClr>
              </a:solidFill>
            </a:endParaRPr>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67939"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0" name="Rectangle 4"/>
          <p:cNvSpPr>
            <a:spLocks noChangeArrowheads="1"/>
          </p:cNvSpPr>
          <p:nvPr/>
        </p:nvSpPr>
        <p:spPr bwMode="auto">
          <a:xfrm>
            <a:off x="914400" y="666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1" name="Rectangle 5"/>
          <p:cNvSpPr>
            <a:spLocks noChangeArrowheads="1"/>
          </p:cNvSpPr>
          <p:nvPr/>
        </p:nvSpPr>
        <p:spPr bwMode="auto">
          <a:xfrm>
            <a:off x="914400" y="1076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8421" name="Rectangle 5"/>
          <p:cNvSpPr>
            <a:spLocks noChangeArrowheads="1"/>
          </p:cNvSpPr>
          <p:nvPr/>
        </p:nvSpPr>
        <p:spPr bwMode="auto">
          <a:xfrm>
            <a:off x="914400" y="685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2" name="Rectangle 6"/>
          <p:cNvSpPr>
            <a:spLocks noChangeArrowheads="1"/>
          </p:cNvSpPr>
          <p:nvPr/>
        </p:nvSpPr>
        <p:spPr bwMode="auto">
          <a:xfrm>
            <a:off x="914400" y="962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3" name="Rectangle 7"/>
          <p:cNvSpPr>
            <a:spLocks noChangeArrowheads="1"/>
          </p:cNvSpPr>
          <p:nvPr/>
        </p:nvSpPr>
        <p:spPr bwMode="auto">
          <a:xfrm>
            <a:off x="914400" y="12096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1200" b="0" i="0" u="none" strike="noStrike" cap="none" normalizeH="0" baseline="0" smtClean="0">
                <a:ln>
                  <a:noFill/>
                </a:ln>
                <a:solidFill>
                  <a:schemeClr val="tx1"/>
                </a:solidFill>
                <a:effectLst/>
                <a:latin typeface="Times New Roman" pitchFamily="18" charset="0"/>
                <a:ea typeface="Calibri" pitchFamily="34" charset="0"/>
                <a:cs typeface="Times New Roman" pitchFamily="18" charset="0"/>
              </a:rPr>
              <a:t>                                                        </a:t>
            </a:r>
            <a:endParaRPr kumimoji="0" lang="es-MX" sz="1800" b="0" i="0" u="none" strike="noStrike" cap="none" normalizeH="0" baseline="0" smtClean="0">
              <a:ln>
                <a:noFill/>
              </a:ln>
              <a:solidFill>
                <a:schemeClr val="tx1"/>
              </a:solidFill>
              <a:effectLst/>
              <a:latin typeface="Arial" pitchFamily="34" charset="0"/>
            </a:endParaRPr>
          </a:p>
        </p:txBody>
      </p:sp>
      <p:sp>
        <p:nvSpPr>
          <p:cNvPr id="15" name="4 Título"/>
          <p:cNvSpPr>
            <a:spLocks noGrp="1"/>
          </p:cNvSpPr>
          <p:nvPr>
            <p:ph type="title"/>
          </p:nvPr>
        </p:nvSpPr>
        <p:spPr>
          <a:xfrm>
            <a:off x="2500298" y="285728"/>
            <a:ext cx="6186502" cy="1131910"/>
          </a:xfrm>
        </p:spPr>
        <p:txBody>
          <a:bodyPr>
            <a:normAutofit fontScale="90000"/>
          </a:bodyPr>
          <a:lstStyle/>
          <a:p>
            <a:r>
              <a:rPr lang="es-MX" sz="3600" kern="0" dirty="0" smtClean="0">
                <a:solidFill>
                  <a:sysClr val="windowText" lastClr="000000"/>
                </a:solidFill>
              </a:rPr>
              <a:t>Implementación del diseño de </a:t>
            </a:r>
            <a:r>
              <a:rPr lang="es-MX" sz="3600" dirty="0" smtClean="0">
                <a:solidFill>
                  <a:prstClr val="black"/>
                </a:solidFill>
              </a:rPr>
              <a:t>RD:</a:t>
            </a:r>
            <a:br>
              <a:rPr lang="es-MX" sz="3600" dirty="0" smtClean="0">
                <a:solidFill>
                  <a:prstClr val="black"/>
                </a:solidFill>
              </a:rPr>
            </a:br>
            <a:r>
              <a:rPr lang="es-MX" sz="3600" dirty="0" smtClean="0">
                <a:solidFill>
                  <a:prstClr val="black"/>
                </a:solidFill>
              </a:rPr>
              <a:t>Modificación de </a:t>
            </a:r>
            <a:r>
              <a:rPr lang="es-MX" sz="3600" kern="0" dirty="0" err="1" smtClean="0">
                <a:solidFill>
                  <a:sysClr val="windowText" lastClr="000000"/>
                </a:solidFill>
              </a:rPr>
              <a:t>Imbens</a:t>
            </a:r>
            <a:r>
              <a:rPr lang="es-MX" sz="3600" kern="0" dirty="0" smtClean="0">
                <a:solidFill>
                  <a:sysClr val="windowText" lastClr="000000"/>
                </a:solidFill>
              </a:rPr>
              <a:t> y </a:t>
            </a:r>
            <a:r>
              <a:rPr lang="es-MX" sz="3600" kern="0" dirty="0" err="1" smtClean="0">
                <a:solidFill>
                  <a:sysClr val="windowText" lastClr="000000"/>
                </a:solidFill>
              </a:rPr>
              <a:t>Lemieux</a:t>
            </a:r>
            <a:r>
              <a:rPr lang="es-MX" sz="3600" dirty="0" smtClean="0">
                <a:solidFill>
                  <a:prstClr val="black"/>
                </a:solidFill>
              </a:rPr>
              <a:t> peso triangular </a:t>
            </a:r>
            <a:endParaRPr lang="en-US" dirty="0"/>
          </a:p>
        </p:txBody>
      </p:sp>
      <p:sp>
        <p:nvSpPr>
          <p:cNvPr id="14" name="13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72</a:t>
            </a:fld>
            <a:endParaRPr lang="es-ES" sz="1500" dirty="0">
              <a:solidFill>
                <a:schemeClr val="tx1">
                  <a:lumMod val="50000"/>
                  <a:lumOff val="50000"/>
                </a:schemeClr>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10" name="9 Marcador de contenido"/>
              <p:cNvSpPr>
                <a:spLocks noGrp="1"/>
              </p:cNvSpPr>
              <p:nvPr>
                <p:ph idx="1"/>
              </p:nvPr>
            </p:nvSpPr>
            <p:spPr>
              <a:xfrm>
                <a:off x="457200" y="2017986"/>
                <a:ext cx="8229600" cy="4313135"/>
              </a:xfrm>
            </p:spPr>
            <p:txBody>
              <a:bodyPr>
                <a:normAutofit/>
              </a:bodyPr>
              <a:lstStyle/>
              <a:p>
                <a:r>
                  <a:rPr lang="es-MX" sz="2800" dirty="0" smtClean="0"/>
                  <a:t>En regresión discontinua borrosa es necesario calcular también el salto en la probabilidad de participación: </a:t>
                </a:r>
              </a:p>
              <a:p>
                <a:endParaRPr lang="es-MX" sz="2800" dirty="0" smtClean="0"/>
              </a:p>
              <a:p>
                <a:endParaRPr lang="es-MX" sz="2800" dirty="0" smtClean="0"/>
              </a:p>
              <a:p>
                <a:r>
                  <a:rPr lang="es-MX" sz="2800" dirty="0" smtClean="0">
                    <a:solidFill>
                      <a:schemeClr val="accent5">
                        <a:lumMod val="75000"/>
                      </a:schemeClr>
                    </a:solidFill>
                  </a:rPr>
                  <a:t>El estimador del impacto del programa sería entonces: </a:t>
                </a:r>
                <a:endParaRPr lang="es-CO" sz="2800" i="1" dirty="0" smtClean="0"/>
              </a:p>
              <a:p>
                <a:pPr marL="0" indent="0" algn="ctr">
                  <a:buNone/>
                </a:pPr>
                <a14:m>
                  <m:oMath xmlns:m="http://schemas.openxmlformats.org/officeDocument/2006/math">
                    <m:r>
                      <a:rPr lang="es-CO" sz="2800" b="0" i="1" smtClean="0">
                        <a:latin typeface="Cambria Math"/>
                      </a:rPr>
                      <m:t> </m:t>
                    </m:r>
                    <m:acc>
                      <m:accPr>
                        <m:chr m:val="̂"/>
                        <m:ctrlPr>
                          <a:rPr lang="es-CO" sz="2800" i="1">
                            <a:latin typeface="Cambria Math"/>
                          </a:rPr>
                        </m:ctrlPr>
                      </m:accPr>
                      <m:e>
                        <m:r>
                          <a:rPr lang="es-CO" sz="2800" i="1">
                            <a:latin typeface="Cambria Math"/>
                          </a:rPr>
                          <m:t>𝜏</m:t>
                        </m:r>
                      </m:e>
                    </m:acc>
                    <m:r>
                      <a:rPr lang="es-CO" sz="2800" i="1">
                        <a:latin typeface="Cambria Math"/>
                      </a:rPr>
                      <m:t>=</m:t>
                    </m:r>
                    <m:f>
                      <m:fPr>
                        <m:ctrlPr>
                          <a:rPr lang="es-CO" sz="2800" i="1">
                            <a:latin typeface="Cambria Math"/>
                          </a:rPr>
                        </m:ctrlPr>
                      </m:fPr>
                      <m:num>
                        <m:sSub>
                          <m:sSubPr>
                            <m:ctrlPr>
                              <a:rPr lang="es-CO" sz="2800" i="1">
                                <a:latin typeface="Cambria Math"/>
                              </a:rPr>
                            </m:ctrlPr>
                          </m:sSubPr>
                          <m:e>
                            <m:acc>
                              <m:accPr>
                                <m:chr m:val="̂"/>
                                <m:ctrlPr>
                                  <a:rPr lang="es-CO" sz="2800" i="1">
                                    <a:latin typeface="Cambria Math"/>
                                  </a:rPr>
                                </m:ctrlPr>
                              </m:accPr>
                              <m:e>
                                <m:r>
                                  <a:rPr lang="es-CO" sz="2800" i="1">
                                    <a:latin typeface="Cambria Math"/>
                                  </a:rPr>
                                  <m:t>𝜏</m:t>
                                </m:r>
                              </m:e>
                            </m:acc>
                          </m:e>
                          <m:sub>
                            <m:r>
                              <a:rPr lang="es-CO" sz="2800" i="1">
                                <a:latin typeface="Cambria Math"/>
                              </a:rPr>
                              <m:t>𝑦</m:t>
                            </m:r>
                          </m:sub>
                        </m:sSub>
                      </m:num>
                      <m:den>
                        <m:sSub>
                          <m:sSubPr>
                            <m:ctrlPr>
                              <a:rPr lang="es-CO" sz="2800" i="1">
                                <a:latin typeface="Cambria Math"/>
                              </a:rPr>
                            </m:ctrlPr>
                          </m:sSubPr>
                          <m:e>
                            <m:acc>
                              <m:accPr>
                                <m:chr m:val="̂"/>
                                <m:ctrlPr>
                                  <a:rPr lang="es-CO" sz="2800" i="1">
                                    <a:latin typeface="Cambria Math"/>
                                  </a:rPr>
                                </m:ctrlPr>
                              </m:accPr>
                              <m:e>
                                <m:r>
                                  <a:rPr lang="es-CO" sz="2800" i="1">
                                    <a:latin typeface="Cambria Math"/>
                                  </a:rPr>
                                  <m:t>𝜏</m:t>
                                </m:r>
                              </m:e>
                            </m:acc>
                          </m:e>
                          <m:sub>
                            <m:r>
                              <a:rPr lang="es-CO" sz="2800" i="1">
                                <a:latin typeface="Cambria Math"/>
                              </a:rPr>
                              <m:t>𝑑</m:t>
                            </m:r>
                          </m:sub>
                        </m:sSub>
                      </m:den>
                    </m:f>
                    <m:r>
                      <a:rPr lang="es-CO" sz="2800" i="1">
                        <a:latin typeface="Cambria Math"/>
                      </a:rPr>
                      <m:t>=</m:t>
                    </m:r>
                    <m:f>
                      <m:fPr>
                        <m:ctrlPr>
                          <a:rPr lang="es-CO" sz="2800" i="1">
                            <a:latin typeface="Cambria Math"/>
                          </a:rPr>
                        </m:ctrlPr>
                      </m:fPr>
                      <m:num>
                        <m:sSub>
                          <m:sSubPr>
                            <m:ctrlPr>
                              <a:rPr lang="es-CO" sz="2800" i="1">
                                <a:latin typeface="Cambria Math"/>
                              </a:rPr>
                            </m:ctrlPr>
                          </m:sSubPr>
                          <m:e>
                            <m:acc>
                              <m:accPr>
                                <m:chr m:val="̂"/>
                                <m:ctrlPr>
                                  <a:rPr lang="es-CO" sz="2800" i="1">
                                    <a:latin typeface="Cambria Math"/>
                                  </a:rPr>
                                </m:ctrlPr>
                              </m:accPr>
                              <m:e>
                                <m:r>
                                  <a:rPr lang="es-CO" sz="2800" i="1">
                                    <a:latin typeface="Cambria Math"/>
                                  </a:rPr>
                                  <m:t>𝛽</m:t>
                                </m:r>
                              </m:e>
                            </m:acc>
                          </m:e>
                          <m:sub>
                            <m:r>
                              <a:rPr lang="es-CO" sz="2800" i="1">
                                <a:latin typeface="Cambria Math"/>
                              </a:rPr>
                              <m:t>1</m:t>
                            </m:r>
                          </m:sub>
                        </m:sSub>
                      </m:num>
                      <m:den>
                        <m:sSub>
                          <m:sSubPr>
                            <m:ctrlPr>
                              <a:rPr lang="es-CO" sz="2800" i="1">
                                <a:latin typeface="Cambria Math"/>
                              </a:rPr>
                            </m:ctrlPr>
                          </m:sSubPr>
                          <m:e>
                            <m:acc>
                              <m:accPr>
                                <m:chr m:val="̂"/>
                                <m:ctrlPr>
                                  <a:rPr lang="es-CO" sz="2800" i="1">
                                    <a:latin typeface="Cambria Math"/>
                                  </a:rPr>
                                </m:ctrlPr>
                              </m:accPr>
                              <m:e>
                                <m:r>
                                  <a:rPr lang="es-CO" sz="2800" i="1">
                                    <a:latin typeface="Cambria Math"/>
                                  </a:rPr>
                                  <m:t>𝛾</m:t>
                                </m:r>
                              </m:e>
                            </m:acc>
                          </m:e>
                          <m:sub>
                            <m:r>
                              <a:rPr lang="es-CO" sz="2800" i="1">
                                <a:latin typeface="Cambria Math"/>
                              </a:rPr>
                              <m:t>1</m:t>
                            </m:r>
                          </m:sub>
                        </m:sSub>
                      </m:den>
                    </m:f>
                  </m:oMath>
                </a14:m>
                <a:r>
                  <a:rPr lang="es-CO" sz="2800" dirty="0"/>
                  <a:t> </a:t>
                </a:r>
                <a:endParaRPr lang="en-US" sz="2800" dirty="0"/>
              </a:p>
            </p:txBody>
          </p:sp>
        </mc:Choice>
        <mc:Fallback>
          <p:sp>
            <p:nvSpPr>
              <p:cNvPr id="10" name="9 Marcador de contenido"/>
              <p:cNvSpPr>
                <a:spLocks noGrp="1" noRot="1" noChangeAspect="1" noMove="1" noResize="1" noEditPoints="1" noAdjustHandles="1" noChangeArrowheads="1" noChangeShapeType="1" noTextEdit="1"/>
              </p:cNvSpPr>
              <p:nvPr>
                <p:ph idx="1"/>
              </p:nvPr>
            </p:nvSpPr>
            <p:spPr>
              <a:xfrm>
                <a:off x="457200" y="2017986"/>
                <a:ext cx="8229600" cy="4313135"/>
              </a:xfrm>
              <a:blipFill rotWithShape="1">
                <a:blip r:embed="rId3" cstate="print"/>
                <a:stretch>
                  <a:fillRect l="-1259" t="-1271"/>
                </a:stretch>
              </a:blipFill>
            </p:spPr>
            <p:txBody>
              <a:bodyPr/>
              <a:lstStyle/>
              <a:p>
                <a:r>
                  <a:rPr lang="es-CO">
                    <a:noFill/>
                  </a:rPr>
                  <a:t> </a:t>
                </a:r>
              </a:p>
            </p:txBody>
          </p:sp>
        </mc:Fallback>
      </mc:AlternateContent>
      <p:pic>
        <p:nvPicPr>
          <p:cNvPr id="4" name="Picture 1"/>
          <p:cNvPicPr>
            <a:picLocks noChangeAspect="1" noChangeArrowheads="1"/>
          </p:cNvPicPr>
          <p:nvPr/>
        </p:nvPicPr>
        <p:blipFill>
          <a:blip r:embed="rId4" cstate="print"/>
          <a:srcRect/>
          <a:stretch>
            <a:fillRect/>
          </a:stretch>
        </p:blipFill>
        <p:spPr bwMode="auto">
          <a:xfrm>
            <a:off x="0" y="-24"/>
            <a:ext cx="2500298" cy="1189301"/>
          </a:xfrm>
          <a:prstGeom prst="rect">
            <a:avLst/>
          </a:prstGeom>
          <a:noFill/>
          <a:ln w="9525">
            <a:noFill/>
            <a:miter lim="800000"/>
            <a:headEnd/>
            <a:tailEnd/>
          </a:ln>
          <a:effectLst/>
        </p:spPr>
      </p:pic>
      <p:sp>
        <p:nvSpPr>
          <p:cNvPr id="167939"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0" name="Rectangle 4"/>
          <p:cNvSpPr>
            <a:spLocks noChangeArrowheads="1"/>
          </p:cNvSpPr>
          <p:nvPr/>
        </p:nvSpPr>
        <p:spPr bwMode="auto">
          <a:xfrm>
            <a:off x="914400" y="666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1" name="Rectangle 5"/>
          <p:cNvSpPr>
            <a:spLocks noChangeArrowheads="1"/>
          </p:cNvSpPr>
          <p:nvPr/>
        </p:nvSpPr>
        <p:spPr bwMode="auto">
          <a:xfrm>
            <a:off x="914400" y="1076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8421" name="Rectangle 5"/>
          <p:cNvSpPr>
            <a:spLocks noChangeArrowheads="1"/>
          </p:cNvSpPr>
          <p:nvPr/>
        </p:nvSpPr>
        <p:spPr bwMode="auto">
          <a:xfrm>
            <a:off x="914400" y="685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2" name="Rectangle 6"/>
          <p:cNvSpPr>
            <a:spLocks noChangeArrowheads="1"/>
          </p:cNvSpPr>
          <p:nvPr/>
        </p:nvSpPr>
        <p:spPr bwMode="auto">
          <a:xfrm>
            <a:off x="914400" y="962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3" name="Rectangle 7"/>
          <p:cNvSpPr>
            <a:spLocks noChangeArrowheads="1"/>
          </p:cNvSpPr>
          <p:nvPr/>
        </p:nvSpPr>
        <p:spPr bwMode="auto">
          <a:xfrm>
            <a:off x="914400" y="12096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1200" b="0" i="0" u="none" strike="noStrike" cap="none" normalizeH="0" baseline="0" smtClean="0">
                <a:ln>
                  <a:noFill/>
                </a:ln>
                <a:solidFill>
                  <a:schemeClr val="tx1"/>
                </a:solidFill>
                <a:effectLst/>
                <a:latin typeface="Times New Roman" pitchFamily="18" charset="0"/>
                <a:ea typeface="Calibri" pitchFamily="34" charset="0"/>
                <a:cs typeface="Times New Roman" pitchFamily="18" charset="0"/>
              </a:rPr>
              <a:t>                                                        </a:t>
            </a:r>
            <a:endParaRPr kumimoji="0" lang="es-MX" sz="1800" b="0" i="0" u="none" strike="noStrike" cap="none" normalizeH="0" baseline="0" smtClean="0">
              <a:ln>
                <a:noFill/>
              </a:ln>
              <a:solidFill>
                <a:schemeClr val="tx1"/>
              </a:solidFill>
              <a:effectLst/>
              <a:latin typeface="Arial" pitchFamily="34" charset="0"/>
            </a:endParaRPr>
          </a:p>
        </p:txBody>
      </p:sp>
      <p:sp>
        <p:nvSpPr>
          <p:cNvPr id="1904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04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047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 name="4 Título"/>
          <p:cNvSpPr>
            <a:spLocks noGrp="1"/>
          </p:cNvSpPr>
          <p:nvPr>
            <p:ph type="title"/>
          </p:nvPr>
        </p:nvSpPr>
        <p:spPr>
          <a:xfrm>
            <a:off x="2500298" y="285728"/>
            <a:ext cx="6186502" cy="1131910"/>
          </a:xfrm>
        </p:spPr>
        <p:txBody>
          <a:bodyPr>
            <a:normAutofit fontScale="90000"/>
          </a:bodyPr>
          <a:lstStyle/>
          <a:p>
            <a:r>
              <a:rPr lang="es-MX" sz="3600" kern="0" dirty="0" smtClean="0">
                <a:solidFill>
                  <a:sysClr val="windowText" lastClr="000000"/>
                </a:solidFill>
              </a:rPr>
              <a:t>Implementación del diseño de </a:t>
            </a:r>
            <a:r>
              <a:rPr lang="es-MX" sz="3600" dirty="0" smtClean="0">
                <a:solidFill>
                  <a:prstClr val="black"/>
                </a:solidFill>
              </a:rPr>
              <a:t>RD:</a:t>
            </a:r>
            <a:br>
              <a:rPr lang="es-MX" sz="3600" dirty="0" smtClean="0">
                <a:solidFill>
                  <a:prstClr val="black"/>
                </a:solidFill>
              </a:rPr>
            </a:br>
            <a:r>
              <a:rPr lang="es-MX" sz="3600" dirty="0" smtClean="0">
                <a:solidFill>
                  <a:prstClr val="black"/>
                </a:solidFill>
              </a:rPr>
              <a:t>Modificación de </a:t>
            </a:r>
            <a:r>
              <a:rPr lang="es-MX" sz="3600" kern="0" dirty="0" err="1" smtClean="0">
                <a:solidFill>
                  <a:sysClr val="windowText" lastClr="000000"/>
                </a:solidFill>
              </a:rPr>
              <a:t>Imbens</a:t>
            </a:r>
            <a:r>
              <a:rPr lang="es-MX" sz="3600" kern="0" dirty="0" smtClean="0">
                <a:solidFill>
                  <a:sysClr val="windowText" lastClr="000000"/>
                </a:solidFill>
              </a:rPr>
              <a:t> y </a:t>
            </a:r>
            <a:r>
              <a:rPr lang="es-MX" sz="3600" kern="0" dirty="0" err="1" smtClean="0">
                <a:solidFill>
                  <a:sysClr val="windowText" lastClr="000000"/>
                </a:solidFill>
              </a:rPr>
              <a:t>Lemieux</a:t>
            </a:r>
            <a:r>
              <a:rPr lang="es-MX" sz="3600" dirty="0" smtClean="0">
                <a:solidFill>
                  <a:prstClr val="black"/>
                </a:solidFill>
              </a:rPr>
              <a:t> peso triangular </a:t>
            </a:r>
            <a:endParaRPr lang="en-US" dirty="0"/>
          </a:p>
        </p:txBody>
      </p:sp>
      <p:sp>
        <p:nvSpPr>
          <p:cNvPr id="2334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33475" name="Rectangle 3"/>
          <p:cNvSpPr>
            <a:spLocks noChangeArrowheads="1"/>
          </p:cNvSpPr>
          <p:nvPr/>
        </p:nvSpPr>
        <p:spPr bwMode="auto">
          <a:xfrm>
            <a:off x="0" y="7143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1" name="20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73</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394138" y="3756003"/>
                <a:ext cx="8296601" cy="438069"/>
              </a:xfrm>
              <a:prstGeom prst="rect">
                <a:avLst/>
              </a:prstGeom>
            </p:spPr>
            <p:txBody>
              <a:bodyPr wrap="square">
                <a:spAutoFit/>
              </a:bodyPr>
              <a:lstStyle/>
              <a:p>
                <a14:m>
                  <m:oMath xmlns:m="http://schemas.openxmlformats.org/officeDocument/2006/math">
                    <m:r>
                      <a:rPr lang="es-MX" sz="1900" i="1">
                        <a:latin typeface="Cambria Math"/>
                      </a:rPr>
                      <m:t>𝑃𝑟</m:t>
                    </m:r>
                    <m:d>
                      <m:dPr>
                        <m:ctrlPr>
                          <a:rPr lang="es-CO" sz="1900" i="1">
                            <a:latin typeface="Cambria Math"/>
                          </a:rPr>
                        </m:ctrlPr>
                      </m:dPr>
                      <m:e>
                        <m:sSub>
                          <m:sSubPr>
                            <m:ctrlPr>
                              <a:rPr lang="es-CO" sz="1900" i="1">
                                <a:latin typeface="Cambria Math"/>
                              </a:rPr>
                            </m:ctrlPr>
                          </m:sSubPr>
                          <m:e>
                            <m:r>
                              <a:rPr lang="es-MX" sz="1900" i="1">
                                <a:latin typeface="Cambria Math"/>
                              </a:rPr>
                              <m:t>𝐷</m:t>
                            </m:r>
                          </m:e>
                          <m:sub>
                            <m:r>
                              <a:rPr lang="es-MX" sz="1900" i="1">
                                <a:latin typeface="Cambria Math"/>
                              </a:rPr>
                              <m:t>𝑖</m:t>
                            </m:r>
                          </m:sub>
                        </m:sSub>
                        <m:r>
                          <a:rPr lang="es-ES" sz="1900" i="1">
                            <a:latin typeface="Cambria Math"/>
                          </a:rPr>
                          <m:t>=1</m:t>
                        </m:r>
                      </m:e>
                    </m:d>
                    <m:r>
                      <a:rPr lang="es-ES" sz="1900" i="1">
                        <a:latin typeface="Cambria Math"/>
                      </a:rPr>
                      <m:t>=</m:t>
                    </m:r>
                    <m:sSub>
                      <m:sSubPr>
                        <m:ctrlPr>
                          <a:rPr lang="es-CO" sz="1900" i="1">
                            <a:latin typeface="Cambria Math"/>
                          </a:rPr>
                        </m:ctrlPr>
                      </m:sSubPr>
                      <m:e>
                        <m:r>
                          <a:rPr lang="en-US" sz="1900" i="1">
                            <a:latin typeface="Cambria Math"/>
                          </a:rPr>
                          <m:t>𝛾</m:t>
                        </m:r>
                      </m:e>
                      <m:sub>
                        <m:r>
                          <a:rPr lang="es-ES" sz="1900" i="1">
                            <a:latin typeface="Cambria Math"/>
                          </a:rPr>
                          <m:t>0</m:t>
                        </m:r>
                      </m:sub>
                    </m:sSub>
                    <m:r>
                      <a:rPr lang="es-ES" sz="1900" i="1">
                        <a:latin typeface="Cambria Math"/>
                      </a:rPr>
                      <m:t>+</m:t>
                    </m:r>
                    <m:sSub>
                      <m:sSubPr>
                        <m:ctrlPr>
                          <a:rPr lang="es-CO" sz="1900" i="1">
                            <a:latin typeface="Cambria Math"/>
                          </a:rPr>
                        </m:ctrlPr>
                      </m:sSubPr>
                      <m:e>
                        <m:r>
                          <a:rPr lang="en-US" sz="1900" i="1">
                            <a:latin typeface="Cambria Math"/>
                          </a:rPr>
                          <m:t>𝛾</m:t>
                        </m:r>
                      </m:e>
                      <m:sub>
                        <m:r>
                          <a:rPr lang="es-ES" sz="1900" i="1">
                            <a:latin typeface="Cambria Math"/>
                          </a:rPr>
                          <m:t>1</m:t>
                        </m:r>
                      </m:sub>
                    </m:sSub>
                    <m:sSub>
                      <m:sSubPr>
                        <m:ctrlPr>
                          <a:rPr lang="es-CO" sz="1900" i="1">
                            <a:latin typeface="Cambria Math"/>
                          </a:rPr>
                        </m:ctrlPr>
                      </m:sSubPr>
                      <m:e>
                        <m:r>
                          <a:rPr lang="en-US" sz="1900" i="1">
                            <a:latin typeface="Cambria Math"/>
                          </a:rPr>
                          <m:t>𝑊</m:t>
                        </m:r>
                      </m:e>
                      <m:sub>
                        <m:r>
                          <a:rPr lang="en-US" sz="1900" i="1">
                            <a:latin typeface="Cambria Math"/>
                          </a:rPr>
                          <m:t>𝑖</m:t>
                        </m:r>
                      </m:sub>
                    </m:sSub>
                    <m:r>
                      <a:rPr lang="es-ES" sz="1900" i="1">
                        <a:latin typeface="Cambria Math"/>
                      </a:rPr>
                      <m:t>+</m:t>
                    </m:r>
                    <m:sSub>
                      <m:sSubPr>
                        <m:ctrlPr>
                          <a:rPr lang="es-CO" sz="1900" i="1">
                            <a:latin typeface="Cambria Math"/>
                          </a:rPr>
                        </m:ctrlPr>
                      </m:sSubPr>
                      <m:e>
                        <m:r>
                          <a:rPr lang="en-US" sz="1900" i="1">
                            <a:latin typeface="Cambria Math"/>
                          </a:rPr>
                          <m:t>𝛾</m:t>
                        </m:r>
                      </m:e>
                      <m:sub>
                        <m:r>
                          <a:rPr lang="es-ES" sz="1900" i="1">
                            <a:latin typeface="Cambria Math"/>
                          </a:rPr>
                          <m:t>2</m:t>
                        </m:r>
                      </m:sub>
                    </m:sSub>
                    <m:sSub>
                      <m:sSubPr>
                        <m:ctrlPr>
                          <a:rPr lang="es-CO" sz="1900" i="1">
                            <a:latin typeface="Cambria Math"/>
                          </a:rPr>
                        </m:ctrlPr>
                      </m:sSubPr>
                      <m:e>
                        <m:r>
                          <a:rPr lang="es-ES" sz="1900" i="1">
                            <a:latin typeface="Cambria Math"/>
                          </a:rPr>
                          <m:t>(</m:t>
                        </m:r>
                        <m:r>
                          <a:rPr lang="en-US" sz="1900" i="1">
                            <a:latin typeface="Cambria Math"/>
                          </a:rPr>
                          <m:t>𝑆𝐼𝑆𝐵𝐸𝑁</m:t>
                        </m:r>
                        <m:r>
                          <a:rPr lang="es-ES" sz="1900" i="1">
                            <a:latin typeface="Cambria Math"/>
                          </a:rPr>
                          <m:t>−10)</m:t>
                        </m:r>
                      </m:e>
                      <m:sub>
                        <m:r>
                          <a:rPr lang="en-US" sz="1900" i="1">
                            <a:latin typeface="Cambria Math"/>
                          </a:rPr>
                          <m:t>𝑖</m:t>
                        </m:r>
                      </m:sub>
                    </m:sSub>
                    <m:r>
                      <a:rPr lang="es-ES" sz="1900" i="1">
                        <a:latin typeface="Cambria Math"/>
                      </a:rPr>
                      <m:t>+</m:t>
                    </m:r>
                    <m:sSub>
                      <m:sSubPr>
                        <m:ctrlPr>
                          <a:rPr lang="es-CO" sz="1900" i="1">
                            <a:latin typeface="Cambria Math"/>
                          </a:rPr>
                        </m:ctrlPr>
                      </m:sSubPr>
                      <m:e>
                        <m:r>
                          <a:rPr lang="en-US" sz="1900" i="1">
                            <a:latin typeface="Cambria Math"/>
                          </a:rPr>
                          <m:t>𝛾</m:t>
                        </m:r>
                      </m:e>
                      <m:sub>
                        <m:r>
                          <a:rPr lang="es-ES" sz="1900" i="1">
                            <a:latin typeface="Cambria Math"/>
                          </a:rPr>
                          <m:t>3</m:t>
                        </m:r>
                      </m:sub>
                    </m:sSub>
                    <m:d>
                      <m:dPr>
                        <m:ctrlPr>
                          <a:rPr lang="es-CO" sz="1900" i="1">
                            <a:latin typeface="Cambria Math"/>
                          </a:rPr>
                        </m:ctrlPr>
                      </m:dPr>
                      <m:e>
                        <m:sSub>
                          <m:sSubPr>
                            <m:ctrlPr>
                              <a:rPr lang="es-CO" sz="1900" i="1">
                                <a:latin typeface="Cambria Math"/>
                              </a:rPr>
                            </m:ctrlPr>
                          </m:sSubPr>
                          <m:e>
                            <m:r>
                              <a:rPr lang="es-ES" sz="1900" i="1">
                                <a:latin typeface="Cambria Math"/>
                              </a:rPr>
                              <m:t>(</m:t>
                            </m:r>
                            <m:r>
                              <a:rPr lang="en-US" sz="1900" i="1">
                                <a:latin typeface="Cambria Math"/>
                              </a:rPr>
                              <m:t>𝑆𝐼𝑆𝐵𝐸𝑁</m:t>
                            </m:r>
                            <m:r>
                              <a:rPr lang="es-ES" sz="1900" i="1">
                                <a:latin typeface="Cambria Math"/>
                              </a:rPr>
                              <m:t>−10)</m:t>
                            </m:r>
                          </m:e>
                          <m:sub>
                            <m:r>
                              <a:rPr lang="en-US" sz="1900" i="1">
                                <a:latin typeface="Cambria Math"/>
                              </a:rPr>
                              <m:t>𝑖</m:t>
                            </m:r>
                          </m:sub>
                        </m:sSub>
                        <m:r>
                          <a:rPr lang="es-ES" sz="1900" i="1">
                            <a:latin typeface="Cambria Math"/>
                          </a:rPr>
                          <m:t>∗</m:t>
                        </m:r>
                        <m:sSub>
                          <m:sSubPr>
                            <m:ctrlPr>
                              <a:rPr lang="es-CO" sz="1900" i="1">
                                <a:latin typeface="Cambria Math"/>
                              </a:rPr>
                            </m:ctrlPr>
                          </m:sSubPr>
                          <m:e>
                            <m:r>
                              <a:rPr lang="en-US" sz="1900" i="1">
                                <a:latin typeface="Cambria Math"/>
                              </a:rPr>
                              <m:t>𝑊</m:t>
                            </m:r>
                          </m:e>
                          <m:sub>
                            <m:r>
                              <a:rPr lang="en-US" sz="1900" i="1">
                                <a:latin typeface="Cambria Math"/>
                              </a:rPr>
                              <m:t>𝑖</m:t>
                            </m:r>
                          </m:sub>
                        </m:sSub>
                      </m:e>
                    </m:d>
                    <m:r>
                      <a:rPr lang="es-ES" sz="1900" i="1">
                        <a:latin typeface="Cambria Math"/>
                      </a:rPr>
                      <m:t>+</m:t>
                    </m:r>
                    <m:sSub>
                      <m:sSubPr>
                        <m:ctrlPr>
                          <a:rPr lang="es-CO" sz="1900" i="1">
                            <a:latin typeface="Cambria Math"/>
                          </a:rPr>
                        </m:ctrlPr>
                      </m:sSubPr>
                      <m:e>
                        <m:r>
                          <a:rPr lang="en-US" sz="1900" i="1">
                            <a:latin typeface="Cambria Math"/>
                          </a:rPr>
                          <m:t>𝜀</m:t>
                        </m:r>
                      </m:e>
                      <m:sub>
                        <m:r>
                          <a:rPr lang="en-US" sz="1900" i="1">
                            <a:latin typeface="Cambria Math"/>
                          </a:rPr>
                          <m:t>𝑖</m:t>
                        </m:r>
                      </m:sub>
                    </m:sSub>
                  </m:oMath>
                </a14:m>
                <a:r>
                  <a:rPr lang="es-ES" sz="1900" dirty="0"/>
                  <a:t> </a:t>
                </a:r>
                <a:endParaRPr lang="es-CO" sz="1900" dirty="0"/>
              </a:p>
            </p:txBody>
          </p:sp>
        </mc:Choice>
        <mc:Fallback>
          <p:sp>
            <p:nvSpPr>
              <p:cNvPr id="2" name="1 Rectángulo"/>
              <p:cNvSpPr>
                <a:spLocks noRot="1" noChangeAspect="1" noMove="1" noResize="1" noEditPoints="1" noAdjustHandles="1" noChangeArrowheads="1" noChangeShapeType="1" noTextEdit="1"/>
              </p:cNvSpPr>
              <p:nvPr/>
            </p:nvSpPr>
            <p:spPr>
              <a:xfrm>
                <a:off x="394138" y="3756003"/>
                <a:ext cx="8296601" cy="438069"/>
              </a:xfrm>
              <a:prstGeom prst="rect">
                <a:avLst/>
              </a:prstGeom>
              <a:blipFill rotWithShape="1">
                <a:blip r:embed="rId5" cstate="print"/>
                <a:stretch>
                  <a:fillRect b="-5556"/>
                </a:stretch>
              </a:blipFill>
            </p:spPr>
            <p:txBody>
              <a:bodyPr/>
              <a:lstStyle/>
              <a:p>
                <a:r>
                  <a:rPr lang="es-CO">
                    <a:noFill/>
                  </a:rPr>
                  <a:t> </a:t>
                </a:r>
              </a:p>
            </p:txBody>
          </p:sp>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167939"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0" name="Rectangle 4"/>
          <p:cNvSpPr>
            <a:spLocks noChangeArrowheads="1"/>
          </p:cNvSpPr>
          <p:nvPr/>
        </p:nvSpPr>
        <p:spPr bwMode="auto">
          <a:xfrm>
            <a:off x="914400" y="6667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67941" name="Rectangle 5"/>
          <p:cNvSpPr>
            <a:spLocks noChangeArrowheads="1"/>
          </p:cNvSpPr>
          <p:nvPr/>
        </p:nvSpPr>
        <p:spPr bwMode="auto">
          <a:xfrm>
            <a:off x="914400" y="10763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0" name="Rectangle 4"/>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8421" name="Rectangle 5"/>
          <p:cNvSpPr>
            <a:spLocks noChangeArrowheads="1"/>
          </p:cNvSpPr>
          <p:nvPr/>
        </p:nvSpPr>
        <p:spPr bwMode="auto">
          <a:xfrm>
            <a:off x="914400" y="685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2" name="Rectangle 6"/>
          <p:cNvSpPr>
            <a:spLocks noChangeArrowheads="1"/>
          </p:cNvSpPr>
          <p:nvPr/>
        </p:nvSpPr>
        <p:spPr bwMode="auto">
          <a:xfrm>
            <a:off x="914400" y="962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188423" name="Rectangle 7"/>
          <p:cNvSpPr>
            <a:spLocks noChangeArrowheads="1"/>
          </p:cNvSpPr>
          <p:nvPr/>
        </p:nvSpPr>
        <p:spPr bwMode="auto">
          <a:xfrm>
            <a:off x="914400" y="12096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1200" b="0" i="0" u="none" strike="noStrike" cap="none" normalizeH="0" baseline="0" smtClean="0">
                <a:ln>
                  <a:noFill/>
                </a:ln>
                <a:solidFill>
                  <a:schemeClr val="tx1"/>
                </a:solidFill>
                <a:effectLst/>
                <a:latin typeface="Times New Roman" pitchFamily="18" charset="0"/>
                <a:ea typeface="Calibri" pitchFamily="34" charset="0"/>
                <a:cs typeface="Times New Roman" pitchFamily="18" charset="0"/>
              </a:rPr>
              <a:t>                                                        </a:t>
            </a:r>
            <a:endParaRPr kumimoji="0" lang="es-MX" sz="1800" b="0" i="0" u="none" strike="noStrike" cap="none" normalizeH="0" baseline="0" smtClean="0">
              <a:ln>
                <a:noFill/>
              </a:ln>
              <a:solidFill>
                <a:schemeClr val="tx1"/>
              </a:solidFill>
              <a:effectLst/>
              <a:latin typeface="Arial" pitchFamily="34" charset="0"/>
            </a:endParaRPr>
          </a:p>
        </p:txBody>
      </p:sp>
      <p:sp>
        <p:nvSpPr>
          <p:cNvPr id="1904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046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9047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0" name="4 Título"/>
          <p:cNvSpPr>
            <a:spLocks noGrp="1"/>
          </p:cNvSpPr>
          <p:nvPr>
            <p:ph type="title"/>
          </p:nvPr>
        </p:nvSpPr>
        <p:spPr>
          <a:xfrm>
            <a:off x="2500298" y="285728"/>
            <a:ext cx="6186502" cy="1131910"/>
          </a:xfrm>
        </p:spPr>
        <p:txBody>
          <a:bodyPr>
            <a:normAutofit fontScale="90000"/>
          </a:bodyPr>
          <a:lstStyle/>
          <a:p>
            <a:r>
              <a:rPr lang="es-MX" sz="3600" kern="0" dirty="0" smtClean="0">
                <a:solidFill>
                  <a:sysClr val="windowText" lastClr="000000"/>
                </a:solidFill>
              </a:rPr>
              <a:t>Implementación del diseño de </a:t>
            </a:r>
            <a:r>
              <a:rPr lang="es-MX" sz="3600" dirty="0" smtClean="0">
                <a:solidFill>
                  <a:prstClr val="black"/>
                </a:solidFill>
              </a:rPr>
              <a:t>RD</a:t>
            </a:r>
            <a:endParaRPr lang="en-US" dirty="0"/>
          </a:p>
        </p:txBody>
      </p:sp>
      <p:sp>
        <p:nvSpPr>
          <p:cNvPr id="2334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233475" name="Rectangle 3"/>
          <p:cNvSpPr>
            <a:spLocks noChangeArrowheads="1"/>
          </p:cNvSpPr>
          <p:nvPr/>
        </p:nvSpPr>
        <p:spPr bwMode="auto">
          <a:xfrm>
            <a:off x="0" y="7143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mc:AlternateContent xmlns:mc="http://schemas.openxmlformats.org/markup-compatibility/2006">
        <mc:Choice xmlns:a14="http://schemas.microsoft.com/office/drawing/2010/main" xmlns="" Requires="a14">
          <p:sp>
            <p:nvSpPr>
              <p:cNvPr id="22" name="9 Marcador de contenido"/>
              <p:cNvSpPr>
                <a:spLocks noGrp="1"/>
              </p:cNvSpPr>
              <p:nvPr>
                <p:ph idx="1"/>
              </p:nvPr>
            </p:nvSpPr>
            <p:spPr>
              <a:xfrm>
                <a:off x="378373" y="1387366"/>
                <a:ext cx="8387255" cy="5218385"/>
              </a:xfrm>
            </p:spPr>
            <p:txBody>
              <a:bodyPr>
                <a:normAutofit fontScale="77500" lnSpcReduction="20000"/>
              </a:bodyPr>
              <a:lstStyle/>
              <a:p>
                <a:pPr marL="0" indent="0">
                  <a:buNone/>
                </a:pPr>
                <a:r>
                  <a:rPr lang="es-MX" sz="2900" dirty="0" smtClean="0"/>
                  <a:t>En esencia, el estimador de RDB corresponde al mismo estimador de </a:t>
                </a:r>
                <a:r>
                  <a:rPr lang="es-MX" sz="2900" dirty="0" err="1" smtClean="0"/>
                  <a:t>Wald</a:t>
                </a:r>
                <a:r>
                  <a:rPr lang="es-MX" sz="2900" dirty="0" smtClean="0"/>
                  <a:t> que se puede obtener por mínimos cuadrados en dos etapas:</a:t>
                </a:r>
              </a:p>
              <a:p>
                <a:pPr marL="0" indent="0">
                  <a:buNone/>
                </a:pPr>
                <a:endParaRPr lang="es-MX" sz="2900" dirty="0" smtClean="0"/>
              </a:p>
              <a:p>
                <a:pPr marL="0" indent="0">
                  <a:buNone/>
                </a:pPr>
                <a:endParaRPr lang="es-MX" sz="2900" dirty="0" smtClean="0">
                  <a:solidFill>
                    <a:schemeClr val="accent5">
                      <a:lumMod val="75000"/>
                    </a:schemeClr>
                  </a:solidFill>
                </a:endParaRPr>
              </a:p>
              <a:p>
                <a:pPr marL="0" indent="0">
                  <a:buNone/>
                </a:pPr>
                <a:endParaRPr lang="es-MX" sz="2900" dirty="0" smtClean="0">
                  <a:solidFill>
                    <a:schemeClr val="accent5">
                      <a:lumMod val="75000"/>
                    </a:schemeClr>
                  </a:solidFill>
                </a:endParaRPr>
              </a:p>
              <a:p>
                <a:pPr marL="0" indent="0">
                  <a:buNone/>
                </a:pPr>
                <a:endParaRPr lang="es-MX" sz="2900" dirty="0" smtClean="0">
                  <a:solidFill>
                    <a:schemeClr val="accent5">
                      <a:lumMod val="75000"/>
                    </a:schemeClr>
                  </a:solidFill>
                </a:endParaRPr>
              </a:p>
              <a:p>
                <a:pPr marL="0" indent="0">
                  <a:buNone/>
                </a:pPr>
                <a:endParaRPr lang="es-MX" sz="2900" dirty="0" smtClean="0"/>
              </a:p>
              <a:p>
                <a:pPr marL="0" indent="0">
                  <a:buNone/>
                </a:pPr>
                <a:endParaRPr lang="es-MX" sz="2900" dirty="0"/>
              </a:p>
              <a:p>
                <a:pPr marL="0" indent="0">
                  <a:buNone/>
                </a:pPr>
                <a:r>
                  <a:rPr lang="es-MX" sz="2900" dirty="0" smtClean="0"/>
                  <a:t>Así, se estimaría  por mínimos cuadrados en dos etapas en la </a:t>
                </a:r>
                <a:r>
                  <a:rPr lang="es-MX" sz="2900" dirty="0" err="1" smtClean="0"/>
                  <a:t>submuestra</a:t>
                </a:r>
                <a:r>
                  <a:rPr lang="es-MX" sz="2900" dirty="0" smtClean="0"/>
                  <a:t> de observaciones tal que</a:t>
                </a:r>
                <a14:m>
                  <m:oMath xmlns:m="http://schemas.openxmlformats.org/officeDocument/2006/math">
                    <m:r>
                      <a:rPr lang="es-CO" sz="2900" b="0" i="0" smtClean="0">
                        <a:latin typeface="Cambria Math"/>
                      </a:rPr>
                      <m:t> </m:t>
                    </m:r>
                    <m:acc>
                      <m:accPr>
                        <m:chr m:val="̅"/>
                        <m:ctrlPr>
                          <a:rPr lang="es-CO" sz="2900" b="0" i="1" smtClean="0">
                            <a:latin typeface="Cambria Math"/>
                          </a:rPr>
                        </m:ctrlPr>
                      </m:accPr>
                      <m:e>
                        <m:r>
                          <a:rPr lang="es-CO" sz="2900" b="0" i="1" smtClean="0">
                            <a:latin typeface="Cambria Math"/>
                          </a:rPr>
                          <m:t>𝑍</m:t>
                        </m:r>
                      </m:e>
                    </m:acc>
                    <m:r>
                      <a:rPr lang="es-CO" sz="2900" b="0" i="1" smtClean="0">
                        <a:latin typeface="Cambria Math"/>
                      </a:rPr>
                      <m:t>−</m:t>
                    </m:r>
                    <m:r>
                      <a:rPr lang="es-CO" sz="2900" b="0" i="1" smtClean="0">
                        <a:latin typeface="Cambria Math"/>
                      </a:rPr>
                      <m:t>h</m:t>
                    </m:r>
                    <m:r>
                      <a:rPr lang="es-CO" sz="2900" b="0" i="1" smtClean="0">
                        <a:latin typeface="Cambria Math"/>
                      </a:rPr>
                      <m:t>≤</m:t>
                    </m:r>
                    <m:sSub>
                      <m:sSubPr>
                        <m:ctrlPr>
                          <a:rPr lang="es-CO" sz="2900" b="0" i="1" smtClean="0">
                            <a:latin typeface="Cambria Math"/>
                          </a:rPr>
                        </m:ctrlPr>
                      </m:sSubPr>
                      <m:e>
                        <m:r>
                          <a:rPr lang="es-CO" sz="2900" b="0" i="1" smtClean="0">
                            <a:latin typeface="Cambria Math"/>
                          </a:rPr>
                          <m:t>𝑍</m:t>
                        </m:r>
                      </m:e>
                      <m:sub>
                        <m:r>
                          <a:rPr lang="es-CO" sz="2900" b="0" i="1" smtClean="0">
                            <a:latin typeface="Cambria Math"/>
                          </a:rPr>
                          <m:t>𝑖</m:t>
                        </m:r>
                      </m:sub>
                    </m:sSub>
                    <m:r>
                      <a:rPr lang="es-CO" sz="2900" b="0" i="1" smtClean="0">
                        <a:latin typeface="Cambria Math"/>
                      </a:rPr>
                      <m:t>≤</m:t>
                    </m:r>
                    <m:acc>
                      <m:accPr>
                        <m:chr m:val="̅"/>
                        <m:ctrlPr>
                          <a:rPr lang="es-CO" sz="2900" b="0" i="1" smtClean="0">
                            <a:latin typeface="Cambria Math"/>
                          </a:rPr>
                        </m:ctrlPr>
                      </m:accPr>
                      <m:e>
                        <m:r>
                          <a:rPr lang="es-CO" sz="2900" b="0" i="1" smtClean="0">
                            <a:latin typeface="Cambria Math"/>
                          </a:rPr>
                          <m:t>𝑍</m:t>
                        </m:r>
                      </m:e>
                    </m:acc>
                    <m:r>
                      <a:rPr lang="es-CO" sz="2900" b="0" i="1" smtClean="0">
                        <a:latin typeface="Cambria Math"/>
                      </a:rPr>
                      <m:t>+</m:t>
                    </m:r>
                    <m:r>
                      <a:rPr lang="es-CO" sz="2900" b="0" i="1" smtClean="0">
                        <a:latin typeface="Cambria Math"/>
                      </a:rPr>
                      <m:t>h</m:t>
                    </m:r>
                  </m:oMath>
                </a14:m>
                <a:r>
                  <a:rPr lang="es-MX" sz="2900" dirty="0" smtClean="0"/>
                  <a:t>.</a:t>
                </a:r>
              </a:p>
              <a:p>
                <a:pPr marL="0" indent="0">
                  <a:buNone/>
                </a:pPr>
                <a:r>
                  <a:rPr lang="es-MX" sz="2900" dirty="0" smtClean="0"/>
                  <a:t>En particular: utilizaría </a:t>
                </a:r>
                <a:r>
                  <a:rPr lang="es-MX" sz="2900" i="1" dirty="0" smtClean="0">
                    <a:latin typeface="Times New Roman" pitchFamily="18" charset="0"/>
                    <a:cs typeface="Times New Roman" pitchFamily="18" charset="0"/>
                  </a:rPr>
                  <a:t>W</a:t>
                </a:r>
                <a:r>
                  <a:rPr lang="es-MX" sz="2900" dirty="0" smtClean="0"/>
                  <a:t> como el instrumento (o restricción de exclusión) y </a:t>
                </a:r>
                <a:r>
                  <a:rPr lang="es-MX" sz="2900" i="1" dirty="0" smtClean="0">
                    <a:latin typeface="Times New Roman" pitchFamily="18" charset="0"/>
                    <a:cs typeface="Times New Roman" pitchFamily="18" charset="0"/>
                  </a:rPr>
                  <a:t>D</a:t>
                </a:r>
                <a:r>
                  <a:rPr lang="es-MX" sz="2900" dirty="0" smtClean="0"/>
                  <a:t> como la variable explicativa endógena. Es decir, se estima la primera etapa de </a:t>
                </a:r>
                <a:r>
                  <a:rPr lang="es-MX" sz="2900" i="1" dirty="0" smtClean="0">
                    <a:latin typeface="Times New Roman" pitchFamily="18" charset="0"/>
                    <a:cs typeface="Times New Roman" pitchFamily="18" charset="0"/>
                  </a:rPr>
                  <a:t>D</a:t>
                </a:r>
                <a:r>
                  <a:rPr lang="es-MX" sz="2900" dirty="0" smtClean="0"/>
                  <a:t> sobre </a:t>
                </a:r>
                <a:r>
                  <a:rPr lang="es-MX" sz="2900" i="1" dirty="0" smtClean="0">
                    <a:latin typeface="Times New Roman" pitchFamily="18" charset="0"/>
                    <a:cs typeface="Times New Roman" pitchFamily="18" charset="0"/>
                  </a:rPr>
                  <a:t>W</a:t>
                </a:r>
                <a:r>
                  <a:rPr lang="es-MX" sz="2900" dirty="0" smtClean="0"/>
                  <a:t>, se construye la predicción de </a:t>
                </a:r>
                <a:r>
                  <a:rPr lang="es-MX" sz="2900" i="1" dirty="0" smtClean="0">
                    <a:latin typeface="Times New Roman" pitchFamily="18" charset="0"/>
                    <a:cs typeface="Times New Roman" pitchFamily="18" charset="0"/>
                  </a:rPr>
                  <a:t>D</a:t>
                </a:r>
                <a:r>
                  <a:rPr lang="es-MX" sz="2900" dirty="0" smtClean="0"/>
                  <a:t> con base en los estimadores de la primera etapa y, finalmente, se estima una regresión de </a:t>
                </a:r>
                <a:r>
                  <a:rPr lang="es-MX" sz="2900" i="1" dirty="0" smtClean="0"/>
                  <a:t>Y</a:t>
                </a:r>
                <a:r>
                  <a:rPr lang="es-MX" sz="2900" dirty="0" smtClean="0"/>
                  <a:t> sobre </a:t>
                </a:r>
                <a14:m>
                  <m:oMath xmlns:m="http://schemas.openxmlformats.org/officeDocument/2006/math">
                    <m:acc>
                      <m:accPr>
                        <m:chr m:val="̂"/>
                        <m:ctrlPr>
                          <a:rPr lang="es-CO" sz="2900" b="0" i="1" smtClean="0">
                            <a:latin typeface="Cambria Math"/>
                          </a:rPr>
                        </m:ctrlPr>
                      </m:accPr>
                      <m:e>
                        <m:r>
                          <a:rPr lang="es-CO" sz="2900" b="0" i="1" smtClean="0">
                            <a:latin typeface="Cambria Math"/>
                          </a:rPr>
                          <m:t>𝐷</m:t>
                        </m:r>
                      </m:e>
                    </m:acc>
                  </m:oMath>
                </a14:m>
                <a:r>
                  <a:rPr lang="es-MX" sz="2900" dirty="0" smtClean="0"/>
                  <a:t>. De este procedimiento se obtienen el estimador del efecto y su varianza. </a:t>
                </a:r>
                <a:endParaRPr lang="es-MX" sz="2900" dirty="0" smtClean="0">
                  <a:solidFill>
                    <a:schemeClr val="accent5">
                      <a:lumMod val="75000"/>
                    </a:schemeClr>
                  </a:solidFill>
                </a:endParaRPr>
              </a:p>
              <a:p>
                <a:pPr>
                  <a:buNone/>
                </a:pPr>
                <a:endParaRPr lang="en-US" sz="2800" dirty="0"/>
              </a:p>
            </p:txBody>
          </p:sp>
        </mc:Choice>
        <mc:Fallback>
          <p:sp>
            <p:nvSpPr>
              <p:cNvPr id="22" name="9 Marcador de contenido"/>
              <p:cNvSpPr>
                <a:spLocks noGrp="1" noRot="1" noChangeAspect="1" noMove="1" noResize="1" noEditPoints="1" noAdjustHandles="1" noChangeArrowheads="1" noChangeShapeType="1" noTextEdit="1"/>
              </p:cNvSpPr>
              <p:nvPr>
                <p:ph idx="1"/>
              </p:nvPr>
            </p:nvSpPr>
            <p:spPr>
              <a:xfrm>
                <a:off x="378373" y="1387366"/>
                <a:ext cx="8387255" cy="5218385"/>
              </a:xfrm>
              <a:blipFill rotWithShape="1">
                <a:blip r:embed="rId4" cstate="print"/>
                <a:stretch>
                  <a:fillRect l="-872" t="-1869" r="-945"/>
                </a:stretch>
              </a:blipFill>
            </p:spPr>
            <p:txBody>
              <a:bodyPr/>
              <a:lstStyle/>
              <a:p>
                <a:r>
                  <a:rPr lang="es-CO">
                    <a:noFill/>
                  </a:rPr>
                  <a:t> </a:t>
                </a:r>
              </a:p>
            </p:txBody>
          </p:sp>
        </mc:Fallback>
      </mc:AlternateContent>
      <p:sp>
        <p:nvSpPr>
          <p:cNvPr id="31641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316419" name="Rectangle 3"/>
          <p:cNvSpPr>
            <a:spLocks noChangeArrowheads="1"/>
          </p:cNvSpPr>
          <p:nvPr/>
        </p:nvSpPr>
        <p:spPr bwMode="auto">
          <a:xfrm>
            <a:off x="0" y="1162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3164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316423"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O"/>
          </a:p>
        </p:txBody>
      </p:sp>
      <p:sp>
        <p:nvSpPr>
          <p:cNvPr id="316424" name="Rectangle 8"/>
          <p:cNvSpPr>
            <a:spLocks noChangeArrowheads="1"/>
          </p:cNvSpPr>
          <p:nvPr/>
        </p:nvSpPr>
        <p:spPr bwMode="auto">
          <a:xfrm>
            <a:off x="0" y="7239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CO" sz="1800" b="0" i="0" u="none" strike="noStrike" cap="none" normalizeH="0" baseline="0" smtClean="0">
              <a:ln>
                <a:noFill/>
              </a:ln>
              <a:solidFill>
                <a:schemeClr val="tx1"/>
              </a:solidFill>
              <a:effectLst/>
              <a:latin typeface="Arial" pitchFamily="34" charset="0"/>
              <a:cs typeface="Arial" pitchFamily="34" charset="0"/>
            </a:endParaRPr>
          </a:p>
        </p:txBody>
      </p:sp>
      <p:sp>
        <p:nvSpPr>
          <p:cNvPr id="26" name="2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74</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7" name="26 Rectángulo"/>
              <p:cNvSpPr/>
              <p:nvPr/>
            </p:nvSpPr>
            <p:spPr>
              <a:xfrm>
                <a:off x="756748" y="2420126"/>
                <a:ext cx="7630503" cy="104028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O" sz="2200" i="1" smtClean="0">
                              <a:latin typeface="Cambria Math"/>
                            </a:rPr>
                          </m:ctrlPr>
                        </m:sSubPr>
                        <m:e>
                          <m:r>
                            <a:rPr lang="es-ES" sz="2200" i="1">
                              <a:latin typeface="Cambria Math"/>
                            </a:rPr>
                            <m:t>𝜏</m:t>
                          </m:r>
                        </m:e>
                        <m:sub>
                          <m:r>
                            <a:rPr lang="es-ES" sz="2200" i="1">
                              <a:latin typeface="Cambria Math"/>
                            </a:rPr>
                            <m:t>𝑅𝐷𝐵</m:t>
                          </m:r>
                        </m:sub>
                      </m:sSub>
                      <m:d>
                        <m:dPr>
                          <m:ctrlPr>
                            <a:rPr lang="es-CO" sz="2200" i="1">
                              <a:latin typeface="Cambria Math"/>
                            </a:rPr>
                          </m:ctrlPr>
                        </m:dPr>
                        <m:e>
                          <m:acc>
                            <m:accPr>
                              <m:chr m:val="̅"/>
                              <m:ctrlPr>
                                <a:rPr lang="es-CO" sz="2200" i="1">
                                  <a:latin typeface="Cambria Math"/>
                                </a:rPr>
                              </m:ctrlPr>
                            </m:accPr>
                            <m:e>
                              <m:r>
                                <a:rPr lang="es-ES" sz="2200" i="1">
                                  <a:latin typeface="Cambria Math"/>
                                </a:rPr>
                                <m:t>𝑍</m:t>
                              </m:r>
                            </m:e>
                          </m:acc>
                        </m:e>
                      </m:d>
                      <m:r>
                        <a:rPr lang="es-ES" sz="2200" i="1">
                          <a:latin typeface="Cambria Math"/>
                        </a:rPr>
                        <m:t>=</m:t>
                      </m:r>
                      <m:f>
                        <m:fPr>
                          <m:ctrlPr>
                            <a:rPr lang="es-CO" sz="2200" i="1">
                              <a:latin typeface="Cambria Math"/>
                            </a:rPr>
                          </m:ctrlPr>
                        </m:fPr>
                        <m:num>
                          <m:func>
                            <m:funcPr>
                              <m:ctrlPr>
                                <a:rPr lang="es-CO" sz="2200" i="1">
                                  <a:latin typeface="Cambria Math"/>
                                </a:rPr>
                              </m:ctrlPr>
                            </m:funcPr>
                            <m:fName>
                              <m:limLow>
                                <m:limLowPr>
                                  <m:ctrlPr>
                                    <a:rPr lang="es-CO" sz="2200" i="1">
                                      <a:latin typeface="Cambria Math"/>
                                    </a:rPr>
                                  </m:ctrlPr>
                                </m:limLowPr>
                                <m:e>
                                  <m:r>
                                    <m:rPr>
                                      <m:sty m:val="p"/>
                                    </m:rPr>
                                    <a:rPr lang="es-ES" sz="2200">
                                      <a:latin typeface="Cambria Math"/>
                                    </a:rPr>
                                    <m:t>lim</m:t>
                                  </m:r>
                                </m:e>
                                <m:lim>
                                  <m:r>
                                    <a:rPr lang="es-ES" sz="2200" i="1">
                                      <a:latin typeface="Cambria Math"/>
                                    </a:rPr>
                                    <m:t>𝑧</m:t>
                                  </m:r>
                                  <m:r>
                                    <a:rPr lang="es-ES" sz="2200" i="1">
                                      <a:latin typeface="Cambria Math"/>
                                    </a:rPr>
                                    <m:t>↑</m:t>
                                  </m:r>
                                  <m:acc>
                                    <m:accPr>
                                      <m:chr m:val="̅"/>
                                      <m:ctrlPr>
                                        <a:rPr lang="es-CO" sz="2200" i="1">
                                          <a:latin typeface="Cambria Math"/>
                                        </a:rPr>
                                      </m:ctrlPr>
                                    </m:accPr>
                                    <m:e>
                                      <m:r>
                                        <a:rPr lang="es-ES" sz="2200" i="1">
                                          <a:latin typeface="Cambria Math"/>
                                        </a:rPr>
                                        <m:t>𝑍</m:t>
                                      </m:r>
                                    </m:e>
                                  </m:acc>
                                </m:lim>
                              </m:limLow>
                            </m:fName>
                            <m:e>
                              <m:r>
                                <a:rPr lang="es-ES" sz="2200" i="1">
                                  <a:latin typeface="Cambria Math"/>
                                </a:rPr>
                                <m:t>𝐸</m:t>
                              </m:r>
                              <m:d>
                                <m:dPr>
                                  <m:begChr m:val="["/>
                                  <m:endChr m:val="]"/>
                                  <m:ctrlPr>
                                    <a:rPr lang="es-CO" sz="2200" i="1">
                                      <a:latin typeface="Cambria Math"/>
                                    </a:rPr>
                                  </m:ctrlPr>
                                </m:dPr>
                                <m:e>
                                  <m:sSub>
                                    <m:sSubPr>
                                      <m:ctrlPr>
                                        <a:rPr lang="es-CO" sz="2200" i="1">
                                          <a:latin typeface="Cambria Math"/>
                                        </a:rPr>
                                      </m:ctrlPr>
                                    </m:sSubPr>
                                    <m:e>
                                      <m:r>
                                        <a:rPr lang="es-ES" sz="2200" i="1">
                                          <a:latin typeface="Cambria Math"/>
                                        </a:rPr>
                                        <m:t>𝑌</m:t>
                                      </m:r>
                                    </m:e>
                                    <m:sub>
                                      <m:r>
                                        <a:rPr lang="es-ES" sz="2200" i="1">
                                          <a:latin typeface="Cambria Math"/>
                                        </a:rPr>
                                        <m:t>𝑖</m:t>
                                      </m:r>
                                    </m:sub>
                                  </m:sSub>
                                  <m:r>
                                    <a:rPr lang="es-ES" sz="2200" i="1">
                                      <a:latin typeface="Cambria Math"/>
                                    </a:rPr>
                                    <m:t>|</m:t>
                                  </m:r>
                                  <m:sSub>
                                    <m:sSubPr>
                                      <m:ctrlPr>
                                        <a:rPr lang="es-CO" sz="2200" i="1">
                                          <a:latin typeface="Cambria Math"/>
                                        </a:rPr>
                                      </m:ctrlPr>
                                    </m:sSubPr>
                                    <m:e>
                                      <m:r>
                                        <a:rPr lang="es-ES" sz="2200" i="1">
                                          <a:latin typeface="Cambria Math"/>
                                        </a:rPr>
                                        <m:t>𝑍</m:t>
                                      </m:r>
                                    </m:e>
                                    <m:sub>
                                      <m:r>
                                        <a:rPr lang="es-ES" sz="2200" i="1">
                                          <a:latin typeface="Cambria Math"/>
                                        </a:rPr>
                                        <m:t>𝑖</m:t>
                                      </m:r>
                                    </m:sub>
                                  </m:sSub>
                                  <m:r>
                                    <a:rPr lang="es-ES" sz="2200" i="1">
                                      <a:latin typeface="Cambria Math"/>
                                    </a:rPr>
                                    <m:t>=</m:t>
                                  </m:r>
                                  <m:r>
                                    <a:rPr lang="es-ES" sz="2200" i="1">
                                      <a:latin typeface="Cambria Math"/>
                                    </a:rPr>
                                    <m:t>𝑧</m:t>
                                  </m:r>
                                </m:e>
                              </m:d>
                              <m:r>
                                <a:rPr lang="es-ES" sz="2200" i="1">
                                  <a:latin typeface="Cambria Math"/>
                                </a:rPr>
                                <m:t>−</m:t>
                              </m:r>
                            </m:e>
                          </m:func>
                          <m:func>
                            <m:funcPr>
                              <m:ctrlPr>
                                <a:rPr lang="es-CO" sz="2200" i="1">
                                  <a:latin typeface="Cambria Math"/>
                                </a:rPr>
                              </m:ctrlPr>
                            </m:funcPr>
                            <m:fName>
                              <m:limLow>
                                <m:limLowPr>
                                  <m:ctrlPr>
                                    <a:rPr lang="es-CO" sz="2200" i="1">
                                      <a:latin typeface="Cambria Math"/>
                                    </a:rPr>
                                  </m:ctrlPr>
                                </m:limLowPr>
                                <m:e>
                                  <m:r>
                                    <m:rPr>
                                      <m:sty m:val="p"/>
                                    </m:rPr>
                                    <a:rPr lang="es-ES" sz="2200">
                                      <a:latin typeface="Cambria Math"/>
                                    </a:rPr>
                                    <m:t>lim</m:t>
                                  </m:r>
                                </m:e>
                                <m:lim>
                                  <m:r>
                                    <a:rPr lang="es-ES" sz="2200" i="1">
                                      <a:latin typeface="Cambria Math"/>
                                    </a:rPr>
                                    <m:t>𝑧</m:t>
                                  </m:r>
                                  <m:r>
                                    <a:rPr lang="es-ES" sz="2200" i="1">
                                      <a:latin typeface="Cambria Math"/>
                                    </a:rPr>
                                    <m:t>↓</m:t>
                                  </m:r>
                                  <m:acc>
                                    <m:accPr>
                                      <m:chr m:val="̅"/>
                                      <m:ctrlPr>
                                        <a:rPr lang="es-CO" sz="2200" i="1">
                                          <a:latin typeface="Cambria Math"/>
                                        </a:rPr>
                                      </m:ctrlPr>
                                    </m:accPr>
                                    <m:e>
                                      <m:r>
                                        <a:rPr lang="es-ES" sz="2200" i="1">
                                          <a:latin typeface="Cambria Math"/>
                                        </a:rPr>
                                        <m:t>𝑍</m:t>
                                      </m:r>
                                    </m:e>
                                  </m:acc>
                                </m:lim>
                              </m:limLow>
                            </m:fName>
                            <m:e>
                              <m:r>
                                <a:rPr lang="es-ES" sz="2200" i="1">
                                  <a:latin typeface="Cambria Math"/>
                                </a:rPr>
                                <m:t>𝐸</m:t>
                              </m:r>
                              <m:d>
                                <m:dPr>
                                  <m:begChr m:val="["/>
                                  <m:endChr m:val="]"/>
                                  <m:ctrlPr>
                                    <a:rPr lang="es-CO" sz="2200" i="1">
                                      <a:latin typeface="Cambria Math"/>
                                    </a:rPr>
                                  </m:ctrlPr>
                                </m:dPr>
                                <m:e>
                                  <m:sSub>
                                    <m:sSubPr>
                                      <m:ctrlPr>
                                        <a:rPr lang="es-CO" sz="2200" i="1">
                                          <a:latin typeface="Cambria Math"/>
                                        </a:rPr>
                                      </m:ctrlPr>
                                    </m:sSubPr>
                                    <m:e>
                                      <m:r>
                                        <a:rPr lang="es-ES" sz="2200" i="1">
                                          <a:latin typeface="Cambria Math"/>
                                        </a:rPr>
                                        <m:t>𝑌</m:t>
                                      </m:r>
                                    </m:e>
                                    <m:sub>
                                      <m:r>
                                        <a:rPr lang="es-ES" sz="2200" i="1">
                                          <a:latin typeface="Cambria Math"/>
                                        </a:rPr>
                                        <m:t>𝑖</m:t>
                                      </m:r>
                                    </m:sub>
                                  </m:sSub>
                                  <m:r>
                                    <a:rPr lang="es-ES" sz="2200" i="1">
                                      <a:latin typeface="Cambria Math"/>
                                    </a:rPr>
                                    <m:t>|</m:t>
                                  </m:r>
                                  <m:sSub>
                                    <m:sSubPr>
                                      <m:ctrlPr>
                                        <a:rPr lang="es-CO" sz="2200" i="1">
                                          <a:latin typeface="Cambria Math"/>
                                        </a:rPr>
                                      </m:ctrlPr>
                                    </m:sSubPr>
                                    <m:e>
                                      <m:r>
                                        <a:rPr lang="es-ES" sz="2200" i="1">
                                          <a:latin typeface="Cambria Math"/>
                                        </a:rPr>
                                        <m:t>𝑍</m:t>
                                      </m:r>
                                    </m:e>
                                    <m:sub>
                                      <m:r>
                                        <a:rPr lang="es-ES" sz="2200" i="1">
                                          <a:latin typeface="Cambria Math"/>
                                        </a:rPr>
                                        <m:t>𝑖</m:t>
                                      </m:r>
                                    </m:sub>
                                  </m:sSub>
                                  <m:r>
                                    <a:rPr lang="es-ES" sz="2200" i="1">
                                      <a:latin typeface="Cambria Math"/>
                                    </a:rPr>
                                    <m:t>=</m:t>
                                  </m:r>
                                  <m:r>
                                    <a:rPr lang="es-ES" sz="2200" i="1">
                                      <a:latin typeface="Cambria Math"/>
                                    </a:rPr>
                                    <m:t>𝑧</m:t>
                                  </m:r>
                                </m:e>
                              </m:d>
                            </m:e>
                          </m:func>
                        </m:num>
                        <m:den>
                          <m:limLow>
                            <m:limLowPr>
                              <m:ctrlPr>
                                <a:rPr lang="es-CO" sz="2200" i="1">
                                  <a:latin typeface="Cambria Math"/>
                                </a:rPr>
                              </m:ctrlPr>
                            </m:limLowPr>
                            <m:e>
                              <m:r>
                                <m:rPr>
                                  <m:sty m:val="p"/>
                                </m:rPr>
                                <a:rPr lang="es-ES" sz="2200">
                                  <a:latin typeface="Cambria Math"/>
                                </a:rPr>
                                <m:t>lim</m:t>
                              </m:r>
                            </m:e>
                            <m:lim>
                              <m:r>
                                <a:rPr lang="es-ES" sz="2200" i="1">
                                  <a:latin typeface="Cambria Math"/>
                                </a:rPr>
                                <m:t>𝑧</m:t>
                              </m:r>
                              <m:r>
                                <a:rPr lang="es-ES" sz="2200" i="1">
                                  <a:latin typeface="Cambria Math"/>
                                </a:rPr>
                                <m:t>↑</m:t>
                              </m:r>
                              <m:acc>
                                <m:accPr>
                                  <m:chr m:val="̅"/>
                                  <m:ctrlPr>
                                    <a:rPr lang="es-CO" sz="2200" i="1">
                                      <a:latin typeface="Cambria Math"/>
                                    </a:rPr>
                                  </m:ctrlPr>
                                </m:accPr>
                                <m:e>
                                  <m:r>
                                    <a:rPr lang="es-ES" sz="2200" i="1">
                                      <a:latin typeface="Cambria Math"/>
                                    </a:rPr>
                                    <m:t>𝑍</m:t>
                                  </m:r>
                                </m:e>
                              </m:acc>
                            </m:lim>
                          </m:limLow>
                          <m:r>
                            <a:rPr lang="es-ES" sz="2200" i="1">
                              <a:latin typeface="Cambria Math"/>
                            </a:rPr>
                            <m:t>𝑃𝑟</m:t>
                          </m:r>
                          <m:d>
                            <m:dPr>
                              <m:ctrlPr>
                                <a:rPr lang="es-CO" sz="2200" i="1">
                                  <a:latin typeface="Cambria Math"/>
                                </a:rPr>
                              </m:ctrlPr>
                            </m:dPr>
                            <m:e>
                              <m:r>
                                <a:rPr lang="es-ES" sz="2200" i="1">
                                  <a:latin typeface="Cambria Math"/>
                                </a:rPr>
                                <m:t>𝐷</m:t>
                              </m:r>
                              <m:r>
                                <a:rPr lang="es-ES" sz="2200" i="1">
                                  <a:latin typeface="Cambria Math"/>
                                </a:rPr>
                                <m:t>=1|</m:t>
                              </m:r>
                              <m:r>
                                <a:rPr lang="es-ES" sz="2200" i="1">
                                  <a:latin typeface="Cambria Math"/>
                                </a:rPr>
                                <m:t>𝑍</m:t>
                              </m:r>
                              <m:r>
                                <a:rPr lang="es-ES" sz="2200" i="1">
                                  <a:latin typeface="Cambria Math"/>
                                </a:rPr>
                                <m:t>=</m:t>
                              </m:r>
                              <m:r>
                                <a:rPr lang="es-ES" sz="2200" i="1">
                                  <a:latin typeface="Cambria Math"/>
                                </a:rPr>
                                <m:t>𝑧</m:t>
                              </m:r>
                            </m:e>
                          </m:d>
                          <m:r>
                            <a:rPr lang="es-ES" sz="2200" i="1">
                              <a:latin typeface="Cambria Math"/>
                            </a:rPr>
                            <m:t>−</m:t>
                          </m:r>
                          <m:limLow>
                            <m:limLowPr>
                              <m:ctrlPr>
                                <a:rPr lang="es-CO" sz="2200" i="1">
                                  <a:latin typeface="Cambria Math"/>
                                </a:rPr>
                              </m:ctrlPr>
                            </m:limLowPr>
                            <m:e>
                              <m:r>
                                <m:rPr>
                                  <m:sty m:val="p"/>
                                </m:rPr>
                                <a:rPr lang="es-ES" sz="2200">
                                  <a:latin typeface="Cambria Math"/>
                                </a:rPr>
                                <m:t>lim</m:t>
                              </m:r>
                            </m:e>
                            <m:lim>
                              <m:r>
                                <a:rPr lang="es-ES" sz="2200" i="1">
                                  <a:latin typeface="Cambria Math"/>
                                </a:rPr>
                                <m:t>𝑧</m:t>
                              </m:r>
                              <m:r>
                                <a:rPr lang="es-ES" sz="2200" i="1">
                                  <a:latin typeface="Cambria Math"/>
                                </a:rPr>
                                <m:t>↓</m:t>
                              </m:r>
                              <m:acc>
                                <m:accPr>
                                  <m:chr m:val="̅"/>
                                  <m:ctrlPr>
                                    <a:rPr lang="es-CO" sz="2200" i="1">
                                      <a:latin typeface="Cambria Math"/>
                                    </a:rPr>
                                  </m:ctrlPr>
                                </m:accPr>
                                <m:e>
                                  <m:r>
                                    <a:rPr lang="es-ES" sz="2200" i="1">
                                      <a:latin typeface="Cambria Math"/>
                                    </a:rPr>
                                    <m:t>𝑍</m:t>
                                  </m:r>
                                </m:e>
                              </m:acc>
                            </m:lim>
                          </m:limLow>
                          <m:r>
                            <a:rPr lang="es-ES" sz="2200" i="1">
                              <a:latin typeface="Cambria Math"/>
                            </a:rPr>
                            <m:t>𝑃𝑟</m:t>
                          </m:r>
                          <m:d>
                            <m:dPr>
                              <m:ctrlPr>
                                <a:rPr lang="es-CO" sz="2200" i="1">
                                  <a:latin typeface="Cambria Math"/>
                                </a:rPr>
                              </m:ctrlPr>
                            </m:dPr>
                            <m:e>
                              <m:r>
                                <a:rPr lang="es-ES" sz="2200" i="1">
                                  <a:latin typeface="Cambria Math"/>
                                </a:rPr>
                                <m:t>𝐷</m:t>
                              </m:r>
                              <m:r>
                                <a:rPr lang="es-ES" sz="2200" i="1">
                                  <a:latin typeface="Cambria Math"/>
                                </a:rPr>
                                <m:t>=1|</m:t>
                              </m:r>
                              <m:r>
                                <a:rPr lang="es-ES" sz="2200" i="1">
                                  <a:latin typeface="Cambria Math"/>
                                </a:rPr>
                                <m:t>𝑍</m:t>
                              </m:r>
                              <m:r>
                                <a:rPr lang="es-ES" sz="2200" i="1">
                                  <a:latin typeface="Cambria Math"/>
                                </a:rPr>
                                <m:t>=</m:t>
                              </m:r>
                              <m:r>
                                <a:rPr lang="es-ES" sz="2200" i="1">
                                  <a:latin typeface="Cambria Math"/>
                                </a:rPr>
                                <m:t>𝑧</m:t>
                              </m:r>
                            </m:e>
                          </m:d>
                        </m:den>
                      </m:f>
                      <m:r>
                        <a:rPr lang="es-ES" sz="2200" i="1">
                          <a:latin typeface="Cambria Math"/>
                        </a:rPr>
                        <m:t> </m:t>
                      </m:r>
                    </m:oMath>
                  </m:oMathPara>
                </a14:m>
                <a:endParaRPr lang="es-CO" sz="2200" dirty="0"/>
              </a:p>
            </p:txBody>
          </p:sp>
        </mc:Choice>
        <mc:Fallback>
          <p:sp>
            <p:nvSpPr>
              <p:cNvPr id="27" name="26 Rectángulo"/>
              <p:cNvSpPr>
                <a:spLocks noRot="1" noChangeAspect="1" noMove="1" noResize="1" noEditPoints="1" noAdjustHandles="1" noChangeArrowheads="1" noChangeShapeType="1" noTextEdit="1"/>
              </p:cNvSpPr>
              <p:nvPr/>
            </p:nvSpPr>
            <p:spPr>
              <a:xfrm>
                <a:off x="756748" y="2420126"/>
                <a:ext cx="7630503" cy="1040285"/>
              </a:xfrm>
              <a:prstGeom prst="rect">
                <a:avLst/>
              </a:prstGeom>
              <a:blipFill rotWithShape="1">
                <a:blip r:embed="rId5" cstate="print"/>
                <a:stretch>
                  <a:fillRect/>
                </a:stretch>
              </a:blipFill>
            </p:spPr>
            <p:txBody>
              <a:bodyPr/>
              <a:lstStyle/>
              <a:p>
                <a:r>
                  <a:rPr lang="es-CO">
                    <a:noFill/>
                  </a:rPr>
                  <a:t> </a:t>
                </a:r>
              </a:p>
            </p:txBody>
          </p:sp>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Autofit/>
          </a:bodyPr>
          <a:lstStyle/>
          <a:p>
            <a:r>
              <a:rPr lang="es-MX" u="sng" dirty="0" smtClean="0"/>
              <a:t>Selección del </a:t>
            </a:r>
            <a:br>
              <a:rPr lang="es-MX" u="sng" dirty="0" smtClean="0"/>
            </a:br>
            <a:r>
              <a:rPr lang="es-MX" u="sng" dirty="0" smtClean="0"/>
              <a:t>ancho de banda</a:t>
            </a:r>
            <a:endParaRPr lang="en-US" u="sng" dirty="0"/>
          </a:p>
        </p:txBody>
      </p:sp>
      <p:sp>
        <p:nvSpPr>
          <p:cNvPr id="10" name="9 Marcador de contenido"/>
          <p:cNvSpPr>
            <a:spLocks noGrp="1"/>
          </p:cNvSpPr>
          <p:nvPr>
            <p:ph idx="1"/>
          </p:nvPr>
        </p:nvSpPr>
        <p:spPr>
          <a:xfrm>
            <a:off x="457200" y="2128345"/>
            <a:ext cx="8229600" cy="3997818"/>
          </a:xfrm>
        </p:spPr>
        <p:txBody>
          <a:bodyPr>
            <a:normAutofit/>
          </a:bodyPr>
          <a:lstStyle/>
          <a:p>
            <a:r>
              <a:rPr lang="es-MX" dirty="0" smtClean="0">
                <a:solidFill>
                  <a:schemeClr val="accent5">
                    <a:lumMod val="75000"/>
                  </a:schemeClr>
                </a:solidFill>
              </a:rPr>
              <a:t>Validación cruzada: </a:t>
            </a:r>
          </a:p>
          <a:p>
            <a:pPr marL="914400" lvl="1" indent="-514350">
              <a:buFont typeface="+mj-lt"/>
              <a:buAutoNum type="arabicPeriod"/>
            </a:pPr>
            <a:r>
              <a:rPr lang="es-MX" dirty="0" smtClean="0"/>
              <a:t>Estimar el impacto por RD para cada posible valor de ancho de banda.</a:t>
            </a:r>
          </a:p>
          <a:p>
            <a:pPr marL="914400" lvl="1" indent="-514350">
              <a:buFont typeface="+mj-lt"/>
              <a:buAutoNum type="arabicPeriod"/>
            </a:pPr>
            <a:r>
              <a:rPr lang="es-MX" dirty="0" smtClean="0"/>
              <a:t>Escoger el valor para el cual se minimice el error de predicción en la variable de resultado y en la probabilidad de participación en el tratamiento.</a:t>
            </a:r>
          </a:p>
          <a:p>
            <a:pPr marL="914400" lvl="1" indent="-514350">
              <a:buNone/>
            </a:pPr>
            <a:endParaRPr lang="es-MX" dirty="0" smtClean="0"/>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6" name="5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75</a:t>
            </a:fld>
            <a:endParaRPr lang="es-ES" sz="1500" dirty="0">
              <a:solidFill>
                <a:schemeClr val="tx1">
                  <a:lumMod val="50000"/>
                  <a:lumOff val="50000"/>
                </a:schemeClr>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Título"/>
          <p:cNvSpPr>
            <a:spLocks noGrp="1"/>
          </p:cNvSpPr>
          <p:nvPr>
            <p:ph type="title"/>
          </p:nvPr>
        </p:nvSpPr>
        <p:spPr>
          <a:xfrm>
            <a:off x="2557462" y="285728"/>
            <a:ext cx="6129337" cy="1131910"/>
          </a:xfrm>
        </p:spPr>
        <p:txBody>
          <a:bodyPr>
            <a:noAutofit/>
          </a:bodyPr>
          <a:lstStyle/>
          <a:p>
            <a:r>
              <a:rPr lang="es-MX" u="sng" dirty="0" smtClean="0"/>
              <a:t>Selección del </a:t>
            </a:r>
            <a:br>
              <a:rPr lang="es-MX" u="sng" dirty="0" smtClean="0"/>
            </a:br>
            <a:r>
              <a:rPr lang="es-MX" u="sng" dirty="0" smtClean="0"/>
              <a:t>ancho de banda</a:t>
            </a:r>
            <a:endParaRPr lang="en-US" u="sng" dirty="0"/>
          </a:p>
        </p:txBody>
      </p:sp>
      <p:sp>
        <p:nvSpPr>
          <p:cNvPr id="10" name="9 Marcador de contenido"/>
          <p:cNvSpPr>
            <a:spLocks noGrp="1"/>
          </p:cNvSpPr>
          <p:nvPr>
            <p:ph idx="1"/>
          </p:nvPr>
        </p:nvSpPr>
        <p:spPr>
          <a:xfrm>
            <a:off x="457200" y="1923393"/>
            <a:ext cx="8229600" cy="4202770"/>
          </a:xfrm>
        </p:spPr>
        <p:txBody>
          <a:bodyPr>
            <a:normAutofit/>
          </a:bodyPr>
          <a:lstStyle/>
          <a:p>
            <a:r>
              <a:rPr lang="es-MX" dirty="0" smtClean="0">
                <a:solidFill>
                  <a:schemeClr val="accent5">
                    <a:lumMod val="75000"/>
                  </a:schemeClr>
                </a:solidFill>
              </a:rPr>
              <a:t>Validación cruzada: </a:t>
            </a:r>
            <a:endParaRPr lang="es-MX" dirty="0" smtClean="0"/>
          </a:p>
          <a:p>
            <a:pPr marL="514350" indent="-514350">
              <a:buNone/>
            </a:pPr>
            <a:r>
              <a:rPr lang="es-MX" sz="2600" dirty="0" smtClean="0"/>
              <a:t>	El ancho de banda óptimo es el mínimo entre el </a:t>
            </a:r>
            <a:r>
              <a:rPr lang="es-MX" sz="2600" i="1" dirty="0" smtClean="0">
                <a:latin typeface="Times New Roman" pitchFamily="18" charset="0"/>
                <a:cs typeface="Times New Roman" pitchFamily="18" charset="0"/>
              </a:rPr>
              <a:t>h</a:t>
            </a:r>
            <a:r>
              <a:rPr lang="es-MX" sz="2600" dirty="0" smtClean="0"/>
              <a:t> que minimiza el error de predicción de la variable de resultado, </a:t>
            </a:r>
            <a:r>
              <a:rPr lang="es-MX" sz="2600" i="1" dirty="0" smtClean="0">
                <a:latin typeface="Times New Roman" pitchFamily="18" charset="0"/>
                <a:cs typeface="Times New Roman" pitchFamily="18" charset="0"/>
              </a:rPr>
              <a:t>Y</a:t>
            </a:r>
            <a:r>
              <a:rPr lang="es-MX" sz="2600" dirty="0" smtClean="0"/>
              <a:t>, y el que minimiza el error de predicción de la probabilidad de participación en el programa.  </a:t>
            </a:r>
          </a:p>
        </p:txBody>
      </p:sp>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2201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01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20165" name="Rectangle 5"/>
          <p:cNvSpPr>
            <a:spLocks noChangeArrowheads="1"/>
          </p:cNvSpPr>
          <p:nvPr/>
        </p:nvSpPr>
        <p:spPr bwMode="auto">
          <a:xfrm>
            <a:off x="0" y="438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MX" sz="1200" b="0" i="0" u="none" strike="noStrike" cap="none" normalizeH="0" baseline="0" smtClean="0">
                <a:ln>
                  <a:noFill/>
                </a:ln>
                <a:solidFill>
                  <a:schemeClr val="tx1"/>
                </a:solidFill>
                <a:effectLst/>
                <a:latin typeface="Arial" pitchFamily="34" charset="0"/>
                <a:ea typeface="Times New Roman" pitchFamily="18" charset="0"/>
              </a:rPr>
              <a:t>             </a:t>
            </a:r>
            <a:endParaRPr kumimoji="0" lang="es-MX" sz="1800" b="0" i="0" u="none" strike="noStrike" cap="none" normalizeH="0" baseline="0" smtClean="0">
              <a:ln>
                <a:noFill/>
              </a:ln>
              <a:solidFill>
                <a:schemeClr val="tx1"/>
              </a:solidFill>
              <a:effectLst/>
              <a:latin typeface="Arial" pitchFamily="34" charset="0"/>
            </a:endParaRPr>
          </a:p>
        </p:txBody>
      </p:sp>
      <p:sp>
        <p:nvSpPr>
          <p:cNvPr id="12" name="1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76</a:t>
            </a:fld>
            <a:endParaRPr lang="es-ES" sz="1500" dirty="0">
              <a:solidFill>
                <a:schemeClr val="tx1">
                  <a:lumMod val="50000"/>
                  <a:lumOff val="50000"/>
                </a:schemeClr>
              </a:solidFill>
            </a:endParaRPr>
          </a:p>
        </p:txBody>
      </p:sp>
      <mc:AlternateContent xmlns:mc="http://schemas.openxmlformats.org/markup-compatibility/2006">
        <mc:Choice xmlns:a14="http://schemas.microsoft.com/office/drawing/2010/main" xmlns="" Requires="a14">
          <p:sp>
            <p:nvSpPr>
              <p:cNvPr id="2" name="1 Rectángulo"/>
              <p:cNvSpPr/>
              <p:nvPr/>
            </p:nvSpPr>
            <p:spPr>
              <a:xfrm>
                <a:off x="2958608" y="4425337"/>
                <a:ext cx="3561616" cy="963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MX" sz="2000" i="1">
                          <a:latin typeface="Cambria Math"/>
                        </a:rPr>
                        <m:t> </m:t>
                      </m:r>
                      <m:sSub>
                        <m:sSubPr>
                          <m:ctrlPr>
                            <a:rPr lang="es-CO" sz="2000" i="1">
                              <a:latin typeface="Cambria Math"/>
                            </a:rPr>
                          </m:ctrlPr>
                        </m:sSubPr>
                        <m:e>
                          <m:r>
                            <a:rPr lang="es-MX" sz="2000" i="1">
                              <a:latin typeface="Cambria Math"/>
                            </a:rPr>
                            <m:t>𝐶</m:t>
                          </m:r>
                        </m:e>
                        <m:sub>
                          <m:r>
                            <a:rPr lang="es-MX" sz="2000" i="1">
                              <a:latin typeface="Cambria Math"/>
                            </a:rPr>
                            <m:t>𝑌</m:t>
                          </m:r>
                        </m:sub>
                      </m:sSub>
                      <m:d>
                        <m:dPr>
                          <m:ctrlPr>
                            <a:rPr lang="es-CO" sz="2000" i="1">
                              <a:latin typeface="Cambria Math"/>
                            </a:rPr>
                          </m:ctrlPr>
                        </m:dPr>
                        <m:e>
                          <m:r>
                            <a:rPr lang="es-MX" sz="2000" i="1">
                              <a:latin typeface="Cambria Math"/>
                            </a:rPr>
                            <m:t>h</m:t>
                          </m:r>
                        </m:e>
                      </m:d>
                      <m:r>
                        <a:rPr lang="es-MX" sz="2000" i="1">
                          <a:latin typeface="Cambria Math"/>
                        </a:rPr>
                        <m:t>=</m:t>
                      </m:r>
                      <m:f>
                        <m:fPr>
                          <m:ctrlPr>
                            <a:rPr lang="es-CO" sz="2000" i="1">
                              <a:latin typeface="Cambria Math"/>
                            </a:rPr>
                          </m:ctrlPr>
                        </m:fPr>
                        <m:num>
                          <m:r>
                            <a:rPr lang="es-MX" sz="2000" i="1">
                              <a:latin typeface="Cambria Math"/>
                            </a:rPr>
                            <m:t>1</m:t>
                          </m:r>
                        </m:num>
                        <m:den>
                          <m:r>
                            <a:rPr lang="es-MX" sz="2000" i="1">
                              <a:latin typeface="Cambria Math"/>
                            </a:rPr>
                            <m:t>𝑁</m:t>
                          </m:r>
                        </m:den>
                      </m:f>
                      <m:nary>
                        <m:naryPr>
                          <m:chr m:val="∑"/>
                          <m:limLoc m:val="undOvr"/>
                          <m:ctrlPr>
                            <a:rPr lang="es-CO" sz="2000" i="1">
                              <a:latin typeface="Cambria Math"/>
                            </a:rPr>
                          </m:ctrlPr>
                        </m:naryPr>
                        <m:sub>
                          <m:r>
                            <a:rPr lang="es-MX" sz="2000" i="1">
                              <a:latin typeface="Cambria Math"/>
                            </a:rPr>
                            <m:t>𝑖</m:t>
                          </m:r>
                          <m:r>
                            <a:rPr lang="es-MX" sz="2000" i="1">
                              <a:latin typeface="Cambria Math"/>
                            </a:rPr>
                            <m:t>=1</m:t>
                          </m:r>
                        </m:sub>
                        <m:sup>
                          <m:r>
                            <a:rPr lang="es-MX" sz="2000" i="1">
                              <a:latin typeface="Cambria Math"/>
                            </a:rPr>
                            <m:t>𝑁</m:t>
                          </m:r>
                        </m:sup>
                        <m:e>
                          <m:r>
                            <a:rPr lang="es-MX" sz="2000" i="1">
                              <a:latin typeface="Cambria Math"/>
                            </a:rPr>
                            <m:t>(</m:t>
                          </m:r>
                          <m:sSub>
                            <m:sSubPr>
                              <m:ctrlPr>
                                <a:rPr lang="es-CO" sz="2000" i="1">
                                  <a:latin typeface="Cambria Math"/>
                                </a:rPr>
                              </m:ctrlPr>
                            </m:sSubPr>
                            <m:e>
                              <m:r>
                                <a:rPr lang="es-MX" sz="2000" i="1">
                                  <a:latin typeface="Cambria Math"/>
                                </a:rPr>
                                <m:t>𝑌</m:t>
                              </m:r>
                            </m:e>
                            <m:sub>
                              <m:r>
                                <a:rPr lang="es-MX" sz="2000" i="1">
                                  <a:latin typeface="Cambria Math"/>
                                </a:rPr>
                                <m:t>𝑖</m:t>
                              </m:r>
                            </m:sub>
                          </m:sSub>
                          <m:r>
                            <a:rPr lang="es-MX" sz="2000" i="1">
                              <a:latin typeface="Cambria Math"/>
                            </a:rPr>
                            <m:t>−</m:t>
                          </m:r>
                          <m:acc>
                            <m:accPr>
                              <m:chr m:val="̂"/>
                              <m:ctrlPr>
                                <a:rPr lang="es-CO" sz="2000" i="1">
                                  <a:latin typeface="Cambria Math"/>
                                </a:rPr>
                              </m:ctrlPr>
                            </m:accPr>
                            <m:e>
                              <m:r>
                                <a:rPr lang="es-MX" sz="2000" i="1">
                                  <a:latin typeface="Cambria Math"/>
                                </a:rPr>
                                <m:t>𝜇</m:t>
                              </m:r>
                            </m:e>
                          </m:acc>
                          <m:d>
                            <m:dPr>
                              <m:ctrlPr>
                                <a:rPr lang="es-CO" sz="2000" i="1">
                                  <a:latin typeface="Cambria Math"/>
                                </a:rPr>
                              </m:ctrlPr>
                            </m:dPr>
                            <m:e>
                              <m:sSub>
                                <m:sSubPr>
                                  <m:ctrlPr>
                                    <a:rPr lang="es-CO" sz="2000" i="1">
                                      <a:latin typeface="Cambria Math"/>
                                    </a:rPr>
                                  </m:ctrlPr>
                                </m:sSubPr>
                                <m:e>
                                  <m:r>
                                    <a:rPr lang="es-MX" sz="2000" i="1">
                                      <a:latin typeface="Cambria Math"/>
                                    </a:rPr>
                                    <m:t>𝑍</m:t>
                                  </m:r>
                                </m:e>
                                <m:sub>
                                  <m:r>
                                    <a:rPr lang="es-MX" sz="2000" i="1">
                                      <a:latin typeface="Cambria Math"/>
                                    </a:rPr>
                                    <m:t>𝑖</m:t>
                                  </m:r>
                                </m:sub>
                              </m:sSub>
                              <m:r>
                                <a:rPr lang="es-MX" sz="2000" i="1">
                                  <a:latin typeface="Cambria Math"/>
                                </a:rPr>
                                <m:t>,</m:t>
                              </m:r>
                              <m:r>
                                <a:rPr lang="es-MX" sz="2000" i="1">
                                  <a:latin typeface="Cambria Math"/>
                                </a:rPr>
                                <m:t>h</m:t>
                              </m:r>
                            </m:e>
                          </m:d>
                          <m:sSup>
                            <m:sSupPr>
                              <m:ctrlPr>
                                <a:rPr lang="es-CO" sz="2000" i="1">
                                  <a:latin typeface="Cambria Math"/>
                                </a:rPr>
                              </m:ctrlPr>
                            </m:sSupPr>
                            <m:e>
                              <m:r>
                                <a:rPr lang="es-MX" sz="2000" i="1">
                                  <a:latin typeface="Cambria Math"/>
                                </a:rPr>
                                <m:t>)</m:t>
                              </m:r>
                            </m:e>
                            <m:sup>
                              <m:r>
                                <a:rPr lang="es-MX" sz="2000" i="1">
                                  <a:latin typeface="Cambria Math"/>
                                </a:rPr>
                                <m:t>2</m:t>
                              </m:r>
                            </m:sup>
                          </m:sSup>
                        </m:e>
                      </m:nary>
                      <m:r>
                        <a:rPr lang="es-MX" sz="2000" i="1">
                          <a:latin typeface="Cambria Math"/>
                        </a:rPr>
                        <m:t> </m:t>
                      </m:r>
                    </m:oMath>
                  </m:oMathPara>
                </a14:m>
                <a:endParaRPr lang="es-CO" sz="2000" dirty="0"/>
              </a:p>
            </p:txBody>
          </p:sp>
        </mc:Choice>
        <mc:Fallback>
          <p:sp>
            <p:nvSpPr>
              <p:cNvPr id="2" name="1 Rectángulo"/>
              <p:cNvSpPr>
                <a:spLocks noRot="1" noChangeAspect="1" noMove="1" noResize="1" noEditPoints="1" noAdjustHandles="1" noChangeArrowheads="1" noChangeShapeType="1" noTextEdit="1"/>
              </p:cNvSpPr>
              <p:nvPr/>
            </p:nvSpPr>
            <p:spPr>
              <a:xfrm>
                <a:off x="2958608" y="4425337"/>
                <a:ext cx="3561616" cy="963854"/>
              </a:xfrm>
              <a:prstGeom prst="rect">
                <a:avLst/>
              </a:prstGeom>
              <a:blipFill rotWithShape="1">
                <a:blip r:embed="rId4" cstate="print"/>
                <a:stretch>
                  <a:fillRect/>
                </a:stretch>
              </a:blipFill>
            </p:spPr>
            <p:txBody>
              <a:bodyPr/>
              <a:lstStyle/>
              <a:p>
                <a:r>
                  <a:rPr lang="es-CO">
                    <a:noFill/>
                  </a:rPr>
                  <a:t> </a:t>
                </a:r>
              </a:p>
            </p:txBody>
          </p:sp>
        </mc:Fallback>
      </mc:AlternateContent>
      <mc:AlternateContent xmlns:mc="http://schemas.openxmlformats.org/markup-compatibility/2006">
        <mc:Choice xmlns:a14="http://schemas.microsoft.com/office/drawing/2010/main" xmlns="" Requires="a14">
          <p:sp>
            <p:nvSpPr>
              <p:cNvPr id="3" name="2 Rectángulo"/>
              <p:cNvSpPr/>
              <p:nvPr/>
            </p:nvSpPr>
            <p:spPr>
              <a:xfrm>
                <a:off x="1472052" y="5667645"/>
                <a:ext cx="6111162" cy="6875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MX" sz="2000" i="1">
                          <a:latin typeface="Cambria Math"/>
                        </a:rPr>
                        <m:t> </m:t>
                      </m:r>
                      <m:acc>
                        <m:accPr>
                          <m:chr m:val="̂"/>
                          <m:ctrlPr>
                            <a:rPr lang="es-CO" sz="2000" i="1">
                              <a:latin typeface="Cambria Math"/>
                            </a:rPr>
                          </m:ctrlPr>
                        </m:accPr>
                        <m:e>
                          <m:r>
                            <a:rPr lang="es-MX" sz="2000" i="1">
                              <a:latin typeface="Cambria Math"/>
                            </a:rPr>
                            <m:t>𝜇</m:t>
                          </m:r>
                        </m:e>
                      </m:acc>
                      <m:d>
                        <m:dPr>
                          <m:ctrlPr>
                            <a:rPr lang="es-CO" sz="2000" i="1">
                              <a:latin typeface="Cambria Math"/>
                            </a:rPr>
                          </m:ctrlPr>
                        </m:dPr>
                        <m:e>
                          <m:sSub>
                            <m:sSubPr>
                              <m:ctrlPr>
                                <a:rPr lang="es-CO" sz="2000" i="1">
                                  <a:latin typeface="Cambria Math"/>
                                </a:rPr>
                              </m:ctrlPr>
                            </m:sSubPr>
                            <m:e>
                              <m:r>
                                <a:rPr lang="es-MX" sz="2000" i="1">
                                  <a:latin typeface="Cambria Math"/>
                                </a:rPr>
                                <m:t>𝑍</m:t>
                              </m:r>
                            </m:e>
                            <m:sub>
                              <m:r>
                                <a:rPr lang="es-MX" sz="2000" i="1">
                                  <a:latin typeface="Cambria Math"/>
                                </a:rPr>
                                <m:t>𝑖</m:t>
                              </m:r>
                            </m:sub>
                          </m:sSub>
                          <m:r>
                            <a:rPr lang="es-MX" sz="2000" i="1">
                              <a:latin typeface="Cambria Math"/>
                            </a:rPr>
                            <m:t>,</m:t>
                          </m:r>
                          <m:r>
                            <a:rPr lang="es-MX" sz="2000" i="1">
                              <a:latin typeface="Cambria Math"/>
                            </a:rPr>
                            <m:t>h</m:t>
                          </m:r>
                        </m:e>
                      </m:d>
                      <m:r>
                        <a:rPr lang="es-MX" sz="2000" i="1">
                          <a:latin typeface="Cambria Math"/>
                        </a:rPr>
                        <m:t>=</m:t>
                      </m:r>
                      <m:acc>
                        <m:accPr>
                          <m:chr m:val="̂"/>
                          <m:ctrlPr>
                            <a:rPr lang="es-CO" sz="2000" i="1">
                              <a:latin typeface="Cambria Math"/>
                            </a:rPr>
                          </m:ctrlPr>
                        </m:accPr>
                        <m:e>
                          <m:r>
                            <a:rPr lang="es-MX" sz="2000" i="1">
                              <a:latin typeface="Cambria Math"/>
                            </a:rPr>
                            <m:t>𝜇</m:t>
                          </m:r>
                        </m:e>
                      </m:acc>
                      <m:d>
                        <m:dPr>
                          <m:ctrlPr>
                            <a:rPr lang="es-CO" sz="2000" i="1">
                              <a:latin typeface="Cambria Math"/>
                            </a:rPr>
                          </m:ctrlPr>
                        </m:dPr>
                        <m:e>
                          <m:sSub>
                            <m:sSubPr>
                              <m:ctrlPr>
                                <a:rPr lang="es-CO" sz="2000" i="1">
                                  <a:latin typeface="Cambria Math"/>
                                </a:rPr>
                              </m:ctrlPr>
                            </m:sSubPr>
                            <m:e>
                              <m:r>
                                <a:rPr lang="es-MX" sz="2000" i="1">
                                  <a:latin typeface="Cambria Math"/>
                                </a:rPr>
                                <m:t>𝑆𝐼𝑆𝐵𝐸𝑁</m:t>
                              </m:r>
                            </m:e>
                            <m:sub>
                              <m:r>
                                <a:rPr lang="es-MX" sz="2000" i="1">
                                  <a:latin typeface="Cambria Math"/>
                                </a:rPr>
                                <m:t>𝑖</m:t>
                              </m:r>
                            </m:sub>
                          </m:sSub>
                          <m:r>
                            <a:rPr lang="es-MX" sz="2000" i="1">
                              <a:latin typeface="Cambria Math"/>
                            </a:rPr>
                            <m:t>,</m:t>
                          </m:r>
                          <m:r>
                            <a:rPr lang="es-MX" sz="2000" i="1">
                              <a:latin typeface="Cambria Math"/>
                            </a:rPr>
                            <m:t>h</m:t>
                          </m:r>
                        </m:e>
                      </m:d>
                      <m:r>
                        <a:rPr lang="es-MX" sz="2000" i="1">
                          <a:latin typeface="Cambria Math"/>
                        </a:rPr>
                        <m:t>=</m:t>
                      </m:r>
                      <m:d>
                        <m:dPr>
                          <m:begChr m:val="{"/>
                          <m:endChr m:val=""/>
                          <m:ctrlPr>
                            <a:rPr lang="es-CO" sz="2000" i="1">
                              <a:latin typeface="Cambria Math"/>
                            </a:rPr>
                          </m:ctrlPr>
                        </m:dPr>
                        <m:e>
                          <m:m>
                            <m:mPr>
                              <m:mcs>
                                <m:mc>
                                  <m:mcPr>
                                    <m:count m:val="2"/>
                                    <m:mcJc m:val="center"/>
                                  </m:mcPr>
                                </m:mc>
                              </m:mcs>
                              <m:ctrlPr>
                                <a:rPr lang="es-CO" sz="2000" i="1">
                                  <a:latin typeface="Cambria Math"/>
                                </a:rPr>
                              </m:ctrlPr>
                            </m:mPr>
                            <m:mr>
                              <m:e>
                                <m:sSub>
                                  <m:sSubPr>
                                    <m:ctrlPr>
                                      <a:rPr lang="es-CO" sz="2000" i="1">
                                        <a:latin typeface="Cambria Math"/>
                                      </a:rPr>
                                    </m:ctrlPr>
                                  </m:sSubPr>
                                  <m:e>
                                    <m:acc>
                                      <m:accPr>
                                        <m:chr m:val="̂"/>
                                        <m:ctrlPr>
                                          <a:rPr lang="es-CO" sz="2000" i="1">
                                            <a:latin typeface="Cambria Math"/>
                                          </a:rPr>
                                        </m:ctrlPr>
                                      </m:accPr>
                                      <m:e>
                                        <m:r>
                                          <a:rPr lang="es-MX" sz="2000" i="1">
                                            <a:latin typeface="Cambria Math"/>
                                          </a:rPr>
                                          <m:t>𝛼</m:t>
                                        </m:r>
                                      </m:e>
                                    </m:acc>
                                  </m:e>
                                  <m:sub>
                                    <m:r>
                                      <a:rPr lang="es-MX" sz="2000" i="1">
                                        <a:latin typeface="Cambria Math"/>
                                      </a:rPr>
                                      <m:t>𝑙</m:t>
                                    </m:r>
                                  </m:sub>
                                </m:sSub>
                                <m:r>
                                  <a:rPr lang="es-MX" sz="2000" i="1">
                                    <a:latin typeface="Cambria Math"/>
                                  </a:rPr>
                                  <m:t>(</m:t>
                                </m:r>
                                <m:r>
                                  <a:rPr lang="es-MX" sz="2000" i="1">
                                    <a:latin typeface="Cambria Math"/>
                                  </a:rPr>
                                  <m:t>h</m:t>
                                </m:r>
                                <m:r>
                                  <a:rPr lang="es-MX" sz="2000" i="1">
                                    <a:latin typeface="Cambria Math"/>
                                  </a:rPr>
                                  <m:t>)</m:t>
                                </m:r>
                              </m:e>
                              <m:e>
                                <m:r>
                                  <m:rPr>
                                    <m:nor/>
                                  </m:rPr>
                                  <a:rPr lang="es-MX" sz="2000"/>
                                  <m:t>si</m:t>
                                </m:r>
                                <m:r>
                                  <a:rPr lang="es-MX" sz="2000" i="1">
                                    <a:latin typeface="Cambria Math"/>
                                  </a:rPr>
                                  <m:t> </m:t>
                                </m:r>
                                <m:sSub>
                                  <m:sSubPr>
                                    <m:ctrlPr>
                                      <a:rPr lang="es-CO" sz="2000" i="1">
                                        <a:latin typeface="Cambria Math"/>
                                      </a:rPr>
                                    </m:ctrlPr>
                                  </m:sSubPr>
                                  <m:e>
                                    <m:r>
                                      <a:rPr lang="es-MX" sz="2000" i="1">
                                        <a:latin typeface="Cambria Math"/>
                                      </a:rPr>
                                      <m:t>𝑆𝐼𝑆𝐵𝐸𝑁</m:t>
                                    </m:r>
                                  </m:e>
                                  <m:sub>
                                    <m:r>
                                      <a:rPr lang="es-MX" sz="2000" i="1">
                                        <a:latin typeface="Cambria Math"/>
                                      </a:rPr>
                                      <m:t>𝑖</m:t>
                                    </m:r>
                                  </m:sub>
                                </m:sSub>
                                <m:r>
                                  <a:rPr lang="es-MX" sz="2000" i="1">
                                    <a:latin typeface="Cambria Math"/>
                                  </a:rPr>
                                  <m:t>&lt;10</m:t>
                                </m:r>
                              </m:e>
                            </m:mr>
                            <m:mr>
                              <m:e>
                                <m:sSub>
                                  <m:sSubPr>
                                    <m:ctrlPr>
                                      <a:rPr lang="es-CO" sz="2000" i="1">
                                        <a:latin typeface="Cambria Math"/>
                                      </a:rPr>
                                    </m:ctrlPr>
                                  </m:sSubPr>
                                  <m:e>
                                    <m:acc>
                                      <m:accPr>
                                        <m:chr m:val="̂"/>
                                        <m:ctrlPr>
                                          <a:rPr lang="es-CO" sz="2000" i="1">
                                            <a:latin typeface="Cambria Math"/>
                                          </a:rPr>
                                        </m:ctrlPr>
                                      </m:accPr>
                                      <m:e>
                                        <m:r>
                                          <a:rPr lang="es-MX" sz="2000" i="1">
                                            <a:latin typeface="Cambria Math"/>
                                          </a:rPr>
                                          <m:t>𝛼</m:t>
                                        </m:r>
                                      </m:e>
                                    </m:acc>
                                  </m:e>
                                  <m:sub>
                                    <m:r>
                                      <a:rPr lang="es-MX" sz="2000" i="1">
                                        <a:latin typeface="Cambria Math"/>
                                      </a:rPr>
                                      <m:t>𝑟</m:t>
                                    </m:r>
                                  </m:sub>
                                </m:sSub>
                                <m:r>
                                  <a:rPr lang="es-MX" sz="2000" i="1">
                                    <a:latin typeface="Cambria Math"/>
                                  </a:rPr>
                                  <m:t>(</m:t>
                                </m:r>
                                <m:r>
                                  <a:rPr lang="es-MX" sz="2000" i="1">
                                    <a:latin typeface="Cambria Math"/>
                                  </a:rPr>
                                  <m:t>h</m:t>
                                </m:r>
                                <m:r>
                                  <a:rPr lang="es-MX" sz="2000" i="1">
                                    <a:latin typeface="Cambria Math"/>
                                  </a:rPr>
                                  <m:t>)</m:t>
                                </m:r>
                              </m:e>
                              <m:e>
                                <m:r>
                                  <m:rPr>
                                    <m:nor/>
                                  </m:rPr>
                                  <a:rPr lang="es-MX" sz="2000"/>
                                  <m:t>si</m:t>
                                </m:r>
                                <m:r>
                                  <a:rPr lang="es-MX" sz="2000" i="1">
                                    <a:latin typeface="Cambria Math"/>
                                  </a:rPr>
                                  <m:t> </m:t>
                                </m:r>
                                <m:sSub>
                                  <m:sSubPr>
                                    <m:ctrlPr>
                                      <a:rPr lang="es-CO" sz="2000" i="1">
                                        <a:latin typeface="Cambria Math"/>
                                      </a:rPr>
                                    </m:ctrlPr>
                                  </m:sSubPr>
                                  <m:e>
                                    <m:r>
                                      <a:rPr lang="es-MX" sz="2000" i="1">
                                        <a:latin typeface="Cambria Math"/>
                                      </a:rPr>
                                      <m:t>𝑆𝐼𝑆𝐵𝐸𝑁</m:t>
                                    </m:r>
                                  </m:e>
                                  <m:sub>
                                    <m:r>
                                      <a:rPr lang="es-MX" sz="2000" i="1">
                                        <a:latin typeface="Cambria Math"/>
                                      </a:rPr>
                                      <m:t>𝑖</m:t>
                                    </m:r>
                                  </m:sub>
                                </m:sSub>
                                <m:r>
                                  <a:rPr lang="es-MX" sz="2000" i="1">
                                    <a:latin typeface="Cambria Math"/>
                                  </a:rPr>
                                  <m:t>≥10</m:t>
                                </m:r>
                              </m:e>
                            </m:mr>
                          </m:m>
                        </m:e>
                      </m:d>
                    </m:oMath>
                  </m:oMathPara>
                </a14:m>
                <a:endParaRPr lang="es-CO" sz="2000" dirty="0"/>
              </a:p>
            </p:txBody>
          </p:sp>
        </mc:Choice>
        <mc:Fallback>
          <p:sp>
            <p:nvSpPr>
              <p:cNvPr id="3" name="2 Rectángulo"/>
              <p:cNvSpPr>
                <a:spLocks noRot="1" noChangeAspect="1" noMove="1" noResize="1" noEditPoints="1" noAdjustHandles="1" noChangeArrowheads="1" noChangeShapeType="1" noTextEdit="1"/>
              </p:cNvSpPr>
              <p:nvPr/>
            </p:nvSpPr>
            <p:spPr>
              <a:xfrm>
                <a:off x="1472052" y="5667645"/>
                <a:ext cx="6111162" cy="687561"/>
              </a:xfrm>
              <a:prstGeom prst="rect">
                <a:avLst/>
              </a:prstGeom>
              <a:blipFill rotWithShape="1">
                <a:blip r:embed="rId5" cstate="print"/>
                <a:stretch>
                  <a:fillRect/>
                </a:stretch>
              </a:blipFill>
            </p:spPr>
            <p:txBody>
              <a:bodyPr/>
              <a:lstStyle/>
              <a:p>
                <a:r>
                  <a:rPr lang="es-CO">
                    <a:noFill/>
                  </a:rPr>
                  <a:t> </a:t>
                </a:r>
              </a:p>
            </p:txBody>
          </p:sp>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24"/>
            <a:ext cx="2500298" cy="1189301"/>
          </a:xfrm>
          <a:prstGeom prst="rect">
            <a:avLst/>
          </a:prstGeom>
          <a:noFill/>
          <a:ln w="9525">
            <a:noFill/>
            <a:miter lim="800000"/>
            <a:headEnd/>
            <a:tailEnd/>
          </a:ln>
          <a:effectLst/>
        </p:spPr>
      </p:pic>
      <p:sp>
        <p:nvSpPr>
          <p:cNvPr id="5" name="1 Título"/>
          <p:cNvSpPr txBox="1">
            <a:spLocks/>
          </p:cNvSpPr>
          <p:nvPr/>
        </p:nvSpPr>
        <p:spPr>
          <a:xfrm>
            <a:off x="2285984" y="214290"/>
            <a:ext cx="6581820" cy="1285884"/>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s-CO" sz="4200" u="sng" noProof="0" dirty="0" smtClean="0">
                <a:latin typeface="+mj-lt"/>
                <a:ea typeface="+mj-ea"/>
                <a:cs typeface="+mj-cs"/>
              </a:rPr>
              <a:t>Ventaja y </a:t>
            </a:r>
            <a:r>
              <a:rPr lang="es-CO" sz="4200" u="sng" dirty="0" smtClean="0">
                <a:latin typeface="+mj-lt"/>
                <a:ea typeface="+mj-ea"/>
                <a:cs typeface="+mj-cs"/>
              </a:rPr>
              <a:t>d</a:t>
            </a:r>
            <a:r>
              <a:rPr lang="es-CO" sz="4200" u="sng" noProof="0" dirty="0" err="1" smtClean="0">
                <a:latin typeface="+mj-lt"/>
                <a:ea typeface="+mj-ea"/>
                <a:cs typeface="+mj-cs"/>
              </a:rPr>
              <a:t>esventajas</a:t>
            </a:r>
            <a:endParaRPr kumimoji="0" lang="es-ES" sz="4200" b="0" i="0" u="sng"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6" name="5 Tabla"/>
          <p:cNvGraphicFramePr>
            <a:graphicFrameLocks noGrp="1"/>
          </p:cNvGraphicFramePr>
          <p:nvPr/>
        </p:nvGraphicFramePr>
        <p:xfrm>
          <a:off x="785786" y="1682752"/>
          <a:ext cx="7643866" cy="4516583"/>
        </p:xfrm>
        <a:graphic>
          <a:graphicData uri="http://schemas.openxmlformats.org/drawingml/2006/table">
            <a:tbl>
              <a:tblPr firstRow="1" bandRow="1">
                <a:tableStyleId>{5C22544A-7EE6-4342-B048-85BDC9FD1C3A}</a:tableStyleId>
              </a:tblPr>
              <a:tblGrid>
                <a:gridCol w="3597028"/>
                <a:gridCol w="4046838"/>
              </a:tblGrid>
              <a:tr h="615143">
                <a:tc>
                  <a:txBody>
                    <a:bodyPr/>
                    <a:lstStyle/>
                    <a:p>
                      <a:pPr algn="ctr"/>
                      <a:r>
                        <a:rPr lang="es-CO" sz="2500" dirty="0" smtClean="0">
                          <a:solidFill>
                            <a:schemeClr val="tx1"/>
                          </a:solidFill>
                        </a:rPr>
                        <a:t>VENTAJA</a:t>
                      </a:r>
                      <a:endParaRPr lang="es-ES" sz="2500" dirty="0">
                        <a:solidFill>
                          <a:schemeClr val="tx1"/>
                        </a:solidFill>
                      </a:endParaRPr>
                    </a:p>
                  </a:txBody>
                  <a:tcPr>
                    <a:solidFill>
                      <a:schemeClr val="tx2">
                        <a:lumMod val="20000"/>
                        <a:lumOff val="80000"/>
                      </a:schemeClr>
                    </a:solidFill>
                  </a:tcPr>
                </a:tc>
                <a:tc>
                  <a:txBody>
                    <a:bodyPr/>
                    <a:lstStyle/>
                    <a:p>
                      <a:pPr algn="ctr"/>
                      <a:r>
                        <a:rPr lang="es-CO" sz="2500" dirty="0" smtClean="0">
                          <a:solidFill>
                            <a:schemeClr val="tx1"/>
                          </a:solidFill>
                        </a:rPr>
                        <a:t>DESVENTAJAS</a:t>
                      </a:r>
                      <a:endParaRPr lang="es-ES" sz="2500" dirty="0">
                        <a:solidFill>
                          <a:schemeClr val="tx1"/>
                        </a:solidFill>
                      </a:endParaRPr>
                    </a:p>
                  </a:txBody>
                  <a:tcPr>
                    <a:solidFill>
                      <a:schemeClr val="tx2">
                        <a:lumMod val="20000"/>
                        <a:lumOff val="80000"/>
                      </a:schemeClr>
                    </a:solidFill>
                  </a:tcPr>
                </a:tc>
              </a:tr>
              <a:tr h="3631435">
                <a:tc>
                  <a:txBody>
                    <a:bodyPr/>
                    <a:lstStyle/>
                    <a:p>
                      <a:pPr algn="l"/>
                      <a:r>
                        <a:rPr lang="es-CO" sz="2400" dirty="0" smtClean="0"/>
                        <a:t>Los</a:t>
                      </a:r>
                      <a:r>
                        <a:rPr lang="es-CO" sz="2400" baseline="0" dirty="0" smtClean="0"/>
                        <a:t> supuestos para implementarlo son plausibles en la mayoría de los casos, lo cual produce estimadores del impacto del programa creíbles.</a:t>
                      </a:r>
                      <a:endParaRPr lang="es-ES" sz="2400" dirty="0"/>
                    </a:p>
                  </a:txBody>
                  <a:tcPr/>
                </a:tc>
                <a:tc>
                  <a:txBody>
                    <a:bodyPr/>
                    <a:lstStyle/>
                    <a:p>
                      <a:pPr marL="173038" indent="-77788" algn="l">
                        <a:buFont typeface="Arial" pitchFamily="34" charset="0"/>
                        <a:buChar char="•"/>
                      </a:pPr>
                      <a:r>
                        <a:rPr lang="es-CO" sz="2400" dirty="0" smtClean="0"/>
                        <a:t> El hecho de</a:t>
                      </a:r>
                      <a:r>
                        <a:rPr lang="es-CO" sz="2400" baseline="0" dirty="0" smtClean="0"/>
                        <a:t> que el estimador local, se estime sólo alrededor del punto de discontinuidad   . Esto tiene implicaciones en términos del alcance de la interpretación del estimador.</a:t>
                      </a:r>
                    </a:p>
                    <a:p>
                      <a:pPr marL="173038" indent="-77788" algn="l">
                        <a:buFont typeface="Arial" pitchFamily="34" charset="0"/>
                        <a:buChar char="•"/>
                      </a:pPr>
                      <a:endParaRPr lang="es-CO" sz="1000" baseline="0" dirty="0" smtClean="0"/>
                    </a:p>
                    <a:p>
                      <a:pPr marL="173038" indent="-77788" algn="l">
                        <a:buFont typeface="Arial" pitchFamily="34" charset="0"/>
                        <a:buChar char="•"/>
                      </a:pPr>
                      <a:r>
                        <a:rPr lang="es-CO" sz="2400" baseline="0" dirty="0" smtClean="0"/>
                        <a:t> Requiere muestras grandes para lograr densidad a lado y lado del umbral.</a:t>
                      </a:r>
                      <a:endParaRPr lang="es-ES" sz="2400" dirty="0"/>
                    </a:p>
                  </a:txBody>
                  <a:tcPr/>
                </a:tc>
              </a:tr>
            </a:tbl>
          </a:graphicData>
        </a:graphic>
      </p:graphicFrame>
      <p:graphicFrame>
        <p:nvGraphicFramePr>
          <p:cNvPr id="16385" name="Object 1"/>
          <p:cNvGraphicFramePr>
            <a:graphicFrameLocks noChangeAspect="1"/>
          </p:cNvGraphicFramePr>
          <p:nvPr/>
        </p:nvGraphicFramePr>
        <p:xfrm>
          <a:off x="3874107" y="3397470"/>
          <a:ext cx="5411787" cy="606425"/>
        </p:xfrm>
        <a:graphic>
          <a:graphicData uri="http://schemas.openxmlformats.org/presentationml/2006/ole">
            <p:oleObj spid="_x0000_s218130" name="Documento" r:id="rId4" imgW="5397500" imgH="607470" progId="Word.Document.12">
              <p:embed/>
            </p:oleObj>
          </a:graphicData>
        </a:graphic>
      </p:graphicFrame>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77</a:t>
            </a:fld>
            <a:endParaRPr lang="es-ES" sz="1500" dirty="0">
              <a:solidFill>
                <a:schemeClr val="tx1">
                  <a:lumMod val="50000"/>
                  <a:lumOff val="50000"/>
                </a:schemeClr>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1571612"/>
            <a:ext cx="8215370" cy="4643470"/>
          </a:xfrm>
          <a:ln w="28575">
            <a:solidFill>
              <a:schemeClr val="accent1"/>
            </a:solidFill>
          </a:ln>
        </p:spPr>
        <p:txBody>
          <a:bodyPr/>
          <a:lstStyle/>
          <a:p>
            <a:pPr algn="just">
              <a:buNone/>
            </a:pPr>
            <a:r>
              <a:rPr lang="es-CO" sz="2500" dirty="0" smtClean="0"/>
              <a:t>	</a:t>
            </a:r>
          </a:p>
          <a:p>
            <a:pPr>
              <a:buNone/>
            </a:pPr>
            <a:r>
              <a:rPr lang="es-CO" sz="2500" b="1" dirty="0" smtClean="0"/>
              <a:t>	</a:t>
            </a:r>
            <a:r>
              <a:rPr lang="es-CO" sz="2500" b="1" u="sng" dirty="0" smtClean="0"/>
              <a:t>Objetivo:</a:t>
            </a:r>
            <a:r>
              <a:rPr lang="es-CO" sz="2500" dirty="0" smtClean="0"/>
              <a:t> 	Establecer si la implementación del régimen 		subsidiado de salud tuvo efectos positivos en		la salud de los niños recién nacidos en 			Colombia. </a:t>
            </a:r>
            <a:endParaRPr lang="es-ES" sz="2500" dirty="0" smtClean="0"/>
          </a:p>
          <a:p>
            <a:pPr algn="just">
              <a:buNone/>
            </a:pPr>
            <a:r>
              <a:rPr lang="es-CO" dirty="0" smtClean="0"/>
              <a:t>	</a:t>
            </a:r>
          </a:p>
          <a:p>
            <a:pPr>
              <a:buNone/>
            </a:pPr>
            <a:r>
              <a:rPr lang="es-CO" sz="2500" b="1" dirty="0" smtClean="0"/>
              <a:t>	</a:t>
            </a:r>
            <a:r>
              <a:rPr lang="es-CO" sz="2500" b="1" u="sng" dirty="0" smtClean="0"/>
              <a:t>Selección:</a:t>
            </a:r>
            <a:r>
              <a:rPr lang="es-CO" sz="2500" b="1" dirty="0" smtClean="0"/>
              <a:t>	</a:t>
            </a:r>
            <a:r>
              <a:rPr lang="es-CO" sz="2500" dirty="0" smtClean="0"/>
              <a:t>Para  pertenecer al régimen subsidiado se debe 		ser clasificado como pobre a través de la 			encuesta </a:t>
            </a:r>
            <a:r>
              <a:rPr lang="es-CO" sz="2500" dirty="0" err="1" smtClean="0"/>
              <a:t>Sisben</a:t>
            </a:r>
            <a:r>
              <a:rPr lang="es-CO" sz="2500" dirty="0" smtClean="0"/>
              <a:t>, es decir, obtener un puntaje 		menor a 47.</a:t>
            </a:r>
            <a:endParaRPr lang="es-ES" sz="2500" b="1" u="sng"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sp>
        <p:nvSpPr>
          <p:cNvPr id="5"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78</a:t>
            </a:fld>
            <a:endParaRPr lang="es-ES" sz="1500" dirty="0">
              <a:solidFill>
                <a:schemeClr val="tx1">
                  <a:lumMod val="50000"/>
                  <a:lumOff val="50000"/>
                </a:schemeClr>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a:bodyPr>
          <a:lstStyle/>
          <a:p>
            <a:pPr>
              <a:buNone/>
            </a:pPr>
            <a:r>
              <a:rPr lang="es-CO" sz="2500" dirty="0" smtClean="0"/>
              <a:t>	</a:t>
            </a:r>
            <a:r>
              <a:rPr lang="es-CO" sz="2500" u="sng" dirty="0" smtClean="0"/>
              <a:t>Probabilidad de pertenecer al régimen subsidiado</a:t>
            </a:r>
            <a:endParaRPr lang="es-ES" sz="2500" u="sng"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pic>
        <p:nvPicPr>
          <p:cNvPr id="7" name="6 Imagen"/>
          <p:cNvPicPr/>
          <p:nvPr/>
        </p:nvPicPr>
        <p:blipFill>
          <a:blip r:embed="rId3" cstate="print"/>
          <a:srcRect/>
          <a:stretch>
            <a:fillRect/>
          </a:stretch>
        </p:blipFill>
        <p:spPr bwMode="auto">
          <a:xfrm>
            <a:off x="785786" y="2125028"/>
            <a:ext cx="7786742" cy="4161492"/>
          </a:xfrm>
          <a:prstGeom prst="rect">
            <a:avLst/>
          </a:prstGeom>
          <a:noFill/>
          <a:ln w="9525">
            <a:noFill/>
            <a:miter lim="800000"/>
            <a:headEnd/>
            <a:tailEnd/>
          </a:ln>
        </p:spPr>
      </p:pic>
      <p:sp>
        <p:nvSpPr>
          <p:cNvPr id="8"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10" name="9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79</a:t>
            </a:fld>
            <a:endParaRPr lang="es-ES" sz="1500" dirty="0">
              <a:solidFill>
                <a:schemeClr val="tx1">
                  <a:lumMod val="50000"/>
                  <a:lumOff val="50000"/>
                </a:schemeClr>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186766" cy="4686320"/>
          </a:xfrm>
          <a:ln w="28575">
            <a:solidFill>
              <a:schemeClr val="accent1"/>
            </a:solidFill>
          </a:ln>
        </p:spPr>
        <p:txBody>
          <a:bodyPr/>
          <a:lstStyle/>
          <a:p>
            <a:pPr>
              <a:buNone/>
            </a:pPr>
            <a:r>
              <a:rPr lang="es-CO" dirty="0" smtClean="0"/>
              <a:t>	</a:t>
            </a:r>
          </a:p>
          <a:p>
            <a:pPr>
              <a:buNone/>
            </a:pPr>
            <a:r>
              <a:rPr lang="es-CO" sz="2500" b="1" dirty="0" smtClean="0"/>
              <a:t>	</a:t>
            </a:r>
            <a:r>
              <a:rPr lang="es-CO" sz="2500" b="1" u="sng" dirty="0" smtClean="0"/>
              <a:t>Diseño de la evaluación</a:t>
            </a:r>
            <a:r>
              <a:rPr lang="es-CO" sz="2500" b="1" dirty="0" smtClean="0"/>
              <a:t>: </a:t>
            </a:r>
            <a:r>
              <a:rPr lang="es-CO" sz="2500" dirty="0" smtClean="0"/>
              <a:t>Regresión discontinua borrosa.</a:t>
            </a:r>
            <a:endParaRPr lang="es-ES" sz="2500" b="1"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sp>
        <p:nvSpPr>
          <p:cNvPr id="6" name="5 Flecha abajo"/>
          <p:cNvSpPr/>
          <p:nvPr/>
        </p:nvSpPr>
        <p:spPr>
          <a:xfrm>
            <a:off x="4429124" y="2786058"/>
            <a:ext cx="500066" cy="285752"/>
          </a:xfrm>
          <a:prstGeom prst="downArrow">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CuadroTexto"/>
          <p:cNvSpPr txBox="1"/>
          <p:nvPr/>
        </p:nvSpPr>
        <p:spPr>
          <a:xfrm>
            <a:off x="904989" y="3714752"/>
            <a:ext cx="1588897" cy="861774"/>
          </a:xfrm>
          <a:prstGeom prst="rect">
            <a:avLst/>
          </a:prstGeom>
          <a:noFill/>
        </p:spPr>
        <p:txBody>
          <a:bodyPr wrap="none" rtlCol="0">
            <a:spAutoFit/>
          </a:bodyPr>
          <a:lstStyle/>
          <a:p>
            <a:r>
              <a:rPr lang="es-CO" sz="2500" dirty="0" smtClean="0"/>
              <a:t>Existen </a:t>
            </a:r>
          </a:p>
          <a:p>
            <a:r>
              <a:rPr lang="es-CO" sz="2500" dirty="0" smtClean="0"/>
              <a:t>individuos </a:t>
            </a:r>
            <a:endParaRPr lang="es-ES" sz="2500" dirty="0"/>
          </a:p>
        </p:txBody>
      </p:sp>
      <p:sp>
        <p:nvSpPr>
          <p:cNvPr id="9" name="8 Abrir llave"/>
          <p:cNvSpPr/>
          <p:nvPr/>
        </p:nvSpPr>
        <p:spPr>
          <a:xfrm>
            <a:off x="2500298" y="3286124"/>
            <a:ext cx="142876" cy="17145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0" name="9 CuadroTexto"/>
          <p:cNvSpPr txBox="1"/>
          <p:nvPr/>
        </p:nvSpPr>
        <p:spPr>
          <a:xfrm>
            <a:off x="2643174" y="3286124"/>
            <a:ext cx="5792611" cy="861774"/>
          </a:xfrm>
          <a:prstGeom prst="rect">
            <a:avLst/>
          </a:prstGeom>
          <a:noFill/>
        </p:spPr>
        <p:txBody>
          <a:bodyPr wrap="none" rtlCol="0">
            <a:spAutoFit/>
          </a:bodyPr>
          <a:lstStyle/>
          <a:p>
            <a:r>
              <a:rPr lang="es-CO" sz="2500" dirty="0" smtClean="0"/>
              <a:t>Con puntajes &gt; 47 	   No pertenecen al </a:t>
            </a:r>
          </a:p>
          <a:p>
            <a:r>
              <a:rPr lang="es-CO" sz="2500" dirty="0" smtClean="0"/>
              <a:t>			   régimen subsidiado.</a:t>
            </a:r>
            <a:endParaRPr lang="es-ES" sz="2500" dirty="0"/>
          </a:p>
        </p:txBody>
      </p:sp>
      <p:sp>
        <p:nvSpPr>
          <p:cNvPr id="11" name="10 CuadroTexto"/>
          <p:cNvSpPr txBox="1"/>
          <p:nvPr/>
        </p:nvSpPr>
        <p:spPr>
          <a:xfrm>
            <a:off x="2643174" y="4210300"/>
            <a:ext cx="5792611" cy="861774"/>
          </a:xfrm>
          <a:prstGeom prst="rect">
            <a:avLst/>
          </a:prstGeom>
          <a:noFill/>
        </p:spPr>
        <p:txBody>
          <a:bodyPr wrap="none" rtlCol="0">
            <a:spAutoFit/>
          </a:bodyPr>
          <a:lstStyle/>
          <a:p>
            <a:r>
              <a:rPr lang="es-CO" sz="2500" dirty="0" smtClean="0"/>
              <a:t>Con puntajes &lt; 47 	   Pertenecen al </a:t>
            </a:r>
          </a:p>
          <a:p>
            <a:r>
              <a:rPr lang="es-CO" sz="2500" dirty="0" smtClean="0"/>
              <a:t>			   régimen subsidiado.</a:t>
            </a:r>
            <a:endParaRPr lang="es-ES" sz="2500" dirty="0"/>
          </a:p>
        </p:txBody>
      </p:sp>
      <p:cxnSp>
        <p:nvCxnSpPr>
          <p:cNvPr id="13" name="12 Conector recto de flecha"/>
          <p:cNvCxnSpPr/>
          <p:nvPr/>
        </p:nvCxnSpPr>
        <p:spPr>
          <a:xfrm>
            <a:off x="5286380" y="3500438"/>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p:nvPr/>
        </p:nvCxnSpPr>
        <p:spPr>
          <a:xfrm>
            <a:off x="5286380" y="4427544"/>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17" name="1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80</a:t>
            </a:fld>
            <a:endParaRPr lang="es-ES" sz="1500" dirty="0">
              <a:solidFill>
                <a:schemeClr val="tx1">
                  <a:lumMod val="50000"/>
                  <a:lumOff val="50000"/>
                </a:schemeClr>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sp>
        <p:nvSpPr>
          <p:cNvPr id="6" name="5 Marcador de contenido"/>
          <p:cNvSpPr txBox="1">
            <a:spLocks noGrp="1"/>
          </p:cNvSpPr>
          <p:nvPr>
            <p:ph idx="1"/>
          </p:nvPr>
        </p:nvSpPr>
        <p:spPr>
          <a:xfrm>
            <a:off x="357158" y="1825172"/>
            <a:ext cx="8429684" cy="4478149"/>
          </a:xfrm>
          <a:prstGeom prst="rect">
            <a:avLst/>
          </a:prstGeom>
          <a:noFill/>
          <a:ln w="28575">
            <a:solidFill>
              <a:schemeClr val="accent1">
                <a:lumMod val="75000"/>
              </a:schemeClr>
            </a:solidFill>
          </a:ln>
        </p:spPr>
        <p:txBody>
          <a:bodyPr wrap="square" rtlCol="0">
            <a:spAutoFit/>
          </a:bodyPr>
          <a:lstStyle/>
          <a:p>
            <a:pPr>
              <a:buNone/>
            </a:pPr>
            <a:r>
              <a:rPr lang="es-CO" sz="2500" b="1" dirty="0" smtClean="0"/>
              <a:t>	</a:t>
            </a:r>
            <a:r>
              <a:rPr lang="es-CO" sz="2500" b="1" u="sng" dirty="0" smtClean="0"/>
              <a:t>Variables de interés:</a:t>
            </a:r>
          </a:p>
          <a:p>
            <a:pPr>
              <a:buNone/>
            </a:pPr>
            <a:r>
              <a:rPr lang="es-CO" sz="2500" dirty="0" smtClean="0"/>
              <a:t> 	Variables de acceso a servicios de salud para madres    embarazadas: </a:t>
            </a:r>
          </a:p>
          <a:p>
            <a:pPr>
              <a:buNone/>
            </a:pPr>
            <a:r>
              <a:rPr lang="es-CO" sz="2500" dirty="0" smtClean="0"/>
              <a:t>		Visitas prenatales.</a:t>
            </a:r>
          </a:p>
          <a:p>
            <a:pPr>
              <a:buNone/>
            </a:pPr>
            <a:r>
              <a:rPr lang="es-CO" sz="2500" dirty="0" smtClean="0"/>
              <a:t>		Si el niño nació en un hospital.</a:t>
            </a:r>
          </a:p>
          <a:p>
            <a:pPr>
              <a:buNone/>
            </a:pPr>
            <a:r>
              <a:rPr lang="es-CO" sz="2500" dirty="0" smtClean="0"/>
              <a:t>		Si contó con la presencia de un médico en el momento 	del nacimiento.</a:t>
            </a:r>
          </a:p>
          <a:p>
            <a:pPr>
              <a:buNone/>
            </a:pPr>
            <a:r>
              <a:rPr lang="es-CO" sz="2500" dirty="0" smtClean="0"/>
              <a:t>	Estado de salud en niños recién nacidos:</a:t>
            </a:r>
          </a:p>
          <a:p>
            <a:pPr>
              <a:buNone/>
            </a:pPr>
            <a:r>
              <a:rPr lang="es-CO" sz="2500" dirty="0" smtClean="0"/>
              <a:t>		Peso en el momento del nacimiento.</a:t>
            </a:r>
          </a:p>
          <a:p>
            <a:pPr>
              <a:buNone/>
            </a:pPr>
            <a:endParaRPr lang="es-ES" sz="2500" dirty="0"/>
          </a:p>
        </p:txBody>
      </p:sp>
      <p:cxnSp>
        <p:nvCxnSpPr>
          <p:cNvPr id="7" name="6 Conector recto de flecha"/>
          <p:cNvCxnSpPr/>
          <p:nvPr/>
        </p:nvCxnSpPr>
        <p:spPr>
          <a:xfrm>
            <a:off x="1000100" y="3355974"/>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7 Conector recto de flecha"/>
          <p:cNvCxnSpPr/>
          <p:nvPr/>
        </p:nvCxnSpPr>
        <p:spPr>
          <a:xfrm>
            <a:off x="1000100" y="3786190"/>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a:off x="1000100" y="4284668"/>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1000100" y="5570552"/>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13" name="12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81</a:t>
            </a:fld>
            <a:endParaRPr lang="es-ES" sz="1500" dirty="0">
              <a:solidFill>
                <a:schemeClr val="tx1">
                  <a:lumMod val="50000"/>
                  <a:lumOff val="50000"/>
                </a:schemeClr>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600200"/>
            <a:ext cx="8186766" cy="4757758"/>
          </a:xfrm>
          <a:ln w="28575">
            <a:solidFill>
              <a:schemeClr val="accent1">
                <a:lumMod val="75000"/>
              </a:schemeClr>
            </a:solidFill>
          </a:ln>
        </p:spPr>
        <p:txBody>
          <a:bodyPr>
            <a:normAutofit/>
          </a:bodyPr>
          <a:lstStyle/>
          <a:p>
            <a:pPr>
              <a:buNone/>
            </a:pPr>
            <a:r>
              <a:rPr lang="es-CO" sz="2500" dirty="0" smtClean="0"/>
              <a:t>	Se crean una serie de variables dicótomas para:</a:t>
            </a:r>
          </a:p>
          <a:p>
            <a:pPr>
              <a:buNone/>
            </a:pPr>
            <a:r>
              <a:rPr lang="es-CO" sz="2500" dirty="0" smtClean="0"/>
              <a:t>	</a:t>
            </a:r>
            <a:r>
              <a:rPr lang="es-CO" sz="2500" u="sng" dirty="0" smtClean="0"/>
              <a:t>Peso al nacer:</a:t>
            </a:r>
            <a:endParaRPr lang="es-CO" sz="2500" dirty="0" smtClean="0"/>
          </a:p>
          <a:p>
            <a:pPr>
              <a:buNone/>
            </a:pPr>
            <a:endParaRPr lang="es-CO" sz="2500" dirty="0" smtClean="0"/>
          </a:p>
          <a:p>
            <a:pPr>
              <a:buNone/>
            </a:pPr>
            <a:endParaRPr lang="es-CO" sz="2500" dirty="0" smtClean="0"/>
          </a:p>
          <a:p>
            <a:pPr>
              <a:buNone/>
            </a:pPr>
            <a:endParaRPr lang="es-CO" sz="2500" dirty="0" smtClean="0"/>
          </a:p>
          <a:p>
            <a:pPr>
              <a:buNone/>
            </a:pPr>
            <a:endParaRPr lang="es-CO" sz="2500" dirty="0" smtClean="0"/>
          </a:p>
          <a:p>
            <a:pPr>
              <a:buNone/>
            </a:pPr>
            <a:r>
              <a:rPr lang="es-CO" sz="2500" dirty="0" smtClean="0"/>
              <a:t>	</a:t>
            </a:r>
          </a:p>
          <a:p>
            <a:pPr>
              <a:buNone/>
            </a:pPr>
            <a:r>
              <a:rPr lang="es-CO" sz="2500" dirty="0" smtClean="0"/>
              <a:t>	</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cxnSp>
        <p:nvCxnSpPr>
          <p:cNvPr id="7" name="6 Conector recto"/>
          <p:cNvCxnSpPr/>
          <p:nvPr/>
        </p:nvCxnSpPr>
        <p:spPr>
          <a:xfrm rot="5400000">
            <a:off x="107125" y="3750471"/>
            <a:ext cx="22145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p:nvPr/>
        </p:nvCxnSpPr>
        <p:spPr>
          <a:xfrm>
            <a:off x="1214414" y="3070222"/>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a:off x="1214414" y="3643314"/>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1214414" y="4284668"/>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11 CuadroTexto"/>
          <p:cNvSpPr txBox="1"/>
          <p:nvPr/>
        </p:nvSpPr>
        <p:spPr>
          <a:xfrm>
            <a:off x="1571604" y="2857496"/>
            <a:ext cx="6033318" cy="477054"/>
          </a:xfrm>
          <a:prstGeom prst="rect">
            <a:avLst/>
          </a:prstGeom>
          <a:noFill/>
        </p:spPr>
        <p:txBody>
          <a:bodyPr wrap="none" rtlCol="0">
            <a:spAutoFit/>
          </a:bodyPr>
          <a:lstStyle/>
          <a:p>
            <a:r>
              <a:rPr lang="es-CO" sz="2500" dirty="0" smtClean="0"/>
              <a:t>Si el recién nacido se considera de bajo peso.</a:t>
            </a:r>
            <a:endParaRPr lang="es-ES" sz="2500" dirty="0"/>
          </a:p>
        </p:txBody>
      </p:sp>
      <p:sp>
        <p:nvSpPr>
          <p:cNvPr id="13" name="12 CuadroTexto"/>
          <p:cNvSpPr txBox="1"/>
          <p:nvPr/>
        </p:nvSpPr>
        <p:spPr>
          <a:xfrm>
            <a:off x="1571604" y="3429000"/>
            <a:ext cx="6676123" cy="477054"/>
          </a:xfrm>
          <a:prstGeom prst="rect">
            <a:avLst/>
          </a:prstGeom>
          <a:noFill/>
        </p:spPr>
        <p:txBody>
          <a:bodyPr wrap="none" rtlCol="0">
            <a:spAutoFit/>
          </a:bodyPr>
          <a:lstStyle/>
          <a:p>
            <a:r>
              <a:rPr lang="es-CO" sz="2500" dirty="0" smtClean="0"/>
              <a:t>Si el recién nacido se considera de muy bajo peso.</a:t>
            </a:r>
            <a:endParaRPr lang="es-ES" sz="2500" dirty="0"/>
          </a:p>
        </p:txBody>
      </p:sp>
      <p:sp>
        <p:nvSpPr>
          <p:cNvPr id="14" name="13 CuadroTexto"/>
          <p:cNvSpPr txBox="1"/>
          <p:nvPr/>
        </p:nvSpPr>
        <p:spPr>
          <a:xfrm>
            <a:off x="1612251" y="4071942"/>
            <a:ext cx="4290726" cy="477054"/>
          </a:xfrm>
          <a:prstGeom prst="rect">
            <a:avLst/>
          </a:prstGeom>
          <a:noFill/>
        </p:spPr>
        <p:txBody>
          <a:bodyPr wrap="none" rtlCol="0">
            <a:spAutoFit/>
          </a:bodyPr>
          <a:lstStyle/>
          <a:p>
            <a:r>
              <a:rPr lang="es-CO" sz="2500" dirty="0" smtClean="0"/>
              <a:t>Si el nacimiento fue prematuro.</a:t>
            </a:r>
            <a:endParaRPr lang="es-ES" sz="2500" dirty="0"/>
          </a:p>
        </p:txBody>
      </p:sp>
      <p:cxnSp>
        <p:nvCxnSpPr>
          <p:cNvPr id="17" name="16 Conector recto de flecha"/>
          <p:cNvCxnSpPr/>
          <p:nvPr/>
        </p:nvCxnSpPr>
        <p:spPr>
          <a:xfrm>
            <a:off x="1214414" y="4856172"/>
            <a:ext cx="35719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18 CuadroTexto"/>
          <p:cNvSpPr txBox="1"/>
          <p:nvPr/>
        </p:nvSpPr>
        <p:spPr>
          <a:xfrm>
            <a:off x="1567091" y="4638928"/>
            <a:ext cx="7076875" cy="861774"/>
          </a:xfrm>
          <a:prstGeom prst="rect">
            <a:avLst/>
          </a:prstGeom>
          <a:noFill/>
        </p:spPr>
        <p:txBody>
          <a:bodyPr wrap="square" rtlCol="0">
            <a:spAutoFit/>
          </a:bodyPr>
          <a:lstStyle/>
          <a:p>
            <a:r>
              <a:rPr lang="es-CO" sz="2500" dirty="0" smtClean="0"/>
              <a:t>Si la prueba Apgar a los cinco minutos del nacimiento es superior a siete.</a:t>
            </a:r>
            <a:endParaRPr lang="es-ES" sz="2500" dirty="0"/>
          </a:p>
        </p:txBody>
      </p:sp>
      <p:sp>
        <p:nvSpPr>
          <p:cNvPr id="15"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18" name="1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82</a:t>
            </a:fld>
            <a:endParaRPr lang="es-ES" sz="1500" dirty="0">
              <a:solidFill>
                <a:schemeClr val="tx1">
                  <a:lumMod val="50000"/>
                  <a:lumOff val="50000"/>
                </a:schemeClr>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85926"/>
            <a:ext cx="8329642" cy="4543444"/>
          </a:xfrm>
        </p:spPr>
        <p:txBody>
          <a:bodyPr>
            <a:normAutofit/>
          </a:bodyPr>
          <a:lstStyle/>
          <a:p>
            <a:pPr>
              <a:buNone/>
            </a:pPr>
            <a:r>
              <a:rPr lang="es-CO" sz="2500" b="1" dirty="0" smtClean="0"/>
              <a:t>	</a:t>
            </a:r>
            <a:r>
              <a:rPr lang="es-CO" sz="2500" b="1" u="sng" dirty="0" smtClean="0"/>
              <a:t>Metodología:</a:t>
            </a:r>
          </a:p>
          <a:p>
            <a:pPr algn="just">
              <a:buNone/>
            </a:pPr>
            <a:r>
              <a:rPr lang="es-CO" sz="2500" b="1" dirty="0" smtClean="0"/>
              <a:t>	</a:t>
            </a:r>
            <a:r>
              <a:rPr lang="es-CO" sz="2500" dirty="0" smtClean="0"/>
              <a:t>1. Instrumentar la participación en el régimen subsidiado de salud utilizando el criterio de elegibilidad para el régimen.</a:t>
            </a:r>
          </a:p>
          <a:p>
            <a:pPr algn="just">
              <a:buNone/>
            </a:pPr>
            <a:r>
              <a:rPr lang="es-CO" sz="2500" b="1" dirty="0" smtClean="0"/>
              <a:t>	</a:t>
            </a:r>
          </a:p>
          <a:p>
            <a:pPr algn="just">
              <a:buNone/>
            </a:pPr>
            <a:r>
              <a:rPr lang="es-CO" sz="2500" b="1" dirty="0" smtClean="0"/>
              <a:t>	</a:t>
            </a:r>
            <a:r>
              <a:rPr lang="es-CO" sz="2500" dirty="0" smtClean="0"/>
              <a:t>Variable dicótoma: </a:t>
            </a:r>
          </a:p>
          <a:p>
            <a:pPr>
              <a:buNone/>
            </a:pPr>
            <a:r>
              <a:rPr lang="es-CO" sz="2500" dirty="0" smtClean="0"/>
              <a:t>	</a:t>
            </a:r>
          </a:p>
          <a:p>
            <a:pPr algn="just">
              <a:buNone/>
            </a:pPr>
            <a:r>
              <a:rPr lang="es-CO" sz="2500" dirty="0" smtClean="0"/>
              <a:t>	</a:t>
            </a:r>
          </a:p>
          <a:p>
            <a:pPr algn="just">
              <a:buNone/>
            </a:pPr>
            <a:r>
              <a:rPr lang="es-CO" sz="2500" dirty="0" smtClean="0"/>
              <a:t>	2. Se estiman diferentes modelos en la primera etapa de la regresión, con diferentes anchos de banda y la inclusión de diferentes controles.</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sp>
        <p:nvSpPr>
          <p:cNvPr id="7" name="6 Abrir llave"/>
          <p:cNvSpPr/>
          <p:nvPr/>
        </p:nvSpPr>
        <p:spPr>
          <a:xfrm>
            <a:off x="3357554" y="3286124"/>
            <a:ext cx="142876" cy="114300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8" name="7 CuadroTexto"/>
          <p:cNvSpPr txBox="1"/>
          <p:nvPr/>
        </p:nvSpPr>
        <p:spPr>
          <a:xfrm>
            <a:off x="3428992" y="3380574"/>
            <a:ext cx="3968907" cy="477054"/>
          </a:xfrm>
          <a:prstGeom prst="rect">
            <a:avLst/>
          </a:prstGeom>
          <a:noFill/>
        </p:spPr>
        <p:txBody>
          <a:bodyPr wrap="none" rtlCol="0">
            <a:spAutoFit/>
          </a:bodyPr>
          <a:lstStyle/>
          <a:p>
            <a:r>
              <a:rPr lang="es-CO" sz="2500" dirty="0" smtClean="0"/>
              <a:t>1 	si puntaje </a:t>
            </a:r>
            <a:r>
              <a:rPr lang="es-CO" sz="2500" dirty="0" err="1" smtClean="0"/>
              <a:t>Sisben</a:t>
            </a:r>
            <a:r>
              <a:rPr lang="es-CO" sz="2500" dirty="0" smtClean="0"/>
              <a:t> ≤ 47 </a:t>
            </a:r>
            <a:endParaRPr lang="es-ES" sz="2500" dirty="0"/>
          </a:p>
        </p:txBody>
      </p:sp>
      <p:sp>
        <p:nvSpPr>
          <p:cNvPr id="9" name="8 CuadroTexto"/>
          <p:cNvSpPr txBox="1"/>
          <p:nvPr/>
        </p:nvSpPr>
        <p:spPr>
          <a:xfrm>
            <a:off x="3500430" y="3952078"/>
            <a:ext cx="3040191" cy="477054"/>
          </a:xfrm>
          <a:prstGeom prst="rect">
            <a:avLst/>
          </a:prstGeom>
          <a:noFill/>
        </p:spPr>
        <p:txBody>
          <a:bodyPr wrap="none" rtlCol="0">
            <a:spAutoFit/>
          </a:bodyPr>
          <a:lstStyle/>
          <a:p>
            <a:r>
              <a:rPr lang="es-CO" sz="2500" dirty="0" smtClean="0"/>
              <a:t>0	de lo contrario</a:t>
            </a:r>
            <a:endParaRPr lang="es-ES" sz="2500" dirty="0"/>
          </a:p>
        </p:txBody>
      </p:sp>
      <p:sp>
        <p:nvSpPr>
          <p:cNvPr id="10"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12" name="11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83</a:t>
            </a:fld>
            <a:endParaRPr lang="es-ES" sz="1500" dirty="0">
              <a:solidFill>
                <a:schemeClr val="tx1">
                  <a:lumMod val="50000"/>
                  <a:lumOff val="50000"/>
                </a:schemeClr>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714488"/>
            <a:ext cx="8229600" cy="4572032"/>
          </a:xfrm>
          <a:ln w="28575">
            <a:solidFill>
              <a:schemeClr val="accent1">
                <a:lumMod val="75000"/>
              </a:schemeClr>
            </a:solidFill>
          </a:ln>
        </p:spPr>
        <p:txBody>
          <a:bodyPr/>
          <a:lstStyle/>
          <a:p>
            <a:pPr>
              <a:buNone/>
            </a:pPr>
            <a:r>
              <a:rPr lang="es-CO" dirty="0" smtClean="0"/>
              <a:t>	</a:t>
            </a:r>
            <a:r>
              <a:rPr lang="es-CO" sz="2500" dirty="0" smtClean="0"/>
              <a:t>Se prueba que no existen discontinuidades en una serie de variables observadas de control.</a:t>
            </a:r>
          </a:p>
          <a:p>
            <a:pPr>
              <a:buNone/>
            </a:pPr>
            <a:endParaRPr lang="es-CO" sz="2500" dirty="0" smtClean="0"/>
          </a:p>
          <a:p>
            <a:pPr>
              <a:buNone/>
            </a:pPr>
            <a:r>
              <a:rPr lang="es-CO" sz="2500" dirty="0" smtClean="0"/>
              <a:t>	</a:t>
            </a:r>
            <a:r>
              <a:rPr lang="es-CO" sz="2500" b="1" u="sng" dirty="0" smtClean="0"/>
              <a:t>Resultados:</a:t>
            </a:r>
            <a:endParaRPr lang="es-CO" sz="2500" dirty="0" smtClean="0"/>
          </a:p>
          <a:p>
            <a:pPr algn="just">
              <a:buNone/>
            </a:pPr>
            <a:r>
              <a:rPr lang="es-CO" sz="2500" dirty="0" smtClean="0"/>
              <a:t>	Encuentran que el régimen subsidiado tiene un impacto significativo en la incidencia del bajo peso al nacer.</a:t>
            </a:r>
          </a:p>
          <a:p>
            <a:pPr algn="just">
              <a:buNone/>
            </a:pPr>
            <a:r>
              <a:rPr lang="es-CO" sz="2500" dirty="0" smtClean="0"/>
              <a:t>	</a:t>
            </a:r>
          </a:p>
          <a:p>
            <a:pPr algn="just">
              <a:buNone/>
            </a:pPr>
            <a:r>
              <a:rPr lang="es-CO" sz="2500" dirty="0" smtClean="0"/>
              <a:t>	Se encuentra que una expansión del 10% en el régimen subsidiado de salud reduce la incidencia de nacimientos de bajo peso entre 1.3% y 3.7%.</a:t>
            </a:r>
            <a:endParaRPr lang="es-ES" sz="2500" dirty="0" smtClean="0"/>
          </a:p>
          <a:p>
            <a:pPr>
              <a:buNone/>
            </a:pP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sp>
        <p:nvSpPr>
          <p:cNvPr id="7"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84</a:t>
            </a:fld>
            <a:endParaRPr lang="es-ES" sz="1500" dirty="0">
              <a:solidFill>
                <a:schemeClr val="tx1">
                  <a:lumMod val="50000"/>
                  <a:lumOff val="50000"/>
                </a:schemeClr>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pic>
        <p:nvPicPr>
          <p:cNvPr id="7" name="6 Imagen"/>
          <p:cNvPicPr/>
          <p:nvPr/>
        </p:nvPicPr>
        <p:blipFill>
          <a:blip r:embed="rId4" cstate="print"/>
          <a:srcRect/>
          <a:stretch>
            <a:fillRect/>
          </a:stretch>
        </p:blipFill>
        <p:spPr bwMode="auto">
          <a:xfrm>
            <a:off x="714348" y="1785926"/>
            <a:ext cx="7715304" cy="4357718"/>
          </a:xfrm>
          <a:prstGeom prst="rect">
            <a:avLst/>
          </a:prstGeom>
          <a:noFill/>
          <a:ln w="9525">
            <a:noFill/>
            <a:miter lim="800000"/>
            <a:headEnd/>
            <a:tailEnd/>
          </a:ln>
        </p:spPr>
      </p:pic>
      <p:sp>
        <p:nvSpPr>
          <p:cNvPr id="6"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9" name="8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85</a:t>
            </a:fld>
            <a:endParaRPr lang="es-ES" sz="1500" dirty="0">
              <a:solidFill>
                <a:schemeClr val="tx1">
                  <a:lumMod val="50000"/>
                  <a:lumOff val="50000"/>
                </a:schemeClr>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857364"/>
            <a:ext cx="8229600" cy="4268799"/>
          </a:xfrm>
          <a:ln w="28575">
            <a:solidFill>
              <a:schemeClr val="accent1">
                <a:lumMod val="75000"/>
              </a:schemeClr>
            </a:solidFill>
          </a:ln>
        </p:spPr>
        <p:txBody>
          <a:bodyPr>
            <a:normAutofit/>
          </a:bodyPr>
          <a:lstStyle/>
          <a:p>
            <a:pPr>
              <a:buNone/>
            </a:pPr>
            <a:r>
              <a:rPr lang="es-CO" sz="2500" dirty="0" smtClean="0"/>
              <a:t>	</a:t>
            </a:r>
          </a:p>
          <a:p>
            <a:pPr algn="ctr">
              <a:buNone/>
            </a:pPr>
            <a:r>
              <a:rPr lang="es-CO" sz="2500" dirty="0" smtClean="0"/>
              <a:t>	Pese a que se encuentra un impacto significativo en la incidencia bajo peso al nacer, no hay ningún impacto significativo en el acceso a los servicios de salud por parte de madres embarazadas.</a:t>
            </a:r>
            <a:endParaRPr lang="es-ES" sz="2500" dirty="0"/>
          </a:p>
        </p:txBody>
      </p:sp>
      <p:pic>
        <p:nvPicPr>
          <p:cNvPr id="4" name="Picture 1"/>
          <p:cNvPicPr>
            <a:picLocks noChangeAspect="1" noChangeArrowheads="1"/>
          </p:cNvPicPr>
          <p:nvPr/>
        </p:nvPicPr>
        <p:blipFill>
          <a:blip r:embed="rId2" cstate="print"/>
          <a:srcRect/>
          <a:stretch>
            <a:fillRect/>
          </a:stretch>
        </p:blipFill>
        <p:spPr bwMode="auto">
          <a:xfrm>
            <a:off x="0" y="0"/>
            <a:ext cx="2500298" cy="1189301"/>
          </a:xfrm>
          <a:prstGeom prst="rect">
            <a:avLst/>
          </a:prstGeom>
          <a:noFill/>
          <a:ln w="9525">
            <a:noFill/>
            <a:miter lim="800000"/>
            <a:headEnd/>
            <a:tailEnd/>
          </a:ln>
          <a:effectLst/>
        </p:spPr>
      </p:pic>
      <p:sp>
        <p:nvSpPr>
          <p:cNvPr id="6" name="1 Título"/>
          <p:cNvSpPr txBox="1">
            <a:spLocks/>
          </p:cNvSpPr>
          <p:nvPr/>
        </p:nvSpPr>
        <p:spPr>
          <a:xfrm>
            <a:off x="2276492" y="174384"/>
            <a:ext cx="6796102" cy="1285884"/>
          </a:xfrm>
          <a:prstGeom prst="rect">
            <a:avLst/>
          </a:prstGeom>
        </p:spPr>
        <p:txBody>
          <a:bodyPr vert="horz" lIns="91440" tIns="45720" rIns="91440" bIns="45720" rtlCol="0" anchor="ctr">
            <a:noAutofit/>
          </a:bodyPr>
          <a:lstStyle/>
          <a:p>
            <a:pPr lvl="0" algn="ctr">
              <a:spcBef>
                <a:spcPct val="0"/>
              </a:spcBef>
              <a:defRPr/>
            </a:pPr>
            <a:r>
              <a:rPr kumimoji="0" lang="es-CO" sz="4200" b="0" i="0" strike="noStrike" kern="1200" cap="none" spc="0" normalizeH="0" baseline="0" noProof="0" dirty="0" smtClean="0">
                <a:ln>
                  <a:noFill/>
                </a:ln>
                <a:solidFill>
                  <a:schemeClr val="tx1"/>
                </a:solidFill>
                <a:effectLst/>
                <a:uLnTx/>
                <a:uFillTx/>
                <a:latin typeface="+mj-lt"/>
                <a:ea typeface="+mj-ea"/>
                <a:cs typeface="+mj-cs"/>
              </a:rPr>
              <a:t>Ejemplo:</a:t>
            </a:r>
            <a:r>
              <a:rPr lang="es-CO" sz="4200" dirty="0" smtClean="0">
                <a:latin typeface="+mj-lt"/>
                <a:ea typeface="+mj-ea"/>
                <a:cs typeface="+mj-cs"/>
              </a:rPr>
              <a:t> </a:t>
            </a:r>
          </a:p>
          <a:p>
            <a:pPr lvl="0" algn="ctr">
              <a:spcBef>
                <a:spcPct val="0"/>
              </a:spcBef>
              <a:defRPr/>
            </a:pPr>
            <a:r>
              <a:rPr lang="es-CO" sz="3000" dirty="0" smtClean="0">
                <a:latin typeface="+mj-lt"/>
                <a:ea typeface="+mj-ea"/>
                <a:cs typeface="+mj-cs"/>
              </a:rPr>
              <a:t>Régimen subsidiado de salud y los recién nacidos (</a:t>
            </a:r>
            <a:r>
              <a:rPr lang="es-ES" sz="3000" dirty="0" smtClean="0"/>
              <a:t>Camacho y </a:t>
            </a:r>
            <a:r>
              <a:rPr lang="es-ES" sz="3000" dirty="0" err="1" smtClean="0"/>
              <a:t>Conover</a:t>
            </a:r>
            <a:r>
              <a:rPr lang="es-ES" sz="3000" dirty="0" smtClean="0"/>
              <a:t>, 2009)</a:t>
            </a:r>
            <a:endParaRPr kumimoji="0" lang="es-ES" sz="3000" b="0" i="0" strike="noStrike" kern="1200" cap="none" spc="0" normalizeH="0" baseline="0" noProof="0" dirty="0">
              <a:ln>
                <a:noFill/>
              </a:ln>
              <a:solidFill>
                <a:schemeClr val="tx1"/>
              </a:solidFill>
              <a:effectLst/>
              <a:uLnTx/>
              <a:uFillTx/>
              <a:latin typeface="+mj-lt"/>
              <a:ea typeface="+mj-ea"/>
              <a:cs typeface="+mj-cs"/>
            </a:endParaRPr>
          </a:p>
        </p:txBody>
      </p:sp>
      <p:sp>
        <p:nvSpPr>
          <p:cNvPr id="8" name="7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86</a:t>
            </a:fld>
            <a:endParaRPr lang="es-ES" sz="1500" dirty="0">
              <a:solidFill>
                <a:schemeClr val="tx1">
                  <a:lumMod val="50000"/>
                  <a:lumOff val="50000"/>
                </a:schemeClr>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8" name="7 Título"/>
          <p:cNvSpPr>
            <a:spLocks noGrp="1"/>
          </p:cNvSpPr>
          <p:nvPr>
            <p:ph type="title"/>
          </p:nvPr>
        </p:nvSpPr>
        <p:spPr>
          <a:xfrm>
            <a:off x="2632840" y="268014"/>
            <a:ext cx="6053959" cy="1149624"/>
          </a:xfrm>
        </p:spPr>
        <p:txBody>
          <a:bodyPr/>
          <a:lstStyle/>
          <a:p>
            <a:r>
              <a:rPr lang="es-MX" u="sng" dirty="0" smtClean="0"/>
              <a:t>Conclusiones</a:t>
            </a:r>
            <a:endParaRPr lang="en-US" u="sng" dirty="0"/>
          </a:p>
        </p:txBody>
      </p:sp>
      <p:sp>
        <p:nvSpPr>
          <p:cNvPr id="9" name="8 Marcador de contenido"/>
          <p:cNvSpPr>
            <a:spLocks noGrp="1"/>
          </p:cNvSpPr>
          <p:nvPr>
            <p:ph idx="1"/>
          </p:nvPr>
        </p:nvSpPr>
        <p:spPr/>
        <p:txBody>
          <a:bodyPr>
            <a:normAutofit/>
          </a:bodyPr>
          <a:lstStyle/>
          <a:p>
            <a:endParaRPr lang="es-MX" dirty="0" smtClean="0"/>
          </a:p>
          <a:p>
            <a:r>
              <a:rPr lang="es-MX" dirty="0" smtClean="0"/>
              <a:t>Importancia del análisis gráfico: </a:t>
            </a:r>
          </a:p>
          <a:p>
            <a:pPr lvl="1"/>
            <a:r>
              <a:rPr lang="es-MX" dirty="0" smtClean="0"/>
              <a:t>El impacto del programa alrededor del umbral o puntaje de corte. </a:t>
            </a:r>
          </a:p>
          <a:p>
            <a:pPr lvl="1"/>
            <a:r>
              <a:rPr lang="es-MX" dirty="0" smtClean="0"/>
              <a:t>Variables observables como función del instrumento de focalización. </a:t>
            </a:r>
          </a:p>
          <a:p>
            <a:pPr lvl="1"/>
            <a:r>
              <a:rPr lang="es-MX" dirty="0" smtClean="0"/>
              <a:t>Densidad del instrumento de focalización Z. </a:t>
            </a:r>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87</a:t>
            </a:fld>
            <a:endParaRPr lang="es-ES" sz="1500" dirty="0">
              <a:solidFill>
                <a:schemeClr val="tx1">
                  <a:lumMod val="50000"/>
                  <a:lumOff val="50000"/>
                </a:schemeClr>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8" name="7 Título"/>
          <p:cNvSpPr>
            <a:spLocks noGrp="1"/>
          </p:cNvSpPr>
          <p:nvPr>
            <p:ph type="title"/>
          </p:nvPr>
        </p:nvSpPr>
        <p:spPr>
          <a:xfrm>
            <a:off x="2632840" y="268014"/>
            <a:ext cx="6053959" cy="1149624"/>
          </a:xfrm>
        </p:spPr>
        <p:txBody>
          <a:bodyPr/>
          <a:lstStyle/>
          <a:p>
            <a:r>
              <a:rPr lang="es-MX" u="sng" dirty="0" smtClean="0"/>
              <a:t>Conclusiones</a:t>
            </a:r>
            <a:endParaRPr lang="en-US" u="sng" dirty="0"/>
          </a:p>
        </p:txBody>
      </p:sp>
      <p:sp>
        <p:nvSpPr>
          <p:cNvPr id="9" name="8 Marcador de contenido"/>
          <p:cNvSpPr>
            <a:spLocks noGrp="1"/>
          </p:cNvSpPr>
          <p:nvPr>
            <p:ph idx="1"/>
          </p:nvPr>
        </p:nvSpPr>
        <p:spPr/>
        <p:txBody>
          <a:bodyPr/>
          <a:lstStyle/>
          <a:p>
            <a:pPr lvl="1"/>
            <a:endParaRPr lang="es-MX" dirty="0" smtClean="0"/>
          </a:p>
          <a:p>
            <a:r>
              <a:rPr lang="es-MX" dirty="0" smtClean="0"/>
              <a:t>Intervalos para análisis gráfico:</a:t>
            </a:r>
          </a:p>
          <a:p>
            <a:pPr lvl="1"/>
            <a:r>
              <a:rPr lang="es-MX" dirty="0" smtClean="0"/>
              <a:t>Suficientemente amplios: </a:t>
            </a:r>
          </a:p>
          <a:p>
            <a:pPr lvl="2"/>
            <a:r>
              <a:rPr lang="es-MX" dirty="0" smtClean="0">
                <a:sym typeface="Wingdings" pitchFamily="2" charset="2"/>
              </a:rPr>
              <a:t> Contener suficientes observaciones. </a:t>
            </a:r>
          </a:p>
          <a:p>
            <a:pPr lvl="2"/>
            <a:r>
              <a:rPr lang="es-MX" dirty="0" smtClean="0">
                <a:sym typeface="Wingdings" pitchFamily="2" charset="2"/>
              </a:rPr>
              <a:t>Ser precisos. </a:t>
            </a:r>
          </a:p>
          <a:p>
            <a:pPr lvl="1"/>
            <a:r>
              <a:rPr lang="es-MX" dirty="0" smtClean="0">
                <a:sym typeface="Wingdings" pitchFamily="2" charset="2"/>
              </a:rPr>
              <a:t>Suficientemente pequeños:</a:t>
            </a:r>
          </a:p>
          <a:p>
            <a:pPr lvl="2"/>
            <a:r>
              <a:rPr lang="es-MX" dirty="0" smtClean="0">
                <a:sym typeface="Wingdings" pitchFamily="2" charset="2"/>
              </a:rPr>
              <a:t>Observar saltos en el punto de discontinuidad. </a:t>
            </a:r>
            <a:endParaRPr lang="en-US" dirty="0" smtClean="0"/>
          </a:p>
          <a:p>
            <a:endParaRPr lang="en-US" dirty="0"/>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88</a:t>
            </a:fld>
            <a:endParaRPr lang="es-ES" sz="1500" dirty="0">
              <a:solidFill>
                <a:schemeClr val="tx1">
                  <a:lumMod val="50000"/>
                  <a:lumOff val="50000"/>
                </a:schemeClr>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ChangeAspect="1" noChangeArrowheads="1"/>
          </p:cNvPicPr>
          <p:nvPr/>
        </p:nvPicPr>
        <p:blipFill>
          <a:blip r:embed="rId3" cstate="print"/>
          <a:srcRect/>
          <a:stretch>
            <a:fillRect/>
          </a:stretch>
        </p:blipFill>
        <p:spPr bwMode="auto">
          <a:xfrm>
            <a:off x="0" y="0"/>
            <a:ext cx="2500298" cy="1189301"/>
          </a:xfrm>
          <a:prstGeom prst="rect">
            <a:avLst/>
          </a:prstGeom>
          <a:noFill/>
          <a:ln w="9525">
            <a:noFill/>
            <a:miter lim="800000"/>
            <a:headEnd/>
            <a:tailEnd/>
          </a:ln>
          <a:effectLst/>
        </p:spPr>
      </p:pic>
      <p:sp>
        <p:nvSpPr>
          <p:cNvPr id="8" name="7 Título"/>
          <p:cNvSpPr>
            <a:spLocks noGrp="1"/>
          </p:cNvSpPr>
          <p:nvPr>
            <p:ph type="title"/>
          </p:nvPr>
        </p:nvSpPr>
        <p:spPr>
          <a:xfrm>
            <a:off x="2632840" y="268014"/>
            <a:ext cx="6053959" cy="1149624"/>
          </a:xfrm>
        </p:spPr>
        <p:txBody>
          <a:bodyPr/>
          <a:lstStyle/>
          <a:p>
            <a:r>
              <a:rPr lang="es-MX" u="sng" dirty="0" smtClean="0"/>
              <a:t>Conclusiones</a:t>
            </a:r>
            <a:endParaRPr lang="en-US" u="sng" dirty="0"/>
          </a:p>
        </p:txBody>
      </p:sp>
      <p:sp>
        <p:nvSpPr>
          <p:cNvPr id="9" name="8 Marcador de contenido"/>
          <p:cNvSpPr>
            <a:spLocks noGrp="1"/>
          </p:cNvSpPr>
          <p:nvPr>
            <p:ph idx="1"/>
          </p:nvPr>
        </p:nvSpPr>
        <p:spPr>
          <a:xfrm>
            <a:off x="409904" y="1679027"/>
            <a:ext cx="8229600" cy="4525963"/>
          </a:xfrm>
        </p:spPr>
        <p:txBody>
          <a:bodyPr/>
          <a:lstStyle/>
          <a:p>
            <a:r>
              <a:rPr lang="es-MX" dirty="0" smtClean="0"/>
              <a:t>Selección del intervalo de confianza óptimo a partir del método de validación cruzada. </a:t>
            </a:r>
          </a:p>
          <a:p>
            <a:endParaRPr lang="es-MX" dirty="0" smtClean="0"/>
          </a:p>
          <a:p>
            <a:r>
              <a:rPr lang="es-MX" dirty="0" smtClean="0"/>
              <a:t>Pruebas de especificación: </a:t>
            </a:r>
          </a:p>
          <a:p>
            <a:pPr lvl="1"/>
            <a:r>
              <a:rPr lang="es-MX" dirty="0" smtClean="0"/>
              <a:t>Densidad de la variable de focalización.</a:t>
            </a:r>
          </a:p>
          <a:p>
            <a:pPr lvl="1"/>
            <a:r>
              <a:rPr lang="es-MX" dirty="0" smtClean="0"/>
              <a:t>Impacto utilizando diferentes anchos de banda.</a:t>
            </a:r>
          </a:p>
          <a:p>
            <a:pPr lvl="1"/>
            <a:r>
              <a:rPr lang="es-MX" dirty="0" smtClean="0"/>
              <a:t>Pruebas </a:t>
            </a:r>
            <a:r>
              <a:rPr lang="es-MX" dirty="0" err="1" smtClean="0"/>
              <a:t>contrafactuales</a:t>
            </a:r>
            <a:r>
              <a:rPr lang="es-MX" dirty="0" smtClean="0"/>
              <a:t> de impactos donde a priori no debería haber efectos del programa.</a:t>
            </a:r>
            <a:endParaRPr lang="en-US" dirty="0"/>
          </a:p>
        </p:txBody>
      </p:sp>
      <p:sp>
        <p:nvSpPr>
          <p:cNvPr id="7" name="6 Rectángulo"/>
          <p:cNvSpPr/>
          <p:nvPr/>
        </p:nvSpPr>
        <p:spPr>
          <a:xfrm>
            <a:off x="0" y="6534859"/>
            <a:ext cx="9144000" cy="323141"/>
          </a:xfrm>
          <a:prstGeom prst="rect">
            <a:avLst/>
          </a:prstGeom>
        </p:spPr>
        <p:txBody>
          <a:bodyPr wrap="square">
            <a:spAutoFit/>
          </a:bodyPr>
          <a:lstStyle/>
          <a:p>
            <a:pPr algn="ctr"/>
            <a:r>
              <a:rPr lang="es-MX" sz="1500" smtClean="0">
                <a:solidFill>
                  <a:schemeClr val="tx1">
                    <a:lumMod val="50000"/>
                    <a:lumOff val="50000"/>
                  </a:schemeClr>
                </a:solidFill>
              </a:rPr>
              <a:t>Guía práctica para la evaluación de impacto /</a:t>
            </a:r>
            <a:r>
              <a:rPr lang="es-CO" sz="1500" smtClean="0">
                <a:solidFill>
                  <a:schemeClr val="tx1">
                    <a:lumMod val="50000"/>
                    <a:lumOff val="50000"/>
                  </a:schemeClr>
                </a:solidFill>
              </a:rPr>
              <a:t>Capítulo </a:t>
            </a:r>
            <a:r>
              <a:rPr lang="es-CO" sz="1500" dirty="0" smtClean="0">
                <a:solidFill>
                  <a:schemeClr val="tx1">
                    <a:lumMod val="50000"/>
                    <a:lumOff val="50000"/>
                  </a:schemeClr>
                </a:solidFill>
              </a:rPr>
              <a:t>8: Regresión Discontinua/</a:t>
            </a:r>
            <a:fld id="{1B65775C-41AD-42F5-A493-B7C03EC2C2FA}" type="slidenum">
              <a:rPr lang="es-CO" sz="1500" smtClean="0">
                <a:solidFill>
                  <a:schemeClr val="tx1">
                    <a:lumMod val="50000"/>
                    <a:lumOff val="50000"/>
                  </a:schemeClr>
                </a:solidFill>
              </a:rPr>
              <a:pPr algn="ctr"/>
              <a:t>89</a:t>
            </a:fld>
            <a:endParaRPr lang="es-ES" sz="1500" dirty="0">
              <a:solidFill>
                <a:schemeClr val="tx1">
                  <a:lumMod val="50000"/>
                  <a:lumOff val="50000"/>
                </a:schemeClr>
              </a:solidFill>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3158</TotalTime>
  <Words>4848</Words>
  <Application>Microsoft Office PowerPoint</Application>
  <PresentationFormat>Presentación en pantalla (4:3)</PresentationFormat>
  <Paragraphs>635</Paragraphs>
  <Slides>89</Slides>
  <Notes>36</Notes>
  <HiddenSlides>0</HiddenSlides>
  <MMClips>0</MMClips>
  <ScaleCrop>false</ScaleCrop>
  <HeadingPairs>
    <vt:vector size="6" baseType="variant">
      <vt:variant>
        <vt:lpstr>Tema</vt:lpstr>
      </vt:variant>
      <vt:variant>
        <vt:i4>1</vt:i4>
      </vt:variant>
      <vt:variant>
        <vt:lpstr>Servidores OLE incrustados</vt:lpstr>
      </vt:variant>
      <vt:variant>
        <vt:i4>1</vt:i4>
      </vt:variant>
      <vt:variant>
        <vt:lpstr>Títulos de diapositiva</vt:lpstr>
      </vt:variant>
      <vt:variant>
        <vt:i4>89</vt:i4>
      </vt:variant>
    </vt:vector>
  </HeadingPairs>
  <TitlesOfParts>
    <vt:vector size="91" baseType="lpstr">
      <vt:lpstr>Tema de Office</vt:lpstr>
      <vt:lpstr>Documento</vt:lpstr>
      <vt:lpstr>Capítulo 8</vt:lpstr>
      <vt:lpstr>Motivación</vt:lpstr>
      <vt:lpstr>Motivación</vt:lpstr>
      <vt:lpstr>Motivación</vt:lpstr>
      <vt:lpstr>Motivación</vt:lpstr>
      <vt:lpstr>Regresión discontinua (RD): Notación</vt:lpstr>
      <vt:lpstr>Diapositiva 7</vt:lpstr>
      <vt:lpstr>Regresión discontinua (RD)</vt:lpstr>
      <vt:lpstr>Regresión discontinua (RD)</vt:lpstr>
      <vt:lpstr>Regresión discontinua (RD)</vt:lpstr>
      <vt:lpstr>Regresión discontinua (RD)</vt:lpstr>
      <vt:lpstr>Ejemplo: Canasta</vt:lpstr>
      <vt:lpstr>Ejemplo: Canasta</vt:lpstr>
      <vt:lpstr>Regresión discontinua nítida: Aspectos teóricos</vt:lpstr>
      <vt:lpstr>Regresión discontinua nítida: Aspectos teóricos</vt:lpstr>
      <vt:lpstr>Ejemplo: Canasta</vt:lpstr>
      <vt:lpstr>Regresión discontinua nítida: Aspectos teóricos</vt:lpstr>
      <vt:lpstr>Regresión discontinua nítida: Expectativas condicionales de las variables de resultado</vt:lpstr>
      <vt:lpstr>Regresión discontinua nítida:  Expectativas condicionales de las variables de resultado</vt:lpstr>
      <vt:lpstr>Regresión discontinua nítida: Expectativas condicionales de las variables de resultado</vt:lpstr>
      <vt:lpstr>Diapositiva 21</vt:lpstr>
      <vt:lpstr>Supuesto de  continuidad local</vt:lpstr>
      <vt:lpstr>Regresión discontinua nítida: Análisis gráfico </vt:lpstr>
      <vt:lpstr>Análisis gráfico: Supuesto de continuidad local: Saltos en variables observables en el umbral </vt:lpstr>
      <vt:lpstr>Análisis gráfico:  Supuesto de no manipulación Densidad del instrumento de focalización Z</vt:lpstr>
      <vt:lpstr>Regresión discontinua nítida: Variable de resultado</vt:lpstr>
      <vt:lpstr>Regresión discontinua nítida: Estimador del efecto del programa</vt:lpstr>
      <vt:lpstr>Regresión discontinua nítida: Estimador del efecto del programa</vt:lpstr>
      <vt:lpstr>Regresión discontinua nítida: Efecto del programa</vt:lpstr>
      <vt:lpstr>Regresión discontinua borrosa: Aspectos teóricos</vt:lpstr>
      <vt:lpstr>Regresión discontinua borrosa: Aspectos teóricos</vt:lpstr>
      <vt:lpstr>Regresión discontinua borrosa (RDB): Aspectos teóricos</vt:lpstr>
      <vt:lpstr>Ejemplo 1: Canasta</vt:lpstr>
      <vt:lpstr>Ejemplo 2: Canasta</vt:lpstr>
      <vt:lpstr>Ejemplo 2: Canasta</vt:lpstr>
      <vt:lpstr>Regresión discontinua borrosa: Expectativas condicionales de las variables de resultado</vt:lpstr>
      <vt:lpstr>Diapositiva 37</vt:lpstr>
      <vt:lpstr>Regresión discontinua borrosa: Análisis gráfico </vt:lpstr>
      <vt:lpstr>Regresión discontinua borrosa: Estimador del efecto del programa</vt:lpstr>
      <vt:lpstr>Regresión discontinua borrosa: Estimador del efecto del programa</vt:lpstr>
      <vt:lpstr>Regresión discontinua borrosa: Estimador del efecto del programa</vt:lpstr>
      <vt:lpstr>Regresión discontinua borrosa: Efecto del programa</vt:lpstr>
      <vt:lpstr>Ejemplo 1: Canasta</vt:lpstr>
      <vt:lpstr>Regresión discontinua borrosa: Análogo muestral</vt:lpstr>
      <vt:lpstr>Implementación empírica</vt:lpstr>
      <vt:lpstr>Implementación empírica</vt:lpstr>
      <vt:lpstr>Implementación empírica: Estimación paramétrica de RDN</vt:lpstr>
      <vt:lpstr>Implementación empírica: Estimación paramétrica de RDN</vt:lpstr>
      <vt:lpstr>Diapositiva 49</vt:lpstr>
      <vt:lpstr>Diapositiva 50</vt:lpstr>
      <vt:lpstr>Estimación no paramétrica o semiparamétrica</vt:lpstr>
      <vt:lpstr>Estimación no paramétrica Ancho de banda (h) </vt:lpstr>
      <vt:lpstr>Estimación no paramétrica</vt:lpstr>
      <vt:lpstr>Estimación no paramétrica Estimador de Kernel</vt:lpstr>
      <vt:lpstr>Estimación no paramétrica Estimador de Kernel</vt:lpstr>
      <vt:lpstr>Estimación no paramétrica Regresión lineal local </vt:lpstr>
      <vt:lpstr>Estimación no paramétrica Regresión lineal local </vt:lpstr>
      <vt:lpstr>Estimación no paramétrica Regresión lineal local </vt:lpstr>
      <vt:lpstr>Implementación del diseño de RD en Stata</vt:lpstr>
      <vt:lpstr>Implementación del diseño de RD  Ejemplo 2: Canasta</vt:lpstr>
      <vt:lpstr>Implementación del diseño de RD  Ejemplo 2: Canasta</vt:lpstr>
      <vt:lpstr>Implementación del diseño de RD:   Imbens y Lemieux (2007) </vt:lpstr>
      <vt:lpstr>Implementación del diseño de RD:   Imbens y Lemieux (2007) </vt:lpstr>
      <vt:lpstr>Implementación del diseño de RD:   Imbens y Lemieux (2007) </vt:lpstr>
      <vt:lpstr>Implementación del diseño de RD:   Imbens y Lemieux (2007) </vt:lpstr>
      <vt:lpstr>Implementación del diseño de RD:   Imbens y Lemieux (2007) </vt:lpstr>
      <vt:lpstr>Implementación del diseño de RD:   Imbens y Lemieux con peso tipo triangular</vt:lpstr>
      <vt:lpstr>Implementación del diseño de RD:    Imbens y Lemieux con peso tipo triangular</vt:lpstr>
      <vt:lpstr>Implementación del diseño de RD: Modificación de Imbens y Lemieux con pesos tipo triangular  </vt:lpstr>
      <vt:lpstr>Implementación del diseño de RD: Modificación de Imbens y Lemieux peso triangular </vt:lpstr>
      <vt:lpstr>Implementación del diseño de RD: Modificación de Imbens y Lemieux peso triangular </vt:lpstr>
      <vt:lpstr>Implementación del diseño de RD: Modificación de Imbens y Lemieux peso triangular </vt:lpstr>
      <vt:lpstr>Implementación del diseño de RD: Modificación de Imbens y Lemieux peso triangular </vt:lpstr>
      <vt:lpstr>Implementación del diseño de RD</vt:lpstr>
      <vt:lpstr>Selección del  ancho de banda</vt:lpstr>
      <vt:lpstr>Selección del  ancho de banda</vt:lpstr>
      <vt:lpstr>Diapositiva 77</vt:lpstr>
      <vt:lpstr>Diapositiva 78</vt:lpstr>
      <vt:lpstr>Diapositiva 79</vt:lpstr>
      <vt:lpstr>Diapositiva 80</vt:lpstr>
      <vt:lpstr>Diapositiva 81</vt:lpstr>
      <vt:lpstr>Diapositiva 82</vt:lpstr>
      <vt:lpstr>Diapositiva 83</vt:lpstr>
      <vt:lpstr>Diapositiva 84</vt:lpstr>
      <vt:lpstr>Diapositiva 85</vt:lpstr>
      <vt:lpstr>Diapositiva 86</vt:lpstr>
      <vt:lpstr>Conclusiones</vt:lpstr>
      <vt:lpstr>Conclusiones</vt:lpstr>
      <vt:lpstr>Conclusiones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6.4</dc:title>
  <dc:creator>Cynthia</dc:creator>
  <cp:lastModifiedBy>profeivan</cp:lastModifiedBy>
  <cp:revision>234</cp:revision>
  <cp:lastPrinted>2011-04-06T00:01:38Z</cp:lastPrinted>
  <dcterms:created xsi:type="dcterms:W3CDTF">2010-06-11T15:51:37Z</dcterms:created>
  <dcterms:modified xsi:type="dcterms:W3CDTF">2011-04-10T13:20:07Z</dcterms:modified>
</cp:coreProperties>
</file>