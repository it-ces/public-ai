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wmf" ContentType="image/x-wmf"/>
  <Default Extension="jpeg" ContentType="image/jpeg"/>
  <Default Extension="rels" ContentType="application/vnd.openxmlformats-package.relationships+xml"/>
  <Default Extension="xml" ContentType="application/xml"/>
  <Default Extension="docx" ContentType="application/vnd.openxmlformats-officedocument.wordprocessingml.document"/>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56" r:id="rId2"/>
    <p:sldId id="257" r:id="rId3"/>
    <p:sldId id="258" r:id="rId4"/>
    <p:sldId id="259" r:id="rId5"/>
    <p:sldId id="261" r:id="rId6"/>
    <p:sldId id="260" r:id="rId7"/>
    <p:sldId id="262" r:id="rId8"/>
    <p:sldId id="276" r:id="rId9"/>
    <p:sldId id="277" r:id="rId10"/>
    <p:sldId id="279" r:id="rId11"/>
    <p:sldId id="263" r:id="rId12"/>
    <p:sldId id="264" r:id="rId13"/>
    <p:sldId id="265" r:id="rId14"/>
    <p:sldId id="266" r:id="rId15"/>
    <p:sldId id="267" r:id="rId16"/>
    <p:sldId id="268" r:id="rId17"/>
    <p:sldId id="269" r:id="rId18"/>
    <p:sldId id="270" r:id="rId19"/>
    <p:sldId id="271" r:id="rId20"/>
    <p:sldId id="272" r:id="rId21"/>
    <p:sldId id="280" r:id="rId22"/>
    <p:sldId id="281" r:id="rId23"/>
    <p:sldId id="282" r:id="rId24"/>
    <p:sldId id="283" r:id="rId25"/>
    <p:sldId id="273" r:id="rId26"/>
    <p:sldId id="274" r:id="rId27"/>
    <p:sldId id="275" r:id="rId28"/>
    <p:sldId id="284" r:id="rId29"/>
    <p:sldId id="285" r:id="rId30"/>
    <p:sldId id="299" r:id="rId31"/>
    <p:sldId id="300" r:id="rId32"/>
    <p:sldId id="298" r:id="rId33"/>
    <p:sldId id="290" r:id="rId34"/>
  </p:sldIdLst>
  <p:sldSz cx="9144000" cy="6858000" type="screen4x3"/>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Marcos Vera Hernandez" initials="MVH"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79365" autoAdjust="0"/>
  </p:normalViewPr>
  <p:slideViewPr>
    <p:cSldViewPr>
      <p:cViewPr>
        <p:scale>
          <a:sx n="81" d="100"/>
          <a:sy n="81" d="100"/>
        </p:scale>
        <p:origin x="-186" y="-3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image" Target="../media/image3.emf"/><Relationship Id="rId6" Type="http://schemas.openxmlformats.org/officeDocument/2006/relationships/image" Target="../media/image8.emf"/><Relationship Id="rId5" Type="http://schemas.openxmlformats.org/officeDocument/2006/relationships/image" Target="../media/image7.emf"/><Relationship Id="rId4" Type="http://schemas.openxmlformats.org/officeDocument/2006/relationships/image" Target="../media/image6.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13.emf"/><Relationship Id="rId1" Type="http://schemas.openxmlformats.org/officeDocument/2006/relationships/image" Target="../media/image12.emf"/><Relationship Id="rId5" Type="http://schemas.openxmlformats.org/officeDocument/2006/relationships/image" Target="../media/image15.emf"/><Relationship Id="rId4" Type="http://schemas.openxmlformats.org/officeDocument/2006/relationships/image" Target="../media/image14.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7.emf"/><Relationship Id="rId1" Type="http://schemas.openxmlformats.org/officeDocument/2006/relationships/image" Target="../media/image18.emf"/><Relationship Id="rId5" Type="http://schemas.openxmlformats.org/officeDocument/2006/relationships/image" Target="../media/image13.emf"/><Relationship Id="rId4" Type="http://schemas.openxmlformats.org/officeDocument/2006/relationships/image" Target="../media/image6.e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21.emf"/><Relationship Id="rId1" Type="http://schemas.openxmlformats.org/officeDocument/2006/relationships/image" Target="../media/image20.e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image" Target="../media/image24.emf"/><Relationship Id="rId1" Type="http://schemas.openxmlformats.org/officeDocument/2006/relationships/image" Target="../media/image23.emf"/><Relationship Id="rId4" Type="http://schemas.openxmlformats.org/officeDocument/2006/relationships/image" Target="../media/image26.e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image" Target="../media/image28.emf"/><Relationship Id="rId1" Type="http://schemas.openxmlformats.org/officeDocument/2006/relationships/image" Target="../media/image27.emf"/><Relationship Id="rId4" Type="http://schemas.openxmlformats.org/officeDocument/2006/relationships/image" Target="../media/image30.e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image" Target="../media/image32.emf"/><Relationship Id="rId1" Type="http://schemas.openxmlformats.org/officeDocument/2006/relationships/image" Target="../media/image31.emf"/><Relationship Id="rId4" Type="http://schemas.openxmlformats.org/officeDocument/2006/relationships/image" Target="../media/image34.e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image" Target="../media/image37.emf"/><Relationship Id="rId1" Type="http://schemas.openxmlformats.org/officeDocument/2006/relationships/image" Target="../media/image36.e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0.emf"/><Relationship Id="rId1" Type="http://schemas.openxmlformats.org/officeDocument/2006/relationships/image" Target="../media/image39.emf"/><Relationship Id="rId4" Type="http://schemas.openxmlformats.org/officeDocument/2006/relationships/image" Target="../media/image41.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39.e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image" Target="../media/image5.emf"/><Relationship Id="rId1" Type="http://schemas.openxmlformats.org/officeDocument/2006/relationships/image" Target="../media/image42.emf"/><Relationship Id="rId4" Type="http://schemas.openxmlformats.org/officeDocument/2006/relationships/image" Target="../media/image44.e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47.emf"/><Relationship Id="rId2" Type="http://schemas.openxmlformats.org/officeDocument/2006/relationships/image" Target="../media/image46.emf"/><Relationship Id="rId1" Type="http://schemas.openxmlformats.org/officeDocument/2006/relationships/image" Target="../media/image45.e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50.emf"/><Relationship Id="rId2" Type="http://schemas.openxmlformats.org/officeDocument/2006/relationships/image" Target="../media/image49.emf"/><Relationship Id="rId1" Type="http://schemas.openxmlformats.org/officeDocument/2006/relationships/image" Target="../media/image48.e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53.emf"/><Relationship Id="rId1" Type="http://schemas.openxmlformats.org/officeDocument/2006/relationships/image" Target="../media/image52.e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56.wmf"/><Relationship Id="rId2" Type="http://schemas.openxmlformats.org/officeDocument/2006/relationships/image" Target="../media/image55.wmf"/><Relationship Id="rId1" Type="http://schemas.openxmlformats.org/officeDocument/2006/relationships/image" Target="../media/image54.emf"/><Relationship Id="rId4" Type="http://schemas.openxmlformats.org/officeDocument/2006/relationships/image" Target="../media/image57.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60.wmf"/><Relationship Id="rId2" Type="http://schemas.openxmlformats.org/officeDocument/2006/relationships/image" Target="../media/image59.wmf"/><Relationship Id="rId1" Type="http://schemas.openxmlformats.org/officeDocument/2006/relationships/image" Target="../media/image58.wmf"/><Relationship Id="rId4" Type="http://schemas.openxmlformats.org/officeDocument/2006/relationships/image" Target="../media/image61.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64.wmf"/><Relationship Id="rId2" Type="http://schemas.openxmlformats.org/officeDocument/2006/relationships/image" Target="../media/image63.wmf"/><Relationship Id="rId1" Type="http://schemas.openxmlformats.org/officeDocument/2006/relationships/image" Target="../media/image62.wmf"/><Relationship Id="rId5" Type="http://schemas.openxmlformats.org/officeDocument/2006/relationships/image" Target="../media/image66.wmf"/><Relationship Id="rId4" Type="http://schemas.openxmlformats.org/officeDocument/2006/relationships/image" Target="../media/image65.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62.wmf"/><Relationship Id="rId2" Type="http://schemas.openxmlformats.org/officeDocument/2006/relationships/image" Target="../media/image58.wmf"/><Relationship Id="rId1" Type="http://schemas.openxmlformats.org/officeDocument/2006/relationships/image" Target="../media/image5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ES"/>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815ED58-E295-491A-B3F7-2C25803F286D}" type="datetimeFigureOut">
              <a:rPr lang="es-ES" smtClean="0"/>
              <a:pPr/>
              <a:t>05/04/2011</a:t>
            </a:fld>
            <a:endParaRPr lang="es-ES"/>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ES"/>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ES"/>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4C9A7A8-C419-4B32-846E-A8283F965BDE}" type="slidenum">
              <a:rPr lang="es-ES" smtClean="0"/>
              <a:pPr/>
              <a:t>‹Nº›</a:t>
            </a:fld>
            <a:endParaRPr lang="es-ES"/>
          </a:p>
        </p:txBody>
      </p:sp>
    </p:spTree>
    <p:extLst>
      <p:ext uri="{BB962C8B-B14F-4D97-AF65-F5344CB8AC3E}">
        <p14:creationId xmlns:p14="http://schemas.microsoft.com/office/powerpoint/2010/main" val="9711575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s-CO" dirty="0" smtClean="0"/>
              <a:t>Dado que</a:t>
            </a:r>
            <a:r>
              <a:rPr lang="es-CO" baseline="0" dirty="0" smtClean="0"/>
              <a:t> U esta correlacionado con el componente no observable de la ecuación de selección ípsilon (v), la selección del tratamiento depende de características no observables del individuo y necesitamos usar otros métodos para controlar por el efecto de selección.</a:t>
            </a:r>
            <a:endParaRPr lang="es-ES" dirty="0"/>
          </a:p>
        </p:txBody>
      </p:sp>
      <p:sp>
        <p:nvSpPr>
          <p:cNvPr id="4" name="3 Marcador de número de diapositiva"/>
          <p:cNvSpPr>
            <a:spLocks noGrp="1"/>
          </p:cNvSpPr>
          <p:nvPr>
            <p:ph type="sldNum" sz="quarter" idx="10"/>
          </p:nvPr>
        </p:nvSpPr>
        <p:spPr/>
        <p:txBody>
          <a:bodyPr/>
          <a:lstStyle/>
          <a:p>
            <a:fld id="{F4C9A7A8-C419-4B32-846E-A8283F965BDE}" type="slidenum">
              <a:rPr lang="es-ES" smtClean="0"/>
              <a:pPr/>
              <a:t>4</a:t>
            </a:fld>
            <a:endParaRPr lang="es-E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CO" dirty="0" smtClean="0"/>
              <a:t>Capital social de la madre,</a:t>
            </a:r>
            <a:r>
              <a:rPr lang="es-CO" baseline="0" dirty="0" smtClean="0"/>
              <a:t> visto como conexiones a la comunidad que pueden generar mayor información a cerca de la disponibilidad de programas, o </a:t>
            </a:r>
            <a:r>
              <a:rPr lang="es-CO" sz="1200" dirty="0" smtClean="0"/>
              <a:t>como hábitos de buena crianza, salud y nutrición.</a:t>
            </a:r>
            <a:endParaRPr lang="es-ES" sz="1200" dirty="0" smtClean="0"/>
          </a:p>
          <a:p>
            <a:endParaRPr lang="es-ES" dirty="0"/>
          </a:p>
        </p:txBody>
      </p:sp>
      <p:sp>
        <p:nvSpPr>
          <p:cNvPr id="4" name="3 Marcador de número de diapositiva"/>
          <p:cNvSpPr>
            <a:spLocks noGrp="1"/>
          </p:cNvSpPr>
          <p:nvPr>
            <p:ph type="sldNum" sz="quarter" idx="10"/>
          </p:nvPr>
        </p:nvSpPr>
        <p:spPr/>
        <p:txBody>
          <a:bodyPr/>
          <a:lstStyle/>
          <a:p>
            <a:fld id="{F4C9A7A8-C419-4B32-846E-A8283F965BDE}" type="slidenum">
              <a:rPr lang="es-ES" smtClean="0"/>
              <a:pPr/>
              <a:t>6</a:t>
            </a:fld>
            <a:endParaRPr lang="es-E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s-CO" sz="1200" kern="1200" dirty="0" smtClean="0">
                <a:solidFill>
                  <a:schemeClr val="tx1"/>
                </a:solidFill>
                <a:latin typeface="+mn-lt"/>
                <a:ea typeface="+mn-ea"/>
                <a:cs typeface="+mn-cs"/>
              </a:rPr>
              <a:t>Controlando por los factores no observables  en la ecuación de participación</a:t>
            </a:r>
            <a:r>
              <a:rPr lang="es-ES" sz="1200" kern="1200" dirty="0" smtClean="0">
                <a:solidFill>
                  <a:schemeClr val="tx1"/>
                </a:solidFill>
                <a:latin typeface="+mn-lt"/>
                <a:ea typeface="+mn-ea"/>
                <a:cs typeface="+mn-cs"/>
              </a:rPr>
              <a:t>, el tratamiento y </a:t>
            </a:r>
            <a:r>
              <a:rPr lang="es-ES" sz="1200" i="1" kern="1200" dirty="0" smtClean="0">
                <a:solidFill>
                  <a:schemeClr val="tx1"/>
                </a:solidFill>
                <a:latin typeface="+mn-lt"/>
                <a:ea typeface="+mn-ea"/>
                <a:cs typeface="+mn-cs"/>
              </a:rPr>
              <a:t>Z</a:t>
            </a:r>
            <a:r>
              <a:rPr lang="es-ES" sz="1200" kern="1200" dirty="0" smtClean="0">
                <a:solidFill>
                  <a:schemeClr val="tx1"/>
                </a:solidFill>
                <a:latin typeface="+mn-lt"/>
                <a:ea typeface="+mn-ea"/>
                <a:cs typeface="+mn-cs"/>
              </a:rPr>
              <a:t> serían independientes de </a:t>
            </a:r>
            <a:r>
              <a:rPr lang="es-ES" sz="1200" i="1" kern="1200" dirty="0" smtClean="0">
                <a:solidFill>
                  <a:schemeClr val="tx1"/>
                </a:solidFill>
                <a:latin typeface="+mn-lt"/>
                <a:ea typeface="+mn-ea"/>
                <a:cs typeface="+mn-cs"/>
              </a:rPr>
              <a:t>u.</a:t>
            </a:r>
          </a:p>
          <a:p>
            <a:r>
              <a:rPr lang="es-ES" sz="1200" kern="1200" dirty="0" smtClean="0">
                <a:solidFill>
                  <a:schemeClr val="tx1"/>
                </a:solidFill>
                <a:latin typeface="+mn-lt"/>
                <a:ea typeface="+mn-ea"/>
                <a:cs typeface="+mn-cs"/>
              </a:rPr>
              <a:t>Implica que </a:t>
            </a:r>
            <a:r>
              <a:rPr lang="es-ES" sz="1200" i="1" kern="1200" dirty="0" smtClean="0">
                <a:solidFill>
                  <a:schemeClr val="tx1"/>
                </a:solidFill>
                <a:latin typeface="+mn-lt"/>
                <a:ea typeface="+mn-ea"/>
                <a:cs typeface="+mn-cs"/>
              </a:rPr>
              <a:t>Z</a:t>
            </a:r>
            <a:r>
              <a:rPr lang="es-ES" sz="1200" kern="1200" dirty="0" smtClean="0">
                <a:solidFill>
                  <a:schemeClr val="tx1"/>
                </a:solidFill>
                <a:latin typeface="+mn-lt"/>
                <a:ea typeface="+mn-ea"/>
                <a:cs typeface="+mn-cs"/>
              </a:rPr>
              <a:t> no afecta la distribución de resultados </a:t>
            </a:r>
            <a:r>
              <a:rPr lang="es-ES" sz="1200" i="1" kern="1200" dirty="0" smtClean="0">
                <a:solidFill>
                  <a:schemeClr val="tx1"/>
                </a:solidFill>
                <a:latin typeface="+mn-lt"/>
                <a:ea typeface="+mn-ea"/>
                <a:cs typeface="+mn-cs"/>
              </a:rPr>
              <a:t>potenciales</a:t>
            </a:r>
            <a:r>
              <a:rPr lang="es-ES" sz="1200" kern="1200" dirty="0" smtClean="0">
                <a:solidFill>
                  <a:schemeClr val="tx1"/>
                </a:solidFill>
                <a:latin typeface="+mn-lt"/>
                <a:ea typeface="+mn-ea"/>
                <a:cs typeface="+mn-cs"/>
              </a:rPr>
              <a:t> directamente, sino que afecta la composición de los tratados y por esa vía afecta la distribución de  los resultados </a:t>
            </a:r>
            <a:r>
              <a:rPr lang="es-ES" sz="1200" i="1" kern="1200" dirty="0" smtClean="0">
                <a:solidFill>
                  <a:schemeClr val="tx1"/>
                </a:solidFill>
                <a:latin typeface="+mn-lt"/>
                <a:ea typeface="+mn-ea"/>
                <a:cs typeface="+mn-cs"/>
              </a:rPr>
              <a:t>observados.</a:t>
            </a:r>
            <a:endParaRPr lang="es-ES" dirty="0"/>
          </a:p>
        </p:txBody>
      </p:sp>
      <p:sp>
        <p:nvSpPr>
          <p:cNvPr id="4" name="3 Marcador de número de diapositiva"/>
          <p:cNvSpPr>
            <a:spLocks noGrp="1"/>
          </p:cNvSpPr>
          <p:nvPr>
            <p:ph type="sldNum" sz="quarter" idx="10"/>
          </p:nvPr>
        </p:nvSpPr>
        <p:spPr/>
        <p:txBody>
          <a:bodyPr/>
          <a:lstStyle/>
          <a:p>
            <a:fld id="{F4C9A7A8-C419-4B32-846E-A8283F965BDE}" type="slidenum">
              <a:rPr lang="es-ES" smtClean="0"/>
              <a:pPr/>
              <a:t>7</a:t>
            </a:fld>
            <a:endParaRPr lang="es-E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s-CO" dirty="0" smtClean="0"/>
              <a:t>En</a:t>
            </a:r>
            <a:r>
              <a:rPr lang="es-CO" baseline="0" dirty="0" smtClean="0"/>
              <a:t> una muestra donde el sesgo de selección en no observables es importante, el estimador de MCO subestima el verdadero efecto del Programa.</a:t>
            </a:r>
            <a:endParaRPr lang="es-ES" dirty="0"/>
          </a:p>
        </p:txBody>
      </p:sp>
      <p:sp>
        <p:nvSpPr>
          <p:cNvPr id="4" name="3 Marcador de número de diapositiva"/>
          <p:cNvSpPr>
            <a:spLocks noGrp="1"/>
          </p:cNvSpPr>
          <p:nvPr>
            <p:ph type="sldNum" sz="quarter" idx="10"/>
          </p:nvPr>
        </p:nvSpPr>
        <p:spPr/>
        <p:txBody>
          <a:bodyPr/>
          <a:lstStyle/>
          <a:p>
            <a:fld id="{F4C9A7A8-C419-4B32-846E-A8283F965BDE}" type="slidenum">
              <a:rPr lang="es-ES" smtClean="0"/>
              <a:pPr/>
              <a:t>10</a:t>
            </a:fld>
            <a:endParaRPr lang="es-E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ES" dirty="0"/>
          </a:p>
        </p:txBody>
      </p:sp>
      <p:sp>
        <p:nvSpPr>
          <p:cNvPr id="4" name="3 Marcador de número de diapositiva"/>
          <p:cNvSpPr>
            <a:spLocks noGrp="1"/>
          </p:cNvSpPr>
          <p:nvPr>
            <p:ph type="sldNum" sz="quarter" idx="10"/>
          </p:nvPr>
        </p:nvSpPr>
        <p:spPr/>
        <p:txBody>
          <a:bodyPr/>
          <a:lstStyle/>
          <a:p>
            <a:fld id="{F4C9A7A8-C419-4B32-846E-A8283F965BDE}" type="slidenum">
              <a:rPr lang="es-ES" smtClean="0"/>
              <a:pPr/>
              <a:t>11</a:t>
            </a:fld>
            <a:endParaRPr lang="es-E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s-CO" sz="1200" kern="1200" dirty="0" smtClean="0">
                <a:solidFill>
                  <a:schemeClr val="tx1"/>
                </a:solidFill>
                <a:latin typeface="+mn-lt"/>
                <a:ea typeface="+mn-ea"/>
                <a:cs typeface="+mn-cs"/>
              </a:rPr>
              <a:t>Para los individuos que participan en el programa observamos con qué probabilidad participan en el programa y la probabilidad de observar la variable de resultado </a:t>
            </a:r>
            <a:r>
              <a:rPr lang="es-CO" sz="1200" i="1" kern="1200" dirty="0" smtClean="0">
                <a:solidFill>
                  <a:schemeClr val="tx1"/>
                </a:solidFill>
                <a:latin typeface="+mn-lt"/>
                <a:ea typeface="+mn-ea"/>
                <a:cs typeface="+mn-cs"/>
              </a:rPr>
              <a:t>Y. </a:t>
            </a:r>
          </a:p>
          <a:p>
            <a:r>
              <a:rPr lang="es-CO" sz="1200" kern="1200" dirty="0" smtClean="0">
                <a:solidFill>
                  <a:schemeClr val="tx1"/>
                </a:solidFill>
                <a:latin typeface="+mn-lt"/>
                <a:ea typeface="+mn-ea"/>
                <a:cs typeface="+mn-cs"/>
              </a:rPr>
              <a:t>De manera similar, para los no participantes, observamos con qué probabilidad no participan en el programa y la probabilidad de observar la variable de resultado </a:t>
            </a:r>
            <a:r>
              <a:rPr lang="es-CO" sz="1200" i="1" kern="1200" dirty="0" smtClean="0">
                <a:solidFill>
                  <a:schemeClr val="tx1"/>
                </a:solidFill>
                <a:latin typeface="+mn-lt"/>
                <a:ea typeface="+mn-ea"/>
                <a:cs typeface="+mn-cs"/>
              </a:rPr>
              <a:t>Y</a:t>
            </a:r>
            <a:r>
              <a:rPr lang="es-CO" sz="1200" kern="1200" dirty="0" smtClean="0">
                <a:solidFill>
                  <a:schemeClr val="tx1"/>
                </a:solidFill>
                <a:latin typeface="+mn-lt"/>
                <a:ea typeface="+mn-ea"/>
                <a:cs typeface="+mn-cs"/>
              </a:rPr>
              <a:t> que obtienen.</a:t>
            </a:r>
            <a:endParaRPr lang="es-ES" dirty="0"/>
          </a:p>
        </p:txBody>
      </p:sp>
      <p:sp>
        <p:nvSpPr>
          <p:cNvPr id="4" name="3 Marcador de número de diapositiva"/>
          <p:cNvSpPr>
            <a:spLocks noGrp="1"/>
          </p:cNvSpPr>
          <p:nvPr>
            <p:ph type="sldNum" sz="quarter" idx="10"/>
          </p:nvPr>
        </p:nvSpPr>
        <p:spPr/>
        <p:txBody>
          <a:bodyPr/>
          <a:lstStyle/>
          <a:p>
            <a:fld id="{F4C9A7A8-C419-4B32-846E-A8283F965BDE}" type="slidenum">
              <a:rPr lang="es-ES" smtClean="0"/>
              <a:pPr/>
              <a:t>12</a:t>
            </a:fld>
            <a:endParaRPr lang="es-E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ES" dirty="0"/>
          </a:p>
        </p:txBody>
      </p:sp>
      <p:sp>
        <p:nvSpPr>
          <p:cNvPr id="4" name="3 Marcador de número de diapositiva"/>
          <p:cNvSpPr>
            <a:spLocks noGrp="1"/>
          </p:cNvSpPr>
          <p:nvPr>
            <p:ph type="sldNum" sz="quarter" idx="10"/>
          </p:nvPr>
        </p:nvSpPr>
        <p:spPr/>
        <p:txBody>
          <a:bodyPr/>
          <a:lstStyle/>
          <a:p>
            <a:fld id="{F4C9A7A8-C419-4B32-846E-A8283F965BDE}" type="slidenum">
              <a:rPr lang="es-ES" smtClean="0"/>
              <a:pPr/>
              <a:t>20</a:t>
            </a:fld>
            <a:endParaRPr lang="es-E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ES" dirty="0"/>
          </a:p>
        </p:txBody>
      </p:sp>
      <p:sp>
        <p:nvSpPr>
          <p:cNvPr id="4" name="3 Marcador de número de diapositiva"/>
          <p:cNvSpPr>
            <a:spLocks noGrp="1"/>
          </p:cNvSpPr>
          <p:nvPr>
            <p:ph type="sldNum" sz="quarter" idx="10"/>
          </p:nvPr>
        </p:nvSpPr>
        <p:spPr/>
        <p:txBody>
          <a:bodyPr/>
          <a:lstStyle/>
          <a:p>
            <a:fld id="{F4C9A7A8-C419-4B32-846E-A8283F965BDE}" type="slidenum">
              <a:rPr lang="es-ES" smtClean="0"/>
              <a:pPr/>
              <a:t>22</a:t>
            </a:fld>
            <a:endParaRPr lang="es-E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s-CO" dirty="0" smtClean="0"/>
              <a:t>Sin embargo, las aplicaciones</a:t>
            </a:r>
            <a:r>
              <a:rPr lang="es-CO" baseline="0" dirty="0" smtClean="0"/>
              <a:t> más recientes más recientes del método e Funciones de Control relajan el supuesto de normalidad y en cambio estiman la decisión de participar en el programa de manera no paramétrica. </a:t>
            </a:r>
          </a:p>
          <a:p>
            <a:r>
              <a:rPr lang="es-CO" baseline="0" dirty="0" err="1" smtClean="0"/>
              <a:t>Vitlacil</a:t>
            </a:r>
            <a:r>
              <a:rPr lang="es-CO" baseline="0" dirty="0" smtClean="0"/>
              <a:t> (2002) muestra que el método de VI puede verse como una aplicación no paramétrica del método de funciones de control.</a:t>
            </a:r>
            <a:endParaRPr lang="es-ES" dirty="0"/>
          </a:p>
        </p:txBody>
      </p:sp>
      <p:sp>
        <p:nvSpPr>
          <p:cNvPr id="4" name="3 Marcador de número de diapositiva"/>
          <p:cNvSpPr>
            <a:spLocks noGrp="1"/>
          </p:cNvSpPr>
          <p:nvPr>
            <p:ph type="sldNum" sz="quarter" idx="10"/>
          </p:nvPr>
        </p:nvSpPr>
        <p:spPr/>
        <p:txBody>
          <a:bodyPr/>
          <a:lstStyle/>
          <a:p>
            <a:fld id="{F4C9A7A8-C419-4B32-846E-A8283F965BDE}" type="slidenum">
              <a:rPr lang="es-ES" smtClean="0"/>
              <a:pPr/>
              <a:t>26</a:t>
            </a:fld>
            <a:endParaRPr lang="es-E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CO" dirty="0"/>
          </a:p>
        </p:txBody>
      </p:sp>
      <p:sp>
        <p:nvSpPr>
          <p:cNvPr id="4" name="3 Marcador de número de diapositiva"/>
          <p:cNvSpPr>
            <a:spLocks noGrp="1"/>
          </p:cNvSpPr>
          <p:nvPr>
            <p:ph type="sldNum" sz="quarter" idx="10"/>
          </p:nvPr>
        </p:nvSpPr>
        <p:spPr/>
        <p:txBody>
          <a:bodyPr/>
          <a:lstStyle/>
          <a:p>
            <a:fld id="{F4C9A7A8-C419-4B32-846E-A8283F965BDE}" type="slidenum">
              <a:rPr lang="es-ES" smtClean="0"/>
              <a:pPr/>
              <a:t>29</a:t>
            </a:fld>
            <a:endParaRPr lang="es-E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CO" dirty="0"/>
          </a:p>
        </p:txBody>
      </p:sp>
      <p:sp>
        <p:nvSpPr>
          <p:cNvPr id="4" name="3 Marcador de número de diapositiva"/>
          <p:cNvSpPr>
            <a:spLocks noGrp="1"/>
          </p:cNvSpPr>
          <p:nvPr>
            <p:ph type="sldNum" sz="quarter" idx="10"/>
          </p:nvPr>
        </p:nvSpPr>
        <p:spPr/>
        <p:txBody>
          <a:bodyPr/>
          <a:lstStyle/>
          <a:p>
            <a:fld id="{F4C9A7A8-C419-4B32-846E-A8283F965BDE}" type="slidenum">
              <a:rPr lang="es-ES" smtClean="0"/>
              <a:pPr/>
              <a:t>30</a:t>
            </a:fld>
            <a:endParaRPr lang="es-E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CO" dirty="0"/>
          </a:p>
        </p:txBody>
      </p:sp>
      <p:sp>
        <p:nvSpPr>
          <p:cNvPr id="4" name="3 Marcador de número de diapositiva"/>
          <p:cNvSpPr>
            <a:spLocks noGrp="1"/>
          </p:cNvSpPr>
          <p:nvPr>
            <p:ph type="sldNum" sz="quarter" idx="10"/>
          </p:nvPr>
        </p:nvSpPr>
        <p:spPr/>
        <p:txBody>
          <a:bodyPr/>
          <a:lstStyle/>
          <a:p>
            <a:fld id="{F4C9A7A8-C419-4B32-846E-A8283F965BDE}" type="slidenum">
              <a:rPr lang="es-ES" smtClean="0"/>
              <a:pPr/>
              <a:t>31</a:t>
            </a:fld>
            <a:endParaRPr lang="es-E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CO" dirty="0"/>
          </a:p>
        </p:txBody>
      </p:sp>
      <p:sp>
        <p:nvSpPr>
          <p:cNvPr id="4" name="3 Marcador de número de diapositiva"/>
          <p:cNvSpPr>
            <a:spLocks noGrp="1"/>
          </p:cNvSpPr>
          <p:nvPr>
            <p:ph type="sldNum" sz="quarter" idx="10"/>
          </p:nvPr>
        </p:nvSpPr>
        <p:spPr/>
        <p:txBody>
          <a:bodyPr/>
          <a:lstStyle/>
          <a:p>
            <a:fld id="{F4C9A7A8-C419-4B32-846E-A8283F965BDE}" type="slidenum">
              <a:rPr lang="es-ES" smtClean="0"/>
              <a:pPr/>
              <a:t>32</a:t>
            </a:fld>
            <a:endParaRPr lang="es-E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s-CO" dirty="0" smtClean="0"/>
              <a:t>El</a:t>
            </a:r>
            <a:r>
              <a:rPr lang="es-CO" baseline="0" dirty="0" smtClean="0"/>
              <a:t> método de estimación permite usar la información de todas las mujeres y no sólo aquellas que observamos trabajando.</a:t>
            </a:r>
            <a:endParaRPr lang="es-ES" dirty="0"/>
          </a:p>
        </p:txBody>
      </p:sp>
      <p:sp>
        <p:nvSpPr>
          <p:cNvPr id="4" name="3 Marcador de número de diapositiva"/>
          <p:cNvSpPr>
            <a:spLocks noGrp="1"/>
          </p:cNvSpPr>
          <p:nvPr>
            <p:ph type="sldNum" sz="quarter" idx="10"/>
          </p:nvPr>
        </p:nvSpPr>
        <p:spPr/>
        <p:txBody>
          <a:bodyPr/>
          <a:lstStyle/>
          <a:p>
            <a:fld id="{F4C9A7A8-C419-4B32-846E-A8283F965BDE}" type="slidenum">
              <a:rPr lang="es-ES" smtClean="0"/>
              <a:pPr/>
              <a:t>33</a:t>
            </a:fld>
            <a:endParaRPr lang="es-E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smtClean="0"/>
              <a:t>Haga clic para modificar el estilo de título del patrón</a:t>
            </a:r>
            <a:endParaRPr lang="es-ES"/>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s-ES"/>
          </a:p>
        </p:txBody>
      </p:sp>
      <p:sp>
        <p:nvSpPr>
          <p:cNvPr id="4" name="3 Marcador de fecha"/>
          <p:cNvSpPr>
            <a:spLocks noGrp="1"/>
          </p:cNvSpPr>
          <p:nvPr>
            <p:ph type="dt" sz="half" idx="10"/>
          </p:nvPr>
        </p:nvSpPr>
        <p:spPr/>
        <p:txBody>
          <a:bodyPr/>
          <a:lstStyle/>
          <a:p>
            <a:fld id="{313F22ED-C6F3-4B69-8D1F-AD3AAE83B717}" type="datetimeFigureOut">
              <a:rPr lang="es-ES" smtClean="0"/>
              <a:pPr/>
              <a:t>05/04/2011</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2B42176C-3AA1-45CB-BF6F-65405DDD8C24}" type="slidenum">
              <a:rPr lang="es-ES" smtClean="0"/>
              <a:pPr/>
              <a:t>‹Nº›</a:t>
            </a:fld>
            <a:endParaRPr lang="es-E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p>
            <a:fld id="{313F22ED-C6F3-4B69-8D1F-AD3AAE83B717}" type="datetimeFigureOut">
              <a:rPr lang="es-ES" smtClean="0"/>
              <a:pPr/>
              <a:t>05/04/2011</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2B42176C-3AA1-45CB-BF6F-65405DDD8C24}" type="slidenum">
              <a:rPr lang="es-ES" smtClean="0"/>
              <a:pPr/>
              <a:t>‹Nº›</a:t>
            </a:fld>
            <a:endParaRPr lang="es-E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p>
            <a:fld id="{313F22ED-C6F3-4B69-8D1F-AD3AAE83B717}" type="datetimeFigureOut">
              <a:rPr lang="es-ES" smtClean="0"/>
              <a:pPr/>
              <a:t>05/04/2011</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2B42176C-3AA1-45CB-BF6F-65405DDD8C24}" type="slidenum">
              <a:rPr lang="es-ES" smtClean="0"/>
              <a:pPr/>
              <a:t>‹Nº›</a:t>
            </a:fld>
            <a:endParaRPr lang="es-E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4 Marcador de fecha"/>
          <p:cNvSpPr>
            <a:spLocks noGrp="1"/>
          </p:cNvSpPr>
          <p:nvPr>
            <p:ph type="dt" sz="half" idx="10"/>
          </p:nvPr>
        </p:nvSpPr>
        <p:spPr/>
        <p:txBody>
          <a:bodyPr/>
          <a:lstStyle/>
          <a:p>
            <a:fld id="{313F22ED-C6F3-4B69-8D1F-AD3AAE83B717}" type="datetimeFigureOut">
              <a:rPr lang="es-ES" smtClean="0"/>
              <a:pPr/>
              <a:t>05/04/2011</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2B42176C-3AA1-45CB-BF6F-65405DDD8C24}" type="slidenum">
              <a:rPr lang="es-ES" smtClean="0"/>
              <a:pPr/>
              <a:t>‹Nº›</a:t>
            </a:fld>
            <a:endParaRPr lang="es-E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7" name="6 Marcador de fecha"/>
          <p:cNvSpPr>
            <a:spLocks noGrp="1"/>
          </p:cNvSpPr>
          <p:nvPr>
            <p:ph type="dt" sz="half" idx="10"/>
          </p:nvPr>
        </p:nvSpPr>
        <p:spPr/>
        <p:txBody>
          <a:bodyPr/>
          <a:lstStyle/>
          <a:p>
            <a:fld id="{313F22ED-C6F3-4B69-8D1F-AD3AAE83B717}" type="datetimeFigureOut">
              <a:rPr lang="es-ES" smtClean="0"/>
              <a:pPr/>
              <a:t>05/04/2011</a:t>
            </a:fld>
            <a:endParaRPr lang="es-ES"/>
          </a:p>
        </p:txBody>
      </p:sp>
      <p:sp>
        <p:nvSpPr>
          <p:cNvPr id="8" name="7 Marcador de pie de página"/>
          <p:cNvSpPr>
            <a:spLocks noGrp="1"/>
          </p:cNvSpPr>
          <p:nvPr>
            <p:ph type="ftr" sz="quarter" idx="11"/>
          </p:nvPr>
        </p:nvSpPr>
        <p:spPr/>
        <p:txBody>
          <a:bodyPr/>
          <a:lstStyle/>
          <a:p>
            <a:endParaRPr lang="es-ES"/>
          </a:p>
        </p:txBody>
      </p:sp>
      <p:sp>
        <p:nvSpPr>
          <p:cNvPr id="9" name="8 Marcador de número de diapositiva"/>
          <p:cNvSpPr>
            <a:spLocks noGrp="1"/>
          </p:cNvSpPr>
          <p:nvPr>
            <p:ph type="sldNum" sz="quarter" idx="12"/>
          </p:nvPr>
        </p:nvSpPr>
        <p:spPr/>
        <p:txBody>
          <a:bodyPr/>
          <a:lstStyle/>
          <a:p>
            <a:fld id="{2B42176C-3AA1-45CB-BF6F-65405DDD8C24}" type="slidenum">
              <a:rPr lang="es-ES" smtClean="0"/>
              <a:pPr/>
              <a:t>‹Nº›</a:t>
            </a:fld>
            <a:endParaRPr lang="es-E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fecha"/>
          <p:cNvSpPr>
            <a:spLocks noGrp="1"/>
          </p:cNvSpPr>
          <p:nvPr>
            <p:ph type="dt" sz="half" idx="10"/>
          </p:nvPr>
        </p:nvSpPr>
        <p:spPr/>
        <p:txBody>
          <a:bodyPr/>
          <a:lstStyle/>
          <a:p>
            <a:fld id="{313F22ED-C6F3-4B69-8D1F-AD3AAE83B717}" type="datetimeFigureOut">
              <a:rPr lang="es-ES" smtClean="0"/>
              <a:pPr/>
              <a:t>05/04/2011</a:t>
            </a:fld>
            <a:endParaRPr lang="es-ES"/>
          </a:p>
        </p:txBody>
      </p:sp>
      <p:sp>
        <p:nvSpPr>
          <p:cNvPr id="4" name="3 Marcador de pie de página"/>
          <p:cNvSpPr>
            <a:spLocks noGrp="1"/>
          </p:cNvSpPr>
          <p:nvPr>
            <p:ph type="ftr" sz="quarter" idx="11"/>
          </p:nvPr>
        </p:nvSpPr>
        <p:spPr/>
        <p:txBody>
          <a:bodyPr/>
          <a:lstStyle/>
          <a:p>
            <a:endParaRPr lang="es-ES"/>
          </a:p>
        </p:txBody>
      </p:sp>
      <p:sp>
        <p:nvSpPr>
          <p:cNvPr id="5" name="4 Marcador de número de diapositiva"/>
          <p:cNvSpPr>
            <a:spLocks noGrp="1"/>
          </p:cNvSpPr>
          <p:nvPr>
            <p:ph type="sldNum" sz="quarter" idx="12"/>
          </p:nvPr>
        </p:nvSpPr>
        <p:spPr/>
        <p:txBody>
          <a:bodyPr/>
          <a:lstStyle/>
          <a:p>
            <a:fld id="{2B42176C-3AA1-45CB-BF6F-65405DDD8C24}" type="slidenum">
              <a:rPr lang="es-ES" smtClean="0"/>
              <a:pPr/>
              <a:t>‹Nº›</a:t>
            </a:fld>
            <a:endParaRPr lang="es-E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313F22ED-C6F3-4B69-8D1F-AD3AAE83B717}" type="datetimeFigureOut">
              <a:rPr lang="es-ES" smtClean="0"/>
              <a:pPr/>
              <a:t>05/04/2011</a:t>
            </a:fld>
            <a:endParaRPr lang="es-ES"/>
          </a:p>
        </p:txBody>
      </p:sp>
      <p:sp>
        <p:nvSpPr>
          <p:cNvPr id="3" name="2 Marcador de pie de página"/>
          <p:cNvSpPr>
            <a:spLocks noGrp="1"/>
          </p:cNvSpPr>
          <p:nvPr>
            <p:ph type="ftr" sz="quarter" idx="11"/>
          </p:nvPr>
        </p:nvSpPr>
        <p:spPr/>
        <p:txBody>
          <a:bodyPr/>
          <a:lstStyle/>
          <a:p>
            <a:endParaRPr lang="es-ES"/>
          </a:p>
        </p:txBody>
      </p:sp>
      <p:sp>
        <p:nvSpPr>
          <p:cNvPr id="4" name="3 Marcador de número de diapositiva"/>
          <p:cNvSpPr>
            <a:spLocks noGrp="1"/>
          </p:cNvSpPr>
          <p:nvPr>
            <p:ph type="sldNum" sz="quarter" idx="12"/>
          </p:nvPr>
        </p:nvSpPr>
        <p:spPr/>
        <p:txBody>
          <a:bodyPr/>
          <a:lstStyle/>
          <a:p>
            <a:fld id="{2B42176C-3AA1-45CB-BF6F-65405DDD8C24}" type="slidenum">
              <a:rPr lang="es-ES" smtClean="0"/>
              <a:pPr/>
              <a:t>‹Nº›</a:t>
            </a:fld>
            <a:endParaRPr lang="es-E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es-ES"/>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313F22ED-C6F3-4B69-8D1F-AD3AAE83B717}" type="datetimeFigureOut">
              <a:rPr lang="es-ES" smtClean="0"/>
              <a:pPr/>
              <a:t>05/04/2011</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2B42176C-3AA1-45CB-BF6F-65405DDD8C24}" type="slidenum">
              <a:rPr lang="es-ES" smtClean="0"/>
              <a:pPr/>
              <a:t>‹Nº›</a:t>
            </a:fld>
            <a:endParaRPr lang="es-E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es-ES"/>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313F22ED-C6F3-4B69-8D1F-AD3AAE83B717}" type="datetimeFigureOut">
              <a:rPr lang="es-ES" smtClean="0"/>
              <a:pPr/>
              <a:t>05/04/2011</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2B42176C-3AA1-45CB-BF6F-65405DDD8C24}" type="slidenum">
              <a:rPr lang="es-ES" smtClean="0"/>
              <a:pPr/>
              <a:t>‹Nº›</a:t>
            </a:fld>
            <a:endParaRPr lang="es-E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p>
            <a:fld id="{313F22ED-C6F3-4B69-8D1F-AD3AAE83B717}" type="datetimeFigureOut">
              <a:rPr lang="es-ES" smtClean="0"/>
              <a:pPr/>
              <a:t>05/04/2011</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2B42176C-3AA1-45CB-BF6F-65405DDD8C24}" type="slidenum">
              <a:rPr lang="es-ES" smtClean="0"/>
              <a:pPr/>
              <a:t>‹Nº›</a:t>
            </a:fld>
            <a:endParaRPr lang="es-E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smtClean="0"/>
              <a:t>Haga clic para modificar el estilo de título del patrón</a:t>
            </a:r>
            <a:endParaRPr lang="es-ES"/>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p>
            <a:fld id="{313F22ED-C6F3-4B69-8D1F-AD3AAE83B717}" type="datetimeFigureOut">
              <a:rPr lang="es-ES" smtClean="0"/>
              <a:pPr/>
              <a:t>05/04/2011</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2B42176C-3AA1-45CB-BF6F-65405DDD8C24}" type="slidenum">
              <a:rPr lang="es-ES" smtClean="0"/>
              <a:pPr/>
              <a:t>‹Nº›</a:t>
            </a:fld>
            <a:endParaRPr lang="es-E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13F22ED-C6F3-4B69-8D1F-AD3AAE83B717}" type="datetimeFigureOut">
              <a:rPr lang="es-ES" smtClean="0"/>
              <a:pPr/>
              <a:t>05/04/2011</a:t>
            </a:fld>
            <a:endParaRPr lang="es-ES"/>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B42176C-3AA1-45CB-BF6F-65405DDD8C24}" type="slidenum">
              <a:rPr lang="es-ES" smtClean="0"/>
              <a:pPr/>
              <a:t>‹Nº›</a:t>
            </a:fld>
            <a:endParaRPr lang="es-E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2.emf"/><Relationship Id="rId5" Type="http://schemas.openxmlformats.org/officeDocument/2006/relationships/package" Target="../embeddings/Documento_de_Microsoft_Word1.docx"/><Relationship Id="rId4" Type="http://schemas.openxmlformats.org/officeDocument/2006/relationships/oleObject" Target="../embeddings/oleObject1.bin"/></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3.emf"/><Relationship Id="rId13" Type="http://schemas.openxmlformats.org/officeDocument/2006/relationships/package" Target="../embeddings/Documento_de_Microsoft_Word4.docx"/><Relationship Id="rId18" Type="http://schemas.openxmlformats.org/officeDocument/2006/relationships/oleObject" Target="../embeddings/oleObject6.bin"/><Relationship Id="rId3" Type="http://schemas.openxmlformats.org/officeDocument/2006/relationships/notesSlide" Target="../notesSlides/notesSlide1.xml"/><Relationship Id="rId21" Type="http://schemas.openxmlformats.org/officeDocument/2006/relationships/oleObject" Target="../embeddings/oleObject7.bin"/><Relationship Id="rId7" Type="http://schemas.openxmlformats.org/officeDocument/2006/relationships/package" Target="../embeddings/Documento_de_Microsoft_Word2.docx"/><Relationship Id="rId12" Type="http://schemas.openxmlformats.org/officeDocument/2006/relationships/oleObject" Target="../embeddings/oleObject4.bin"/><Relationship Id="rId17" Type="http://schemas.openxmlformats.org/officeDocument/2006/relationships/image" Target="../media/image6.emf"/><Relationship Id="rId2" Type="http://schemas.openxmlformats.org/officeDocument/2006/relationships/slideLayout" Target="../slideLayouts/slideLayout2.xml"/><Relationship Id="rId16" Type="http://schemas.openxmlformats.org/officeDocument/2006/relationships/package" Target="../embeddings/Documento_de_Microsoft_Word5.docx"/><Relationship Id="rId20" Type="http://schemas.openxmlformats.org/officeDocument/2006/relationships/image" Target="../media/image7.emf"/><Relationship Id="rId1" Type="http://schemas.openxmlformats.org/officeDocument/2006/relationships/vmlDrawing" Target="../drawings/vmlDrawing2.vml"/><Relationship Id="rId6" Type="http://schemas.openxmlformats.org/officeDocument/2006/relationships/oleObject" Target="../embeddings/oleObject2.bin"/><Relationship Id="rId11" Type="http://schemas.openxmlformats.org/officeDocument/2006/relationships/image" Target="../media/image4.emf"/><Relationship Id="rId5" Type="http://schemas.openxmlformats.org/officeDocument/2006/relationships/image" Target="../media/image9.png"/><Relationship Id="rId15" Type="http://schemas.openxmlformats.org/officeDocument/2006/relationships/oleObject" Target="../embeddings/oleObject5.bin"/><Relationship Id="rId23" Type="http://schemas.openxmlformats.org/officeDocument/2006/relationships/image" Target="../media/image8.emf"/><Relationship Id="rId10" Type="http://schemas.openxmlformats.org/officeDocument/2006/relationships/package" Target="../embeddings/Documento_de_Microsoft_Word3.docx"/><Relationship Id="rId19" Type="http://schemas.openxmlformats.org/officeDocument/2006/relationships/package" Target="../embeddings/Documento_de_Microsoft_Word6.docx"/><Relationship Id="rId4" Type="http://schemas.openxmlformats.org/officeDocument/2006/relationships/image" Target="../media/image1.png"/><Relationship Id="rId9" Type="http://schemas.openxmlformats.org/officeDocument/2006/relationships/oleObject" Target="../embeddings/oleObject3.bin"/><Relationship Id="rId14" Type="http://schemas.openxmlformats.org/officeDocument/2006/relationships/image" Target="../media/image5.emf"/><Relationship Id="rId22" Type="http://schemas.openxmlformats.org/officeDocument/2006/relationships/package" Target="../embeddings/Documento_de_Microsoft_Word7.docx"/></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0.emf"/><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package" Target="../embeddings/Documento_de_Microsoft_Word8.docx"/><Relationship Id="rId5" Type="http://schemas.openxmlformats.org/officeDocument/2006/relationships/oleObject" Target="../embeddings/oleObject8.bin"/><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10.bin"/><Relationship Id="rId13" Type="http://schemas.openxmlformats.org/officeDocument/2006/relationships/image" Target="../media/image7.emf"/><Relationship Id="rId18" Type="http://schemas.openxmlformats.org/officeDocument/2006/relationships/package" Target="../embeddings/Documento_de_Microsoft_Word13.docx"/><Relationship Id="rId3" Type="http://schemas.openxmlformats.org/officeDocument/2006/relationships/notesSlide" Target="../notesSlides/notesSlide2.xml"/><Relationship Id="rId7" Type="http://schemas.openxmlformats.org/officeDocument/2006/relationships/image" Target="../media/image12.emf"/><Relationship Id="rId12" Type="http://schemas.openxmlformats.org/officeDocument/2006/relationships/package" Target="../embeddings/Documento_de_Microsoft_Word11.docx"/><Relationship Id="rId17" Type="http://schemas.openxmlformats.org/officeDocument/2006/relationships/oleObject" Target="../embeddings/oleObject13.bin"/><Relationship Id="rId2" Type="http://schemas.openxmlformats.org/officeDocument/2006/relationships/slideLayout" Target="../slideLayouts/slideLayout2.xml"/><Relationship Id="rId16" Type="http://schemas.openxmlformats.org/officeDocument/2006/relationships/image" Target="../media/image14.emf"/><Relationship Id="rId1" Type="http://schemas.openxmlformats.org/officeDocument/2006/relationships/vmlDrawing" Target="../drawings/vmlDrawing4.vml"/><Relationship Id="rId6" Type="http://schemas.openxmlformats.org/officeDocument/2006/relationships/package" Target="../embeddings/Documento_de_Microsoft_Word9.docx"/><Relationship Id="rId11" Type="http://schemas.openxmlformats.org/officeDocument/2006/relationships/oleObject" Target="../embeddings/oleObject11.bin"/><Relationship Id="rId5" Type="http://schemas.openxmlformats.org/officeDocument/2006/relationships/oleObject" Target="../embeddings/oleObject9.bin"/><Relationship Id="rId15" Type="http://schemas.openxmlformats.org/officeDocument/2006/relationships/package" Target="../embeddings/Documento_de_Microsoft_Word12.docx"/><Relationship Id="rId10" Type="http://schemas.openxmlformats.org/officeDocument/2006/relationships/image" Target="../media/image13.emf"/><Relationship Id="rId19" Type="http://schemas.openxmlformats.org/officeDocument/2006/relationships/image" Target="../media/image15.emf"/><Relationship Id="rId4" Type="http://schemas.openxmlformats.org/officeDocument/2006/relationships/image" Target="../media/image1.png"/><Relationship Id="rId9" Type="http://schemas.openxmlformats.org/officeDocument/2006/relationships/package" Target="../embeddings/Documento_de_Microsoft_Word10.docx"/><Relationship Id="rId14" Type="http://schemas.openxmlformats.org/officeDocument/2006/relationships/oleObject" Target="../embeddings/oleObject12.bin"/></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3.xml"/><Relationship Id="rId7" Type="http://schemas.openxmlformats.org/officeDocument/2006/relationships/image" Target="../media/image16.emf"/><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package" Target="../embeddings/Documento_de_Microsoft_Word14.docx"/><Relationship Id="rId5" Type="http://schemas.openxmlformats.org/officeDocument/2006/relationships/oleObject" Target="../embeddings/oleObject14.bin"/><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16.bin"/><Relationship Id="rId13" Type="http://schemas.openxmlformats.org/officeDocument/2006/relationships/image" Target="../media/image19.emf"/><Relationship Id="rId18" Type="http://schemas.openxmlformats.org/officeDocument/2006/relationships/package" Target="../embeddings/Documento_de_Microsoft_Word19.docx"/><Relationship Id="rId3" Type="http://schemas.openxmlformats.org/officeDocument/2006/relationships/notesSlide" Target="../notesSlides/notesSlide5.xml"/><Relationship Id="rId7" Type="http://schemas.openxmlformats.org/officeDocument/2006/relationships/image" Target="../media/image18.emf"/><Relationship Id="rId12" Type="http://schemas.openxmlformats.org/officeDocument/2006/relationships/package" Target="../embeddings/Documento_de_Microsoft_Word17.docx"/><Relationship Id="rId17" Type="http://schemas.openxmlformats.org/officeDocument/2006/relationships/oleObject" Target="../embeddings/oleObject19.bin"/><Relationship Id="rId2" Type="http://schemas.openxmlformats.org/officeDocument/2006/relationships/slideLayout" Target="../slideLayouts/slideLayout2.xml"/><Relationship Id="rId16" Type="http://schemas.openxmlformats.org/officeDocument/2006/relationships/image" Target="../media/image6.emf"/><Relationship Id="rId1" Type="http://schemas.openxmlformats.org/officeDocument/2006/relationships/vmlDrawing" Target="../drawings/vmlDrawing6.vml"/><Relationship Id="rId6" Type="http://schemas.openxmlformats.org/officeDocument/2006/relationships/package" Target="../embeddings/Documento_de_Microsoft_Word15.docx"/><Relationship Id="rId11" Type="http://schemas.openxmlformats.org/officeDocument/2006/relationships/oleObject" Target="../embeddings/oleObject17.bin"/><Relationship Id="rId5" Type="http://schemas.openxmlformats.org/officeDocument/2006/relationships/oleObject" Target="../embeddings/oleObject15.bin"/><Relationship Id="rId15" Type="http://schemas.openxmlformats.org/officeDocument/2006/relationships/package" Target="../embeddings/Documento_de_Microsoft_Word18.docx"/><Relationship Id="rId10" Type="http://schemas.openxmlformats.org/officeDocument/2006/relationships/image" Target="../media/image7.emf"/><Relationship Id="rId19" Type="http://schemas.openxmlformats.org/officeDocument/2006/relationships/image" Target="../media/image13.emf"/><Relationship Id="rId4" Type="http://schemas.openxmlformats.org/officeDocument/2006/relationships/image" Target="../media/image1.png"/><Relationship Id="rId9" Type="http://schemas.openxmlformats.org/officeDocument/2006/relationships/package" Target="../embeddings/Documento_de_Microsoft_Word16.docx"/><Relationship Id="rId14" Type="http://schemas.openxmlformats.org/officeDocument/2006/relationships/oleObject" Target="../embeddings/oleObject18.bin"/></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21.bin"/><Relationship Id="rId13" Type="http://schemas.openxmlformats.org/officeDocument/2006/relationships/image" Target="../media/image22.emf"/><Relationship Id="rId3" Type="http://schemas.openxmlformats.org/officeDocument/2006/relationships/notesSlide" Target="../notesSlides/notesSlide6.xml"/><Relationship Id="rId7" Type="http://schemas.openxmlformats.org/officeDocument/2006/relationships/image" Target="../media/image20.emf"/><Relationship Id="rId12" Type="http://schemas.openxmlformats.org/officeDocument/2006/relationships/package" Target="../embeddings/Documento_de_Microsoft_Word22.docx"/><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package" Target="../embeddings/Documento_de_Microsoft_Word20.docx"/><Relationship Id="rId11" Type="http://schemas.openxmlformats.org/officeDocument/2006/relationships/oleObject" Target="../embeddings/oleObject22.bin"/><Relationship Id="rId5" Type="http://schemas.openxmlformats.org/officeDocument/2006/relationships/oleObject" Target="../embeddings/oleObject20.bin"/><Relationship Id="rId10" Type="http://schemas.openxmlformats.org/officeDocument/2006/relationships/image" Target="../media/image21.emf"/><Relationship Id="rId4" Type="http://schemas.openxmlformats.org/officeDocument/2006/relationships/image" Target="../media/image1.png"/><Relationship Id="rId9" Type="http://schemas.openxmlformats.org/officeDocument/2006/relationships/package" Target="../embeddings/Documento_de_Microsoft_Word21.docx"/></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package" Target="../embeddings/Documento_de_Microsoft_Word24.docx"/><Relationship Id="rId13" Type="http://schemas.openxmlformats.org/officeDocument/2006/relationships/oleObject" Target="../embeddings/oleObject26.bin"/><Relationship Id="rId3" Type="http://schemas.openxmlformats.org/officeDocument/2006/relationships/image" Target="../media/image1.png"/><Relationship Id="rId7" Type="http://schemas.openxmlformats.org/officeDocument/2006/relationships/oleObject" Target="../embeddings/oleObject24.bin"/><Relationship Id="rId12" Type="http://schemas.openxmlformats.org/officeDocument/2006/relationships/image" Target="../media/image25.emf"/><Relationship Id="rId17" Type="http://schemas.openxmlformats.org/officeDocument/2006/relationships/package" Target="../embeddings/Documento_de_Microsoft_Word27.docx"/><Relationship Id="rId2" Type="http://schemas.openxmlformats.org/officeDocument/2006/relationships/slideLayout" Target="../slideLayouts/slideLayout2.xml"/><Relationship Id="rId16" Type="http://schemas.openxmlformats.org/officeDocument/2006/relationships/oleObject" Target="../embeddings/oleObject27.bin"/><Relationship Id="rId1" Type="http://schemas.openxmlformats.org/officeDocument/2006/relationships/vmlDrawing" Target="../drawings/vmlDrawing8.vml"/><Relationship Id="rId6" Type="http://schemas.openxmlformats.org/officeDocument/2006/relationships/image" Target="../media/image23.emf"/><Relationship Id="rId11" Type="http://schemas.openxmlformats.org/officeDocument/2006/relationships/package" Target="../embeddings/Documento_de_Microsoft_Word25.docx"/><Relationship Id="rId5" Type="http://schemas.openxmlformats.org/officeDocument/2006/relationships/package" Target="../embeddings/Documento_de_Microsoft_Word23.docx"/><Relationship Id="rId15" Type="http://schemas.openxmlformats.org/officeDocument/2006/relationships/image" Target="../media/image26.emf"/><Relationship Id="rId10" Type="http://schemas.openxmlformats.org/officeDocument/2006/relationships/oleObject" Target="../embeddings/oleObject25.bin"/><Relationship Id="rId4" Type="http://schemas.openxmlformats.org/officeDocument/2006/relationships/oleObject" Target="../embeddings/oleObject23.bin"/><Relationship Id="rId9" Type="http://schemas.openxmlformats.org/officeDocument/2006/relationships/image" Target="../media/image24.emf"/><Relationship Id="rId14" Type="http://schemas.openxmlformats.org/officeDocument/2006/relationships/package" Target="../embeddings/Documento_de_Microsoft_Word26.docx"/></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29.bin"/><Relationship Id="rId13" Type="http://schemas.openxmlformats.org/officeDocument/2006/relationships/image" Target="../media/image29.emf"/><Relationship Id="rId3" Type="http://schemas.openxmlformats.org/officeDocument/2006/relationships/image" Target="../media/image1.png"/><Relationship Id="rId7" Type="http://schemas.openxmlformats.org/officeDocument/2006/relationships/image" Target="../media/image27.emf"/><Relationship Id="rId12" Type="http://schemas.openxmlformats.org/officeDocument/2006/relationships/package" Target="../embeddings/Documento_de_Microsoft_Word30.docx"/><Relationship Id="rId2" Type="http://schemas.openxmlformats.org/officeDocument/2006/relationships/slideLayout" Target="../slideLayouts/slideLayout2.xml"/><Relationship Id="rId16" Type="http://schemas.openxmlformats.org/officeDocument/2006/relationships/image" Target="../media/image30.emf"/><Relationship Id="rId1" Type="http://schemas.openxmlformats.org/officeDocument/2006/relationships/vmlDrawing" Target="../drawings/vmlDrawing9.vml"/><Relationship Id="rId6" Type="http://schemas.openxmlformats.org/officeDocument/2006/relationships/package" Target="../embeddings/Documento_de_Microsoft_Word28.docx"/><Relationship Id="rId11" Type="http://schemas.openxmlformats.org/officeDocument/2006/relationships/oleObject" Target="../embeddings/oleObject30.bin"/><Relationship Id="rId5" Type="http://schemas.openxmlformats.org/officeDocument/2006/relationships/oleObject" Target="../embeddings/oleObject28.bin"/><Relationship Id="rId15" Type="http://schemas.openxmlformats.org/officeDocument/2006/relationships/package" Target="../embeddings/Documento_de_Microsoft_Word31.docx"/><Relationship Id="rId10" Type="http://schemas.openxmlformats.org/officeDocument/2006/relationships/image" Target="../media/image28.emf"/><Relationship Id="rId4" Type="http://schemas.openxmlformats.org/officeDocument/2006/relationships/image" Target="../media/image11.png"/><Relationship Id="rId9" Type="http://schemas.openxmlformats.org/officeDocument/2006/relationships/package" Target="../embeddings/Documento_de_Microsoft_Word29.docx"/><Relationship Id="rId14" Type="http://schemas.openxmlformats.org/officeDocument/2006/relationships/oleObject" Target="../embeddings/oleObject31.bin"/></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33.bin"/><Relationship Id="rId13" Type="http://schemas.openxmlformats.org/officeDocument/2006/relationships/image" Target="../media/image33.emf"/><Relationship Id="rId3" Type="http://schemas.openxmlformats.org/officeDocument/2006/relationships/image" Target="../media/image1.png"/><Relationship Id="rId7" Type="http://schemas.openxmlformats.org/officeDocument/2006/relationships/image" Target="../media/image31.emf"/><Relationship Id="rId12" Type="http://schemas.openxmlformats.org/officeDocument/2006/relationships/package" Target="../embeddings/Documento_de_Microsoft_Word34.docx"/><Relationship Id="rId2" Type="http://schemas.openxmlformats.org/officeDocument/2006/relationships/slideLayout" Target="../slideLayouts/slideLayout2.xml"/><Relationship Id="rId16" Type="http://schemas.openxmlformats.org/officeDocument/2006/relationships/image" Target="../media/image34.emf"/><Relationship Id="rId1" Type="http://schemas.openxmlformats.org/officeDocument/2006/relationships/vmlDrawing" Target="../drawings/vmlDrawing10.vml"/><Relationship Id="rId6" Type="http://schemas.openxmlformats.org/officeDocument/2006/relationships/package" Target="../embeddings/Documento_de_Microsoft_Word32.docx"/><Relationship Id="rId11" Type="http://schemas.openxmlformats.org/officeDocument/2006/relationships/oleObject" Target="../embeddings/oleObject34.bin"/><Relationship Id="rId5" Type="http://schemas.openxmlformats.org/officeDocument/2006/relationships/oleObject" Target="../embeddings/oleObject32.bin"/><Relationship Id="rId15" Type="http://schemas.openxmlformats.org/officeDocument/2006/relationships/package" Target="../embeddings/Documento_de_Microsoft_Word35.docx"/><Relationship Id="rId10" Type="http://schemas.openxmlformats.org/officeDocument/2006/relationships/image" Target="../media/image32.emf"/><Relationship Id="rId4" Type="http://schemas.openxmlformats.org/officeDocument/2006/relationships/image" Target="../media/image35.png"/><Relationship Id="rId9" Type="http://schemas.openxmlformats.org/officeDocument/2006/relationships/package" Target="../embeddings/Documento_de_Microsoft_Word33.docx"/><Relationship Id="rId14" Type="http://schemas.openxmlformats.org/officeDocument/2006/relationships/oleObject" Target="../embeddings/oleObject35.bin"/></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37.bin"/><Relationship Id="rId13" Type="http://schemas.openxmlformats.org/officeDocument/2006/relationships/image" Target="../media/image38.emf"/><Relationship Id="rId3" Type="http://schemas.openxmlformats.org/officeDocument/2006/relationships/image" Target="../media/image1.png"/><Relationship Id="rId7" Type="http://schemas.openxmlformats.org/officeDocument/2006/relationships/image" Target="../media/image36.emf"/><Relationship Id="rId12" Type="http://schemas.openxmlformats.org/officeDocument/2006/relationships/package" Target="../embeddings/Documento_de_Microsoft_Word38.docx"/><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package" Target="../embeddings/Documento_de_Microsoft_Word36.docx"/><Relationship Id="rId11" Type="http://schemas.openxmlformats.org/officeDocument/2006/relationships/oleObject" Target="../embeddings/oleObject38.bin"/><Relationship Id="rId5" Type="http://schemas.openxmlformats.org/officeDocument/2006/relationships/oleObject" Target="../embeddings/oleObject36.bin"/><Relationship Id="rId10" Type="http://schemas.openxmlformats.org/officeDocument/2006/relationships/image" Target="../media/image37.emf"/><Relationship Id="rId4" Type="http://schemas.openxmlformats.org/officeDocument/2006/relationships/image" Target="../media/image35.png"/><Relationship Id="rId9" Type="http://schemas.openxmlformats.org/officeDocument/2006/relationships/package" Target="../embeddings/Documento_de_Microsoft_Word37.docx"/></Relationships>
</file>

<file path=ppt/slides/_rels/slide19.xml.rels><?xml version="1.0" encoding="UTF-8" standalone="yes"?>
<Relationships xmlns="http://schemas.openxmlformats.org/package/2006/relationships"><Relationship Id="rId8" Type="http://schemas.openxmlformats.org/officeDocument/2006/relationships/package" Target="../embeddings/Documento_de_Microsoft_Word40.docx"/><Relationship Id="rId13" Type="http://schemas.openxmlformats.org/officeDocument/2006/relationships/oleObject" Target="../embeddings/oleObject42.bin"/><Relationship Id="rId3" Type="http://schemas.openxmlformats.org/officeDocument/2006/relationships/image" Target="../media/image1.png"/><Relationship Id="rId7" Type="http://schemas.openxmlformats.org/officeDocument/2006/relationships/oleObject" Target="../embeddings/oleObject40.bin"/><Relationship Id="rId12" Type="http://schemas.openxmlformats.org/officeDocument/2006/relationships/image" Target="../media/image5.emf"/><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image" Target="../media/image39.emf"/><Relationship Id="rId11" Type="http://schemas.openxmlformats.org/officeDocument/2006/relationships/package" Target="../embeddings/Documento_de_Microsoft_Word41.docx"/><Relationship Id="rId5" Type="http://schemas.openxmlformats.org/officeDocument/2006/relationships/package" Target="../embeddings/Documento_de_Microsoft_Word39.docx"/><Relationship Id="rId15" Type="http://schemas.openxmlformats.org/officeDocument/2006/relationships/image" Target="../media/image41.emf"/><Relationship Id="rId10" Type="http://schemas.openxmlformats.org/officeDocument/2006/relationships/oleObject" Target="../embeddings/oleObject41.bin"/><Relationship Id="rId4" Type="http://schemas.openxmlformats.org/officeDocument/2006/relationships/oleObject" Target="../embeddings/oleObject39.bin"/><Relationship Id="rId9" Type="http://schemas.openxmlformats.org/officeDocument/2006/relationships/image" Target="../media/image40.emf"/><Relationship Id="rId14" Type="http://schemas.openxmlformats.org/officeDocument/2006/relationships/package" Target="../embeddings/Documento_de_Microsoft_Word42.docx"/></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7.xml"/><Relationship Id="rId7" Type="http://schemas.openxmlformats.org/officeDocument/2006/relationships/image" Target="../media/image39.emf"/><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package" Target="../embeddings/Documento_de_Microsoft_Word43.docx"/><Relationship Id="rId5" Type="http://schemas.openxmlformats.org/officeDocument/2006/relationships/oleObject" Target="../embeddings/oleObject43.bin"/><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8" Type="http://schemas.openxmlformats.org/officeDocument/2006/relationships/package" Target="../embeddings/Documento_de_Microsoft_Word45.docx"/><Relationship Id="rId13" Type="http://schemas.openxmlformats.org/officeDocument/2006/relationships/oleObject" Target="../embeddings/oleObject47.bin"/><Relationship Id="rId3" Type="http://schemas.openxmlformats.org/officeDocument/2006/relationships/image" Target="../media/image1.png"/><Relationship Id="rId7" Type="http://schemas.openxmlformats.org/officeDocument/2006/relationships/oleObject" Target="../embeddings/oleObject45.bin"/><Relationship Id="rId12" Type="http://schemas.openxmlformats.org/officeDocument/2006/relationships/image" Target="../media/image43.emf"/><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image" Target="../media/image42.emf"/><Relationship Id="rId11" Type="http://schemas.openxmlformats.org/officeDocument/2006/relationships/package" Target="../embeddings/Documento_de_Microsoft_Word46.docx"/><Relationship Id="rId5" Type="http://schemas.openxmlformats.org/officeDocument/2006/relationships/package" Target="../embeddings/Documento_de_Microsoft_Word44.docx"/><Relationship Id="rId15" Type="http://schemas.openxmlformats.org/officeDocument/2006/relationships/image" Target="../media/image44.emf"/><Relationship Id="rId10" Type="http://schemas.openxmlformats.org/officeDocument/2006/relationships/oleObject" Target="../embeddings/oleObject46.bin"/><Relationship Id="rId4" Type="http://schemas.openxmlformats.org/officeDocument/2006/relationships/oleObject" Target="../embeddings/oleObject44.bin"/><Relationship Id="rId9" Type="http://schemas.openxmlformats.org/officeDocument/2006/relationships/image" Target="../media/image5.emf"/><Relationship Id="rId14" Type="http://schemas.openxmlformats.org/officeDocument/2006/relationships/package" Target="../embeddings/Documento_de_Microsoft_Word47.docx"/></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49.bin"/><Relationship Id="rId13" Type="http://schemas.openxmlformats.org/officeDocument/2006/relationships/image" Target="../media/image47.emf"/><Relationship Id="rId3" Type="http://schemas.openxmlformats.org/officeDocument/2006/relationships/notesSlide" Target="../notesSlides/notesSlide8.xml"/><Relationship Id="rId7" Type="http://schemas.openxmlformats.org/officeDocument/2006/relationships/image" Target="../media/image45.emf"/><Relationship Id="rId12" Type="http://schemas.openxmlformats.org/officeDocument/2006/relationships/package" Target="../embeddings/Documento_de_Microsoft_Word50.docx"/><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package" Target="../embeddings/Documento_de_Microsoft_Word48.docx"/><Relationship Id="rId11" Type="http://schemas.openxmlformats.org/officeDocument/2006/relationships/oleObject" Target="../embeddings/oleObject50.bin"/><Relationship Id="rId5" Type="http://schemas.openxmlformats.org/officeDocument/2006/relationships/oleObject" Target="../embeddings/oleObject48.bin"/><Relationship Id="rId10" Type="http://schemas.openxmlformats.org/officeDocument/2006/relationships/image" Target="../media/image46.emf"/><Relationship Id="rId4" Type="http://schemas.openxmlformats.org/officeDocument/2006/relationships/image" Target="../media/image1.png"/><Relationship Id="rId9" Type="http://schemas.openxmlformats.org/officeDocument/2006/relationships/package" Target="../embeddings/Documento_de_Microsoft_Word49.docx"/></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52.bin"/><Relationship Id="rId13" Type="http://schemas.openxmlformats.org/officeDocument/2006/relationships/image" Target="../media/image50.emf"/><Relationship Id="rId3" Type="http://schemas.openxmlformats.org/officeDocument/2006/relationships/image" Target="../media/image1.png"/><Relationship Id="rId7" Type="http://schemas.openxmlformats.org/officeDocument/2006/relationships/image" Target="../media/image48.emf"/><Relationship Id="rId12" Type="http://schemas.openxmlformats.org/officeDocument/2006/relationships/package" Target="../embeddings/Documento_de_Microsoft_Word53.docx"/><Relationship Id="rId2" Type="http://schemas.openxmlformats.org/officeDocument/2006/relationships/slideLayout" Target="../slideLayouts/slideLayout2.xml"/><Relationship Id="rId1" Type="http://schemas.openxmlformats.org/officeDocument/2006/relationships/vmlDrawing" Target="../drawings/vmlDrawing16.vml"/><Relationship Id="rId6" Type="http://schemas.openxmlformats.org/officeDocument/2006/relationships/package" Target="../embeddings/Documento_de_Microsoft_Word51.docx"/><Relationship Id="rId11" Type="http://schemas.openxmlformats.org/officeDocument/2006/relationships/oleObject" Target="../embeddings/oleObject53.bin"/><Relationship Id="rId5" Type="http://schemas.openxmlformats.org/officeDocument/2006/relationships/oleObject" Target="../embeddings/oleObject51.bin"/><Relationship Id="rId10" Type="http://schemas.openxmlformats.org/officeDocument/2006/relationships/image" Target="../media/image49.emf"/><Relationship Id="rId4" Type="http://schemas.openxmlformats.org/officeDocument/2006/relationships/image" Target="../media/image51.png"/><Relationship Id="rId9" Type="http://schemas.openxmlformats.org/officeDocument/2006/relationships/package" Target="../embeddings/Documento_de_Microsoft_Word52.docx"/></Relationships>
</file>

<file path=ppt/slides/_rels/slide24.xml.rels><?xml version="1.0" encoding="UTF-8" standalone="yes"?>
<Relationships xmlns="http://schemas.openxmlformats.org/package/2006/relationships"><Relationship Id="rId8" Type="http://schemas.openxmlformats.org/officeDocument/2006/relationships/package" Target="../embeddings/Documento_de_Microsoft_Word55.docx"/><Relationship Id="rId3" Type="http://schemas.openxmlformats.org/officeDocument/2006/relationships/image" Target="../media/image1.png"/><Relationship Id="rId7" Type="http://schemas.openxmlformats.org/officeDocument/2006/relationships/oleObject" Target="../embeddings/oleObject55.bin"/><Relationship Id="rId2" Type="http://schemas.openxmlformats.org/officeDocument/2006/relationships/slideLayout" Target="../slideLayouts/slideLayout2.xml"/><Relationship Id="rId1" Type="http://schemas.openxmlformats.org/officeDocument/2006/relationships/vmlDrawing" Target="../drawings/vmlDrawing17.vml"/><Relationship Id="rId6" Type="http://schemas.openxmlformats.org/officeDocument/2006/relationships/image" Target="../media/image52.emf"/><Relationship Id="rId5" Type="http://schemas.openxmlformats.org/officeDocument/2006/relationships/package" Target="../embeddings/Documento_de_Microsoft_Word54.docx"/><Relationship Id="rId4" Type="http://schemas.openxmlformats.org/officeDocument/2006/relationships/oleObject" Target="../embeddings/oleObject54.bin"/><Relationship Id="rId9" Type="http://schemas.openxmlformats.org/officeDocument/2006/relationships/image" Target="../media/image53.emf"/></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57.bin"/><Relationship Id="rId13" Type="http://schemas.openxmlformats.org/officeDocument/2006/relationships/image" Target="../media/image57.wmf"/><Relationship Id="rId3" Type="http://schemas.openxmlformats.org/officeDocument/2006/relationships/notesSlide" Target="../notesSlides/notesSlide10.xml"/><Relationship Id="rId7" Type="http://schemas.openxmlformats.org/officeDocument/2006/relationships/image" Target="../media/image54.emf"/><Relationship Id="rId12" Type="http://schemas.openxmlformats.org/officeDocument/2006/relationships/oleObject" Target="../embeddings/oleObject59.bin"/><Relationship Id="rId2" Type="http://schemas.openxmlformats.org/officeDocument/2006/relationships/slideLayout" Target="../slideLayouts/slideLayout2.xml"/><Relationship Id="rId1" Type="http://schemas.openxmlformats.org/officeDocument/2006/relationships/vmlDrawing" Target="../drawings/vmlDrawing18.vml"/><Relationship Id="rId6" Type="http://schemas.openxmlformats.org/officeDocument/2006/relationships/package" Target="../embeddings/Documento_de_Microsoft_Word56.docx"/><Relationship Id="rId11" Type="http://schemas.openxmlformats.org/officeDocument/2006/relationships/image" Target="../media/image56.wmf"/><Relationship Id="rId5" Type="http://schemas.openxmlformats.org/officeDocument/2006/relationships/oleObject" Target="../embeddings/oleObject56.bin"/><Relationship Id="rId10" Type="http://schemas.openxmlformats.org/officeDocument/2006/relationships/oleObject" Target="../embeddings/oleObject58.bin"/><Relationship Id="rId4" Type="http://schemas.openxmlformats.org/officeDocument/2006/relationships/image" Target="../media/image1.png"/><Relationship Id="rId9" Type="http://schemas.openxmlformats.org/officeDocument/2006/relationships/image" Target="../media/image55.wmf"/></Relationships>
</file>

<file path=ppt/slides/_rels/slide30.xml.rels><?xml version="1.0" encoding="UTF-8" standalone="yes"?>
<Relationships xmlns="http://schemas.openxmlformats.org/package/2006/relationships"><Relationship Id="rId8" Type="http://schemas.openxmlformats.org/officeDocument/2006/relationships/image" Target="../media/image59.wmf"/><Relationship Id="rId3" Type="http://schemas.openxmlformats.org/officeDocument/2006/relationships/notesSlide" Target="../notesSlides/notesSlide11.xml"/><Relationship Id="rId7" Type="http://schemas.openxmlformats.org/officeDocument/2006/relationships/oleObject" Target="../embeddings/oleObject61.bin"/><Relationship Id="rId12" Type="http://schemas.openxmlformats.org/officeDocument/2006/relationships/image" Target="../media/image61.wmf"/><Relationship Id="rId2" Type="http://schemas.openxmlformats.org/officeDocument/2006/relationships/slideLayout" Target="../slideLayouts/slideLayout2.xml"/><Relationship Id="rId1" Type="http://schemas.openxmlformats.org/officeDocument/2006/relationships/vmlDrawing" Target="../drawings/vmlDrawing19.vml"/><Relationship Id="rId6" Type="http://schemas.openxmlformats.org/officeDocument/2006/relationships/image" Target="../media/image58.wmf"/><Relationship Id="rId11" Type="http://schemas.openxmlformats.org/officeDocument/2006/relationships/oleObject" Target="../embeddings/oleObject63.bin"/><Relationship Id="rId5" Type="http://schemas.openxmlformats.org/officeDocument/2006/relationships/oleObject" Target="../embeddings/oleObject60.bin"/><Relationship Id="rId10" Type="http://schemas.openxmlformats.org/officeDocument/2006/relationships/image" Target="../media/image60.wmf"/><Relationship Id="rId4" Type="http://schemas.openxmlformats.org/officeDocument/2006/relationships/image" Target="../media/image1.png"/><Relationship Id="rId9" Type="http://schemas.openxmlformats.org/officeDocument/2006/relationships/oleObject" Target="../embeddings/oleObject62.bin"/></Relationships>
</file>

<file path=ppt/slides/_rels/slide31.xml.rels><?xml version="1.0" encoding="UTF-8" standalone="yes"?>
<Relationships xmlns="http://schemas.openxmlformats.org/package/2006/relationships"><Relationship Id="rId8" Type="http://schemas.openxmlformats.org/officeDocument/2006/relationships/image" Target="../media/image63.wmf"/><Relationship Id="rId13" Type="http://schemas.openxmlformats.org/officeDocument/2006/relationships/oleObject" Target="../embeddings/oleObject68.bin"/><Relationship Id="rId3" Type="http://schemas.openxmlformats.org/officeDocument/2006/relationships/notesSlide" Target="../notesSlides/notesSlide12.xml"/><Relationship Id="rId7" Type="http://schemas.openxmlformats.org/officeDocument/2006/relationships/oleObject" Target="../embeddings/oleObject65.bin"/><Relationship Id="rId12" Type="http://schemas.openxmlformats.org/officeDocument/2006/relationships/image" Target="../media/image65.wmf"/><Relationship Id="rId2" Type="http://schemas.openxmlformats.org/officeDocument/2006/relationships/slideLayout" Target="../slideLayouts/slideLayout2.xml"/><Relationship Id="rId1" Type="http://schemas.openxmlformats.org/officeDocument/2006/relationships/vmlDrawing" Target="../drawings/vmlDrawing20.vml"/><Relationship Id="rId6" Type="http://schemas.openxmlformats.org/officeDocument/2006/relationships/image" Target="../media/image62.wmf"/><Relationship Id="rId11" Type="http://schemas.openxmlformats.org/officeDocument/2006/relationships/oleObject" Target="../embeddings/oleObject67.bin"/><Relationship Id="rId5" Type="http://schemas.openxmlformats.org/officeDocument/2006/relationships/oleObject" Target="../embeddings/oleObject64.bin"/><Relationship Id="rId10" Type="http://schemas.openxmlformats.org/officeDocument/2006/relationships/image" Target="../media/image64.wmf"/><Relationship Id="rId4" Type="http://schemas.openxmlformats.org/officeDocument/2006/relationships/image" Target="../media/image1.png"/><Relationship Id="rId9" Type="http://schemas.openxmlformats.org/officeDocument/2006/relationships/oleObject" Target="../embeddings/oleObject66.bin"/><Relationship Id="rId14" Type="http://schemas.openxmlformats.org/officeDocument/2006/relationships/image" Target="../media/image66.wmf"/></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70.bin"/><Relationship Id="rId3" Type="http://schemas.openxmlformats.org/officeDocument/2006/relationships/notesSlide" Target="../notesSlides/notesSlide13.xml"/><Relationship Id="rId7" Type="http://schemas.openxmlformats.org/officeDocument/2006/relationships/image" Target="../media/image54.emf"/><Relationship Id="rId2" Type="http://schemas.openxmlformats.org/officeDocument/2006/relationships/slideLayout" Target="../slideLayouts/slideLayout2.xml"/><Relationship Id="rId1" Type="http://schemas.openxmlformats.org/officeDocument/2006/relationships/vmlDrawing" Target="../drawings/vmlDrawing21.vml"/><Relationship Id="rId6" Type="http://schemas.openxmlformats.org/officeDocument/2006/relationships/package" Target="../embeddings/Documento_de_Microsoft_Word57.docx"/><Relationship Id="rId11" Type="http://schemas.openxmlformats.org/officeDocument/2006/relationships/image" Target="../media/image62.wmf"/><Relationship Id="rId5" Type="http://schemas.openxmlformats.org/officeDocument/2006/relationships/oleObject" Target="../embeddings/oleObject69.bin"/><Relationship Id="rId10" Type="http://schemas.openxmlformats.org/officeDocument/2006/relationships/oleObject" Target="../embeddings/oleObject71.bin"/><Relationship Id="rId4" Type="http://schemas.openxmlformats.org/officeDocument/2006/relationships/image" Target="../media/image1.png"/><Relationship Id="rId9" Type="http://schemas.openxmlformats.org/officeDocument/2006/relationships/image" Target="../media/image58.wmf"/></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p:txBody>
          <a:bodyPr/>
          <a:lstStyle/>
          <a:p>
            <a:r>
              <a:rPr lang="es-CO" dirty="0" smtClean="0"/>
              <a:t>Capítulo 9</a:t>
            </a:r>
            <a:endParaRPr lang="es-ES" dirty="0"/>
          </a:p>
        </p:txBody>
      </p:sp>
      <p:sp>
        <p:nvSpPr>
          <p:cNvPr id="3" name="2 Subtítulo"/>
          <p:cNvSpPr>
            <a:spLocks noGrp="1"/>
          </p:cNvSpPr>
          <p:nvPr>
            <p:ph type="subTitle" idx="1"/>
          </p:nvPr>
        </p:nvSpPr>
        <p:spPr/>
        <p:txBody>
          <a:bodyPr/>
          <a:lstStyle/>
          <a:p>
            <a:pPr algn="r"/>
            <a:r>
              <a:rPr lang="es-CO" dirty="0" smtClean="0"/>
              <a:t>Funciones de control</a:t>
            </a:r>
            <a:endParaRPr lang="es-ES" dirty="0"/>
          </a:p>
        </p:txBody>
      </p:sp>
      <p:pic>
        <p:nvPicPr>
          <p:cNvPr id="4" name="Picture 1"/>
          <p:cNvPicPr>
            <a:picLocks noChangeAspect="1" noChangeArrowheads="1"/>
          </p:cNvPicPr>
          <p:nvPr/>
        </p:nvPicPr>
        <p:blipFill>
          <a:blip r:embed="rId2" cstate="print"/>
          <a:srcRect/>
          <a:stretch>
            <a:fillRect/>
          </a:stretch>
        </p:blipFill>
        <p:spPr bwMode="auto">
          <a:xfrm>
            <a:off x="0" y="-24"/>
            <a:ext cx="2500298" cy="1189301"/>
          </a:xfrm>
          <a:prstGeom prst="rect">
            <a:avLst/>
          </a:prstGeom>
          <a:noFill/>
          <a:ln w="9525">
            <a:noFill/>
            <a:miter lim="800000"/>
            <a:headEnd/>
            <a:tailEnd/>
          </a:ln>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714488"/>
            <a:ext cx="8229600" cy="4411675"/>
          </a:xfrm>
        </p:spPr>
        <p:txBody>
          <a:bodyPr>
            <a:normAutofit/>
          </a:bodyPr>
          <a:lstStyle/>
          <a:p>
            <a:pPr>
              <a:buNone/>
            </a:pPr>
            <a:r>
              <a:rPr lang="es-CO" sz="2500" dirty="0" smtClean="0"/>
              <a:t>	La función de control incorpora explícitamente la decisi</a:t>
            </a:r>
            <a:r>
              <a:rPr lang="es-CO" sz="2500" dirty="0"/>
              <a:t>ó</a:t>
            </a:r>
            <a:r>
              <a:rPr lang="es-CO" sz="2500" dirty="0" smtClean="0"/>
              <a:t>n de participación en la estimación.</a:t>
            </a:r>
          </a:p>
          <a:p>
            <a:pPr>
              <a:buNone/>
            </a:pPr>
            <a:endParaRPr lang="es-CO" sz="2500" dirty="0" smtClean="0"/>
          </a:p>
          <a:p>
            <a:pPr algn="ctr">
              <a:buNone/>
            </a:pPr>
            <a:r>
              <a:rPr lang="es-CO" sz="2500" dirty="0"/>
              <a:t>	</a:t>
            </a:r>
            <a:r>
              <a:rPr lang="es-CO" sz="2500" dirty="0" smtClean="0"/>
              <a:t>Se usa cuando la participación en el programa depende de:</a:t>
            </a:r>
          </a:p>
          <a:p>
            <a:pPr algn="ctr">
              <a:buNone/>
            </a:pPr>
            <a:r>
              <a:rPr lang="es-CO" sz="2500" dirty="0"/>
              <a:t>	</a:t>
            </a:r>
            <a:r>
              <a:rPr lang="es-CO" sz="2500" dirty="0" smtClean="0"/>
              <a:t>	Características observables y no observables del 	individuo.</a:t>
            </a:r>
          </a:p>
          <a:p>
            <a:pPr>
              <a:buNone/>
            </a:pPr>
            <a:r>
              <a:rPr lang="es-CO" sz="2500" dirty="0"/>
              <a:t>	</a:t>
            </a:r>
            <a:r>
              <a:rPr lang="es-CO" sz="2500" dirty="0" smtClean="0"/>
              <a:t>	</a:t>
            </a:r>
            <a:endParaRPr lang="es-CO" sz="2500" dirty="0"/>
          </a:p>
          <a:p>
            <a:pPr>
              <a:buNone/>
            </a:pPr>
            <a:r>
              <a:rPr lang="es-CO" sz="2500" dirty="0" smtClean="0"/>
              <a:t>	</a:t>
            </a:r>
            <a:endParaRPr lang="es-ES" sz="2500" dirty="0"/>
          </a:p>
        </p:txBody>
      </p:sp>
      <p:pic>
        <p:nvPicPr>
          <p:cNvPr id="4" name="Picture 1"/>
          <p:cNvPicPr>
            <a:picLocks noChangeAspect="1" noChangeArrowheads="1"/>
          </p:cNvPicPr>
          <p:nvPr/>
        </p:nvPicPr>
        <p:blipFill>
          <a:blip r:embed="rId3" cstate="print"/>
          <a:srcRect/>
          <a:stretch>
            <a:fillRect/>
          </a:stretch>
        </p:blipFill>
        <p:spPr bwMode="auto">
          <a:xfrm>
            <a:off x="0" y="-24"/>
            <a:ext cx="2500298" cy="1189301"/>
          </a:xfrm>
          <a:prstGeom prst="rect">
            <a:avLst/>
          </a:prstGeom>
          <a:noFill/>
          <a:ln w="9525">
            <a:noFill/>
            <a:miter lim="800000"/>
            <a:headEnd/>
            <a:tailEnd/>
          </a:ln>
          <a:effectLst/>
        </p:spPr>
      </p:pic>
      <p:sp>
        <p:nvSpPr>
          <p:cNvPr id="5" name="1 Título"/>
          <p:cNvSpPr>
            <a:spLocks noGrp="1"/>
          </p:cNvSpPr>
          <p:nvPr>
            <p:ph type="title"/>
          </p:nvPr>
        </p:nvSpPr>
        <p:spPr>
          <a:xfrm>
            <a:off x="2571736" y="346076"/>
            <a:ext cx="6143668" cy="1082660"/>
          </a:xfrm>
        </p:spPr>
        <p:txBody>
          <a:bodyPr>
            <a:noAutofit/>
          </a:bodyPr>
          <a:lstStyle/>
          <a:p>
            <a:r>
              <a:rPr lang="es-AR" sz="4200" u="sng" dirty="0" smtClean="0"/>
              <a:t>¿Qué hace la función de control?</a:t>
            </a:r>
            <a:endParaRPr lang="es-AR" sz="4200" u="sng" dirty="0"/>
          </a:p>
        </p:txBody>
      </p:sp>
      <p:cxnSp>
        <p:nvCxnSpPr>
          <p:cNvPr id="8" name="7 Conector recto de flecha"/>
          <p:cNvCxnSpPr/>
          <p:nvPr/>
        </p:nvCxnSpPr>
        <p:spPr>
          <a:xfrm>
            <a:off x="1357290" y="3713164"/>
            <a:ext cx="50006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 name="8 Flecha abajo"/>
          <p:cNvSpPr/>
          <p:nvPr/>
        </p:nvSpPr>
        <p:spPr>
          <a:xfrm>
            <a:off x="4714876" y="4286256"/>
            <a:ext cx="500066" cy="357190"/>
          </a:xfrm>
          <a:prstGeom prst="downArrow">
            <a:avLst/>
          </a:prstGeom>
          <a:solidFill>
            <a:schemeClr val="bg1"/>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9 CuadroTexto"/>
          <p:cNvSpPr txBox="1"/>
          <p:nvPr/>
        </p:nvSpPr>
        <p:spPr>
          <a:xfrm>
            <a:off x="857224" y="4714884"/>
            <a:ext cx="7858180" cy="861774"/>
          </a:xfrm>
          <a:prstGeom prst="rect">
            <a:avLst/>
          </a:prstGeom>
          <a:noFill/>
          <a:ln>
            <a:solidFill>
              <a:schemeClr val="accent1">
                <a:lumMod val="60000"/>
                <a:lumOff val="40000"/>
              </a:schemeClr>
            </a:solidFill>
          </a:ln>
        </p:spPr>
        <p:txBody>
          <a:bodyPr wrap="square" rtlCol="0">
            <a:spAutoFit/>
          </a:bodyPr>
          <a:lstStyle/>
          <a:p>
            <a:pPr algn="just"/>
            <a:r>
              <a:rPr lang="es-CO" sz="2500" dirty="0" smtClean="0"/>
              <a:t>Esto puede generar que los grupos de control y tratamiento  sean sistemáticamente distintos y se viole                              . </a:t>
            </a:r>
            <a:endParaRPr lang="es-ES" sz="2500" dirty="0"/>
          </a:p>
        </p:txBody>
      </p:sp>
      <p:sp>
        <p:nvSpPr>
          <p:cNvPr id="11" name="10 Rectángulo"/>
          <p:cNvSpPr/>
          <p:nvPr/>
        </p:nvSpPr>
        <p:spPr>
          <a:xfrm>
            <a:off x="0" y="6534859"/>
            <a:ext cx="9144032" cy="323165"/>
          </a:xfrm>
          <a:prstGeom prst="rect">
            <a:avLst/>
          </a:prstGeom>
        </p:spPr>
        <p:txBody>
          <a:bodyPr wrap="square">
            <a:spAutoFit/>
          </a:bodyPr>
          <a:lstStyle/>
          <a:p>
            <a:pPr algn="ctr"/>
            <a:r>
              <a:rPr lang="es-CO" sz="1500" dirty="0" smtClean="0">
                <a:solidFill>
                  <a:schemeClr val="tx1">
                    <a:lumMod val="50000"/>
                    <a:lumOff val="50000"/>
                  </a:schemeClr>
                </a:solidFill>
              </a:rPr>
              <a:t>Guía Práctica para la Evaluación de Impacto /Capítulo 9: Funciones de Control/2</a:t>
            </a:r>
            <a:endParaRPr lang="es-ES" sz="1500" dirty="0">
              <a:solidFill>
                <a:schemeClr val="tx1">
                  <a:lumMod val="50000"/>
                  <a:lumOff val="50000"/>
                </a:schemeClr>
              </a:solidFill>
            </a:endParaRPr>
          </a:p>
        </p:txBody>
      </p:sp>
      <p:graphicFrame>
        <p:nvGraphicFramePr>
          <p:cNvPr id="1026" name="Object 2"/>
          <p:cNvGraphicFramePr>
            <a:graphicFrameLocks noChangeAspect="1"/>
          </p:cNvGraphicFramePr>
          <p:nvPr>
            <p:extLst>
              <p:ext uri="{D42A27DB-BD31-4B8C-83A1-F6EECF244321}">
                <p14:modId xmlns:p14="http://schemas.microsoft.com/office/powerpoint/2010/main" val="1532248131"/>
              </p:ext>
            </p:extLst>
          </p:nvPr>
        </p:nvGraphicFramePr>
        <p:xfrm>
          <a:off x="4435511" y="5095720"/>
          <a:ext cx="5994405" cy="637536"/>
        </p:xfrm>
        <a:graphic>
          <a:graphicData uri="http://schemas.openxmlformats.org/presentationml/2006/ole">
            <mc:AlternateContent xmlns:mc="http://schemas.openxmlformats.org/markup-compatibility/2006">
              <mc:Choice xmlns:v="urn:schemas-microsoft-com:vml" Requires="v">
                <p:oleObj spid="_x0000_s1030" name="Documento" r:id="rId5" imgW="5402470" imgH="588439" progId="Word.Document.12">
                  <p:embed/>
                </p:oleObj>
              </mc:Choice>
              <mc:Fallback>
                <p:oleObj name="Documento" r:id="rId5" imgW="5402470" imgH="588439" progId="Word.Document.12">
                  <p:embed/>
                  <p:pic>
                    <p:nvPicPr>
                      <p:cNvPr id="0"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35511" y="5095720"/>
                        <a:ext cx="5994405" cy="637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643050"/>
            <a:ext cx="8229600" cy="4483113"/>
          </a:xfrm>
        </p:spPr>
        <p:txBody>
          <a:bodyPr>
            <a:normAutofit/>
          </a:bodyPr>
          <a:lstStyle/>
          <a:p>
            <a:pPr>
              <a:buNone/>
            </a:pPr>
            <a:r>
              <a:rPr lang="es-CO" sz="2500" dirty="0" smtClean="0"/>
              <a:t>Dos formas de autoselección:</a:t>
            </a:r>
          </a:p>
          <a:p>
            <a:pPr>
              <a:buNone/>
            </a:pPr>
            <a:r>
              <a:rPr lang="es-CO" sz="2500" dirty="0"/>
              <a:t>	</a:t>
            </a:r>
            <a:endParaRPr lang="es-CO" sz="2500" dirty="0" smtClean="0"/>
          </a:p>
          <a:p>
            <a:pPr>
              <a:buNone/>
            </a:pPr>
            <a:r>
              <a:rPr lang="es-CO" sz="2500" dirty="0" smtClean="0"/>
              <a:t>	</a:t>
            </a:r>
          </a:p>
          <a:p>
            <a:pPr>
              <a:buNone/>
            </a:pPr>
            <a:r>
              <a:rPr lang="es-CO" sz="2500" dirty="0"/>
              <a:t>	 </a:t>
            </a:r>
            <a:r>
              <a:rPr lang="es-CO" sz="2500" dirty="0" smtClean="0"/>
              <a:t>   </a:t>
            </a:r>
          </a:p>
          <a:p>
            <a:pPr>
              <a:buNone/>
            </a:pPr>
            <a:endParaRPr lang="es-CO" sz="2500" dirty="0"/>
          </a:p>
          <a:p>
            <a:pPr>
              <a:buNone/>
            </a:pPr>
            <a:endParaRPr lang="es-CO" sz="2500" dirty="0" smtClean="0"/>
          </a:p>
          <a:p>
            <a:pPr>
              <a:buNone/>
            </a:pPr>
            <a:r>
              <a:rPr lang="es-CO" sz="2500" dirty="0" smtClean="0"/>
              <a:t>	</a:t>
            </a:r>
            <a:r>
              <a:rPr lang="es-CO" sz="2500" dirty="0"/>
              <a:t>	</a:t>
            </a:r>
            <a:endParaRPr lang="es-ES" sz="2500" dirty="0"/>
          </a:p>
        </p:txBody>
      </p:sp>
      <p:pic>
        <p:nvPicPr>
          <p:cNvPr id="4" name="Picture 1"/>
          <p:cNvPicPr>
            <a:picLocks noChangeAspect="1" noChangeArrowheads="1"/>
          </p:cNvPicPr>
          <p:nvPr/>
        </p:nvPicPr>
        <p:blipFill>
          <a:blip r:embed="rId2" cstate="print"/>
          <a:srcRect/>
          <a:stretch>
            <a:fillRect/>
          </a:stretch>
        </p:blipFill>
        <p:spPr bwMode="auto">
          <a:xfrm>
            <a:off x="0" y="-24"/>
            <a:ext cx="2500298" cy="1189301"/>
          </a:xfrm>
          <a:prstGeom prst="rect">
            <a:avLst/>
          </a:prstGeom>
          <a:noFill/>
          <a:ln w="9525">
            <a:noFill/>
            <a:miter lim="800000"/>
            <a:headEnd/>
            <a:tailEnd/>
          </a:ln>
          <a:effectLst/>
        </p:spPr>
      </p:pic>
      <p:sp>
        <p:nvSpPr>
          <p:cNvPr id="5" name="1 Título"/>
          <p:cNvSpPr>
            <a:spLocks noGrp="1"/>
          </p:cNvSpPr>
          <p:nvPr>
            <p:ph type="title"/>
          </p:nvPr>
        </p:nvSpPr>
        <p:spPr>
          <a:xfrm>
            <a:off x="2571736" y="346076"/>
            <a:ext cx="6143668" cy="1082660"/>
          </a:xfrm>
        </p:spPr>
        <p:txBody>
          <a:bodyPr>
            <a:noAutofit/>
          </a:bodyPr>
          <a:lstStyle/>
          <a:p>
            <a:r>
              <a:rPr lang="es-AR" sz="4200" u="sng" dirty="0" smtClean="0"/>
              <a:t>Solución para autoselección</a:t>
            </a:r>
            <a:endParaRPr lang="es-AR" sz="4200" dirty="0"/>
          </a:p>
        </p:txBody>
      </p:sp>
      <p:sp>
        <p:nvSpPr>
          <p:cNvPr id="6" name="5 CuadroTexto"/>
          <p:cNvSpPr txBox="1"/>
          <p:nvPr/>
        </p:nvSpPr>
        <p:spPr>
          <a:xfrm>
            <a:off x="428596" y="2281474"/>
            <a:ext cx="3643338" cy="861774"/>
          </a:xfrm>
          <a:prstGeom prst="rect">
            <a:avLst/>
          </a:prstGeom>
          <a:noFill/>
        </p:spPr>
        <p:txBody>
          <a:bodyPr wrap="square" rtlCol="0">
            <a:spAutoFit/>
          </a:bodyPr>
          <a:lstStyle/>
          <a:p>
            <a:r>
              <a:rPr lang="es-CO" sz="2500" dirty="0" smtClean="0"/>
              <a:t>1. Con base en variables     	observables</a:t>
            </a:r>
            <a:endParaRPr lang="es-ES" sz="2500" dirty="0"/>
          </a:p>
        </p:txBody>
      </p:sp>
      <p:sp>
        <p:nvSpPr>
          <p:cNvPr id="7" name="6 CuadroTexto"/>
          <p:cNvSpPr txBox="1"/>
          <p:nvPr/>
        </p:nvSpPr>
        <p:spPr>
          <a:xfrm>
            <a:off x="428596" y="4210300"/>
            <a:ext cx="3571900" cy="861774"/>
          </a:xfrm>
          <a:prstGeom prst="rect">
            <a:avLst/>
          </a:prstGeom>
          <a:noFill/>
        </p:spPr>
        <p:txBody>
          <a:bodyPr wrap="square" rtlCol="0">
            <a:spAutoFit/>
          </a:bodyPr>
          <a:lstStyle/>
          <a:p>
            <a:r>
              <a:rPr lang="es-CO" sz="2500" dirty="0" smtClean="0"/>
              <a:t>2. Con base en variables  	no observables</a:t>
            </a:r>
            <a:endParaRPr lang="es-ES" dirty="0"/>
          </a:p>
        </p:txBody>
      </p:sp>
      <p:cxnSp>
        <p:nvCxnSpPr>
          <p:cNvPr id="9" name="8 Conector recto de flecha"/>
          <p:cNvCxnSpPr/>
          <p:nvPr/>
        </p:nvCxnSpPr>
        <p:spPr>
          <a:xfrm flipV="1">
            <a:off x="3643306" y="2571743"/>
            <a:ext cx="500066" cy="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1" name="10 CuadroTexto"/>
          <p:cNvSpPr txBox="1"/>
          <p:nvPr/>
        </p:nvSpPr>
        <p:spPr>
          <a:xfrm>
            <a:off x="4143372" y="2297850"/>
            <a:ext cx="4714908" cy="1631216"/>
          </a:xfrm>
          <a:prstGeom prst="rect">
            <a:avLst/>
          </a:prstGeom>
          <a:noFill/>
        </p:spPr>
        <p:txBody>
          <a:bodyPr wrap="square" rtlCol="0">
            <a:spAutoFit/>
          </a:bodyPr>
          <a:lstStyle/>
          <a:p>
            <a:r>
              <a:rPr lang="es-CO" sz="2500" dirty="0" smtClean="0"/>
              <a:t>Usar el método de emparejamiento, para obtener estimadores insesgados del impacto del programa.</a:t>
            </a:r>
            <a:endParaRPr lang="es-ES" sz="2500" dirty="0"/>
          </a:p>
        </p:txBody>
      </p:sp>
      <p:cxnSp>
        <p:nvCxnSpPr>
          <p:cNvPr id="14" name="13 Conector recto de flecha"/>
          <p:cNvCxnSpPr/>
          <p:nvPr/>
        </p:nvCxnSpPr>
        <p:spPr>
          <a:xfrm flipV="1">
            <a:off x="3643306" y="4500569"/>
            <a:ext cx="500066" cy="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5" name="14 CuadroTexto"/>
          <p:cNvSpPr txBox="1"/>
          <p:nvPr/>
        </p:nvSpPr>
        <p:spPr>
          <a:xfrm>
            <a:off x="4071934" y="4226676"/>
            <a:ext cx="4572032" cy="1631216"/>
          </a:xfrm>
          <a:prstGeom prst="rect">
            <a:avLst/>
          </a:prstGeom>
          <a:noFill/>
        </p:spPr>
        <p:txBody>
          <a:bodyPr wrap="square" rtlCol="0">
            <a:spAutoFit/>
          </a:bodyPr>
          <a:lstStyle/>
          <a:p>
            <a:r>
              <a:rPr lang="es-CO" sz="2500" dirty="0" smtClean="0"/>
              <a:t>Con funciones de control: Estima conjuntamente el efecto del programa y la decisión de participación en éste.</a:t>
            </a:r>
            <a:endParaRPr lang="es-ES" sz="2500" dirty="0"/>
          </a:p>
        </p:txBody>
      </p:sp>
      <p:sp>
        <p:nvSpPr>
          <p:cNvPr id="12" name="11 Rectángulo"/>
          <p:cNvSpPr/>
          <p:nvPr/>
        </p:nvSpPr>
        <p:spPr>
          <a:xfrm>
            <a:off x="0" y="6534859"/>
            <a:ext cx="9144032" cy="323165"/>
          </a:xfrm>
          <a:prstGeom prst="rect">
            <a:avLst/>
          </a:prstGeom>
        </p:spPr>
        <p:txBody>
          <a:bodyPr wrap="square">
            <a:spAutoFit/>
          </a:bodyPr>
          <a:lstStyle/>
          <a:p>
            <a:pPr algn="ctr"/>
            <a:r>
              <a:rPr lang="es-CO" sz="1500" dirty="0" smtClean="0">
                <a:solidFill>
                  <a:schemeClr val="tx1">
                    <a:lumMod val="50000"/>
                    <a:lumOff val="50000"/>
                  </a:schemeClr>
                </a:solidFill>
              </a:rPr>
              <a:t>Guía Práctica para la Evaluación de Impacto /Capítulo 9: Funciones de Control/3</a:t>
            </a:r>
            <a:endParaRPr lang="es-ES" sz="1500" dirty="0">
              <a:solidFill>
                <a:schemeClr val="tx1">
                  <a:lumMod val="50000"/>
                  <a:lumOff val="50000"/>
                </a:schemeClr>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lstStyle/>
          <a:p>
            <a:pPr>
              <a:buNone/>
            </a:pPr>
            <a:endParaRPr lang="es-CO" dirty="0" smtClean="0"/>
          </a:p>
          <a:p>
            <a:pPr>
              <a:buNone/>
            </a:pPr>
            <a:endParaRPr lang="es-ES" dirty="0"/>
          </a:p>
        </p:txBody>
      </p:sp>
      <p:pic>
        <p:nvPicPr>
          <p:cNvPr id="4" name="Picture 1"/>
          <p:cNvPicPr>
            <a:picLocks noChangeAspect="1" noChangeArrowheads="1"/>
          </p:cNvPicPr>
          <p:nvPr/>
        </p:nvPicPr>
        <p:blipFill>
          <a:blip r:embed="rId4" cstate="print"/>
          <a:srcRect/>
          <a:stretch>
            <a:fillRect/>
          </a:stretch>
        </p:blipFill>
        <p:spPr bwMode="auto">
          <a:xfrm>
            <a:off x="0" y="-24"/>
            <a:ext cx="2500298" cy="1189301"/>
          </a:xfrm>
          <a:prstGeom prst="rect">
            <a:avLst/>
          </a:prstGeom>
          <a:noFill/>
          <a:ln w="9525">
            <a:noFill/>
            <a:miter lim="800000"/>
            <a:headEnd/>
            <a:tailEnd/>
          </a:ln>
          <a:effectLst/>
        </p:spPr>
      </p:pic>
      <p:sp>
        <p:nvSpPr>
          <p:cNvPr id="5" name="1 Título"/>
          <p:cNvSpPr>
            <a:spLocks noGrp="1"/>
          </p:cNvSpPr>
          <p:nvPr>
            <p:ph type="title"/>
          </p:nvPr>
        </p:nvSpPr>
        <p:spPr>
          <a:xfrm>
            <a:off x="2571736" y="346076"/>
            <a:ext cx="6143668" cy="1082660"/>
          </a:xfrm>
        </p:spPr>
        <p:txBody>
          <a:bodyPr>
            <a:noAutofit/>
          </a:bodyPr>
          <a:lstStyle/>
          <a:p>
            <a:r>
              <a:rPr lang="es-AR" sz="4200" u="sng" dirty="0" smtClean="0"/>
              <a:t>Función de control</a:t>
            </a:r>
            <a:endParaRPr lang="es-AR" sz="4200" u="sng" dirty="0"/>
          </a:p>
        </p:txBody>
      </p:sp>
      <p:sp>
        <p:nvSpPr>
          <p:cNvPr id="102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1027" name="Rectangle 3"/>
          <p:cNvSpPr>
            <a:spLocks noChangeArrowheads="1"/>
          </p:cNvSpPr>
          <p:nvPr/>
        </p:nvSpPr>
        <p:spPr bwMode="auto">
          <a:xfrm>
            <a:off x="0" y="8382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11" name="10 CuadroTexto"/>
          <p:cNvSpPr txBox="1"/>
          <p:nvPr/>
        </p:nvSpPr>
        <p:spPr>
          <a:xfrm>
            <a:off x="714348" y="2285992"/>
            <a:ext cx="1133644" cy="477054"/>
          </a:xfrm>
          <a:prstGeom prst="rect">
            <a:avLst/>
          </a:prstGeom>
          <a:noFill/>
        </p:spPr>
        <p:txBody>
          <a:bodyPr wrap="none" rtlCol="0">
            <a:spAutoFit/>
          </a:bodyPr>
          <a:lstStyle/>
          <a:p>
            <a:r>
              <a:rPr lang="es-CO" sz="2500" dirty="0" smtClean="0"/>
              <a:t>Donde:</a:t>
            </a:r>
            <a:endParaRPr lang="es-ES" sz="2500" dirty="0"/>
          </a:p>
        </p:txBody>
      </p:sp>
      <p:sp>
        <p:nvSpPr>
          <p:cNvPr id="1029"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cxnSp>
        <p:nvCxnSpPr>
          <p:cNvPr id="15" name="14 Conector recto de flecha"/>
          <p:cNvCxnSpPr/>
          <p:nvPr/>
        </p:nvCxnSpPr>
        <p:spPr>
          <a:xfrm>
            <a:off x="1571604" y="2928934"/>
            <a:ext cx="50006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7" name="16 CuadroTexto"/>
          <p:cNvSpPr txBox="1"/>
          <p:nvPr/>
        </p:nvSpPr>
        <p:spPr>
          <a:xfrm>
            <a:off x="2285984" y="2643182"/>
            <a:ext cx="4886018" cy="477054"/>
          </a:xfrm>
          <a:prstGeom prst="rect">
            <a:avLst/>
          </a:prstGeom>
          <a:noFill/>
        </p:spPr>
        <p:txBody>
          <a:bodyPr wrap="none" rtlCol="0">
            <a:spAutoFit/>
          </a:bodyPr>
          <a:lstStyle/>
          <a:p>
            <a:r>
              <a:rPr lang="es-CO" sz="2500" dirty="0" smtClean="0"/>
              <a:t>Variables observadas de individuo  . </a:t>
            </a:r>
            <a:endParaRPr lang="es-ES" sz="2500" dirty="0"/>
          </a:p>
        </p:txBody>
      </p:sp>
      <p:sp>
        <p:nvSpPr>
          <p:cNvPr id="1031"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pic>
        <p:nvPicPr>
          <p:cNvPr id="1030" name="Picture 6"/>
          <p:cNvPicPr>
            <a:picLocks noChangeAspect="1" noChangeArrowheads="1"/>
          </p:cNvPicPr>
          <p:nvPr/>
        </p:nvPicPr>
        <p:blipFill>
          <a:blip r:embed="rId5" cstate="print">
            <a:clrChange>
              <a:clrFrom>
                <a:srgbClr val="FFFFFF"/>
              </a:clrFrom>
              <a:clrTo>
                <a:srgbClr val="FFFFFF">
                  <a:alpha val="0"/>
                </a:srgbClr>
              </a:clrTo>
            </a:clrChange>
          </a:blip>
          <a:srcRect/>
          <a:stretch>
            <a:fillRect/>
          </a:stretch>
        </p:blipFill>
        <p:spPr bwMode="auto">
          <a:xfrm>
            <a:off x="6786578" y="2714620"/>
            <a:ext cx="95250" cy="381000"/>
          </a:xfrm>
          <a:prstGeom prst="rect">
            <a:avLst/>
          </a:prstGeom>
          <a:noFill/>
        </p:spPr>
      </p:pic>
      <p:sp>
        <p:nvSpPr>
          <p:cNvPr id="1033" name="Rectangle 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cxnSp>
        <p:nvCxnSpPr>
          <p:cNvPr id="22" name="21 Conector recto de flecha"/>
          <p:cNvCxnSpPr/>
          <p:nvPr/>
        </p:nvCxnSpPr>
        <p:spPr>
          <a:xfrm>
            <a:off x="1571604" y="3500438"/>
            <a:ext cx="50006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3" name="22 CuadroTexto"/>
          <p:cNvSpPr txBox="1"/>
          <p:nvPr/>
        </p:nvSpPr>
        <p:spPr>
          <a:xfrm>
            <a:off x="2338736" y="3286124"/>
            <a:ext cx="5376536" cy="477054"/>
          </a:xfrm>
          <a:prstGeom prst="rect">
            <a:avLst/>
          </a:prstGeom>
          <a:noFill/>
        </p:spPr>
        <p:txBody>
          <a:bodyPr wrap="none" rtlCol="0">
            <a:spAutoFit/>
          </a:bodyPr>
          <a:lstStyle/>
          <a:p>
            <a:r>
              <a:rPr lang="es-CO" sz="2500" dirty="0" smtClean="0"/>
              <a:t>Variables no observables del individuo  .</a:t>
            </a:r>
            <a:endParaRPr lang="es-ES" sz="2500" dirty="0"/>
          </a:p>
        </p:txBody>
      </p:sp>
      <p:pic>
        <p:nvPicPr>
          <p:cNvPr id="24" name="Picture 6"/>
          <p:cNvPicPr>
            <a:picLocks noChangeAspect="1" noChangeArrowheads="1"/>
          </p:cNvPicPr>
          <p:nvPr/>
        </p:nvPicPr>
        <p:blipFill>
          <a:blip r:embed="rId5" cstate="print">
            <a:clrChange>
              <a:clrFrom>
                <a:srgbClr val="FFFFFF"/>
              </a:clrFrom>
              <a:clrTo>
                <a:srgbClr val="FFFFFF">
                  <a:alpha val="0"/>
                </a:srgbClr>
              </a:clrTo>
            </a:clrChange>
          </a:blip>
          <a:srcRect/>
          <a:stretch>
            <a:fillRect/>
          </a:stretch>
        </p:blipFill>
        <p:spPr bwMode="auto">
          <a:xfrm>
            <a:off x="7405708" y="3405190"/>
            <a:ext cx="95250" cy="381000"/>
          </a:xfrm>
          <a:prstGeom prst="rect">
            <a:avLst/>
          </a:prstGeom>
          <a:noFill/>
        </p:spPr>
      </p:pic>
      <p:sp>
        <p:nvSpPr>
          <p:cNvPr id="20" name="19 CuadroTexto"/>
          <p:cNvSpPr txBox="1"/>
          <p:nvPr/>
        </p:nvSpPr>
        <p:spPr>
          <a:xfrm>
            <a:off x="778875" y="3857628"/>
            <a:ext cx="5721951" cy="477054"/>
          </a:xfrm>
          <a:prstGeom prst="rect">
            <a:avLst/>
          </a:prstGeom>
          <a:noFill/>
        </p:spPr>
        <p:txBody>
          <a:bodyPr wrap="none" rtlCol="0">
            <a:spAutoFit/>
          </a:bodyPr>
          <a:lstStyle/>
          <a:p>
            <a:r>
              <a:rPr lang="es-CO" sz="2500" dirty="0" smtClean="0"/>
              <a:t>La decisión de participación está dada por:</a:t>
            </a:r>
            <a:endParaRPr lang="es-ES" sz="2500" dirty="0"/>
          </a:p>
        </p:txBody>
      </p:sp>
      <p:sp>
        <p:nvSpPr>
          <p:cNvPr id="2050"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2051" name="Rectangle 3"/>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26" name="25 Abrir llave"/>
          <p:cNvSpPr/>
          <p:nvPr/>
        </p:nvSpPr>
        <p:spPr>
          <a:xfrm>
            <a:off x="1500166" y="4643446"/>
            <a:ext cx="214314" cy="107157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27" name="26 CuadroTexto"/>
          <p:cNvSpPr txBox="1"/>
          <p:nvPr/>
        </p:nvSpPr>
        <p:spPr>
          <a:xfrm>
            <a:off x="1643042" y="4666458"/>
            <a:ext cx="1122423" cy="477054"/>
          </a:xfrm>
          <a:prstGeom prst="rect">
            <a:avLst/>
          </a:prstGeom>
          <a:noFill/>
        </p:spPr>
        <p:txBody>
          <a:bodyPr wrap="none" rtlCol="0">
            <a:spAutoFit/>
          </a:bodyPr>
          <a:lstStyle/>
          <a:p>
            <a:r>
              <a:rPr lang="es-CO" sz="2500" dirty="0" smtClean="0"/>
              <a:t>1       si </a:t>
            </a:r>
            <a:endParaRPr lang="es-ES" sz="2500" dirty="0"/>
          </a:p>
        </p:txBody>
      </p:sp>
      <p:sp>
        <p:nvSpPr>
          <p:cNvPr id="28" name="27 CuadroTexto"/>
          <p:cNvSpPr txBox="1"/>
          <p:nvPr/>
        </p:nvSpPr>
        <p:spPr>
          <a:xfrm>
            <a:off x="1663627" y="5166524"/>
            <a:ext cx="1122423" cy="477054"/>
          </a:xfrm>
          <a:prstGeom prst="rect">
            <a:avLst/>
          </a:prstGeom>
          <a:noFill/>
        </p:spPr>
        <p:txBody>
          <a:bodyPr wrap="none" rtlCol="0">
            <a:spAutoFit/>
          </a:bodyPr>
          <a:lstStyle/>
          <a:p>
            <a:r>
              <a:rPr lang="es-CO" sz="2500" dirty="0" smtClean="0"/>
              <a:t>0       si </a:t>
            </a:r>
            <a:endParaRPr lang="es-ES" sz="2500" dirty="0"/>
          </a:p>
        </p:txBody>
      </p:sp>
      <p:sp>
        <p:nvSpPr>
          <p:cNvPr id="2053"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2054" name="Rectangle 6"/>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2056"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2058" name="Rectangle 10"/>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2059" name="Rectangle 11"/>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36" name="35 CuadroTexto"/>
          <p:cNvSpPr txBox="1"/>
          <p:nvPr/>
        </p:nvSpPr>
        <p:spPr>
          <a:xfrm>
            <a:off x="4929190" y="4611397"/>
            <a:ext cx="3929090" cy="1246495"/>
          </a:xfrm>
          <a:prstGeom prst="rect">
            <a:avLst/>
          </a:prstGeom>
          <a:noFill/>
          <a:ln>
            <a:solidFill>
              <a:schemeClr val="accent1">
                <a:lumMod val="60000"/>
                <a:lumOff val="40000"/>
              </a:schemeClr>
            </a:solidFill>
          </a:ln>
        </p:spPr>
        <p:txBody>
          <a:bodyPr wrap="square" rtlCol="0">
            <a:spAutoFit/>
          </a:bodyPr>
          <a:lstStyle/>
          <a:p>
            <a:r>
              <a:rPr lang="es-CO" sz="2500" dirty="0" smtClean="0"/>
              <a:t>El individuo participa cuando sus beneficios superan los costos fijos de inscripción.</a:t>
            </a:r>
            <a:endParaRPr lang="es-ES" sz="2500" dirty="0"/>
          </a:p>
        </p:txBody>
      </p:sp>
      <p:sp>
        <p:nvSpPr>
          <p:cNvPr id="2061" name="Rectangle 13"/>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2062" name="Rectangle 14"/>
          <p:cNvSpPr>
            <a:spLocks noChangeArrowheads="1"/>
          </p:cNvSpPr>
          <p:nvPr/>
        </p:nvSpPr>
        <p:spPr bwMode="auto">
          <a:xfrm>
            <a:off x="0" y="8667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38" name="37 Rectángulo"/>
          <p:cNvSpPr/>
          <p:nvPr/>
        </p:nvSpPr>
        <p:spPr>
          <a:xfrm>
            <a:off x="0" y="6534859"/>
            <a:ext cx="9144032" cy="323165"/>
          </a:xfrm>
          <a:prstGeom prst="rect">
            <a:avLst/>
          </a:prstGeom>
        </p:spPr>
        <p:txBody>
          <a:bodyPr wrap="square">
            <a:spAutoFit/>
          </a:bodyPr>
          <a:lstStyle/>
          <a:p>
            <a:pPr algn="ctr"/>
            <a:r>
              <a:rPr lang="es-CO" sz="1500" dirty="0" smtClean="0">
                <a:solidFill>
                  <a:schemeClr val="tx1">
                    <a:lumMod val="50000"/>
                    <a:lumOff val="50000"/>
                  </a:schemeClr>
                </a:solidFill>
              </a:rPr>
              <a:t>Guía Práctica para la Evaluación de Impacto /Capítulo 9: Funciones de Control/4</a:t>
            </a:r>
            <a:endParaRPr lang="es-ES" sz="1500" dirty="0">
              <a:solidFill>
                <a:schemeClr val="tx1">
                  <a:lumMod val="50000"/>
                  <a:lumOff val="50000"/>
                </a:schemeClr>
              </a:solidFill>
            </a:endParaRPr>
          </a:p>
        </p:txBody>
      </p:sp>
      <p:graphicFrame>
        <p:nvGraphicFramePr>
          <p:cNvPr id="2" name="Object 2"/>
          <p:cNvGraphicFramePr>
            <a:graphicFrameLocks noChangeAspect="1"/>
          </p:cNvGraphicFramePr>
          <p:nvPr/>
        </p:nvGraphicFramePr>
        <p:xfrm>
          <a:off x="857224" y="1571612"/>
          <a:ext cx="7424758" cy="714380"/>
        </p:xfrm>
        <a:graphic>
          <a:graphicData uri="http://schemas.openxmlformats.org/presentationml/2006/ole">
            <mc:AlternateContent xmlns:mc="http://schemas.openxmlformats.org/markup-compatibility/2006">
              <mc:Choice xmlns:v="urn:schemas-microsoft-com:vml" Requires="v">
                <p:oleObj spid="_x0000_s2074" name="Documento" r:id="rId7" imgW="5411304" imgH="520792" progId="Word.Document.12">
                  <p:embed/>
                </p:oleObj>
              </mc:Choice>
              <mc:Fallback>
                <p:oleObj name="Documento" r:id="rId7" imgW="5411304" imgH="520792" progId="Word.Document.12">
                  <p:embed/>
                  <p:pic>
                    <p:nvPicPr>
                      <p:cNvPr id="0" name="Picture 2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57224" y="1571612"/>
                        <a:ext cx="7424758" cy="714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 name="Object 3"/>
          <p:cNvGraphicFramePr>
            <a:graphicFrameLocks noChangeAspect="1"/>
          </p:cNvGraphicFramePr>
          <p:nvPr/>
        </p:nvGraphicFramePr>
        <p:xfrm>
          <a:off x="-1653560" y="2714620"/>
          <a:ext cx="5939808" cy="571504"/>
        </p:xfrm>
        <a:graphic>
          <a:graphicData uri="http://schemas.openxmlformats.org/presentationml/2006/ole">
            <mc:AlternateContent xmlns:mc="http://schemas.openxmlformats.org/markup-compatibility/2006">
              <mc:Choice xmlns:v="urn:schemas-microsoft-com:vml" Requires="v">
                <p:oleObj spid="_x0000_s2075" name="Documento" r:id="rId10" imgW="5411304" imgH="520792" progId="Word.Document.12">
                  <p:embed/>
                </p:oleObj>
              </mc:Choice>
              <mc:Fallback>
                <p:oleObj name="Documento" r:id="rId10" imgW="5411304" imgH="520792" progId="Word.Document.12">
                  <p:embed/>
                  <p:pic>
                    <p:nvPicPr>
                      <p:cNvPr id="0" name="Picture 2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653560" y="2714620"/>
                        <a:ext cx="5939808" cy="5715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 name="Object 4"/>
          <p:cNvGraphicFramePr>
            <a:graphicFrameLocks noChangeAspect="1"/>
          </p:cNvGraphicFramePr>
          <p:nvPr/>
        </p:nvGraphicFramePr>
        <p:xfrm>
          <a:off x="-2000296" y="3214686"/>
          <a:ext cx="6683021" cy="642942"/>
        </p:xfrm>
        <a:graphic>
          <a:graphicData uri="http://schemas.openxmlformats.org/presentationml/2006/ole">
            <mc:AlternateContent xmlns:mc="http://schemas.openxmlformats.org/markup-compatibility/2006">
              <mc:Choice xmlns:v="urn:schemas-microsoft-com:vml" Requires="v">
                <p:oleObj spid="_x0000_s2076" name="Documento" r:id="rId13" imgW="5411304" imgH="520792" progId="Word.Document.12">
                  <p:embed/>
                </p:oleObj>
              </mc:Choice>
              <mc:Fallback>
                <p:oleObj name="Documento" r:id="rId13" imgW="5411304" imgH="520792" progId="Word.Document.12">
                  <p:embed/>
                  <p:pic>
                    <p:nvPicPr>
                      <p:cNvPr id="0" name="Picture 2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000296" y="3214686"/>
                        <a:ext cx="6683021" cy="6429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 name="Object 5"/>
          <p:cNvGraphicFramePr>
            <a:graphicFrameLocks noChangeAspect="1"/>
          </p:cNvGraphicFramePr>
          <p:nvPr/>
        </p:nvGraphicFramePr>
        <p:xfrm>
          <a:off x="-714412" y="4929198"/>
          <a:ext cx="3983038" cy="441325"/>
        </p:xfrm>
        <a:graphic>
          <a:graphicData uri="http://schemas.openxmlformats.org/presentationml/2006/ole">
            <mc:AlternateContent xmlns:mc="http://schemas.openxmlformats.org/markup-compatibility/2006">
              <mc:Choice xmlns:v="urn:schemas-microsoft-com:vml" Requires="v">
                <p:oleObj spid="_x0000_s2077" name="Documento" r:id="rId16" imgW="5301274" imgH="595294" progId="Word.Document.12">
                  <p:embed/>
                </p:oleObj>
              </mc:Choice>
              <mc:Fallback>
                <p:oleObj name="Documento" r:id="rId16" imgW="5301274" imgH="595294" progId="Word.Document.12">
                  <p:embed/>
                  <p:pic>
                    <p:nvPicPr>
                      <p:cNvPr id="0" name="Picture 2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14412" y="4929198"/>
                        <a:ext cx="3983038" cy="44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 name="Object 6"/>
          <p:cNvGraphicFramePr>
            <a:graphicFrameLocks noChangeAspect="1"/>
          </p:cNvGraphicFramePr>
          <p:nvPr/>
        </p:nvGraphicFramePr>
        <p:xfrm>
          <a:off x="714348" y="4694250"/>
          <a:ext cx="6154263" cy="592138"/>
        </p:xfrm>
        <a:graphic>
          <a:graphicData uri="http://schemas.openxmlformats.org/presentationml/2006/ole">
            <mc:AlternateContent xmlns:mc="http://schemas.openxmlformats.org/markup-compatibility/2006">
              <mc:Choice xmlns:v="urn:schemas-microsoft-com:vml" Requires="v">
                <p:oleObj spid="_x0000_s2078" name="Documento" r:id="rId19" imgW="5411304" imgH="520792" progId="Word.Document.12">
                  <p:embed/>
                </p:oleObj>
              </mc:Choice>
              <mc:Fallback>
                <p:oleObj name="Documento" r:id="rId19" imgW="5411304" imgH="520792" progId="Word.Document.12">
                  <p:embed/>
                  <p:pic>
                    <p:nvPicPr>
                      <p:cNvPr id="0" name="Picture 24"/>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14348" y="4694250"/>
                        <a:ext cx="6154263" cy="592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55" name="Object 7"/>
          <p:cNvGraphicFramePr>
            <a:graphicFrameLocks noChangeAspect="1"/>
          </p:cNvGraphicFramePr>
          <p:nvPr/>
        </p:nvGraphicFramePr>
        <p:xfrm>
          <a:off x="714348" y="5194317"/>
          <a:ext cx="6154738" cy="592137"/>
        </p:xfrm>
        <a:graphic>
          <a:graphicData uri="http://schemas.openxmlformats.org/presentationml/2006/ole">
            <mc:AlternateContent xmlns:mc="http://schemas.openxmlformats.org/markup-compatibility/2006">
              <mc:Choice xmlns:v="urn:schemas-microsoft-com:vml" Requires="v">
                <p:oleObj spid="_x0000_s2079" name="Documento" r:id="rId22" imgW="5411304" imgH="520792" progId="Word.Document.12">
                  <p:embed/>
                </p:oleObj>
              </mc:Choice>
              <mc:Fallback>
                <p:oleObj name="Documento" r:id="rId22" imgW="5411304" imgH="520792" progId="Word.Document.12">
                  <p:embed/>
                  <p:pic>
                    <p:nvPicPr>
                      <p:cNvPr id="0" name="Picture 25"/>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714348" y="5194317"/>
                        <a:ext cx="6154738" cy="592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lstStyle/>
          <a:p>
            <a:pPr>
              <a:buNone/>
            </a:pPr>
            <a:endParaRPr lang="es-CO" dirty="0" smtClean="0"/>
          </a:p>
          <a:p>
            <a:pPr>
              <a:buNone/>
            </a:pPr>
            <a:endParaRPr lang="es-ES" dirty="0"/>
          </a:p>
        </p:txBody>
      </p:sp>
      <p:pic>
        <p:nvPicPr>
          <p:cNvPr id="4" name="Picture 1"/>
          <p:cNvPicPr>
            <a:picLocks noChangeAspect="1" noChangeArrowheads="1"/>
          </p:cNvPicPr>
          <p:nvPr/>
        </p:nvPicPr>
        <p:blipFill>
          <a:blip r:embed="rId3" cstate="print"/>
          <a:srcRect/>
          <a:stretch>
            <a:fillRect/>
          </a:stretch>
        </p:blipFill>
        <p:spPr bwMode="auto">
          <a:xfrm>
            <a:off x="0" y="-24"/>
            <a:ext cx="2500298" cy="1189301"/>
          </a:xfrm>
          <a:prstGeom prst="rect">
            <a:avLst/>
          </a:prstGeom>
          <a:noFill/>
          <a:ln w="9525">
            <a:noFill/>
            <a:miter lim="800000"/>
            <a:headEnd/>
            <a:tailEnd/>
          </a:ln>
          <a:effectLst/>
        </p:spPr>
      </p:pic>
      <p:sp>
        <p:nvSpPr>
          <p:cNvPr id="5" name="1 Título"/>
          <p:cNvSpPr>
            <a:spLocks noGrp="1"/>
          </p:cNvSpPr>
          <p:nvPr>
            <p:ph type="title"/>
          </p:nvPr>
        </p:nvSpPr>
        <p:spPr>
          <a:xfrm>
            <a:off x="2571736" y="142852"/>
            <a:ext cx="6143668" cy="1082660"/>
          </a:xfrm>
        </p:spPr>
        <p:txBody>
          <a:bodyPr>
            <a:noAutofit/>
          </a:bodyPr>
          <a:lstStyle/>
          <a:p>
            <a:r>
              <a:rPr lang="es-AR" sz="4200" u="sng" dirty="0" smtClean="0"/>
              <a:t>Sesgo de selección</a:t>
            </a:r>
            <a:endParaRPr lang="es-AR" sz="4200" u="sng" dirty="0"/>
          </a:p>
        </p:txBody>
      </p:sp>
      <p:cxnSp>
        <p:nvCxnSpPr>
          <p:cNvPr id="10" name="9 Conector recto"/>
          <p:cNvCxnSpPr/>
          <p:nvPr/>
        </p:nvCxnSpPr>
        <p:spPr>
          <a:xfrm>
            <a:off x="2071670" y="2285992"/>
            <a:ext cx="4929222" cy="0"/>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4" name="13 Conector recto"/>
          <p:cNvCxnSpPr/>
          <p:nvPr/>
        </p:nvCxnSpPr>
        <p:spPr>
          <a:xfrm rot="5400000">
            <a:off x="4357686" y="2143116"/>
            <a:ext cx="285752" cy="0"/>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9" name="18 Conector recto de flecha"/>
          <p:cNvCxnSpPr/>
          <p:nvPr/>
        </p:nvCxnSpPr>
        <p:spPr>
          <a:xfrm rot="5400000">
            <a:off x="6785784" y="2499512"/>
            <a:ext cx="428628" cy="1588"/>
          </a:xfrm>
          <a:prstGeom prst="straightConnector1">
            <a:avLst/>
          </a:prstGeom>
          <a:ln>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0" name="19 Conector recto de flecha"/>
          <p:cNvCxnSpPr/>
          <p:nvPr/>
        </p:nvCxnSpPr>
        <p:spPr>
          <a:xfrm rot="5400000">
            <a:off x="1858150" y="2499512"/>
            <a:ext cx="428628" cy="1588"/>
          </a:xfrm>
          <a:prstGeom prst="straightConnector1">
            <a:avLst/>
          </a:prstGeom>
          <a:ln>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21" name="20 CuadroTexto"/>
          <p:cNvSpPr txBox="1"/>
          <p:nvPr/>
        </p:nvSpPr>
        <p:spPr>
          <a:xfrm>
            <a:off x="428596" y="2726478"/>
            <a:ext cx="3929090" cy="1631216"/>
          </a:xfrm>
          <a:prstGeom prst="rect">
            <a:avLst/>
          </a:prstGeom>
          <a:noFill/>
          <a:ln>
            <a:solidFill>
              <a:schemeClr val="accent1">
                <a:lumMod val="60000"/>
                <a:lumOff val="40000"/>
              </a:schemeClr>
            </a:solidFill>
          </a:ln>
        </p:spPr>
        <p:txBody>
          <a:bodyPr wrap="square" rtlCol="0">
            <a:spAutoFit/>
          </a:bodyPr>
          <a:lstStyle/>
          <a:p>
            <a:pPr algn="ctr"/>
            <a:r>
              <a:rPr lang="es-CO" sz="2500" dirty="0" smtClean="0"/>
              <a:t>Si  </a:t>
            </a:r>
            <a:r>
              <a:rPr lang="es-CO" sz="2500" i="1" dirty="0" smtClean="0"/>
              <a:t>U </a:t>
            </a:r>
            <a:r>
              <a:rPr lang="es-CO" sz="2500" dirty="0" smtClean="0"/>
              <a:t>está correlacionado con los regresores que determinan la participación en el programa,</a:t>
            </a:r>
            <a:r>
              <a:rPr lang="es-CO" sz="2500" i="1" dirty="0" smtClean="0"/>
              <a:t> Z</a:t>
            </a:r>
            <a:endParaRPr lang="es-ES" sz="2500" dirty="0"/>
          </a:p>
        </p:txBody>
      </p:sp>
      <p:cxnSp>
        <p:nvCxnSpPr>
          <p:cNvPr id="15" name="14 Conector recto de flecha"/>
          <p:cNvCxnSpPr/>
          <p:nvPr/>
        </p:nvCxnSpPr>
        <p:spPr>
          <a:xfrm rot="5400000">
            <a:off x="1929588" y="4499776"/>
            <a:ext cx="285752" cy="1588"/>
          </a:xfrm>
          <a:prstGeom prst="straightConnector1">
            <a:avLst/>
          </a:prstGeom>
          <a:ln>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17" name="16 CuadroTexto"/>
          <p:cNvSpPr txBox="1"/>
          <p:nvPr/>
        </p:nvSpPr>
        <p:spPr>
          <a:xfrm>
            <a:off x="428596" y="4655304"/>
            <a:ext cx="3929090" cy="477054"/>
          </a:xfrm>
          <a:prstGeom prst="rect">
            <a:avLst/>
          </a:prstGeom>
          <a:noFill/>
          <a:ln>
            <a:solidFill>
              <a:schemeClr val="accent1">
                <a:lumMod val="60000"/>
                <a:lumOff val="40000"/>
              </a:schemeClr>
            </a:solidFill>
          </a:ln>
        </p:spPr>
        <p:txBody>
          <a:bodyPr wrap="square" rtlCol="0">
            <a:spAutoFit/>
          </a:bodyPr>
          <a:lstStyle/>
          <a:p>
            <a:pPr algn="ctr"/>
            <a:r>
              <a:rPr lang="es-CO" sz="2500" dirty="0" smtClean="0"/>
              <a:t>Selección en observables</a:t>
            </a:r>
            <a:endParaRPr lang="es-ES" sz="2500" dirty="0"/>
          </a:p>
        </p:txBody>
      </p:sp>
      <p:cxnSp>
        <p:nvCxnSpPr>
          <p:cNvPr id="18" name="17 Conector recto de flecha"/>
          <p:cNvCxnSpPr/>
          <p:nvPr/>
        </p:nvCxnSpPr>
        <p:spPr>
          <a:xfrm rot="5400000">
            <a:off x="1929588" y="5285594"/>
            <a:ext cx="285752" cy="1588"/>
          </a:xfrm>
          <a:prstGeom prst="straightConnector1">
            <a:avLst/>
          </a:prstGeom>
          <a:ln>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22" name="21 CuadroTexto"/>
          <p:cNvSpPr txBox="1"/>
          <p:nvPr/>
        </p:nvSpPr>
        <p:spPr>
          <a:xfrm>
            <a:off x="785786" y="5429264"/>
            <a:ext cx="5751126" cy="477054"/>
          </a:xfrm>
          <a:prstGeom prst="rect">
            <a:avLst/>
          </a:prstGeom>
          <a:noFill/>
          <a:ln>
            <a:solidFill>
              <a:schemeClr val="accent1">
                <a:lumMod val="60000"/>
                <a:lumOff val="40000"/>
              </a:schemeClr>
            </a:solidFill>
          </a:ln>
        </p:spPr>
        <p:txBody>
          <a:bodyPr wrap="none" rtlCol="0">
            <a:spAutoFit/>
          </a:bodyPr>
          <a:lstStyle/>
          <a:p>
            <a:r>
              <a:rPr lang="es-CO" sz="2500" dirty="0" smtClean="0"/>
              <a:t>Deseable usar método de emparejamiento</a:t>
            </a:r>
            <a:endParaRPr lang="es-ES" sz="2500" dirty="0"/>
          </a:p>
        </p:txBody>
      </p:sp>
      <p:sp>
        <p:nvSpPr>
          <p:cNvPr id="24" name="23 CuadroTexto"/>
          <p:cNvSpPr txBox="1"/>
          <p:nvPr/>
        </p:nvSpPr>
        <p:spPr>
          <a:xfrm>
            <a:off x="4786314" y="2714620"/>
            <a:ext cx="3643338" cy="1246495"/>
          </a:xfrm>
          <a:prstGeom prst="rect">
            <a:avLst/>
          </a:prstGeom>
          <a:noFill/>
          <a:ln>
            <a:solidFill>
              <a:schemeClr val="accent1">
                <a:lumMod val="60000"/>
                <a:lumOff val="40000"/>
              </a:schemeClr>
            </a:solidFill>
          </a:ln>
        </p:spPr>
        <p:txBody>
          <a:bodyPr wrap="square" rtlCol="0">
            <a:spAutoFit/>
          </a:bodyPr>
          <a:lstStyle/>
          <a:p>
            <a:pPr algn="ctr"/>
            <a:r>
              <a:rPr lang="es-CO" sz="2500" dirty="0" smtClean="0"/>
              <a:t>Si  </a:t>
            </a:r>
            <a:r>
              <a:rPr lang="es-CO" sz="2500" i="1" dirty="0" smtClean="0"/>
              <a:t>U </a:t>
            </a:r>
            <a:r>
              <a:rPr lang="es-CO" sz="2500" dirty="0" smtClean="0"/>
              <a:t>está correlacionado el componente no observable,    </a:t>
            </a:r>
            <a:endParaRPr lang="es-ES" sz="2500" dirty="0"/>
          </a:p>
        </p:txBody>
      </p:sp>
      <p:sp>
        <p:nvSpPr>
          <p:cNvPr id="20482"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pic>
        <p:nvPicPr>
          <p:cNvPr id="20481" name="Picture 1"/>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7480819" y="3500438"/>
            <a:ext cx="187525" cy="500066"/>
          </a:xfrm>
          <a:prstGeom prst="rect">
            <a:avLst/>
          </a:prstGeom>
          <a:noFill/>
        </p:spPr>
      </p:pic>
      <p:sp>
        <p:nvSpPr>
          <p:cNvPr id="20483" name="Rectangle 3"/>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cxnSp>
        <p:nvCxnSpPr>
          <p:cNvPr id="25" name="24 Conector recto de flecha"/>
          <p:cNvCxnSpPr>
            <a:stCxn id="20481" idx="2"/>
          </p:cNvCxnSpPr>
          <p:nvPr/>
        </p:nvCxnSpPr>
        <p:spPr>
          <a:xfrm rot="16200000" flipH="1">
            <a:off x="7263479" y="4311607"/>
            <a:ext cx="642942" cy="20736"/>
          </a:xfrm>
          <a:prstGeom prst="straightConnector1">
            <a:avLst/>
          </a:prstGeom>
          <a:ln>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28" name="27 CuadroTexto"/>
          <p:cNvSpPr txBox="1"/>
          <p:nvPr/>
        </p:nvSpPr>
        <p:spPr>
          <a:xfrm>
            <a:off x="4714876" y="4643446"/>
            <a:ext cx="3929090" cy="477054"/>
          </a:xfrm>
          <a:prstGeom prst="rect">
            <a:avLst/>
          </a:prstGeom>
          <a:noFill/>
          <a:ln>
            <a:solidFill>
              <a:schemeClr val="accent1">
                <a:lumMod val="60000"/>
                <a:lumOff val="40000"/>
              </a:schemeClr>
            </a:solidFill>
          </a:ln>
        </p:spPr>
        <p:txBody>
          <a:bodyPr wrap="square" rtlCol="0">
            <a:spAutoFit/>
          </a:bodyPr>
          <a:lstStyle/>
          <a:p>
            <a:pPr algn="ctr"/>
            <a:r>
              <a:rPr lang="es-CO" sz="2500" dirty="0" smtClean="0"/>
              <a:t>Selección en no observables</a:t>
            </a:r>
            <a:endParaRPr lang="es-ES" sz="2500" dirty="0"/>
          </a:p>
        </p:txBody>
      </p:sp>
      <p:sp>
        <p:nvSpPr>
          <p:cNvPr id="23" name="22 Rectángulo"/>
          <p:cNvSpPr/>
          <p:nvPr/>
        </p:nvSpPr>
        <p:spPr>
          <a:xfrm>
            <a:off x="0" y="6534859"/>
            <a:ext cx="9144032" cy="323165"/>
          </a:xfrm>
          <a:prstGeom prst="rect">
            <a:avLst/>
          </a:prstGeom>
        </p:spPr>
        <p:txBody>
          <a:bodyPr wrap="square">
            <a:spAutoFit/>
          </a:bodyPr>
          <a:lstStyle/>
          <a:p>
            <a:pPr algn="ctr"/>
            <a:r>
              <a:rPr lang="es-CO" sz="1500" dirty="0" smtClean="0">
                <a:solidFill>
                  <a:schemeClr val="tx1">
                    <a:lumMod val="50000"/>
                    <a:lumOff val="50000"/>
                  </a:schemeClr>
                </a:solidFill>
              </a:rPr>
              <a:t>Guía Práctica para la Evaluación de Impacto /Capítulo 9: Funciones de Control/5</a:t>
            </a:r>
            <a:endParaRPr lang="es-ES" sz="1500" dirty="0">
              <a:solidFill>
                <a:schemeClr val="tx1">
                  <a:lumMod val="50000"/>
                  <a:lumOff val="50000"/>
                </a:schemeClr>
              </a:solidFill>
            </a:endParaRPr>
          </a:p>
        </p:txBody>
      </p:sp>
      <p:graphicFrame>
        <p:nvGraphicFramePr>
          <p:cNvPr id="3074" name="Object 2"/>
          <p:cNvGraphicFramePr>
            <a:graphicFrameLocks noChangeAspect="1"/>
          </p:cNvGraphicFramePr>
          <p:nvPr/>
        </p:nvGraphicFramePr>
        <p:xfrm>
          <a:off x="1571604" y="1500174"/>
          <a:ext cx="5994400" cy="638175"/>
        </p:xfrm>
        <a:graphic>
          <a:graphicData uri="http://schemas.openxmlformats.org/presentationml/2006/ole">
            <mc:AlternateContent xmlns:mc="http://schemas.openxmlformats.org/markup-compatibility/2006">
              <mc:Choice xmlns:v="urn:schemas-microsoft-com:vml" Requires="v">
                <p:oleObj spid="_x0000_s3078" name="Documento" r:id="rId6" imgW="5411304" imgH="589175" progId="Word.Document.12">
                  <p:embed/>
                </p:oleObj>
              </mc:Choice>
              <mc:Fallback>
                <p:oleObj name="Documento" r:id="rId6" imgW="5411304" imgH="589175" progId="Word.Document.12">
                  <p:embed/>
                  <p:pic>
                    <p:nvPicPr>
                      <p:cNvPr id="0"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71604" y="1500174"/>
                        <a:ext cx="5994400" cy="638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ln w="28575">
            <a:solidFill>
              <a:schemeClr val="accent1">
                <a:lumMod val="75000"/>
              </a:schemeClr>
            </a:solidFill>
          </a:ln>
        </p:spPr>
        <p:txBody>
          <a:bodyPr/>
          <a:lstStyle/>
          <a:p>
            <a:pPr>
              <a:buNone/>
            </a:pPr>
            <a:r>
              <a:rPr lang="es-CO" dirty="0" smtClean="0"/>
              <a:t>	</a:t>
            </a:r>
            <a:r>
              <a:rPr lang="es-CO" sz="2500" dirty="0" smtClean="0"/>
              <a:t>La participación en el programa puede estar determinada:</a:t>
            </a:r>
          </a:p>
          <a:p>
            <a:pPr>
              <a:buNone/>
            </a:pPr>
            <a:endParaRPr lang="es-CO" sz="2500" dirty="0" smtClean="0"/>
          </a:p>
          <a:p>
            <a:pPr>
              <a:buNone/>
            </a:pPr>
            <a:endParaRPr lang="es-CO" sz="2500" dirty="0" smtClean="0"/>
          </a:p>
          <a:p>
            <a:pPr>
              <a:buNone/>
            </a:pPr>
            <a:endParaRPr lang="es-CO" sz="2500" dirty="0" smtClean="0"/>
          </a:p>
          <a:p>
            <a:pPr>
              <a:buNone/>
            </a:pPr>
            <a:r>
              <a:rPr lang="es-CO" sz="2500" dirty="0" smtClean="0"/>
              <a:t>		   	</a:t>
            </a:r>
            <a:endParaRPr lang="es-ES" sz="2500" dirty="0"/>
          </a:p>
        </p:txBody>
      </p:sp>
      <p:pic>
        <p:nvPicPr>
          <p:cNvPr id="4" name="Picture 1"/>
          <p:cNvPicPr>
            <a:picLocks noChangeAspect="1" noChangeArrowheads="1"/>
          </p:cNvPicPr>
          <p:nvPr/>
        </p:nvPicPr>
        <p:blipFill>
          <a:blip r:embed="rId4" cstate="print"/>
          <a:srcRect/>
          <a:stretch>
            <a:fillRect/>
          </a:stretch>
        </p:blipFill>
        <p:spPr bwMode="auto">
          <a:xfrm>
            <a:off x="0" y="-24"/>
            <a:ext cx="2500298" cy="1189301"/>
          </a:xfrm>
          <a:prstGeom prst="rect">
            <a:avLst/>
          </a:prstGeom>
          <a:noFill/>
          <a:ln w="9525">
            <a:noFill/>
            <a:miter lim="800000"/>
            <a:headEnd/>
            <a:tailEnd/>
          </a:ln>
          <a:effectLst/>
        </p:spPr>
      </p:pic>
      <p:sp>
        <p:nvSpPr>
          <p:cNvPr id="5" name="1 Título"/>
          <p:cNvSpPr>
            <a:spLocks noGrp="1"/>
          </p:cNvSpPr>
          <p:nvPr>
            <p:ph type="title"/>
          </p:nvPr>
        </p:nvSpPr>
        <p:spPr>
          <a:xfrm>
            <a:off x="2571736" y="346076"/>
            <a:ext cx="6143668" cy="1082660"/>
          </a:xfrm>
        </p:spPr>
        <p:txBody>
          <a:bodyPr>
            <a:noAutofit/>
          </a:bodyPr>
          <a:lstStyle/>
          <a:p>
            <a:r>
              <a:rPr lang="es-AR" sz="4200" u="sng" dirty="0" smtClean="0"/>
              <a:t>Ejemplo </a:t>
            </a:r>
            <a:r>
              <a:rPr lang="es-AR" sz="4200" i="1" u="sng" dirty="0" smtClean="0"/>
              <a:t>Canasta</a:t>
            </a:r>
            <a:endParaRPr lang="es-AR" sz="4200" i="1" u="sng" dirty="0"/>
          </a:p>
        </p:txBody>
      </p:sp>
      <p:sp>
        <p:nvSpPr>
          <p:cNvPr id="102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1027" name="Rectangle 3"/>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cxnSp>
        <p:nvCxnSpPr>
          <p:cNvPr id="10" name="9 Conector recto de flecha"/>
          <p:cNvCxnSpPr/>
          <p:nvPr/>
        </p:nvCxnSpPr>
        <p:spPr>
          <a:xfrm>
            <a:off x="2571736" y="2643182"/>
            <a:ext cx="50006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1" name="10 CuadroTexto"/>
          <p:cNvSpPr txBox="1"/>
          <p:nvPr/>
        </p:nvSpPr>
        <p:spPr>
          <a:xfrm>
            <a:off x="3149773" y="2380442"/>
            <a:ext cx="3851119" cy="477054"/>
          </a:xfrm>
          <a:prstGeom prst="rect">
            <a:avLst/>
          </a:prstGeom>
          <a:noFill/>
        </p:spPr>
        <p:txBody>
          <a:bodyPr wrap="none" rtlCol="0">
            <a:spAutoFit/>
          </a:bodyPr>
          <a:lstStyle/>
          <a:p>
            <a:pPr algn="ctr"/>
            <a:r>
              <a:rPr lang="es-CO" sz="2500" dirty="0" smtClean="0"/>
              <a:t>El capital social de la madre.</a:t>
            </a:r>
            <a:endParaRPr lang="es-ES" sz="2500" dirty="0"/>
          </a:p>
        </p:txBody>
      </p:sp>
      <p:sp>
        <p:nvSpPr>
          <p:cNvPr id="1029"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1030" name="Rectangle 6"/>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1032"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1034" name="Rectangle 10"/>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1035" name="Rectangle 11"/>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52" name="51 Flecha abajo"/>
          <p:cNvSpPr/>
          <p:nvPr/>
        </p:nvSpPr>
        <p:spPr>
          <a:xfrm>
            <a:off x="4286248" y="4572008"/>
            <a:ext cx="428628" cy="357190"/>
          </a:xfrm>
          <a:prstGeom prst="downArrow">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4" name="53 CuadroTexto"/>
          <p:cNvSpPr txBox="1"/>
          <p:nvPr/>
        </p:nvSpPr>
        <p:spPr>
          <a:xfrm>
            <a:off x="1357290" y="3143248"/>
            <a:ext cx="4415889" cy="477054"/>
          </a:xfrm>
          <a:prstGeom prst="rect">
            <a:avLst/>
          </a:prstGeom>
          <a:noFill/>
        </p:spPr>
        <p:txBody>
          <a:bodyPr wrap="none" rtlCol="0">
            <a:spAutoFit/>
          </a:bodyPr>
          <a:lstStyle/>
          <a:p>
            <a:r>
              <a:rPr lang="es-CO" sz="2500" dirty="0" smtClean="0"/>
              <a:t>Entonces si                siempre que</a:t>
            </a:r>
            <a:endParaRPr lang="es-ES" sz="2500" dirty="0"/>
          </a:p>
        </p:txBody>
      </p:sp>
      <p:sp>
        <p:nvSpPr>
          <p:cNvPr id="22" name="21 Rectángulo"/>
          <p:cNvSpPr/>
          <p:nvPr/>
        </p:nvSpPr>
        <p:spPr>
          <a:xfrm>
            <a:off x="0" y="6534859"/>
            <a:ext cx="9144032" cy="323165"/>
          </a:xfrm>
          <a:prstGeom prst="rect">
            <a:avLst/>
          </a:prstGeom>
        </p:spPr>
        <p:txBody>
          <a:bodyPr wrap="square">
            <a:spAutoFit/>
          </a:bodyPr>
          <a:lstStyle/>
          <a:p>
            <a:pPr algn="ctr"/>
            <a:r>
              <a:rPr lang="es-CO" sz="1500" dirty="0" smtClean="0">
                <a:solidFill>
                  <a:schemeClr val="tx1">
                    <a:lumMod val="50000"/>
                    <a:lumOff val="50000"/>
                  </a:schemeClr>
                </a:solidFill>
              </a:rPr>
              <a:t>Guía Práctica para la Evaluación de Impacto /Capítulo 9: Funciones de Control/6</a:t>
            </a:r>
            <a:endParaRPr lang="es-ES" sz="1500" dirty="0">
              <a:solidFill>
                <a:schemeClr val="tx1">
                  <a:lumMod val="50000"/>
                  <a:lumOff val="50000"/>
                </a:schemeClr>
              </a:solidFill>
            </a:endParaRPr>
          </a:p>
        </p:txBody>
      </p:sp>
      <p:graphicFrame>
        <p:nvGraphicFramePr>
          <p:cNvPr id="4098" name="Object 2"/>
          <p:cNvGraphicFramePr>
            <a:graphicFrameLocks noChangeAspect="1"/>
          </p:cNvGraphicFramePr>
          <p:nvPr/>
        </p:nvGraphicFramePr>
        <p:xfrm>
          <a:off x="1571604" y="5143512"/>
          <a:ext cx="5943600" cy="642938"/>
        </p:xfrm>
        <a:graphic>
          <a:graphicData uri="http://schemas.openxmlformats.org/presentationml/2006/ole">
            <mc:AlternateContent xmlns:mc="http://schemas.openxmlformats.org/markup-compatibility/2006">
              <mc:Choice xmlns:v="urn:schemas-microsoft-com:vml" Requires="v">
                <p:oleObj spid="_x0000_s4119" name="Documento" r:id="rId6" imgW="5411304" imgH="589175" progId="Word.Document.12">
                  <p:embed/>
                </p:oleObj>
              </mc:Choice>
              <mc:Fallback>
                <p:oleObj name="Documento" r:id="rId6" imgW="5411304" imgH="589175" progId="Word.Document.12">
                  <p:embed/>
                  <p:pic>
                    <p:nvPicPr>
                      <p:cNvPr id="0" name="Picture 1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71604" y="5143512"/>
                        <a:ext cx="5943600" cy="642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099" name="Object 3"/>
          <p:cNvGraphicFramePr>
            <a:graphicFrameLocks noChangeAspect="1"/>
          </p:cNvGraphicFramePr>
          <p:nvPr/>
        </p:nvGraphicFramePr>
        <p:xfrm>
          <a:off x="1557358" y="3929066"/>
          <a:ext cx="5943600" cy="642938"/>
        </p:xfrm>
        <a:graphic>
          <a:graphicData uri="http://schemas.openxmlformats.org/presentationml/2006/ole">
            <mc:AlternateContent xmlns:mc="http://schemas.openxmlformats.org/markup-compatibility/2006">
              <mc:Choice xmlns:v="urn:schemas-microsoft-com:vml" Requires="v">
                <p:oleObj spid="_x0000_s4120" name="Documento" r:id="rId9" imgW="5411304" imgH="589175" progId="Word.Document.12">
                  <p:embed/>
                </p:oleObj>
              </mc:Choice>
              <mc:Fallback>
                <p:oleObj name="Documento" r:id="rId9" imgW="5411304" imgH="589175" progId="Word.Document.12">
                  <p:embed/>
                  <p:pic>
                    <p:nvPicPr>
                      <p:cNvPr id="0" name="Picture 1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57358" y="3929066"/>
                        <a:ext cx="5943600" cy="642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100" name="Object 4"/>
          <p:cNvGraphicFramePr>
            <a:graphicFrameLocks noChangeAspect="1"/>
          </p:cNvGraphicFramePr>
          <p:nvPr/>
        </p:nvGraphicFramePr>
        <p:xfrm>
          <a:off x="3286116" y="3122615"/>
          <a:ext cx="6897273" cy="663575"/>
        </p:xfrm>
        <a:graphic>
          <a:graphicData uri="http://schemas.openxmlformats.org/presentationml/2006/ole">
            <mc:AlternateContent xmlns:mc="http://schemas.openxmlformats.org/markup-compatibility/2006">
              <mc:Choice xmlns:v="urn:schemas-microsoft-com:vml" Requires="v">
                <p:oleObj spid="_x0000_s4121" name="Documento" r:id="rId12" imgW="5411304" imgH="520792" progId="Word.Document.12">
                  <p:embed/>
                </p:oleObj>
              </mc:Choice>
              <mc:Fallback>
                <p:oleObj name="Documento" r:id="rId12" imgW="5411304" imgH="520792" progId="Word.Document.12">
                  <p:embed/>
                  <p:pic>
                    <p:nvPicPr>
                      <p:cNvPr id="0" name="Picture 2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286116" y="3122615"/>
                        <a:ext cx="6897273" cy="663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101" name="Object 5"/>
          <p:cNvGraphicFramePr>
            <a:graphicFrameLocks noChangeAspect="1"/>
          </p:cNvGraphicFramePr>
          <p:nvPr/>
        </p:nvGraphicFramePr>
        <p:xfrm>
          <a:off x="357158" y="3143248"/>
          <a:ext cx="6215106" cy="597993"/>
        </p:xfrm>
        <a:graphic>
          <a:graphicData uri="http://schemas.openxmlformats.org/presentationml/2006/ole">
            <mc:AlternateContent xmlns:mc="http://schemas.openxmlformats.org/markup-compatibility/2006">
              <mc:Choice xmlns:v="urn:schemas-microsoft-com:vml" Requires="v">
                <p:oleObj spid="_x0000_s4122" name="Documento" r:id="rId15" imgW="5411304" imgH="520792" progId="Word.Document.12">
                  <p:embed/>
                </p:oleObj>
              </mc:Choice>
              <mc:Fallback>
                <p:oleObj name="Documento" r:id="rId15" imgW="5411304" imgH="520792" progId="Word.Document.12">
                  <p:embed/>
                  <p:pic>
                    <p:nvPicPr>
                      <p:cNvPr id="0" name="Picture 2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57158" y="3143248"/>
                        <a:ext cx="6215106" cy="5979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103" name="Object 7"/>
          <p:cNvGraphicFramePr>
            <a:graphicFrameLocks noChangeAspect="1"/>
          </p:cNvGraphicFramePr>
          <p:nvPr/>
        </p:nvGraphicFramePr>
        <p:xfrm>
          <a:off x="-1352562" y="2357430"/>
          <a:ext cx="7424760" cy="714380"/>
        </p:xfrm>
        <a:graphic>
          <a:graphicData uri="http://schemas.openxmlformats.org/presentationml/2006/ole">
            <mc:AlternateContent xmlns:mc="http://schemas.openxmlformats.org/markup-compatibility/2006">
              <mc:Choice xmlns:v="urn:schemas-microsoft-com:vml" Requires="v">
                <p:oleObj spid="_x0000_s4123" name="Documento" r:id="rId18" imgW="5411304" imgH="520792" progId="Word.Document.12">
                  <p:embed/>
                </p:oleObj>
              </mc:Choice>
              <mc:Fallback>
                <p:oleObj name="Documento" r:id="rId18" imgW="5411304" imgH="520792" progId="Word.Document.12">
                  <p:embed/>
                  <p:pic>
                    <p:nvPicPr>
                      <p:cNvPr id="0" name="Picture 22"/>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352562" y="2357430"/>
                        <a:ext cx="7424760" cy="714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normAutofit/>
          </a:bodyPr>
          <a:lstStyle/>
          <a:p>
            <a:pPr>
              <a:buNone/>
            </a:pPr>
            <a:r>
              <a:rPr lang="es-CO" sz="2500" dirty="0" smtClean="0"/>
              <a:t>	</a:t>
            </a:r>
          </a:p>
          <a:p>
            <a:pPr algn="ctr">
              <a:buNone/>
            </a:pPr>
            <a:r>
              <a:rPr lang="es-CO" sz="2500" dirty="0" smtClean="0"/>
              <a:t>	Si pudiéramos controlar explícitamente por los factores no observables que determinan la participación y están correlacionados con factores que determinan la variable de resultado, entonces se cumple que: 	</a:t>
            </a:r>
          </a:p>
          <a:p>
            <a:pPr>
              <a:buNone/>
            </a:pPr>
            <a:r>
              <a:rPr lang="es-CO" sz="2500" dirty="0" smtClean="0"/>
              <a:t>	</a:t>
            </a:r>
            <a:endParaRPr lang="es-ES" sz="2500" dirty="0"/>
          </a:p>
        </p:txBody>
      </p:sp>
      <p:pic>
        <p:nvPicPr>
          <p:cNvPr id="4" name="Picture 1"/>
          <p:cNvPicPr>
            <a:picLocks noChangeAspect="1" noChangeArrowheads="1"/>
          </p:cNvPicPr>
          <p:nvPr/>
        </p:nvPicPr>
        <p:blipFill>
          <a:blip r:embed="rId4" cstate="print"/>
          <a:srcRect/>
          <a:stretch>
            <a:fillRect/>
          </a:stretch>
        </p:blipFill>
        <p:spPr bwMode="auto">
          <a:xfrm>
            <a:off x="0" y="-24"/>
            <a:ext cx="2500298" cy="1189301"/>
          </a:xfrm>
          <a:prstGeom prst="rect">
            <a:avLst/>
          </a:prstGeom>
          <a:noFill/>
          <a:ln w="9525">
            <a:noFill/>
            <a:miter lim="800000"/>
            <a:headEnd/>
            <a:tailEnd/>
          </a:ln>
          <a:effectLst/>
        </p:spPr>
      </p:pic>
      <p:sp>
        <p:nvSpPr>
          <p:cNvPr id="5" name="1 Título"/>
          <p:cNvSpPr>
            <a:spLocks noGrp="1"/>
          </p:cNvSpPr>
          <p:nvPr>
            <p:ph type="title"/>
          </p:nvPr>
        </p:nvSpPr>
        <p:spPr>
          <a:xfrm>
            <a:off x="2571736" y="346076"/>
            <a:ext cx="6143668" cy="1082660"/>
          </a:xfrm>
        </p:spPr>
        <p:txBody>
          <a:bodyPr>
            <a:noAutofit/>
          </a:bodyPr>
          <a:lstStyle/>
          <a:p>
            <a:r>
              <a:rPr lang="es-AR" sz="4200" u="sng" dirty="0" smtClean="0"/>
              <a:t>Supuesto fundamental de la función de control</a:t>
            </a:r>
            <a:endParaRPr lang="es-AR" sz="4200" i="1" u="sng" dirty="0"/>
          </a:p>
        </p:txBody>
      </p:sp>
      <p:sp>
        <p:nvSpPr>
          <p:cNvPr id="22530"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22531" name="Rectangle 3"/>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10" name="9 Abrir llave"/>
          <p:cNvSpPr/>
          <p:nvPr/>
        </p:nvSpPr>
        <p:spPr>
          <a:xfrm rot="16200000">
            <a:off x="4750595" y="3679033"/>
            <a:ext cx="214313" cy="2143141"/>
          </a:xfrm>
          <a:prstGeom prst="leftBrac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11" name="10 CuadroTexto"/>
          <p:cNvSpPr txBox="1"/>
          <p:nvPr/>
        </p:nvSpPr>
        <p:spPr>
          <a:xfrm>
            <a:off x="2143108" y="4952210"/>
            <a:ext cx="5475858" cy="477054"/>
          </a:xfrm>
          <a:prstGeom prst="rect">
            <a:avLst/>
          </a:prstGeom>
          <a:noFill/>
          <a:ln>
            <a:solidFill>
              <a:schemeClr val="accent1">
                <a:lumMod val="60000"/>
                <a:lumOff val="40000"/>
              </a:schemeClr>
            </a:solidFill>
          </a:ln>
        </p:spPr>
        <p:txBody>
          <a:bodyPr wrap="none" rtlCol="0">
            <a:spAutoFit/>
          </a:bodyPr>
          <a:lstStyle/>
          <a:p>
            <a:r>
              <a:rPr lang="es-CO" sz="2500" dirty="0" smtClean="0"/>
              <a:t>Supuesto de independencia condicional</a:t>
            </a:r>
            <a:endParaRPr lang="es-ES" sz="2500" dirty="0"/>
          </a:p>
        </p:txBody>
      </p:sp>
      <p:sp>
        <p:nvSpPr>
          <p:cNvPr id="13" name="12 Rectángulo"/>
          <p:cNvSpPr/>
          <p:nvPr/>
        </p:nvSpPr>
        <p:spPr>
          <a:xfrm>
            <a:off x="0" y="6534859"/>
            <a:ext cx="9144032" cy="323165"/>
          </a:xfrm>
          <a:prstGeom prst="rect">
            <a:avLst/>
          </a:prstGeom>
        </p:spPr>
        <p:txBody>
          <a:bodyPr wrap="square">
            <a:spAutoFit/>
          </a:bodyPr>
          <a:lstStyle/>
          <a:p>
            <a:pPr algn="ctr"/>
            <a:r>
              <a:rPr lang="es-CO" sz="1500" dirty="0" smtClean="0">
                <a:solidFill>
                  <a:schemeClr val="tx1">
                    <a:lumMod val="50000"/>
                    <a:lumOff val="50000"/>
                  </a:schemeClr>
                </a:solidFill>
              </a:rPr>
              <a:t>Guía Práctica para la Evaluación de Impacto /Capítulo 9: Funciones de Control/7</a:t>
            </a:r>
            <a:endParaRPr lang="es-ES" sz="1500" dirty="0">
              <a:solidFill>
                <a:schemeClr val="tx1">
                  <a:lumMod val="50000"/>
                  <a:lumOff val="50000"/>
                </a:schemeClr>
              </a:solidFill>
            </a:endParaRPr>
          </a:p>
        </p:txBody>
      </p:sp>
      <p:graphicFrame>
        <p:nvGraphicFramePr>
          <p:cNvPr id="5122" name="Object 2"/>
          <p:cNvGraphicFramePr>
            <a:graphicFrameLocks noChangeAspect="1"/>
          </p:cNvGraphicFramePr>
          <p:nvPr/>
        </p:nvGraphicFramePr>
        <p:xfrm>
          <a:off x="1500166" y="4286256"/>
          <a:ext cx="6682296" cy="642943"/>
        </p:xfrm>
        <a:graphic>
          <a:graphicData uri="http://schemas.openxmlformats.org/presentationml/2006/ole">
            <mc:AlternateContent xmlns:mc="http://schemas.openxmlformats.org/markup-compatibility/2006">
              <mc:Choice xmlns:v="urn:schemas-microsoft-com:vml" Requires="v">
                <p:oleObj spid="_x0000_s5126" name="Documento" r:id="rId6" imgW="5411304" imgH="520792" progId="Word.Document.12">
                  <p:embed/>
                </p:oleObj>
              </mc:Choice>
              <mc:Fallback>
                <p:oleObj name="Documento" r:id="rId6" imgW="5411304" imgH="520792" progId="Word.Document.12">
                  <p:embed/>
                  <p:pic>
                    <p:nvPicPr>
                      <p:cNvPr id="0"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00166" y="4286256"/>
                        <a:ext cx="6682296" cy="6429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428736"/>
            <a:ext cx="8229600" cy="4697427"/>
          </a:xfrm>
          <a:ln w="28575">
            <a:solidFill>
              <a:schemeClr val="accent1">
                <a:lumMod val="75000"/>
              </a:schemeClr>
            </a:solidFill>
          </a:ln>
        </p:spPr>
        <p:txBody>
          <a:bodyPr>
            <a:normAutofit/>
          </a:bodyPr>
          <a:lstStyle/>
          <a:p>
            <a:pPr>
              <a:buNone/>
            </a:pPr>
            <a:r>
              <a:rPr lang="es-CO" sz="2500" b="1" u="sng" dirty="0" smtClean="0"/>
              <a:t>Población elegible:</a:t>
            </a:r>
            <a:r>
              <a:rPr lang="es-CO" sz="2500" dirty="0" smtClean="0"/>
              <a:t> Hogares de </a:t>
            </a:r>
            <a:r>
              <a:rPr lang="es-CO" sz="2500" dirty="0" err="1" smtClean="0"/>
              <a:t>Sisben</a:t>
            </a:r>
            <a:r>
              <a:rPr lang="es-CO" sz="2500" dirty="0" smtClean="0"/>
              <a:t> 1.</a:t>
            </a:r>
          </a:p>
          <a:p>
            <a:pPr>
              <a:buNone/>
            </a:pPr>
            <a:endParaRPr lang="es-CO" sz="2500" dirty="0" smtClean="0"/>
          </a:p>
          <a:p>
            <a:pPr>
              <a:buNone/>
            </a:pPr>
            <a:r>
              <a:rPr lang="es-CO" sz="2500" b="1" u="sng" dirty="0" smtClean="0"/>
              <a:t>Requisitos de participación:</a:t>
            </a:r>
            <a:r>
              <a:rPr lang="es-CO" sz="2500" dirty="0" smtClean="0"/>
              <a:t> Acudir a los puestos de inscripción en el día y la hora señalados con los documentos de identidad de los miembros del hogar.</a:t>
            </a:r>
          </a:p>
          <a:p>
            <a:pPr algn="just">
              <a:buNone/>
            </a:pPr>
            <a:endParaRPr lang="es-CO" sz="2500" b="1" u="sng" dirty="0" smtClean="0"/>
          </a:p>
          <a:p>
            <a:pPr>
              <a:buNone/>
            </a:pPr>
            <a:r>
              <a:rPr lang="es-CO" sz="2500" b="1" u="sng" dirty="0" smtClean="0"/>
              <a:t>Supuesto:</a:t>
            </a:r>
            <a:r>
              <a:rPr lang="es-CO" sz="2500" dirty="0" smtClean="0"/>
              <a:t> Madres con mejores redes sociales o mayor capital social (no observable) tienden a estar más enteradas de los requisitos, así como de los beneficios de pertenecer al programa.</a:t>
            </a:r>
            <a:endParaRPr lang="es-CO" sz="2500" b="1" u="sng" dirty="0" smtClean="0"/>
          </a:p>
          <a:p>
            <a:pPr>
              <a:buNone/>
            </a:pPr>
            <a:endParaRPr lang="es-CO" sz="2500" b="1" u="sng" dirty="0" smtClean="0"/>
          </a:p>
          <a:p>
            <a:pPr>
              <a:buNone/>
            </a:pPr>
            <a:endParaRPr lang="es-ES" sz="2500" b="1" u="sng" dirty="0"/>
          </a:p>
        </p:txBody>
      </p:sp>
      <p:pic>
        <p:nvPicPr>
          <p:cNvPr id="4" name="Picture 1"/>
          <p:cNvPicPr>
            <a:picLocks noChangeAspect="1" noChangeArrowheads="1"/>
          </p:cNvPicPr>
          <p:nvPr/>
        </p:nvPicPr>
        <p:blipFill>
          <a:blip r:embed="rId2" cstate="print"/>
          <a:srcRect/>
          <a:stretch>
            <a:fillRect/>
          </a:stretch>
        </p:blipFill>
        <p:spPr bwMode="auto">
          <a:xfrm>
            <a:off x="0" y="-24"/>
            <a:ext cx="2500298" cy="1189301"/>
          </a:xfrm>
          <a:prstGeom prst="rect">
            <a:avLst/>
          </a:prstGeom>
          <a:noFill/>
          <a:ln w="9525">
            <a:noFill/>
            <a:miter lim="800000"/>
            <a:headEnd/>
            <a:tailEnd/>
          </a:ln>
          <a:effectLst/>
        </p:spPr>
      </p:pic>
      <p:sp>
        <p:nvSpPr>
          <p:cNvPr id="5" name="1 Título"/>
          <p:cNvSpPr txBox="1">
            <a:spLocks/>
          </p:cNvSpPr>
          <p:nvPr/>
        </p:nvSpPr>
        <p:spPr>
          <a:xfrm>
            <a:off x="2571736" y="346076"/>
            <a:ext cx="6143668" cy="1082660"/>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s-AR" sz="4200" b="0" i="0" u="sng" strike="noStrike" kern="1200" cap="none" spc="0" normalizeH="0" baseline="0" noProof="0" dirty="0" smtClean="0">
                <a:ln>
                  <a:noFill/>
                </a:ln>
                <a:solidFill>
                  <a:schemeClr val="tx1"/>
                </a:solidFill>
                <a:effectLst/>
                <a:uLnTx/>
                <a:uFillTx/>
                <a:latin typeface="+mj-lt"/>
                <a:ea typeface="+mj-ea"/>
                <a:cs typeface="+mj-cs"/>
              </a:rPr>
              <a:t>Ejemplo </a:t>
            </a:r>
            <a:r>
              <a:rPr kumimoji="0" lang="es-AR" sz="4200" b="0" i="1" u="sng" strike="noStrike" kern="1200" cap="none" spc="0" normalizeH="0" baseline="0" noProof="0" dirty="0" smtClean="0">
                <a:ln>
                  <a:noFill/>
                </a:ln>
                <a:solidFill>
                  <a:schemeClr val="tx1"/>
                </a:solidFill>
                <a:effectLst/>
                <a:uLnTx/>
                <a:uFillTx/>
                <a:latin typeface="+mj-lt"/>
                <a:ea typeface="+mj-ea"/>
                <a:cs typeface="+mj-cs"/>
              </a:rPr>
              <a:t>Canasta</a:t>
            </a:r>
            <a:endParaRPr kumimoji="0" lang="es-AR" sz="4200" b="0" i="1" u="sng" strike="noStrike" kern="1200" cap="none" spc="0" normalizeH="0" baseline="0" noProof="0" dirty="0">
              <a:ln>
                <a:noFill/>
              </a:ln>
              <a:solidFill>
                <a:schemeClr val="tx1"/>
              </a:solidFill>
              <a:effectLst/>
              <a:uLnTx/>
              <a:uFillTx/>
              <a:latin typeface="+mj-lt"/>
              <a:ea typeface="+mj-ea"/>
              <a:cs typeface="+mj-cs"/>
            </a:endParaRPr>
          </a:p>
        </p:txBody>
      </p:sp>
      <p:sp>
        <p:nvSpPr>
          <p:cNvPr id="7" name="6 Rectángulo"/>
          <p:cNvSpPr/>
          <p:nvPr/>
        </p:nvSpPr>
        <p:spPr>
          <a:xfrm>
            <a:off x="0" y="6534859"/>
            <a:ext cx="9144032" cy="323165"/>
          </a:xfrm>
          <a:prstGeom prst="rect">
            <a:avLst/>
          </a:prstGeom>
        </p:spPr>
        <p:txBody>
          <a:bodyPr wrap="square">
            <a:spAutoFit/>
          </a:bodyPr>
          <a:lstStyle/>
          <a:p>
            <a:pPr algn="ctr"/>
            <a:r>
              <a:rPr lang="es-CO" sz="1500" dirty="0" smtClean="0">
                <a:solidFill>
                  <a:schemeClr val="tx1">
                    <a:lumMod val="50000"/>
                    <a:lumOff val="50000"/>
                  </a:schemeClr>
                </a:solidFill>
              </a:rPr>
              <a:t>Guía Práctica para la Evaluación de Impacto /Capítulo 9: Funciones de Control/8</a:t>
            </a:r>
            <a:endParaRPr lang="es-ES" sz="1500" dirty="0">
              <a:solidFill>
                <a:schemeClr val="tx1">
                  <a:lumMod val="50000"/>
                  <a:lumOff val="50000"/>
                </a:schemeClr>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500174"/>
            <a:ext cx="8229600" cy="4625989"/>
          </a:xfrm>
          <a:ln w="28575">
            <a:solidFill>
              <a:schemeClr val="accent1">
                <a:lumMod val="75000"/>
              </a:schemeClr>
            </a:solidFill>
          </a:ln>
        </p:spPr>
        <p:txBody>
          <a:bodyPr>
            <a:normAutofit/>
          </a:bodyPr>
          <a:lstStyle/>
          <a:p>
            <a:pPr algn="ctr">
              <a:buNone/>
            </a:pPr>
            <a:r>
              <a:rPr lang="es-CO" sz="2500" dirty="0" smtClean="0"/>
              <a:t>El capital social, a su vez, afecta la variable de resultado.</a:t>
            </a:r>
          </a:p>
          <a:p>
            <a:pPr algn="ctr">
              <a:buNone/>
            </a:pPr>
            <a:endParaRPr lang="es-CO" sz="2500" dirty="0" smtClean="0"/>
          </a:p>
          <a:p>
            <a:pPr>
              <a:buNone/>
            </a:pPr>
            <a:r>
              <a:rPr lang="es-CO" sz="2500" b="1" u="sng" dirty="0" smtClean="0"/>
              <a:t>Intuición:</a:t>
            </a:r>
            <a:r>
              <a:rPr lang="es-CO" sz="2500" dirty="0" smtClean="0"/>
              <a:t> La variable de resultado es la talla para la edad.</a:t>
            </a:r>
          </a:p>
          <a:p>
            <a:pPr algn="just">
              <a:buNone/>
            </a:pPr>
            <a:r>
              <a:rPr lang="es-CO" sz="2500" dirty="0" smtClean="0"/>
              <a:t>	</a:t>
            </a:r>
            <a:endParaRPr lang="es-ES" sz="2500" dirty="0"/>
          </a:p>
        </p:txBody>
      </p:sp>
      <p:pic>
        <p:nvPicPr>
          <p:cNvPr id="4" name="Picture 1"/>
          <p:cNvPicPr>
            <a:picLocks noChangeAspect="1" noChangeArrowheads="1"/>
          </p:cNvPicPr>
          <p:nvPr/>
        </p:nvPicPr>
        <p:blipFill>
          <a:blip r:embed="rId2" cstate="print"/>
          <a:srcRect/>
          <a:stretch>
            <a:fillRect/>
          </a:stretch>
        </p:blipFill>
        <p:spPr bwMode="auto">
          <a:xfrm>
            <a:off x="0" y="-24"/>
            <a:ext cx="2500298" cy="1189301"/>
          </a:xfrm>
          <a:prstGeom prst="rect">
            <a:avLst/>
          </a:prstGeom>
          <a:noFill/>
          <a:ln w="9525">
            <a:noFill/>
            <a:miter lim="800000"/>
            <a:headEnd/>
            <a:tailEnd/>
          </a:ln>
          <a:effectLst/>
        </p:spPr>
      </p:pic>
      <p:sp>
        <p:nvSpPr>
          <p:cNvPr id="5" name="1 Título"/>
          <p:cNvSpPr txBox="1">
            <a:spLocks/>
          </p:cNvSpPr>
          <p:nvPr/>
        </p:nvSpPr>
        <p:spPr>
          <a:xfrm>
            <a:off x="2571736" y="346076"/>
            <a:ext cx="6143668" cy="1082660"/>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s-AR" sz="4200" b="0" i="0" u="sng" strike="noStrike" kern="1200" cap="none" spc="0" normalizeH="0" baseline="0" noProof="0" dirty="0" smtClean="0">
                <a:ln>
                  <a:noFill/>
                </a:ln>
                <a:solidFill>
                  <a:schemeClr val="tx1"/>
                </a:solidFill>
                <a:effectLst/>
                <a:uLnTx/>
                <a:uFillTx/>
                <a:latin typeface="+mj-lt"/>
                <a:ea typeface="+mj-ea"/>
                <a:cs typeface="+mj-cs"/>
              </a:rPr>
              <a:t>Ejemplo </a:t>
            </a:r>
            <a:r>
              <a:rPr kumimoji="0" lang="es-AR" sz="4200" b="0" i="1" u="sng" strike="noStrike" kern="1200" cap="none" spc="0" normalizeH="0" baseline="0" noProof="0" dirty="0" smtClean="0">
                <a:ln>
                  <a:noFill/>
                </a:ln>
                <a:solidFill>
                  <a:schemeClr val="tx1"/>
                </a:solidFill>
                <a:effectLst/>
                <a:uLnTx/>
                <a:uFillTx/>
                <a:latin typeface="+mj-lt"/>
                <a:ea typeface="+mj-ea"/>
                <a:cs typeface="+mj-cs"/>
              </a:rPr>
              <a:t>Canasta</a:t>
            </a:r>
            <a:endParaRPr kumimoji="0" lang="es-AR" sz="4200" b="0" i="1" u="sng" strike="noStrike" kern="1200" cap="none" spc="0" normalizeH="0" baseline="0" noProof="0" dirty="0">
              <a:ln>
                <a:noFill/>
              </a:ln>
              <a:solidFill>
                <a:schemeClr val="tx1"/>
              </a:solidFill>
              <a:effectLst/>
              <a:uLnTx/>
              <a:uFillTx/>
              <a:latin typeface="+mj-lt"/>
              <a:ea typeface="+mj-ea"/>
              <a:cs typeface="+mj-cs"/>
            </a:endParaRPr>
          </a:p>
        </p:txBody>
      </p:sp>
      <p:sp>
        <p:nvSpPr>
          <p:cNvPr id="8" name="7 Flecha abajo"/>
          <p:cNvSpPr/>
          <p:nvPr/>
        </p:nvSpPr>
        <p:spPr>
          <a:xfrm>
            <a:off x="4286248" y="2928934"/>
            <a:ext cx="428628" cy="285752"/>
          </a:xfrm>
          <a:prstGeom prst="downArrow">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8 CuadroTexto"/>
          <p:cNvSpPr txBox="1"/>
          <p:nvPr/>
        </p:nvSpPr>
        <p:spPr>
          <a:xfrm>
            <a:off x="714348" y="3286124"/>
            <a:ext cx="7572428" cy="861774"/>
          </a:xfrm>
          <a:prstGeom prst="rect">
            <a:avLst/>
          </a:prstGeom>
          <a:noFill/>
        </p:spPr>
        <p:txBody>
          <a:bodyPr wrap="square" rtlCol="0">
            <a:spAutoFit/>
          </a:bodyPr>
          <a:lstStyle/>
          <a:p>
            <a:pPr algn="ctr"/>
            <a:r>
              <a:rPr lang="es-CO" sz="2500" dirty="0" smtClean="0"/>
              <a:t>Una madre con mayor capital social puede estar más enterada acerca de alimentos adecuados, higiene, etc. </a:t>
            </a:r>
            <a:endParaRPr lang="es-ES" sz="2500" dirty="0"/>
          </a:p>
        </p:txBody>
      </p:sp>
      <p:sp>
        <p:nvSpPr>
          <p:cNvPr id="10" name="9 Cerrar llave"/>
          <p:cNvSpPr/>
          <p:nvPr/>
        </p:nvSpPr>
        <p:spPr>
          <a:xfrm rot="5400000">
            <a:off x="5500695" y="2071679"/>
            <a:ext cx="142874" cy="428628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11" name="10 CuadroTexto"/>
          <p:cNvSpPr txBox="1"/>
          <p:nvPr/>
        </p:nvSpPr>
        <p:spPr>
          <a:xfrm>
            <a:off x="2571736" y="4286256"/>
            <a:ext cx="5500726" cy="1246495"/>
          </a:xfrm>
          <a:prstGeom prst="rect">
            <a:avLst/>
          </a:prstGeom>
          <a:noFill/>
        </p:spPr>
        <p:txBody>
          <a:bodyPr wrap="square" rtlCol="0">
            <a:spAutoFit/>
          </a:bodyPr>
          <a:lstStyle/>
          <a:p>
            <a:r>
              <a:rPr lang="es-CO" sz="2500" dirty="0" smtClean="0"/>
              <a:t>En general, los hijos con madres con capital social más alto tendrán un mejor estado nutricional.</a:t>
            </a:r>
            <a:endParaRPr lang="es-ES" sz="2500" dirty="0"/>
          </a:p>
        </p:txBody>
      </p:sp>
      <p:sp>
        <p:nvSpPr>
          <p:cNvPr id="12" name="11 Rectángulo"/>
          <p:cNvSpPr/>
          <p:nvPr/>
        </p:nvSpPr>
        <p:spPr>
          <a:xfrm>
            <a:off x="0" y="6534859"/>
            <a:ext cx="9144032" cy="323165"/>
          </a:xfrm>
          <a:prstGeom prst="rect">
            <a:avLst/>
          </a:prstGeom>
        </p:spPr>
        <p:txBody>
          <a:bodyPr wrap="square">
            <a:spAutoFit/>
          </a:bodyPr>
          <a:lstStyle/>
          <a:p>
            <a:pPr algn="ctr"/>
            <a:r>
              <a:rPr lang="es-CO" sz="1500" dirty="0" smtClean="0">
                <a:solidFill>
                  <a:schemeClr val="tx1">
                    <a:lumMod val="50000"/>
                    <a:lumOff val="50000"/>
                  </a:schemeClr>
                </a:solidFill>
              </a:rPr>
              <a:t>Guía Práctica para la Evaluación de Impacto /Capítulo 9: Funciones de Control/9</a:t>
            </a:r>
            <a:endParaRPr lang="es-ES" sz="1500" dirty="0">
              <a:solidFill>
                <a:schemeClr val="tx1">
                  <a:lumMod val="50000"/>
                  <a:lumOff val="50000"/>
                </a:schemeClr>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600200"/>
            <a:ext cx="8229600" cy="4853136"/>
          </a:xfrm>
          <a:ln w="28575">
            <a:solidFill>
              <a:schemeClr val="accent1">
                <a:lumMod val="75000"/>
              </a:schemeClr>
            </a:solidFill>
          </a:ln>
        </p:spPr>
        <p:txBody>
          <a:bodyPr>
            <a:normAutofit/>
          </a:bodyPr>
          <a:lstStyle/>
          <a:p>
            <a:pPr>
              <a:buNone/>
            </a:pPr>
            <a:r>
              <a:rPr lang="es-CO" sz="2500" b="1" u="sng" dirty="0" smtClean="0"/>
              <a:t>Implicación:</a:t>
            </a:r>
          </a:p>
          <a:p>
            <a:pPr>
              <a:buNone/>
            </a:pPr>
            <a:r>
              <a:rPr lang="es-CO" sz="2500" dirty="0" smtClean="0"/>
              <a:t>	Los beneficios estimados del programa no serán tan altos, porque es difícil mejorar sustancialmente el estado nutricional si éste era bueno para empezar.</a:t>
            </a:r>
            <a:endParaRPr lang="es-ES" sz="2500" dirty="0"/>
          </a:p>
        </p:txBody>
      </p:sp>
      <p:pic>
        <p:nvPicPr>
          <p:cNvPr id="4" name="Picture 1"/>
          <p:cNvPicPr>
            <a:picLocks noChangeAspect="1" noChangeArrowheads="1"/>
          </p:cNvPicPr>
          <p:nvPr/>
        </p:nvPicPr>
        <p:blipFill>
          <a:blip r:embed="rId3" cstate="print"/>
          <a:srcRect/>
          <a:stretch>
            <a:fillRect/>
          </a:stretch>
        </p:blipFill>
        <p:spPr bwMode="auto">
          <a:xfrm>
            <a:off x="0" y="-24"/>
            <a:ext cx="2500298" cy="1189301"/>
          </a:xfrm>
          <a:prstGeom prst="rect">
            <a:avLst/>
          </a:prstGeom>
          <a:noFill/>
          <a:ln w="9525">
            <a:noFill/>
            <a:miter lim="800000"/>
            <a:headEnd/>
            <a:tailEnd/>
          </a:ln>
          <a:effectLst/>
        </p:spPr>
      </p:pic>
      <p:sp>
        <p:nvSpPr>
          <p:cNvPr id="5" name="1 Título"/>
          <p:cNvSpPr txBox="1">
            <a:spLocks/>
          </p:cNvSpPr>
          <p:nvPr/>
        </p:nvSpPr>
        <p:spPr>
          <a:xfrm>
            <a:off x="2571736" y="346076"/>
            <a:ext cx="6143668" cy="1082660"/>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s-AR" sz="4200" b="0" i="0" u="sng" strike="noStrike" kern="1200" cap="none" spc="0" normalizeH="0" baseline="0" noProof="0" dirty="0" smtClean="0">
                <a:ln>
                  <a:noFill/>
                </a:ln>
                <a:solidFill>
                  <a:schemeClr val="tx1"/>
                </a:solidFill>
                <a:effectLst/>
                <a:uLnTx/>
                <a:uFillTx/>
                <a:latin typeface="+mj-lt"/>
                <a:ea typeface="+mj-ea"/>
                <a:cs typeface="+mj-cs"/>
              </a:rPr>
              <a:t>Ejemplo </a:t>
            </a:r>
            <a:r>
              <a:rPr kumimoji="0" lang="es-AR" sz="4200" b="0" i="1" u="sng" strike="noStrike" kern="1200" cap="none" spc="0" normalizeH="0" baseline="0" noProof="0" dirty="0" smtClean="0">
                <a:ln>
                  <a:noFill/>
                </a:ln>
                <a:solidFill>
                  <a:schemeClr val="tx1"/>
                </a:solidFill>
                <a:effectLst/>
                <a:uLnTx/>
                <a:uFillTx/>
                <a:latin typeface="+mj-lt"/>
                <a:ea typeface="+mj-ea"/>
                <a:cs typeface="+mj-cs"/>
              </a:rPr>
              <a:t>Canasta</a:t>
            </a:r>
            <a:endParaRPr kumimoji="0" lang="es-AR" sz="4200" b="0" i="1" u="sng" strike="noStrike" kern="1200" cap="none" spc="0" normalizeH="0" baseline="0" noProof="0" dirty="0">
              <a:ln>
                <a:noFill/>
              </a:ln>
              <a:solidFill>
                <a:schemeClr val="tx1"/>
              </a:solidFill>
              <a:effectLst/>
              <a:uLnTx/>
              <a:uFillTx/>
              <a:latin typeface="+mj-lt"/>
              <a:ea typeface="+mj-ea"/>
              <a:cs typeface="+mj-cs"/>
            </a:endParaRPr>
          </a:p>
        </p:txBody>
      </p:sp>
      <p:sp>
        <p:nvSpPr>
          <p:cNvPr id="7" name="6 Flecha abajo"/>
          <p:cNvSpPr/>
          <p:nvPr/>
        </p:nvSpPr>
        <p:spPr>
          <a:xfrm>
            <a:off x="4286248" y="3357562"/>
            <a:ext cx="428628" cy="285752"/>
          </a:xfrm>
          <a:prstGeom prst="downArrow">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2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1027" name="Rectangle 3"/>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cxnSp>
        <p:nvCxnSpPr>
          <p:cNvPr id="12" name="11 Conector recto de flecha"/>
          <p:cNvCxnSpPr/>
          <p:nvPr/>
        </p:nvCxnSpPr>
        <p:spPr>
          <a:xfrm>
            <a:off x="1428728" y="3929066"/>
            <a:ext cx="500066" cy="1588"/>
          </a:xfrm>
          <a:prstGeom prst="straightConnector1">
            <a:avLst/>
          </a:prstGeom>
          <a:ln>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13" name="12 CuadroTexto"/>
          <p:cNvSpPr txBox="1"/>
          <p:nvPr/>
        </p:nvSpPr>
        <p:spPr>
          <a:xfrm>
            <a:off x="2000232" y="3714752"/>
            <a:ext cx="6500859" cy="861774"/>
          </a:xfrm>
          <a:prstGeom prst="rect">
            <a:avLst/>
          </a:prstGeom>
          <a:noFill/>
        </p:spPr>
        <p:txBody>
          <a:bodyPr wrap="square" rtlCol="0">
            <a:spAutoFit/>
          </a:bodyPr>
          <a:lstStyle/>
          <a:p>
            <a:r>
              <a:rPr lang="es-CO" sz="2500" dirty="0" smtClean="0"/>
              <a:t>El capital social de la madre es un determinante de la participación en el programa.</a:t>
            </a:r>
            <a:endParaRPr lang="es-ES" sz="2500" dirty="0"/>
          </a:p>
        </p:txBody>
      </p:sp>
      <p:cxnSp>
        <p:nvCxnSpPr>
          <p:cNvPr id="15" name="14 Conector recto"/>
          <p:cNvCxnSpPr/>
          <p:nvPr/>
        </p:nvCxnSpPr>
        <p:spPr>
          <a:xfrm rot="5400000">
            <a:off x="1035819" y="4321975"/>
            <a:ext cx="785818" cy="0"/>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6" name="15 Conector recto de flecha"/>
          <p:cNvCxnSpPr/>
          <p:nvPr/>
        </p:nvCxnSpPr>
        <p:spPr>
          <a:xfrm>
            <a:off x="1428728" y="4714884"/>
            <a:ext cx="500066" cy="1588"/>
          </a:xfrm>
          <a:prstGeom prst="straightConnector1">
            <a:avLst/>
          </a:prstGeom>
          <a:ln>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18" name="17 CuadroTexto"/>
          <p:cNvSpPr txBox="1"/>
          <p:nvPr/>
        </p:nvSpPr>
        <p:spPr>
          <a:xfrm>
            <a:off x="1928794" y="4572008"/>
            <a:ext cx="6500859" cy="861774"/>
          </a:xfrm>
          <a:prstGeom prst="rect">
            <a:avLst/>
          </a:prstGeom>
          <a:noFill/>
        </p:spPr>
        <p:txBody>
          <a:bodyPr wrap="square" rtlCol="0">
            <a:spAutoFit/>
          </a:bodyPr>
          <a:lstStyle/>
          <a:p>
            <a:r>
              <a:rPr lang="es-CO" sz="2500" dirty="0" smtClean="0"/>
              <a:t>Está correlacionado con el componente no observable del estado nutricional de los niños       </a:t>
            </a:r>
            <a:endParaRPr lang="es-ES" sz="2500" dirty="0"/>
          </a:p>
        </p:txBody>
      </p:sp>
      <p:sp>
        <p:nvSpPr>
          <p:cNvPr id="1029"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1030" name="Rectangle 6"/>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1032" name="Rectangle 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pic>
        <p:nvPicPr>
          <p:cNvPr id="1031" name="Picture 7"/>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8001024" y="5000636"/>
            <a:ext cx="357190" cy="446488"/>
          </a:xfrm>
          <a:prstGeom prst="rect">
            <a:avLst/>
          </a:prstGeom>
          <a:noFill/>
        </p:spPr>
      </p:pic>
      <p:sp>
        <p:nvSpPr>
          <p:cNvPr id="1033" name="Rectangle 9"/>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26" name="25 CuadroTexto"/>
          <p:cNvSpPr txBox="1"/>
          <p:nvPr/>
        </p:nvSpPr>
        <p:spPr>
          <a:xfrm>
            <a:off x="827585" y="5519554"/>
            <a:ext cx="7560839" cy="861774"/>
          </a:xfrm>
          <a:prstGeom prst="rect">
            <a:avLst/>
          </a:prstGeom>
          <a:noFill/>
          <a:ln>
            <a:solidFill>
              <a:schemeClr val="accent1">
                <a:lumMod val="60000"/>
                <a:lumOff val="40000"/>
              </a:schemeClr>
            </a:solidFill>
          </a:ln>
        </p:spPr>
        <p:txBody>
          <a:bodyPr wrap="square" rtlCol="0">
            <a:spAutoFit/>
          </a:bodyPr>
          <a:lstStyle/>
          <a:p>
            <a:pPr algn="ctr"/>
            <a:r>
              <a:rPr lang="es-CO" sz="2500" dirty="0" smtClean="0"/>
              <a:t>El estimador de mínimos cuadrados ordinarios (MCO)</a:t>
            </a:r>
          </a:p>
          <a:p>
            <a:pPr algn="ctr"/>
            <a:r>
              <a:rPr lang="es-CO" sz="2500" dirty="0" smtClean="0"/>
              <a:t>se encuentra subestimado.</a:t>
            </a:r>
            <a:endParaRPr lang="es-ES" sz="2500" dirty="0"/>
          </a:p>
        </p:txBody>
      </p:sp>
      <p:sp>
        <p:nvSpPr>
          <p:cNvPr id="22" name="21 Rectángulo"/>
          <p:cNvSpPr/>
          <p:nvPr/>
        </p:nvSpPr>
        <p:spPr>
          <a:xfrm>
            <a:off x="0" y="6534859"/>
            <a:ext cx="9144032" cy="323165"/>
          </a:xfrm>
          <a:prstGeom prst="rect">
            <a:avLst/>
          </a:prstGeom>
        </p:spPr>
        <p:txBody>
          <a:bodyPr wrap="square">
            <a:spAutoFit/>
          </a:bodyPr>
          <a:lstStyle/>
          <a:p>
            <a:pPr algn="ctr"/>
            <a:r>
              <a:rPr lang="es-CO" sz="1500" dirty="0" smtClean="0">
                <a:solidFill>
                  <a:schemeClr val="tx1">
                    <a:lumMod val="50000"/>
                    <a:lumOff val="50000"/>
                  </a:schemeClr>
                </a:solidFill>
              </a:rPr>
              <a:t>Guía Práctica para la Evaluación de Impacto /Capítulo 9: Funciones de Control/10</a:t>
            </a:r>
            <a:endParaRPr lang="es-ES" sz="1500" dirty="0">
              <a:solidFill>
                <a:schemeClr val="tx1">
                  <a:lumMod val="50000"/>
                  <a:lumOff val="50000"/>
                </a:schemeClr>
              </a:solidFill>
            </a:endParaRPr>
          </a:p>
        </p:txBody>
      </p:sp>
      <mc:AlternateContent xmlns:mc="http://schemas.openxmlformats.org/markup-compatibility/2006" xmlns:a14="http://schemas.microsoft.com/office/drawing/2010/main">
        <mc:Choice Requires="a14">
          <p:sp>
            <p:nvSpPr>
              <p:cNvPr id="2" name="1 CuadroTexto"/>
              <p:cNvSpPr txBox="1"/>
              <p:nvPr/>
            </p:nvSpPr>
            <p:spPr>
              <a:xfrm>
                <a:off x="897815" y="3649754"/>
                <a:ext cx="504369" cy="44627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s-CO" sz="2300" b="0" i="1" smtClean="0">
                              <a:latin typeface="Cambria Math"/>
                            </a:rPr>
                          </m:ctrlPr>
                        </m:sSubPr>
                        <m:e>
                          <m:r>
                            <a:rPr lang="es-CO" sz="2300" b="0" i="1" smtClean="0">
                              <a:latin typeface="Cambria Math"/>
                            </a:rPr>
                            <m:t>𝑣</m:t>
                          </m:r>
                        </m:e>
                        <m:sub>
                          <m:r>
                            <a:rPr lang="es-CO" sz="2300" b="0" i="1" smtClean="0">
                              <a:latin typeface="Cambria Math"/>
                            </a:rPr>
                            <m:t>𝑖</m:t>
                          </m:r>
                        </m:sub>
                      </m:sSub>
                    </m:oMath>
                  </m:oMathPara>
                </a14:m>
                <a:endParaRPr lang="es-CO" sz="2300" dirty="0"/>
              </a:p>
            </p:txBody>
          </p:sp>
        </mc:Choice>
        <mc:Fallback xmlns="">
          <p:sp>
            <p:nvSpPr>
              <p:cNvPr id="2" name="1 CuadroTexto"/>
              <p:cNvSpPr txBox="1">
                <a:spLocks noRot="1" noChangeAspect="1" noMove="1" noResize="1" noEditPoints="1" noAdjustHandles="1" noChangeArrowheads="1" noChangeShapeType="1" noTextEdit="1"/>
              </p:cNvSpPr>
              <p:nvPr/>
            </p:nvSpPr>
            <p:spPr>
              <a:xfrm>
                <a:off x="897815" y="3649754"/>
                <a:ext cx="504369" cy="446276"/>
              </a:xfrm>
              <a:prstGeom prst="rect">
                <a:avLst/>
              </a:prstGeom>
              <a:blipFill rotWithShape="1">
                <a:blip r:embed="rId5" cstate="print"/>
                <a:stretch>
                  <a:fillRect b="-2740"/>
                </a:stretch>
              </a:blipFill>
            </p:spPr>
            <p:txBody>
              <a:bodyPr/>
              <a:lstStyle/>
              <a:p>
                <a:r>
                  <a:rPr lang="es-CO">
                    <a:noFill/>
                  </a:rPr>
                  <a:t> </a:t>
                </a:r>
              </a:p>
            </p:txBody>
          </p:sp>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643050"/>
            <a:ext cx="8229600" cy="4954302"/>
          </a:xfrm>
        </p:spPr>
        <p:txBody>
          <a:bodyPr>
            <a:normAutofit lnSpcReduction="10000"/>
          </a:bodyPr>
          <a:lstStyle/>
          <a:p>
            <a:pPr algn="ctr">
              <a:buNone/>
            </a:pPr>
            <a:r>
              <a:rPr lang="es-CO" sz="2500" dirty="0" smtClean="0"/>
              <a:t>	Consiste en estimar el modelo completo.</a:t>
            </a:r>
          </a:p>
          <a:p>
            <a:pPr algn="ctr">
              <a:buNone/>
            </a:pPr>
            <a:r>
              <a:rPr lang="es-CO" sz="2500" dirty="0" smtClean="0"/>
              <a:t>	</a:t>
            </a:r>
          </a:p>
          <a:p>
            <a:pPr algn="ctr">
              <a:buNone/>
            </a:pPr>
            <a:r>
              <a:rPr lang="es-CO" sz="2500" dirty="0" smtClean="0"/>
              <a:t>Estimar </a:t>
            </a:r>
            <a:r>
              <a:rPr lang="es-CO" sz="2500" u="sng" dirty="0" smtClean="0"/>
              <a:t>conjuntamente</a:t>
            </a:r>
            <a:r>
              <a:rPr lang="es-CO" sz="2500" dirty="0" smtClean="0"/>
              <a:t> la ecuación de resultado y la de participación.</a:t>
            </a:r>
          </a:p>
          <a:p>
            <a:pPr algn="ctr">
              <a:buNone/>
            </a:pPr>
            <a:endParaRPr lang="es-MX" sz="2500" dirty="0" smtClean="0"/>
          </a:p>
          <a:p>
            <a:pPr algn="ctr">
              <a:buNone/>
            </a:pPr>
            <a:endParaRPr lang="es-MX" sz="2500" dirty="0" smtClean="0"/>
          </a:p>
          <a:p>
            <a:pPr algn="ctr">
              <a:buNone/>
            </a:pPr>
            <a:endParaRPr lang="es-MX" sz="2500" dirty="0" smtClean="0"/>
          </a:p>
          <a:p>
            <a:pPr algn="ctr">
              <a:buNone/>
            </a:pPr>
            <a:endParaRPr lang="es-MX" sz="2500" dirty="0" smtClean="0"/>
          </a:p>
          <a:p>
            <a:pPr algn="ctr">
              <a:buNone/>
            </a:pPr>
            <a:endParaRPr lang="es-MX" sz="2500" dirty="0" smtClean="0"/>
          </a:p>
          <a:p>
            <a:pPr algn="ctr">
              <a:buNone/>
            </a:pPr>
            <a:endParaRPr lang="es-MX" sz="2500" dirty="0" smtClean="0"/>
          </a:p>
          <a:p>
            <a:pPr algn="ctr">
              <a:buNone/>
            </a:pPr>
            <a:r>
              <a:rPr lang="es-MX" sz="2500" dirty="0" smtClean="0"/>
              <a:t>El modelo se puede estimar conjuntamente por máxima verosimilitud, o en dos etapas.</a:t>
            </a:r>
            <a:endParaRPr lang="es-ES" sz="2500" dirty="0"/>
          </a:p>
        </p:txBody>
      </p:sp>
      <p:pic>
        <p:nvPicPr>
          <p:cNvPr id="4" name="Picture 1"/>
          <p:cNvPicPr>
            <a:picLocks noChangeAspect="1" noChangeArrowheads="1"/>
          </p:cNvPicPr>
          <p:nvPr/>
        </p:nvPicPr>
        <p:blipFill>
          <a:blip r:embed="rId4" cstate="print"/>
          <a:srcRect/>
          <a:stretch>
            <a:fillRect/>
          </a:stretch>
        </p:blipFill>
        <p:spPr bwMode="auto">
          <a:xfrm>
            <a:off x="0" y="-24"/>
            <a:ext cx="2500298" cy="1189301"/>
          </a:xfrm>
          <a:prstGeom prst="rect">
            <a:avLst/>
          </a:prstGeom>
          <a:noFill/>
          <a:ln w="9525">
            <a:noFill/>
            <a:miter lim="800000"/>
            <a:headEnd/>
            <a:tailEnd/>
          </a:ln>
          <a:effectLst/>
        </p:spPr>
      </p:pic>
      <p:sp>
        <p:nvSpPr>
          <p:cNvPr id="6" name="1 Título"/>
          <p:cNvSpPr>
            <a:spLocks noGrp="1"/>
          </p:cNvSpPr>
          <p:nvPr>
            <p:ph type="title"/>
          </p:nvPr>
        </p:nvSpPr>
        <p:spPr>
          <a:xfrm>
            <a:off x="2571736" y="346076"/>
            <a:ext cx="6143668" cy="1082660"/>
          </a:xfrm>
        </p:spPr>
        <p:txBody>
          <a:bodyPr>
            <a:noAutofit/>
          </a:bodyPr>
          <a:lstStyle/>
          <a:p>
            <a:r>
              <a:rPr lang="es-AR" sz="4200" u="sng" dirty="0" smtClean="0"/>
              <a:t>Método de función de control</a:t>
            </a:r>
            <a:endParaRPr lang="es-AR" sz="4200" u="sng" dirty="0"/>
          </a:p>
        </p:txBody>
      </p:sp>
      <p:sp>
        <p:nvSpPr>
          <p:cNvPr id="7" name="6 Flecha abajo"/>
          <p:cNvSpPr/>
          <p:nvPr/>
        </p:nvSpPr>
        <p:spPr>
          <a:xfrm>
            <a:off x="4643438" y="2143116"/>
            <a:ext cx="428628" cy="357190"/>
          </a:xfrm>
          <a:prstGeom prst="downArrow">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8 CuadroTexto"/>
          <p:cNvSpPr txBox="1"/>
          <p:nvPr/>
        </p:nvSpPr>
        <p:spPr>
          <a:xfrm>
            <a:off x="1042438" y="3929066"/>
            <a:ext cx="1243546" cy="477054"/>
          </a:xfrm>
          <a:prstGeom prst="rect">
            <a:avLst/>
          </a:prstGeom>
          <a:noFill/>
        </p:spPr>
        <p:txBody>
          <a:bodyPr wrap="none" rtlCol="0">
            <a:spAutoFit/>
          </a:bodyPr>
          <a:lstStyle/>
          <a:p>
            <a:r>
              <a:rPr lang="es-CO" sz="2500" dirty="0" smtClean="0"/>
              <a:t>tal que: </a:t>
            </a:r>
            <a:endParaRPr lang="es-ES" sz="2500" dirty="0"/>
          </a:p>
        </p:txBody>
      </p:sp>
      <p:sp>
        <p:nvSpPr>
          <p:cNvPr id="11" name="10 CuadroTexto"/>
          <p:cNvSpPr txBox="1"/>
          <p:nvPr/>
        </p:nvSpPr>
        <p:spPr>
          <a:xfrm>
            <a:off x="1643042" y="4643446"/>
            <a:ext cx="1122423" cy="477054"/>
          </a:xfrm>
          <a:prstGeom prst="rect">
            <a:avLst/>
          </a:prstGeom>
          <a:noFill/>
        </p:spPr>
        <p:txBody>
          <a:bodyPr wrap="none" rtlCol="0">
            <a:spAutoFit/>
          </a:bodyPr>
          <a:lstStyle/>
          <a:p>
            <a:r>
              <a:rPr lang="es-CO" sz="2500" dirty="0" smtClean="0"/>
              <a:t>1       si </a:t>
            </a:r>
            <a:endParaRPr lang="es-ES" sz="2500" dirty="0"/>
          </a:p>
        </p:txBody>
      </p:sp>
      <p:sp>
        <p:nvSpPr>
          <p:cNvPr id="12" name="11 CuadroTexto"/>
          <p:cNvSpPr txBox="1"/>
          <p:nvPr/>
        </p:nvSpPr>
        <p:spPr>
          <a:xfrm>
            <a:off x="1643042" y="5166524"/>
            <a:ext cx="1122423" cy="477054"/>
          </a:xfrm>
          <a:prstGeom prst="rect">
            <a:avLst/>
          </a:prstGeom>
          <a:noFill/>
        </p:spPr>
        <p:txBody>
          <a:bodyPr wrap="none" rtlCol="0">
            <a:spAutoFit/>
          </a:bodyPr>
          <a:lstStyle/>
          <a:p>
            <a:r>
              <a:rPr lang="es-CO" sz="2500" dirty="0" smtClean="0"/>
              <a:t>0       si </a:t>
            </a:r>
            <a:endParaRPr lang="es-ES" sz="2500" dirty="0"/>
          </a:p>
        </p:txBody>
      </p:sp>
      <p:sp>
        <p:nvSpPr>
          <p:cNvPr id="15" name="14 Abrir llave"/>
          <p:cNvSpPr/>
          <p:nvPr/>
        </p:nvSpPr>
        <p:spPr>
          <a:xfrm>
            <a:off x="1500166" y="4572008"/>
            <a:ext cx="214314" cy="107157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2355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2355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22" name="21 CuadroTexto"/>
          <p:cNvSpPr txBox="1"/>
          <p:nvPr/>
        </p:nvSpPr>
        <p:spPr>
          <a:xfrm>
            <a:off x="5143504" y="4857760"/>
            <a:ext cx="330540" cy="477054"/>
          </a:xfrm>
          <a:prstGeom prst="rect">
            <a:avLst/>
          </a:prstGeom>
          <a:noFill/>
        </p:spPr>
        <p:txBody>
          <a:bodyPr wrap="none" rtlCol="0">
            <a:spAutoFit/>
          </a:bodyPr>
          <a:lstStyle/>
          <a:p>
            <a:r>
              <a:rPr lang="es-CO" sz="2500" dirty="0" smtClean="0"/>
              <a:t>y</a:t>
            </a:r>
            <a:endParaRPr lang="es-ES" sz="2500" dirty="0"/>
          </a:p>
        </p:txBody>
      </p:sp>
      <p:sp>
        <p:nvSpPr>
          <p:cNvPr id="23558"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23560"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23" name="22 Rectángulo"/>
          <p:cNvSpPr/>
          <p:nvPr/>
        </p:nvSpPr>
        <p:spPr>
          <a:xfrm>
            <a:off x="0" y="6534859"/>
            <a:ext cx="9144032" cy="323165"/>
          </a:xfrm>
          <a:prstGeom prst="rect">
            <a:avLst/>
          </a:prstGeom>
        </p:spPr>
        <p:txBody>
          <a:bodyPr wrap="square">
            <a:spAutoFit/>
          </a:bodyPr>
          <a:lstStyle/>
          <a:p>
            <a:pPr algn="ctr"/>
            <a:r>
              <a:rPr lang="es-CO" sz="1500" dirty="0" smtClean="0">
                <a:solidFill>
                  <a:schemeClr val="tx1">
                    <a:lumMod val="50000"/>
                    <a:lumOff val="50000"/>
                  </a:schemeClr>
                </a:solidFill>
              </a:rPr>
              <a:t>Guía Práctica para la Evaluación de Impacto /Capítulo 9: Funciones de Control/11</a:t>
            </a:r>
            <a:endParaRPr lang="es-ES" sz="1500" dirty="0">
              <a:solidFill>
                <a:schemeClr val="tx1">
                  <a:lumMod val="50000"/>
                  <a:lumOff val="50000"/>
                </a:schemeClr>
              </a:solidFill>
            </a:endParaRPr>
          </a:p>
        </p:txBody>
      </p:sp>
      <p:graphicFrame>
        <p:nvGraphicFramePr>
          <p:cNvPr id="6146" name="Object 2"/>
          <p:cNvGraphicFramePr>
            <a:graphicFrameLocks noChangeAspect="1"/>
          </p:cNvGraphicFramePr>
          <p:nvPr/>
        </p:nvGraphicFramePr>
        <p:xfrm>
          <a:off x="2571736" y="3503618"/>
          <a:ext cx="6519862" cy="711200"/>
        </p:xfrm>
        <a:graphic>
          <a:graphicData uri="http://schemas.openxmlformats.org/presentationml/2006/ole">
            <mc:AlternateContent xmlns:mc="http://schemas.openxmlformats.org/markup-compatibility/2006">
              <mc:Choice xmlns:v="urn:schemas-microsoft-com:vml" Requires="v">
                <p:oleObj spid="_x0000_s6168" name="Documento" r:id="rId6" imgW="5411304" imgH="589175" progId="Word.Document.12">
                  <p:embed/>
                </p:oleObj>
              </mc:Choice>
              <mc:Fallback>
                <p:oleObj name="Documento" r:id="rId6" imgW="5411304" imgH="589175" progId="Word.Document.12">
                  <p:embed/>
                  <p:pic>
                    <p:nvPicPr>
                      <p:cNvPr id="0" name="Picture 1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71736" y="3503618"/>
                        <a:ext cx="6519862" cy="71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148" name="Object 4"/>
          <p:cNvGraphicFramePr>
            <a:graphicFrameLocks noChangeAspect="1"/>
          </p:cNvGraphicFramePr>
          <p:nvPr/>
        </p:nvGraphicFramePr>
        <p:xfrm>
          <a:off x="388956" y="4643446"/>
          <a:ext cx="6897688" cy="663575"/>
        </p:xfrm>
        <a:graphic>
          <a:graphicData uri="http://schemas.openxmlformats.org/presentationml/2006/ole">
            <mc:AlternateContent xmlns:mc="http://schemas.openxmlformats.org/markup-compatibility/2006">
              <mc:Choice xmlns:v="urn:schemas-microsoft-com:vml" Requires="v">
                <p:oleObj spid="_x0000_s6169" name="Documento" r:id="rId9" imgW="5411304" imgH="520792" progId="Word.Document.12">
                  <p:embed/>
                </p:oleObj>
              </mc:Choice>
              <mc:Fallback>
                <p:oleObj name="Documento" r:id="rId9" imgW="5411304" imgH="520792" progId="Word.Document.12">
                  <p:embed/>
                  <p:pic>
                    <p:nvPicPr>
                      <p:cNvPr id="0" name="Picture 2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8956" y="4643446"/>
                        <a:ext cx="6897688" cy="663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149" name="Object 5"/>
          <p:cNvGraphicFramePr>
            <a:graphicFrameLocks noChangeAspect="1"/>
          </p:cNvGraphicFramePr>
          <p:nvPr/>
        </p:nvGraphicFramePr>
        <p:xfrm>
          <a:off x="388956" y="5194317"/>
          <a:ext cx="6897688" cy="663575"/>
        </p:xfrm>
        <a:graphic>
          <a:graphicData uri="http://schemas.openxmlformats.org/presentationml/2006/ole">
            <mc:AlternateContent xmlns:mc="http://schemas.openxmlformats.org/markup-compatibility/2006">
              <mc:Choice xmlns:v="urn:schemas-microsoft-com:vml" Requires="v">
                <p:oleObj spid="_x0000_s6170" name="Documento" r:id="rId12" imgW="5411304" imgH="520792" progId="Word.Document.12">
                  <p:embed/>
                </p:oleObj>
              </mc:Choice>
              <mc:Fallback>
                <p:oleObj name="Documento" r:id="rId12" imgW="5411304" imgH="520792" progId="Word.Document.12">
                  <p:embed/>
                  <p:pic>
                    <p:nvPicPr>
                      <p:cNvPr id="0" name="Picture 2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88956" y="5194317"/>
                        <a:ext cx="6897688" cy="663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150" name="Object 6"/>
          <p:cNvGraphicFramePr>
            <a:graphicFrameLocks noChangeAspect="1"/>
          </p:cNvGraphicFramePr>
          <p:nvPr/>
        </p:nvGraphicFramePr>
        <p:xfrm>
          <a:off x="-768360" y="4929198"/>
          <a:ext cx="3983038" cy="441325"/>
        </p:xfrm>
        <a:graphic>
          <a:graphicData uri="http://schemas.openxmlformats.org/presentationml/2006/ole">
            <mc:AlternateContent xmlns:mc="http://schemas.openxmlformats.org/markup-compatibility/2006">
              <mc:Choice xmlns:v="urn:schemas-microsoft-com:vml" Requires="v">
                <p:oleObj spid="_x0000_s6171" name="Documento" r:id="rId15" imgW="5301274" imgH="595294" progId="Word.Document.12">
                  <p:embed/>
                </p:oleObj>
              </mc:Choice>
              <mc:Fallback>
                <p:oleObj name="Documento" r:id="rId15" imgW="5301274" imgH="595294" progId="Word.Document.12">
                  <p:embed/>
                  <p:pic>
                    <p:nvPicPr>
                      <p:cNvPr id="0" name="Picture 2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68360" y="4929198"/>
                        <a:ext cx="3983038" cy="44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152" name="Object 8"/>
          <p:cNvGraphicFramePr>
            <a:graphicFrameLocks noChangeAspect="1"/>
          </p:cNvGraphicFramePr>
          <p:nvPr/>
        </p:nvGraphicFramePr>
        <p:xfrm>
          <a:off x="3857620" y="4857765"/>
          <a:ext cx="5943600" cy="642937"/>
        </p:xfrm>
        <a:graphic>
          <a:graphicData uri="http://schemas.openxmlformats.org/presentationml/2006/ole">
            <mc:AlternateContent xmlns:mc="http://schemas.openxmlformats.org/markup-compatibility/2006">
              <mc:Choice xmlns:v="urn:schemas-microsoft-com:vml" Requires="v">
                <p:oleObj spid="_x0000_s6172" name="Documento" r:id="rId18" imgW="5411304" imgH="589175" progId="Word.Document.12">
                  <p:embed/>
                </p:oleObj>
              </mc:Choice>
              <mc:Fallback>
                <p:oleObj name="Documento" r:id="rId18" imgW="5411304" imgH="589175" progId="Word.Document.12">
                  <p:embed/>
                  <p:pic>
                    <p:nvPicPr>
                      <p:cNvPr id="0" name="Picture 23"/>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857620" y="4857765"/>
                        <a:ext cx="5943600" cy="642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normAutofit/>
          </a:bodyPr>
          <a:lstStyle/>
          <a:p>
            <a:pPr>
              <a:buNone/>
            </a:pPr>
            <a:r>
              <a:rPr lang="es-CO" sz="2500" dirty="0" smtClean="0"/>
              <a:t>	Suponiendo que:</a:t>
            </a:r>
            <a:endParaRPr lang="es-ES" sz="2500" dirty="0"/>
          </a:p>
        </p:txBody>
      </p:sp>
      <p:pic>
        <p:nvPicPr>
          <p:cNvPr id="4" name="Picture 1"/>
          <p:cNvPicPr>
            <a:picLocks noChangeAspect="1" noChangeArrowheads="1"/>
          </p:cNvPicPr>
          <p:nvPr/>
        </p:nvPicPr>
        <p:blipFill>
          <a:blip r:embed="rId4" cstate="print"/>
          <a:srcRect/>
          <a:stretch>
            <a:fillRect/>
          </a:stretch>
        </p:blipFill>
        <p:spPr bwMode="auto">
          <a:xfrm>
            <a:off x="0" y="-24"/>
            <a:ext cx="2500298" cy="1189301"/>
          </a:xfrm>
          <a:prstGeom prst="rect">
            <a:avLst/>
          </a:prstGeom>
          <a:noFill/>
          <a:ln w="9525">
            <a:noFill/>
            <a:miter lim="800000"/>
            <a:headEnd/>
            <a:tailEnd/>
          </a:ln>
          <a:effectLst/>
        </p:spPr>
      </p:pic>
      <p:sp>
        <p:nvSpPr>
          <p:cNvPr id="5" name="1 Título"/>
          <p:cNvSpPr>
            <a:spLocks noGrp="1"/>
          </p:cNvSpPr>
          <p:nvPr>
            <p:ph type="title"/>
          </p:nvPr>
        </p:nvSpPr>
        <p:spPr>
          <a:xfrm>
            <a:off x="2571736" y="346076"/>
            <a:ext cx="6143668" cy="1082660"/>
          </a:xfrm>
        </p:spPr>
        <p:txBody>
          <a:bodyPr>
            <a:noAutofit/>
          </a:bodyPr>
          <a:lstStyle/>
          <a:p>
            <a:r>
              <a:rPr lang="es-AR" sz="4200" u="sng" dirty="0" smtClean="0"/>
              <a:t>Método de función de control</a:t>
            </a:r>
            <a:endParaRPr lang="es-AR" sz="4200" u="sng" dirty="0"/>
          </a:p>
        </p:txBody>
      </p:sp>
      <p:sp>
        <p:nvSpPr>
          <p:cNvPr id="2662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10" name="9 CuadroTexto"/>
          <p:cNvSpPr txBox="1"/>
          <p:nvPr/>
        </p:nvSpPr>
        <p:spPr>
          <a:xfrm>
            <a:off x="857224" y="2857496"/>
            <a:ext cx="7643866" cy="769441"/>
          </a:xfrm>
          <a:prstGeom prst="rect">
            <a:avLst/>
          </a:prstGeom>
          <a:noFill/>
        </p:spPr>
        <p:txBody>
          <a:bodyPr wrap="square" rtlCol="0">
            <a:spAutoFit/>
          </a:bodyPr>
          <a:lstStyle/>
          <a:p>
            <a:r>
              <a:rPr lang="es-CO" sz="2200" dirty="0" smtClean="0"/>
              <a:t>Dado el supuesto anterior, el modelo podría estimarse  por máxima verosimilitud.</a:t>
            </a:r>
            <a:endParaRPr lang="es-ES" sz="2200" dirty="0"/>
          </a:p>
        </p:txBody>
      </p:sp>
      <p:sp>
        <p:nvSpPr>
          <p:cNvPr id="26628"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26630" name="Rectangle 6"/>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26631" name="Rectangle 7"/>
          <p:cNvSpPr>
            <a:spLocks noChangeArrowheads="1"/>
          </p:cNvSpPr>
          <p:nvPr/>
        </p:nvSpPr>
        <p:spPr bwMode="auto">
          <a:xfrm>
            <a:off x="-114300" y="9144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26633" name="Rectangle 9"/>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26634" name="Rectangle 10"/>
          <p:cNvSpPr>
            <a:spLocks noChangeArrowheads="1"/>
          </p:cNvSpPr>
          <p:nvPr/>
        </p:nvSpPr>
        <p:spPr bwMode="auto">
          <a:xfrm>
            <a:off x="-114300" y="12954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26636" name="Rectangle 1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26637" name="Rectangle 13"/>
          <p:cNvSpPr>
            <a:spLocks noChangeArrowheads="1"/>
          </p:cNvSpPr>
          <p:nvPr/>
        </p:nvSpPr>
        <p:spPr bwMode="auto">
          <a:xfrm>
            <a:off x="-114300" y="12954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26639" name="Rectangle 1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26640" name="Rectangle 16"/>
          <p:cNvSpPr>
            <a:spLocks noChangeArrowheads="1"/>
          </p:cNvSpPr>
          <p:nvPr/>
        </p:nvSpPr>
        <p:spPr bwMode="auto">
          <a:xfrm>
            <a:off x="-114300" y="12954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20" name="19 Rectángulo"/>
          <p:cNvSpPr/>
          <p:nvPr/>
        </p:nvSpPr>
        <p:spPr>
          <a:xfrm>
            <a:off x="0" y="6534859"/>
            <a:ext cx="9144032" cy="323165"/>
          </a:xfrm>
          <a:prstGeom prst="rect">
            <a:avLst/>
          </a:prstGeom>
        </p:spPr>
        <p:txBody>
          <a:bodyPr wrap="square">
            <a:spAutoFit/>
          </a:bodyPr>
          <a:lstStyle/>
          <a:p>
            <a:pPr algn="ctr"/>
            <a:r>
              <a:rPr lang="es-CO" sz="1500" dirty="0" smtClean="0">
                <a:solidFill>
                  <a:schemeClr val="tx1">
                    <a:lumMod val="50000"/>
                    <a:lumOff val="50000"/>
                  </a:schemeClr>
                </a:solidFill>
              </a:rPr>
              <a:t>Guía Práctica para la Evaluación de Impacto /Capítulo 9: Funciones de Control/12</a:t>
            </a:r>
            <a:endParaRPr lang="es-ES" sz="1500" dirty="0">
              <a:solidFill>
                <a:schemeClr val="tx1">
                  <a:lumMod val="50000"/>
                  <a:lumOff val="50000"/>
                </a:schemeClr>
              </a:solidFill>
            </a:endParaRPr>
          </a:p>
        </p:txBody>
      </p:sp>
      <p:graphicFrame>
        <p:nvGraphicFramePr>
          <p:cNvPr id="7171" name="Object 3"/>
          <p:cNvGraphicFramePr>
            <a:graphicFrameLocks noChangeAspect="1"/>
          </p:cNvGraphicFramePr>
          <p:nvPr/>
        </p:nvGraphicFramePr>
        <p:xfrm>
          <a:off x="803287" y="3714752"/>
          <a:ext cx="6911985" cy="1230735"/>
        </p:xfrm>
        <a:graphic>
          <a:graphicData uri="http://schemas.openxmlformats.org/presentationml/2006/ole">
            <mc:AlternateContent xmlns:mc="http://schemas.openxmlformats.org/markup-compatibility/2006">
              <mc:Choice xmlns:v="urn:schemas-microsoft-com:vml" Requires="v">
                <p:oleObj spid="_x0000_s7184" name="Documento" r:id="rId6" imgW="5414329" imgH="963169" progId="Word.Document.12">
                  <p:embed/>
                </p:oleObj>
              </mc:Choice>
              <mc:Fallback>
                <p:oleObj name="Documento" r:id="rId6" imgW="5414329" imgH="963169" progId="Word.Document.12">
                  <p:embed/>
                  <p:pic>
                    <p:nvPicPr>
                      <p:cNvPr id="0" name="Picture 1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03287" y="3714752"/>
                        <a:ext cx="6911985" cy="12307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172" name="Object 4"/>
          <p:cNvGraphicFramePr>
            <a:graphicFrameLocks noChangeAspect="1"/>
          </p:cNvGraphicFramePr>
          <p:nvPr/>
        </p:nvGraphicFramePr>
        <p:xfrm>
          <a:off x="1303353" y="4857759"/>
          <a:ext cx="6626233" cy="1226505"/>
        </p:xfrm>
        <a:graphic>
          <a:graphicData uri="http://schemas.openxmlformats.org/presentationml/2006/ole">
            <mc:AlternateContent xmlns:mc="http://schemas.openxmlformats.org/markup-compatibility/2006">
              <mc:Choice xmlns:v="urn:schemas-microsoft-com:vml" Requires="v">
                <p:oleObj spid="_x0000_s7185" name="Documento" r:id="rId9" imgW="5411304" imgH="1001634" progId="Word.Document.12">
                  <p:embed/>
                </p:oleObj>
              </mc:Choice>
              <mc:Fallback>
                <p:oleObj name="Documento" r:id="rId9" imgW="5411304" imgH="1001634" progId="Word.Document.12">
                  <p:embed/>
                  <p:pic>
                    <p:nvPicPr>
                      <p:cNvPr id="0" name="Picture 1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303353" y="4857759"/>
                        <a:ext cx="6626233" cy="12265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174" name="Object 6"/>
          <p:cNvGraphicFramePr>
            <a:graphicFrameLocks noChangeAspect="1"/>
          </p:cNvGraphicFramePr>
          <p:nvPr/>
        </p:nvGraphicFramePr>
        <p:xfrm>
          <a:off x="962025" y="2133600"/>
          <a:ext cx="6896100" cy="663575"/>
        </p:xfrm>
        <a:graphic>
          <a:graphicData uri="http://schemas.openxmlformats.org/presentationml/2006/ole">
            <mc:AlternateContent xmlns:mc="http://schemas.openxmlformats.org/markup-compatibility/2006">
              <mc:Choice xmlns:v="urn:schemas-microsoft-com:vml" Requires="v">
                <p:oleObj spid="_x0000_s7186" name="Documento" r:id="rId12" imgW="5397500" imgH="521667" progId="Word.Document.12">
                  <p:embed/>
                </p:oleObj>
              </mc:Choice>
              <mc:Fallback>
                <p:oleObj name="Documento" r:id="rId12" imgW="5397500" imgH="521667" progId="Word.Document.12">
                  <p:embed/>
                  <p:pic>
                    <p:nvPicPr>
                      <p:cNvPr id="0" name="Picture 1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62025" y="2133600"/>
                        <a:ext cx="6896100" cy="663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643050"/>
            <a:ext cx="8229600" cy="4483113"/>
          </a:xfrm>
        </p:spPr>
        <p:txBody>
          <a:bodyPr/>
          <a:lstStyle/>
          <a:p>
            <a:pPr>
              <a:buNone/>
            </a:pPr>
            <a:r>
              <a:rPr lang="es-CO" dirty="0" smtClean="0"/>
              <a:t>	</a:t>
            </a:r>
            <a:r>
              <a:rPr lang="es-CO" sz="2500" dirty="0" smtClean="0"/>
              <a:t>Para identificar este modelo de selección:</a:t>
            </a:r>
          </a:p>
          <a:p>
            <a:pPr>
              <a:buNone/>
            </a:pPr>
            <a:r>
              <a:rPr lang="es-CO" sz="2500" dirty="0" smtClean="0"/>
              <a:t>	</a:t>
            </a:r>
          </a:p>
          <a:p>
            <a:pPr>
              <a:buNone/>
            </a:pPr>
            <a:r>
              <a:rPr lang="es-CO" sz="2500" dirty="0" smtClean="0"/>
              <a:t>	Debe existir, al menos, una variable que:</a:t>
            </a:r>
          </a:p>
          <a:p>
            <a:pPr>
              <a:buNone/>
            </a:pPr>
            <a:r>
              <a:rPr lang="es-CO" sz="2500" dirty="0" smtClean="0"/>
              <a:t>		1. Explique la decisión de participación. </a:t>
            </a:r>
          </a:p>
          <a:p>
            <a:pPr>
              <a:buNone/>
            </a:pPr>
            <a:r>
              <a:rPr lang="es-CO" sz="2500" dirty="0" smtClean="0"/>
              <a:t>		2 . No afecte directamente la variable de resultado.</a:t>
            </a:r>
            <a:endParaRPr lang="es-ES" sz="2500" dirty="0"/>
          </a:p>
        </p:txBody>
      </p:sp>
      <p:pic>
        <p:nvPicPr>
          <p:cNvPr id="4" name="Picture 1"/>
          <p:cNvPicPr>
            <a:picLocks noChangeAspect="1" noChangeArrowheads="1"/>
          </p:cNvPicPr>
          <p:nvPr/>
        </p:nvPicPr>
        <p:blipFill>
          <a:blip r:embed="rId2" cstate="print"/>
          <a:srcRect/>
          <a:stretch>
            <a:fillRect/>
          </a:stretch>
        </p:blipFill>
        <p:spPr bwMode="auto">
          <a:xfrm>
            <a:off x="0" y="-24"/>
            <a:ext cx="2500298" cy="1189301"/>
          </a:xfrm>
          <a:prstGeom prst="rect">
            <a:avLst/>
          </a:prstGeom>
          <a:noFill/>
          <a:ln w="9525">
            <a:noFill/>
            <a:miter lim="800000"/>
            <a:headEnd/>
            <a:tailEnd/>
          </a:ln>
          <a:effectLst/>
        </p:spPr>
      </p:pic>
      <p:sp>
        <p:nvSpPr>
          <p:cNvPr id="5" name="1 Título"/>
          <p:cNvSpPr>
            <a:spLocks noGrp="1"/>
          </p:cNvSpPr>
          <p:nvPr>
            <p:ph type="title"/>
          </p:nvPr>
        </p:nvSpPr>
        <p:spPr>
          <a:xfrm>
            <a:off x="2571736" y="346076"/>
            <a:ext cx="6143668" cy="1082660"/>
          </a:xfrm>
        </p:spPr>
        <p:txBody>
          <a:bodyPr>
            <a:noAutofit/>
          </a:bodyPr>
          <a:lstStyle/>
          <a:p>
            <a:r>
              <a:rPr lang="es-AR" sz="4200" u="sng" dirty="0" smtClean="0"/>
              <a:t>Condición fundamental de identificación</a:t>
            </a:r>
            <a:endParaRPr lang="es-AR" sz="4200" u="sng" dirty="0"/>
          </a:p>
        </p:txBody>
      </p:sp>
      <p:cxnSp>
        <p:nvCxnSpPr>
          <p:cNvPr id="7" name="6 Conector recto"/>
          <p:cNvCxnSpPr/>
          <p:nvPr/>
        </p:nvCxnSpPr>
        <p:spPr>
          <a:xfrm rot="5400000">
            <a:off x="785786" y="3500438"/>
            <a:ext cx="57150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8 Conector recto de flecha"/>
          <p:cNvCxnSpPr/>
          <p:nvPr/>
        </p:nvCxnSpPr>
        <p:spPr>
          <a:xfrm>
            <a:off x="1071538" y="3357562"/>
            <a:ext cx="28575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 name="9 Conector recto de flecha"/>
          <p:cNvCxnSpPr/>
          <p:nvPr/>
        </p:nvCxnSpPr>
        <p:spPr>
          <a:xfrm>
            <a:off x="1071538" y="3786190"/>
            <a:ext cx="28575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11 Conector recto"/>
          <p:cNvCxnSpPr/>
          <p:nvPr/>
        </p:nvCxnSpPr>
        <p:spPr>
          <a:xfrm>
            <a:off x="785786" y="3214686"/>
            <a:ext cx="28575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13 Conector recto"/>
          <p:cNvCxnSpPr/>
          <p:nvPr/>
        </p:nvCxnSpPr>
        <p:spPr>
          <a:xfrm rot="5400000" flipH="1" flipV="1">
            <a:off x="678629" y="3107529"/>
            <a:ext cx="2143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15 Conector recto"/>
          <p:cNvCxnSpPr/>
          <p:nvPr/>
        </p:nvCxnSpPr>
        <p:spPr>
          <a:xfrm>
            <a:off x="785786" y="3000372"/>
            <a:ext cx="71438" cy="0"/>
          </a:xfrm>
          <a:prstGeom prst="line">
            <a:avLst/>
          </a:prstGeom>
        </p:spPr>
        <p:style>
          <a:lnRef idx="1">
            <a:schemeClr val="accent1"/>
          </a:lnRef>
          <a:fillRef idx="0">
            <a:schemeClr val="accent1"/>
          </a:fillRef>
          <a:effectRef idx="0">
            <a:schemeClr val="accent1"/>
          </a:effectRef>
          <a:fontRef idx="minor">
            <a:schemeClr val="tx1"/>
          </a:fontRef>
        </p:style>
      </p:cxnSp>
      <p:sp>
        <p:nvSpPr>
          <p:cNvPr id="17" name="16 CuadroTexto"/>
          <p:cNvSpPr txBox="1"/>
          <p:nvPr/>
        </p:nvSpPr>
        <p:spPr>
          <a:xfrm>
            <a:off x="988560" y="4286256"/>
            <a:ext cx="7378367" cy="477054"/>
          </a:xfrm>
          <a:prstGeom prst="rect">
            <a:avLst/>
          </a:prstGeom>
          <a:noFill/>
          <a:ln>
            <a:solidFill>
              <a:schemeClr val="accent1">
                <a:lumMod val="60000"/>
                <a:lumOff val="40000"/>
              </a:schemeClr>
            </a:solidFill>
          </a:ln>
        </p:spPr>
        <p:txBody>
          <a:bodyPr wrap="none" rtlCol="0">
            <a:spAutoFit/>
          </a:bodyPr>
          <a:lstStyle/>
          <a:p>
            <a:r>
              <a:rPr lang="es-CO" sz="2500" dirty="0" smtClean="0"/>
              <a:t>Debe al menos existir un </a:t>
            </a:r>
            <a:r>
              <a:rPr lang="es-CO" sz="2500" i="1" dirty="0" smtClean="0"/>
              <a:t>Z</a:t>
            </a:r>
            <a:r>
              <a:rPr lang="es-CO" sz="2500" dirty="0" smtClean="0"/>
              <a:t> que no esté contenido en </a:t>
            </a:r>
            <a:r>
              <a:rPr lang="es-CO" sz="2500" i="1" dirty="0" smtClean="0"/>
              <a:t>X.</a:t>
            </a:r>
            <a:endParaRPr lang="es-ES" sz="2500" i="1" dirty="0"/>
          </a:p>
        </p:txBody>
      </p:sp>
      <p:sp>
        <p:nvSpPr>
          <p:cNvPr id="18" name="17 Flecha abajo"/>
          <p:cNvSpPr/>
          <p:nvPr/>
        </p:nvSpPr>
        <p:spPr>
          <a:xfrm>
            <a:off x="4286248" y="4857760"/>
            <a:ext cx="428628" cy="357190"/>
          </a:xfrm>
          <a:prstGeom prst="downArrow">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9" name="18 CuadroTexto"/>
          <p:cNvSpPr txBox="1"/>
          <p:nvPr/>
        </p:nvSpPr>
        <p:spPr>
          <a:xfrm>
            <a:off x="2857488" y="5237962"/>
            <a:ext cx="3286028" cy="477054"/>
          </a:xfrm>
          <a:prstGeom prst="rect">
            <a:avLst/>
          </a:prstGeom>
          <a:noFill/>
          <a:ln>
            <a:solidFill>
              <a:schemeClr val="accent1">
                <a:lumMod val="60000"/>
                <a:lumOff val="40000"/>
              </a:schemeClr>
            </a:solidFill>
          </a:ln>
        </p:spPr>
        <p:txBody>
          <a:bodyPr wrap="none" rtlCol="0">
            <a:spAutoFit/>
          </a:bodyPr>
          <a:lstStyle/>
          <a:p>
            <a:r>
              <a:rPr lang="es-CO" sz="2500" dirty="0" smtClean="0"/>
              <a:t>Restricción de exclusión</a:t>
            </a:r>
            <a:endParaRPr lang="es-ES" sz="2500" dirty="0"/>
          </a:p>
        </p:txBody>
      </p:sp>
      <p:sp>
        <p:nvSpPr>
          <p:cNvPr id="15" name="14 Rectángulo"/>
          <p:cNvSpPr/>
          <p:nvPr/>
        </p:nvSpPr>
        <p:spPr>
          <a:xfrm>
            <a:off x="0" y="6534859"/>
            <a:ext cx="9144032" cy="323165"/>
          </a:xfrm>
          <a:prstGeom prst="rect">
            <a:avLst/>
          </a:prstGeom>
        </p:spPr>
        <p:txBody>
          <a:bodyPr wrap="square">
            <a:spAutoFit/>
          </a:bodyPr>
          <a:lstStyle/>
          <a:p>
            <a:pPr algn="ctr"/>
            <a:r>
              <a:rPr lang="es-CO" sz="1500" dirty="0" smtClean="0">
                <a:solidFill>
                  <a:schemeClr val="tx1">
                    <a:lumMod val="50000"/>
                    <a:lumOff val="50000"/>
                  </a:schemeClr>
                </a:solidFill>
              </a:rPr>
              <a:t>Guía Práctica para la Evaluación de Impacto /Capítulo 9: Funciones de Control/13</a:t>
            </a:r>
            <a:endParaRPr lang="es-ES" sz="1500" dirty="0">
              <a:solidFill>
                <a:schemeClr val="tx1">
                  <a:lumMod val="50000"/>
                  <a:lumOff val="50000"/>
                </a:schemeClr>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571612"/>
            <a:ext cx="8229600" cy="4554551"/>
          </a:xfrm>
        </p:spPr>
        <p:txBody>
          <a:bodyPr>
            <a:normAutofit/>
          </a:bodyPr>
          <a:lstStyle/>
          <a:p>
            <a:pPr algn="ctr">
              <a:buNone/>
            </a:pPr>
            <a:r>
              <a:rPr lang="es-CO" sz="2500" dirty="0" smtClean="0"/>
              <a:t>	</a:t>
            </a:r>
          </a:p>
          <a:p>
            <a:pPr algn="ctr">
              <a:buNone/>
            </a:pPr>
            <a:r>
              <a:rPr lang="es-CO" sz="2500" dirty="0" smtClean="0"/>
              <a:t>Cuando se incluye la función de control en</a:t>
            </a:r>
          </a:p>
          <a:p>
            <a:pPr algn="ctr">
              <a:buNone/>
            </a:pPr>
            <a:endParaRPr lang="es-CO" sz="2500" dirty="0" smtClean="0"/>
          </a:p>
          <a:p>
            <a:pPr algn="ctr">
              <a:buNone/>
            </a:pPr>
            <a:r>
              <a:rPr lang="es-CO" sz="2500" dirty="0" smtClean="0"/>
              <a:t>	La función de verosimilitud</a:t>
            </a:r>
          </a:p>
          <a:p>
            <a:pPr algn="ctr">
              <a:buNone/>
            </a:pPr>
            <a:endParaRPr lang="es-CO" sz="2500" dirty="0" smtClean="0"/>
          </a:p>
          <a:p>
            <a:pPr algn="ctr">
              <a:buNone/>
            </a:pPr>
            <a:r>
              <a:rPr lang="es-CO" sz="2500" dirty="0" smtClean="0"/>
              <a:t>	Se controla por el componente no observado en la estimación de la ecuación de resultado.</a:t>
            </a:r>
          </a:p>
          <a:p>
            <a:pPr algn="just">
              <a:buNone/>
            </a:pPr>
            <a:endParaRPr lang="es-CO" sz="2500" dirty="0" smtClean="0"/>
          </a:p>
        </p:txBody>
      </p:sp>
      <p:pic>
        <p:nvPicPr>
          <p:cNvPr id="4" name="Picture 1"/>
          <p:cNvPicPr>
            <a:picLocks noChangeAspect="1" noChangeArrowheads="1"/>
          </p:cNvPicPr>
          <p:nvPr/>
        </p:nvPicPr>
        <p:blipFill>
          <a:blip r:embed="rId2" cstate="print"/>
          <a:srcRect/>
          <a:stretch>
            <a:fillRect/>
          </a:stretch>
        </p:blipFill>
        <p:spPr bwMode="auto">
          <a:xfrm>
            <a:off x="0" y="-24"/>
            <a:ext cx="2500298" cy="1189301"/>
          </a:xfrm>
          <a:prstGeom prst="rect">
            <a:avLst/>
          </a:prstGeom>
          <a:noFill/>
          <a:ln w="9525">
            <a:noFill/>
            <a:miter lim="800000"/>
            <a:headEnd/>
            <a:tailEnd/>
          </a:ln>
          <a:effectLst/>
        </p:spPr>
      </p:pic>
      <p:sp>
        <p:nvSpPr>
          <p:cNvPr id="6" name="1 Título"/>
          <p:cNvSpPr>
            <a:spLocks noGrp="1"/>
          </p:cNvSpPr>
          <p:nvPr>
            <p:ph type="title"/>
          </p:nvPr>
        </p:nvSpPr>
        <p:spPr>
          <a:xfrm>
            <a:off x="1979712" y="142852"/>
            <a:ext cx="6143668" cy="1082660"/>
          </a:xfrm>
        </p:spPr>
        <p:txBody>
          <a:bodyPr>
            <a:noAutofit/>
          </a:bodyPr>
          <a:lstStyle/>
          <a:p>
            <a:r>
              <a:rPr lang="es-AR" sz="4200" u="sng" dirty="0" smtClean="0"/>
              <a:t>Intuición</a:t>
            </a:r>
            <a:endParaRPr lang="es-AR" sz="4200" u="sng" dirty="0"/>
          </a:p>
        </p:txBody>
      </p:sp>
      <p:sp>
        <p:nvSpPr>
          <p:cNvPr id="7" name="6 Flecha abajo"/>
          <p:cNvSpPr/>
          <p:nvPr/>
        </p:nvSpPr>
        <p:spPr>
          <a:xfrm>
            <a:off x="4643438" y="2571744"/>
            <a:ext cx="428628" cy="357190"/>
          </a:xfrm>
          <a:prstGeom prst="downArrow">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7 Flecha abajo"/>
          <p:cNvSpPr/>
          <p:nvPr/>
        </p:nvSpPr>
        <p:spPr>
          <a:xfrm>
            <a:off x="4643438" y="3429000"/>
            <a:ext cx="428628" cy="357190"/>
          </a:xfrm>
          <a:prstGeom prst="downArrow">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8 Rectángulo"/>
          <p:cNvSpPr/>
          <p:nvPr/>
        </p:nvSpPr>
        <p:spPr>
          <a:xfrm>
            <a:off x="0" y="6534859"/>
            <a:ext cx="9144032" cy="323165"/>
          </a:xfrm>
          <a:prstGeom prst="rect">
            <a:avLst/>
          </a:prstGeom>
        </p:spPr>
        <p:txBody>
          <a:bodyPr wrap="square">
            <a:spAutoFit/>
          </a:bodyPr>
          <a:lstStyle/>
          <a:p>
            <a:pPr algn="ctr"/>
            <a:r>
              <a:rPr lang="es-CO" sz="1500" dirty="0" smtClean="0">
                <a:solidFill>
                  <a:schemeClr val="tx1">
                    <a:lumMod val="50000"/>
                    <a:lumOff val="50000"/>
                  </a:schemeClr>
                </a:solidFill>
              </a:rPr>
              <a:t>Guía Práctica para la Evaluación de Impacto /Capítulo 9: Funciones de Control/14</a:t>
            </a:r>
            <a:endParaRPr lang="es-ES" sz="1500" dirty="0">
              <a:solidFill>
                <a:schemeClr val="tx1">
                  <a:lumMod val="50000"/>
                  <a:lumOff val="50000"/>
                </a:schemeClr>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857364"/>
            <a:ext cx="8229600" cy="4268799"/>
          </a:xfrm>
        </p:spPr>
        <p:txBody>
          <a:bodyPr/>
          <a:lstStyle/>
          <a:p>
            <a:pPr algn="just">
              <a:buNone/>
            </a:pPr>
            <a:r>
              <a:rPr lang="es-CO" dirty="0" smtClean="0"/>
              <a:t>	</a:t>
            </a:r>
            <a:r>
              <a:rPr lang="es-CO" sz="2500" u="sng" dirty="0" smtClean="0"/>
              <a:t>Primera etapa</a:t>
            </a:r>
            <a:r>
              <a:rPr lang="es-CO" sz="2500" dirty="0" smtClean="0"/>
              <a:t>: Estimar la ecuación de participación.</a:t>
            </a:r>
          </a:p>
          <a:p>
            <a:pPr algn="just">
              <a:buNone/>
            </a:pPr>
            <a:r>
              <a:rPr lang="es-CO" sz="2500" dirty="0" smtClean="0"/>
              <a:t>		       </a:t>
            </a:r>
          </a:p>
          <a:p>
            <a:pPr algn="ctr">
              <a:buNone/>
            </a:pPr>
            <a:endParaRPr lang="es-CO" sz="2500" dirty="0" smtClean="0"/>
          </a:p>
          <a:p>
            <a:pPr algn="ctr">
              <a:buNone/>
            </a:pPr>
            <a:r>
              <a:rPr lang="es-CO" sz="2500" dirty="0" smtClean="0"/>
              <a:t>		</a:t>
            </a:r>
          </a:p>
          <a:p>
            <a:pPr algn="ctr">
              <a:buNone/>
            </a:pPr>
            <a:r>
              <a:rPr lang="es-CO" sz="2500" dirty="0" smtClean="0"/>
              <a:t>	</a:t>
            </a:r>
          </a:p>
          <a:p>
            <a:pPr algn="ctr">
              <a:buNone/>
            </a:pPr>
            <a:endParaRPr lang="es-CO" sz="2500" u="sng" dirty="0" smtClean="0"/>
          </a:p>
          <a:p>
            <a:pPr algn="ctr">
              <a:buNone/>
            </a:pPr>
            <a:r>
              <a:rPr lang="es-CO" sz="2500" u="sng" dirty="0" smtClean="0"/>
              <a:t>Segunda etapa</a:t>
            </a:r>
            <a:r>
              <a:rPr lang="es-CO" sz="2500" dirty="0" smtClean="0"/>
              <a:t>: Estimar la ecuación de resultado utilizando como regresor adicional          . </a:t>
            </a:r>
          </a:p>
          <a:p>
            <a:pPr algn="ctr">
              <a:buNone/>
            </a:pPr>
            <a:r>
              <a:rPr lang="es-CO" sz="2500" dirty="0" smtClean="0"/>
              <a:t> </a:t>
            </a:r>
            <a:endParaRPr lang="es-ES" dirty="0"/>
          </a:p>
        </p:txBody>
      </p:sp>
      <p:pic>
        <p:nvPicPr>
          <p:cNvPr id="4" name="Picture 1"/>
          <p:cNvPicPr>
            <a:picLocks noChangeAspect="1" noChangeArrowheads="1"/>
          </p:cNvPicPr>
          <p:nvPr/>
        </p:nvPicPr>
        <p:blipFill>
          <a:blip r:embed="rId3" cstate="print"/>
          <a:srcRect/>
          <a:stretch>
            <a:fillRect/>
          </a:stretch>
        </p:blipFill>
        <p:spPr bwMode="auto">
          <a:xfrm>
            <a:off x="0" y="-24"/>
            <a:ext cx="2500298" cy="1189301"/>
          </a:xfrm>
          <a:prstGeom prst="rect">
            <a:avLst/>
          </a:prstGeom>
          <a:noFill/>
          <a:ln w="9525">
            <a:noFill/>
            <a:miter lim="800000"/>
            <a:headEnd/>
            <a:tailEnd/>
          </a:ln>
          <a:effectLst/>
        </p:spPr>
      </p:pic>
      <p:sp>
        <p:nvSpPr>
          <p:cNvPr id="5" name="1 Título"/>
          <p:cNvSpPr>
            <a:spLocks noGrp="1"/>
          </p:cNvSpPr>
          <p:nvPr>
            <p:ph type="title"/>
          </p:nvPr>
        </p:nvSpPr>
        <p:spPr>
          <a:xfrm>
            <a:off x="2428860" y="203200"/>
            <a:ext cx="6143668" cy="1082660"/>
          </a:xfrm>
        </p:spPr>
        <p:txBody>
          <a:bodyPr>
            <a:noAutofit/>
          </a:bodyPr>
          <a:lstStyle/>
          <a:p>
            <a:r>
              <a:rPr lang="es-AR" sz="4200" u="sng" dirty="0" smtClean="0"/>
              <a:t>Pensando en la estimación como una de dos etapas</a:t>
            </a:r>
            <a:endParaRPr lang="es-AR" sz="4200" u="sng" dirty="0"/>
          </a:p>
        </p:txBody>
      </p:sp>
      <p:sp>
        <p:nvSpPr>
          <p:cNvPr id="102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1027" name="Rectangle 3"/>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cxnSp>
        <p:nvCxnSpPr>
          <p:cNvPr id="13" name="12 Conector recto de flecha"/>
          <p:cNvCxnSpPr/>
          <p:nvPr/>
        </p:nvCxnSpPr>
        <p:spPr>
          <a:xfrm>
            <a:off x="2500298" y="4070354"/>
            <a:ext cx="428628"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029"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1030" name="Rectangle 6"/>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18" name="17 CuadroTexto"/>
          <p:cNvSpPr txBox="1"/>
          <p:nvPr/>
        </p:nvSpPr>
        <p:spPr>
          <a:xfrm>
            <a:off x="1584027" y="3786190"/>
            <a:ext cx="6559873" cy="477054"/>
          </a:xfrm>
          <a:prstGeom prst="rect">
            <a:avLst/>
          </a:prstGeom>
          <a:noFill/>
        </p:spPr>
        <p:txBody>
          <a:bodyPr wrap="none" rtlCol="0">
            <a:spAutoFit/>
          </a:bodyPr>
          <a:lstStyle/>
          <a:p>
            <a:r>
              <a:rPr lang="es-CO" sz="2500" dirty="0" smtClean="0"/>
              <a:t>Con               Se forma la función de control          . </a:t>
            </a:r>
            <a:endParaRPr lang="es-ES" sz="2500" dirty="0"/>
          </a:p>
        </p:txBody>
      </p:sp>
      <p:sp>
        <p:nvSpPr>
          <p:cNvPr id="20" name="19 CuadroTexto"/>
          <p:cNvSpPr txBox="1"/>
          <p:nvPr/>
        </p:nvSpPr>
        <p:spPr>
          <a:xfrm>
            <a:off x="1857356" y="3103575"/>
            <a:ext cx="5666167" cy="477054"/>
          </a:xfrm>
          <a:prstGeom prst="rect">
            <a:avLst/>
          </a:prstGeom>
          <a:noFill/>
        </p:spPr>
        <p:txBody>
          <a:bodyPr wrap="none" rtlCol="0">
            <a:spAutoFit/>
          </a:bodyPr>
          <a:lstStyle/>
          <a:p>
            <a:r>
              <a:rPr lang="es-CO" sz="2500" dirty="0" smtClean="0"/>
              <a:t>De la ecuación anterior estimar el error    .</a:t>
            </a:r>
            <a:endParaRPr lang="es-ES" dirty="0"/>
          </a:p>
        </p:txBody>
      </p:sp>
      <p:sp>
        <p:nvSpPr>
          <p:cNvPr id="21" name="20 Rectángulo"/>
          <p:cNvSpPr/>
          <p:nvPr/>
        </p:nvSpPr>
        <p:spPr>
          <a:xfrm>
            <a:off x="0" y="6534859"/>
            <a:ext cx="9144032" cy="323165"/>
          </a:xfrm>
          <a:prstGeom prst="rect">
            <a:avLst/>
          </a:prstGeom>
        </p:spPr>
        <p:txBody>
          <a:bodyPr wrap="square">
            <a:spAutoFit/>
          </a:bodyPr>
          <a:lstStyle/>
          <a:p>
            <a:pPr algn="ctr"/>
            <a:r>
              <a:rPr lang="es-CO" sz="1500" dirty="0" smtClean="0">
                <a:solidFill>
                  <a:schemeClr val="tx1">
                    <a:lumMod val="50000"/>
                    <a:lumOff val="50000"/>
                  </a:schemeClr>
                </a:solidFill>
              </a:rPr>
              <a:t>Guía Práctica para la Evaluación de Impacto /Capítulo 9: Funciones de Control/15</a:t>
            </a:r>
            <a:endParaRPr lang="es-ES" sz="1500" dirty="0">
              <a:solidFill>
                <a:schemeClr val="tx1">
                  <a:lumMod val="50000"/>
                  <a:lumOff val="50000"/>
                </a:schemeClr>
              </a:solidFill>
            </a:endParaRPr>
          </a:p>
        </p:txBody>
      </p:sp>
      <p:sp>
        <p:nvSpPr>
          <p:cNvPr id="8197"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graphicFrame>
        <p:nvGraphicFramePr>
          <p:cNvPr id="8199" name="Object 7"/>
          <p:cNvGraphicFramePr>
            <a:graphicFrameLocks noChangeAspect="1"/>
          </p:cNvGraphicFramePr>
          <p:nvPr/>
        </p:nvGraphicFramePr>
        <p:xfrm>
          <a:off x="4500562" y="3786190"/>
          <a:ext cx="6143668" cy="591119"/>
        </p:xfrm>
        <a:graphic>
          <a:graphicData uri="http://schemas.openxmlformats.org/presentationml/2006/ole">
            <mc:AlternateContent xmlns:mc="http://schemas.openxmlformats.org/markup-compatibility/2006">
              <mc:Choice xmlns:v="urn:schemas-microsoft-com:vml" Requires="v">
                <p:oleObj spid="_x0000_s8219" name="Documento" r:id="rId5" imgW="5400403" imgH="520939" progId="Word.Document.12">
                  <p:embed/>
                </p:oleObj>
              </mc:Choice>
              <mc:Fallback>
                <p:oleObj name="Documento" r:id="rId5" imgW="5400403" imgH="520939" progId="Word.Document.12">
                  <p:embed/>
                  <p:pic>
                    <p:nvPicPr>
                      <p:cNvPr id="0" name="Picture 2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00562" y="3786190"/>
                        <a:ext cx="6143668" cy="5911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200" name="Object 8"/>
          <p:cNvGraphicFramePr>
            <a:graphicFrameLocks noChangeAspect="1"/>
          </p:cNvGraphicFramePr>
          <p:nvPr/>
        </p:nvGraphicFramePr>
        <p:xfrm>
          <a:off x="3286159" y="5072074"/>
          <a:ext cx="6143625" cy="590550"/>
        </p:xfrm>
        <a:graphic>
          <a:graphicData uri="http://schemas.openxmlformats.org/presentationml/2006/ole">
            <mc:AlternateContent xmlns:mc="http://schemas.openxmlformats.org/markup-compatibility/2006">
              <mc:Choice xmlns:v="urn:schemas-microsoft-com:vml" Requires="v">
                <p:oleObj spid="_x0000_s8220" name="Documento" r:id="rId8" imgW="5411304" imgH="520792" progId="Word.Document.12">
                  <p:embed/>
                </p:oleObj>
              </mc:Choice>
              <mc:Fallback>
                <p:oleObj name="Documento" r:id="rId8" imgW="5411304" imgH="520792" progId="Word.Document.12">
                  <p:embed/>
                  <p:pic>
                    <p:nvPicPr>
                      <p:cNvPr id="0" name="Picture 2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86159" y="5072074"/>
                        <a:ext cx="6143625" cy="590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201" name="Object 9"/>
          <p:cNvGraphicFramePr>
            <a:graphicFrameLocks noChangeAspect="1"/>
          </p:cNvGraphicFramePr>
          <p:nvPr/>
        </p:nvGraphicFramePr>
        <p:xfrm>
          <a:off x="785813" y="2428875"/>
          <a:ext cx="7424737" cy="714375"/>
        </p:xfrm>
        <a:graphic>
          <a:graphicData uri="http://schemas.openxmlformats.org/presentationml/2006/ole">
            <mc:AlternateContent xmlns:mc="http://schemas.openxmlformats.org/markup-compatibility/2006">
              <mc:Choice xmlns:v="urn:schemas-microsoft-com:vml" Requires="v">
                <p:oleObj spid="_x0000_s8221" name="Documento" r:id="rId11" imgW="5397500" imgH="521667" progId="Word.Document.12">
                  <p:embed/>
                </p:oleObj>
              </mc:Choice>
              <mc:Fallback>
                <p:oleObj name="Documento" r:id="rId11" imgW="5397500" imgH="521667" progId="Word.Document.12">
                  <p:embed/>
                  <p:pic>
                    <p:nvPicPr>
                      <p:cNvPr id="0" name="Picture 2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85813" y="2428875"/>
                        <a:ext cx="7424737" cy="71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202" name="Object 10"/>
          <p:cNvGraphicFramePr>
            <a:graphicFrameLocks noChangeAspect="1"/>
          </p:cNvGraphicFramePr>
          <p:nvPr/>
        </p:nvGraphicFramePr>
        <p:xfrm>
          <a:off x="3857625" y="3143250"/>
          <a:ext cx="6681788" cy="642938"/>
        </p:xfrm>
        <a:graphic>
          <a:graphicData uri="http://schemas.openxmlformats.org/presentationml/2006/ole">
            <mc:AlternateContent xmlns:mc="http://schemas.openxmlformats.org/markup-compatibility/2006">
              <mc:Choice xmlns:v="urn:schemas-microsoft-com:vml" Requires="v">
                <p:oleObj spid="_x0000_s8222" name="Documento" r:id="rId14" imgW="5397500" imgH="521667" progId="Word.Document.12">
                  <p:embed/>
                </p:oleObj>
              </mc:Choice>
              <mc:Fallback>
                <p:oleObj name="Documento" r:id="rId14" imgW="5397500" imgH="521667" progId="Word.Document.12">
                  <p:embed/>
                  <p:pic>
                    <p:nvPicPr>
                      <p:cNvPr id="0" name="Picture 2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857625" y="3143250"/>
                        <a:ext cx="6681788" cy="642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203" name="Object 11"/>
          <p:cNvGraphicFramePr>
            <a:graphicFrameLocks noChangeAspect="1"/>
          </p:cNvGraphicFramePr>
          <p:nvPr/>
        </p:nvGraphicFramePr>
        <p:xfrm>
          <a:off x="-1000125" y="3786188"/>
          <a:ext cx="6681788" cy="642937"/>
        </p:xfrm>
        <a:graphic>
          <a:graphicData uri="http://schemas.openxmlformats.org/presentationml/2006/ole">
            <mc:AlternateContent xmlns:mc="http://schemas.openxmlformats.org/markup-compatibility/2006">
              <mc:Choice xmlns:v="urn:schemas-microsoft-com:vml" Requires="v">
                <p:oleObj spid="_x0000_s8223" name="Documento" r:id="rId17" imgW="5397500" imgH="521667" progId="Word.Document.12">
                  <p:embed/>
                </p:oleObj>
              </mc:Choice>
              <mc:Fallback>
                <p:oleObj name="Documento" r:id="rId17" imgW="5397500" imgH="521667" progId="Word.Document.12">
                  <p:embed/>
                  <p:pic>
                    <p:nvPicPr>
                      <p:cNvPr id="0" name="Picture 2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000125" y="3786188"/>
                        <a:ext cx="6681788" cy="642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normAutofit/>
          </a:bodyPr>
          <a:lstStyle/>
          <a:p>
            <a:pPr>
              <a:buNone/>
            </a:pPr>
            <a:r>
              <a:rPr lang="es-CO" sz="2500" dirty="0" smtClean="0"/>
              <a:t>	Lo que se requiere para que:</a:t>
            </a:r>
          </a:p>
          <a:p>
            <a:pPr>
              <a:buNone/>
            </a:pPr>
            <a:r>
              <a:rPr lang="es-CO" sz="2500" dirty="0" smtClean="0"/>
              <a:t>	</a:t>
            </a:r>
          </a:p>
          <a:p>
            <a:pPr>
              <a:buNone/>
            </a:pPr>
            <a:r>
              <a:rPr lang="es-CO" sz="2500" dirty="0" smtClean="0"/>
              <a:t>	es que: </a:t>
            </a:r>
          </a:p>
          <a:p>
            <a:pPr>
              <a:buNone/>
            </a:pPr>
            <a:endParaRPr lang="es-CO" sz="2500" dirty="0" smtClean="0"/>
          </a:p>
          <a:p>
            <a:pPr>
              <a:buNone/>
            </a:pPr>
            <a:endParaRPr lang="es-CO" sz="2500" dirty="0" smtClean="0"/>
          </a:p>
          <a:p>
            <a:pPr>
              <a:buNone/>
            </a:pPr>
            <a:endParaRPr lang="es-CO" sz="2500" dirty="0" smtClean="0"/>
          </a:p>
          <a:p>
            <a:pPr>
              <a:buNone/>
            </a:pPr>
            <a:r>
              <a:rPr lang="es-CO" sz="2500" dirty="0" smtClean="0"/>
              <a:t>	Note que:   	</a:t>
            </a:r>
            <a:endParaRPr lang="es-ES" sz="2500" dirty="0"/>
          </a:p>
        </p:txBody>
      </p:sp>
      <p:pic>
        <p:nvPicPr>
          <p:cNvPr id="4" name="Picture 1"/>
          <p:cNvPicPr>
            <a:picLocks noChangeAspect="1" noChangeArrowheads="1"/>
          </p:cNvPicPr>
          <p:nvPr/>
        </p:nvPicPr>
        <p:blipFill>
          <a:blip r:embed="rId3" cstate="print"/>
          <a:srcRect/>
          <a:stretch>
            <a:fillRect/>
          </a:stretch>
        </p:blipFill>
        <p:spPr bwMode="auto">
          <a:xfrm>
            <a:off x="0" y="-24"/>
            <a:ext cx="2500298" cy="1189301"/>
          </a:xfrm>
          <a:prstGeom prst="rect">
            <a:avLst/>
          </a:prstGeom>
          <a:noFill/>
          <a:ln w="9525">
            <a:noFill/>
            <a:miter lim="800000"/>
            <a:headEnd/>
            <a:tailEnd/>
          </a:ln>
          <a:effectLst/>
        </p:spPr>
      </p:pic>
      <p:sp>
        <p:nvSpPr>
          <p:cNvPr id="5" name="1 Título"/>
          <p:cNvSpPr>
            <a:spLocks noGrp="1"/>
          </p:cNvSpPr>
          <p:nvPr>
            <p:ph type="title"/>
          </p:nvPr>
        </p:nvSpPr>
        <p:spPr>
          <a:xfrm>
            <a:off x="2428860" y="203200"/>
            <a:ext cx="6143668" cy="1082660"/>
          </a:xfrm>
        </p:spPr>
        <p:txBody>
          <a:bodyPr>
            <a:noAutofit/>
          </a:bodyPr>
          <a:lstStyle/>
          <a:p>
            <a:r>
              <a:rPr lang="es-AR" sz="4200" u="sng" dirty="0" smtClean="0"/>
              <a:t>Acerca del supuesto fundamental</a:t>
            </a:r>
            <a:endParaRPr lang="es-AR" sz="4200" u="sng" dirty="0"/>
          </a:p>
        </p:txBody>
      </p:sp>
      <p:sp>
        <p:nvSpPr>
          <p:cNvPr id="3174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31747" name="Rectangle 3"/>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11" name="10 Abrir llave"/>
          <p:cNvSpPr/>
          <p:nvPr/>
        </p:nvSpPr>
        <p:spPr>
          <a:xfrm rot="16200000">
            <a:off x="4286250" y="857231"/>
            <a:ext cx="214312" cy="435771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12" name="11 CuadroTexto"/>
          <p:cNvSpPr txBox="1"/>
          <p:nvPr/>
        </p:nvSpPr>
        <p:spPr>
          <a:xfrm>
            <a:off x="1643042" y="3143248"/>
            <a:ext cx="5643602" cy="1246495"/>
          </a:xfrm>
          <a:prstGeom prst="rect">
            <a:avLst/>
          </a:prstGeom>
          <a:noFill/>
        </p:spPr>
        <p:txBody>
          <a:bodyPr wrap="square" rtlCol="0">
            <a:spAutoFit/>
          </a:bodyPr>
          <a:lstStyle/>
          <a:p>
            <a:pPr algn="ctr"/>
            <a:r>
              <a:rPr lang="es-CO" sz="2500" dirty="0" smtClean="0"/>
              <a:t>Condicional en     el valor esperado de </a:t>
            </a:r>
            <a:r>
              <a:rPr lang="es-CO" sz="2500" i="1" dirty="0" smtClean="0"/>
              <a:t>u</a:t>
            </a:r>
            <a:r>
              <a:rPr lang="es-CO" sz="2500" dirty="0" smtClean="0"/>
              <a:t> ya no dependa de la decisión de participación </a:t>
            </a:r>
            <a:r>
              <a:rPr lang="es-CO" sz="2500" i="1" dirty="0" smtClean="0"/>
              <a:t>D.</a:t>
            </a:r>
            <a:endParaRPr lang="es-ES" sz="2500" dirty="0"/>
          </a:p>
        </p:txBody>
      </p:sp>
      <p:sp>
        <p:nvSpPr>
          <p:cNvPr id="31749"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pic>
        <p:nvPicPr>
          <p:cNvPr id="31748" name="Picture 4"/>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3929058" y="3214686"/>
            <a:ext cx="142875" cy="381000"/>
          </a:xfrm>
          <a:prstGeom prst="rect">
            <a:avLst/>
          </a:prstGeom>
          <a:noFill/>
        </p:spPr>
      </p:pic>
      <p:sp>
        <p:nvSpPr>
          <p:cNvPr id="31751" name="Rectangle 7"/>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31752" name="Rectangle 8"/>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18" name="17 Abrir llave"/>
          <p:cNvSpPr/>
          <p:nvPr/>
        </p:nvSpPr>
        <p:spPr>
          <a:xfrm rot="16200000">
            <a:off x="4357687" y="3071810"/>
            <a:ext cx="214313" cy="450059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19" name="18 CuadroTexto"/>
          <p:cNvSpPr txBox="1"/>
          <p:nvPr/>
        </p:nvSpPr>
        <p:spPr>
          <a:xfrm>
            <a:off x="785786" y="5429264"/>
            <a:ext cx="7429552" cy="477054"/>
          </a:xfrm>
          <a:prstGeom prst="rect">
            <a:avLst/>
          </a:prstGeom>
          <a:noFill/>
        </p:spPr>
        <p:txBody>
          <a:bodyPr wrap="square" rtlCol="0">
            <a:spAutoFit/>
          </a:bodyPr>
          <a:lstStyle/>
          <a:p>
            <a:pPr algn="ctr"/>
            <a:r>
              <a:rPr lang="es-CO" sz="2500" dirty="0" smtClean="0"/>
              <a:t>Calcular el valor de </a:t>
            </a:r>
            <a:r>
              <a:rPr lang="es-CO" sz="2500" i="1" dirty="0" smtClean="0"/>
              <a:t>u</a:t>
            </a:r>
            <a:r>
              <a:rPr lang="es-CO" sz="2500" dirty="0" smtClean="0"/>
              <a:t> sujeto a la condición                   .</a:t>
            </a:r>
            <a:endParaRPr lang="es-ES" sz="2500" dirty="0"/>
          </a:p>
        </p:txBody>
      </p:sp>
      <p:sp>
        <p:nvSpPr>
          <p:cNvPr id="31754"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31756" name="Rectangle 1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22" name="21 Rectángulo"/>
          <p:cNvSpPr/>
          <p:nvPr/>
        </p:nvSpPr>
        <p:spPr>
          <a:xfrm>
            <a:off x="0" y="6534859"/>
            <a:ext cx="9144032" cy="323165"/>
          </a:xfrm>
          <a:prstGeom prst="rect">
            <a:avLst/>
          </a:prstGeom>
        </p:spPr>
        <p:txBody>
          <a:bodyPr wrap="square">
            <a:spAutoFit/>
          </a:bodyPr>
          <a:lstStyle/>
          <a:p>
            <a:pPr algn="ctr"/>
            <a:r>
              <a:rPr lang="es-CO" sz="1500" dirty="0" smtClean="0">
                <a:solidFill>
                  <a:schemeClr val="tx1">
                    <a:lumMod val="50000"/>
                    <a:lumOff val="50000"/>
                  </a:schemeClr>
                </a:solidFill>
              </a:rPr>
              <a:t>Guía Práctica para la Evaluación de Impacto /Capítulo 9: Funciones de Control/16</a:t>
            </a:r>
            <a:endParaRPr lang="es-ES" sz="1500" dirty="0">
              <a:solidFill>
                <a:schemeClr val="tx1">
                  <a:lumMod val="50000"/>
                  <a:lumOff val="50000"/>
                </a:schemeClr>
              </a:solidFill>
            </a:endParaRPr>
          </a:p>
        </p:txBody>
      </p:sp>
      <p:graphicFrame>
        <p:nvGraphicFramePr>
          <p:cNvPr id="44037" name="Object 5"/>
          <p:cNvGraphicFramePr>
            <a:graphicFrameLocks noChangeAspect="1"/>
          </p:cNvGraphicFramePr>
          <p:nvPr/>
        </p:nvGraphicFramePr>
        <p:xfrm>
          <a:off x="2319338" y="1571625"/>
          <a:ext cx="6681787" cy="642938"/>
        </p:xfrm>
        <a:graphic>
          <a:graphicData uri="http://schemas.openxmlformats.org/presentationml/2006/ole">
            <mc:AlternateContent xmlns:mc="http://schemas.openxmlformats.org/markup-compatibility/2006">
              <mc:Choice xmlns:v="urn:schemas-microsoft-com:vml" Requires="v">
                <p:oleObj spid="_x0000_s44053" name="Documento" r:id="rId6" imgW="5397500" imgH="521667" progId="Word.Document.12">
                  <p:embed/>
                </p:oleObj>
              </mc:Choice>
              <mc:Fallback>
                <p:oleObj name="Documento" r:id="rId6" imgW="5397500" imgH="521667" progId="Word.Document.12">
                  <p:embed/>
                  <p:pic>
                    <p:nvPicPr>
                      <p:cNvPr id="0" name="Picture 1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19338" y="1571625"/>
                        <a:ext cx="6681787" cy="642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4038" name="Object 6"/>
          <p:cNvGraphicFramePr>
            <a:graphicFrameLocks noChangeAspect="1"/>
          </p:cNvGraphicFramePr>
          <p:nvPr/>
        </p:nvGraphicFramePr>
        <p:xfrm>
          <a:off x="1143000" y="2571750"/>
          <a:ext cx="6500813" cy="625475"/>
        </p:xfrm>
        <a:graphic>
          <a:graphicData uri="http://schemas.openxmlformats.org/presentationml/2006/ole">
            <mc:AlternateContent xmlns:mc="http://schemas.openxmlformats.org/markup-compatibility/2006">
              <mc:Choice xmlns:v="urn:schemas-microsoft-com:vml" Requires="v">
                <p:oleObj spid="_x0000_s44054" name="Documento" r:id="rId9" imgW="5397500" imgH="521667" progId="Word.Document.12">
                  <p:embed/>
                </p:oleObj>
              </mc:Choice>
              <mc:Fallback>
                <p:oleObj name="Documento" r:id="rId9" imgW="5397500" imgH="521667" progId="Word.Document.12">
                  <p:embed/>
                  <p:pic>
                    <p:nvPicPr>
                      <p:cNvPr id="0" name="Picture 1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43000" y="2571750"/>
                        <a:ext cx="6500813" cy="625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4039" name="Object 7"/>
          <p:cNvGraphicFramePr>
            <a:graphicFrameLocks noChangeAspect="1"/>
          </p:cNvGraphicFramePr>
          <p:nvPr/>
        </p:nvGraphicFramePr>
        <p:xfrm>
          <a:off x="1357313" y="4857750"/>
          <a:ext cx="6215062" cy="1214438"/>
        </p:xfrm>
        <a:graphic>
          <a:graphicData uri="http://schemas.openxmlformats.org/presentationml/2006/ole">
            <mc:AlternateContent xmlns:mc="http://schemas.openxmlformats.org/markup-compatibility/2006">
              <mc:Choice xmlns:v="urn:schemas-microsoft-com:vml" Requires="v">
                <p:oleObj spid="_x0000_s44055" name="Documento" r:id="rId12" imgW="5397500" imgH="1059557" progId="Word.Document.12">
                  <p:embed/>
                </p:oleObj>
              </mc:Choice>
              <mc:Fallback>
                <p:oleObj name="Documento" r:id="rId12" imgW="5397500" imgH="1059557" progId="Word.Document.12">
                  <p:embed/>
                  <p:pic>
                    <p:nvPicPr>
                      <p:cNvPr id="0" name="Picture 1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357313" y="4857750"/>
                        <a:ext cx="6215062" cy="1214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4040" name="Object 8"/>
          <p:cNvGraphicFramePr>
            <a:graphicFrameLocks noChangeAspect="1"/>
          </p:cNvGraphicFramePr>
          <p:nvPr/>
        </p:nvGraphicFramePr>
        <p:xfrm>
          <a:off x="4033838" y="5429250"/>
          <a:ext cx="6396037" cy="615950"/>
        </p:xfrm>
        <a:graphic>
          <a:graphicData uri="http://schemas.openxmlformats.org/presentationml/2006/ole">
            <mc:AlternateContent xmlns:mc="http://schemas.openxmlformats.org/markup-compatibility/2006">
              <mc:Choice xmlns:v="urn:schemas-microsoft-com:vml" Requires="v">
                <p:oleObj spid="_x0000_s44056" name="Documento" r:id="rId15" imgW="5397500" imgH="521667" progId="Word.Document.12">
                  <p:embed/>
                </p:oleObj>
              </mc:Choice>
              <mc:Fallback>
                <p:oleObj name="Documento" r:id="rId15" imgW="5397500" imgH="521667" progId="Word.Document.12">
                  <p:embed/>
                  <p:pic>
                    <p:nvPicPr>
                      <p:cNvPr id="0" name="Picture 2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033838" y="5429250"/>
                        <a:ext cx="6396037" cy="615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lstStyle/>
          <a:p>
            <a:pPr>
              <a:buNone/>
            </a:pPr>
            <a:endParaRPr lang="es-CO" dirty="0" smtClean="0"/>
          </a:p>
          <a:p>
            <a:pPr>
              <a:buNone/>
            </a:pPr>
            <a:endParaRPr lang="es-CO" dirty="0" smtClean="0"/>
          </a:p>
          <a:p>
            <a:pPr>
              <a:buNone/>
            </a:pPr>
            <a:endParaRPr lang="es-CO" dirty="0" smtClean="0"/>
          </a:p>
        </p:txBody>
      </p:sp>
      <p:pic>
        <p:nvPicPr>
          <p:cNvPr id="4" name="Picture 1"/>
          <p:cNvPicPr>
            <a:picLocks noChangeAspect="1" noChangeArrowheads="1"/>
          </p:cNvPicPr>
          <p:nvPr/>
        </p:nvPicPr>
        <p:blipFill>
          <a:blip r:embed="rId3" cstate="print"/>
          <a:srcRect/>
          <a:stretch>
            <a:fillRect/>
          </a:stretch>
        </p:blipFill>
        <p:spPr bwMode="auto">
          <a:xfrm>
            <a:off x="0" y="-24"/>
            <a:ext cx="2500298" cy="1189301"/>
          </a:xfrm>
          <a:prstGeom prst="rect">
            <a:avLst/>
          </a:prstGeom>
          <a:noFill/>
          <a:ln w="9525">
            <a:noFill/>
            <a:miter lim="800000"/>
            <a:headEnd/>
            <a:tailEnd/>
          </a:ln>
          <a:effectLst/>
        </p:spPr>
      </p:pic>
      <p:sp>
        <p:nvSpPr>
          <p:cNvPr id="5" name="1 Título"/>
          <p:cNvSpPr>
            <a:spLocks noGrp="1"/>
          </p:cNvSpPr>
          <p:nvPr>
            <p:ph type="title"/>
          </p:nvPr>
        </p:nvSpPr>
        <p:spPr>
          <a:xfrm>
            <a:off x="2428860" y="214290"/>
            <a:ext cx="6143668" cy="1082660"/>
          </a:xfrm>
        </p:spPr>
        <p:txBody>
          <a:bodyPr>
            <a:noAutofit/>
          </a:bodyPr>
          <a:lstStyle/>
          <a:p>
            <a:r>
              <a:rPr lang="es-AR" sz="4200" u="sng" dirty="0" smtClean="0"/>
              <a:t>Primera etapa: </a:t>
            </a:r>
            <a:br>
              <a:rPr lang="es-AR" sz="4200" u="sng" dirty="0" smtClean="0"/>
            </a:br>
            <a:r>
              <a:rPr lang="es-AR" sz="4200" u="sng" dirty="0" smtClean="0"/>
              <a:t>Estimación de__</a:t>
            </a:r>
            <a:endParaRPr lang="es-AR" sz="4200" i="1" u="sng" dirty="0"/>
          </a:p>
        </p:txBody>
      </p:sp>
      <p:sp>
        <p:nvSpPr>
          <p:cNvPr id="3277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3277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pic>
        <p:nvPicPr>
          <p:cNvPr id="32771" name="Picture 3"/>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6876256" y="785794"/>
            <a:ext cx="396878" cy="714380"/>
          </a:xfrm>
          <a:prstGeom prst="rect">
            <a:avLst/>
          </a:prstGeom>
          <a:noFill/>
        </p:spPr>
      </p:pic>
      <p:sp>
        <p:nvSpPr>
          <p:cNvPr id="102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1027" name="Rectangle 3"/>
          <p:cNvSpPr>
            <a:spLocks noChangeArrowheads="1"/>
          </p:cNvSpPr>
          <p:nvPr/>
        </p:nvSpPr>
        <p:spPr bwMode="auto">
          <a:xfrm>
            <a:off x="0" y="1152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1029"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1031"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cxnSp>
        <p:nvCxnSpPr>
          <p:cNvPr id="18" name="17 Conector recto de flecha"/>
          <p:cNvCxnSpPr/>
          <p:nvPr/>
        </p:nvCxnSpPr>
        <p:spPr>
          <a:xfrm>
            <a:off x="2000232" y="3713164"/>
            <a:ext cx="64294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9" name="18 CuadroTexto"/>
          <p:cNvSpPr txBox="1"/>
          <p:nvPr/>
        </p:nvSpPr>
        <p:spPr>
          <a:xfrm>
            <a:off x="2714612" y="3452012"/>
            <a:ext cx="4136389" cy="477054"/>
          </a:xfrm>
          <a:prstGeom prst="rect">
            <a:avLst/>
          </a:prstGeom>
          <a:noFill/>
        </p:spPr>
        <p:txBody>
          <a:bodyPr wrap="none" rtlCol="0">
            <a:spAutoFit/>
          </a:bodyPr>
          <a:lstStyle/>
          <a:p>
            <a:r>
              <a:rPr lang="es-CO" sz="2500" dirty="0" smtClean="0"/>
              <a:t>Función de densidad estándar.</a:t>
            </a:r>
            <a:endParaRPr lang="es-ES" sz="2500" dirty="0"/>
          </a:p>
        </p:txBody>
      </p:sp>
      <p:sp>
        <p:nvSpPr>
          <p:cNvPr id="20" name="19 CuadroTexto"/>
          <p:cNvSpPr txBox="1"/>
          <p:nvPr/>
        </p:nvSpPr>
        <p:spPr>
          <a:xfrm>
            <a:off x="1071538" y="3000372"/>
            <a:ext cx="1133644" cy="477054"/>
          </a:xfrm>
          <a:prstGeom prst="rect">
            <a:avLst/>
          </a:prstGeom>
          <a:noFill/>
        </p:spPr>
        <p:txBody>
          <a:bodyPr wrap="none" rtlCol="0">
            <a:spAutoFit/>
          </a:bodyPr>
          <a:lstStyle/>
          <a:p>
            <a:r>
              <a:rPr lang="es-CO" sz="2500" dirty="0" smtClean="0"/>
              <a:t>Donde:</a:t>
            </a:r>
            <a:endParaRPr lang="es-ES" sz="2500" dirty="0"/>
          </a:p>
        </p:txBody>
      </p:sp>
      <p:sp>
        <p:nvSpPr>
          <p:cNvPr id="1033" name="Rectangle 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cxnSp>
        <p:nvCxnSpPr>
          <p:cNvPr id="23" name="22 Conector recto de flecha"/>
          <p:cNvCxnSpPr/>
          <p:nvPr/>
        </p:nvCxnSpPr>
        <p:spPr>
          <a:xfrm>
            <a:off x="2000232" y="4286256"/>
            <a:ext cx="64294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4" name="23 CuadroTexto"/>
          <p:cNvSpPr txBox="1"/>
          <p:nvPr/>
        </p:nvSpPr>
        <p:spPr>
          <a:xfrm>
            <a:off x="2714612" y="4094954"/>
            <a:ext cx="5738687" cy="861774"/>
          </a:xfrm>
          <a:prstGeom prst="rect">
            <a:avLst/>
          </a:prstGeom>
          <a:noFill/>
        </p:spPr>
        <p:txBody>
          <a:bodyPr wrap="none" rtlCol="0">
            <a:spAutoFit/>
          </a:bodyPr>
          <a:lstStyle/>
          <a:p>
            <a:r>
              <a:rPr lang="es-CO" sz="2500" dirty="0" smtClean="0"/>
              <a:t>Función de distribución acumulada normal</a:t>
            </a:r>
          </a:p>
          <a:p>
            <a:r>
              <a:rPr lang="es-CO" sz="2500" dirty="0" smtClean="0"/>
              <a:t>estándar.</a:t>
            </a:r>
            <a:endParaRPr lang="es-ES" sz="2500" dirty="0"/>
          </a:p>
        </p:txBody>
      </p:sp>
      <p:sp>
        <p:nvSpPr>
          <p:cNvPr id="1035" name="Rectangle 11"/>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1036" name="Rectangle 12"/>
          <p:cNvSpPr>
            <a:spLocks noChangeArrowheads="1"/>
          </p:cNvSpPr>
          <p:nvPr/>
        </p:nvSpPr>
        <p:spPr bwMode="auto">
          <a:xfrm>
            <a:off x="0" y="10858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4162425" algn="l"/>
              </a:tabLst>
            </a:pPr>
            <a:endParaRPr kumimoji="0" lang="es-ES" sz="1800" b="0" i="0" u="none" strike="noStrike" cap="none" normalizeH="0" baseline="0" smtClean="0">
              <a:ln>
                <a:noFill/>
              </a:ln>
              <a:solidFill>
                <a:schemeClr val="tx1"/>
              </a:solidFill>
              <a:effectLst/>
              <a:latin typeface="Arial" pitchFamily="34" charset="0"/>
            </a:endParaRPr>
          </a:p>
        </p:txBody>
      </p:sp>
      <p:sp>
        <p:nvSpPr>
          <p:cNvPr id="1038" name="Rectangle 1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27" name="26 Rectángulo"/>
          <p:cNvSpPr/>
          <p:nvPr/>
        </p:nvSpPr>
        <p:spPr>
          <a:xfrm>
            <a:off x="0" y="6534859"/>
            <a:ext cx="9144032" cy="323165"/>
          </a:xfrm>
          <a:prstGeom prst="rect">
            <a:avLst/>
          </a:prstGeom>
        </p:spPr>
        <p:txBody>
          <a:bodyPr wrap="square">
            <a:spAutoFit/>
          </a:bodyPr>
          <a:lstStyle/>
          <a:p>
            <a:pPr algn="ctr"/>
            <a:r>
              <a:rPr lang="es-CO" sz="1500" dirty="0" smtClean="0">
                <a:solidFill>
                  <a:schemeClr val="tx1">
                    <a:lumMod val="50000"/>
                    <a:lumOff val="50000"/>
                  </a:schemeClr>
                </a:solidFill>
              </a:rPr>
              <a:t>Guía Práctica para la Evaluación de Impacto /Capítulo 9: Funciones de Control/17</a:t>
            </a:r>
            <a:endParaRPr lang="es-ES" sz="1500" dirty="0">
              <a:solidFill>
                <a:schemeClr val="tx1">
                  <a:lumMod val="50000"/>
                  <a:lumOff val="50000"/>
                </a:schemeClr>
              </a:solidFill>
            </a:endParaRPr>
          </a:p>
        </p:txBody>
      </p:sp>
      <p:graphicFrame>
        <p:nvGraphicFramePr>
          <p:cNvPr id="43009" name="Object 1"/>
          <p:cNvGraphicFramePr>
            <a:graphicFrameLocks noChangeAspect="1"/>
          </p:cNvGraphicFramePr>
          <p:nvPr/>
        </p:nvGraphicFramePr>
        <p:xfrm>
          <a:off x="1043608" y="1893911"/>
          <a:ext cx="6858048" cy="1106461"/>
        </p:xfrm>
        <a:graphic>
          <a:graphicData uri="http://schemas.openxmlformats.org/presentationml/2006/ole">
            <mc:AlternateContent xmlns:mc="http://schemas.openxmlformats.org/markup-compatibility/2006">
              <mc:Choice xmlns:v="urn:schemas-microsoft-com:vml" Requires="v">
                <p:oleObj spid="_x0000_s43026" name="Documento" r:id="rId6" imgW="5400403" imgH="874111" progId="Word.Document.12">
                  <p:embed/>
                </p:oleObj>
              </mc:Choice>
              <mc:Fallback>
                <p:oleObj name="Documento" r:id="rId6" imgW="5400403" imgH="874111" progId="Word.Document.12">
                  <p:embed/>
                  <p:pic>
                    <p:nvPicPr>
                      <p:cNvPr id="0" name="Picture 1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43608" y="1893911"/>
                        <a:ext cx="6858048" cy="1106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3010" name="Object 2"/>
          <p:cNvGraphicFramePr>
            <a:graphicFrameLocks noChangeAspect="1"/>
          </p:cNvGraphicFramePr>
          <p:nvPr/>
        </p:nvGraphicFramePr>
        <p:xfrm>
          <a:off x="-1928858" y="3500438"/>
          <a:ext cx="6914168" cy="642942"/>
        </p:xfrm>
        <a:graphic>
          <a:graphicData uri="http://schemas.openxmlformats.org/presentationml/2006/ole">
            <mc:AlternateContent xmlns:mc="http://schemas.openxmlformats.org/markup-compatibility/2006">
              <mc:Choice xmlns:v="urn:schemas-microsoft-com:vml" Requires="v">
                <p:oleObj spid="_x0000_s43027" name="Documento" r:id="rId9" imgW="5411304" imgH="503516" progId="Word.Document.12">
                  <p:embed/>
                </p:oleObj>
              </mc:Choice>
              <mc:Fallback>
                <p:oleObj name="Documento" r:id="rId9" imgW="5411304" imgH="503516" progId="Word.Document.12">
                  <p:embed/>
                  <p:pic>
                    <p:nvPicPr>
                      <p:cNvPr id="0" name="Picture 1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28858" y="3500438"/>
                        <a:ext cx="6914168" cy="6429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3011" name="Object 3"/>
          <p:cNvGraphicFramePr>
            <a:graphicFrameLocks noChangeAspect="1"/>
          </p:cNvGraphicFramePr>
          <p:nvPr/>
        </p:nvGraphicFramePr>
        <p:xfrm>
          <a:off x="-1643106" y="4149080"/>
          <a:ext cx="6357982" cy="591223"/>
        </p:xfrm>
        <a:graphic>
          <a:graphicData uri="http://schemas.openxmlformats.org/presentationml/2006/ole">
            <mc:AlternateContent xmlns:mc="http://schemas.openxmlformats.org/markup-compatibility/2006">
              <mc:Choice xmlns:v="urn:schemas-microsoft-com:vml" Requires="v">
                <p:oleObj spid="_x0000_s43028" name="Documento" r:id="rId12" imgW="5411304" imgH="503516" progId="Word.Document.12">
                  <p:embed/>
                </p:oleObj>
              </mc:Choice>
              <mc:Fallback>
                <p:oleObj name="Documento" r:id="rId12" imgW="5411304" imgH="503516" progId="Word.Document.12">
                  <p:embed/>
                  <p:pic>
                    <p:nvPicPr>
                      <p:cNvPr id="0" name="Picture 1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643106" y="4149080"/>
                        <a:ext cx="6357982" cy="5912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3013" name="Object 5"/>
          <p:cNvGraphicFramePr>
            <a:graphicFrameLocks noChangeAspect="1"/>
          </p:cNvGraphicFramePr>
          <p:nvPr/>
        </p:nvGraphicFramePr>
        <p:xfrm>
          <a:off x="1214438" y="5214938"/>
          <a:ext cx="6481762" cy="1000125"/>
        </p:xfrm>
        <a:graphic>
          <a:graphicData uri="http://schemas.openxmlformats.org/presentationml/2006/ole">
            <mc:AlternateContent xmlns:mc="http://schemas.openxmlformats.org/markup-compatibility/2006">
              <mc:Choice xmlns:v="urn:schemas-microsoft-com:vml" Requires="v">
                <p:oleObj spid="_x0000_s43029" name="Documento" r:id="rId15" imgW="5397500" imgH="836758" progId="Word.Document.12">
                  <p:embed/>
                </p:oleObj>
              </mc:Choice>
              <mc:Fallback>
                <p:oleObj name="Documento" r:id="rId15" imgW="5397500" imgH="836758" progId="Word.Document.12">
                  <p:embed/>
                  <p:pic>
                    <p:nvPicPr>
                      <p:cNvPr id="0" name="Picture 1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214438" y="5214938"/>
                        <a:ext cx="6481762" cy="1000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
          <p:cNvPicPr>
            <a:picLocks noChangeAspect="1" noChangeArrowheads="1"/>
          </p:cNvPicPr>
          <p:nvPr/>
        </p:nvPicPr>
        <p:blipFill>
          <a:blip r:embed="rId3" cstate="print"/>
          <a:srcRect/>
          <a:stretch>
            <a:fillRect/>
          </a:stretch>
        </p:blipFill>
        <p:spPr bwMode="auto">
          <a:xfrm>
            <a:off x="0" y="-24"/>
            <a:ext cx="2500298" cy="1189301"/>
          </a:xfrm>
          <a:prstGeom prst="rect">
            <a:avLst/>
          </a:prstGeom>
          <a:noFill/>
          <a:ln w="9525">
            <a:noFill/>
            <a:miter lim="800000"/>
            <a:headEnd/>
            <a:tailEnd/>
          </a:ln>
          <a:effectLst/>
        </p:spPr>
      </p:pic>
      <p:sp>
        <p:nvSpPr>
          <p:cNvPr id="33794"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33795" name="Rectangle 3"/>
          <p:cNvSpPr>
            <a:spLocks noChangeArrowheads="1"/>
          </p:cNvSpPr>
          <p:nvPr/>
        </p:nvSpPr>
        <p:spPr bwMode="auto">
          <a:xfrm>
            <a:off x="0" y="7810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4162425" algn="l"/>
              </a:tabLst>
            </a:pPr>
            <a:endParaRPr kumimoji="0" lang="es-ES" sz="1800" b="0" i="0" u="none" strike="noStrike" cap="none" normalizeH="0" baseline="0" smtClean="0">
              <a:ln>
                <a:noFill/>
              </a:ln>
              <a:solidFill>
                <a:schemeClr val="tx1"/>
              </a:solidFill>
              <a:effectLst/>
              <a:latin typeface="Arial" pitchFamily="34" charset="0"/>
            </a:endParaRPr>
          </a:p>
        </p:txBody>
      </p:sp>
      <p:sp>
        <p:nvSpPr>
          <p:cNvPr id="33797"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33798" name="Rectangle 6"/>
          <p:cNvSpPr>
            <a:spLocks noChangeArrowheads="1"/>
          </p:cNvSpPr>
          <p:nvPr/>
        </p:nvSpPr>
        <p:spPr bwMode="auto">
          <a:xfrm>
            <a:off x="0" y="7810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4162425" algn="l"/>
              </a:tabLst>
            </a:pPr>
            <a:endParaRPr kumimoji="0" lang="es-ES" sz="1800" b="0" i="0" u="none" strike="noStrike" cap="none" normalizeH="0" baseline="0" smtClean="0">
              <a:ln>
                <a:noFill/>
              </a:ln>
              <a:solidFill>
                <a:schemeClr val="tx1"/>
              </a:solidFill>
              <a:effectLst/>
              <a:latin typeface="Arial" pitchFamily="34" charset="0"/>
            </a:endParaRPr>
          </a:p>
        </p:txBody>
      </p:sp>
      <p:cxnSp>
        <p:nvCxnSpPr>
          <p:cNvPr id="17" name="16 Conector recto de flecha"/>
          <p:cNvCxnSpPr/>
          <p:nvPr/>
        </p:nvCxnSpPr>
        <p:spPr>
          <a:xfrm>
            <a:off x="1571604" y="2143116"/>
            <a:ext cx="64294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3800" name="Rectangle 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33801" name="Rectangle 9"/>
          <p:cNvSpPr>
            <a:spLocks noChangeArrowheads="1"/>
          </p:cNvSpPr>
          <p:nvPr/>
        </p:nvSpPr>
        <p:spPr bwMode="auto">
          <a:xfrm>
            <a:off x="0" y="7810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4162425" algn="l"/>
              </a:tabLst>
            </a:pPr>
            <a:endParaRPr kumimoji="0" lang="es-ES" sz="1800" b="0" i="0" u="none" strike="noStrike" cap="none" normalizeH="0" baseline="0" smtClean="0">
              <a:ln>
                <a:noFill/>
              </a:ln>
              <a:solidFill>
                <a:schemeClr val="tx1"/>
              </a:solidFill>
              <a:effectLst/>
              <a:latin typeface="Arial" pitchFamily="34" charset="0"/>
            </a:endParaRPr>
          </a:p>
        </p:txBody>
      </p:sp>
      <p:sp>
        <p:nvSpPr>
          <p:cNvPr id="33803" name="Rectangle 1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cxnSp>
        <p:nvCxnSpPr>
          <p:cNvPr id="24" name="23 Conector recto de flecha"/>
          <p:cNvCxnSpPr/>
          <p:nvPr/>
        </p:nvCxnSpPr>
        <p:spPr>
          <a:xfrm>
            <a:off x="1571604" y="2857496"/>
            <a:ext cx="64294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5" name="24 CuadroTexto"/>
          <p:cNvSpPr txBox="1"/>
          <p:nvPr/>
        </p:nvSpPr>
        <p:spPr>
          <a:xfrm>
            <a:off x="2357423" y="2571744"/>
            <a:ext cx="6286544" cy="861774"/>
          </a:xfrm>
          <a:prstGeom prst="rect">
            <a:avLst/>
          </a:prstGeom>
          <a:noFill/>
        </p:spPr>
        <p:txBody>
          <a:bodyPr wrap="square" rtlCol="0">
            <a:spAutoFit/>
          </a:bodyPr>
          <a:lstStyle/>
          <a:p>
            <a:r>
              <a:rPr lang="es-CO" sz="2500" dirty="0" smtClean="0"/>
              <a:t>Tiene en cuenta el hecho de que </a:t>
            </a:r>
            <a:r>
              <a:rPr lang="es-CO" sz="2500" i="1" dirty="0" smtClean="0"/>
              <a:t>u </a:t>
            </a:r>
            <a:r>
              <a:rPr lang="es-CO" sz="2500" dirty="0" smtClean="0"/>
              <a:t>y </a:t>
            </a:r>
            <a:r>
              <a:rPr lang="es-CO" sz="2500" i="1" dirty="0" smtClean="0"/>
              <a:t>v </a:t>
            </a:r>
            <a:r>
              <a:rPr lang="es-CO" sz="2500" dirty="0" smtClean="0"/>
              <a:t>están correlacionadas.</a:t>
            </a:r>
            <a:endParaRPr lang="es-ES" sz="2500" i="1" dirty="0"/>
          </a:p>
        </p:txBody>
      </p:sp>
      <p:sp>
        <p:nvSpPr>
          <p:cNvPr id="26" name="25 CuadroTexto"/>
          <p:cNvSpPr txBox="1"/>
          <p:nvPr/>
        </p:nvSpPr>
        <p:spPr>
          <a:xfrm>
            <a:off x="642910" y="3710234"/>
            <a:ext cx="8215338" cy="861774"/>
          </a:xfrm>
          <a:prstGeom prst="rect">
            <a:avLst/>
          </a:prstGeom>
          <a:noFill/>
        </p:spPr>
        <p:txBody>
          <a:bodyPr wrap="square" rtlCol="0">
            <a:spAutoFit/>
          </a:bodyPr>
          <a:lstStyle/>
          <a:p>
            <a:r>
              <a:rPr lang="es-CO" sz="2500" dirty="0" smtClean="0"/>
              <a:t>Usando el hecho de que la distribución normal estándar es simétrica alrededor de cero, se obtiene:</a:t>
            </a:r>
            <a:endParaRPr lang="es-ES" sz="2500" dirty="0"/>
          </a:p>
        </p:txBody>
      </p:sp>
      <p:sp>
        <p:nvSpPr>
          <p:cNvPr id="27" name="26 CuadroTexto"/>
          <p:cNvSpPr txBox="1"/>
          <p:nvPr/>
        </p:nvSpPr>
        <p:spPr>
          <a:xfrm>
            <a:off x="2343662" y="1785926"/>
            <a:ext cx="4088235" cy="477054"/>
          </a:xfrm>
          <a:prstGeom prst="rect">
            <a:avLst/>
          </a:prstGeom>
          <a:noFill/>
        </p:spPr>
        <p:txBody>
          <a:bodyPr wrap="none" rtlCol="0">
            <a:spAutoFit/>
          </a:bodyPr>
          <a:lstStyle/>
          <a:p>
            <a:r>
              <a:rPr lang="es-CO" sz="2500" dirty="0" smtClean="0"/>
              <a:t>Error estándar de la variable </a:t>
            </a:r>
            <a:r>
              <a:rPr lang="es-CO" sz="2500" i="1" dirty="0" smtClean="0">
                <a:latin typeface="Garamond" pitchFamily="18" charset="0"/>
              </a:rPr>
              <a:t>i</a:t>
            </a:r>
            <a:r>
              <a:rPr lang="es-CO" sz="2500" i="1" dirty="0" smtClean="0"/>
              <a:t>.</a:t>
            </a:r>
            <a:endParaRPr lang="es-ES" dirty="0"/>
          </a:p>
        </p:txBody>
      </p:sp>
      <p:pic>
        <p:nvPicPr>
          <p:cNvPr id="31" name="Picture 3"/>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6983434" y="714356"/>
            <a:ext cx="396878" cy="714380"/>
          </a:xfrm>
          <a:prstGeom prst="rect">
            <a:avLst/>
          </a:prstGeom>
          <a:noFill/>
        </p:spPr>
      </p:pic>
      <p:sp>
        <p:nvSpPr>
          <p:cNvPr id="33" name="1 Título"/>
          <p:cNvSpPr>
            <a:spLocks noGrp="1"/>
          </p:cNvSpPr>
          <p:nvPr>
            <p:ph type="title"/>
          </p:nvPr>
        </p:nvSpPr>
        <p:spPr>
          <a:xfrm>
            <a:off x="2571736" y="142852"/>
            <a:ext cx="6143668" cy="1082660"/>
          </a:xfrm>
        </p:spPr>
        <p:txBody>
          <a:bodyPr>
            <a:noAutofit/>
          </a:bodyPr>
          <a:lstStyle/>
          <a:p>
            <a:r>
              <a:rPr lang="es-AR" sz="4200" u="sng" dirty="0" smtClean="0"/>
              <a:t>Primera etapa: </a:t>
            </a:r>
            <a:br>
              <a:rPr lang="es-AR" sz="4200" u="sng" dirty="0" smtClean="0"/>
            </a:br>
            <a:r>
              <a:rPr lang="es-AR" sz="4200" u="sng" dirty="0" smtClean="0"/>
              <a:t>Estimación de__           </a:t>
            </a:r>
            <a:endParaRPr lang="es-AR" sz="4200" i="1" u="sng" dirty="0"/>
          </a:p>
        </p:txBody>
      </p:sp>
      <p:sp>
        <p:nvSpPr>
          <p:cNvPr id="33805" name="Rectangle 13"/>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33806" name="Rectangle 14"/>
          <p:cNvSpPr>
            <a:spLocks noChangeArrowheads="1"/>
          </p:cNvSpPr>
          <p:nvPr/>
        </p:nvSpPr>
        <p:spPr bwMode="auto">
          <a:xfrm>
            <a:off x="0" y="10287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4162425" algn="l"/>
              </a:tabLst>
            </a:pPr>
            <a:endParaRPr kumimoji="0" lang="es-ES" sz="1800" b="0" i="0" u="none" strike="noStrike" cap="none" normalizeH="0" baseline="0" smtClean="0">
              <a:ln>
                <a:noFill/>
              </a:ln>
              <a:solidFill>
                <a:schemeClr val="tx1"/>
              </a:solidFill>
              <a:effectLst/>
              <a:latin typeface="Arial" pitchFamily="34" charset="0"/>
            </a:endParaRPr>
          </a:p>
        </p:txBody>
      </p:sp>
      <p:sp>
        <p:nvSpPr>
          <p:cNvPr id="30" name="29 Rectángulo"/>
          <p:cNvSpPr/>
          <p:nvPr/>
        </p:nvSpPr>
        <p:spPr>
          <a:xfrm>
            <a:off x="0" y="6534859"/>
            <a:ext cx="9144032" cy="323165"/>
          </a:xfrm>
          <a:prstGeom prst="rect">
            <a:avLst/>
          </a:prstGeom>
        </p:spPr>
        <p:txBody>
          <a:bodyPr wrap="square">
            <a:spAutoFit/>
          </a:bodyPr>
          <a:lstStyle/>
          <a:p>
            <a:pPr algn="ctr"/>
            <a:r>
              <a:rPr lang="es-CO" sz="1500" dirty="0" smtClean="0">
                <a:solidFill>
                  <a:schemeClr val="tx1">
                    <a:lumMod val="50000"/>
                    <a:lumOff val="50000"/>
                  </a:schemeClr>
                </a:solidFill>
              </a:rPr>
              <a:t>Guía Práctica para la Evaluación de Impacto /Capítulo 9: Funciones de Control/18</a:t>
            </a:r>
            <a:endParaRPr lang="es-ES" sz="1500" dirty="0">
              <a:solidFill>
                <a:schemeClr val="tx1">
                  <a:lumMod val="50000"/>
                  <a:lumOff val="50000"/>
                </a:schemeClr>
              </a:solidFill>
            </a:endParaRPr>
          </a:p>
        </p:txBody>
      </p:sp>
      <p:graphicFrame>
        <p:nvGraphicFramePr>
          <p:cNvPr id="41985" name="Object 1"/>
          <p:cNvGraphicFramePr>
            <a:graphicFrameLocks noChangeAspect="1"/>
          </p:cNvGraphicFramePr>
          <p:nvPr/>
        </p:nvGraphicFramePr>
        <p:xfrm>
          <a:off x="-2420711" y="1785926"/>
          <a:ext cx="7424759" cy="714380"/>
        </p:xfrm>
        <a:graphic>
          <a:graphicData uri="http://schemas.openxmlformats.org/presentationml/2006/ole">
            <mc:AlternateContent xmlns:mc="http://schemas.openxmlformats.org/markup-compatibility/2006">
              <mc:Choice xmlns:v="urn:schemas-microsoft-com:vml" Requires="v">
                <p:oleObj spid="_x0000_s41997" name="Documento" r:id="rId6" imgW="5411304" imgH="520792" progId="Word.Document.12">
                  <p:embed/>
                </p:oleObj>
              </mc:Choice>
              <mc:Fallback>
                <p:oleObj name="Documento" r:id="rId6" imgW="5411304" imgH="520792" progId="Word.Document.12">
                  <p:embed/>
                  <p:pic>
                    <p:nvPicPr>
                      <p:cNvPr id="0" name="Picture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20711" y="1785926"/>
                        <a:ext cx="7424759" cy="714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1986" name="Object 2"/>
          <p:cNvGraphicFramePr>
            <a:graphicFrameLocks noChangeAspect="1"/>
          </p:cNvGraphicFramePr>
          <p:nvPr/>
        </p:nvGraphicFramePr>
        <p:xfrm>
          <a:off x="-2928990" y="2546492"/>
          <a:ext cx="8358246" cy="804197"/>
        </p:xfrm>
        <a:graphic>
          <a:graphicData uri="http://schemas.openxmlformats.org/presentationml/2006/ole">
            <mc:AlternateContent xmlns:mc="http://schemas.openxmlformats.org/markup-compatibility/2006">
              <mc:Choice xmlns:v="urn:schemas-microsoft-com:vml" Requires="v">
                <p:oleObj spid="_x0000_s41998" name="Documento" r:id="rId9" imgW="5411304" imgH="520792" progId="Word.Document.12">
                  <p:embed/>
                </p:oleObj>
              </mc:Choice>
              <mc:Fallback>
                <p:oleObj name="Documento" r:id="rId9" imgW="5411304" imgH="520792" progId="Word.Document.12">
                  <p:embed/>
                  <p:pic>
                    <p:nvPicPr>
                      <p:cNvPr id="0" name="Picture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28990" y="2546492"/>
                        <a:ext cx="8358246" cy="804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1987" name="Object 3"/>
          <p:cNvGraphicFramePr>
            <a:graphicFrameLocks noChangeAspect="1"/>
          </p:cNvGraphicFramePr>
          <p:nvPr/>
        </p:nvGraphicFramePr>
        <p:xfrm>
          <a:off x="714348" y="4929198"/>
          <a:ext cx="7855881" cy="1071570"/>
        </p:xfrm>
        <a:graphic>
          <a:graphicData uri="http://schemas.openxmlformats.org/presentationml/2006/ole">
            <mc:AlternateContent xmlns:mc="http://schemas.openxmlformats.org/markup-compatibility/2006">
              <mc:Choice xmlns:v="urn:schemas-microsoft-com:vml" Requires="v">
                <p:oleObj spid="_x0000_s41999" name="Documento" r:id="rId12" imgW="5411304" imgH="738898" progId="Word.Document.12">
                  <p:embed/>
                </p:oleObj>
              </mc:Choice>
              <mc:Fallback>
                <p:oleObj name="Documento" r:id="rId12" imgW="5411304" imgH="738898" progId="Word.Document.12">
                  <p:embed/>
                  <p:pic>
                    <p:nvPicPr>
                      <p:cNvPr id="0" name="Picture 1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14348" y="4929198"/>
                        <a:ext cx="7855881" cy="1071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lstStyle/>
          <a:p>
            <a:pPr>
              <a:buNone/>
            </a:pPr>
            <a:r>
              <a:rPr lang="es-CO" sz="2500" dirty="0" smtClean="0"/>
              <a:t>	Se incluyen las funciones de control anteriores explícitamente en la regresión de la ecuación de resultado así:</a:t>
            </a:r>
          </a:p>
          <a:p>
            <a:pPr>
              <a:buNone/>
            </a:pPr>
            <a:endParaRPr lang="es-CO" dirty="0" smtClean="0"/>
          </a:p>
          <a:p>
            <a:pPr>
              <a:buNone/>
            </a:pPr>
            <a:endParaRPr lang="es-ES" dirty="0"/>
          </a:p>
        </p:txBody>
      </p:sp>
      <p:pic>
        <p:nvPicPr>
          <p:cNvPr id="4" name="Picture 1"/>
          <p:cNvPicPr>
            <a:picLocks noChangeAspect="1" noChangeArrowheads="1"/>
          </p:cNvPicPr>
          <p:nvPr/>
        </p:nvPicPr>
        <p:blipFill>
          <a:blip r:embed="rId3" cstate="print"/>
          <a:srcRect/>
          <a:stretch>
            <a:fillRect/>
          </a:stretch>
        </p:blipFill>
        <p:spPr bwMode="auto">
          <a:xfrm>
            <a:off x="0" y="-24"/>
            <a:ext cx="2500298" cy="1189301"/>
          </a:xfrm>
          <a:prstGeom prst="rect">
            <a:avLst/>
          </a:prstGeom>
          <a:noFill/>
          <a:ln w="9525">
            <a:noFill/>
            <a:miter lim="800000"/>
            <a:headEnd/>
            <a:tailEnd/>
          </a:ln>
          <a:effectLst/>
        </p:spPr>
      </p:pic>
      <p:sp>
        <p:nvSpPr>
          <p:cNvPr id="5" name="1 Título"/>
          <p:cNvSpPr>
            <a:spLocks noGrp="1"/>
          </p:cNvSpPr>
          <p:nvPr>
            <p:ph type="title"/>
          </p:nvPr>
        </p:nvSpPr>
        <p:spPr>
          <a:xfrm>
            <a:off x="2571736" y="142852"/>
            <a:ext cx="6143668" cy="1082660"/>
          </a:xfrm>
        </p:spPr>
        <p:txBody>
          <a:bodyPr>
            <a:noAutofit/>
          </a:bodyPr>
          <a:lstStyle/>
          <a:p>
            <a:r>
              <a:rPr lang="es-AR" sz="4200" u="sng" dirty="0" smtClean="0"/>
              <a:t>Segunda etapa: </a:t>
            </a:r>
            <a:br>
              <a:rPr lang="es-AR" sz="4200" u="sng" dirty="0" smtClean="0"/>
            </a:br>
            <a:r>
              <a:rPr lang="es-AR" sz="4200" u="sng" dirty="0" smtClean="0"/>
              <a:t>Estimación de </a:t>
            </a:r>
            <a:r>
              <a:rPr lang="es-AR" sz="4200" i="1" u="sng" dirty="0" smtClean="0"/>
              <a:t>Y</a:t>
            </a:r>
            <a:r>
              <a:rPr lang="es-AR" sz="4200" u="sng" dirty="0" smtClean="0"/>
              <a:t>       </a:t>
            </a:r>
            <a:endParaRPr lang="es-AR" sz="4200" i="1" u="sng" dirty="0"/>
          </a:p>
        </p:txBody>
      </p:sp>
      <p:sp>
        <p:nvSpPr>
          <p:cNvPr id="8" name="7 CuadroTexto"/>
          <p:cNvSpPr txBox="1"/>
          <p:nvPr/>
        </p:nvSpPr>
        <p:spPr>
          <a:xfrm>
            <a:off x="857224" y="4000504"/>
            <a:ext cx="1205779" cy="477054"/>
          </a:xfrm>
          <a:prstGeom prst="rect">
            <a:avLst/>
          </a:prstGeom>
          <a:noFill/>
        </p:spPr>
        <p:txBody>
          <a:bodyPr wrap="none" rtlCol="0">
            <a:spAutoFit/>
          </a:bodyPr>
          <a:lstStyle/>
          <a:p>
            <a:r>
              <a:rPr lang="es-CO" sz="2500" dirty="0" smtClean="0"/>
              <a:t>Donde: </a:t>
            </a:r>
            <a:endParaRPr lang="es-ES" sz="2500" dirty="0"/>
          </a:p>
        </p:txBody>
      </p:sp>
      <p:sp>
        <p:nvSpPr>
          <p:cNvPr id="3481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cxnSp>
        <p:nvCxnSpPr>
          <p:cNvPr id="12" name="11 Conector recto de flecha"/>
          <p:cNvCxnSpPr/>
          <p:nvPr/>
        </p:nvCxnSpPr>
        <p:spPr>
          <a:xfrm>
            <a:off x="1428728" y="4927610"/>
            <a:ext cx="64294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3" name="12 CuadroTexto"/>
          <p:cNvSpPr txBox="1"/>
          <p:nvPr/>
        </p:nvSpPr>
        <p:spPr>
          <a:xfrm>
            <a:off x="2285984" y="4643446"/>
            <a:ext cx="6429420" cy="861774"/>
          </a:xfrm>
          <a:prstGeom prst="rect">
            <a:avLst/>
          </a:prstGeom>
          <a:noFill/>
        </p:spPr>
        <p:txBody>
          <a:bodyPr wrap="square" rtlCol="0">
            <a:spAutoFit/>
          </a:bodyPr>
          <a:lstStyle/>
          <a:p>
            <a:r>
              <a:rPr lang="es-CO" sz="2500" dirty="0" smtClean="0"/>
              <a:t>Resta del error en la ecuación de resultado, después de haber purgado el efecto de     . </a:t>
            </a:r>
            <a:endParaRPr lang="es-ES" sz="2500" dirty="0"/>
          </a:p>
        </p:txBody>
      </p:sp>
      <p:sp>
        <p:nvSpPr>
          <p:cNvPr id="34820" name="Rectangle 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34821" name="Rectangle 5"/>
          <p:cNvSpPr>
            <a:spLocks noChangeArrowheads="1"/>
          </p:cNvSpPr>
          <p:nvPr/>
        </p:nvSpPr>
        <p:spPr bwMode="auto">
          <a:xfrm>
            <a:off x="0" y="7239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4162425" algn="l"/>
              </a:tabLst>
            </a:pPr>
            <a:endParaRPr kumimoji="0" lang="es-ES" sz="1800" b="0" i="0" u="none" strike="noStrike" cap="none" normalizeH="0" baseline="0" smtClean="0">
              <a:ln>
                <a:noFill/>
              </a:ln>
              <a:solidFill>
                <a:schemeClr val="tx1"/>
              </a:solidFill>
              <a:effectLst/>
              <a:latin typeface="Arial" pitchFamily="34" charset="0"/>
            </a:endParaRPr>
          </a:p>
        </p:txBody>
      </p:sp>
      <p:sp>
        <p:nvSpPr>
          <p:cNvPr id="34823" name="Rectangle 7"/>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34824" name="Rectangle 8"/>
          <p:cNvSpPr>
            <a:spLocks noChangeArrowheads="1"/>
          </p:cNvSpPr>
          <p:nvPr/>
        </p:nvSpPr>
        <p:spPr bwMode="auto">
          <a:xfrm>
            <a:off x="0" y="7239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4162425" algn="l"/>
              </a:tabLst>
            </a:pPr>
            <a:endParaRPr kumimoji="0" lang="es-ES" sz="1800" b="0" i="0" u="none" strike="noStrike" cap="none" normalizeH="0" baseline="0" smtClean="0">
              <a:ln>
                <a:noFill/>
              </a:ln>
              <a:solidFill>
                <a:schemeClr val="tx1"/>
              </a:solidFill>
              <a:effectLst/>
              <a:latin typeface="Arial" pitchFamily="34" charset="0"/>
            </a:endParaRPr>
          </a:p>
        </p:txBody>
      </p:sp>
      <p:sp>
        <p:nvSpPr>
          <p:cNvPr id="34826" name="Rectangle 10"/>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34827" name="Rectangle 11"/>
          <p:cNvSpPr>
            <a:spLocks noChangeArrowheads="1"/>
          </p:cNvSpPr>
          <p:nvPr/>
        </p:nvSpPr>
        <p:spPr bwMode="auto">
          <a:xfrm>
            <a:off x="0" y="7239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4162425" algn="l"/>
              </a:tabLst>
            </a:pPr>
            <a:endParaRPr kumimoji="0" lang="es-ES" sz="1800" b="0" i="0" u="none" strike="noStrike" cap="none" normalizeH="0" baseline="0" smtClean="0">
              <a:ln>
                <a:noFill/>
              </a:ln>
              <a:solidFill>
                <a:schemeClr val="tx1"/>
              </a:solidFill>
              <a:effectLst/>
              <a:latin typeface="Arial" pitchFamily="34" charset="0"/>
            </a:endParaRPr>
          </a:p>
        </p:txBody>
      </p:sp>
      <p:sp>
        <p:nvSpPr>
          <p:cNvPr id="23" name="22 CuadroTexto"/>
          <p:cNvSpPr txBox="1"/>
          <p:nvPr/>
        </p:nvSpPr>
        <p:spPr>
          <a:xfrm>
            <a:off x="2643174" y="5429264"/>
            <a:ext cx="3183115" cy="477054"/>
          </a:xfrm>
          <a:prstGeom prst="rect">
            <a:avLst/>
          </a:prstGeom>
          <a:noFill/>
        </p:spPr>
        <p:txBody>
          <a:bodyPr wrap="none" rtlCol="0">
            <a:spAutoFit/>
          </a:bodyPr>
          <a:lstStyle/>
          <a:p>
            <a:r>
              <a:rPr lang="es-CO" sz="2500" dirty="0" smtClean="0"/>
              <a:t>es independiente de </a:t>
            </a:r>
            <a:r>
              <a:rPr lang="es-CO" sz="2500" i="1" dirty="0" smtClean="0"/>
              <a:t>D.</a:t>
            </a:r>
            <a:endParaRPr lang="es-ES" sz="2500" i="1" dirty="0"/>
          </a:p>
        </p:txBody>
      </p:sp>
      <p:sp>
        <p:nvSpPr>
          <p:cNvPr id="21" name="20 Rectángulo"/>
          <p:cNvSpPr/>
          <p:nvPr/>
        </p:nvSpPr>
        <p:spPr>
          <a:xfrm>
            <a:off x="0" y="6534859"/>
            <a:ext cx="9144032" cy="292388"/>
          </a:xfrm>
          <a:prstGeom prst="rect">
            <a:avLst/>
          </a:prstGeom>
        </p:spPr>
        <p:txBody>
          <a:bodyPr wrap="square">
            <a:spAutoFit/>
          </a:bodyPr>
          <a:lstStyle/>
          <a:p>
            <a:pPr algn="ctr"/>
            <a:r>
              <a:rPr lang="es-CO" sz="1300" dirty="0" smtClean="0">
                <a:solidFill>
                  <a:schemeClr val="tx1">
                    <a:lumMod val="50000"/>
                    <a:lumOff val="50000"/>
                  </a:schemeClr>
                </a:solidFill>
              </a:rPr>
              <a:t>Guía Práctica para la Evaluación de Impacto /Capítulo 9: Funciones de Control/19</a:t>
            </a:r>
            <a:endParaRPr lang="es-ES" sz="1300" dirty="0">
              <a:solidFill>
                <a:schemeClr val="tx1">
                  <a:lumMod val="50000"/>
                  <a:lumOff val="50000"/>
                </a:schemeClr>
              </a:solidFill>
            </a:endParaRPr>
          </a:p>
        </p:txBody>
      </p:sp>
      <p:graphicFrame>
        <p:nvGraphicFramePr>
          <p:cNvPr id="40962" name="Object 2"/>
          <p:cNvGraphicFramePr>
            <a:graphicFrameLocks noChangeAspect="1"/>
          </p:cNvGraphicFramePr>
          <p:nvPr/>
        </p:nvGraphicFramePr>
        <p:xfrm>
          <a:off x="788083" y="2928934"/>
          <a:ext cx="7855883" cy="1071570"/>
        </p:xfrm>
        <a:graphic>
          <a:graphicData uri="http://schemas.openxmlformats.org/presentationml/2006/ole">
            <mc:AlternateContent xmlns:mc="http://schemas.openxmlformats.org/markup-compatibility/2006">
              <mc:Choice xmlns:v="urn:schemas-microsoft-com:vml" Requires="v">
                <p:oleObj spid="_x0000_s40978" name="Documento" r:id="rId5" imgW="5411304" imgH="738178" progId="Word.Document.12">
                  <p:embed/>
                </p:oleObj>
              </mc:Choice>
              <mc:Fallback>
                <p:oleObj name="Documento" r:id="rId5" imgW="5411304" imgH="738178" progId="Word.Document.12">
                  <p:embed/>
                  <p:pic>
                    <p:nvPicPr>
                      <p:cNvPr id="0" name="Picture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88083" y="2928934"/>
                        <a:ext cx="7855883" cy="1071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0963" name="Object 3"/>
          <p:cNvGraphicFramePr>
            <a:graphicFrameLocks noChangeAspect="1"/>
          </p:cNvGraphicFramePr>
          <p:nvPr/>
        </p:nvGraphicFramePr>
        <p:xfrm>
          <a:off x="-3714808" y="4572008"/>
          <a:ext cx="9776837" cy="785818"/>
        </p:xfrm>
        <a:graphic>
          <a:graphicData uri="http://schemas.openxmlformats.org/presentationml/2006/ole">
            <mc:AlternateContent xmlns:mc="http://schemas.openxmlformats.org/markup-compatibility/2006">
              <mc:Choice xmlns:v="urn:schemas-microsoft-com:vml" Requires="v">
                <p:oleObj spid="_x0000_s40979" name="Documento" r:id="rId8" imgW="5411304" imgH="435133" progId="Word.Document.12">
                  <p:embed/>
                </p:oleObj>
              </mc:Choice>
              <mc:Fallback>
                <p:oleObj name="Documento" r:id="rId8" imgW="5411304" imgH="435133" progId="Word.Document.12">
                  <p:embed/>
                  <p:pic>
                    <p:nvPicPr>
                      <p:cNvPr id="0" name="Picture 1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14808" y="4572008"/>
                        <a:ext cx="9776837" cy="785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0964" name="Object 4"/>
          <p:cNvGraphicFramePr>
            <a:graphicFrameLocks noChangeAspect="1"/>
          </p:cNvGraphicFramePr>
          <p:nvPr/>
        </p:nvGraphicFramePr>
        <p:xfrm>
          <a:off x="4286248" y="5000636"/>
          <a:ext cx="6683375" cy="642937"/>
        </p:xfrm>
        <a:graphic>
          <a:graphicData uri="http://schemas.openxmlformats.org/presentationml/2006/ole">
            <mc:AlternateContent xmlns:mc="http://schemas.openxmlformats.org/markup-compatibility/2006">
              <mc:Choice xmlns:v="urn:schemas-microsoft-com:vml" Requires="v">
                <p:oleObj spid="_x0000_s40980" name="Documento" r:id="rId11" imgW="5411304" imgH="520792" progId="Word.Document.12">
                  <p:embed/>
                </p:oleObj>
              </mc:Choice>
              <mc:Fallback>
                <p:oleObj name="Documento" r:id="rId11" imgW="5411304" imgH="520792" progId="Word.Document.12">
                  <p:embed/>
                  <p:pic>
                    <p:nvPicPr>
                      <p:cNvPr id="0" name="Picture 1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286248" y="5000636"/>
                        <a:ext cx="6683375" cy="642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0965" name="Object 5"/>
          <p:cNvGraphicFramePr>
            <a:graphicFrameLocks noChangeAspect="1"/>
          </p:cNvGraphicFramePr>
          <p:nvPr/>
        </p:nvGraphicFramePr>
        <p:xfrm>
          <a:off x="-1487474" y="5357826"/>
          <a:ext cx="8059738" cy="746125"/>
        </p:xfrm>
        <a:graphic>
          <a:graphicData uri="http://schemas.openxmlformats.org/presentationml/2006/ole">
            <mc:AlternateContent xmlns:mc="http://schemas.openxmlformats.org/markup-compatibility/2006">
              <mc:Choice xmlns:v="urn:schemas-microsoft-com:vml" Requires="v">
                <p:oleObj spid="_x0000_s40981" name="Documento" r:id="rId14" imgW="5411304" imgH="503516" progId="Word.Document.12">
                  <p:embed/>
                </p:oleObj>
              </mc:Choice>
              <mc:Fallback>
                <p:oleObj name="Documento" r:id="rId14" imgW="5411304" imgH="503516" progId="Word.Document.12">
                  <p:embed/>
                  <p:pic>
                    <p:nvPicPr>
                      <p:cNvPr id="0" name="Picture 1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487474" y="5357826"/>
                        <a:ext cx="8059738" cy="746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normAutofit/>
          </a:bodyPr>
          <a:lstStyle/>
          <a:p>
            <a:pPr>
              <a:buNone/>
            </a:pPr>
            <a:endParaRPr lang="es-CO" sz="2500" dirty="0" smtClean="0"/>
          </a:p>
          <a:p>
            <a:pPr>
              <a:buNone/>
            </a:pPr>
            <a:endParaRPr lang="es-CO" sz="2500" dirty="0" smtClean="0"/>
          </a:p>
          <a:p>
            <a:pPr>
              <a:buNone/>
            </a:pPr>
            <a:r>
              <a:rPr lang="es-CO" sz="2500" dirty="0" smtClean="0"/>
              <a:t>	</a:t>
            </a:r>
          </a:p>
          <a:p>
            <a:pPr>
              <a:buNone/>
            </a:pPr>
            <a:endParaRPr lang="es-CO" sz="2500" dirty="0" smtClean="0"/>
          </a:p>
          <a:p>
            <a:pPr>
              <a:buNone/>
            </a:pPr>
            <a:r>
              <a:rPr lang="es-CO" sz="2500" dirty="0" smtClean="0"/>
              <a:t>	</a:t>
            </a:r>
          </a:p>
          <a:p>
            <a:pPr algn="ctr">
              <a:buNone/>
            </a:pPr>
            <a:r>
              <a:rPr lang="es-CO" sz="2500" dirty="0" smtClean="0"/>
              <a:t>	La ecuación incorpora, a través de funciones de control, la decisión de participación en la estimación del impacto del programa.</a:t>
            </a:r>
            <a:endParaRPr lang="es-ES" sz="2500" dirty="0"/>
          </a:p>
        </p:txBody>
      </p:sp>
      <p:pic>
        <p:nvPicPr>
          <p:cNvPr id="4" name="Picture 1"/>
          <p:cNvPicPr>
            <a:picLocks noChangeAspect="1" noChangeArrowheads="1"/>
          </p:cNvPicPr>
          <p:nvPr/>
        </p:nvPicPr>
        <p:blipFill>
          <a:blip r:embed="rId4" cstate="print"/>
          <a:srcRect/>
          <a:stretch>
            <a:fillRect/>
          </a:stretch>
        </p:blipFill>
        <p:spPr bwMode="auto">
          <a:xfrm>
            <a:off x="0" y="-24"/>
            <a:ext cx="2500298" cy="1189301"/>
          </a:xfrm>
          <a:prstGeom prst="rect">
            <a:avLst/>
          </a:prstGeom>
          <a:noFill/>
          <a:ln w="9525">
            <a:noFill/>
            <a:miter lim="800000"/>
            <a:headEnd/>
            <a:tailEnd/>
          </a:ln>
          <a:effectLst/>
        </p:spPr>
      </p:pic>
      <p:sp>
        <p:nvSpPr>
          <p:cNvPr id="5" name="1 Título"/>
          <p:cNvSpPr>
            <a:spLocks noGrp="1"/>
          </p:cNvSpPr>
          <p:nvPr>
            <p:ph type="title"/>
          </p:nvPr>
        </p:nvSpPr>
        <p:spPr>
          <a:xfrm>
            <a:off x="2571736" y="142852"/>
            <a:ext cx="6143668" cy="1082660"/>
          </a:xfrm>
        </p:spPr>
        <p:txBody>
          <a:bodyPr>
            <a:noAutofit/>
          </a:bodyPr>
          <a:lstStyle/>
          <a:p>
            <a:r>
              <a:rPr lang="es-AR" sz="4200" u="sng" dirty="0" smtClean="0"/>
              <a:t>Segunda etapa: </a:t>
            </a:r>
            <a:br>
              <a:rPr lang="es-AR" sz="4200" u="sng" dirty="0" smtClean="0"/>
            </a:br>
            <a:r>
              <a:rPr lang="es-AR" sz="4200" u="sng" dirty="0" smtClean="0"/>
              <a:t>Estimación de </a:t>
            </a:r>
            <a:r>
              <a:rPr lang="es-AR" sz="4200" i="1" u="sng" dirty="0" smtClean="0"/>
              <a:t>Y</a:t>
            </a:r>
            <a:r>
              <a:rPr lang="es-AR" sz="4200" u="sng" dirty="0" smtClean="0"/>
              <a:t>       </a:t>
            </a:r>
            <a:endParaRPr lang="es-AR" sz="4200" i="1" u="sng" dirty="0"/>
          </a:p>
        </p:txBody>
      </p:sp>
      <p:sp>
        <p:nvSpPr>
          <p:cNvPr id="12290"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899829" rIns="91440" bIns="899829" numCol="1" anchor="ctr" anchorCtr="0" compatLnSpc="1">
            <a:prstTxWarp prst="textNoShape">
              <a:avLst/>
            </a:prstTxWarp>
            <a:spAutoFit/>
          </a:bodyPr>
          <a:lstStyle/>
          <a:p>
            <a:endParaRPr lang="es-ES"/>
          </a:p>
        </p:txBody>
      </p:sp>
      <p:sp>
        <p:nvSpPr>
          <p:cNvPr id="12291" name="Rectangle 3"/>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9" name="8 Rectángulo"/>
          <p:cNvSpPr/>
          <p:nvPr/>
        </p:nvSpPr>
        <p:spPr>
          <a:xfrm>
            <a:off x="0" y="6534859"/>
            <a:ext cx="9144032" cy="323165"/>
          </a:xfrm>
          <a:prstGeom prst="rect">
            <a:avLst/>
          </a:prstGeom>
        </p:spPr>
        <p:txBody>
          <a:bodyPr wrap="square">
            <a:spAutoFit/>
          </a:bodyPr>
          <a:lstStyle/>
          <a:p>
            <a:pPr algn="ctr"/>
            <a:r>
              <a:rPr lang="es-CO" sz="1500" dirty="0" smtClean="0">
                <a:solidFill>
                  <a:schemeClr val="tx1">
                    <a:lumMod val="50000"/>
                    <a:lumOff val="50000"/>
                  </a:schemeClr>
                </a:solidFill>
              </a:rPr>
              <a:t>Guía Práctica para la Evaluación de Impacto /Capítulo 9: Funciones de Control/20</a:t>
            </a:r>
            <a:endParaRPr lang="es-ES" sz="1500" dirty="0">
              <a:solidFill>
                <a:schemeClr val="tx1">
                  <a:lumMod val="50000"/>
                  <a:lumOff val="50000"/>
                </a:schemeClr>
              </a:solidFill>
            </a:endParaRPr>
          </a:p>
        </p:txBody>
      </p:sp>
      <p:graphicFrame>
        <p:nvGraphicFramePr>
          <p:cNvPr id="39938" name="Object 2"/>
          <p:cNvGraphicFramePr>
            <a:graphicFrameLocks noChangeAspect="1"/>
          </p:cNvGraphicFramePr>
          <p:nvPr/>
        </p:nvGraphicFramePr>
        <p:xfrm>
          <a:off x="785786" y="2571744"/>
          <a:ext cx="7856538" cy="1071562"/>
        </p:xfrm>
        <a:graphic>
          <a:graphicData uri="http://schemas.openxmlformats.org/presentationml/2006/ole">
            <mc:AlternateContent xmlns:mc="http://schemas.openxmlformats.org/markup-compatibility/2006">
              <mc:Choice xmlns:v="urn:schemas-microsoft-com:vml" Requires="v">
                <p:oleObj spid="_x0000_s39942" name="Documento" r:id="rId6" imgW="5411304" imgH="738178" progId="Word.Document.12">
                  <p:embed/>
                </p:oleObj>
              </mc:Choice>
              <mc:Fallback>
                <p:oleObj name="Documento" r:id="rId6" imgW="5411304" imgH="738178" progId="Word.Document.12">
                  <p:embed/>
                  <p:pic>
                    <p:nvPicPr>
                      <p:cNvPr id="0"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85786" y="2571744"/>
                        <a:ext cx="7856538" cy="1071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600200"/>
            <a:ext cx="8229600" cy="4686320"/>
          </a:xfrm>
          <a:ln w="28575">
            <a:solidFill>
              <a:schemeClr val="accent1">
                <a:lumMod val="75000"/>
              </a:schemeClr>
            </a:solidFill>
          </a:ln>
        </p:spPr>
        <p:txBody>
          <a:bodyPr>
            <a:normAutofit/>
          </a:bodyPr>
          <a:lstStyle/>
          <a:p>
            <a:pPr>
              <a:buNone/>
            </a:pPr>
            <a:r>
              <a:rPr lang="es-CO" sz="2500" b="1" u="sng" dirty="0" smtClean="0"/>
              <a:t>Supuesto:</a:t>
            </a:r>
            <a:r>
              <a:rPr lang="es-CO" sz="2500" dirty="0" smtClean="0"/>
              <a:t> El estado nutricional de los niños y la participación en el programa dependen de las redes sociales de las madres, que no son observables.</a:t>
            </a:r>
          </a:p>
          <a:p>
            <a:pPr>
              <a:buNone/>
            </a:pPr>
            <a:endParaRPr lang="es-CO" sz="2500" dirty="0" smtClean="0"/>
          </a:p>
          <a:p>
            <a:pPr>
              <a:buNone/>
            </a:pPr>
            <a:r>
              <a:rPr lang="es-CO" sz="2500" dirty="0" smtClean="0"/>
              <a:t>	Usando el método de variables de control y asumiendo que la distribución      y      : </a:t>
            </a:r>
          </a:p>
          <a:p>
            <a:pPr>
              <a:buNone/>
            </a:pPr>
            <a:r>
              <a:rPr lang="es-CO" sz="2500" dirty="0" smtClean="0"/>
              <a:t>	</a:t>
            </a:r>
            <a:endParaRPr lang="es-ES" sz="2500" dirty="0"/>
          </a:p>
        </p:txBody>
      </p:sp>
      <p:pic>
        <p:nvPicPr>
          <p:cNvPr id="4" name="Picture 1"/>
          <p:cNvPicPr>
            <a:picLocks noChangeAspect="1" noChangeArrowheads="1"/>
          </p:cNvPicPr>
          <p:nvPr/>
        </p:nvPicPr>
        <p:blipFill>
          <a:blip r:embed="rId3" cstate="print"/>
          <a:srcRect/>
          <a:stretch>
            <a:fillRect/>
          </a:stretch>
        </p:blipFill>
        <p:spPr bwMode="auto">
          <a:xfrm>
            <a:off x="0" y="-24"/>
            <a:ext cx="2500298" cy="1189301"/>
          </a:xfrm>
          <a:prstGeom prst="rect">
            <a:avLst/>
          </a:prstGeom>
          <a:noFill/>
          <a:ln w="9525">
            <a:noFill/>
            <a:miter lim="800000"/>
            <a:headEnd/>
            <a:tailEnd/>
          </a:ln>
          <a:effectLst/>
        </p:spPr>
      </p:pic>
      <p:sp>
        <p:nvSpPr>
          <p:cNvPr id="5" name="1 Título"/>
          <p:cNvSpPr txBox="1">
            <a:spLocks/>
          </p:cNvSpPr>
          <p:nvPr/>
        </p:nvSpPr>
        <p:spPr>
          <a:xfrm>
            <a:off x="2571736" y="346076"/>
            <a:ext cx="6143668" cy="1082660"/>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s-AR" sz="4200" b="0" i="0" u="sng" strike="noStrike" kern="1200" cap="none" spc="0" normalizeH="0" baseline="0" noProof="0" dirty="0" smtClean="0">
                <a:ln>
                  <a:noFill/>
                </a:ln>
                <a:solidFill>
                  <a:schemeClr val="tx1"/>
                </a:solidFill>
                <a:effectLst/>
                <a:uLnTx/>
                <a:uFillTx/>
                <a:latin typeface="+mj-lt"/>
                <a:ea typeface="+mj-ea"/>
                <a:cs typeface="+mj-cs"/>
              </a:rPr>
              <a:t>Ejemplo </a:t>
            </a:r>
            <a:r>
              <a:rPr kumimoji="0" lang="es-AR" sz="4200" b="0" i="1" u="sng" strike="noStrike" kern="1200" cap="none" spc="0" normalizeH="0" baseline="0" noProof="0" dirty="0" smtClean="0">
                <a:ln>
                  <a:noFill/>
                </a:ln>
                <a:solidFill>
                  <a:schemeClr val="tx1"/>
                </a:solidFill>
                <a:effectLst/>
                <a:uLnTx/>
                <a:uFillTx/>
                <a:latin typeface="+mj-lt"/>
                <a:ea typeface="+mj-ea"/>
                <a:cs typeface="+mj-cs"/>
              </a:rPr>
              <a:t>Canasta</a:t>
            </a:r>
            <a:endParaRPr kumimoji="0" lang="es-AR" sz="4200" b="0" i="1" u="sng" strike="noStrike" kern="1200" cap="none" spc="0" normalizeH="0" baseline="0" noProof="0" dirty="0">
              <a:ln>
                <a:noFill/>
              </a:ln>
              <a:solidFill>
                <a:schemeClr val="tx1"/>
              </a:solidFill>
              <a:effectLst/>
              <a:uLnTx/>
              <a:uFillTx/>
              <a:latin typeface="+mj-lt"/>
              <a:ea typeface="+mj-ea"/>
              <a:cs typeface="+mj-cs"/>
            </a:endParaRPr>
          </a:p>
        </p:txBody>
      </p:sp>
      <p:sp>
        <p:nvSpPr>
          <p:cNvPr id="45058"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45059" name="Rectangle 3"/>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45061"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45062" name="Rectangle 6"/>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45064" name="Rectangle 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45065" name="Rectangle 9"/>
          <p:cNvSpPr>
            <a:spLocks noChangeArrowheads="1"/>
          </p:cNvSpPr>
          <p:nvPr/>
        </p:nvSpPr>
        <p:spPr bwMode="auto">
          <a:xfrm>
            <a:off x="0" y="13239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16" name="15 CuadroTexto"/>
          <p:cNvSpPr txBox="1"/>
          <p:nvPr/>
        </p:nvSpPr>
        <p:spPr>
          <a:xfrm>
            <a:off x="857224" y="5143512"/>
            <a:ext cx="1133644" cy="477054"/>
          </a:xfrm>
          <a:prstGeom prst="rect">
            <a:avLst/>
          </a:prstGeom>
          <a:noFill/>
        </p:spPr>
        <p:txBody>
          <a:bodyPr wrap="none" rtlCol="0">
            <a:spAutoFit/>
          </a:bodyPr>
          <a:lstStyle/>
          <a:p>
            <a:r>
              <a:rPr lang="es-CO" sz="2500" dirty="0" smtClean="0"/>
              <a:t>Donde:</a:t>
            </a:r>
            <a:endParaRPr lang="es-ES" sz="2500" dirty="0"/>
          </a:p>
        </p:txBody>
      </p:sp>
      <p:sp>
        <p:nvSpPr>
          <p:cNvPr id="45067" name="Rectangle 1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45069" name="Rectangle 13"/>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45070" name="Rectangle 14"/>
          <p:cNvSpPr>
            <a:spLocks noChangeArrowheads="1"/>
          </p:cNvSpPr>
          <p:nvPr/>
        </p:nvSpPr>
        <p:spPr bwMode="auto">
          <a:xfrm>
            <a:off x="0" y="8096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cxnSp>
        <p:nvCxnSpPr>
          <p:cNvPr id="22" name="21 Conector recto de flecha"/>
          <p:cNvCxnSpPr/>
          <p:nvPr/>
        </p:nvCxnSpPr>
        <p:spPr>
          <a:xfrm>
            <a:off x="2928926" y="5786454"/>
            <a:ext cx="64294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3" name="22 CuadroTexto"/>
          <p:cNvSpPr txBox="1"/>
          <p:nvPr/>
        </p:nvSpPr>
        <p:spPr>
          <a:xfrm>
            <a:off x="3643306" y="5572140"/>
            <a:ext cx="3319563" cy="477054"/>
          </a:xfrm>
          <a:prstGeom prst="rect">
            <a:avLst/>
          </a:prstGeom>
          <a:noFill/>
        </p:spPr>
        <p:txBody>
          <a:bodyPr wrap="none" rtlCol="0">
            <a:spAutoFit/>
          </a:bodyPr>
          <a:lstStyle/>
          <a:p>
            <a:r>
              <a:rPr lang="es-CO" sz="2500" dirty="0" smtClean="0"/>
              <a:t>Varianza de la variable </a:t>
            </a:r>
            <a:r>
              <a:rPr lang="es-CO" sz="2500" i="1" dirty="0" smtClean="0">
                <a:latin typeface="Garamond" pitchFamily="18" charset="0"/>
              </a:rPr>
              <a:t>i</a:t>
            </a:r>
            <a:r>
              <a:rPr lang="es-CO" sz="2500" dirty="0" smtClean="0"/>
              <a:t>.</a:t>
            </a:r>
            <a:endParaRPr lang="es-ES" sz="2500" dirty="0"/>
          </a:p>
        </p:txBody>
      </p:sp>
      <p:sp>
        <p:nvSpPr>
          <p:cNvPr id="45072" name="Rectangle 1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24" name="23 Rectángulo"/>
          <p:cNvSpPr/>
          <p:nvPr/>
        </p:nvSpPr>
        <p:spPr>
          <a:xfrm>
            <a:off x="0" y="6534859"/>
            <a:ext cx="9144032" cy="323165"/>
          </a:xfrm>
          <a:prstGeom prst="rect">
            <a:avLst/>
          </a:prstGeom>
        </p:spPr>
        <p:txBody>
          <a:bodyPr wrap="square">
            <a:spAutoFit/>
          </a:bodyPr>
          <a:lstStyle/>
          <a:p>
            <a:pPr algn="ctr"/>
            <a:r>
              <a:rPr lang="es-CO" sz="1500" dirty="0" smtClean="0">
                <a:solidFill>
                  <a:schemeClr val="tx1">
                    <a:lumMod val="50000"/>
                    <a:lumOff val="50000"/>
                  </a:schemeClr>
                </a:solidFill>
              </a:rPr>
              <a:t>Guía Práctica para la Evaluación de Impacto /Capítulo 9: Funciones de Control/21</a:t>
            </a:r>
            <a:endParaRPr lang="es-ES" sz="1500" dirty="0">
              <a:solidFill>
                <a:schemeClr val="tx1">
                  <a:lumMod val="50000"/>
                  <a:lumOff val="50000"/>
                </a:schemeClr>
              </a:solidFill>
            </a:endParaRPr>
          </a:p>
        </p:txBody>
      </p:sp>
      <p:graphicFrame>
        <p:nvGraphicFramePr>
          <p:cNvPr id="37889" name="Object 1"/>
          <p:cNvGraphicFramePr>
            <a:graphicFrameLocks noChangeAspect="1"/>
          </p:cNvGraphicFramePr>
          <p:nvPr/>
        </p:nvGraphicFramePr>
        <p:xfrm>
          <a:off x="884153" y="4152916"/>
          <a:ext cx="7144231" cy="2062166"/>
        </p:xfrm>
        <a:graphic>
          <a:graphicData uri="http://schemas.openxmlformats.org/presentationml/2006/ole">
            <mc:AlternateContent xmlns:mc="http://schemas.openxmlformats.org/markup-compatibility/2006">
              <mc:Choice xmlns:v="urn:schemas-microsoft-com:vml" Requires="v">
                <p:oleObj spid="_x0000_s37907" name="Documento" r:id="rId5" imgW="5414329" imgH="1561147" progId="Word.Document.12">
                  <p:embed/>
                </p:oleObj>
              </mc:Choice>
              <mc:Fallback>
                <p:oleObj name="Documento" r:id="rId5" imgW="5414329" imgH="1561147" progId="Word.Document.12">
                  <p:embed/>
                  <p:pic>
                    <p:nvPicPr>
                      <p:cNvPr id="0" name="Picture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84153" y="4152916"/>
                        <a:ext cx="7144231" cy="20621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7890" name="Object 2"/>
          <p:cNvGraphicFramePr>
            <a:graphicFrameLocks noChangeAspect="1"/>
          </p:cNvGraphicFramePr>
          <p:nvPr/>
        </p:nvGraphicFramePr>
        <p:xfrm>
          <a:off x="-396863" y="3643314"/>
          <a:ext cx="6683375" cy="642937"/>
        </p:xfrm>
        <a:graphic>
          <a:graphicData uri="http://schemas.openxmlformats.org/presentationml/2006/ole">
            <mc:AlternateContent xmlns:mc="http://schemas.openxmlformats.org/markup-compatibility/2006">
              <mc:Choice xmlns:v="urn:schemas-microsoft-com:vml" Requires="v">
                <p:oleObj spid="_x0000_s37908" name="Documento" r:id="rId8" imgW="5411304" imgH="520792" progId="Word.Document.12">
                  <p:embed/>
                </p:oleObj>
              </mc:Choice>
              <mc:Fallback>
                <p:oleObj name="Documento" r:id="rId8" imgW="5411304" imgH="520792" progId="Word.Document.12">
                  <p:embed/>
                  <p:pic>
                    <p:nvPicPr>
                      <p:cNvPr id="0" name="Picture 1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6863" y="3643314"/>
                        <a:ext cx="6683375" cy="642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7891" name="Object 3"/>
          <p:cNvGraphicFramePr>
            <a:graphicFrameLocks noChangeAspect="1"/>
          </p:cNvGraphicFramePr>
          <p:nvPr/>
        </p:nvGraphicFramePr>
        <p:xfrm>
          <a:off x="238140" y="3659194"/>
          <a:ext cx="6619876" cy="627062"/>
        </p:xfrm>
        <a:graphic>
          <a:graphicData uri="http://schemas.openxmlformats.org/presentationml/2006/ole">
            <mc:AlternateContent xmlns:mc="http://schemas.openxmlformats.org/markup-compatibility/2006">
              <mc:Choice xmlns:v="urn:schemas-microsoft-com:vml" Requires="v">
                <p:oleObj spid="_x0000_s37909" name="Documento" r:id="rId11" imgW="5411304" imgH="520792" progId="Word.Document.12">
                  <p:embed/>
                </p:oleObj>
              </mc:Choice>
              <mc:Fallback>
                <p:oleObj name="Documento" r:id="rId11" imgW="5411304" imgH="520792" progId="Word.Document.12">
                  <p:embed/>
                  <p:pic>
                    <p:nvPicPr>
                      <p:cNvPr id="0" name="Picture 1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38140" y="3659194"/>
                        <a:ext cx="6619876" cy="627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7893"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graphicFrame>
        <p:nvGraphicFramePr>
          <p:cNvPr id="37894" name="Object 6"/>
          <p:cNvGraphicFramePr>
            <a:graphicFrameLocks noChangeAspect="1"/>
          </p:cNvGraphicFramePr>
          <p:nvPr/>
        </p:nvGraphicFramePr>
        <p:xfrm>
          <a:off x="-418987" y="5472131"/>
          <a:ext cx="6143115" cy="600075"/>
        </p:xfrm>
        <a:graphic>
          <a:graphicData uri="http://schemas.openxmlformats.org/presentationml/2006/ole">
            <mc:AlternateContent xmlns:mc="http://schemas.openxmlformats.org/markup-compatibility/2006">
              <mc:Choice xmlns:v="urn:schemas-microsoft-com:vml" Requires="v">
                <p:oleObj spid="_x0000_s37910" name="Documento" r:id="rId14" imgW="5411304" imgH="528350" progId="Word.Document.12">
                  <p:embed/>
                </p:oleObj>
              </mc:Choice>
              <mc:Fallback>
                <p:oleObj name="Documento" r:id="rId14" imgW="5411304" imgH="528350" progId="Word.Document.12">
                  <p:embed/>
                  <p:pic>
                    <p:nvPicPr>
                      <p:cNvPr id="0" name="Picture 1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18987" y="5472131"/>
                        <a:ext cx="6143115" cy="60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ln w="28575">
            <a:solidFill>
              <a:schemeClr val="accent1">
                <a:lumMod val="75000"/>
              </a:schemeClr>
            </a:solidFill>
          </a:ln>
        </p:spPr>
        <p:txBody>
          <a:bodyPr/>
          <a:lstStyle/>
          <a:p>
            <a:pPr>
              <a:buNone/>
            </a:pPr>
            <a:r>
              <a:rPr lang="es-CO" sz="2500" dirty="0" smtClean="0"/>
              <a:t>	La </a:t>
            </a:r>
            <a:r>
              <a:rPr lang="es-CO" sz="2500" u="sng" dirty="0" smtClean="0"/>
              <a:t>primera etapa</a:t>
            </a:r>
            <a:r>
              <a:rPr lang="es-CO" sz="2500" dirty="0" smtClean="0"/>
              <a:t> se estima la probabilidad de participación usando un </a:t>
            </a:r>
            <a:r>
              <a:rPr lang="es-CO" sz="2500" dirty="0" err="1" smtClean="0"/>
              <a:t>probit</a:t>
            </a:r>
            <a:r>
              <a:rPr lang="es-CO" sz="2500" dirty="0" smtClean="0"/>
              <a:t>:</a:t>
            </a:r>
          </a:p>
          <a:p>
            <a:pPr>
              <a:buNone/>
            </a:pPr>
            <a:r>
              <a:rPr lang="es-CO" sz="2500" dirty="0" smtClean="0"/>
              <a:t>	</a:t>
            </a:r>
            <a:endParaRPr lang="es-ES" sz="2500" dirty="0"/>
          </a:p>
        </p:txBody>
      </p:sp>
      <p:pic>
        <p:nvPicPr>
          <p:cNvPr id="4" name="Picture 1"/>
          <p:cNvPicPr>
            <a:picLocks noChangeAspect="1" noChangeArrowheads="1"/>
          </p:cNvPicPr>
          <p:nvPr/>
        </p:nvPicPr>
        <p:blipFill>
          <a:blip r:embed="rId4" cstate="print"/>
          <a:srcRect/>
          <a:stretch>
            <a:fillRect/>
          </a:stretch>
        </p:blipFill>
        <p:spPr bwMode="auto">
          <a:xfrm>
            <a:off x="0" y="-24"/>
            <a:ext cx="2500298" cy="1189301"/>
          </a:xfrm>
          <a:prstGeom prst="rect">
            <a:avLst/>
          </a:prstGeom>
          <a:noFill/>
          <a:ln w="9525">
            <a:noFill/>
            <a:miter lim="800000"/>
            <a:headEnd/>
            <a:tailEnd/>
          </a:ln>
          <a:effectLst/>
        </p:spPr>
      </p:pic>
      <p:sp>
        <p:nvSpPr>
          <p:cNvPr id="5" name="1 Título"/>
          <p:cNvSpPr txBox="1">
            <a:spLocks/>
          </p:cNvSpPr>
          <p:nvPr/>
        </p:nvSpPr>
        <p:spPr>
          <a:xfrm>
            <a:off x="2571736" y="346076"/>
            <a:ext cx="6143668" cy="1082660"/>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s-AR" sz="4200" b="0" i="0" u="sng" strike="noStrike" kern="1200" cap="none" spc="0" normalizeH="0" baseline="0" noProof="0" dirty="0" smtClean="0">
                <a:ln>
                  <a:noFill/>
                </a:ln>
                <a:solidFill>
                  <a:schemeClr val="tx1"/>
                </a:solidFill>
                <a:effectLst/>
                <a:uLnTx/>
                <a:uFillTx/>
                <a:latin typeface="+mj-lt"/>
                <a:ea typeface="+mj-ea"/>
                <a:cs typeface="+mj-cs"/>
              </a:rPr>
              <a:t>Ejemplo </a:t>
            </a:r>
            <a:r>
              <a:rPr kumimoji="0" lang="es-AR" sz="4200" b="0" i="1" u="sng" strike="noStrike" kern="1200" cap="none" spc="0" normalizeH="0" baseline="0" noProof="0" dirty="0" smtClean="0">
                <a:ln>
                  <a:noFill/>
                </a:ln>
                <a:solidFill>
                  <a:schemeClr val="tx1"/>
                </a:solidFill>
                <a:effectLst/>
                <a:uLnTx/>
                <a:uFillTx/>
                <a:latin typeface="+mj-lt"/>
                <a:ea typeface="+mj-ea"/>
                <a:cs typeface="+mj-cs"/>
              </a:rPr>
              <a:t>Canasta</a:t>
            </a:r>
            <a:endParaRPr kumimoji="0" lang="es-AR" sz="4200" b="0" i="1" u="sng" strike="noStrike" kern="1200" cap="none" spc="0" normalizeH="0" baseline="0" noProof="0" dirty="0">
              <a:ln>
                <a:noFill/>
              </a:ln>
              <a:solidFill>
                <a:schemeClr val="tx1"/>
              </a:solidFill>
              <a:effectLst/>
              <a:uLnTx/>
              <a:uFillTx/>
              <a:latin typeface="+mj-lt"/>
              <a:ea typeface="+mj-ea"/>
              <a:cs typeface="+mj-cs"/>
            </a:endParaRPr>
          </a:p>
        </p:txBody>
      </p:sp>
      <p:sp>
        <p:nvSpPr>
          <p:cNvPr id="4710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47107" name="Rectangle 3"/>
          <p:cNvSpPr>
            <a:spLocks noChangeArrowheads="1"/>
          </p:cNvSpPr>
          <p:nvPr/>
        </p:nvSpPr>
        <p:spPr bwMode="auto">
          <a:xfrm>
            <a:off x="0" y="7810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10" name="9 CuadroTexto"/>
          <p:cNvSpPr txBox="1"/>
          <p:nvPr/>
        </p:nvSpPr>
        <p:spPr>
          <a:xfrm>
            <a:off x="1000100" y="3214686"/>
            <a:ext cx="1133644" cy="477054"/>
          </a:xfrm>
          <a:prstGeom prst="rect">
            <a:avLst/>
          </a:prstGeom>
          <a:noFill/>
        </p:spPr>
        <p:txBody>
          <a:bodyPr wrap="none" rtlCol="0">
            <a:spAutoFit/>
          </a:bodyPr>
          <a:lstStyle/>
          <a:p>
            <a:r>
              <a:rPr lang="es-CO" sz="2500" dirty="0" smtClean="0"/>
              <a:t>Donde:</a:t>
            </a:r>
            <a:endParaRPr lang="es-ES" sz="2500" dirty="0"/>
          </a:p>
        </p:txBody>
      </p:sp>
      <p:sp>
        <p:nvSpPr>
          <p:cNvPr id="47109"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17" name="16 Abrir llave"/>
          <p:cNvSpPr/>
          <p:nvPr/>
        </p:nvSpPr>
        <p:spPr>
          <a:xfrm>
            <a:off x="1571604" y="3714752"/>
            <a:ext cx="71438" cy="107157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18" name="17 CuadroTexto"/>
          <p:cNvSpPr txBox="1"/>
          <p:nvPr/>
        </p:nvSpPr>
        <p:spPr>
          <a:xfrm>
            <a:off x="1643042" y="3737764"/>
            <a:ext cx="5570307" cy="477054"/>
          </a:xfrm>
          <a:prstGeom prst="rect">
            <a:avLst/>
          </a:prstGeom>
          <a:noFill/>
        </p:spPr>
        <p:txBody>
          <a:bodyPr wrap="none" rtlCol="0">
            <a:spAutoFit/>
          </a:bodyPr>
          <a:lstStyle/>
          <a:p>
            <a:r>
              <a:rPr lang="es-CO" sz="2500" dirty="0" smtClean="0"/>
              <a:t>1      si la familia participa en el programa</a:t>
            </a:r>
            <a:endParaRPr lang="es-ES" sz="2500" dirty="0"/>
          </a:p>
        </p:txBody>
      </p:sp>
      <p:sp>
        <p:nvSpPr>
          <p:cNvPr id="19" name="18 CuadroTexto"/>
          <p:cNvSpPr txBox="1"/>
          <p:nvPr/>
        </p:nvSpPr>
        <p:spPr>
          <a:xfrm>
            <a:off x="1643042" y="4309268"/>
            <a:ext cx="2682722" cy="477054"/>
          </a:xfrm>
          <a:prstGeom prst="rect">
            <a:avLst/>
          </a:prstGeom>
          <a:noFill/>
        </p:spPr>
        <p:txBody>
          <a:bodyPr wrap="none" rtlCol="0">
            <a:spAutoFit/>
          </a:bodyPr>
          <a:lstStyle/>
          <a:p>
            <a:r>
              <a:rPr lang="es-CO" sz="2500" dirty="0" smtClean="0"/>
              <a:t>0      de lo contrario</a:t>
            </a:r>
            <a:endParaRPr lang="es-ES" sz="2500" dirty="0"/>
          </a:p>
        </p:txBody>
      </p:sp>
      <p:sp>
        <p:nvSpPr>
          <p:cNvPr id="47111"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cxnSp>
        <p:nvCxnSpPr>
          <p:cNvPr id="23" name="22 Conector recto de flecha"/>
          <p:cNvCxnSpPr/>
          <p:nvPr/>
        </p:nvCxnSpPr>
        <p:spPr>
          <a:xfrm>
            <a:off x="1500166" y="5357826"/>
            <a:ext cx="64294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4" name="23 CuadroTexto"/>
          <p:cNvSpPr txBox="1"/>
          <p:nvPr/>
        </p:nvSpPr>
        <p:spPr>
          <a:xfrm>
            <a:off x="2143108" y="5138994"/>
            <a:ext cx="6215106" cy="861774"/>
          </a:xfrm>
          <a:prstGeom prst="rect">
            <a:avLst/>
          </a:prstGeom>
          <a:noFill/>
        </p:spPr>
        <p:txBody>
          <a:bodyPr wrap="square" rtlCol="0">
            <a:spAutoFit/>
          </a:bodyPr>
          <a:lstStyle/>
          <a:p>
            <a:r>
              <a:rPr lang="es-CO" sz="2500" dirty="0" smtClean="0"/>
              <a:t>Variables observables que determinan la participación en el programa.</a:t>
            </a:r>
            <a:endParaRPr lang="es-ES" sz="2500" dirty="0"/>
          </a:p>
        </p:txBody>
      </p:sp>
      <p:sp>
        <p:nvSpPr>
          <p:cNvPr id="20" name="19 Rectángulo"/>
          <p:cNvSpPr/>
          <p:nvPr/>
        </p:nvSpPr>
        <p:spPr>
          <a:xfrm>
            <a:off x="0" y="6534859"/>
            <a:ext cx="9144032" cy="323165"/>
          </a:xfrm>
          <a:prstGeom prst="rect">
            <a:avLst/>
          </a:prstGeom>
        </p:spPr>
        <p:txBody>
          <a:bodyPr wrap="square">
            <a:spAutoFit/>
          </a:bodyPr>
          <a:lstStyle/>
          <a:p>
            <a:pPr algn="ctr"/>
            <a:r>
              <a:rPr lang="es-CO" sz="1500" dirty="0" smtClean="0">
                <a:solidFill>
                  <a:schemeClr val="tx1">
                    <a:lumMod val="50000"/>
                    <a:lumOff val="50000"/>
                  </a:schemeClr>
                </a:solidFill>
              </a:rPr>
              <a:t>Guía Práctica para la Evaluación de Impacto /Capítulo 9: Funciones de Control/22</a:t>
            </a:r>
            <a:endParaRPr lang="es-ES" sz="1500" dirty="0">
              <a:solidFill>
                <a:schemeClr val="tx1">
                  <a:lumMod val="50000"/>
                  <a:lumOff val="50000"/>
                </a:schemeClr>
              </a:solidFill>
            </a:endParaRPr>
          </a:p>
        </p:txBody>
      </p:sp>
      <p:graphicFrame>
        <p:nvGraphicFramePr>
          <p:cNvPr id="36866" name="Object 2"/>
          <p:cNvGraphicFramePr>
            <a:graphicFrameLocks noChangeAspect="1"/>
          </p:cNvGraphicFramePr>
          <p:nvPr/>
        </p:nvGraphicFramePr>
        <p:xfrm>
          <a:off x="-2340768" y="3982198"/>
          <a:ext cx="7215238" cy="670938"/>
        </p:xfrm>
        <a:graphic>
          <a:graphicData uri="http://schemas.openxmlformats.org/presentationml/2006/ole">
            <mc:AlternateContent xmlns:mc="http://schemas.openxmlformats.org/markup-compatibility/2006">
              <mc:Choice xmlns:v="urn:schemas-microsoft-com:vml" Requires="v">
                <p:oleObj spid="_x0000_s36878" name="Documento" r:id="rId6" imgW="5411304" imgH="503516" progId="Word.Document.12">
                  <p:embed/>
                </p:oleObj>
              </mc:Choice>
              <mc:Fallback>
                <p:oleObj name="Documento" r:id="rId6" imgW="5411304" imgH="503516" progId="Word.Document.12">
                  <p:embed/>
                  <p:pic>
                    <p:nvPicPr>
                      <p:cNvPr id="0" name="Picture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40768" y="3982198"/>
                        <a:ext cx="7215238" cy="670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6867" name="Object 3"/>
          <p:cNvGraphicFramePr>
            <a:graphicFrameLocks noChangeAspect="1"/>
          </p:cNvGraphicFramePr>
          <p:nvPr/>
        </p:nvGraphicFramePr>
        <p:xfrm>
          <a:off x="-2686705" y="4929198"/>
          <a:ext cx="7901647" cy="928694"/>
        </p:xfrm>
        <a:graphic>
          <a:graphicData uri="http://schemas.openxmlformats.org/presentationml/2006/ole">
            <mc:AlternateContent xmlns:mc="http://schemas.openxmlformats.org/markup-compatibility/2006">
              <mc:Choice xmlns:v="urn:schemas-microsoft-com:vml" Requires="v">
                <p:oleObj spid="_x0000_s36879" name="Documento" r:id="rId9" imgW="5411304" imgH="554983" progId="Word.Document.12">
                  <p:embed/>
                </p:oleObj>
              </mc:Choice>
              <mc:Fallback>
                <p:oleObj name="Documento" r:id="rId9" imgW="5411304" imgH="554983" progId="Word.Document.12">
                  <p:embed/>
                  <p:pic>
                    <p:nvPicPr>
                      <p:cNvPr id="0" name="Picture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686705" y="4929198"/>
                        <a:ext cx="7901647" cy="9286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6868" name="Object 4"/>
          <p:cNvGraphicFramePr>
            <a:graphicFrameLocks noChangeAspect="1"/>
          </p:cNvGraphicFramePr>
          <p:nvPr/>
        </p:nvGraphicFramePr>
        <p:xfrm>
          <a:off x="820738" y="2605088"/>
          <a:ext cx="7323137" cy="681037"/>
        </p:xfrm>
        <a:graphic>
          <a:graphicData uri="http://schemas.openxmlformats.org/presentationml/2006/ole">
            <mc:AlternateContent xmlns:mc="http://schemas.openxmlformats.org/markup-compatibility/2006">
              <mc:Choice xmlns:v="urn:schemas-microsoft-com:vml" Requires="v">
                <p:oleObj spid="_x0000_s36880" name="Documento" r:id="rId12" imgW="5397500" imgH="504362" progId="Word.Document.12">
                  <p:embed/>
                </p:oleObj>
              </mc:Choice>
              <mc:Fallback>
                <p:oleObj name="Documento" r:id="rId12" imgW="5397500" imgH="504362" progId="Word.Document.12">
                  <p:embed/>
                  <p:pic>
                    <p:nvPicPr>
                      <p:cNvPr id="0" name="Picture 1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20738" y="2605088"/>
                        <a:ext cx="7323137" cy="681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357298"/>
            <a:ext cx="8229600" cy="4929222"/>
          </a:xfrm>
          <a:ln w="28575">
            <a:solidFill>
              <a:schemeClr val="accent1">
                <a:lumMod val="75000"/>
              </a:schemeClr>
            </a:solidFill>
          </a:ln>
        </p:spPr>
        <p:txBody>
          <a:bodyPr/>
          <a:lstStyle/>
          <a:p>
            <a:pPr>
              <a:buNone/>
            </a:pPr>
            <a:r>
              <a:rPr lang="es-CO" dirty="0" smtClean="0"/>
              <a:t>	</a:t>
            </a:r>
            <a:r>
              <a:rPr lang="es-CO" sz="2500" dirty="0" smtClean="0"/>
              <a:t>Con los estimadores     se calculan las funciones de control: </a:t>
            </a:r>
          </a:p>
          <a:p>
            <a:pPr>
              <a:buNone/>
            </a:pPr>
            <a:r>
              <a:rPr lang="es-CO" sz="2500" dirty="0" smtClean="0"/>
              <a:t>	</a:t>
            </a:r>
          </a:p>
          <a:p>
            <a:pPr>
              <a:buNone/>
            </a:pPr>
            <a:r>
              <a:rPr lang="es-CO" sz="2500" dirty="0" smtClean="0"/>
              <a:t>	Para los que participan</a:t>
            </a:r>
          </a:p>
          <a:p>
            <a:pPr>
              <a:buNone/>
            </a:pPr>
            <a:endParaRPr lang="es-CO" sz="2500" dirty="0" smtClean="0"/>
          </a:p>
          <a:p>
            <a:pPr>
              <a:buNone/>
            </a:pPr>
            <a:r>
              <a:rPr lang="es-CO" sz="2500" dirty="0" smtClean="0"/>
              <a:t>	Para los que no participan</a:t>
            </a:r>
          </a:p>
          <a:p>
            <a:pPr>
              <a:buNone/>
            </a:pPr>
            <a:r>
              <a:rPr lang="es-CO" sz="2500" dirty="0" smtClean="0"/>
              <a:t>	 </a:t>
            </a:r>
            <a:endParaRPr lang="es-ES" sz="2500" dirty="0"/>
          </a:p>
        </p:txBody>
      </p:sp>
      <p:pic>
        <p:nvPicPr>
          <p:cNvPr id="5" name="Picture 1"/>
          <p:cNvPicPr>
            <a:picLocks noChangeAspect="1" noChangeArrowheads="1"/>
          </p:cNvPicPr>
          <p:nvPr/>
        </p:nvPicPr>
        <p:blipFill>
          <a:blip r:embed="rId3" cstate="print"/>
          <a:srcRect/>
          <a:stretch>
            <a:fillRect/>
          </a:stretch>
        </p:blipFill>
        <p:spPr bwMode="auto">
          <a:xfrm>
            <a:off x="0" y="-24"/>
            <a:ext cx="2500298" cy="1189301"/>
          </a:xfrm>
          <a:prstGeom prst="rect">
            <a:avLst/>
          </a:prstGeom>
          <a:noFill/>
          <a:ln w="9525">
            <a:noFill/>
            <a:miter lim="800000"/>
            <a:headEnd/>
            <a:tailEnd/>
          </a:ln>
          <a:effectLst/>
        </p:spPr>
      </p:pic>
      <p:sp>
        <p:nvSpPr>
          <p:cNvPr id="6" name="1 Título"/>
          <p:cNvSpPr txBox="1">
            <a:spLocks/>
          </p:cNvSpPr>
          <p:nvPr/>
        </p:nvSpPr>
        <p:spPr>
          <a:xfrm>
            <a:off x="2571736" y="142852"/>
            <a:ext cx="6143668" cy="1082660"/>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s-AR" sz="4200" b="0" i="0" u="sng" strike="noStrike" kern="1200" cap="none" spc="0" normalizeH="0" baseline="0" noProof="0" dirty="0" smtClean="0">
                <a:ln>
                  <a:noFill/>
                </a:ln>
                <a:solidFill>
                  <a:schemeClr val="tx1"/>
                </a:solidFill>
                <a:effectLst/>
                <a:uLnTx/>
                <a:uFillTx/>
                <a:latin typeface="+mj-lt"/>
                <a:ea typeface="+mj-ea"/>
                <a:cs typeface="+mj-cs"/>
              </a:rPr>
              <a:t>Ejemplo </a:t>
            </a:r>
            <a:r>
              <a:rPr kumimoji="0" lang="es-AR" sz="4200" b="0" i="1" u="sng" strike="noStrike" kern="1200" cap="none" spc="0" normalizeH="0" baseline="0" noProof="0" dirty="0" smtClean="0">
                <a:ln>
                  <a:noFill/>
                </a:ln>
                <a:solidFill>
                  <a:schemeClr val="tx1"/>
                </a:solidFill>
                <a:effectLst/>
                <a:uLnTx/>
                <a:uFillTx/>
                <a:latin typeface="+mj-lt"/>
                <a:ea typeface="+mj-ea"/>
                <a:cs typeface="+mj-cs"/>
              </a:rPr>
              <a:t>Canasta</a:t>
            </a:r>
            <a:endParaRPr kumimoji="0" lang="es-AR" sz="4200" b="0" i="1" u="sng" strike="noStrike" kern="1200" cap="none" spc="0" normalizeH="0" baseline="0" noProof="0" dirty="0">
              <a:ln>
                <a:noFill/>
              </a:ln>
              <a:solidFill>
                <a:schemeClr val="tx1"/>
              </a:solidFill>
              <a:effectLst/>
              <a:uLnTx/>
              <a:uFillTx/>
              <a:latin typeface="+mj-lt"/>
              <a:ea typeface="+mj-ea"/>
              <a:cs typeface="+mj-cs"/>
            </a:endParaRPr>
          </a:p>
        </p:txBody>
      </p:sp>
      <p:sp>
        <p:nvSpPr>
          <p:cNvPr id="4915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pic>
        <p:nvPicPr>
          <p:cNvPr id="49153" name="Picture 1"/>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3571868" y="1428736"/>
            <a:ext cx="214314" cy="428628"/>
          </a:xfrm>
          <a:prstGeom prst="rect">
            <a:avLst/>
          </a:prstGeom>
          <a:noFill/>
        </p:spPr>
      </p:pic>
      <p:sp>
        <p:nvSpPr>
          <p:cNvPr id="49156" name="Rectangle 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49157" name="Rectangle 5"/>
          <p:cNvSpPr>
            <a:spLocks noChangeArrowheads="1"/>
          </p:cNvSpPr>
          <p:nvPr/>
        </p:nvSpPr>
        <p:spPr bwMode="auto">
          <a:xfrm>
            <a:off x="0" y="1152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cxnSp>
        <p:nvCxnSpPr>
          <p:cNvPr id="13" name="12 Conector recto de flecha"/>
          <p:cNvCxnSpPr/>
          <p:nvPr/>
        </p:nvCxnSpPr>
        <p:spPr>
          <a:xfrm>
            <a:off x="4214810" y="2571744"/>
            <a:ext cx="64294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13 Conector recto de flecha"/>
          <p:cNvCxnSpPr/>
          <p:nvPr/>
        </p:nvCxnSpPr>
        <p:spPr>
          <a:xfrm>
            <a:off x="4286248" y="3500438"/>
            <a:ext cx="64294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9159" name="Rectangle 7"/>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49160" name="Rectangle 8"/>
          <p:cNvSpPr>
            <a:spLocks noChangeArrowheads="1"/>
          </p:cNvSpPr>
          <p:nvPr/>
        </p:nvSpPr>
        <p:spPr bwMode="auto">
          <a:xfrm>
            <a:off x="0" y="1152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18" name="17 CuadroTexto"/>
          <p:cNvSpPr txBox="1"/>
          <p:nvPr/>
        </p:nvSpPr>
        <p:spPr>
          <a:xfrm>
            <a:off x="928662" y="4000504"/>
            <a:ext cx="7786742" cy="1246495"/>
          </a:xfrm>
          <a:prstGeom prst="rect">
            <a:avLst/>
          </a:prstGeom>
          <a:noFill/>
        </p:spPr>
        <p:txBody>
          <a:bodyPr wrap="square" rtlCol="0">
            <a:spAutoFit/>
          </a:bodyPr>
          <a:lstStyle/>
          <a:p>
            <a:r>
              <a:rPr lang="es-CO" sz="2500" dirty="0" smtClean="0"/>
              <a:t>En la </a:t>
            </a:r>
            <a:r>
              <a:rPr lang="es-CO" sz="2500" u="sng" dirty="0" smtClean="0"/>
              <a:t>segunda etapa</a:t>
            </a:r>
            <a:r>
              <a:rPr lang="es-CO" sz="2500" dirty="0" smtClean="0"/>
              <a:t>:</a:t>
            </a:r>
          </a:p>
          <a:p>
            <a:r>
              <a:rPr lang="es-CO" sz="2500" dirty="0" smtClean="0"/>
              <a:t>Se incorporan las funciones de control en la estimación del impacto de </a:t>
            </a:r>
            <a:r>
              <a:rPr lang="es-CO" sz="2500" i="1" dirty="0" smtClean="0"/>
              <a:t>Canasta</a:t>
            </a:r>
            <a:endParaRPr lang="es-ES" sz="2500" i="1" dirty="0"/>
          </a:p>
        </p:txBody>
      </p:sp>
      <p:sp>
        <p:nvSpPr>
          <p:cNvPr id="21" name="20 Rectángulo"/>
          <p:cNvSpPr/>
          <p:nvPr/>
        </p:nvSpPr>
        <p:spPr>
          <a:xfrm>
            <a:off x="0" y="6534859"/>
            <a:ext cx="9144032" cy="323165"/>
          </a:xfrm>
          <a:prstGeom prst="rect">
            <a:avLst/>
          </a:prstGeom>
        </p:spPr>
        <p:txBody>
          <a:bodyPr wrap="square">
            <a:spAutoFit/>
          </a:bodyPr>
          <a:lstStyle/>
          <a:p>
            <a:pPr algn="ctr"/>
            <a:r>
              <a:rPr lang="es-CO" sz="1500" dirty="0" smtClean="0">
                <a:solidFill>
                  <a:schemeClr val="tx1">
                    <a:lumMod val="50000"/>
                    <a:lumOff val="50000"/>
                  </a:schemeClr>
                </a:solidFill>
              </a:rPr>
              <a:t>Guía Práctica para la Evaluación de Impacto /Capítulo 9: Funciones de Control/23</a:t>
            </a:r>
            <a:endParaRPr lang="es-ES" sz="1500" dirty="0">
              <a:solidFill>
                <a:schemeClr val="tx1">
                  <a:lumMod val="50000"/>
                  <a:lumOff val="50000"/>
                </a:schemeClr>
              </a:solidFill>
            </a:endParaRPr>
          </a:p>
        </p:txBody>
      </p:sp>
      <p:graphicFrame>
        <p:nvGraphicFramePr>
          <p:cNvPr id="34820" name="Object 4"/>
          <p:cNvGraphicFramePr>
            <a:graphicFrameLocks noChangeAspect="1"/>
          </p:cNvGraphicFramePr>
          <p:nvPr/>
        </p:nvGraphicFramePr>
        <p:xfrm>
          <a:off x="2595563" y="2063750"/>
          <a:ext cx="6691312" cy="1079500"/>
        </p:xfrm>
        <a:graphic>
          <a:graphicData uri="http://schemas.openxmlformats.org/presentationml/2006/ole">
            <mc:AlternateContent xmlns:mc="http://schemas.openxmlformats.org/markup-compatibility/2006">
              <mc:Choice xmlns:v="urn:schemas-microsoft-com:vml" Requires="v">
                <p:oleObj spid="_x0000_s34832" name="Documento" r:id="rId6" imgW="5397500" imgH="875333" progId="Word.Document.12">
                  <p:embed/>
                </p:oleObj>
              </mc:Choice>
              <mc:Fallback>
                <p:oleObj name="Documento" r:id="rId6" imgW="5397500" imgH="875333" progId="Word.Document.12">
                  <p:embed/>
                  <p:pic>
                    <p:nvPicPr>
                      <p:cNvPr id="0" name="Picture 1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95563" y="2063750"/>
                        <a:ext cx="6691312" cy="1079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4821" name="Object 5"/>
          <p:cNvGraphicFramePr>
            <a:graphicFrameLocks noChangeAspect="1"/>
          </p:cNvGraphicFramePr>
          <p:nvPr/>
        </p:nvGraphicFramePr>
        <p:xfrm>
          <a:off x="2778125" y="3063875"/>
          <a:ext cx="6689725" cy="1079500"/>
        </p:xfrm>
        <a:graphic>
          <a:graphicData uri="http://schemas.openxmlformats.org/presentationml/2006/ole">
            <mc:AlternateContent xmlns:mc="http://schemas.openxmlformats.org/markup-compatibility/2006">
              <mc:Choice xmlns:v="urn:schemas-microsoft-com:vml" Requires="v">
                <p:oleObj spid="_x0000_s34833" name="Documento" r:id="rId9" imgW="5397500" imgH="875333" progId="Word.Document.12">
                  <p:embed/>
                </p:oleObj>
              </mc:Choice>
              <mc:Fallback>
                <p:oleObj name="Documento" r:id="rId9" imgW="5397500" imgH="875333" progId="Word.Document.12">
                  <p:embed/>
                  <p:pic>
                    <p:nvPicPr>
                      <p:cNvPr id="0" name="Picture 1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778125" y="3063875"/>
                        <a:ext cx="6689725" cy="1079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4822" name="Object 6"/>
          <p:cNvGraphicFramePr>
            <a:graphicFrameLocks noChangeAspect="1"/>
          </p:cNvGraphicFramePr>
          <p:nvPr/>
        </p:nvGraphicFramePr>
        <p:xfrm>
          <a:off x="787400" y="5214938"/>
          <a:ext cx="7856538" cy="1071562"/>
        </p:xfrm>
        <a:graphic>
          <a:graphicData uri="http://schemas.openxmlformats.org/presentationml/2006/ole">
            <mc:AlternateContent xmlns:mc="http://schemas.openxmlformats.org/markup-compatibility/2006">
              <mc:Choice xmlns:v="urn:schemas-microsoft-com:vml" Requires="v">
                <p:oleObj spid="_x0000_s34834" name="Documento" r:id="rId12" imgW="5397500" imgH="739419" progId="Word.Document.12">
                  <p:embed/>
                </p:oleObj>
              </mc:Choice>
              <mc:Fallback>
                <p:oleObj name="Documento" r:id="rId12" imgW="5397500" imgH="739419" progId="Word.Document.12">
                  <p:embed/>
                  <p:pic>
                    <p:nvPicPr>
                      <p:cNvPr id="0" name="Picture 1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87400" y="5214938"/>
                        <a:ext cx="7856538" cy="1071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571612"/>
            <a:ext cx="8229600" cy="4554551"/>
          </a:xfrm>
          <a:ln w="28575">
            <a:solidFill>
              <a:schemeClr val="accent1">
                <a:lumMod val="75000"/>
              </a:schemeClr>
            </a:solidFill>
          </a:ln>
        </p:spPr>
        <p:txBody>
          <a:bodyPr/>
          <a:lstStyle/>
          <a:p>
            <a:pPr algn="ctr">
              <a:buNone/>
            </a:pPr>
            <a:r>
              <a:rPr lang="es-CO" sz="2500" dirty="0" smtClean="0"/>
              <a:t>El estimador de       por MCO      </a:t>
            </a:r>
            <a:endParaRPr lang="es-ES" sz="2500" dirty="0"/>
          </a:p>
        </p:txBody>
      </p:sp>
      <p:pic>
        <p:nvPicPr>
          <p:cNvPr id="4" name="Picture 1"/>
          <p:cNvPicPr>
            <a:picLocks noChangeAspect="1" noChangeArrowheads="1"/>
          </p:cNvPicPr>
          <p:nvPr/>
        </p:nvPicPr>
        <p:blipFill>
          <a:blip r:embed="rId3" cstate="print"/>
          <a:srcRect/>
          <a:stretch>
            <a:fillRect/>
          </a:stretch>
        </p:blipFill>
        <p:spPr bwMode="auto">
          <a:xfrm>
            <a:off x="0" y="-24"/>
            <a:ext cx="2500298" cy="1189301"/>
          </a:xfrm>
          <a:prstGeom prst="rect">
            <a:avLst/>
          </a:prstGeom>
          <a:noFill/>
          <a:ln w="9525">
            <a:noFill/>
            <a:miter lim="800000"/>
            <a:headEnd/>
            <a:tailEnd/>
          </a:ln>
          <a:effectLst/>
        </p:spPr>
      </p:pic>
      <p:sp>
        <p:nvSpPr>
          <p:cNvPr id="5" name="1 Título"/>
          <p:cNvSpPr txBox="1">
            <a:spLocks/>
          </p:cNvSpPr>
          <p:nvPr/>
        </p:nvSpPr>
        <p:spPr>
          <a:xfrm>
            <a:off x="2571736" y="142852"/>
            <a:ext cx="6143668" cy="1082660"/>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s-AR" sz="4200" b="0" i="0" u="sng" strike="noStrike" kern="1200" cap="none" spc="0" normalizeH="0" baseline="0" noProof="0" dirty="0" smtClean="0">
                <a:ln>
                  <a:noFill/>
                </a:ln>
                <a:solidFill>
                  <a:schemeClr val="tx1"/>
                </a:solidFill>
                <a:effectLst/>
                <a:uLnTx/>
                <a:uFillTx/>
                <a:latin typeface="+mj-lt"/>
                <a:ea typeface="+mj-ea"/>
                <a:cs typeface="+mj-cs"/>
              </a:rPr>
              <a:t>Ejemplo </a:t>
            </a:r>
            <a:r>
              <a:rPr kumimoji="0" lang="es-AR" sz="4200" b="0" i="1" u="sng" strike="noStrike" kern="1200" cap="none" spc="0" normalizeH="0" baseline="0" noProof="0" dirty="0" smtClean="0">
                <a:ln>
                  <a:noFill/>
                </a:ln>
                <a:solidFill>
                  <a:schemeClr val="tx1"/>
                </a:solidFill>
                <a:effectLst/>
                <a:uLnTx/>
                <a:uFillTx/>
                <a:latin typeface="+mj-lt"/>
                <a:ea typeface="+mj-ea"/>
                <a:cs typeface="+mj-cs"/>
              </a:rPr>
              <a:t>Canasta</a:t>
            </a:r>
            <a:endParaRPr kumimoji="0" lang="es-AR" sz="4200" b="0" i="1" u="sng" strike="noStrike" kern="1200" cap="none" spc="0" normalizeH="0" baseline="0" noProof="0" dirty="0">
              <a:ln>
                <a:noFill/>
              </a:ln>
              <a:solidFill>
                <a:schemeClr val="tx1"/>
              </a:solidFill>
              <a:effectLst/>
              <a:uLnTx/>
              <a:uFillTx/>
              <a:latin typeface="+mj-lt"/>
              <a:ea typeface="+mj-ea"/>
              <a:cs typeface="+mj-cs"/>
            </a:endParaRPr>
          </a:p>
        </p:txBody>
      </p:sp>
      <p:sp>
        <p:nvSpPr>
          <p:cNvPr id="5017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50180" name="Rectangle 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50181" name="Rectangle 5"/>
          <p:cNvSpPr>
            <a:spLocks noChangeArrowheads="1"/>
          </p:cNvSpPr>
          <p:nvPr/>
        </p:nvSpPr>
        <p:spPr bwMode="auto">
          <a:xfrm>
            <a:off x="0" y="7429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11" name="10 Flecha abajo"/>
          <p:cNvSpPr/>
          <p:nvPr/>
        </p:nvSpPr>
        <p:spPr>
          <a:xfrm>
            <a:off x="4500562" y="2285992"/>
            <a:ext cx="571504" cy="428628"/>
          </a:xfrm>
          <a:prstGeom prst="downArrow">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11 CuadroTexto"/>
          <p:cNvSpPr txBox="1"/>
          <p:nvPr/>
        </p:nvSpPr>
        <p:spPr>
          <a:xfrm>
            <a:off x="928663" y="2857496"/>
            <a:ext cx="7358113" cy="861774"/>
          </a:xfrm>
          <a:prstGeom prst="rect">
            <a:avLst/>
          </a:prstGeom>
          <a:noFill/>
        </p:spPr>
        <p:txBody>
          <a:bodyPr wrap="square" rtlCol="0">
            <a:spAutoFit/>
          </a:bodyPr>
          <a:lstStyle/>
          <a:p>
            <a:pPr algn="ctr"/>
            <a:r>
              <a:rPr lang="es-CO" sz="2500" dirty="0" smtClean="0"/>
              <a:t>Corresponde al estimador del método de funciones de control y es insesgado.</a:t>
            </a:r>
            <a:endParaRPr lang="es-ES" sz="2500" dirty="0"/>
          </a:p>
        </p:txBody>
      </p:sp>
      <p:sp>
        <p:nvSpPr>
          <p:cNvPr id="13" name="12 CuadroTexto"/>
          <p:cNvSpPr txBox="1"/>
          <p:nvPr/>
        </p:nvSpPr>
        <p:spPr>
          <a:xfrm>
            <a:off x="1214415" y="4500570"/>
            <a:ext cx="7000924" cy="1246495"/>
          </a:xfrm>
          <a:prstGeom prst="rect">
            <a:avLst/>
          </a:prstGeom>
          <a:noFill/>
          <a:ln>
            <a:solidFill>
              <a:schemeClr val="accent1">
                <a:lumMod val="60000"/>
                <a:lumOff val="40000"/>
              </a:schemeClr>
            </a:solidFill>
          </a:ln>
        </p:spPr>
        <p:txBody>
          <a:bodyPr wrap="square" rtlCol="0">
            <a:spAutoFit/>
          </a:bodyPr>
          <a:lstStyle/>
          <a:p>
            <a:pPr algn="ctr"/>
            <a:r>
              <a:rPr lang="es-CO" sz="2500" dirty="0" smtClean="0"/>
              <a:t>Las funciones de control eliminan el sesgo que proviene de las diferencias en capital social entre madres participantes y no participantes.</a:t>
            </a:r>
            <a:endParaRPr lang="es-ES" sz="2500" dirty="0"/>
          </a:p>
        </p:txBody>
      </p:sp>
      <p:sp>
        <p:nvSpPr>
          <p:cNvPr id="15" name="14 Rectángulo"/>
          <p:cNvSpPr/>
          <p:nvPr/>
        </p:nvSpPr>
        <p:spPr>
          <a:xfrm>
            <a:off x="0" y="6534859"/>
            <a:ext cx="9144032" cy="323165"/>
          </a:xfrm>
          <a:prstGeom prst="rect">
            <a:avLst/>
          </a:prstGeom>
        </p:spPr>
        <p:txBody>
          <a:bodyPr wrap="square">
            <a:spAutoFit/>
          </a:bodyPr>
          <a:lstStyle/>
          <a:p>
            <a:pPr algn="ctr"/>
            <a:r>
              <a:rPr lang="es-CO" sz="1500" dirty="0" smtClean="0">
                <a:solidFill>
                  <a:schemeClr val="tx1">
                    <a:lumMod val="50000"/>
                    <a:lumOff val="50000"/>
                  </a:schemeClr>
                </a:solidFill>
              </a:rPr>
              <a:t>Guía Práctica para la Evaluación de Impacto /Capítulo 9: Funciones de Control/24</a:t>
            </a:r>
            <a:endParaRPr lang="es-ES" sz="1500" dirty="0">
              <a:solidFill>
                <a:schemeClr val="tx1">
                  <a:lumMod val="50000"/>
                  <a:lumOff val="50000"/>
                </a:schemeClr>
              </a:solidFill>
            </a:endParaRPr>
          </a:p>
        </p:txBody>
      </p:sp>
      <p:graphicFrame>
        <p:nvGraphicFramePr>
          <p:cNvPr id="33793" name="Object 1"/>
          <p:cNvGraphicFramePr>
            <a:graphicFrameLocks noChangeAspect="1"/>
          </p:cNvGraphicFramePr>
          <p:nvPr/>
        </p:nvGraphicFramePr>
        <p:xfrm>
          <a:off x="1920364" y="1556792"/>
          <a:ext cx="6180028" cy="574675"/>
        </p:xfrm>
        <a:graphic>
          <a:graphicData uri="http://schemas.openxmlformats.org/presentationml/2006/ole">
            <mc:AlternateContent xmlns:mc="http://schemas.openxmlformats.org/markup-compatibility/2006">
              <mc:Choice xmlns:v="urn:schemas-microsoft-com:vml" Requires="v">
                <p:oleObj spid="_x0000_s33801" name="Documento" r:id="rId5" imgW="5411304" imgH="503516" progId="Word.Document.12">
                  <p:embed/>
                </p:oleObj>
              </mc:Choice>
              <mc:Fallback>
                <p:oleObj name="Documento" r:id="rId5" imgW="5411304" imgH="503516" progId="Word.Document.12">
                  <p:embed/>
                  <p:pic>
                    <p:nvPicPr>
                      <p:cNvPr id="0"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20364" y="1556792"/>
                        <a:ext cx="6180028" cy="57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3794" name="Object 2"/>
          <p:cNvGraphicFramePr>
            <a:graphicFrameLocks noChangeAspect="1"/>
          </p:cNvGraphicFramePr>
          <p:nvPr/>
        </p:nvGraphicFramePr>
        <p:xfrm>
          <a:off x="3563888" y="1540718"/>
          <a:ext cx="6129337" cy="592138"/>
        </p:xfrm>
        <a:graphic>
          <a:graphicData uri="http://schemas.openxmlformats.org/presentationml/2006/ole">
            <mc:AlternateContent xmlns:mc="http://schemas.openxmlformats.org/markup-compatibility/2006">
              <mc:Choice xmlns:v="urn:schemas-microsoft-com:vml" Requires="v">
                <p:oleObj spid="_x0000_s33802" name="Documento" r:id="rId8" imgW="5411304" imgH="529430" progId="Word.Document.12">
                  <p:embed/>
                </p:oleObj>
              </mc:Choice>
              <mc:Fallback>
                <p:oleObj name="Documento" r:id="rId8" imgW="5411304" imgH="529430" progId="Word.Document.12">
                  <p:embed/>
                  <p:pic>
                    <p:nvPicPr>
                      <p:cNvPr id="0" name="Picture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63888" y="1540718"/>
                        <a:ext cx="6129337" cy="592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643050"/>
            <a:ext cx="8229600" cy="4483113"/>
          </a:xfrm>
        </p:spPr>
        <p:txBody>
          <a:bodyPr>
            <a:normAutofit/>
          </a:bodyPr>
          <a:lstStyle/>
          <a:p>
            <a:pPr algn="ctr">
              <a:buNone/>
            </a:pPr>
            <a:r>
              <a:rPr lang="es-CO" sz="2500" dirty="0" smtClean="0"/>
              <a:t>Tiene consecuencias en              </a:t>
            </a:r>
          </a:p>
          <a:p>
            <a:pPr>
              <a:buNone/>
            </a:pPr>
            <a:r>
              <a:rPr lang="es-CO" sz="2500" dirty="0" smtClean="0"/>
              <a:t>	</a:t>
            </a:r>
          </a:p>
          <a:p>
            <a:pPr algn="ctr">
              <a:buNone/>
            </a:pPr>
            <a:r>
              <a:rPr lang="es-CO" sz="2500" dirty="0" smtClean="0"/>
              <a:t>	La decisión de participación, generada por el</a:t>
            </a:r>
          </a:p>
          <a:p>
            <a:pPr algn="ctr">
              <a:buNone/>
            </a:pPr>
            <a:r>
              <a:rPr lang="es-CO" sz="2500" dirty="0" smtClean="0"/>
              <a:t> proceso de selección.</a:t>
            </a:r>
            <a:endParaRPr lang="es-ES" sz="2500" dirty="0"/>
          </a:p>
        </p:txBody>
      </p:sp>
      <p:pic>
        <p:nvPicPr>
          <p:cNvPr id="4" name="Picture 1"/>
          <p:cNvPicPr>
            <a:picLocks noChangeAspect="1" noChangeArrowheads="1"/>
          </p:cNvPicPr>
          <p:nvPr/>
        </p:nvPicPr>
        <p:blipFill>
          <a:blip r:embed="rId2" cstate="print"/>
          <a:srcRect/>
          <a:stretch>
            <a:fillRect/>
          </a:stretch>
        </p:blipFill>
        <p:spPr bwMode="auto">
          <a:xfrm>
            <a:off x="0" y="-24"/>
            <a:ext cx="2500298" cy="1189301"/>
          </a:xfrm>
          <a:prstGeom prst="rect">
            <a:avLst/>
          </a:prstGeom>
          <a:noFill/>
          <a:ln w="9525">
            <a:noFill/>
            <a:miter lim="800000"/>
            <a:headEnd/>
            <a:tailEnd/>
          </a:ln>
          <a:effectLst/>
        </p:spPr>
      </p:pic>
      <p:sp>
        <p:nvSpPr>
          <p:cNvPr id="5" name="1 Título"/>
          <p:cNvSpPr>
            <a:spLocks noGrp="1"/>
          </p:cNvSpPr>
          <p:nvPr>
            <p:ph type="title"/>
          </p:nvPr>
        </p:nvSpPr>
        <p:spPr>
          <a:xfrm>
            <a:off x="2500298" y="142852"/>
            <a:ext cx="6357982" cy="1082660"/>
          </a:xfrm>
        </p:spPr>
        <p:txBody>
          <a:bodyPr>
            <a:noAutofit/>
          </a:bodyPr>
          <a:lstStyle/>
          <a:p>
            <a:r>
              <a:rPr lang="es-AR" sz="4200" u="sng" dirty="0" smtClean="0"/>
              <a:t>¿Qué genera el supuesto de normalidad en los errores?</a:t>
            </a:r>
            <a:endParaRPr lang="es-AR" sz="4200" i="1" u="sng" dirty="0"/>
          </a:p>
        </p:txBody>
      </p:sp>
      <p:sp>
        <p:nvSpPr>
          <p:cNvPr id="8" name="7 Flecha abajo"/>
          <p:cNvSpPr/>
          <p:nvPr/>
        </p:nvSpPr>
        <p:spPr>
          <a:xfrm>
            <a:off x="4357686" y="2143116"/>
            <a:ext cx="500066" cy="357190"/>
          </a:xfrm>
          <a:prstGeom prst="downArrow">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aphicFrame>
        <p:nvGraphicFramePr>
          <p:cNvPr id="9" name="8 Tabla"/>
          <p:cNvGraphicFramePr>
            <a:graphicFrameLocks noGrp="1"/>
          </p:cNvGraphicFramePr>
          <p:nvPr/>
        </p:nvGraphicFramePr>
        <p:xfrm>
          <a:off x="857224" y="3929066"/>
          <a:ext cx="7715304" cy="1935480"/>
        </p:xfrm>
        <a:graphic>
          <a:graphicData uri="http://schemas.openxmlformats.org/drawingml/2006/table">
            <a:tbl>
              <a:tblPr firstRow="1" bandRow="1">
                <a:tableStyleId>{5C22544A-7EE6-4342-B048-85BDC9FD1C3A}</a:tableStyleId>
              </a:tblPr>
              <a:tblGrid>
                <a:gridCol w="3857652"/>
                <a:gridCol w="3857652"/>
              </a:tblGrid>
              <a:tr h="415509">
                <a:tc>
                  <a:txBody>
                    <a:bodyPr/>
                    <a:lstStyle/>
                    <a:p>
                      <a:pPr algn="ctr"/>
                      <a:r>
                        <a:rPr lang="es-CO" sz="2300" dirty="0" smtClean="0">
                          <a:solidFill>
                            <a:schemeClr val="tx1"/>
                          </a:solidFill>
                        </a:rPr>
                        <a:t>Ventaja</a:t>
                      </a:r>
                      <a:endParaRPr lang="es-ES" sz="2300" dirty="0">
                        <a:solidFill>
                          <a:schemeClr val="tx1"/>
                        </a:solidFill>
                      </a:endParaRPr>
                    </a:p>
                  </a:txBody>
                  <a:tcPr>
                    <a:solidFill>
                      <a:schemeClr val="accent1">
                        <a:lumMod val="40000"/>
                        <a:lumOff val="60000"/>
                      </a:schemeClr>
                    </a:solidFill>
                  </a:tcPr>
                </a:tc>
                <a:tc>
                  <a:txBody>
                    <a:bodyPr/>
                    <a:lstStyle/>
                    <a:p>
                      <a:pPr algn="ctr"/>
                      <a:r>
                        <a:rPr lang="es-CO" sz="2300" dirty="0" smtClean="0">
                          <a:solidFill>
                            <a:schemeClr val="tx1"/>
                          </a:solidFill>
                        </a:rPr>
                        <a:t>Desventaja</a:t>
                      </a:r>
                      <a:endParaRPr lang="es-ES" sz="2300" dirty="0">
                        <a:solidFill>
                          <a:schemeClr val="tx1"/>
                        </a:solidFill>
                      </a:endParaRPr>
                    </a:p>
                  </a:txBody>
                  <a:tcPr>
                    <a:solidFill>
                      <a:schemeClr val="accent1">
                        <a:lumMod val="40000"/>
                        <a:lumOff val="60000"/>
                      </a:schemeClr>
                    </a:solidFill>
                  </a:tcPr>
                </a:tc>
              </a:tr>
              <a:tr h="1299003">
                <a:tc>
                  <a:txBody>
                    <a:bodyPr/>
                    <a:lstStyle/>
                    <a:p>
                      <a:r>
                        <a:rPr lang="es-CO" sz="2300" dirty="0" smtClean="0"/>
                        <a:t>Permite extrapolar</a:t>
                      </a:r>
                      <a:r>
                        <a:rPr lang="es-CO" sz="2300" baseline="0" dirty="0" smtClean="0"/>
                        <a:t> los resultados para hacer análisis de política contrafactual.</a:t>
                      </a:r>
                      <a:endParaRPr lang="es-ES" sz="2300" dirty="0"/>
                    </a:p>
                  </a:txBody>
                  <a:tcPr/>
                </a:tc>
                <a:tc>
                  <a:txBody>
                    <a:bodyPr/>
                    <a:lstStyle/>
                    <a:p>
                      <a:pPr algn="l"/>
                      <a:r>
                        <a:rPr lang="es-CO" sz="2300" dirty="0" smtClean="0"/>
                        <a:t>No es claro que la distribución</a:t>
                      </a:r>
                      <a:r>
                        <a:rPr lang="es-CO" sz="2300" baseline="0" dirty="0" smtClean="0"/>
                        <a:t> normal sea la que mejor se ajusta a los datos en todos los casos.</a:t>
                      </a:r>
                      <a:endParaRPr lang="es-ES" sz="2300" dirty="0"/>
                    </a:p>
                  </a:txBody>
                  <a:tcPr/>
                </a:tc>
              </a:tr>
            </a:tbl>
          </a:graphicData>
        </a:graphic>
      </p:graphicFrame>
      <p:sp>
        <p:nvSpPr>
          <p:cNvPr id="11" name="10 Rectángulo"/>
          <p:cNvSpPr/>
          <p:nvPr/>
        </p:nvSpPr>
        <p:spPr>
          <a:xfrm>
            <a:off x="0" y="6534859"/>
            <a:ext cx="9144032" cy="323165"/>
          </a:xfrm>
          <a:prstGeom prst="rect">
            <a:avLst/>
          </a:prstGeom>
        </p:spPr>
        <p:txBody>
          <a:bodyPr wrap="square">
            <a:spAutoFit/>
          </a:bodyPr>
          <a:lstStyle/>
          <a:p>
            <a:pPr algn="ctr"/>
            <a:r>
              <a:rPr lang="es-CO" sz="1500" dirty="0" smtClean="0">
                <a:solidFill>
                  <a:schemeClr val="tx1">
                    <a:lumMod val="50000"/>
                    <a:lumOff val="50000"/>
                  </a:schemeClr>
                </a:solidFill>
              </a:rPr>
              <a:t>Guía Práctica para la Evaluación de Impacto /Capítulo 9: Funciones de Control/25</a:t>
            </a:r>
            <a:endParaRPr lang="es-ES" sz="1500" dirty="0">
              <a:solidFill>
                <a:schemeClr val="tx1">
                  <a:lumMod val="50000"/>
                  <a:lumOff val="50000"/>
                </a:schemeClr>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28596" y="2285992"/>
            <a:ext cx="8215370" cy="4000528"/>
          </a:xfrm>
        </p:spPr>
        <p:txBody>
          <a:bodyPr>
            <a:normAutofit/>
          </a:bodyPr>
          <a:lstStyle/>
          <a:p>
            <a:pPr marL="457200" indent="-457200">
              <a:buNone/>
            </a:pPr>
            <a:r>
              <a:rPr lang="es-CO" sz="2500" dirty="0" smtClean="0"/>
              <a:t>	Con el método de </a:t>
            </a:r>
            <a:r>
              <a:rPr lang="es-CO" sz="2500" u="sng" dirty="0" smtClean="0"/>
              <a:t>emparejamiento</a:t>
            </a:r>
            <a:r>
              <a:rPr lang="es-CO" sz="2500" dirty="0" smtClean="0"/>
              <a:t>:</a:t>
            </a:r>
          </a:p>
          <a:p>
            <a:pPr marL="857250" lvl="1" indent="-457200">
              <a:buNone/>
            </a:pPr>
            <a:r>
              <a:rPr lang="es-CO" sz="2100" dirty="0" smtClean="0"/>
              <a:t>	</a:t>
            </a:r>
            <a:r>
              <a:rPr lang="es-CO" sz="2500" dirty="0" smtClean="0"/>
              <a:t>Caso particular de las funciones de control</a:t>
            </a:r>
            <a:r>
              <a:rPr lang="es-ES" sz="2500" dirty="0" smtClean="0"/>
              <a:t>, donde se asume que condicionar por variables observables elimina el sesgo de selección.</a:t>
            </a:r>
          </a:p>
          <a:p>
            <a:pPr marL="857250" lvl="1" indent="-457200">
              <a:buNone/>
            </a:pPr>
            <a:endParaRPr lang="es-CO" sz="2500" dirty="0" smtClean="0"/>
          </a:p>
          <a:p>
            <a:pPr marL="857250" lvl="1" indent="-457200">
              <a:buNone/>
            </a:pPr>
            <a:endParaRPr lang="es-ES" sz="2500" dirty="0" smtClean="0"/>
          </a:p>
        </p:txBody>
      </p:sp>
      <p:pic>
        <p:nvPicPr>
          <p:cNvPr id="4" name="Picture 1"/>
          <p:cNvPicPr>
            <a:picLocks noChangeAspect="1" noChangeArrowheads="1"/>
          </p:cNvPicPr>
          <p:nvPr/>
        </p:nvPicPr>
        <p:blipFill>
          <a:blip r:embed="rId3" cstate="print"/>
          <a:srcRect/>
          <a:stretch>
            <a:fillRect/>
          </a:stretch>
        </p:blipFill>
        <p:spPr bwMode="auto">
          <a:xfrm>
            <a:off x="0" y="-24"/>
            <a:ext cx="2500298" cy="1189301"/>
          </a:xfrm>
          <a:prstGeom prst="rect">
            <a:avLst/>
          </a:prstGeom>
          <a:noFill/>
          <a:ln w="9525">
            <a:noFill/>
            <a:miter lim="800000"/>
            <a:headEnd/>
            <a:tailEnd/>
          </a:ln>
          <a:effectLst/>
        </p:spPr>
      </p:pic>
      <p:sp>
        <p:nvSpPr>
          <p:cNvPr id="5" name="1 Título"/>
          <p:cNvSpPr>
            <a:spLocks noGrp="1"/>
          </p:cNvSpPr>
          <p:nvPr>
            <p:ph type="title"/>
          </p:nvPr>
        </p:nvSpPr>
        <p:spPr>
          <a:xfrm>
            <a:off x="2500298" y="142852"/>
            <a:ext cx="6357982" cy="1082660"/>
          </a:xfrm>
        </p:spPr>
        <p:txBody>
          <a:bodyPr>
            <a:noAutofit/>
          </a:bodyPr>
          <a:lstStyle/>
          <a:p>
            <a:r>
              <a:rPr lang="es-AR" sz="4200" u="sng" dirty="0" smtClean="0"/>
              <a:t>¿Cómo se relaciona este método con los demás?</a:t>
            </a:r>
            <a:endParaRPr lang="es-AR" sz="4200" i="1" u="sng" dirty="0"/>
          </a:p>
        </p:txBody>
      </p:sp>
      <p:cxnSp>
        <p:nvCxnSpPr>
          <p:cNvPr id="9" name="8 Conector recto"/>
          <p:cNvCxnSpPr/>
          <p:nvPr/>
        </p:nvCxnSpPr>
        <p:spPr>
          <a:xfrm rot="5400000">
            <a:off x="964381" y="2893215"/>
            <a:ext cx="2143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10 Conector recto de flecha"/>
          <p:cNvCxnSpPr/>
          <p:nvPr/>
        </p:nvCxnSpPr>
        <p:spPr>
          <a:xfrm>
            <a:off x="1071538" y="2998784"/>
            <a:ext cx="28575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 name="7 Rectángulo"/>
          <p:cNvSpPr/>
          <p:nvPr/>
        </p:nvSpPr>
        <p:spPr>
          <a:xfrm>
            <a:off x="0" y="6534859"/>
            <a:ext cx="9144032" cy="323165"/>
          </a:xfrm>
          <a:prstGeom prst="rect">
            <a:avLst/>
          </a:prstGeom>
        </p:spPr>
        <p:txBody>
          <a:bodyPr wrap="square">
            <a:spAutoFit/>
          </a:bodyPr>
          <a:lstStyle/>
          <a:p>
            <a:pPr algn="ctr"/>
            <a:r>
              <a:rPr lang="es-CO" sz="1500" dirty="0" smtClean="0">
                <a:solidFill>
                  <a:schemeClr val="tx1">
                    <a:lumMod val="50000"/>
                    <a:lumOff val="50000"/>
                  </a:schemeClr>
                </a:solidFill>
              </a:rPr>
              <a:t>Guía Práctica para la Evaluación de Impacto /Capítulo 9: Funciones de Control/26</a:t>
            </a:r>
            <a:endParaRPr lang="es-ES" sz="1500" dirty="0">
              <a:solidFill>
                <a:schemeClr val="tx1">
                  <a:lumMod val="50000"/>
                  <a:lumOff val="50000"/>
                </a:schemeClr>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928802"/>
            <a:ext cx="8229600" cy="4197361"/>
          </a:xfrm>
        </p:spPr>
        <p:txBody>
          <a:bodyPr/>
          <a:lstStyle/>
          <a:p>
            <a:pPr marL="857250" lvl="1" indent="-457200">
              <a:buNone/>
            </a:pPr>
            <a:r>
              <a:rPr lang="es-CO" sz="2500" dirty="0" smtClean="0"/>
              <a:t>Con el método de </a:t>
            </a:r>
            <a:r>
              <a:rPr lang="es-CO" sz="2500" u="sng" dirty="0" smtClean="0"/>
              <a:t>variables instrumentales</a:t>
            </a:r>
            <a:r>
              <a:rPr lang="es-CO" sz="2500" dirty="0" smtClean="0"/>
              <a:t>:</a:t>
            </a:r>
          </a:p>
          <a:p>
            <a:pPr marL="857250" lvl="1" indent="-457200">
              <a:buNone/>
            </a:pPr>
            <a:r>
              <a:rPr lang="es-CO" sz="2500" dirty="0" smtClean="0"/>
              <a:t>	Los dos métodos se basan en la disponibilidad de una restricción de exclusión.</a:t>
            </a:r>
          </a:p>
          <a:p>
            <a:pPr marL="857250" lvl="1" indent="-457200">
              <a:buNone/>
            </a:pPr>
            <a:r>
              <a:rPr lang="es-CO" sz="2500" dirty="0" smtClean="0"/>
              <a:t>	Diferencia: Uso de supuestos explícitos en las funciones de control acerca de la forma funcional y distribución de la regla de decisión de participación.</a:t>
            </a:r>
          </a:p>
          <a:p>
            <a:endParaRPr lang="es-ES" dirty="0"/>
          </a:p>
        </p:txBody>
      </p:sp>
      <p:sp>
        <p:nvSpPr>
          <p:cNvPr id="5" name="1 Título"/>
          <p:cNvSpPr>
            <a:spLocks noGrp="1"/>
          </p:cNvSpPr>
          <p:nvPr>
            <p:ph type="title"/>
          </p:nvPr>
        </p:nvSpPr>
        <p:spPr>
          <a:xfrm>
            <a:off x="2500298" y="142852"/>
            <a:ext cx="6357982" cy="1082660"/>
          </a:xfrm>
        </p:spPr>
        <p:txBody>
          <a:bodyPr>
            <a:noAutofit/>
          </a:bodyPr>
          <a:lstStyle/>
          <a:p>
            <a:r>
              <a:rPr lang="es-AR" sz="4200" u="sng" dirty="0" smtClean="0"/>
              <a:t>¿Cómo se relaciona este método con los demás?</a:t>
            </a:r>
            <a:endParaRPr lang="es-AR" sz="4200" i="1" u="sng" dirty="0"/>
          </a:p>
        </p:txBody>
      </p:sp>
      <p:pic>
        <p:nvPicPr>
          <p:cNvPr id="6" name="Picture 1"/>
          <p:cNvPicPr>
            <a:picLocks noChangeAspect="1" noChangeArrowheads="1"/>
          </p:cNvPicPr>
          <p:nvPr/>
        </p:nvPicPr>
        <p:blipFill>
          <a:blip r:embed="rId2" cstate="print"/>
          <a:srcRect/>
          <a:stretch>
            <a:fillRect/>
          </a:stretch>
        </p:blipFill>
        <p:spPr bwMode="auto">
          <a:xfrm>
            <a:off x="0" y="-24"/>
            <a:ext cx="2500298" cy="1189301"/>
          </a:xfrm>
          <a:prstGeom prst="rect">
            <a:avLst/>
          </a:prstGeom>
          <a:noFill/>
          <a:ln w="9525">
            <a:noFill/>
            <a:miter lim="800000"/>
            <a:headEnd/>
            <a:tailEnd/>
          </a:ln>
          <a:effectLst/>
        </p:spPr>
      </p:pic>
      <p:cxnSp>
        <p:nvCxnSpPr>
          <p:cNvPr id="7" name="6 Conector recto"/>
          <p:cNvCxnSpPr/>
          <p:nvPr/>
        </p:nvCxnSpPr>
        <p:spPr>
          <a:xfrm rot="5400000">
            <a:off x="535753" y="2964653"/>
            <a:ext cx="107157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7 Conector recto de flecha"/>
          <p:cNvCxnSpPr/>
          <p:nvPr/>
        </p:nvCxnSpPr>
        <p:spPr>
          <a:xfrm>
            <a:off x="1071538" y="2643182"/>
            <a:ext cx="28575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 name="8 Conector recto de flecha"/>
          <p:cNvCxnSpPr/>
          <p:nvPr/>
        </p:nvCxnSpPr>
        <p:spPr>
          <a:xfrm>
            <a:off x="1071538" y="3500438"/>
            <a:ext cx="28575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1" name="10 Rectángulo"/>
          <p:cNvSpPr/>
          <p:nvPr/>
        </p:nvSpPr>
        <p:spPr>
          <a:xfrm>
            <a:off x="0" y="6534859"/>
            <a:ext cx="9144032" cy="553998"/>
          </a:xfrm>
          <a:prstGeom prst="rect">
            <a:avLst/>
          </a:prstGeom>
        </p:spPr>
        <p:txBody>
          <a:bodyPr wrap="square">
            <a:spAutoFit/>
          </a:bodyPr>
          <a:lstStyle/>
          <a:p>
            <a:pPr algn="ctr"/>
            <a:r>
              <a:rPr lang="es-CO" sz="1500" dirty="0" smtClean="0">
                <a:solidFill>
                  <a:schemeClr val="tx1">
                    <a:lumMod val="50000"/>
                    <a:lumOff val="50000"/>
                  </a:schemeClr>
                </a:solidFill>
              </a:rPr>
              <a:t>Guía Práctica para la Evaluación de Impacto /Capítulo 9: Funciones de Control/27</a:t>
            </a:r>
          </a:p>
          <a:p>
            <a:pPr algn="ctr"/>
            <a:endParaRPr lang="es-ES" sz="1500" dirty="0">
              <a:solidFill>
                <a:schemeClr val="tx1">
                  <a:lumMod val="50000"/>
                  <a:lumOff val="50000"/>
                </a:schemeClr>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2071678"/>
            <a:ext cx="8229600" cy="4143404"/>
          </a:xfrm>
          <a:ln w="28575">
            <a:solidFill>
              <a:schemeClr val="accent1">
                <a:lumMod val="75000"/>
              </a:schemeClr>
            </a:solidFill>
          </a:ln>
        </p:spPr>
        <p:txBody>
          <a:bodyPr>
            <a:normAutofit/>
          </a:bodyPr>
          <a:lstStyle/>
          <a:p>
            <a:pPr>
              <a:buNone/>
            </a:pPr>
            <a:r>
              <a:rPr lang="es-CO" sz="2500" b="1" u="sng" dirty="0" smtClean="0"/>
              <a:t>Objetivo:</a:t>
            </a:r>
            <a:r>
              <a:rPr lang="es-CO" sz="2500" dirty="0" smtClean="0"/>
              <a:t> Estimar los retornos a la educación superior.</a:t>
            </a:r>
          </a:p>
          <a:p>
            <a:pPr>
              <a:buNone/>
            </a:pPr>
            <a:endParaRPr lang="es-CO" sz="2500" b="1" u="sng" dirty="0" smtClean="0"/>
          </a:p>
          <a:p>
            <a:pPr>
              <a:buNone/>
            </a:pPr>
            <a:r>
              <a:rPr lang="es-CO" sz="2500" b="1" u="sng" dirty="0" smtClean="0"/>
              <a:t>Problema:</a:t>
            </a:r>
            <a:r>
              <a:rPr lang="es-CO" sz="2500" dirty="0" smtClean="0"/>
              <a:t> </a:t>
            </a:r>
            <a:r>
              <a:rPr lang="es-ES" sz="2500" dirty="0" smtClean="0"/>
              <a:t>Los individuos con alta habilidad no observada pueden invertir más en educación que los de baja habilidad, lo que genera un sesgo potencial en la estimación de los retornos a la educación. </a:t>
            </a:r>
            <a:endParaRPr lang="es-CO" sz="2500" dirty="0" smtClean="0"/>
          </a:p>
          <a:p>
            <a:pPr>
              <a:buNone/>
            </a:pPr>
            <a:endParaRPr lang="es-MX" sz="2500" b="1" u="sng" dirty="0" smtClean="0"/>
          </a:p>
          <a:p>
            <a:pPr>
              <a:buNone/>
            </a:pPr>
            <a:endParaRPr lang="es-CO" sz="2500" b="1" u="sng" dirty="0" smtClean="0"/>
          </a:p>
        </p:txBody>
      </p:sp>
      <p:pic>
        <p:nvPicPr>
          <p:cNvPr id="4" name="Picture 1"/>
          <p:cNvPicPr>
            <a:picLocks noChangeAspect="1" noChangeArrowheads="1"/>
          </p:cNvPicPr>
          <p:nvPr/>
        </p:nvPicPr>
        <p:blipFill>
          <a:blip r:embed="rId2" cstate="print"/>
          <a:srcRect/>
          <a:stretch>
            <a:fillRect/>
          </a:stretch>
        </p:blipFill>
        <p:spPr bwMode="auto">
          <a:xfrm>
            <a:off x="0" y="-24"/>
            <a:ext cx="2500298" cy="1189301"/>
          </a:xfrm>
          <a:prstGeom prst="rect">
            <a:avLst/>
          </a:prstGeom>
          <a:noFill/>
          <a:ln w="9525">
            <a:noFill/>
            <a:miter lim="800000"/>
            <a:headEnd/>
            <a:tailEnd/>
          </a:ln>
          <a:effectLst/>
        </p:spPr>
      </p:pic>
      <p:sp>
        <p:nvSpPr>
          <p:cNvPr id="5" name="1 Título"/>
          <p:cNvSpPr txBox="1">
            <a:spLocks/>
          </p:cNvSpPr>
          <p:nvPr/>
        </p:nvSpPr>
        <p:spPr>
          <a:xfrm>
            <a:off x="2411760" y="346076"/>
            <a:ext cx="6303644" cy="1296974"/>
          </a:xfrm>
          <a:prstGeom prst="rect">
            <a:avLst/>
          </a:prstGeom>
        </p:spPr>
        <p:txBody>
          <a:bodyPr vert="horz" lIns="91440" tIns="45720" rIns="91440" bIns="45720" rtlCol="0" anchor="ctr">
            <a:noAutofit/>
          </a:bodyPr>
          <a:lstStyle/>
          <a:p>
            <a:pPr lvl="0" algn="ctr">
              <a:spcBef>
                <a:spcPct val="0"/>
              </a:spcBef>
              <a:defRPr/>
            </a:pPr>
            <a:r>
              <a:rPr kumimoji="0" lang="es-AR" sz="3200" b="0" i="0" u="sng" strike="noStrike" kern="1200" cap="none" spc="0" normalizeH="0" baseline="0" noProof="0" dirty="0" smtClean="0">
                <a:ln>
                  <a:noFill/>
                </a:ln>
                <a:solidFill>
                  <a:schemeClr val="tx1"/>
                </a:solidFill>
                <a:effectLst/>
                <a:uLnTx/>
                <a:uFillTx/>
                <a:latin typeface="+mj-lt"/>
                <a:ea typeface="+mj-ea"/>
                <a:cs typeface="+mj-cs"/>
              </a:rPr>
              <a:t>Ejemplo:</a:t>
            </a:r>
            <a:r>
              <a:rPr kumimoji="0" lang="es-AR" sz="3200" b="0" i="0" u="sng" strike="noStrike" kern="1200" cap="none" spc="0" normalizeH="0" noProof="0" dirty="0" smtClean="0">
                <a:ln>
                  <a:noFill/>
                </a:ln>
                <a:solidFill>
                  <a:schemeClr val="tx1"/>
                </a:solidFill>
                <a:effectLst/>
                <a:uLnTx/>
                <a:uFillTx/>
                <a:latin typeface="+mj-lt"/>
                <a:ea typeface="+mj-ea"/>
                <a:cs typeface="+mj-cs"/>
              </a:rPr>
              <a:t> </a:t>
            </a:r>
            <a:r>
              <a:rPr lang="en-US" sz="3200" u="sng" dirty="0" smtClean="0"/>
              <a:t>“El </a:t>
            </a:r>
            <a:r>
              <a:rPr lang="en-US" sz="3200" u="sng" dirty="0" err="1" smtClean="0"/>
              <a:t>impacto</a:t>
            </a:r>
            <a:r>
              <a:rPr lang="en-US" sz="3200" u="sng" dirty="0" smtClean="0"/>
              <a:t> de la </a:t>
            </a:r>
            <a:r>
              <a:rPr lang="en-US" sz="3200" u="sng" dirty="0" err="1" smtClean="0"/>
              <a:t>educación</a:t>
            </a:r>
            <a:r>
              <a:rPr lang="en-US" sz="3200" u="sng" dirty="0" smtClean="0"/>
              <a:t> en los </a:t>
            </a:r>
            <a:r>
              <a:rPr lang="en-US" sz="3200" u="sng" dirty="0" err="1" smtClean="0"/>
              <a:t>ingresos</a:t>
            </a:r>
            <a:r>
              <a:rPr lang="en-US" sz="3200" u="sng" dirty="0" smtClean="0"/>
              <a:t> de </a:t>
            </a:r>
            <a:r>
              <a:rPr lang="en-US" sz="3200" u="sng" dirty="0" err="1" smtClean="0"/>
              <a:t>Inglaterra</a:t>
            </a:r>
            <a:r>
              <a:rPr lang="en-US" sz="3200" u="sng" dirty="0" smtClean="0"/>
              <a:t>” (Blundell, </a:t>
            </a:r>
            <a:r>
              <a:rPr lang="en-US" sz="3200" u="sng" dirty="0" err="1" smtClean="0"/>
              <a:t>Dearden</a:t>
            </a:r>
            <a:r>
              <a:rPr lang="en-US" sz="3200" u="sng" dirty="0" smtClean="0"/>
              <a:t> y </a:t>
            </a:r>
            <a:r>
              <a:rPr lang="en-US" sz="3200" u="sng" dirty="0" err="1" smtClean="0"/>
              <a:t>Sianesi</a:t>
            </a:r>
            <a:r>
              <a:rPr lang="en-US" sz="3200" u="sng" dirty="0" smtClean="0"/>
              <a:t>, 2003)</a:t>
            </a:r>
            <a:r>
              <a:rPr lang="en-US" sz="4400" u="sng" dirty="0" smtClean="0"/>
              <a:t> </a:t>
            </a:r>
            <a:endParaRPr kumimoji="0" lang="es-AR" sz="4200" b="0" i="1" u="sng" strike="noStrike" kern="1200" cap="none" spc="0" normalizeH="0" baseline="0" noProof="0" dirty="0">
              <a:ln>
                <a:noFill/>
              </a:ln>
              <a:solidFill>
                <a:schemeClr val="tx1"/>
              </a:solidFill>
              <a:effectLst/>
              <a:uLnTx/>
              <a:uFillTx/>
              <a:latin typeface="+mj-lt"/>
              <a:ea typeface="+mj-ea"/>
              <a:cs typeface="+mj-cs"/>
            </a:endParaRPr>
          </a:p>
        </p:txBody>
      </p:sp>
      <p:sp>
        <p:nvSpPr>
          <p:cNvPr id="8" name="7 Rectángulo"/>
          <p:cNvSpPr/>
          <p:nvPr/>
        </p:nvSpPr>
        <p:spPr>
          <a:xfrm>
            <a:off x="0" y="6534859"/>
            <a:ext cx="9144032" cy="553998"/>
          </a:xfrm>
          <a:prstGeom prst="rect">
            <a:avLst/>
          </a:prstGeom>
        </p:spPr>
        <p:txBody>
          <a:bodyPr wrap="square">
            <a:spAutoFit/>
          </a:bodyPr>
          <a:lstStyle/>
          <a:p>
            <a:pPr algn="ctr"/>
            <a:r>
              <a:rPr lang="es-CO" sz="1500" dirty="0" smtClean="0">
                <a:solidFill>
                  <a:schemeClr val="tx1">
                    <a:lumMod val="50000"/>
                    <a:lumOff val="50000"/>
                  </a:schemeClr>
                </a:solidFill>
              </a:rPr>
              <a:t>Guía Práctica para la Evaluación de Impacto /Capítulo 9: Funciones de Control/28</a:t>
            </a:r>
          </a:p>
          <a:p>
            <a:pPr algn="ctr"/>
            <a:endParaRPr lang="es-ES" sz="1500" dirty="0">
              <a:solidFill>
                <a:schemeClr val="tx1">
                  <a:lumMod val="50000"/>
                  <a:lumOff val="50000"/>
                </a:schemeClr>
              </a:solidFill>
            </a:endParaRPr>
          </a:p>
        </p:txBody>
      </p:sp>
      <p:sp>
        <p:nvSpPr>
          <p:cNvPr id="7" name="6 CuadroTexto"/>
          <p:cNvSpPr txBox="1"/>
          <p:nvPr/>
        </p:nvSpPr>
        <p:spPr>
          <a:xfrm>
            <a:off x="857224" y="4774793"/>
            <a:ext cx="7429552" cy="1246495"/>
          </a:xfrm>
          <a:prstGeom prst="rect">
            <a:avLst/>
          </a:prstGeom>
          <a:noFill/>
          <a:ln>
            <a:solidFill>
              <a:schemeClr val="accent1">
                <a:lumMod val="60000"/>
                <a:lumOff val="40000"/>
              </a:schemeClr>
            </a:solidFill>
          </a:ln>
        </p:spPr>
        <p:txBody>
          <a:bodyPr wrap="square" rtlCol="0">
            <a:spAutoFit/>
          </a:bodyPr>
          <a:lstStyle/>
          <a:p>
            <a:r>
              <a:rPr lang="es-CO" sz="2500" dirty="0" smtClean="0"/>
              <a:t>El nivel educativo no está aleatoriamente distribuido, sino que los más hábiles tienden a tener mayores niveles educativos.</a:t>
            </a:r>
            <a:endParaRPr lang="es-ES" sz="2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2564904"/>
            <a:ext cx="8229600" cy="3793054"/>
          </a:xfrm>
          <a:ln w="28575">
            <a:solidFill>
              <a:schemeClr val="accent1">
                <a:lumMod val="75000"/>
              </a:schemeClr>
            </a:solidFill>
          </a:ln>
        </p:spPr>
        <p:txBody>
          <a:bodyPr>
            <a:normAutofit/>
          </a:bodyPr>
          <a:lstStyle/>
          <a:p>
            <a:pPr>
              <a:buNone/>
            </a:pPr>
            <a:r>
              <a:rPr lang="es-CO" sz="2500" dirty="0" smtClean="0"/>
              <a:t>La ecuación de salarios depende de la educación superior</a:t>
            </a:r>
          </a:p>
          <a:p>
            <a:pPr>
              <a:buNone/>
            </a:pPr>
            <a:endParaRPr lang="es-CO" sz="2500" dirty="0" smtClean="0"/>
          </a:p>
          <a:p>
            <a:pPr>
              <a:buNone/>
            </a:pPr>
            <a:endParaRPr lang="es-MX" sz="2500" dirty="0" smtClean="0"/>
          </a:p>
          <a:p>
            <a:pPr>
              <a:buNone/>
            </a:pPr>
            <a:r>
              <a:rPr lang="es-MX" sz="2500" dirty="0" smtClean="0"/>
              <a:t>	</a:t>
            </a:r>
            <a:endParaRPr lang="es-CO" sz="2500" dirty="0" smtClean="0"/>
          </a:p>
          <a:p>
            <a:pPr>
              <a:buNone/>
            </a:pPr>
            <a:endParaRPr lang="es-CO" sz="2500" dirty="0" smtClean="0"/>
          </a:p>
          <a:p>
            <a:pPr>
              <a:buNone/>
            </a:pPr>
            <a:endParaRPr lang="es-CO" sz="2500" dirty="0" smtClean="0"/>
          </a:p>
          <a:p>
            <a:pPr>
              <a:buNone/>
            </a:pPr>
            <a:r>
              <a:rPr lang="es-CO" sz="2500" dirty="0" smtClean="0"/>
              <a:t>	</a:t>
            </a:r>
            <a:endParaRPr lang="es-ES" sz="2500" dirty="0"/>
          </a:p>
        </p:txBody>
      </p:sp>
      <p:pic>
        <p:nvPicPr>
          <p:cNvPr id="4" name="Picture 1"/>
          <p:cNvPicPr>
            <a:picLocks noChangeAspect="1" noChangeArrowheads="1"/>
          </p:cNvPicPr>
          <p:nvPr/>
        </p:nvPicPr>
        <p:blipFill>
          <a:blip r:embed="rId4" cstate="print"/>
          <a:srcRect/>
          <a:stretch>
            <a:fillRect/>
          </a:stretch>
        </p:blipFill>
        <p:spPr bwMode="auto">
          <a:xfrm>
            <a:off x="0" y="-24"/>
            <a:ext cx="2500298" cy="1189301"/>
          </a:xfrm>
          <a:prstGeom prst="rect">
            <a:avLst/>
          </a:prstGeom>
          <a:noFill/>
          <a:ln w="9525">
            <a:noFill/>
            <a:miter lim="800000"/>
            <a:headEnd/>
            <a:tailEnd/>
          </a:ln>
          <a:effectLst/>
        </p:spPr>
      </p:pic>
      <p:sp>
        <p:nvSpPr>
          <p:cNvPr id="5222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52228"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15" name="14 Rectángulo"/>
          <p:cNvSpPr/>
          <p:nvPr/>
        </p:nvSpPr>
        <p:spPr>
          <a:xfrm>
            <a:off x="0" y="6534859"/>
            <a:ext cx="9144032" cy="569387"/>
          </a:xfrm>
          <a:prstGeom prst="rect">
            <a:avLst/>
          </a:prstGeom>
        </p:spPr>
        <p:txBody>
          <a:bodyPr wrap="square">
            <a:spAutoFit/>
          </a:bodyPr>
          <a:lstStyle/>
          <a:p>
            <a:pPr algn="ctr"/>
            <a:r>
              <a:rPr lang="es-CO" sz="1500" dirty="0" smtClean="0">
                <a:solidFill>
                  <a:schemeClr val="tx1">
                    <a:lumMod val="50000"/>
                    <a:lumOff val="50000"/>
                  </a:schemeClr>
                </a:solidFill>
              </a:rPr>
              <a:t>Guía Práctica para la Evaluación de Impacto /Capítulo 9: Funciones de Control/29</a:t>
            </a:r>
          </a:p>
          <a:p>
            <a:pPr algn="ctr"/>
            <a:endParaRPr lang="es-ES" sz="1500" dirty="0">
              <a:solidFill>
                <a:schemeClr val="tx1">
                  <a:lumMod val="50000"/>
                  <a:lumOff val="50000"/>
                </a:schemeClr>
              </a:solidFill>
            </a:endParaRPr>
          </a:p>
        </p:txBody>
      </p:sp>
      <p:sp>
        <p:nvSpPr>
          <p:cNvPr id="16" name="1 Título"/>
          <p:cNvSpPr txBox="1">
            <a:spLocks/>
          </p:cNvSpPr>
          <p:nvPr/>
        </p:nvSpPr>
        <p:spPr>
          <a:xfrm>
            <a:off x="2411760" y="476672"/>
            <a:ext cx="6303644" cy="1296974"/>
          </a:xfrm>
          <a:prstGeom prst="rect">
            <a:avLst/>
          </a:prstGeom>
        </p:spPr>
        <p:txBody>
          <a:bodyPr vert="horz" lIns="91440" tIns="45720" rIns="91440" bIns="45720" rtlCol="0" anchor="ctr">
            <a:noAutofit/>
          </a:bodyPr>
          <a:lstStyle/>
          <a:p>
            <a:pPr lvl="0" algn="ctr">
              <a:spcBef>
                <a:spcPct val="0"/>
              </a:spcBef>
              <a:defRPr/>
            </a:pPr>
            <a:r>
              <a:rPr lang="es-AR" sz="3600" u="sng" dirty="0" smtClean="0"/>
              <a:t>Ejemplo: </a:t>
            </a:r>
            <a:r>
              <a:rPr lang="en-US" sz="3600" u="sng" dirty="0" smtClean="0"/>
              <a:t>“El </a:t>
            </a:r>
            <a:r>
              <a:rPr lang="en-US" sz="3600" u="sng" dirty="0" err="1" smtClean="0"/>
              <a:t>impacto</a:t>
            </a:r>
            <a:r>
              <a:rPr lang="en-US" sz="3600" u="sng" dirty="0" smtClean="0"/>
              <a:t> de la </a:t>
            </a:r>
            <a:r>
              <a:rPr lang="en-US" sz="3600" u="sng" dirty="0" err="1" smtClean="0"/>
              <a:t>educación</a:t>
            </a:r>
            <a:r>
              <a:rPr lang="en-US" sz="3600" u="sng" dirty="0" smtClean="0"/>
              <a:t> en los </a:t>
            </a:r>
            <a:r>
              <a:rPr lang="en-US" sz="3600" u="sng" dirty="0" err="1" smtClean="0"/>
              <a:t>ingresos</a:t>
            </a:r>
            <a:r>
              <a:rPr lang="en-US" sz="3600" u="sng" dirty="0" smtClean="0"/>
              <a:t> de </a:t>
            </a:r>
            <a:r>
              <a:rPr lang="en-US" sz="3600" u="sng" dirty="0" err="1" smtClean="0"/>
              <a:t>Inglaterra</a:t>
            </a:r>
            <a:r>
              <a:rPr lang="en-US" sz="3600" u="sng" dirty="0" smtClean="0"/>
              <a:t>” (Blundell, </a:t>
            </a:r>
            <a:r>
              <a:rPr lang="en-US" sz="3600" u="sng" dirty="0" err="1" smtClean="0"/>
              <a:t>Dearden</a:t>
            </a:r>
            <a:r>
              <a:rPr lang="en-US" sz="3600" u="sng" dirty="0" smtClean="0"/>
              <a:t> y </a:t>
            </a:r>
            <a:r>
              <a:rPr lang="en-US" sz="3600" u="sng" dirty="0" err="1" smtClean="0"/>
              <a:t>Sianesi</a:t>
            </a:r>
            <a:r>
              <a:rPr lang="en-US" sz="3600" u="sng" dirty="0" smtClean="0"/>
              <a:t>, 2003) </a:t>
            </a:r>
            <a:endParaRPr lang="es-AR" sz="3600" i="1" u="sng" dirty="0"/>
          </a:p>
        </p:txBody>
      </p:sp>
      <p:graphicFrame>
        <p:nvGraphicFramePr>
          <p:cNvPr id="27651" name="Object 3"/>
          <p:cNvGraphicFramePr>
            <a:graphicFrameLocks noChangeAspect="1"/>
          </p:cNvGraphicFramePr>
          <p:nvPr/>
        </p:nvGraphicFramePr>
        <p:xfrm>
          <a:off x="814535" y="3229223"/>
          <a:ext cx="6781801" cy="631825"/>
        </p:xfrm>
        <a:graphic>
          <a:graphicData uri="http://schemas.openxmlformats.org/presentationml/2006/ole">
            <mc:AlternateContent xmlns:mc="http://schemas.openxmlformats.org/markup-compatibility/2006">
              <mc:Choice xmlns:v="urn:schemas-microsoft-com:vml" Requires="v">
                <p:oleObj spid="_x0000_s27678" name="Documento" r:id="rId6" imgW="5400403" imgH="503658" progId="Word.Document.12">
                  <p:embed/>
                </p:oleObj>
              </mc:Choice>
              <mc:Fallback>
                <p:oleObj name="Documento" r:id="rId6" imgW="5400403" imgH="503658" progId="Word.Document.12">
                  <p:embed/>
                  <p:pic>
                    <p:nvPicPr>
                      <p:cNvPr id="0" name="Picture 2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14535" y="3229223"/>
                        <a:ext cx="6781801" cy="631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7653"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O"/>
          </a:p>
        </p:txBody>
      </p:sp>
      <p:sp>
        <p:nvSpPr>
          <p:cNvPr id="27655"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O"/>
          </a:p>
        </p:txBody>
      </p:sp>
      <p:sp>
        <p:nvSpPr>
          <p:cNvPr id="27657" name="Rectangle 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O"/>
          </a:p>
        </p:txBody>
      </p:sp>
      <p:sp>
        <p:nvSpPr>
          <p:cNvPr id="25" name="24 CuadroTexto"/>
          <p:cNvSpPr txBox="1"/>
          <p:nvPr/>
        </p:nvSpPr>
        <p:spPr>
          <a:xfrm>
            <a:off x="3491880" y="3861336"/>
            <a:ext cx="5184576" cy="2400657"/>
          </a:xfrm>
          <a:prstGeom prst="rect">
            <a:avLst/>
          </a:prstGeom>
          <a:noFill/>
        </p:spPr>
        <p:txBody>
          <a:bodyPr wrap="square" rtlCol="0">
            <a:spAutoFit/>
          </a:bodyPr>
          <a:lstStyle/>
          <a:p>
            <a:r>
              <a:rPr lang="es-CO" sz="2500" dirty="0" smtClean="0"/>
              <a:t>Salario.</a:t>
            </a:r>
          </a:p>
          <a:p>
            <a:r>
              <a:rPr lang="es-CO" sz="2500" dirty="0" smtClean="0"/>
              <a:t>Educación superior.</a:t>
            </a:r>
          </a:p>
          <a:p>
            <a:r>
              <a:rPr lang="es-MX" sz="2500" dirty="0" smtClean="0"/>
              <a:t>Controles (raza, habilidad individual, región, educación de los padres).</a:t>
            </a:r>
          </a:p>
          <a:p>
            <a:endParaRPr lang="es-MX" sz="2500" dirty="0" smtClean="0"/>
          </a:p>
          <a:p>
            <a:endParaRPr lang="es-ES" sz="2500" dirty="0"/>
          </a:p>
        </p:txBody>
      </p:sp>
      <p:graphicFrame>
        <p:nvGraphicFramePr>
          <p:cNvPr id="27662" name="Object 14"/>
          <p:cNvGraphicFramePr>
            <a:graphicFrameLocks noChangeAspect="1"/>
          </p:cNvGraphicFramePr>
          <p:nvPr/>
        </p:nvGraphicFramePr>
        <p:xfrm>
          <a:off x="2703513" y="3819525"/>
          <a:ext cx="576262" cy="546100"/>
        </p:xfrm>
        <a:graphic>
          <a:graphicData uri="http://schemas.openxmlformats.org/presentationml/2006/ole">
            <mc:AlternateContent xmlns:mc="http://schemas.openxmlformats.org/markup-compatibility/2006">
              <mc:Choice xmlns:v="urn:schemas-microsoft-com:vml" Requires="v">
                <p:oleObj spid="_x0000_s27679" name="Ecuación" r:id="rId8" imgW="241300" imgH="228600" progId="Equation.3">
                  <p:embed/>
                </p:oleObj>
              </mc:Choice>
              <mc:Fallback>
                <p:oleObj name="Ecuación" r:id="rId8" imgW="241300" imgH="228600" progId="Equation.3">
                  <p:embed/>
                  <p:pic>
                    <p:nvPicPr>
                      <p:cNvPr id="0" name="Picture 2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03513" y="3819525"/>
                        <a:ext cx="576262" cy="546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663" name="Object 15"/>
          <p:cNvGraphicFramePr>
            <a:graphicFrameLocks noChangeAspect="1"/>
          </p:cNvGraphicFramePr>
          <p:nvPr/>
        </p:nvGraphicFramePr>
        <p:xfrm>
          <a:off x="2778125" y="4610100"/>
          <a:ext cx="554038" cy="474663"/>
        </p:xfrm>
        <a:graphic>
          <a:graphicData uri="http://schemas.openxmlformats.org/presentationml/2006/ole">
            <mc:AlternateContent xmlns:mc="http://schemas.openxmlformats.org/markup-compatibility/2006">
              <mc:Choice xmlns:v="urn:schemas-microsoft-com:vml" Requires="v">
                <p:oleObj spid="_x0000_s27680" name="Ecuación" r:id="rId10" imgW="266584" imgH="228501" progId="Equation.3">
                  <p:embed/>
                </p:oleObj>
              </mc:Choice>
              <mc:Fallback>
                <p:oleObj name="Ecuación" r:id="rId10" imgW="266584" imgH="228501" progId="Equation.3">
                  <p:embed/>
                  <p:pic>
                    <p:nvPicPr>
                      <p:cNvPr id="0" name="Picture 2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778125" y="4610100"/>
                        <a:ext cx="554038" cy="474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665" name="Object 17"/>
          <p:cNvGraphicFramePr>
            <a:graphicFrameLocks noChangeAspect="1"/>
          </p:cNvGraphicFramePr>
          <p:nvPr/>
        </p:nvGraphicFramePr>
        <p:xfrm>
          <a:off x="2778125" y="4249738"/>
          <a:ext cx="527050" cy="474662"/>
        </p:xfrm>
        <a:graphic>
          <a:graphicData uri="http://schemas.openxmlformats.org/presentationml/2006/ole">
            <mc:AlternateContent xmlns:mc="http://schemas.openxmlformats.org/markup-compatibility/2006">
              <mc:Choice xmlns:v="urn:schemas-microsoft-com:vml" Requires="v">
                <p:oleObj spid="_x0000_s27681" name="Ecuación" r:id="rId12" imgW="253890" imgH="228501" progId="Equation.3">
                  <p:embed/>
                </p:oleObj>
              </mc:Choice>
              <mc:Fallback>
                <p:oleObj name="Ecuación" r:id="rId12" imgW="253890" imgH="228501" progId="Equation.3">
                  <p:embed/>
                  <p:pic>
                    <p:nvPicPr>
                      <p:cNvPr id="0" name="Picture 2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778125" y="4249738"/>
                        <a:ext cx="527050" cy="474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2311072"/>
            <a:ext cx="8229600" cy="4070256"/>
          </a:xfrm>
          <a:ln w="28575">
            <a:solidFill>
              <a:schemeClr val="accent1">
                <a:lumMod val="75000"/>
              </a:schemeClr>
            </a:solidFill>
          </a:ln>
        </p:spPr>
        <p:txBody>
          <a:bodyPr>
            <a:normAutofit/>
          </a:bodyPr>
          <a:lstStyle/>
          <a:p>
            <a:pPr>
              <a:buNone/>
            </a:pPr>
            <a:r>
              <a:rPr lang="es-CO" sz="2500" dirty="0" smtClean="0"/>
              <a:t>La decisión de estudiar educación superior: </a:t>
            </a:r>
          </a:p>
          <a:p>
            <a:pPr>
              <a:buNone/>
            </a:pPr>
            <a:endParaRPr lang="es-CO" sz="2500" dirty="0" smtClean="0"/>
          </a:p>
          <a:p>
            <a:pPr>
              <a:buNone/>
            </a:pPr>
            <a:endParaRPr lang="es-MX" sz="2500" dirty="0" smtClean="0"/>
          </a:p>
          <a:p>
            <a:pPr>
              <a:buNone/>
            </a:pPr>
            <a:r>
              <a:rPr lang="es-MX" sz="2500" dirty="0" smtClean="0"/>
              <a:t>	</a:t>
            </a:r>
            <a:endParaRPr lang="es-CO" sz="2500" dirty="0" smtClean="0"/>
          </a:p>
          <a:p>
            <a:pPr>
              <a:buNone/>
            </a:pPr>
            <a:endParaRPr lang="es-CO" sz="2500" dirty="0" smtClean="0"/>
          </a:p>
          <a:p>
            <a:pPr>
              <a:buNone/>
            </a:pPr>
            <a:endParaRPr lang="es-CO" sz="2500" dirty="0" smtClean="0"/>
          </a:p>
          <a:p>
            <a:pPr>
              <a:buNone/>
            </a:pPr>
            <a:r>
              <a:rPr lang="es-CO" sz="2500" dirty="0" smtClean="0"/>
              <a:t>	</a:t>
            </a:r>
            <a:endParaRPr lang="es-ES" sz="2500" dirty="0"/>
          </a:p>
        </p:txBody>
      </p:sp>
      <p:pic>
        <p:nvPicPr>
          <p:cNvPr id="4" name="Picture 1"/>
          <p:cNvPicPr>
            <a:picLocks noChangeAspect="1" noChangeArrowheads="1"/>
          </p:cNvPicPr>
          <p:nvPr/>
        </p:nvPicPr>
        <p:blipFill>
          <a:blip r:embed="rId4" cstate="print"/>
          <a:srcRect/>
          <a:stretch>
            <a:fillRect/>
          </a:stretch>
        </p:blipFill>
        <p:spPr bwMode="auto">
          <a:xfrm>
            <a:off x="0" y="-24"/>
            <a:ext cx="2500298" cy="1189301"/>
          </a:xfrm>
          <a:prstGeom prst="rect">
            <a:avLst/>
          </a:prstGeom>
          <a:noFill/>
          <a:ln w="9525">
            <a:noFill/>
            <a:miter lim="800000"/>
            <a:headEnd/>
            <a:tailEnd/>
          </a:ln>
          <a:effectLst/>
        </p:spPr>
      </p:pic>
      <p:sp>
        <p:nvSpPr>
          <p:cNvPr id="5222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52228"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15" name="14 Rectángulo"/>
          <p:cNvSpPr/>
          <p:nvPr/>
        </p:nvSpPr>
        <p:spPr>
          <a:xfrm>
            <a:off x="0" y="6534859"/>
            <a:ext cx="9144032" cy="569387"/>
          </a:xfrm>
          <a:prstGeom prst="rect">
            <a:avLst/>
          </a:prstGeom>
        </p:spPr>
        <p:txBody>
          <a:bodyPr wrap="square">
            <a:spAutoFit/>
          </a:bodyPr>
          <a:lstStyle/>
          <a:p>
            <a:pPr algn="ctr"/>
            <a:r>
              <a:rPr lang="es-CO" sz="1500" dirty="0" smtClean="0">
                <a:solidFill>
                  <a:schemeClr val="tx1">
                    <a:lumMod val="50000"/>
                    <a:lumOff val="50000"/>
                  </a:schemeClr>
                </a:solidFill>
              </a:rPr>
              <a:t>Guía Práctica para la Evaluación de Impacto /Capítulo 9: Funciones de Control/30</a:t>
            </a:r>
          </a:p>
          <a:p>
            <a:pPr algn="ctr"/>
            <a:endParaRPr lang="es-ES" sz="1500" dirty="0">
              <a:solidFill>
                <a:schemeClr val="tx1">
                  <a:lumMod val="50000"/>
                  <a:lumOff val="50000"/>
                </a:schemeClr>
              </a:solidFill>
            </a:endParaRPr>
          </a:p>
        </p:txBody>
      </p:sp>
      <p:sp>
        <p:nvSpPr>
          <p:cNvPr id="16" name="1 Título"/>
          <p:cNvSpPr txBox="1">
            <a:spLocks/>
          </p:cNvSpPr>
          <p:nvPr/>
        </p:nvSpPr>
        <p:spPr>
          <a:xfrm>
            <a:off x="2411760" y="346076"/>
            <a:ext cx="6303644" cy="1296974"/>
          </a:xfrm>
          <a:prstGeom prst="rect">
            <a:avLst/>
          </a:prstGeom>
        </p:spPr>
        <p:txBody>
          <a:bodyPr vert="horz" lIns="91440" tIns="45720" rIns="91440" bIns="45720" rtlCol="0" anchor="ctr">
            <a:noAutofit/>
          </a:bodyPr>
          <a:lstStyle/>
          <a:p>
            <a:pPr lvl="0" algn="ctr">
              <a:spcBef>
                <a:spcPct val="0"/>
              </a:spcBef>
              <a:defRPr/>
            </a:pPr>
            <a:r>
              <a:rPr kumimoji="0" lang="es-AR" sz="3600" b="0" i="0" u="sng" strike="noStrike" kern="1200" cap="none" spc="0" normalizeH="0" baseline="0" noProof="0" dirty="0" smtClean="0">
                <a:ln>
                  <a:noFill/>
                </a:ln>
                <a:solidFill>
                  <a:schemeClr val="tx1"/>
                </a:solidFill>
                <a:effectLst/>
                <a:uLnTx/>
                <a:uFillTx/>
                <a:latin typeface="+mj-lt"/>
                <a:ea typeface="+mj-ea"/>
                <a:cs typeface="+mj-cs"/>
              </a:rPr>
              <a:t>Ejemplo:</a:t>
            </a:r>
            <a:r>
              <a:rPr kumimoji="0" lang="es-AR" sz="3600" b="0" i="0" u="sng" strike="noStrike" kern="1200" cap="none" spc="0" normalizeH="0" noProof="0" dirty="0" smtClean="0">
                <a:ln>
                  <a:noFill/>
                </a:ln>
                <a:solidFill>
                  <a:schemeClr val="tx1"/>
                </a:solidFill>
                <a:effectLst/>
                <a:uLnTx/>
                <a:uFillTx/>
                <a:latin typeface="+mj-lt"/>
                <a:ea typeface="+mj-ea"/>
                <a:cs typeface="+mj-cs"/>
              </a:rPr>
              <a:t> </a:t>
            </a:r>
            <a:r>
              <a:rPr lang="en-US" sz="3600" u="sng" dirty="0" smtClean="0"/>
              <a:t>“El </a:t>
            </a:r>
            <a:r>
              <a:rPr lang="en-US" sz="3600" u="sng" dirty="0" err="1" smtClean="0"/>
              <a:t>impacto</a:t>
            </a:r>
            <a:r>
              <a:rPr lang="en-US" sz="3600" u="sng" dirty="0" smtClean="0"/>
              <a:t> de la </a:t>
            </a:r>
            <a:r>
              <a:rPr lang="en-US" sz="3600" u="sng" dirty="0" err="1" smtClean="0"/>
              <a:t>educación</a:t>
            </a:r>
            <a:r>
              <a:rPr lang="en-US" sz="3600" u="sng" dirty="0" smtClean="0"/>
              <a:t> en los </a:t>
            </a:r>
            <a:r>
              <a:rPr lang="en-US" sz="3600" u="sng" dirty="0" err="1" smtClean="0"/>
              <a:t>ingresos</a:t>
            </a:r>
            <a:r>
              <a:rPr lang="en-US" sz="3600" u="sng" dirty="0" smtClean="0"/>
              <a:t> de </a:t>
            </a:r>
            <a:r>
              <a:rPr lang="en-US" sz="3600" u="sng" dirty="0" err="1" smtClean="0"/>
              <a:t>Inglaterra</a:t>
            </a:r>
            <a:r>
              <a:rPr lang="en-US" sz="3600" u="sng" dirty="0" smtClean="0"/>
              <a:t>” (Blundell, </a:t>
            </a:r>
            <a:r>
              <a:rPr lang="en-US" sz="3600" u="sng" dirty="0" err="1" smtClean="0"/>
              <a:t>Dearden</a:t>
            </a:r>
            <a:r>
              <a:rPr lang="en-US" sz="3600" u="sng" dirty="0" smtClean="0"/>
              <a:t> y </a:t>
            </a:r>
            <a:r>
              <a:rPr lang="en-US" sz="3600" u="sng" dirty="0" err="1" smtClean="0"/>
              <a:t>Sianesi</a:t>
            </a:r>
            <a:r>
              <a:rPr lang="en-US" sz="3600" u="sng" dirty="0" smtClean="0"/>
              <a:t>, 2003)</a:t>
            </a:r>
            <a:endParaRPr kumimoji="0" lang="es-AR" sz="3600" b="0" i="1" u="sng" strike="noStrike" kern="1200" cap="none" spc="0" normalizeH="0" baseline="0" noProof="0" dirty="0">
              <a:ln>
                <a:noFill/>
              </a:ln>
              <a:solidFill>
                <a:schemeClr val="tx1"/>
              </a:solidFill>
              <a:effectLst/>
              <a:uLnTx/>
              <a:uFillTx/>
              <a:latin typeface="+mj-lt"/>
              <a:ea typeface="+mj-ea"/>
              <a:cs typeface="+mj-cs"/>
            </a:endParaRPr>
          </a:p>
        </p:txBody>
      </p:sp>
      <p:sp>
        <p:nvSpPr>
          <p:cNvPr id="27653"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O"/>
          </a:p>
        </p:txBody>
      </p:sp>
      <p:sp>
        <p:nvSpPr>
          <p:cNvPr id="27655"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O"/>
          </a:p>
        </p:txBody>
      </p:sp>
      <p:sp>
        <p:nvSpPr>
          <p:cNvPr id="27657" name="Rectangle 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O"/>
          </a:p>
        </p:txBody>
      </p:sp>
      <p:graphicFrame>
        <p:nvGraphicFramePr>
          <p:cNvPr id="23" name="22 Objeto"/>
          <p:cNvGraphicFramePr>
            <a:graphicFrameLocks noChangeAspect="1"/>
          </p:cNvGraphicFramePr>
          <p:nvPr/>
        </p:nvGraphicFramePr>
        <p:xfrm>
          <a:off x="1392589" y="2780928"/>
          <a:ext cx="3035395" cy="1416518"/>
        </p:xfrm>
        <a:graphic>
          <a:graphicData uri="http://schemas.openxmlformats.org/presentationml/2006/ole">
            <mc:AlternateContent xmlns:mc="http://schemas.openxmlformats.org/markup-compatibility/2006">
              <mc:Choice xmlns:v="urn:schemas-microsoft-com:vml" Requires="v">
                <p:oleObj spid="_x0000_s76821" name="Ecuación" r:id="rId5" imgW="1524000" imgH="711200" progId="Equation.3">
                  <p:embed/>
                </p:oleObj>
              </mc:Choice>
              <mc:Fallback>
                <p:oleObj name="Ecuación" r:id="rId5" imgW="1524000" imgH="711200" progId="Equation.3">
                  <p:embed/>
                  <p:pic>
                    <p:nvPicPr>
                      <p:cNvPr id="0" name="Picture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92589" y="2780928"/>
                        <a:ext cx="3035395" cy="141651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 name="24 CuadroTexto"/>
          <p:cNvSpPr txBox="1"/>
          <p:nvPr/>
        </p:nvSpPr>
        <p:spPr>
          <a:xfrm>
            <a:off x="1043608" y="4365104"/>
            <a:ext cx="7632848" cy="2015936"/>
          </a:xfrm>
          <a:prstGeom prst="rect">
            <a:avLst/>
          </a:prstGeom>
          <a:noFill/>
        </p:spPr>
        <p:txBody>
          <a:bodyPr wrap="square" rtlCol="0">
            <a:spAutoFit/>
          </a:bodyPr>
          <a:lstStyle/>
          <a:p>
            <a:r>
              <a:rPr lang="es-CO" sz="2500" dirty="0" smtClean="0"/>
              <a:t>Educación superior.</a:t>
            </a:r>
          </a:p>
          <a:p>
            <a:r>
              <a:rPr lang="es-MX" sz="2500" dirty="0" smtClean="0"/>
              <a:t>Controles, que incluyen todo X y una variable continua no incluida en X. ‘Restricción de exclusión’: </a:t>
            </a:r>
            <a:r>
              <a:rPr lang="es-CO" sz="2500" dirty="0" smtClean="0"/>
              <a:t>interés de los padres en la educación del niño cuando tenía siete años.</a:t>
            </a:r>
            <a:endParaRPr lang="es-MX" sz="2500" dirty="0" smtClean="0"/>
          </a:p>
          <a:p>
            <a:r>
              <a:rPr lang="es-MX" sz="2500" dirty="0" smtClean="0"/>
              <a:t>Costos de estudiar educación superior.</a:t>
            </a:r>
            <a:endParaRPr lang="es-CO" sz="2500" dirty="0" smtClean="0"/>
          </a:p>
        </p:txBody>
      </p:sp>
      <p:graphicFrame>
        <p:nvGraphicFramePr>
          <p:cNvPr id="27661" name="Object 13"/>
          <p:cNvGraphicFramePr>
            <a:graphicFrameLocks noChangeAspect="1"/>
          </p:cNvGraphicFramePr>
          <p:nvPr/>
        </p:nvGraphicFramePr>
        <p:xfrm>
          <a:off x="474663" y="4322763"/>
          <a:ext cx="527050" cy="474662"/>
        </p:xfrm>
        <a:graphic>
          <a:graphicData uri="http://schemas.openxmlformats.org/presentationml/2006/ole">
            <mc:AlternateContent xmlns:mc="http://schemas.openxmlformats.org/markup-compatibility/2006">
              <mc:Choice xmlns:v="urn:schemas-microsoft-com:vml" Requires="v">
                <p:oleObj spid="_x0000_s76822" name="Ecuación" r:id="rId7" imgW="253890" imgH="228501" progId="Equation.3">
                  <p:embed/>
                </p:oleObj>
              </mc:Choice>
              <mc:Fallback>
                <p:oleObj name="Ecuación" r:id="rId7" imgW="253890" imgH="228501" progId="Equation.3">
                  <p:embed/>
                  <p:pic>
                    <p:nvPicPr>
                      <p:cNvPr id="0" name="Picture 1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4663" y="4322763"/>
                        <a:ext cx="527050" cy="474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663" name="Object 15"/>
          <p:cNvGraphicFramePr>
            <a:graphicFrameLocks noChangeAspect="1"/>
          </p:cNvGraphicFramePr>
          <p:nvPr/>
        </p:nvGraphicFramePr>
        <p:xfrm>
          <a:off x="546100" y="4754563"/>
          <a:ext cx="498475" cy="474662"/>
        </p:xfrm>
        <a:graphic>
          <a:graphicData uri="http://schemas.openxmlformats.org/presentationml/2006/ole">
            <mc:AlternateContent xmlns:mc="http://schemas.openxmlformats.org/markup-compatibility/2006">
              <mc:Choice xmlns:v="urn:schemas-microsoft-com:vml" Requires="v">
                <p:oleObj spid="_x0000_s76823" name="Ecuación" r:id="rId9" imgW="241300" imgH="228600" progId="Equation.3">
                  <p:embed/>
                </p:oleObj>
              </mc:Choice>
              <mc:Fallback>
                <p:oleObj name="Ecuación" r:id="rId9" imgW="241300" imgH="228600" progId="Equation.3">
                  <p:embed/>
                  <p:pic>
                    <p:nvPicPr>
                      <p:cNvPr id="0" name="Picture 1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46100" y="4754563"/>
                        <a:ext cx="498475" cy="474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664" name="Object 16"/>
          <p:cNvGraphicFramePr>
            <a:graphicFrameLocks noChangeAspect="1"/>
          </p:cNvGraphicFramePr>
          <p:nvPr/>
        </p:nvGraphicFramePr>
        <p:xfrm>
          <a:off x="550863" y="5951538"/>
          <a:ext cx="395287" cy="357187"/>
        </p:xfrm>
        <a:graphic>
          <a:graphicData uri="http://schemas.openxmlformats.org/presentationml/2006/ole">
            <mc:AlternateContent xmlns:mc="http://schemas.openxmlformats.org/markup-compatibility/2006">
              <mc:Choice xmlns:v="urn:schemas-microsoft-com:vml" Requires="v">
                <p:oleObj spid="_x0000_s76824" name="Ecuación" r:id="rId11" imgW="164957" imgH="139579" progId="Equation.3">
                  <p:embed/>
                </p:oleObj>
              </mc:Choice>
              <mc:Fallback>
                <p:oleObj name="Ecuación" r:id="rId11" imgW="164957" imgH="139579" progId="Equation.3">
                  <p:embed/>
                  <p:pic>
                    <p:nvPicPr>
                      <p:cNvPr id="0" name="Picture 2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50863" y="5951538"/>
                        <a:ext cx="395287" cy="357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2348880"/>
            <a:ext cx="8229600" cy="4009078"/>
          </a:xfrm>
          <a:ln w="28575">
            <a:solidFill>
              <a:schemeClr val="accent1">
                <a:lumMod val="75000"/>
              </a:schemeClr>
            </a:solidFill>
          </a:ln>
        </p:spPr>
        <p:txBody>
          <a:bodyPr>
            <a:normAutofit/>
          </a:bodyPr>
          <a:lstStyle/>
          <a:p>
            <a:pPr>
              <a:buNone/>
            </a:pPr>
            <a:r>
              <a:rPr lang="es-CO" sz="2500" dirty="0" smtClean="0"/>
              <a:t>	Supuesto paramétrico explícito acerca de la distribución conjunta de los errores: </a:t>
            </a:r>
          </a:p>
          <a:p>
            <a:pPr>
              <a:buNone/>
            </a:pPr>
            <a:endParaRPr lang="es-CO" sz="2500" dirty="0" smtClean="0"/>
          </a:p>
          <a:p>
            <a:pPr>
              <a:buNone/>
            </a:pPr>
            <a:endParaRPr lang="es-MX" sz="2500" dirty="0" smtClean="0"/>
          </a:p>
          <a:p>
            <a:pPr>
              <a:buNone/>
            </a:pPr>
            <a:r>
              <a:rPr lang="es-MX" sz="2500" dirty="0" smtClean="0"/>
              <a:t>	</a:t>
            </a:r>
            <a:endParaRPr lang="es-CO" sz="2500" dirty="0" smtClean="0"/>
          </a:p>
          <a:p>
            <a:pPr>
              <a:buNone/>
            </a:pPr>
            <a:endParaRPr lang="es-CO" sz="2500" dirty="0" smtClean="0"/>
          </a:p>
          <a:p>
            <a:pPr>
              <a:buNone/>
            </a:pPr>
            <a:endParaRPr lang="es-CO" sz="2500" dirty="0" smtClean="0"/>
          </a:p>
          <a:p>
            <a:pPr>
              <a:buNone/>
            </a:pPr>
            <a:r>
              <a:rPr lang="es-CO" sz="2500" dirty="0" smtClean="0"/>
              <a:t>	</a:t>
            </a:r>
            <a:endParaRPr lang="es-ES" sz="2500" dirty="0"/>
          </a:p>
        </p:txBody>
      </p:sp>
      <p:pic>
        <p:nvPicPr>
          <p:cNvPr id="4" name="Picture 1"/>
          <p:cNvPicPr>
            <a:picLocks noChangeAspect="1" noChangeArrowheads="1"/>
          </p:cNvPicPr>
          <p:nvPr/>
        </p:nvPicPr>
        <p:blipFill>
          <a:blip r:embed="rId4" cstate="print"/>
          <a:srcRect/>
          <a:stretch>
            <a:fillRect/>
          </a:stretch>
        </p:blipFill>
        <p:spPr bwMode="auto">
          <a:xfrm>
            <a:off x="0" y="-24"/>
            <a:ext cx="2500298" cy="1189301"/>
          </a:xfrm>
          <a:prstGeom prst="rect">
            <a:avLst/>
          </a:prstGeom>
          <a:noFill/>
          <a:ln w="9525">
            <a:noFill/>
            <a:miter lim="800000"/>
            <a:headEnd/>
            <a:tailEnd/>
          </a:ln>
          <a:effectLst/>
        </p:spPr>
      </p:pic>
      <p:sp>
        <p:nvSpPr>
          <p:cNvPr id="5222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52228"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15" name="14 Rectángulo"/>
          <p:cNvSpPr/>
          <p:nvPr/>
        </p:nvSpPr>
        <p:spPr>
          <a:xfrm>
            <a:off x="0" y="6534859"/>
            <a:ext cx="9144032" cy="323165"/>
          </a:xfrm>
          <a:prstGeom prst="rect">
            <a:avLst/>
          </a:prstGeom>
        </p:spPr>
        <p:txBody>
          <a:bodyPr wrap="square">
            <a:spAutoFit/>
          </a:bodyPr>
          <a:lstStyle/>
          <a:p>
            <a:pPr algn="ctr"/>
            <a:r>
              <a:rPr lang="es-CO" sz="1500" dirty="0" smtClean="0">
                <a:solidFill>
                  <a:schemeClr val="tx1">
                    <a:lumMod val="50000"/>
                    <a:lumOff val="50000"/>
                  </a:schemeClr>
                </a:solidFill>
              </a:rPr>
              <a:t>Guía Práctica para la Evaluación de Impacto /Capítulo 9: Funciones de Control/31</a:t>
            </a:r>
            <a:endParaRPr lang="es-ES" sz="1500" dirty="0">
              <a:solidFill>
                <a:schemeClr val="tx1">
                  <a:lumMod val="50000"/>
                  <a:lumOff val="50000"/>
                </a:schemeClr>
              </a:solidFill>
            </a:endParaRPr>
          </a:p>
        </p:txBody>
      </p:sp>
      <p:sp>
        <p:nvSpPr>
          <p:cNvPr id="16" name="1 Título"/>
          <p:cNvSpPr txBox="1">
            <a:spLocks/>
          </p:cNvSpPr>
          <p:nvPr/>
        </p:nvSpPr>
        <p:spPr>
          <a:xfrm>
            <a:off x="2411760" y="475842"/>
            <a:ext cx="6303644" cy="1296974"/>
          </a:xfrm>
          <a:prstGeom prst="rect">
            <a:avLst/>
          </a:prstGeom>
        </p:spPr>
        <p:txBody>
          <a:bodyPr vert="horz" lIns="91440" tIns="45720" rIns="91440" bIns="45720" rtlCol="0" anchor="ctr">
            <a:noAutofit/>
          </a:bodyPr>
          <a:lstStyle/>
          <a:p>
            <a:pPr lvl="0" algn="ctr">
              <a:spcBef>
                <a:spcPct val="0"/>
              </a:spcBef>
              <a:defRPr/>
            </a:pPr>
            <a:r>
              <a:rPr lang="es-AR" sz="3600" u="sng" dirty="0" smtClean="0"/>
              <a:t>Ejemplo: </a:t>
            </a:r>
            <a:r>
              <a:rPr lang="en-US" sz="3600" u="sng" dirty="0" smtClean="0"/>
              <a:t>“El </a:t>
            </a:r>
            <a:r>
              <a:rPr lang="en-US" sz="3600" u="sng" dirty="0" err="1" smtClean="0"/>
              <a:t>impacto</a:t>
            </a:r>
            <a:r>
              <a:rPr lang="en-US" sz="3600" u="sng" dirty="0" smtClean="0"/>
              <a:t> de la </a:t>
            </a:r>
            <a:r>
              <a:rPr lang="en-US" sz="3600" u="sng" dirty="0" err="1" smtClean="0"/>
              <a:t>educación</a:t>
            </a:r>
            <a:r>
              <a:rPr lang="en-US" sz="3600" u="sng" dirty="0" smtClean="0"/>
              <a:t> en los </a:t>
            </a:r>
            <a:r>
              <a:rPr lang="en-US" sz="3600" u="sng" dirty="0" err="1" smtClean="0"/>
              <a:t>ingresos</a:t>
            </a:r>
            <a:r>
              <a:rPr lang="en-US" sz="3600" u="sng" dirty="0" smtClean="0"/>
              <a:t> de </a:t>
            </a:r>
            <a:r>
              <a:rPr lang="en-US" sz="3600" u="sng" dirty="0" err="1" smtClean="0"/>
              <a:t>Inglaterra</a:t>
            </a:r>
            <a:r>
              <a:rPr lang="en-US" sz="3600" u="sng" dirty="0" smtClean="0"/>
              <a:t>” (Blundell, </a:t>
            </a:r>
            <a:r>
              <a:rPr lang="en-US" sz="3600" u="sng" dirty="0" err="1" smtClean="0"/>
              <a:t>Dearden</a:t>
            </a:r>
            <a:r>
              <a:rPr lang="en-US" sz="3600" u="sng" dirty="0" smtClean="0"/>
              <a:t> y </a:t>
            </a:r>
            <a:r>
              <a:rPr lang="en-US" sz="3600" u="sng" dirty="0" err="1" smtClean="0"/>
              <a:t>Sianesi</a:t>
            </a:r>
            <a:r>
              <a:rPr lang="en-US" sz="3600" u="sng" dirty="0" smtClean="0"/>
              <a:t>, 2003)</a:t>
            </a:r>
            <a:endParaRPr kumimoji="0" lang="es-AR" sz="3600" b="0" i="1" u="sng" strike="noStrike" kern="1200" cap="none" spc="0" normalizeH="0" baseline="0" noProof="0" dirty="0">
              <a:ln>
                <a:noFill/>
              </a:ln>
              <a:solidFill>
                <a:schemeClr val="tx1"/>
              </a:solidFill>
              <a:effectLst/>
              <a:uLnTx/>
              <a:uFillTx/>
              <a:latin typeface="+mj-lt"/>
              <a:ea typeface="+mj-ea"/>
              <a:cs typeface="+mj-cs"/>
            </a:endParaRPr>
          </a:p>
        </p:txBody>
      </p:sp>
      <p:sp>
        <p:nvSpPr>
          <p:cNvPr id="27653"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O"/>
          </a:p>
        </p:txBody>
      </p:sp>
      <p:sp>
        <p:nvSpPr>
          <p:cNvPr id="27655"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O"/>
          </a:p>
        </p:txBody>
      </p:sp>
      <p:sp>
        <p:nvSpPr>
          <p:cNvPr id="27657" name="Rectangle 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O"/>
          </a:p>
        </p:txBody>
      </p:sp>
      <p:graphicFrame>
        <p:nvGraphicFramePr>
          <p:cNvPr id="24" name="23 Objeto"/>
          <p:cNvGraphicFramePr>
            <a:graphicFrameLocks noChangeAspect="1"/>
          </p:cNvGraphicFramePr>
          <p:nvPr/>
        </p:nvGraphicFramePr>
        <p:xfrm>
          <a:off x="3347865" y="3544765"/>
          <a:ext cx="2880319" cy="532307"/>
        </p:xfrm>
        <a:graphic>
          <a:graphicData uri="http://schemas.openxmlformats.org/presentationml/2006/ole">
            <mc:AlternateContent xmlns:mc="http://schemas.openxmlformats.org/markup-compatibility/2006">
              <mc:Choice xmlns:v="urn:schemas-microsoft-com:vml" Requires="v">
                <p:oleObj spid="_x0000_s77848" name="Ecuación" r:id="rId5" imgW="1002865" imgH="228501" progId="Equation.3">
                  <p:embed/>
                </p:oleObj>
              </mc:Choice>
              <mc:Fallback>
                <p:oleObj name="Ecuación" r:id="rId5" imgW="1002865" imgH="228501" progId="Equation.3">
                  <p:embed/>
                  <p:pic>
                    <p:nvPicPr>
                      <p:cNvPr id="0" name="Picture 1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47865" y="3544765"/>
                        <a:ext cx="2880319" cy="53230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 name="24 CuadroTexto"/>
          <p:cNvSpPr txBox="1"/>
          <p:nvPr/>
        </p:nvSpPr>
        <p:spPr>
          <a:xfrm>
            <a:off x="2987824" y="4509120"/>
            <a:ext cx="4896544" cy="1631216"/>
          </a:xfrm>
          <a:prstGeom prst="rect">
            <a:avLst/>
          </a:prstGeom>
          <a:noFill/>
        </p:spPr>
        <p:txBody>
          <a:bodyPr wrap="square" rtlCol="0">
            <a:spAutoFit/>
          </a:bodyPr>
          <a:lstStyle/>
          <a:p>
            <a:r>
              <a:rPr lang="es-CO" sz="2500" dirty="0" smtClean="0"/>
              <a:t>Error de la ecuación de salarios.</a:t>
            </a:r>
          </a:p>
          <a:p>
            <a:r>
              <a:rPr lang="es-CO" sz="2500" dirty="0" smtClean="0"/>
              <a:t>Error de la decisión educativa.</a:t>
            </a:r>
          </a:p>
          <a:p>
            <a:r>
              <a:rPr lang="es-MX" sz="2500" dirty="0" smtClean="0"/>
              <a:t>Distribución normal.</a:t>
            </a:r>
          </a:p>
          <a:p>
            <a:r>
              <a:rPr lang="es-MX" sz="2500" dirty="0" smtClean="0"/>
              <a:t>Matriz de varianza-covarianza.</a:t>
            </a:r>
            <a:endParaRPr lang="es-ES" sz="2500" dirty="0"/>
          </a:p>
        </p:txBody>
      </p:sp>
      <p:graphicFrame>
        <p:nvGraphicFramePr>
          <p:cNvPr id="27661" name="Object 13"/>
          <p:cNvGraphicFramePr>
            <a:graphicFrameLocks noChangeAspect="1"/>
          </p:cNvGraphicFramePr>
          <p:nvPr/>
        </p:nvGraphicFramePr>
        <p:xfrm>
          <a:off x="2279650" y="4900613"/>
          <a:ext cx="446088" cy="473075"/>
        </p:xfrm>
        <a:graphic>
          <a:graphicData uri="http://schemas.openxmlformats.org/presentationml/2006/ole">
            <mc:AlternateContent xmlns:mc="http://schemas.openxmlformats.org/markup-compatibility/2006">
              <mc:Choice xmlns:v="urn:schemas-microsoft-com:vml" Requires="v">
                <p:oleObj spid="_x0000_s77849" name="Ecuación" r:id="rId7" imgW="215806" imgH="228501" progId="Equation.3">
                  <p:embed/>
                </p:oleObj>
              </mc:Choice>
              <mc:Fallback>
                <p:oleObj name="Ecuación" r:id="rId7" imgW="215806" imgH="228501" progId="Equation.3">
                  <p:embed/>
                  <p:pic>
                    <p:nvPicPr>
                      <p:cNvPr id="0" name="Picture 2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79650" y="4900613"/>
                        <a:ext cx="446088"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662" name="Object 14"/>
          <p:cNvGraphicFramePr>
            <a:graphicFrameLocks noChangeAspect="1"/>
          </p:cNvGraphicFramePr>
          <p:nvPr/>
        </p:nvGraphicFramePr>
        <p:xfrm>
          <a:off x="2301875" y="4538663"/>
          <a:ext cx="515938" cy="546100"/>
        </p:xfrm>
        <a:graphic>
          <a:graphicData uri="http://schemas.openxmlformats.org/presentationml/2006/ole">
            <mc:AlternateContent xmlns:mc="http://schemas.openxmlformats.org/markup-compatibility/2006">
              <mc:Choice xmlns:v="urn:schemas-microsoft-com:vml" Requires="v">
                <p:oleObj spid="_x0000_s77850" name="Ecuación" r:id="rId9" imgW="215806" imgH="228501" progId="Equation.3">
                  <p:embed/>
                </p:oleObj>
              </mc:Choice>
              <mc:Fallback>
                <p:oleObj name="Ecuación" r:id="rId9" imgW="215806" imgH="228501" progId="Equation.3">
                  <p:embed/>
                  <p:pic>
                    <p:nvPicPr>
                      <p:cNvPr id="0" name="Picture 2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01875" y="4538663"/>
                        <a:ext cx="515938" cy="546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663" name="Object 15"/>
          <p:cNvGraphicFramePr>
            <a:graphicFrameLocks noChangeAspect="1"/>
          </p:cNvGraphicFramePr>
          <p:nvPr/>
        </p:nvGraphicFramePr>
        <p:xfrm>
          <a:off x="2241550" y="5383213"/>
          <a:ext cx="474663" cy="368300"/>
        </p:xfrm>
        <a:graphic>
          <a:graphicData uri="http://schemas.openxmlformats.org/presentationml/2006/ole">
            <mc:AlternateContent xmlns:mc="http://schemas.openxmlformats.org/markup-compatibility/2006">
              <mc:Choice xmlns:v="urn:schemas-microsoft-com:vml" Requires="v">
                <p:oleObj spid="_x0000_s77851" name="Ecuación" r:id="rId11" imgW="228402" imgH="177646" progId="Equation.3">
                  <p:embed/>
                </p:oleObj>
              </mc:Choice>
              <mc:Fallback>
                <p:oleObj name="Ecuación" r:id="rId11" imgW="228402" imgH="177646" progId="Equation.3">
                  <p:embed/>
                  <p:pic>
                    <p:nvPicPr>
                      <p:cNvPr id="0" name="Picture 2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41550" y="5383213"/>
                        <a:ext cx="474663"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664" name="Object 16"/>
          <p:cNvGraphicFramePr>
            <a:graphicFrameLocks noChangeAspect="1"/>
          </p:cNvGraphicFramePr>
          <p:nvPr/>
        </p:nvGraphicFramePr>
        <p:xfrm>
          <a:off x="2263775" y="5700713"/>
          <a:ext cx="455613" cy="425450"/>
        </p:xfrm>
        <a:graphic>
          <a:graphicData uri="http://schemas.openxmlformats.org/presentationml/2006/ole">
            <mc:AlternateContent xmlns:mc="http://schemas.openxmlformats.org/markup-compatibility/2006">
              <mc:Choice xmlns:v="urn:schemas-microsoft-com:vml" Requires="v">
                <p:oleObj spid="_x0000_s77852" name="Ecuación" r:id="rId13" imgW="190335" imgH="164957" progId="Equation.3">
                  <p:embed/>
                </p:oleObj>
              </mc:Choice>
              <mc:Fallback>
                <p:oleObj name="Ecuación" r:id="rId13" imgW="190335" imgH="164957" progId="Equation.3">
                  <p:embed/>
                  <p:pic>
                    <p:nvPicPr>
                      <p:cNvPr id="0" name="Picture 2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263775" y="5700713"/>
                        <a:ext cx="455613" cy="42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2492896"/>
            <a:ext cx="8229600" cy="3865062"/>
          </a:xfrm>
          <a:ln w="28575">
            <a:solidFill>
              <a:schemeClr val="accent1">
                <a:lumMod val="75000"/>
              </a:schemeClr>
            </a:solidFill>
          </a:ln>
        </p:spPr>
        <p:txBody>
          <a:bodyPr>
            <a:normAutofit/>
          </a:bodyPr>
          <a:lstStyle/>
          <a:p>
            <a:pPr>
              <a:buNone/>
            </a:pPr>
            <a:r>
              <a:rPr lang="es-CO" sz="2500" dirty="0" smtClean="0"/>
              <a:t>Se estima de manera conjunta el modelo: </a:t>
            </a:r>
          </a:p>
          <a:p>
            <a:pPr>
              <a:buNone/>
            </a:pPr>
            <a:endParaRPr lang="es-CO" sz="2500" dirty="0" smtClean="0"/>
          </a:p>
          <a:p>
            <a:pPr>
              <a:buNone/>
            </a:pPr>
            <a:endParaRPr lang="es-MX" sz="2500" dirty="0" smtClean="0"/>
          </a:p>
          <a:p>
            <a:pPr>
              <a:buNone/>
            </a:pPr>
            <a:r>
              <a:rPr lang="es-MX" sz="2500" dirty="0" smtClean="0"/>
              <a:t>Tal que 	</a:t>
            </a:r>
            <a:endParaRPr lang="es-CO" sz="2500" dirty="0" smtClean="0"/>
          </a:p>
          <a:p>
            <a:pPr>
              <a:buNone/>
            </a:pPr>
            <a:endParaRPr lang="es-CO" sz="2500" dirty="0" smtClean="0"/>
          </a:p>
          <a:p>
            <a:pPr>
              <a:buNone/>
            </a:pPr>
            <a:endParaRPr lang="es-CO" sz="2500" dirty="0" smtClean="0"/>
          </a:p>
          <a:p>
            <a:pPr>
              <a:buNone/>
            </a:pPr>
            <a:r>
              <a:rPr lang="es-CO" sz="2500" dirty="0" smtClean="0"/>
              <a:t>	</a:t>
            </a:r>
            <a:endParaRPr lang="es-ES" sz="2500" dirty="0"/>
          </a:p>
        </p:txBody>
      </p:sp>
      <p:pic>
        <p:nvPicPr>
          <p:cNvPr id="4" name="Picture 1"/>
          <p:cNvPicPr>
            <a:picLocks noChangeAspect="1" noChangeArrowheads="1"/>
          </p:cNvPicPr>
          <p:nvPr/>
        </p:nvPicPr>
        <p:blipFill>
          <a:blip r:embed="rId4" cstate="print"/>
          <a:srcRect/>
          <a:stretch>
            <a:fillRect/>
          </a:stretch>
        </p:blipFill>
        <p:spPr bwMode="auto">
          <a:xfrm>
            <a:off x="0" y="-24"/>
            <a:ext cx="2500298" cy="1189301"/>
          </a:xfrm>
          <a:prstGeom prst="rect">
            <a:avLst/>
          </a:prstGeom>
          <a:noFill/>
          <a:ln w="9525">
            <a:noFill/>
            <a:miter lim="800000"/>
            <a:headEnd/>
            <a:tailEnd/>
          </a:ln>
          <a:effectLst/>
        </p:spPr>
      </p:pic>
      <p:sp>
        <p:nvSpPr>
          <p:cNvPr id="5222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52228"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15" name="14 Rectángulo"/>
          <p:cNvSpPr/>
          <p:nvPr/>
        </p:nvSpPr>
        <p:spPr>
          <a:xfrm>
            <a:off x="0" y="6534859"/>
            <a:ext cx="9144032" cy="323165"/>
          </a:xfrm>
          <a:prstGeom prst="rect">
            <a:avLst/>
          </a:prstGeom>
        </p:spPr>
        <p:txBody>
          <a:bodyPr wrap="square">
            <a:spAutoFit/>
          </a:bodyPr>
          <a:lstStyle/>
          <a:p>
            <a:pPr algn="ctr"/>
            <a:r>
              <a:rPr lang="es-CO" sz="1500" dirty="0" smtClean="0">
                <a:solidFill>
                  <a:schemeClr val="tx1">
                    <a:lumMod val="50000"/>
                    <a:lumOff val="50000"/>
                  </a:schemeClr>
                </a:solidFill>
              </a:rPr>
              <a:t>Guía Práctica para la Evaluación de Impacto /Capítulo 9: Funciones de Control/32</a:t>
            </a:r>
            <a:endParaRPr lang="es-ES" sz="1500" dirty="0">
              <a:solidFill>
                <a:schemeClr val="tx1">
                  <a:lumMod val="50000"/>
                  <a:lumOff val="50000"/>
                </a:schemeClr>
              </a:solidFill>
            </a:endParaRPr>
          </a:p>
        </p:txBody>
      </p:sp>
      <p:sp>
        <p:nvSpPr>
          <p:cNvPr id="16" name="1 Título"/>
          <p:cNvSpPr txBox="1">
            <a:spLocks/>
          </p:cNvSpPr>
          <p:nvPr/>
        </p:nvSpPr>
        <p:spPr>
          <a:xfrm>
            <a:off x="2411760" y="346076"/>
            <a:ext cx="6303644" cy="1296974"/>
          </a:xfrm>
          <a:prstGeom prst="rect">
            <a:avLst/>
          </a:prstGeom>
        </p:spPr>
        <p:txBody>
          <a:bodyPr vert="horz" lIns="91440" tIns="45720" rIns="91440" bIns="45720" rtlCol="0" anchor="ctr">
            <a:noAutofit/>
          </a:bodyPr>
          <a:lstStyle/>
          <a:p>
            <a:pPr lvl="0" algn="ctr">
              <a:spcBef>
                <a:spcPct val="0"/>
              </a:spcBef>
              <a:defRPr/>
            </a:pPr>
            <a:r>
              <a:rPr lang="es-AR" sz="3600" u="sng" dirty="0" smtClean="0"/>
              <a:t>Ejemplo: </a:t>
            </a:r>
            <a:r>
              <a:rPr lang="en-US" sz="3600" u="sng" dirty="0" smtClean="0"/>
              <a:t>“El </a:t>
            </a:r>
            <a:r>
              <a:rPr lang="en-US" sz="3600" u="sng" dirty="0" err="1" smtClean="0"/>
              <a:t>impacto</a:t>
            </a:r>
            <a:r>
              <a:rPr lang="en-US" sz="3600" u="sng" dirty="0" smtClean="0"/>
              <a:t> de la </a:t>
            </a:r>
            <a:r>
              <a:rPr lang="en-US" sz="3600" u="sng" dirty="0" err="1" smtClean="0"/>
              <a:t>educación</a:t>
            </a:r>
            <a:r>
              <a:rPr lang="en-US" sz="3600" u="sng" dirty="0" smtClean="0"/>
              <a:t> en los </a:t>
            </a:r>
            <a:r>
              <a:rPr lang="en-US" sz="3600" u="sng" dirty="0" err="1" smtClean="0"/>
              <a:t>ingresos</a:t>
            </a:r>
            <a:r>
              <a:rPr lang="en-US" sz="3600" u="sng" dirty="0" smtClean="0"/>
              <a:t> de </a:t>
            </a:r>
            <a:r>
              <a:rPr lang="en-US" sz="3600" u="sng" dirty="0" err="1" smtClean="0"/>
              <a:t>Inglaterra</a:t>
            </a:r>
            <a:r>
              <a:rPr lang="en-US" sz="3600" u="sng" dirty="0" smtClean="0"/>
              <a:t>” (Blundell, </a:t>
            </a:r>
            <a:r>
              <a:rPr lang="en-US" sz="3600" u="sng" dirty="0" err="1" smtClean="0"/>
              <a:t>Dearden</a:t>
            </a:r>
            <a:r>
              <a:rPr lang="en-US" sz="3600" u="sng" dirty="0" smtClean="0"/>
              <a:t> y </a:t>
            </a:r>
            <a:r>
              <a:rPr lang="en-US" sz="3600" u="sng" dirty="0" err="1" smtClean="0"/>
              <a:t>Sianesi</a:t>
            </a:r>
            <a:r>
              <a:rPr lang="en-US" sz="3600" u="sng" dirty="0" smtClean="0"/>
              <a:t>, 2003)</a:t>
            </a:r>
            <a:endParaRPr kumimoji="0" lang="es-AR" sz="3600" b="0" i="1" u="sng" strike="noStrike" kern="1200" cap="none" spc="0" normalizeH="0" noProof="0" dirty="0">
              <a:ln>
                <a:noFill/>
              </a:ln>
              <a:solidFill>
                <a:schemeClr val="tx1"/>
              </a:solidFill>
              <a:effectLst/>
              <a:uLnTx/>
              <a:uFillTx/>
              <a:latin typeface="+mj-lt"/>
              <a:ea typeface="+mj-ea"/>
              <a:cs typeface="+mj-cs"/>
            </a:endParaRPr>
          </a:p>
        </p:txBody>
      </p:sp>
      <p:graphicFrame>
        <p:nvGraphicFramePr>
          <p:cNvPr id="27651" name="Object 3"/>
          <p:cNvGraphicFramePr>
            <a:graphicFrameLocks noChangeAspect="1"/>
          </p:cNvGraphicFramePr>
          <p:nvPr/>
        </p:nvGraphicFramePr>
        <p:xfrm>
          <a:off x="1174575" y="3085207"/>
          <a:ext cx="6781801" cy="631825"/>
        </p:xfrm>
        <a:graphic>
          <a:graphicData uri="http://schemas.openxmlformats.org/presentationml/2006/ole">
            <mc:AlternateContent xmlns:mc="http://schemas.openxmlformats.org/markup-compatibility/2006">
              <mc:Choice xmlns:v="urn:schemas-microsoft-com:vml" Requires="v">
                <p:oleObj spid="_x0000_s75790" name="Documento" r:id="rId6" imgW="5400403" imgH="503658" progId="Word.Document.12">
                  <p:embed/>
                </p:oleObj>
              </mc:Choice>
              <mc:Fallback>
                <p:oleObj name="Documento" r:id="rId6" imgW="5400403" imgH="503658" progId="Word.Document.12">
                  <p:embed/>
                  <p:pic>
                    <p:nvPicPr>
                      <p:cNvPr id="0" name="Picture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74575" y="3085207"/>
                        <a:ext cx="6781801" cy="631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7653"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O"/>
          </a:p>
        </p:txBody>
      </p:sp>
      <p:sp>
        <p:nvSpPr>
          <p:cNvPr id="27655"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O"/>
          </a:p>
        </p:txBody>
      </p:sp>
      <p:sp>
        <p:nvSpPr>
          <p:cNvPr id="27657" name="Rectangle 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O"/>
          </a:p>
        </p:txBody>
      </p:sp>
      <p:graphicFrame>
        <p:nvGraphicFramePr>
          <p:cNvPr id="23" name="22 Objeto"/>
          <p:cNvGraphicFramePr>
            <a:graphicFrameLocks noChangeAspect="1"/>
          </p:cNvGraphicFramePr>
          <p:nvPr/>
        </p:nvGraphicFramePr>
        <p:xfrm>
          <a:off x="2976765" y="3740674"/>
          <a:ext cx="3035395" cy="1416518"/>
        </p:xfrm>
        <a:graphic>
          <a:graphicData uri="http://schemas.openxmlformats.org/presentationml/2006/ole">
            <mc:AlternateContent xmlns:mc="http://schemas.openxmlformats.org/markup-compatibility/2006">
              <mc:Choice xmlns:v="urn:schemas-microsoft-com:vml" Requires="v">
                <p:oleObj spid="_x0000_s75791" name="Ecuación" r:id="rId8" imgW="1524000" imgH="711200" progId="Equation.3">
                  <p:embed/>
                </p:oleObj>
              </mc:Choice>
              <mc:Fallback>
                <p:oleObj name="Ecuación" r:id="rId8" imgW="1524000" imgH="711200" progId="Equation.3">
                  <p:embed/>
                  <p:pic>
                    <p:nvPicPr>
                      <p:cNvPr id="0" name="Picture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76765" y="3740674"/>
                        <a:ext cx="3035395" cy="141651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 name="23 Objeto"/>
          <p:cNvGraphicFramePr>
            <a:graphicFrameLocks noChangeAspect="1"/>
          </p:cNvGraphicFramePr>
          <p:nvPr/>
        </p:nvGraphicFramePr>
        <p:xfrm>
          <a:off x="3275856" y="5488981"/>
          <a:ext cx="2880319" cy="532307"/>
        </p:xfrm>
        <a:graphic>
          <a:graphicData uri="http://schemas.openxmlformats.org/presentationml/2006/ole">
            <mc:AlternateContent xmlns:mc="http://schemas.openxmlformats.org/markup-compatibility/2006">
              <mc:Choice xmlns:v="urn:schemas-microsoft-com:vml" Requires="v">
                <p:oleObj spid="_x0000_s75792" name="Ecuación" r:id="rId10" imgW="1002865" imgH="228501" progId="Equation.3">
                  <p:embed/>
                </p:oleObj>
              </mc:Choice>
              <mc:Fallback>
                <p:oleObj name="Ecuación" r:id="rId10" imgW="1002865" imgH="228501" progId="Equation.3">
                  <p:embed/>
                  <p:pic>
                    <p:nvPicPr>
                      <p:cNvPr id="0" name="Picture 1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275856" y="5488981"/>
                        <a:ext cx="2880319" cy="53230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2143116"/>
            <a:ext cx="8229600" cy="4286280"/>
          </a:xfrm>
          <a:ln w="28575">
            <a:solidFill>
              <a:schemeClr val="accent1">
                <a:lumMod val="75000"/>
              </a:schemeClr>
            </a:solidFill>
          </a:ln>
        </p:spPr>
        <p:txBody>
          <a:bodyPr>
            <a:normAutofit/>
          </a:bodyPr>
          <a:lstStyle/>
          <a:p>
            <a:pPr>
              <a:buNone/>
            </a:pPr>
            <a:r>
              <a:rPr lang="es-CO" sz="2000" b="1" u="sng" dirty="0" smtClean="0"/>
              <a:t>Estimación:</a:t>
            </a:r>
            <a:r>
              <a:rPr lang="es-CO" sz="2000" dirty="0" smtClean="0"/>
              <a:t> Encuesta Nacional de Desarrollo Infantil, todos los nacidos en Gran Bretaña en una semana de marzo de 1958. La variable dependiente es salario cuando los individuos tenían 33 años (en 1991). </a:t>
            </a:r>
          </a:p>
          <a:p>
            <a:pPr>
              <a:buNone/>
            </a:pPr>
            <a:r>
              <a:rPr lang="es-CO" sz="2000" b="1" u="sng" dirty="0" smtClean="0"/>
              <a:t>Resultados:</a:t>
            </a:r>
          </a:p>
          <a:p>
            <a:pPr>
              <a:buNone/>
            </a:pPr>
            <a:endParaRPr lang="es-ES" sz="2500" b="1" u="sng" dirty="0" smtClean="0"/>
          </a:p>
          <a:p>
            <a:pPr>
              <a:buNone/>
            </a:pPr>
            <a:endParaRPr lang="es-ES" sz="2500" b="1" u="sng" dirty="0" smtClean="0"/>
          </a:p>
          <a:p>
            <a:pPr>
              <a:buNone/>
            </a:pPr>
            <a:endParaRPr lang="es-ES" sz="2500" b="1" u="sng" dirty="0" smtClean="0"/>
          </a:p>
          <a:p>
            <a:pPr>
              <a:buNone/>
            </a:pPr>
            <a:endParaRPr lang="es-ES" sz="2500" b="1" u="sng" dirty="0" smtClean="0"/>
          </a:p>
          <a:p>
            <a:pPr>
              <a:buNone/>
            </a:pPr>
            <a:endParaRPr lang="es-ES" sz="2500" b="1" u="sng" dirty="0"/>
          </a:p>
        </p:txBody>
      </p:sp>
      <p:pic>
        <p:nvPicPr>
          <p:cNvPr id="4" name="Picture 1"/>
          <p:cNvPicPr>
            <a:picLocks noChangeAspect="1" noChangeArrowheads="1"/>
          </p:cNvPicPr>
          <p:nvPr/>
        </p:nvPicPr>
        <p:blipFill>
          <a:blip r:embed="rId3" cstate="print"/>
          <a:srcRect/>
          <a:stretch>
            <a:fillRect/>
          </a:stretch>
        </p:blipFill>
        <p:spPr bwMode="auto">
          <a:xfrm>
            <a:off x="0" y="-24"/>
            <a:ext cx="2500298" cy="1189301"/>
          </a:xfrm>
          <a:prstGeom prst="rect">
            <a:avLst/>
          </a:prstGeom>
          <a:noFill/>
          <a:ln w="9525">
            <a:noFill/>
            <a:miter lim="800000"/>
            <a:headEnd/>
            <a:tailEnd/>
          </a:ln>
          <a:effectLst/>
        </p:spPr>
      </p:pic>
      <p:sp>
        <p:nvSpPr>
          <p:cNvPr id="8" name="7 Rectángulo"/>
          <p:cNvSpPr/>
          <p:nvPr/>
        </p:nvSpPr>
        <p:spPr>
          <a:xfrm>
            <a:off x="0" y="6534859"/>
            <a:ext cx="9144032" cy="323165"/>
          </a:xfrm>
          <a:prstGeom prst="rect">
            <a:avLst/>
          </a:prstGeom>
        </p:spPr>
        <p:txBody>
          <a:bodyPr wrap="square">
            <a:spAutoFit/>
          </a:bodyPr>
          <a:lstStyle/>
          <a:p>
            <a:pPr algn="ctr"/>
            <a:r>
              <a:rPr lang="es-CO" sz="1500" dirty="0" smtClean="0">
                <a:solidFill>
                  <a:schemeClr val="tx1">
                    <a:lumMod val="50000"/>
                    <a:lumOff val="50000"/>
                  </a:schemeClr>
                </a:solidFill>
              </a:rPr>
              <a:t>Guía Práctica para la Evaluación de Impacto /Capítulo 9: Funciones de Control/33</a:t>
            </a:r>
            <a:endParaRPr lang="es-ES" sz="1500" dirty="0">
              <a:solidFill>
                <a:schemeClr val="tx1">
                  <a:lumMod val="50000"/>
                  <a:lumOff val="50000"/>
                </a:schemeClr>
              </a:solidFill>
            </a:endParaRPr>
          </a:p>
        </p:txBody>
      </p:sp>
      <p:graphicFrame>
        <p:nvGraphicFramePr>
          <p:cNvPr id="9" name="8 Tabla"/>
          <p:cNvGraphicFramePr>
            <a:graphicFrameLocks noGrp="1"/>
          </p:cNvGraphicFramePr>
          <p:nvPr/>
        </p:nvGraphicFramePr>
        <p:xfrm>
          <a:off x="467544" y="3735876"/>
          <a:ext cx="8208912" cy="2141396"/>
        </p:xfrm>
        <a:graphic>
          <a:graphicData uri="http://schemas.openxmlformats.org/drawingml/2006/table">
            <a:tbl>
              <a:tblPr/>
              <a:tblGrid>
                <a:gridCol w="1440160"/>
                <a:gridCol w="2232248"/>
                <a:gridCol w="2088232"/>
                <a:gridCol w="2448272"/>
              </a:tblGrid>
              <a:tr h="1044116">
                <a:tc>
                  <a:txBody>
                    <a:bodyPr/>
                    <a:lstStyle/>
                    <a:p>
                      <a:pPr algn="just">
                        <a:spcAft>
                          <a:spcPts val="0"/>
                        </a:spcAft>
                      </a:pPr>
                      <a:endParaRPr lang="es-CO" sz="1800" dirty="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CO" sz="1800" dirty="0">
                          <a:latin typeface="Times New Roman"/>
                          <a:ea typeface="Times New Roman"/>
                        </a:rPr>
                        <a:t>Impacto promedio </a:t>
                      </a:r>
                      <a:r>
                        <a:rPr lang="es-CO" sz="1800" dirty="0" smtClean="0">
                          <a:latin typeface="Times New Roman"/>
                          <a:ea typeface="Times New Roman"/>
                        </a:rPr>
                        <a:t>sobre </a:t>
                      </a:r>
                      <a:r>
                        <a:rPr lang="es-CO" sz="1800" dirty="0">
                          <a:latin typeface="Times New Roman"/>
                          <a:ea typeface="Times New Roman"/>
                        </a:rPr>
                        <a:t>los tratados (ATT)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CO" sz="1800" dirty="0">
                          <a:latin typeface="Times New Roman"/>
                          <a:ea typeface="Times New Roman"/>
                        </a:rPr>
                        <a:t>Impacto promedio del programa (ATE)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CO" sz="1800" dirty="0">
                          <a:latin typeface="Times New Roman"/>
                          <a:ea typeface="Times New Roman"/>
                        </a:rPr>
                        <a:t>Impacto promedio </a:t>
                      </a:r>
                      <a:r>
                        <a:rPr lang="es-CO" sz="1800" dirty="0" smtClean="0">
                          <a:latin typeface="Times New Roman"/>
                          <a:ea typeface="Times New Roman"/>
                        </a:rPr>
                        <a:t>sobre </a:t>
                      </a:r>
                      <a:r>
                        <a:rPr lang="es-CO" sz="1800" dirty="0">
                          <a:latin typeface="Times New Roman"/>
                          <a:ea typeface="Times New Roman"/>
                        </a:rPr>
                        <a:t>los no tratados (ATU)</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058">
                <a:tc>
                  <a:txBody>
                    <a:bodyPr/>
                    <a:lstStyle/>
                    <a:p>
                      <a:pPr algn="l">
                        <a:spcAft>
                          <a:spcPts val="0"/>
                        </a:spcAft>
                      </a:pPr>
                      <a:r>
                        <a:rPr lang="es-CO" sz="1800" dirty="0" smtClean="0">
                          <a:latin typeface="Times New Roman"/>
                          <a:ea typeface="Times New Roman"/>
                        </a:rPr>
                        <a:t>MCO</a:t>
                      </a:r>
                      <a:endParaRPr lang="es-CO" sz="1800" dirty="0">
                        <a:latin typeface="Times New Roman"/>
                        <a:ea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CO" sz="1800" dirty="0" smtClean="0">
                          <a:latin typeface="Times New Roman"/>
                          <a:ea typeface="Times New Roman"/>
                        </a:rPr>
                        <a:t>28.7</a:t>
                      </a:r>
                      <a:r>
                        <a:rPr lang="es-CO" sz="1800" baseline="30000" dirty="0" smtClean="0">
                          <a:latin typeface="Times New Roman"/>
                          <a:ea typeface="Times New Roman"/>
                        </a:rPr>
                        <a:t>***</a:t>
                      </a:r>
                      <a:endParaRPr lang="es-CO" sz="1800" baseline="30000" dirty="0">
                        <a:latin typeface="Times New Roman"/>
                        <a:ea typeface="Times New Roman"/>
                      </a:endParaRPr>
                    </a:p>
                    <a:p>
                      <a:pPr algn="ctr">
                        <a:spcAft>
                          <a:spcPts val="0"/>
                        </a:spcAft>
                      </a:pPr>
                      <a:r>
                        <a:rPr lang="es-CO" sz="1800" dirty="0">
                          <a:latin typeface="Times New Roman"/>
                          <a:ea typeface="Times New Roman"/>
                        </a:rPr>
                        <a:t>(1.53)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CO" sz="1800" dirty="0" smtClean="0">
                          <a:latin typeface="Times New Roman"/>
                          <a:ea typeface="Times New Roman"/>
                        </a:rPr>
                        <a:t>28.7</a:t>
                      </a:r>
                      <a:r>
                        <a:rPr lang="es-CO" sz="1800" baseline="30000" dirty="0" smtClean="0">
                          <a:latin typeface="Times New Roman"/>
                          <a:ea typeface="Times New Roman"/>
                        </a:rPr>
                        <a:t>***</a:t>
                      </a:r>
                      <a:endParaRPr lang="es-CO" sz="1800" baseline="30000" dirty="0">
                        <a:latin typeface="Times New Roman"/>
                        <a:ea typeface="Times New Roman"/>
                      </a:endParaRPr>
                    </a:p>
                    <a:p>
                      <a:pPr algn="ctr">
                        <a:spcAft>
                          <a:spcPts val="0"/>
                        </a:spcAft>
                      </a:pPr>
                      <a:r>
                        <a:rPr lang="es-CO" sz="1800" dirty="0">
                          <a:latin typeface="Times New Roman"/>
                          <a:ea typeface="Times New Roman"/>
                        </a:rPr>
                        <a:t>(1.53)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CO" sz="1800" dirty="0" smtClean="0">
                          <a:latin typeface="Times New Roman"/>
                          <a:ea typeface="Times New Roman"/>
                        </a:rPr>
                        <a:t>28.7</a:t>
                      </a:r>
                      <a:r>
                        <a:rPr lang="es-CO" sz="1800" baseline="30000" dirty="0" smtClean="0">
                          <a:latin typeface="Times New Roman"/>
                          <a:ea typeface="Times New Roman"/>
                        </a:rPr>
                        <a:t>***</a:t>
                      </a:r>
                      <a:endParaRPr lang="es-CO" sz="1800" baseline="30000" dirty="0">
                        <a:latin typeface="Times New Roman"/>
                        <a:ea typeface="Times New Roman"/>
                      </a:endParaRPr>
                    </a:p>
                    <a:p>
                      <a:pPr algn="ctr">
                        <a:spcAft>
                          <a:spcPts val="0"/>
                        </a:spcAft>
                      </a:pPr>
                      <a:r>
                        <a:rPr lang="es-CO" sz="1800" dirty="0">
                          <a:latin typeface="Times New Roman"/>
                          <a:ea typeface="Times New Roman"/>
                        </a:rPr>
                        <a:t>(1.53)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058">
                <a:tc>
                  <a:txBody>
                    <a:bodyPr/>
                    <a:lstStyle/>
                    <a:p>
                      <a:pPr algn="l">
                        <a:spcAft>
                          <a:spcPts val="0"/>
                        </a:spcAft>
                      </a:pPr>
                      <a:r>
                        <a:rPr lang="es-CO" sz="1800" dirty="0">
                          <a:latin typeface="Times New Roman"/>
                          <a:ea typeface="Times New Roman"/>
                        </a:rPr>
                        <a:t>Funciones de control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CO" sz="1800" dirty="0" smtClean="0">
                          <a:latin typeface="Times New Roman"/>
                          <a:ea typeface="Times New Roman"/>
                        </a:rPr>
                        <a:t>51.6</a:t>
                      </a:r>
                      <a:r>
                        <a:rPr lang="es-CO" sz="1800" baseline="30000" dirty="0" smtClean="0">
                          <a:latin typeface="Times New Roman"/>
                          <a:ea typeface="Times New Roman"/>
                        </a:rPr>
                        <a:t>***</a:t>
                      </a:r>
                      <a:endParaRPr lang="es-CO" sz="1800" baseline="30000" dirty="0">
                        <a:latin typeface="Times New Roman"/>
                        <a:ea typeface="Times New Roman"/>
                      </a:endParaRPr>
                    </a:p>
                    <a:p>
                      <a:pPr algn="ctr">
                        <a:spcAft>
                          <a:spcPts val="0"/>
                        </a:spcAft>
                      </a:pPr>
                      <a:r>
                        <a:rPr lang="es-CO" sz="1800" dirty="0">
                          <a:latin typeface="Times New Roman"/>
                          <a:ea typeface="Times New Roman"/>
                        </a:rPr>
                        <a:t>(12.09)</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CO" sz="1800" dirty="0" smtClean="0">
                          <a:latin typeface="Times New Roman"/>
                          <a:ea typeface="Times New Roman"/>
                        </a:rPr>
                        <a:t>37.4</a:t>
                      </a:r>
                      <a:r>
                        <a:rPr lang="es-CO" sz="1800" baseline="30000" dirty="0" smtClean="0">
                          <a:latin typeface="Times New Roman"/>
                          <a:ea typeface="Times New Roman"/>
                        </a:rPr>
                        <a:t>***</a:t>
                      </a:r>
                      <a:endParaRPr lang="es-CO" sz="1800" baseline="30000" dirty="0">
                        <a:latin typeface="Times New Roman"/>
                        <a:ea typeface="Times New Roman"/>
                      </a:endParaRPr>
                    </a:p>
                    <a:p>
                      <a:pPr algn="ctr">
                        <a:spcAft>
                          <a:spcPts val="0"/>
                        </a:spcAft>
                      </a:pPr>
                      <a:r>
                        <a:rPr lang="es-CO" sz="1800" dirty="0">
                          <a:latin typeface="Times New Roman"/>
                          <a:ea typeface="Times New Roman"/>
                        </a:rPr>
                        <a:t>(9.29)</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CO" sz="1800" dirty="0" smtClean="0">
                          <a:latin typeface="Times New Roman"/>
                          <a:ea typeface="Times New Roman"/>
                        </a:rPr>
                        <a:t>31.7</a:t>
                      </a:r>
                      <a:r>
                        <a:rPr lang="es-CO" sz="1800" baseline="30000" dirty="0" smtClean="0">
                          <a:latin typeface="Times New Roman"/>
                          <a:ea typeface="Times New Roman"/>
                        </a:rPr>
                        <a:t>***</a:t>
                      </a:r>
                      <a:endParaRPr lang="es-CO" sz="1800" baseline="30000" dirty="0">
                        <a:latin typeface="Times New Roman"/>
                        <a:ea typeface="Times New Roman"/>
                      </a:endParaRPr>
                    </a:p>
                    <a:p>
                      <a:pPr algn="ctr">
                        <a:spcAft>
                          <a:spcPts val="0"/>
                        </a:spcAft>
                      </a:pPr>
                      <a:r>
                        <a:rPr lang="es-CO" sz="1800" dirty="0">
                          <a:latin typeface="Times New Roman"/>
                          <a:ea typeface="Times New Roman"/>
                        </a:rPr>
                        <a:t>(9.03)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10" name="1 Título"/>
          <p:cNvSpPr txBox="1">
            <a:spLocks/>
          </p:cNvSpPr>
          <p:nvPr/>
        </p:nvSpPr>
        <p:spPr>
          <a:xfrm>
            <a:off x="2411760" y="475842"/>
            <a:ext cx="6480720" cy="1296974"/>
          </a:xfrm>
          <a:prstGeom prst="rect">
            <a:avLst/>
          </a:prstGeom>
        </p:spPr>
        <p:txBody>
          <a:bodyPr vert="horz" lIns="91440" tIns="45720" rIns="91440" bIns="45720" rtlCol="0" anchor="ctr">
            <a:noAutofit/>
          </a:bodyPr>
          <a:lstStyle/>
          <a:p>
            <a:pPr lvl="0" algn="ctr">
              <a:spcBef>
                <a:spcPct val="0"/>
              </a:spcBef>
              <a:defRPr/>
            </a:pPr>
            <a:r>
              <a:rPr lang="es-AR" sz="3500" u="sng" dirty="0" smtClean="0"/>
              <a:t>Ejemplo: </a:t>
            </a:r>
            <a:r>
              <a:rPr lang="en-US" sz="3500" u="sng" dirty="0" smtClean="0"/>
              <a:t>“El </a:t>
            </a:r>
            <a:r>
              <a:rPr lang="en-US" sz="3500" u="sng" dirty="0" err="1" smtClean="0"/>
              <a:t>impacto</a:t>
            </a:r>
            <a:r>
              <a:rPr lang="en-US" sz="3500" u="sng" dirty="0" smtClean="0"/>
              <a:t> de la </a:t>
            </a:r>
            <a:r>
              <a:rPr lang="en-US" sz="3500" u="sng" dirty="0" err="1" smtClean="0"/>
              <a:t>educación</a:t>
            </a:r>
            <a:r>
              <a:rPr lang="en-US" sz="3500" u="sng" dirty="0" smtClean="0"/>
              <a:t> en los </a:t>
            </a:r>
            <a:r>
              <a:rPr lang="en-US" sz="3500" u="sng" dirty="0" err="1" smtClean="0"/>
              <a:t>ingresos</a:t>
            </a:r>
            <a:r>
              <a:rPr lang="en-US" sz="3500" u="sng" dirty="0" smtClean="0"/>
              <a:t> de </a:t>
            </a:r>
            <a:r>
              <a:rPr lang="en-US" sz="3500" u="sng" dirty="0" err="1" smtClean="0"/>
              <a:t>Inglaterra</a:t>
            </a:r>
            <a:r>
              <a:rPr lang="en-US" sz="3500" u="sng" dirty="0" smtClean="0"/>
              <a:t>” (Blundell, </a:t>
            </a:r>
            <a:r>
              <a:rPr lang="en-US" sz="3500" u="sng" dirty="0" err="1" smtClean="0"/>
              <a:t>Dearden</a:t>
            </a:r>
            <a:r>
              <a:rPr lang="en-US" sz="3500" u="sng" dirty="0" smtClean="0"/>
              <a:t> y </a:t>
            </a:r>
            <a:r>
              <a:rPr lang="en-US" sz="3500" u="sng" dirty="0" err="1" smtClean="0"/>
              <a:t>Sianesi</a:t>
            </a:r>
            <a:r>
              <a:rPr lang="en-US" sz="3500" u="sng" dirty="0" smtClean="0"/>
              <a:t>, 2003)</a:t>
            </a:r>
            <a:endParaRPr kumimoji="0" lang="es-AR" sz="3500" b="0" i="1" u="sng" strike="noStrike" kern="1200" cap="none" spc="0" normalizeH="0" noProof="0" dirty="0">
              <a:ln>
                <a:noFill/>
              </a:ln>
              <a:solidFill>
                <a:schemeClr val="tx1"/>
              </a:solidFill>
              <a:effectLst/>
              <a:uLnTx/>
              <a:uFillTx/>
              <a:latin typeface="+mj-lt"/>
              <a:ea typeface="+mj-ea"/>
              <a:cs typeface="+mj-cs"/>
            </a:endParaRPr>
          </a:p>
        </p:txBody>
      </p:sp>
      <p:sp>
        <p:nvSpPr>
          <p:cNvPr id="7" name="6 Rectángulo"/>
          <p:cNvSpPr/>
          <p:nvPr/>
        </p:nvSpPr>
        <p:spPr>
          <a:xfrm>
            <a:off x="395536" y="5949280"/>
            <a:ext cx="6286544" cy="323165"/>
          </a:xfrm>
          <a:prstGeom prst="rect">
            <a:avLst/>
          </a:prstGeom>
        </p:spPr>
        <p:txBody>
          <a:bodyPr wrap="square">
            <a:spAutoFit/>
          </a:bodyPr>
          <a:lstStyle/>
          <a:p>
            <a:r>
              <a:rPr lang="es-ES" sz="1500" dirty="0" smtClean="0"/>
              <a:t>*** Significativo al 1%.</a:t>
            </a:r>
            <a:endParaRPr lang="es-ES" sz="1500" dirty="0"/>
          </a:p>
        </p:txBody>
      </p:sp>
    </p:spTree>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1141</TotalTime>
  <Words>1946</Words>
  <Application>Microsoft Office PowerPoint</Application>
  <PresentationFormat>Presentación en pantalla (4:3)</PresentationFormat>
  <Paragraphs>316</Paragraphs>
  <Slides>33</Slides>
  <Notes>14</Notes>
  <HiddenSlides>0</HiddenSlides>
  <MMClips>0</MMClips>
  <ScaleCrop>false</ScaleCrop>
  <HeadingPairs>
    <vt:vector size="6" baseType="variant">
      <vt:variant>
        <vt:lpstr>Tema</vt:lpstr>
      </vt:variant>
      <vt:variant>
        <vt:i4>1</vt:i4>
      </vt:variant>
      <vt:variant>
        <vt:lpstr>Servidores OLE incrustados</vt:lpstr>
      </vt:variant>
      <vt:variant>
        <vt:i4>2</vt:i4>
      </vt:variant>
      <vt:variant>
        <vt:lpstr>Títulos de diapositiva</vt:lpstr>
      </vt:variant>
      <vt:variant>
        <vt:i4>33</vt:i4>
      </vt:variant>
    </vt:vector>
  </HeadingPairs>
  <TitlesOfParts>
    <vt:vector size="36" baseType="lpstr">
      <vt:lpstr>Tema de Office</vt:lpstr>
      <vt:lpstr>Documento</vt:lpstr>
      <vt:lpstr>Ecuación</vt:lpstr>
      <vt:lpstr>Capítulo 9</vt:lpstr>
      <vt:lpstr>¿Qué hace la función de control?</vt:lpstr>
      <vt:lpstr>Solución para autoselección</vt:lpstr>
      <vt:lpstr>Función de control</vt:lpstr>
      <vt:lpstr>Sesgo de selección</vt:lpstr>
      <vt:lpstr>Ejemplo Canasta</vt:lpstr>
      <vt:lpstr>Supuesto fundamental de la función de control</vt:lpstr>
      <vt:lpstr>Presentación de PowerPoint</vt:lpstr>
      <vt:lpstr>Presentación de PowerPoint</vt:lpstr>
      <vt:lpstr>Presentación de PowerPoint</vt:lpstr>
      <vt:lpstr>Método de función de control</vt:lpstr>
      <vt:lpstr>Método de función de control</vt:lpstr>
      <vt:lpstr>Condición fundamental de identificación</vt:lpstr>
      <vt:lpstr>Intuición</vt:lpstr>
      <vt:lpstr>Pensando en la estimación como una de dos etapas</vt:lpstr>
      <vt:lpstr>Acerca del supuesto fundamental</vt:lpstr>
      <vt:lpstr>Primera etapa:  Estimación de__</vt:lpstr>
      <vt:lpstr>Primera etapa:  Estimación de__           </vt:lpstr>
      <vt:lpstr>Segunda etapa:  Estimación de Y       </vt:lpstr>
      <vt:lpstr>Segunda etapa:  Estimación de Y       </vt:lpstr>
      <vt:lpstr>Presentación de PowerPoint</vt:lpstr>
      <vt:lpstr>Presentación de PowerPoint</vt:lpstr>
      <vt:lpstr>Presentación de PowerPoint</vt:lpstr>
      <vt:lpstr>Presentación de PowerPoint</vt:lpstr>
      <vt:lpstr>¿Qué genera el supuesto de normalidad en los errores?</vt:lpstr>
      <vt:lpstr>¿Cómo se relaciona este método con los demás?</vt:lpstr>
      <vt:lpstr>¿Cómo se relaciona este método con los demás?</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Universidad de los Andes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lo-caro</dc:creator>
  <cp:lastModifiedBy>c.van124</cp:lastModifiedBy>
  <cp:revision>231</cp:revision>
  <dcterms:created xsi:type="dcterms:W3CDTF">2009-10-14T13:41:46Z</dcterms:created>
  <dcterms:modified xsi:type="dcterms:W3CDTF">2011-04-05T22:41:15Z</dcterms:modified>
</cp:coreProperties>
</file>