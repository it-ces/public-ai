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docx" ContentType="application/vnd.openxmlformats-officedocument.wordprocessingml.document"/>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1" r:id="rId25"/>
    <p:sldId id="283" r:id="rId26"/>
    <p:sldId id="284" r:id="rId27"/>
    <p:sldId id="285" r:id="rId28"/>
    <p:sldId id="286" r:id="rId29"/>
    <p:sldId id="288" r:id="rId30"/>
    <p:sldId id="336" r:id="rId31"/>
    <p:sldId id="289" r:id="rId32"/>
    <p:sldId id="290" r:id="rId33"/>
    <p:sldId id="291" r:id="rId34"/>
    <p:sldId id="292" r:id="rId35"/>
    <p:sldId id="293" r:id="rId36"/>
    <p:sldId id="294" r:id="rId37"/>
    <p:sldId id="295" r:id="rId38"/>
    <p:sldId id="298" r:id="rId39"/>
    <p:sldId id="299" r:id="rId40"/>
    <p:sldId id="300" r:id="rId41"/>
    <p:sldId id="301" r:id="rId42"/>
    <p:sldId id="302" r:id="rId43"/>
    <p:sldId id="303" r:id="rId44"/>
    <p:sldId id="304" r:id="rId45"/>
    <p:sldId id="305" r:id="rId46"/>
    <p:sldId id="324" r:id="rId47"/>
    <p:sldId id="327" r:id="rId48"/>
    <p:sldId id="328" r:id="rId49"/>
    <p:sldId id="329" r:id="rId50"/>
    <p:sldId id="330" r:id="rId51"/>
    <p:sldId id="331" r:id="rId52"/>
    <p:sldId id="332" r:id="rId53"/>
    <p:sldId id="333" r:id="rId54"/>
    <p:sldId id="334" r:id="rId55"/>
  </p:sldIdLst>
  <p:sldSz cx="9144000" cy="6858000" type="screen4x3"/>
  <p:notesSz cx="7315200" cy="96012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os Vera Hernandez" initials="MV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9" autoAdjust="0"/>
    <p:restoredTop sz="80968" autoAdjust="0"/>
  </p:normalViewPr>
  <p:slideViewPr>
    <p:cSldViewPr>
      <p:cViewPr>
        <p:scale>
          <a:sx n="65" d="100"/>
          <a:sy n="65" d="100"/>
        </p:scale>
        <p:origin x="-1152" y="-78"/>
      </p:cViewPr>
      <p:guideLst>
        <p:guide orient="horz" pos="2160"/>
        <p:guide pos="2880"/>
      </p:guideLst>
    </p:cSldViewPr>
  </p:slideViewPr>
  <p:outlineViewPr>
    <p:cViewPr>
      <p:scale>
        <a:sx n="33" d="100"/>
        <a:sy n="33" d="100"/>
      </p:scale>
      <p:origin x="0" y="1908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 Id="rId4"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image" Target="../media/image40.emf"/><Relationship Id="rId4" Type="http://schemas.openxmlformats.org/officeDocument/2006/relationships/image" Target="../media/image43.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4" Type="http://schemas.openxmlformats.org/officeDocument/2006/relationships/image" Target="../media/image53.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emf"/><Relationship Id="rId4" Type="http://schemas.openxmlformats.org/officeDocument/2006/relationships/image" Target="../media/image5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image" Target="../media/image59.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image" Target="../media/image67.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emf"/><Relationship Id="rId4" Type="http://schemas.openxmlformats.org/officeDocument/2006/relationships/image" Target="../media/image74.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image" Target="../media/image75.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image" Target="../media/image7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0.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image" Target="../media/image81.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image" Target="../media/image8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s-ES"/>
          </a:p>
        </p:txBody>
      </p:sp>
      <p:sp>
        <p:nvSpPr>
          <p:cNvPr id="3" name="2 Marcador de fecha"/>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B997E539-B312-40BE-816D-64F991FE302D}" type="datetimeFigureOut">
              <a:rPr lang="es-ES" smtClean="0"/>
              <a:pPr/>
              <a:t>10/04/2011</a:t>
            </a:fld>
            <a:endParaRPr lang="es-ES"/>
          </a:p>
        </p:txBody>
      </p:sp>
      <p:sp>
        <p:nvSpPr>
          <p:cNvPr id="4" name="3 Marcador de imagen de diapositiva"/>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s-ES"/>
          </a:p>
        </p:txBody>
      </p:sp>
      <p:sp>
        <p:nvSpPr>
          <p:cNvPr id="5" name="4 Marcador de notas"/>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s-ES"/>
          </a:p>
        </p:txBody>
      </p:sp>
      <p:sp>
        <p:nvSpPr>
          <p:cNvPr id="7" name="6 Marcador de número de diapositiva"/>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84D293C4-9AEA-4C52-B5B3-13946F2562B7}" type="slidenum">
              <a:rPr lang="es-ES" smtClean="0"/>
              <a:pPr/>
              <a:t>‹Nº›</a:t>
            </a:fld>
            <a:endParaRPr lang="es-ES"/>
          </a:p>
        </p:txBody>
      </p:sp>
    </p:spTree>
    <p:extLst>
      <p:ext uri="{BB962C8B-B14F-4D97-AF65-F5344CB8AC3E}">
        <p14:creationId xmlns:p14="http://schemas.microsoft.com/office/powerpoint/2010/main" xmlns="" val="3492720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Crítica</a:t>
            </a:r>
            <a:r>
              <a:rPr lang="es-ES_tradnl" baseline="0" dirty="0" smtClean="0"/>
              <a:t> de Lucas: Los parámetros de la ecuación de forma reducida no son invariantes a cambios  de política.</a:t>
            </a:r>
          </a:p>
          <a:p>
            <a:r>
              <a:rPr lang="es-ES_tradnl" baseline="0" dirty="0" smtClean="0"/>
              <a:t>Lo forma en la que responde H puede variar cuando hay cambios exógenos en el ambiente laboral.</a:t>
            </a:r>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11</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Asume</a:t>
            </a:r>
            <a:r>
              <a:rPr lang="es-ES_tradnl" baseline="0" dirty="0" smtClean="0"/>
              <a:t> que la madre es altruista y deriva bienestar de sus descendientes.</a:t>
            </a:r>
          </a:p>
          <a:p>
            <a:endParaRPr lang="es-ES_tradnl" baseline="0" dirty="0" smtClean="0"/>
          </a:p>
          <a:p>
            <a:r>
              <a:rPr lang="es-ES_tradnl" baseline="0" dirty="0" smtClean="0"/>
              <a:t>Restricción presupuestal: El gato total del hogar no debe exceder sus ingresos que corresponden al ingreso del padre y al ingreso laboral de la madre.</a:t>
            </a:r>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16</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17</a:t>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ES_tradnl" sz="1300" dirty="0" smtClean="0"/>
              <a:t>En algunas ocasiones hay que acudir a métodos de simulación para obtener estimadores de las expresiones de probabilidad</a:t>
            </a:r>
            <a:r>
              <a:rPr lang="es-ES_tradnl" dirty="0" smtClean="0"/>
              <a:t>.</a:t>
            </a:r>
            <a:endParaRPr lang="es-ES" dirty="0" smtClean="0"/>
          </a:p>
          <a:p>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26</a:t>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La</a:t>
            </a:r>
            <a:r>
              <a:rPr lang="es-ES_tradnl" baseline="0" dirty="0" smtClean="0"/>
              <a:t> matriz le da menor peso a los momentos precisos de la función objetivo.</a:t>
            </a:r>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30</a:t>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La</a:t>
            </a:r>
            <a:r>
              <a:rPr lang="es-ES_tradnl" baseline="0" dirty="0" smtClean="0"/>
              <a:t> matriz le da menor peso a los momentos precisos de la función objetivo.</a:t>
            </a:r>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31</a:t>
            </a:fld>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Si los errore</a:t>
            </a:r>
            <a:r>
              <a:rPr lang="es-ES_tradnl" baseline="0" dirty="0" smtClean="0"/>
              <a:t>s del modelo no están </a:t>
            </a:r>
            <a:r>
              <a:rPr lang="es-ES_tradnl" baseline="0" dirty="0" err="1" smtClean="0"/>
              <a:t>serialmente</a:t>
            </a:r>
            <a:r>
              <a:rPr lang="es-ES_tradnl" baseline="0" dirty="0" smtClean="0"/>
              <a:t> correlacionados, las expresiones de probabilidad en este caso resultarían de comparar los flujos de utilidades no sólo utilidades presentes.</a:t>
            </a:r>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36</a:t>
            </a:fld>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47</a:t>
            </a:fld>
            <a:endParaRPr lang="es-E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sz="1300" dirty="0" smtClean="0"/>
              <a:t>Donde </a:t>
            </a:r>
            <a:r>
              <a:rPr lang="es-ES" sz="1300" i="1" dirty="0" smtClean="0"/>
              <a:t>E</a:t>
            </a:r>
            <a:r>
              <a:rPr lang="es-ES" sz="1300" dirty="0" smtClean="0"/>
              <a:t> es el conjunto de individuos que trabajan y </a:t>
            </a:r>
            <a:r>
              <a:rPr lang="es-ES" sz="1300" i="1" dirty="0" smtClean="0"/>
              <a:t>U </a:t>
            </a:r>
            <a:r>
              <a:rPr lang="es-ES" sz="1300" dirty="0" smtClean="0"/>
              <a:t> son los que no trabajan. </a:t>
            </a:r>
            <a:r>
              <a:rPr lang="es-ES" sz="1300" i="1" dirty="0" smtClean="0"/>
              <a:t>d</a:t>
            </a:r>
            <a:r>
              <a:rPr lang="es-ES" sz="1300" i="1" baseline="-25000" dirty="0" smtClean="0"/>
              <a:t>ij</a:t>
            </a:r>
            <a:r>
              <a:rPr lang="es-ES" sz="1300" dirty="0" smtClean="0"/>
              <a:t>  es un indicador igual a 1 si el individuo </a:t>
            </a:r>
            <a:r>
              <a:rPr lang="es-ES" sz="1300" i="1" dirty="0" smtClean="0"/>
              <a:t>i </a:t>
            </a:r>
            <a:r>
              <a:rPr lang="es-ES" sz="1300" dirty="0" smtClean="0"/>
              <a:t>escoge la alternativa </a:t>
            </a:r>
            <a:r>
              <a:rPr lang="es-ES" sz="1300" i="1" dirty="0" smtClean="0"/>
              <a:t>j </a:t>
            </a:r>
            <a:r>
              <a:rPr lang="es-ES" sz="1300" dirty="0" smtClean="0"/>
              <a:t>y cero de lo contrario.</a:t>
            </a:r>
          </a:p>
          <a:p>
            <a:endParaRPr lang="es-ES_tradnl" sz="1300" dirty="0" smtClean="0"/>
          </a:p>
          <a:p>
            <a:r>
              <a:rPr lang="es-ES_tradnl" sz="1300" dirty="0" smtClean="0"/>
              <a:t>Para simular las expresiones de probabilidad  se utilizó el método de Kern</a:t>
            </a:r>
            <a:endParaRPr lang="es-ES" sz="1300" dirty="0" smtClean="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52</a:t>
            </a:fld>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_tradnl" sz="1300" dirty="0" smtClean="0"/>
          </a:p>
          <a:p>
            <a:r>
              <a:rPr lang="es-ES" sz="1300" dirty="0" smtClean="0"/>
              <a:t>Por ejemplo, el porcentaje de individuos que elige participar en el programa (P</a:t>
            </a:r>
            <a:r>
              <a:rPr lang="es-CO" sz="1300" dirty="0" smtClean="0"/>
              <a:t>=1) y trabajar en otros sectores diferentes a la agricultura (O=1) es 26.7% en los datos y 25.7% en los datos ficticios. La prueba de significancia de la diferencia entre los datos reales y los datos predichos indica que no existen diferencias entre los unos y los otro.</a:t>
            </a:r>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53</a:t>
            </a:fld>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ES" sz="1300" dirty="0" smtClean="0"/>
              <a:t>Se reporta en la segunda columna que se observaría un incremento significativo en la participación en los programas en cualquiera de los dos escenarios </a:t>
            </a:r>
            <a:r>
              <a:rPr lang="es-ES" sz="1300" dirty="0" err="1" smtClean="0"/>
              <a:t>contrafactuales</a:t>
            </a:r>
            <a:r>
              <a:rPr lang="es-ES" sz="1300" dirty="0" smtClean="0"/>
              <a:t>. En particular, la población desplazada participante pasaría de 36% a 83% en el caso del aumento en la transferencia y a 66% en el caso del aumento en la capacitación.</a:t>
            </a:r>
          </a:p>
          <a:p>
            <a:endParaRPr lang="es-ES" sz="1300" dirty="0" smtClean="0"/>
          </a:p>
          <a:p>
            <a:r>
              <a:rPr lang="es-ES" sz="1300" dirty="0" smtClean="0"/>
              <a:t>Por otra parte, se observa una disminución de los salarios promedio de los beneficiarios y no beneficiarios al doblar la transferencia y un aumento de los salarios al doblar la capacitación, con respecto al escenario de base.</a:t>
            </a:r>
          </a:p>
          <a:p>
            <a:endParaRPr lang="es-ES" sz="1300" dirty="0" smtClean="0"/>
          </a:p>
          <a:p>
            <a:r>
              <a:rPr lang="es-ES" sz="1300" dirty="0" smtClean="0"/>
              <a:t>Finalmente, en la última columna se presentan las diferencias en la utilidad total derivada por los individuos. En particular, la utilidad sería mayor en el escenario de aumento de transferencias que en el de énfasis a la capacitación.</a:t>
            </a:r>
          </a:p>
          <a:p>
            <a:pPr defTabSz="966612">
              <a:defRPr/>
            </a:pPr>
            <a:endParaRPr lang="es-ES" sz="1300" dirty="0" smtClean="0"/>
          </a:p>
          <a:p>
            <a:pPr defTabSz="966612">
              <a:defRPr/>
            </a:pPr>
            <a:r>
              <a:rPr lang="es-ES" sz="1300" dirty="0" smtClean="0"/>
              <a:t>La autora muestra que los individuos que con el programa actual no participan y lo harían tras las modificaciones son las menos vulnerables dentro de la población de desplazados.</a:t>
            </a:r>
          </a:p>
          <a:p>
            <a:endParaRPr lang="es-ES" dirty="0"/>
          </a:p>
        </p:txBody>
      </p:sp>
      <p:sp>
        <p:nvSpPr>
          <p:cNvPr id="4" name="3 Marcador de número de diapositiva"/>
          <p:cNvSpPr>
            <a:spLocks noGrp="1"/>
          </p:cNvSpPr>
          <p:nvPr>
            <p:ph type="sldNum" sz="quarter" idx="10"/>
          </p:nvPr>
        </p:nvSpPr>
        <p:spPr/>
        <p:txBody>
          <a:bodyPr/>
          <a:lstStyle/>
          <a:p>
            <a:fld id="{84D293C4-9AEA-4C52-B5B3-13946F2562B7}" type="slidenum">
              <a:rPr lang="es-ES" smtClean="0"/>
              <a:pPr/>
              <a:t>54</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38E6031-455F-4438-AAE7-AC534F2A8C2F}" type="datetimeFigureOut">
              <a:rPr lang="es-ES" smtClean="0"/>
              <a:pPr/>
              <a:t>10/04/2011</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09AC89B3-9D30-45FB-BFA4-65920067A53B}"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8E6031-455F-4438-AAE7-AC534F2A8C2F}" type="datetimeFigureOut">
              <a:rPr lang="es-ES" smtClean="0"/>
              <a:pPr/>
              <a:t>10/04/2011</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AC89B3-9D30-45FB-BFA4-65920067A53B}"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Documento_de_Word_20073.docx"/><Relationship Id="rId5" Type="http://schemas.openxmlformats.org/officeDocument/2006/relationships/package" Target="../embeddings/Documento_de_Word_20072.docx"/><Relationship Id="rId4" Type="http://schemas.openxmlformats.org/officeDocument/2006/relationships/package" Target="../embeddings/Documento_de_Word_20071.docx"/></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Documento_de_Word_20076.docx"/><Relationship Id="rId5" Type="http://schemas.openxmlformats.org/officeDocument/2006/relationships/package" Target="../embeddings/Documento_de_Word_20075.docx"/><Relationship Id="rId4" Type="http://schemas.openxmlformats.org/officeDocument/2006/relationships/package" Target="../embeddings/Documento_de_Word_20074.docx"/></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package" Target="../embeddings/Documento_de_Word_20079.docx"/><Relationship Id="rId5" Type="http://schemas.openxmlformats.org/officeDocument/2006/relationships/package" Target="../embeddings/Documento_de_Word_20078.docx"/><Relationship Id="rId4" Type="http://schemas.openxmlformats.org/officeDocument/2006/relationships/package" Target="../embeddings/Documento_de_Word_20077.docx"/></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package" Target="../embeddings/Documento_de_Word_200712.docx"/><Relationship Id="rId5" Type="http://schemas.openxmlformats.org/officeDocument/2006/relationships/package" Target="../embeddings/Documento_de_Word_200711.docx"/><Relationship Id="rId4" Type="http://schemas.openxmlformats.org/officeDocument/2006/relationships/package" Target="../embeddings/Documento_de_Word_200710.docx"/></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package" Target="../embeddings/Documento_de_Word_200714.docx"/><Relationship Id="rId4" Type="http://schemas.openxmlformats.org/officeDocument/2006/relationships/package" Target="../embeddings/Documento_de_Word_200713.docx"/></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package" Target="../embeddings/Documento_de_Word_200718.docx"/><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package" Target="../embeddings/Documento_de_Word_200717.docx"/><Relationship Id="rId5" Type="http://schemas.openxmlformats.org/officeDocument/2006/relationships/package" Target="../embeddings/Documento_de_Word_200716.docx"/><Relationship Id="rId4" Type="http://schemas.openxmlformats.org/officeDocument/2006/relationships/package" Target="../embeddings/Documento_de_Word_200715.docx"/></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package" Target="../embeddings/Documento_de_Word_200719.docx"/></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package" Target="../embeddings/Documento_de_Word_200720.docx"/></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package" Target="../embeddings/Documento_de_Word_200721.docx"/></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package" Target="../embeddings/Documento_de_Word_200724.docx"/><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package" Target="../embeddings/Documento_de_Word_200723.docx"/><Relationship Id="rId5" Type="http://schemas.openxmlformats.org/officeDocument/2006/relationships/package" Target="../embeddings/Documento_de_Word_200722.docx"/><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package" Target="../embeddings/Documento_de_Word_200726.docx"/><Relationship Id="rId5" Type="http://schemas.openxmlformats.org/officeDocument/2006/relationships/package" Target="../embeddings/Documento_de_Word_200725.docx"/><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package" Target="../embeddings/Documento_de_Word_200727.docx"/></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package" Target="../embeddings/Documento_de_Word_200729.docx"/><Relationship Id="rId4" Type="http://schemas.openxmlformats.org/officeDocument/2006/relationships/package" Target="../embeddings/Documento_de_Word_200728.docx"/></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package" Target="../embeddings/Documento_de_Word_200730.docx"/></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package" Target="../embeddings/Documento_de_Word_200732.docx"/><Relationship Id="rId4" Type="http://schemas.openxmlformats.org/officeDocument/2006/relationships/package" Target="../embeddings/Documento_de_Word_200731.docx"/></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package" Target="../embeddings/Documento_de_Word_200734.docx"/><Relationship Id="rId4" Type="http://schemas.openxmlformats.org/officeDocument/2006/relationships/package" Target="../embeddings/Documento_de_Word_200733.docx"/></Relationships>
</file>

<file path=ppt/slides/_rels/slide26.xml.rels><?xml version="1.0" encoding="UTF-8" standalone="yes"?>
<Relationships xmlns="http://schemas.openxmlformats.org/package/2006/relationships"><Relationship Id="rId8" Type="http://schemas.openxmlformats.org/officeDocument/2006/relationships/package" Target="../embeddings/Documento_de_Word_200737.docx"/><Relationship Id="rId3" Type="http://schemas.openxmlformats.org/officeDocument/2006/relationships/notesSlide" Target="../notesSlides/notesSlide4.xml"/><Relationship Id="rId7" Type="http://schemas.openxmlformats.org/officeDocument/2006/relationships/package" Target="../embeddings/Documento_de_Word_200736.docx"/><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package" Target="../embeddings/Documento_de_Word_200735.docx"/><Relationship Id="rId5" Type="http://schemas.openxmlformats.org/officeDocument/2006/relationships/image" Target="../media/image44.png"/><Relationship Id="rId4" Type="http://schemas.openxmlformats.org/officeDocument/2006/relationships/image" Target="../media/image1.png"/><Relationship Id="rId9" Type="http://schemas.openxmlformats.org/officeDocument/2006/relationships/package" Target="../embeddings/Documento_de_Word_200738.docx"/></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package" Target="../embeddings/Documento_de_Word_200741.docx"/><Relationship Id="rId5" Type="http://schemas.openxmlformats.org/officeDocument/2006/relationships/package" Target="../embeddings/Documento_de_Word_200740.docx"/><Relationship Id="rId4" Type="http://schemas.openxmlformats.org/officeDocument/2006/relationships/package" Target="../embeddings/Documento_de_Word_200739.docx"/></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package" Target="../embeddings/Documento_de_Word_200743.docx"/><Relationship Id="rId4" Type="http://schemas.openxmlformats.org/officeDocument/2006/relationships/package" Target="../embeddings/Documento_de_Word_200742.docx"/></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package" Target="../embeddings/Documento_de_Word_200747.docx"/><Relationship Id="rId3" Type="http://schemas.openxmlformats.org/officeDocument/2006/relationships/notesSlide" Target="../notesSlides/notesSlide6.xml"/><Relationship Id="rId7" Type="http://schemas.openxmlformats.org/officeDocument/2006/relationships/package" Target="../embeddings/Documento_de_Word_200746.docx"/><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package" Target="../embeddings/Documento_de_Word_200745.docx"/><Relationship Id="rId5" Type="http://schemas.openxmlformats.org/officeDocument/2006/relationships/package" Target="../embeddings/Documento_de_Word_200744.docx"/><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package" Target="../embeddings/Documento_de_Word_200751.docx"/><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package" Target="../embeddings/Documento_de_Word_200750.docx"/><Relationship Id="rId5" Type="http://schemas.openxmlformats.org/officeDocument/2006/relationships/package" Target="../embeddings/Documento_de_Word_200749.docx"/><Relationship Id="rId4" Type="http://schemas.openxmlformats.org/officeDocument/2006/relationships/package" Target="../embeddings/Documento_de_Word_200748.docx"/></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package" Target="../embeddings/Documento_de_Word_200752.docx"/></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package" Target="../embeddings/Documento_de_Word_200754.docx"/><Relationship Id="rId4" Type="http://schemas.openxmlformats.org/officeDocument/2006/relationships/package" Target="../embeddings/Documento_de_Word_200753.docx"/></Relationships>
</file>

<file path=ppt/slides/_rels/slide35.xml.rels><?xml version="1.0" encoding="UTF-8" standalone="yes"?>
<Relationships xmlns="http://schemas.openxmlformats.org/package/2006/relationships"><Relationship Id="rId8" Type="http://schemas.openxmlformats.org/officeDocument/2006/relationships/package" Target="../embeddings/Documento_de_Word_200759.docx"/><Relationship Id="rId3" Type="http://schemas.openxmlformats.org/officeDocument/2006/relationships/image" Target="../media/image1.png"/><Relationship Id="rId7" Type="http://schemas.openxmlformats.org/officeDocument/2006/relationships/package" Target="../embeddings/Documento_de_Word_200758.docx"/><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package" Target="../embeddings/Documento_de_Word_200757.docx"/><Relationship Id="rId5" Type="http://schemas.openxmlformats.org/officeDocument/2006/relationships/package" Target="../embeddings/Documento_de_Word_200756.docx"/><Relationship Id="rId4" Type="http://schemas.openxmlformats.org/officeDocument/2006/relationships/package" Target="../embeddings/Documento_de_Word_200755.docx"/><Relationship Id="rId9" Type="http://schemas.openxmlformats.org/officeDocument/2006/relationships/package" Target="../embeddings/Documento_de_Word_200760.docx"/></Relationships>
</file>

<file path=ppt/slides/_rels/slide36.xml.rels><?xml version="1.0" encoding="UTF-8" standalone="yes"?>
<Relationships xmlns="http://schemas.openxmlformats.org/package/2006/relationships"><Relationship Id="rId8" Type="http://schemas.openxmlformats.org/officeDocument/2006/relationships/package" Target="../embeddings/Documento_de_Word_200763.docx"/><Relationship Id="rId3" Type="http://schemas.openxmlformats.org/officeDocument/2006/relationships/notesSlide" Target="../notesSlides/notesSlide7.xml"/><Relationship Id="rId7" Type="http://schemas.openxmlformats.org/officeDocument/2006/relationships/package" Target="../embeddings/Documento_de_Word_200762.docx"/><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package" Target="../embeddings/Documento_de_Word_200761.docx"/><Relationship Id="rId5" Type="http://schemas.openxmlformats.org/officeDocument/2006/relationships/image" Target="../media/image70.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package" Target="../embeddings/Documento_de_Word_200767.docx"/><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package" Target="../embeddings/Documento_de_Word_200766.docx"/><Relationship Id="rId5" Type="http://schemas.openxmlformats.org/officeDocument/2006/relationships/package" Target="../embeddings/Documento_de_Word_200765.docx"/><Relationship Id="rId4" Type="http://schemas.openxmlformats.org/officeDocument/2006/relationships/package" Target="../embeddings/Documento_de_Word_200764.docx"/></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77.png"/><Relationship Id="rId5" Type="http://schemas.openxmlformats.org/officeDocument/2006/relationships/package" Target="../embeddings/Documento_de_Word_200769.docx"/><Relationship Id="rId4" Type="http://schemas.openxmlformats.org/officeDocument/2006/relationships/package" Target="../embeddings/Documento_de_Word_200768.docx"/></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package" Target="../embeddings/Documento_de_Word_200771.docx"/><Relationship Id="rId4" Type="http://schemas.openxmlformats.org/officeDocument/2006/relationships/package" Target="../embeddings/Documento_de_Word_200770.docx"/></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package" Target="../embeddings/Documento_de_Word_200772.docx"/></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package" Target="../embeddings/Documento_de_Word_200774.docx"/><Relationship Id="rId4" Type="http://schemas.openxmlformats.org/officeDocument/2006/relationships/package" Target="../embeddings/Documento_de_Word_200773.docx"/></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package" Target="../embeddings/Documento_de_Word_200777.docx"/><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package" Target="../embeddings/Documento_de_Word_200776.docx"/><Relationship Id="rId5" Type="http://schemas.openxmlformats.org/officeDocument/2006/relationships/package" Target="../embeddings/Documento_de_Word_200775.docx"/><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smtClean="0"/>
              <a:t>Capítulo 10</a:t>
            </a:r>
            <a:endParaRPr lang="es-ES" dirty="0"/>
          </a:p>
        </p:txBody>
      </p:sp>
      <p:sp>
        <p:nvSpPr>
          <p:cNvPr id="3" name="2 Subtítulo"/>
          <p:cNvSpPr>
            <a:spLocks noGrp="1"/>
          </p:cNvSpPr>
          <p:nvPr>
            <p:ph type="subTitle" idx="1"/>
          </p:nvPr>
        </p:nvSpPr>
        <p:spPr/>
        <p:txBody>
          <a:bodyPr/>
          <a:lstStyle/>
          <a:p>
            <a:pPr algn="r"/>
            <a:r>
              <a:rPr lang="es-CO" dirty="0" smtClean="0"/>
              <a:t>Modelos estructurales</a:t>
            </a:r>
            <a:endParaRPr lang="es-E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r>
              <a:rPr lang="es-CO" dirty="0" smtClean="0"/>
              <a:t>	</a:t>
            </a:r>
            <a:r>
              <a:rPr lang="es-CO" sz="2500" dirty="0" smtClean="0"/>
              <a:t>Hace uso de </a:t>
            </a:r>
            <a:r>
              <a:rPr lang="es-CO" sz="2500" u="sng" dirty="0" smtClean="0"/>
              <a:t>modelos de comportamiento explícitos</a:t>
            </a:r>
            <a:r>
              <a:rPr lang="es-CO" sz="2500" dirty="0" smtClean="0"/>
              <a:t>, no de las formas reducidas de dichos modelos.</a:t>
            </a:r>
          </a:p>
          <a:p>
            <a:pPr>
              <a:buNone/>
            </a:pPr>
            <a:r>
              <a:rPr lang="es-CO" sz="2500" dirty="0"/>
              <a:t>	</a:t>
            </a:r>
            <a:endParaRPr lang="es-CO" sz="2500" dirty="0" smtClean="0"/>
          </a:p>
          <a:p>
            <a:pPr>
              <a:buNone/>
            </a:pPr>
            <a:r>
              <a:rPr lang="es-CO" sz="2500" dirty="0"/>
              <a:t>	</a:t>
            </a:r>
            <a:r>
              <a:rPr lang="es-CO" sz="2500" dirty="0" smtClean="0"/>
              <a:t>El investigador:</a:t>
            </a:r>
          </a:p>
        </p:txBody>
      </p:sp>
      <p:pic>
        <p:nvPicPr>
          <p:cNvPr id="5"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2428860" y="214290"/>
            <a:ext cx="6257940" cy="1214446"/>
          </a:xfrm>
        </p:spPr>
        <p:txBody>
          <a:bodyPr>
            <a:noAutofit/>
          </a:bodyPr>
          <a:lstStyle/>
          <a:p>
            <a:r>
              <a:rPr lang="es-AR" sz="4200" u="sng" dirty="0" smtClean="0"/>
              <a:t>Diferencia con otros métodos de estimación</a:t>
            </a:r>
            <a:endParaRPr lang="es-AR" sz="4200" u="sng" dirty="0"/>
          </a:p>
        </p:txBody>
      </p:sp>
      <p:sp>
        <p:nvSpPr>
          <p:cNvPr id="7" name="6 CuadroTexto"/>
          <p:cNvSpPr txBox="1"/>
          <p:nvPr/>
        </p:nvSpPr>
        <p:spPr>
          <a:xfrm>
            <a:off x="1000100" y="3770518"/>
            <a:ext cx="2571768" cy="2015936"/>
          </a:xfrm>
          <a:prstGeom prst="rect">
            <a:avLst/>
          </a:prstGeom>
          <a:noFill/>
          <a:ln w="12700">
            <a:solidFill>
              <a:schemeClr val="accent1">
                <a:lumMod val="60000"/>
                <a:lumOff val="40000"/>
              </a:schemeClr>
            </a:solidFill>
          </a:ln>
        </p:spPr>
        <p:txBody>
          <a:bodyPr wrap="square" rtlCol="0">
            <a:spAutoFit/>
          </a:bodyPr>
          <a:lstStyle/>
          <a:p>
            <a:pPr algn="ctr"/>
            <a:r>
              <a:rPr lang="es-CO" sz="2500" dirty="0" smtClean="0"/>
              <a:t>Asume que el individuo toma decisiones con base en modelos de optimización. </a:t>
            </a:r>
            <a:endParaRPr lang="es-ES" sz="2500" dirty="0"/>
          </a:p>
        </p:txBody>
      </p:sp>
      <p:sp>
        <p:nvSpPr>
          <p:cNvPr id="8" name="7 Flecha derecha"/>
          <p:cNvSpPr/>
          <p:nvPr/>
        </p:nvSpPr>
        <p:spPr>
          <a:xfrm>
            <a:off x="3857620" y="4500570"/>
            <a:ext cx="357190" cy="428628"/>
          </a:xfrm>
          <a:prstGeom prst="right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4357686" y="3714752"/>
            <a:ext cx="3929090" cy="2400657"/>
          </a:xfrm>
          <a:prstGeom prst="rect">
            <a:avLst/>
          </a:prstGeom>
          <a:noFill/>
          <a:ln>
            <a:solidFill>
              <a:schemeClr val="accent1">
                <a:lumMod val="60000"/>
                <a:lumOff val="40000"/>
              </a:schemeClr>
            </a:solidFill>
          </a:ln>
        </p:spPr>
        <p:txBody>
          <a:bodyPr wrap="square" rtlCol="0">
            <a:spAutoFit/>
          </a:bodyPr>
          <a:lstStyle/>
          <a:p>
            <a:pPr algn="ctr"/>
            <a:r>
              <a:rPr lang="es-CO" sz="2500" dirty="0" smtClean="0"/>
              <a:t>Estima los parámetros estructurales de dichos modelos. </a:t>
            </a:r>
          </a:p>
          <a:p>
            <a:pPr algn="ctr"/>
            <a:r>
              <a:rPr lang="es-CO" sz="2500" dirty="0" smtClean="0"/>
              <a:t>Ejemplo: Parámetros función de utilidad, función de producción, etc.</a:t>
            </a:r>
            <a:endParaRPr lang="es-ES" sz="2500" dirty="0"/>
          </a:p>
        </p:txBody>
      </p:sp>
      <p:sp>
        <p:nvSpPr>
          <p:cNvPr id="13" name="12 Rectángulo"/>
          <p:cNvSpPr/>
          <p:nvPr/>
        </p:nvSpPr>
        <p:spPr>
          <a:xfrm>
            <a:off x="0" y="6534859"/>
            <a:ext cx="9144032"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lgn="ctr"/>
              <a:t>2</a:t>
            </a:fld>
            <a:endParaRPr lang="es-ES" sz="1500" dirty="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CO" sz="2500" dirty="0" smtClean="0"/>
              <a:t>	Con los parámetros estructurales se puede:</a:t>
            </a:r>
          </a:p>
          <a:p>
            <a:pPr>
              <a:buNone/>
            </a:pPr>
            <a:r>
              <a:rPr lang="es-CO" sz="2500" dirty="0"/>
              <a:t>	</a:t>
            </a:r>
            <a:endParaRPr lang="es-CO" sz="2500" dirty="0" smtClean="0"/>
          </a:p>
          <a:p>
            <a:pPr>
              <a:buNone/>
            </a:pPr>
            <a:r>
              <a:rPr lang="es-CO" sz="2500" dirty="0"/>
              <a:t>	</a:t>
            </a:r>
            <a:endParaRPr lang="es-CO" sz="2500" dirty="0" smtClean="0"/>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¿Para qué estimar los parámetros?</a:t>
            </a:r>
            <a:endParaRPr lang="es-AR" sz="4200" u="sng" dirty="0"/>
          </a:p>
        </p:txBody>
      </p:sp>
      <p:sp>
        <p:nvSpPr>
          <p:cNvPr id="8" name="7 CuadroTexto"/>
          <p:cNvSpPr txBox="1"/>
          <p:nvPr/>
        </p:nvSpPr>
        <p:spPr>
          <a:xfrm>
            <a:off x="1071538" y="2451880"/>
            <a:ext cx="7066293" cy="477054"/>
          </a:xfrm>
          <a:prstGeom prst="rect">
            <a:avLst/>
          </a:prstGeom>
          <a:noFill/>
          <a:ln>
            <a:solidFill>
              <a:schemeClr val="accent1">
                <a:lumMod val="60000"/>
                <a:lumOff val="40000"/>
              </a:schemeClr>
            </a:solidFill>
          </a:ln>
        </p:spPr>
        <p:txBody>
          <a:bodyPr wrap="none" rtlCol="0">
            <a:spAutoFit/>
          </a:bodyPr>
          <a:lstStyle/>
          <a:p>
            <a:r>
              <a:rPr lang="es-CO" sz="2500" dirty="0" smtClean="0"/>
              <a:t>Simular cualquier cambio en el ambiente económico</a:t>
            </a:r>
            <a:endParaRPr lang="es-ES" dirty="0"/>
          </a:p>
        </p:txBody>
      </p:sp>
      <p:sp>
        <p:nvSpPr>
          <p:cNvPr id="9" name="8 Flecha abajo"/>
          <p:cNvSpPr/>
          <p:nvPr/>
        </p:nvSpPr>
        <p:spPr>
          <a:xfrm>
            <a:off x="4286248" y="3143248"/>
            <a:ext cx="571504"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1518969" y="3643314"/>
            <a:ext cx="6221383" cy="477054"/>
          </a:xfrm>
          <a:prstGeom prst="rect">
            <a:avLst/>
          </a:prstGeom>
          <a:noFill/>
          <a:ln>
            <a:solidFill>
              <a:schemeClr val="accent1">
                <a:lumMod val="60000"/>
                <a:lumOff val="40000"/>
              </a:schemeClr>
            </a:solidFill>
          </a:ln>
        </p:spPr>
        <p:txBody>
          <a:bodyPr wrap="none" rtlCol="0">
            <a:spAutoFit/>
          </a:bodyPr>
          <a:lstStyle/>
          <a:p>
            <a:r>
              <a:rPr lang="es-CO" sz="2500" dirty="0" smtClean="0"/>
              <a:t>Evaluar experimentos de política </a:t>
            </a:r>
            <a:r>
              <a:rPr lang="es-CO" sz="2500" dirty="0" err="1" smtClean="0"/>
              <a:t>contrafactual</a:t>
            </a:r>
            <a:endParaRPr lang="es-ES" sz="2500" dirty="0"/>
          </a:p>
        </p:txBody>
      </p:sp>
      <p:sp>
        <p:nvSpPr>
          <p:cNvPr id="11" name="10 Flecha abajo"/>
          <p:cNvSpPr/>
          <p:nvPr/>
        </p:nvSpPr>
        <p:spPr>
          <a:xfrm>
            <a:off x="4286248" y="4357694"/>
            <a:ext cx="571504"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CuadroTexto"/>
          <p:cNvSpPr txBox="1"/>
          <p:nvPr/>
        </p:nvSpPr>
        <p:spPr>
          <a:xfrm>
            <a:off x="1000100" y="4924680"/>
            <a:ext cx="7143800" cy="861774"/>
          </a:xfrm>
          <a:prstGeom prst="rect">
            <a:avLst/>
          </a:prstGeom>
          <a:noFill/>
          <a:ln>
            <a:solidFill>
              <a:schemeClr val="accent1">
                <a:lumMod val="60000"/>
                <a:lumOff val="40000"/>
              </a:schemeClr>
            </a:solidFill>
          </a:ln>
        </p:spPr>
        <p:txBody>
          <a:bodyPr wrap="square" rtlCol="0">
            <a:spAutoFit/>
          </a:bodyPr>
          <a:lstStyle/>
          <a:p>
            <a:pPr algn="ctr"/>
            <a:r>
              <a:rPr lang="es-CO" sz="2500" dirty="0" smtClean="0"/>
              <a:t>Es decir, aquellos cambios de política hipotéticos que no tienen representación en los datos históricos.</a:t>
            </a:r>
            <a:endParaRPr lang="es-ES" sz="2500" dirty="0"/>
          </a:p>
        </p:txBody>
      </p:sp>
      <p:sp>
        <p:nvSpPr>
          <p:cNvPr id="13" name="12 Rectángulo"/>
          <p:cNvSpPr/>
          <p:nvPr/>
        </p:nvSpPr>
        <p:spPr>
          <a:xfrm>
            <a:off x="0" y="6534859"/>
            <a:ext cx="9144032"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lgn="ctr"/>
              <a:t>3</a:t>
            </a:fld>
            <a:endParaRPr lang="es-ES" sz="1500" dirty="0">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39552" y="1340768"/>
            <a:ext cx="8229600" cy="4525963"/>
          </a:xfrm>
        </p:spPr>
        <p:txBody>
          <a:bodyPr>
            <a:normAutofit/>
          </a:bodyPr>
          <a:lstStyle/>
          <a:p>
            <a:pPr>
              <a:buNone/>
            </a:pPr>
            <a:r>
              <a:rPr lang="es-CO" sz="2500" dirty="0"/>
              <a:t>	</a:t>
            </a:r>
            <a:r>
              <a:rPr lang="es-CO" sz="2500" dirty="0" smtClean="0"/>
              <a:t>Ecuación de interés:</a:t>
            </a:r>
          </a:p>
          <a:p>
            <a:pPr>
              <a:buNone/>
            </a:pPr>
            <a:r>
              <a:rPr lang="es-CO" sz="2500" dirty="0"/>
              <a:t>	</a:t>
            </a:r>
            <a:endParaRPr lang="es-CO" sz="2500" dirty="0" smtClean="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Estrategias de estimación</a:t>
            </a:r>
            <a:endParaRPr lang="es-AR" sz="4200" u="sng"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 name="7 CuadroTexto"/>
          <p:cNvSpPr txBox="1"/>
          <p:nvPr/>
        </p:nvSpPr>
        <p:spPr>
          <a:xfrm>
            <a:off x="827584" y="2420888"/>
            <a:ext cx="1205779" cy="477054"/>
          </a:xfrm>
          <a:prstGeom prst="rect">
            <a:avLst/>
          </a:prstGeom>
          <a:noFill/>
        </p:spPr>
        <p:txBody>
          <a:bodyPr wrap="none" rtlCol="0">
            <a:spAutoFit/>
          </a:bodyPr>
          <a:lstStyle/>
          <a:p>
            <a:r>
              <a:rPr lang="es-ES_tradnl" sz="2500" dirty="0" smtClean="0"/>
              <a:t>Donde: </a:t>
            </a:r>
            <a:endParaRPr lang="es-ES" sz="2500" dirty="0"/>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2" name="11 Conector recto de flecha"/>
          <p:cNvCxnSpPr/>
          <p:nvPr/>
        </p:nvCxnSpPr>
        <p:spPr>
          <a:xfrm>
            <a:off x="1475656" y="314096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051720" y="2852936"/>
            <a:ext cx="5702138" cy="477054"/>
          </a:xfrm>
          <a:prstGeom prst="rect">
            <a:avLst/>
          </a:prstGeom>
          <a:noFill/>
        </p:spPr>
        <p:txBody>
          <a:bodyPr wrap="none" rtlCol="0">
            <a:spAutoFit/>
          </a:bodyPr>
          <a:lstStyle/>
          <a:p>
            <a:r>
              <a:rPr lang="es-ES_tradnl" sz="2500" dirty="0" smtClean="0"/>
              <a:t>Indicador de participación en el programa.</a:t>
            </a:r>
            <a:endParaRPr lang="es-ES" sz="2500" dirty="0"/>
          </a:p>
        </p:txBody>
      </p:sp>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6" name="15 Conector recto de flecha"/>
          <p:cNvCxnSpPr/>
          <p:nvPr/>
        </p:nvCxnSpPr>
        <p:spPr>
          <a:xfrm>
            <a:off x="1547664" y="364502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051720" y="3356992"/>
            <a:ext cx="3026470" cy="477054"/>
          </a:xfrm>
          <a:prstGeom prst="rect">
            <a:avLst/>
          </a:prstGeom>
          <a:noFill/>
        </p:spPr>
        <p:txBody>
          <a:bodyPr wrap="none" rtlCol="0">
            <a:spAutoFit/>
          </a:bodyPr>
          <a:lstStyle/>
          <a:p>
            <a:r>
              <a:rPr lang="es-ES_tradnl" sz="2500" dirty="0" smtClean="0"/>
              <a:t>Variable de resultado.</a:t>
            </a:r>
            <a:endParaRPr lang="es-ES" sz="2500" dirty="0"/>
          </a:p>
        </p:txBody>
      </p:sp>
      <p:sp>
        <p:nvSpPr>
          <p:cNvPr id="18" name="17 CuadroTexto"/>
          <p:cNvSpPr txBox="1"/>
          <p:nvPr/>
        </p:nvSpPr>
        <p:spPr>
          <a:xfrm>
            <a:off x="755576" y="3861048"/>
            <a:ext cx="7429552"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La ecuación asume que existe un modelo subyacente  con base en el cual el individuo toma decisiones.</a:t>
            </a:r>
            <a:endParaRPr lang="es-ES" dirty="0"/>
          </a:p>
        </p:txBody>
      </p:sp>
      <p:graphicFrame>
        <p:nvGraphicFramePr>
          <p:cNvPr id="2" name="Object 2"/>
          <p:cNvGraphicFramePr>
            <a:graphicFrameLocks noChangeAspect="1"/>
          </p:cNvGraphicFramePr>
          <p:nvPr/>
        </p:nvGraphicFramePr>
        <p:xfrm>
          <a:off x="1835696" y="1844824"/>
          <a:ext cx="6453069" cy="693370"/>
        </p:xfrm>
        <a:graphic>
          <a:graphicData uri="http://schemas.openxmlformats.org/presentationml/2006/ole">
            <p:oleObj spid="_x0000_s1047" name="Documento" r:id="rId4" imgW="5397500" imgH="590165" progId="Word.Document.12">
              <p:embed/>
            </p:oleObj>
          </a:graphicData>
        </a:graphic>
      </p:graphicFrame>
      <p:graphicFrame>
        <p:nvGraphicFramePr>
          <p:cNvPr id="6" name="Object 3"/>
          <p:cNvGraphicFramePr>
            <a:graphicFrameLocks noChangeAspect="1"/>
          </p:cNvGraphicFramePr>
          <p:nvPr/>
        </p:nvGraphicFramePr>
        <p:xfrm>
          <a:off x="-900608" y="2852936"/>
          <a:ext cx="3983038" cy="441325"/>
        </p:xfrm>
        <a:graphic>
          <a:graphicData uri="http://schemas.openxmlformats.org/presentationml/2006/ole">
            <p:oleObj spid="_x0000_s1048" name="Documento" r:id="rId5" imgW="5290013" imgH="595454" progId="Word.Document.12">
              <p:embed/>
            </p:oleObj>
          </a:graphicData>
        </a:graphic>
      </p:graphicFrame>
      <p:graphicFrame>
        <p:nvGraphicFramePr>
          <p:cNvPr id="9" name="Object 4"/>
          <p:cNvGraphicFramePr>
            <a:graphicFrameLocks noChangeAspect="1"/>
          </p:cNvGraphicFramePr>
          <p:nvPr/>
        </p:nvGraphicFramePr>
        <p:xfrm>
          <a:off x="-900608" y="3356992"/>
          <a:ext cx="3983038" cy="441325"/>
        </p:xfrm>
        <a:graphic>
          <a:graphicData uri="http://schemas.openxmlformats.org/presentationml/2006/ole">
            <p:oleObj spid="_x0000_s1049" name="Documento" r:id="rId6" imgW="5290013" imgH="595454" progId="Word.Document.12">
              <p:embed/>
            </p:oleObj>
          </a:graphicData>
        </a:graphic>
      </p:graphicFrame>
      <p:sp>
        <p:nvSpPr>
          <p:cNvPr id="21" name="20 Rectángulo"/>
          <p:cNvSpPr/>
          <p:nvPr/>
        </p:nvSpPr>
        <p:spPr>
          <a:xfrm>
            <a:off x="755576" y="4869160"/>
            <a:ext cx="4572000" cy="1031051"/>
          </a:xfrm>
          <a:prstGeom prst="rect">
            <a:avLst/>
          </a:prstGeom>
        </p:spPr>
        <p:txBody>
          <a:bodyPr>
            <a:spAutoFit/>
          </a:bodyPr>
          <a:lstStyle/>
          <a:p>
            <a:pPr>
              <a:buNone/>
            </a:pPr>
            <a:r>
              <a:rPr lang="es-ES_tradnl" sz="2500" dirty="0" smtClean="0"/>
              <a:t>El método estructural parte del:</a:t>
            </a:r>
          </a:p>
          <a:p>
            <a:pPr>
              <a:buNone/>
            </a:pPr>
            <a:endParaRPr lang="es-ES_tradnl" dirty="0" smtClean="0"/>
          </a:p>
          <a:p>
            <a:pPr algn="ctr">
              <a:buNone/>
            </a:pPr>
            <a:endParaRPr lang="es-ES_tradnl" dirty="0" smtClean="0"/>
          </a:p>
        </p:txBody>
      </p:sp>
      <p:sp>
        <p:nvSpPr>
          <p:cNvPr id="22" name="21 CuadroTexto"/>
          <p:cNvSpPr txBox="1"/>
          <p:nvPr/>
        </p:nvSpPr>
        <p:spPr>
          <a:xfrm>
            <a:off x="683568" y="5517232"/>
            <a:ext cx="7748018" cy="477054"/>
          </a:xfrm>
          <a:prstGeom prst="rect">
            <a:avLst/>
          </a:prstGeom>
          <a:noFill/>
          <a:ln>
            <a:solidFill>
              <a:schemeClr val="accent1">
                <a:lumMod val="60000"/>
                <a:lumOff val="40000"/>
              </a:schemeClr>
            </a:solidFill>
          </a:ln>
        </p:spPr>
        <p:txBody>
          <a:bodyPr wrap="none" rtlCol="0">
            <a:spAutoFit/>
          </a:bodyPr>
          <a:lstStyle/>
          <a:p>
            <a:r>
              <a:rPr lang="es-ES_tradnl" sz="2500" dirty="0" smtClean="0"/>
              <a:t>Modelo de elección, en vez de partir de la forma reducida</a:t>
            </a:r>
            <a:r>
              <a:rPr lang="es-ES_tradnl" dirty="0" smtClean="0"/>
              <a:t>.</a:t>
            </a:r>
            <a:endParaRPr lang="es-ES" dirty="0"/>
          </a:p>
        </p:txBody>
      </p:sp>
      <p:cxnSp>
        <p:nvCxnSpPr>
          <p:cNvPr id="23" name="22 Conector recto de flecha"/>
          <p:cNvCxnSpPr/>
          <p:nvPr/>
        </p:nvCxnSpPr>
        <p:spPr>
          <a:xfrm rot="5400000">
            <a:off x="4213894" y="537128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23 Rectángulo"/>
          <p:cNvSpPr/>
          <p:nvPr/>
        </p:nvSpPr>
        <p:spPr>
          <a:xfrm>
            <a:off x="0" y="6534859"/>
            <a:ext cx="9144032"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lgn="ctr"/>
              <a:t>4</a:t>
            </a:fld>
            <a:endParaRPr lang="es-ES" sz="1500" dirty="0">
              <a:solidFill>
                <a:schemeClr val="tx1">
                  <a:lumMod val="50000"/>
                  <a:lumOff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a:bodyPr>
          <a:lstStyle/>
          <a:p>
            <a:pPr>
              <a:buNone/>
            </a:pPr>
            <a:r>
              <a:rPr lang="es-AR" sz="2800" u="sng" dirty="0" smtClean="0"/>
              <a:t>Ejemplo 1: Demanda por un bien </a:t>
            </a:r>
          </a:p>
          <a:p>
            <a:pPr>
              <a:buNone/>
            </a:pPr>
            <a:r>
              <a:rPr lang="es-AR" sz="2500" dirty="0" smtClean="0"/>
              <a:t>El problema  del consumidor</a:t>
            </a:r>
            <a:endParaRPr lang="es-ES_tradnl" sz="2500" dirty="0" smtClean="0"/>
          </a:p>
          <a:p>
            <a:pPr>
              <a:buNone/>
            </a:pPr>
            <a:endParaRPr lang="es-ES_tradnl" sz="2500" dirty="0" smtClean="0"/>
          </a:p>
          <a:p>
            <a:pPr>
              <a:buNone/>
            </a:pP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3600" u="sng" dirty="0" smtClean="0"/>
              <a:t>Distinción entre modelo estructural y su forma reducida</a:t>
            </a:r>
            <a:endParaRPr lang="es-AR" sz="3600" u="sng" dirty="0"/>
          </a:p>
        </p:txBody>
      </p:sp>
      <p:sp>
        <p:nvSpPr>
          <p:cNvPr id="17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741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7413" name="Rectangle 5"/>
          <p:cNvSpPr>
            <a:spLocks noChangeArrowheads="1"/>
          </p:cNvSpPr>
          <p:nvPr/>
        </p:nvSpPr>
        <p:spPr bwMode="auto">
          <a:xfrm>
            <a:off x="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7415"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7416"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5" name="14 CuadroTexto"/>
          <p:cNvSpPr txBox="1"/>
          <p:nvPr/>
        </p:nvSpPr>
        <p:spPr>
          <a:xfrm>
            <a:off x="971600" y="3140968"/>
            <a:ext cx="1284262" cy="477054"/>
          </a:xfrm>
          <a:prstGeom prst="rect">
            <a:avLst/>
          </a:prstGeom>
          <a:noFill/>
        </p:spPr>
        <p:txBody>
          <a:bodyPr wrap="none" rtlCol="0">
            <a:spAutoFit/>
          </a:bodyPr>
          <a:lstStyle/>
          <a:p>
            <a:r>
              <a:rPr lang="es-ES_tradnl" sz="2500" dirty="0" smtClean="0"/>
              <a:t>sujeto a </a:t>
            </a:r>
            <a:endParaRPr lang="es-ES" sz="2500" dirty="0"/>
          </a:p>
        </p:txBody>
      </p:sp>
      <p:sp>
        <p:nvSpPr>
          <p:cNvPr id="1741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 name="21 CuadroTexto"/>
          <p:cNvSpPr txBox="1"/>
          <p:nvPr/>
        </p:nvSpPr>
        <p:spPr>
          <a:xfrm>
            <a:off x="3779912" y="2492896"/>
            <a:ext cx="4714908" cy="1154162"/>
          </a:xfrm>
          <a:prstGeom prst="rect">
            <a:avLst/>
          </a:prstGeom>
          <a:noFill/>
          <a:ln>
            <a:noFill/>
          </a:ln>
        </p:spPr>
        <p:txBody>
          <a:bodyPr wrap="square" rtlCol="0">
            <a:spAutoFit/>
          </a:bodyPr>
          <a:lstStyle/>
          <a:p>
            <a:r>
              <a:rPr lang="es-ES_tradnl" sz="2300" dirty="0" smtClean="0"/>
              <a:t>Utilidad del individuo</a:t>
            </a:r>
            <a:r>
              <a:rPr lang="es-ES" sz="2300" dirty="0" smtClean="0"/>
              <a:t> que depende del consumo total del bien </a:t>
            </a:r>
            <a:r>
              <a:rPr lang="es-ES" sz="2300" i="1" dirty="0" smtClean="0"/>
              <a:t>Y </a:t>
            </a:r>
            <a:r>
              <a:rPr lang="es-ES" sz="2300" dirty="0" err="1" smtClean="0"/>
              <a:t>y</a:t>
            </a:r>
            <a:r>
              <a:rPr lang="es-ES" sz="2300" dirty="0" smtClean="0"/>
              <a:t> de un vector de parámetros.</a:t>
            </a:r>
            <a:endParaRPr lang="es-ES_tradnl" sz="2300" dirty="0" smtClean="0"/>
          </a:p>
        </p:txBody>
      </p:sp>
      <p:sp>
        <p:nvSpPr>
          <p:cNvPr id="1742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5" name="24 CuadroTexto"/>
          <p:cNvSpPr txBox="1"/>
          <p:nvPr/>
        </p:nvSpPr>
        <p:spPr>
          <a:xfrm>
            <a:off x="3779912" y="3643315"/>
            <a:ext cx="3882732" cy="1154162"/>
          </a:xfrm>
          <a:prstGeom prst="rect">
            <a:avLst/>
          </a:prstGeom>
          <a:noFill/>
          <a:ln>
            <a:noFill/>
          </a:ln>
        </p:spPr>
        <p:txBody>
          <a:bodyPr wrap="square" rtlCol="0">
            <a:spAutoFit/>
          </a:bodyPr>
          <a:lstStyle/>
          <a:p>
            <a:r>
              <a:rPr lang="es-ES_tradnl" sz="2300" dirty="0" smtClean="0"/>
              <a:t>Restricción presupuestal. </a:t>
            </a:r>
            <a:r>
              <a:rPr lang="es-ES_tradnl" sz="2300" i="1" dirty="0" smtClean="0">
                <a:latin typeface="Times New Roman" pitchFamily="18" charset="0"/>
                <a:cs typeface="Times New Roman" pitchFamily="18" charset="0"/>
              </a:rPr>
              <a:t>P</a:t>
            </a:r>
            <a:r>
              <a:rPr lang="es-ES_tradnl" sz="2300" dirty="0" smtClean="0"/>
              <a:t> es el precio unitario del bien </a:t>
            </a:r>
            <a:r>
              <a:rPr lang="es-ES_tradnl" sz="2300" i="1" dirty="0" smtClean="0">
                <a:latin typeface="Times New Roman" pitchFamily="18" charset="0"/>
                <a:cs typeface="Times New Roman" pitchFamily="18" charset="0"/>
              </a:rPr>
              <a:t>Y</a:t>
            </a:r>
            <a:r>
              <a:rPr lang="es-ES_tradnl" sz="2300" dirty="0" smtClean="0"/>
              <a:t> e </a:t>
            </a:r>
            <a:r>
              <a:rPr lang="es-ES_tradnl" sz="2300" i="1" dirty="0" smtClean="0">
                <a:latin typeface="Times New Roman" pitchFamily="18" charset="0"/>
                <a:cs typeface="Times New Roman" pitchFamily="18" charset="0"/>
              </a:rPr>
              <a:t>I</a:t>
            </a:r>
            <a:r>
              <a:rPr lang="es-ES_tradnl" sz="2300" dirty="0" smtClean="0">
                <a:latin typeface="Times New Roman" pitchFamily="18" charset="0"/>
                <a:cs typeface="Times New Roman" pitchFamily="18" charset="0"/>
              </a:rPr>
              <a:t> </a:t>
            </a:r>
            <a:r>
              <a:rPr lang="es-ES_tradnl" sz="2300" dirty="0" smtClean="0"/>
              <a:t>es el ingreso total</a:t>
            </a:r>
          </a:p>
        </p:txBody>
      </p:sp>
      <p:sp>
        <p:nvSpPr>
          <p:cNvPr id="28" name="27 CuadroTexto"/>
          <p:cNvSpPr txBox="1"/>
          <p:nvPr/>
        </p:nvSpPr>
        <p:spPr>
          <a:xfrm>
            <a:off x="928662" y="4496052"/>
            <a:ext cx="5357850" cy="861774"/>
          </a:xfrm>
          <a:prstGeom prst="rect">
            <a:avLst/>
          </a:prstGeom>
          <a:noFill/>
        </p:spPr>
        <p:txBody>
          <a:bodyPr wrap="square" rtlCol="0">
            <a:spAutoFit/>
          </a:bodyPr>
          <a:lstStyle/>
          <a:p>
            <a:r>
              <a:rPr lang="es-ES_tradnl" sz="2500" dirty="0" smtClean="0"/>
              <a:t>Solución:</a:t>
            </a:r>
          </a:p>
          <a:p>
            <a:r>
              <a:rPr lang="es-ES_tradnl" sz="2500" dirty="0" smtClean="0"/>
              <a:t>Función de demanda </a:t>
            </a:r>
            <a:r>
              <a:rPr lang="es-ES_tradnl" sz="2500" dirty="0" err="1" smtClean="0"/>
              <a:t>marshalliana</a:t>
            </a:r>
            <a:r>
              <a:rPr lang="es-ES_tradnl" sz="2500" dirty="0" smtClean="0"/>
              <a:t>:</a:t>
            </a:r>
            <a:endParaRPr lang="es-ES" sz="2500" dirty="0"/>
          </a:p>
        </p:txBody>
      </p:sp>
      <p:sp>
        <p:nvSpPr>
          <p:cNvPr id="17422"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7423" name="Rectangle 1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4" name="23 Conector recto de flecha"/>
          <p:cNvCxnSpPr/>
          <p:nvPr/>
        </p:nvCxnSpPr>
        <p:spPr>
          <a:xfrm>
            <a:off x="3131840" y="2996952"/>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p:nvPr/>
        </p:nvCxnSpPr>
        <p:spPr>
          <a:xfrm>
            <a:off x="3214678" y="3856040"/>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86021" name="Object 5"/>
          <p:cNvGraphicFramePr>
            <a:graphicFrameLocks noChangeAspect="1"/>
          </p:cNvGraphicFramePr>
          <p:nvPr/>
        </p:nvGraphicFramePr>
        <p:xfrm>
          <a:off x="-1548680" y="1844824"/>
          <a:ext cx="6929776" cy="1500198"/>
        </p:xfrm>
        <a:graphic>
          <a:graphicData uri="http://schemas.openxmlformats.org/presentationml/2006/ole">
            <p:oleObj spid="_x0000_s86042" name="Documento" r:id="rId4" imgW="5397500" imgH="1173841" progId="Word.Document.12">
              <p:embed/>
            </p:oleObj>
          </a:graphicData>
        </a:graphic>
      </p:graphicFrame>
      <p:graphicFrame>
        <p:nvGraphicFramePr>
          <p:cNvPr id="86022" name="Object 6"/>
          <p:cNvGraphicFramePr>
            <a:graphicFrameLocks noChangeAspect="1"/>
          </p:cNvGraphicFramePr>
          <p:nvPr/>
        </p:nvGraphicFramePr>
        <p:xfrm>
          <a:off x="-1980728" y="3573016"/>
          <a:ext cx="6948269" cy="646113"/>
        </p:xfrm>
        <a:graphic>
          <a:graphicData uri="http://schemas.openxmlformats.org/presentationml/2006/ole">
            <p:oleObj spid="_x0000_s86043" name="Documento" r:id="rId5" imgW="5397500" imgH="504362" progId="Word.Document.12">
              <p:embed/>
            </p:oleObj>
          </a:graphicData>
        </a:graphic>
      </p:graphicFrame>
      <p:graphicFrame>
        <p:nvGraphicFramePr>
          <p:cNvPr id="86023" name="Object 7"/>
          <p:cNvGraphicFramePr>
            <a:graphicFrameLocks noChangeAspect="1"/>
          </p:cNvGraphicFramePr>
          <p:nvPr/>
        </p:nvGraphicFramePr>
        <p:xfrm>
          <a:off x="1143009" y="5374700"/>
          <a:ext cx="7500957" cy="697506"/>
        </p:xfrm>
        <a:graphic>
          <a:graphicData uri="http://schemas.openxmlformats.org/presentationml/2006/ole">
            <p:oleObj spid="_x0000_s86044" name="Documento" r:id="rId6" imgW="5397500" imgH="504362" progId="Word.Document.12">
              <p:embed/>
            </p:oleObj>
          </a:graphicData>
        </a:graphic>
      </p:graphicFrame>
      <p:sp>
        <p:nvSpPr>
          <p:cNvPr id="29" name="28 Rectángulo"/>
          <p:cNvSpPr/>
          <p:nvPr/>
        </p:nvSpPr>
        <p:spPr>
          <a:xfrm>
            <a:off x="0" y="6534859"/>
            <a:ext cx="9144032"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lgn="ctr"/>
              <a:t>5</a:t>
            </a:fld>
            <a:endParaRPr lang="es-ES" sz="1500"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857364"/>
            <a:ext cx="8229600" cy="4268799"/>
          </a:xfrm>
          <a:ln w="28575">
            <a:solidFill>
              <a:schemeClr val="accent1">
                <a:lumMod val="75000"/>
              </a:schemeClr>
            </a:solidFill>
          </a:ln>
        </p:spPr>
        <p:txBody>
          <a:bodyPr>
            <a:normAutofit/>
          </a:bodyPr>
          <a:lstStyle/>
          <a:p>
            <a:pPr>
              <a:buNone/>
            </a:pPr>
            <a:r>
              <a:rPr lang="es-ES_tradnl" sz="2500" dirty="0" smtClean="0"/>
              <a:t>	 El modelo estructural está dado por:</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9" name="8 CuadroTexto"/>
          <p:cNvSpPr txBox="1"/>
          <p:nvPr/>
        </p:nvSpPr>
        <p:spPr>
          <a:xfrm>
            <a:off x="3779912" y="3071810"/>
            <a:ext cx="1393267" cy="477054"/>
          </a:xfrm>
          <a:prstGeom prst="rect">
            <a:avLst/>
          </a:prstGeom>
          <a:noFill/>
        </p:spPr>
        <p:txBody>
          <a:bodyPr wrap="none" rtlCol="0">
            <a:spAutoFit/>
          </a:bodyPr>
          <a:lstStyle/>
          <a:p>
            <a:r>
              <a:rPr lang="es-ES_tradnl" sz="2500" dirty="0" smtClean="0"/>
              <a:t>Sujeto a: </a:t>
            </a:r>
            <a:endParaRPr lang="es-ES" sz="2500" dirty="0"/>
          </a:p>
        </p:txBody>
      </p:sp>
      <p:sp>
        <p:nvSpPr>
          <p:cNvPr id="10" name="9 CuadroTexto"/>
          <p:cNvSpPr txBox="1"/>
          <p:nvPr/>
        </p:nvSpPr>
        <p:spPr>
          <a:xfrm>
            <a:off x="971600" y="4293096"/>
            <a:ext cx="4704301" cy="477054"/>
          </a:xfrm>
          <a:prstGeom prst="rect">
            <a:avLst/>
          </a:prstGeom>
          <a:noFill/>
        </p:spPr>
        <p:txBody>
          <a:bodyPr wrap="none" rtlCol="0">
            <a:spAutoFit/>
          </a:bodyPr>
          <a:lstStyle/>
          <a:p>
            <a:r>
              <a:rPr lang="es-ES_tradnl" sz="2500" dirty="0" smtClean="0"/>
              <a:t>Y su forma reducida está dada por:</a:t>
            </a:r>
            <a:endParaRPr lang="es-ES" sz="2500" dirty="0"/>
          </a:p>
        </p:txBody>
      </p:sp>
      <p:graphicFrame>
        <p:nvGraphicFramePr>
          <p:cNvPr id="84993" name="Object 1"/>
          <p:cNvGraphicFramePr>
            <a:graphicFrameLocks noChangeAspect="1"/>
          </p:cNvGraphicFramePr>
          <p:nvPr/>
        </p:nvGraphicFramePr>
        <p:xfrm>
          <a:off x="928710" y="1857374"/>
          <a:ext cx="6929438" cy="1500188"/>
        </p:xfrm>
        <a:graphic>
          <a:graphicData uri="http://schemas.openxmlformats.org/presentationml/2006/ole">
            <p:oleObj spid="_x0000_s85014" name="Documento" r:id="rId4" imgW="5397500" imgH="1173841" progId="Word.Document.12">
              <p:embed/>
            </p:oleObj>
          </a:graphicData>
        </a:graphic>
      </p:graphicFrame>
      <p:graphicFrame>
        <p:nvGraphicFramePr>
          <p:cNvPr id="84994" name="Object 2"/>
          <p:cNvGraphicFramePr>
            <a:graphicFrameLocks noChangeAspect="1"/>
          </p:cNvGraphicFramePr>
          <p:nvPr/>
        </p:nvGraphicFramePr>
        <p:xfrm>
          <a:off x="1000100" y="3711582"/>
          <a:ext cx="6948488" cy="646112"/>
        </p:xfrm>
        <a:graphic>
          <a:graphicData uri="http://schemas.openxmlformats.org/presentationml/2006/ole">
            <p:oleObj spid="_x0000_s85015" name="Documento" r:id="rId5" imgW="5397500" imgH="504362" progId="Word.Document.12">
              <p:embed/>
            </p:oleObj>
          </a:graphicData>
        </a:graphic>
      </p:graphicFrame>
      <p:graphicFrame>
        <p:nvGraphicFramePr>
          <p:cNvPr id="84995" name="Object 3"/>
          <p:cNvGraphicFramePr>
            <a:graphicFrameLocks noChangeAspect="1"/>
          </p:cNvGraphicFramePr>
          <p:nvPr/>
        </p:nvGraphicFramePr>
        <p:xfrm>
          <a:off x="785786" y="5036343"/>
          <a:ext cx="7500938" cy="696913"/>
        </p:xfrm>
        <a:graphic>
          <a:graphicData uri="http://schemas.openxmlformats.org/presentationml/2006/ole">
            <p:oleObj spid="_x0000_s85016" name="Documento" r:id="rId6" imgW="5397500" imgH="504362" progId="Word.Document.12">
              <p:embed/>
            </p:oleObj>
          </a:graphicData>
        </a:graphic>
      </p:graphicFrame>
      <p:sp>
        <p:nvSpPr>
          <p:cNvPr id="14" name="1 Título"/>
          <p:cNvSpPr>
            <a:spLocks noGrp="1"/>
          </p:cNvSpPr>
          <p:nvPr>
            <p:ph type="title"/>
          </p:nvPr>
        </p:nvSpPr>
        <p:spPr>
          <a:xfrm>
            <a:off x="2428860" y="214290"/>
            <a:ext cx="6257940" cy="1214446"/>
          </a:xfrm>
        </p:spPr>
        <p:txBody>
          <a:bodyPr>
            <a:noAutofit/>
          </a:bodyPr>
          <a:lstStyle/>
          <a:p>
            <a:r>
              <a:rPr lang="es-AR" sz="3600" u="sng" dirty="0" smtClean="0"/>
              <a:t>Distinción entre modelo estructural y su forma reducida</a:t>
            </a:r>
            <a:endParaRPr lang="es-AR" sz="3600" u="sng" dirty="0"/>
          </a:p>
        </p:txBody>
      </p:sp>
      <p:sp>
        <p:nvSpPr>
          <p:cNvPr id="11" name="10 Rectángulo"/>
          <p:cNvSpPr/>
          <p:nvPr/>
        </p:nvSpPr>
        <p:spPr>
          <a:xfrm>
            <a:off x="0" y="6534859"/>
            <a:ext cx="9144032"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lgn="ctr"/>
              <a:t>6</a:t>
            </a:fld>
            <a:endParaRPr lang="es-ES" sz="1500" dirty="0">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614882"/>
          </a:xfrm>
          <a:ln w="28575">
            <a:solidFill>
              <a:schemeClr val="accent1">
                <a:lumMod val="75000"/>
              </a:schemeClr>
            </a:solidFill>
          </a:ln>
        </p:spPr>
        <p:txBody>
          <a:bodyPr>
            <a:normAutofit/>
          </a:bodyPr>
          <a:lstStyle/>
          <a:p>
            <a:pPr>
              <a:buNone/>
            </a:pPr>
            <a:r>
              <a:rPr lang="es-ES_tradnl" sz="2500" dirty="0" smtClean="0"/>
              <a:t>	Ejemplo 2: Suponga que se desea evaluar la implementación de un </a:t>
            </a:r>
            <a:r>
              <a:rPr lang="es-ES_tradnl" sz="2500" u="sng" dirty="0" smtClean="0"/>
              <a:t>subsidio al salario sobre la oferta laboral.</a:t>
            </a:r>
          </a:p>
          <a:p>
            <a:pPr>
              <a:buNone/>
            </a:pPr>
            <a:endParaRPr lang="es-ES_tradnl" sz="2500" u="sng" dirty="0" smtClean="0"/>
          </a:p>
          <a:p>
            <a:pPr>
              <a:buNone/>
            </a:pPr>
            <a:r>
              <a:rPr lang="es-ES_tradnl" sz="2500" dirty="0" smtClean="0"/>
              <a:t>	</a:t>
            </a:r>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194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9459" name="Rectangle 3"/>
          <p:cNvSpPr>
            <a:spLocks noChangeArrowheads="1"/>
          </p:cNvSpPr>
          <p:nvPr/>
        </p:nvSpPr>
        <p:spPr bwMode="auto">
          <a:xfrm>
            <a:off x="0" y="9715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 name="9 CuadroTexto"/>
          <p:cNvSpPr txBox="1"/>
          <p:nvPr/>
        </p:nvSpPr>
        <p:spPr>
          <a:xfrm>
            <a:off x="1501788" y="4000504"/>
            <a:ext cx="1284262" cy="477054"/>
          </a:xfrm>
          <a:prstGeom prst="rect">
            <a:avLst/>
          </a:prstGeom>
          <a:noFill/>
        </p:spPr>
        <p:txBody>
          <a:bodyPr wrap="none" rtlCol="0">
            <a:spAutoFit/>
          </a:bodyPr>
          <a:lstStyle/>
          <a:p>
            <a:r>
              <a:rPr lang="es-ES_tradnl" sz="2500" dirty="0" smtClean="0"/>
              <a:t>sujeto a </a:t>
            </a:r>
            <a:endParaRPr lang="es-ES" sz="2500" dirty="0"/>
          </a:p>
        </p:txBody>
      </p:sp>
      <p:sp>
        <p:nvSpPr>
          <p:cNvPr id="19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946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9464"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9466"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9467"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0" name="19 Conector recto de flecha"/>
          <p:cNvCxnSpPr/>
          <p:nvPr/>
        </p:nvCxnSpPr>
        <p:spPr>
          <a:xfrm>
            <a:off x="3428992" y="3643314"/>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4071934" y="3111199"/>
            <a:ext cx="4429156" cy="1154162"/>
          </a:xfrm>
          <a:prstGeom prst="rect">
            <a:avLst/>
          </a:prstGeom>
          <a:noFill/>
        </p:spPr>
        <p:txBody>
          <a:bodyPr wrap="square" rtlCol="0">
            <a:spAutoFit/>
          </a:bodyPr>
          <a:lstStyle/>
          <a:p>
            <a:r>
              <a:rPr lang="es-ES_tradnl" sz="2300" dirty="0" smtClean="0"/>
              <a:t>Función de utilidad en función del consumo C, el ocio L y el vector de parámetros </a:t>
            </a:r>
            <a:r>
              <a:rPr lang="es-ES_tradnl" sz="2300" dirty="0" smtClean="0">
                <a:latin typeface="Symbol" pitchFamily="18" charset="2"/>
              </a:rPr>
              <a:t>q</a:t>
            </a:r>
            <a:r>
              <a:rPr lang="es-ES_tradnl" sz="2300" dirty="0" smtClean="0"/>
              <a:t>.</a:t>
            </a:r>
            <a:endParaRPr lang="es-ES" sz="2300" dirty="0"/>
          </a:p>
        </p:txBody>
      </p:sp>
      <p:sp>
        <p:nvSpPr>
          <p:cNvPr id="19469"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9470" name="Rectangle 14"/>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5" name="24 Conector recto de flecha"/>
          <p:cNvCxnSpPr/>
          <p:nvPr/>
        </p:nvCxnSpPr>
        <p:spPr>
          <a:xfrm>
            <a:off x="3357554" y="4786322"/>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4000496" y="4500570"/>
            <a:ext cx="4429156" cy="800219"/>
          </a:xfrm>
          <a:prstGeom prst="rect">
            <a:avLst/>
          </a:prstGeom>
          <a:noFill/>
        </p:spPr>
        <p:txBody>
          <a:bodyPr wrap="square" rtlCol="0">
            <a:spAutoFit/>
          </a:bodyPr>
          <a:lstStyle/>
          <a:p>
            <a:r>
              <a:rPr lang="es-ES_tradnl" sz="2300" dirty="0" smtClean="0"/>
              <a:t>Tiempo total normalizado a 1, destinado a trabajo H y ocio L.</a:t>
            </a:r>
            <a:endParaRPr lang="es-ES" sz="2300" dirty="0"/>
          </a:p>
        </p:txBody>
      </p:sp>
      <p:cxnSp>
        <p:nvCxnSpPr>
          <p:cNvPr id="27" name="26 Conector recto de flecha"/>
          <p:cNvCxnSpPr/>
          <p:nvPr/>
        </p:nvCxnSpPr>
        <p:spPr>
          <a:xfrm>
            <a:off x="3357554" y="5643578"/>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27 CuadroTexto"/>
          <p:cNvSpPr txBox="1"/>
          <p:nvPr/>
        </p:nvSpPr>
        <p:spPr>
          <a:xfrm>
            <a:off x="4000496" y="5286388"/>
            <a:ext cx="4429156" cy="800219"/>
          </a:xfrm>
          <a:prstGeom prst="rect">
            <a:avLst/>
          </a:prstGeom>
          <a:noFill/>
        </p:spPr>
        <p:txBody>
          <a:bodyPr wrap="square" rtlCol="0">
            <a:spAutoFit/>
          </a:bodyPr>
          <a:lstStyle/>
          <a:p>
            <a:r>
              <a:rPr lang="es-ES_tradnl" sz="2300" dirty="0" smtClean="0"/>
              <a:t>El consumo del individuo no debe exceder su ingreso laboral.</a:t>
            </a:r>
            <a:endParaRPr lang="es-ES" sz="2300" dirty="0"/>
          </a:p>
        </p:txBody>
      </p:sp>
      <p:sp>
        <p:nvSpPr>
          <p:cNvPr id="29" name="28 CuadroTexto"/>
          <p:cNvSpPr txBox="1"/>
          <p:nvPr/>
        </p:nvSpPr>
        <p:spPr>
          <a:xfrm>
            <a:off x="755576" y="2852936"/>
            <a:ext cx="2771336" cy="477054"/>
          </a:xfrm>
          <a:prstGeom prst="rect">
            <a:avLst/>
          </a:prstGeom>
          <a:noFill/>
        </p:spPr>
        <p:txBody>
          <a:bodyPr wrap="none" rtlCol="0">
            <a:spAutoFit/>
          </a:bodyPr>
          <a:lstStyle/>
          <a:p>
            <a:r>
              <a:rPr lang="es-ES_tradnl" sz="2500" u="sng" dirty="0" smtClean="0"/>
              <a:t>Modelo estructural:</a:t>
            </a:r>
            <a:endParaRPr lang="es-ES" dirty="0"/>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83969" name="Object 1"/>
          <p:cNvGraphicFramePr>
            <a:graphicFrameLocks noChangeAspect="1"/>
          </p:cNvGraphicFramePr>
          <p:nvPr/>
        </p:nvGraphicFramePr>
        <p:xfrm>
          <a:off x="-1857420" y="3357562"/>
          <a:ext cx="7855869" cy="928694"/>
        </p:xfrm>
        <a:graphic>
          <a:graphicData uri="http://schemas.openxmlformats.org/presentationml/2006/ole">
            <p:oleObj spid="_x0000_s83990" name="Documento" r:id="rId4" imgW="5397500" imgH="641358" progId="Word.Document.12">
              <p:embed/>
            </p:oleObj>
          </a:graphicData>
        </a:graphic>
      </p:graphicFrame>
      <p:graphicFrame>
        <p:nvGraphicFramePr>
          <p:cNvPr id="83970" name="Object 2"/>
          <p:cNvGraphicFramePr>
            <a:graphicFrameLocks noChangeAspect="1"/>
          </p:cNvGraphicFramePr>
          <p:nvPr/>
        </p:nvGraphicFramePr>
        <p:xfrm>
          <a:off x="-2143172" y="4500570"/>
          <a:ext cx="8001056" cy="744010"/>
        </p:xfrm>
        <a:graphic>
          <a:graphicData uri="http://schemas.openxmlformats.org/presentationml/2006/ole">
            <p:oleObj spid="_x0000_s83991" name="Documento" r:id="rId5" imgW="5397500" imgH="504362" progId="Word.Document.12">
              <p:embed/>
            </p:oleObj>
          </a:graphicData>
        </a:graphic>
      </p:graphicFrame>
      <p:graphicFrame>
        <p:nvGraphicFramePr>
          <p:cNvPr id="83971" name="Object 3"/>
          <p:cNvGraphicFramePr>
            <a:graphicFrameLocks noChangeAspect="1"/>
          </p:cNvGraphicFramePr>
          <p:nvPr/>
        </p:nvGraphicFramePr>
        <p:xfrm>
          <a:off x="-2253153" y="5429264"/>
          <a:ext cx="7682409" cy="714380"/>
        </p:xfrm>
        <a:graphic>
          <a:graphicData uri="http://schemas.openxmlformats.org/presentationml/2006/ole">
            <p:oleObj spid="_x0000_s83992" name="Documento" r:id="rId6" imgW="5397500" imgH="504362" progId="Word.Document.12">
              <p:embed/>
            </p:oleObj>
          </a:graphicData>
        </a:graphic>
      </p:graphicFrame>
      <p:sp>
        <p:nvSpPr>
          <p:cNvPr id="34" name="1 Título"/>
          <p:cNvSpPr>
            <a:spLocks noGrp="1"/>
          </p:cNvSpPr>
          <p:nvPr>
            <p:ph type="title"/>
          </p:nvPr>
        </p:nvSpPr>
        <p:spPr>
          <a:xfrm>
            <a:off x="2428860" y="214290"/>
            <a:ext cx="6257940" cy="1214446"/>
          </a:xfrm>
        </p:spPr>
        <p:txBody>
          <a:bodyPr>
            <a:noAutofit/>
          </a:bodyPr>
          <a:lstStyle/>
          <a:p>
            <a:r>
              <a:rPr lang="es-AR" sz="3600" u="sng" dirty="0" smtClean="0"/>
              <a:t>Distinción entre modelo estructural y su forma reducida</a:t>
            </a:r>
            <a:endParaRPr lang="es-AR" sz="3600" u="sng" dirty="0"/>
          </a:p>
        </p:txBody>
      </p:sp>
      <p:sp>
        <p:nvSpPr>
          <p:cNvPr id="30" name="29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7</a:t>
            </a:fld>
            <a:endParaRPr lang="es-ES" sz="1500" dirty="0">
              <a:solidFill>
                <a:schemeClr val="tx1">
                  <a:lumMod val="50000"/>
                  <a:lumOff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lnSpcReduction="10000"/>
          </a:bodyPr>
          <a:lstStyle/>
          <a:p>
            <a:pPr>
              <a:buNone/>
            </a:pPr>
            <a:r>
              <a:rPr lang="es-ES_tradnl" sz="2500" dirty="0" smtClean="0"/>
              <a:t>	Problema de maximización:</a:t>
            </a:r>
          </a:p>
          <a:p>
            <a:pPr>
              <a:buNone/>
            </a:pPr>
            <a:endParaRPr lang="es-ES_tradnl" sz="2500" dirty="0" smtClean="0"/>
          </a:p>
          <a:p>
            <a:pPr>
              <a:buNone/>
            </a:pPr>
            <a:endParaRPr lang="es-ES_tradnl" sz="2500" dirty="0" smtClean="0"/>
          </a:p>
          <a:p>
            <a:pPr>
              <a:buNone/>
            </a:pPr>
            <a:endParaRPr lang="es-ES_tradnl" sz="2500" dirty="0" smtClean="0"/>
          </a:p>
          <a:p>
            <a:pPr>
              <a:buNone/>
            </a:pPr>
            <a:r>
              <a:rPr lang="es-ES_tradnl" sz="2500" dirty="0" smtClean="0"/>
              <a:t>	Bajo ciertos supuestos sobre la función </a:t>
            </a:r>
            <a:r>
              <a:rPr lang="es-ES_tradnl" sz="2500" i="1" dirty="0" smtClean="0"/>
              <a:t>U(</a:t>
            </a:r>
            <a:r>
              <a:rPr lang="es-CO" sz="2800" i="1" dirty="0" smtClean="0"/>
              <a:t>·</a:t>
            </a:r>
            <a:r>
              <a:rPr lang="es-CO" sz="2500" i="1" dirty="0" smtClean="0"/>
              <a:t>), </a:t>
            </a:r>
            <a:r>
              <a:rPr lang="es-CO" sz="2500" dirty="0" smtClean="0"/>
              <a:t>la solución del problema está dado por:</a:t>
            </a:r>
          </a:p>
          <a:p>
            <a:pPr>
              <a:buNone/>
            </a:pPr>
            <a:r>
              <a:rPr lang="es-CO" sz="2500" i="1" dirty="0" smtClean="0"/>
              <a:t>	</a:t>
            </a:r>
            <a:r>
              <a:rPr lang="es-CO" sz="2800" i="1" dirty="0" smtClean="0"/>
              <a:t> </a:t>
            </a:r>
            <a:endParaRPr lang="es-ES" sz="2800" i="1" dirty="0" smtClean="0"/>
          </a:p>
          <a:p>
            <a:pPr>
              <a:buNone/>
            </a:pPr>
            <a:endParaRPr lang="es-ES_tradnl" sz="2500" dirty="0" smtClean="0"/>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Ejemplo 2</a:t>
            </a:r>
            <a:endParaRPr lang="es-AR" sz="4200" u="sng"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0"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4" name="13 Conector recto de flecha"/>
          <p:cNvCxnSpPr/>
          <p:nvPr/>
        </p:nvCxnSpPr>
        <p:spPr>
          <a:xfrm>
            <a:off x="4000496" y="4927610"/>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4643438" y="4666458"/>
            <a:ext cx="3526030" cy="477054"/>
          </a:xfrm>
          <a:prstGeom prst="rect">
            <a:avLst/>
          </a:prstGeom>
          <a:noFill/>
        </p:spPr>
        <p:txBody>
          <a:bodyPr wrap="none" rtlCol="0">
            <a:spAutoFit/>
          </a:bodyPr>
          <a:lstStyle/>
          <a:p>
            <a:r>
              <a:rPr lang="es-ES_tradnl" sz="2500" dirty="0" smtClean="0"/>
              <a:t>Función de oferta laboral.</a:t>
            </a:r>
            <a:endParaRPr lang="es-ES" sz="2500" dirty="0"/>
          </a:p>
        </p:txBody>
      </p:sp>
      <p:graphicFrame>
        <p:nvGraphicFramePr>
          <p:cNvPr id="82945" name="Object 1"/>
          <p:cNvGraphicFramePr>
            <a:graphicFrameLocks noChangeAspect="1"/>
          </p:cNvGraphicFramePr>
          <p:nvPr/>
        </p:nvGraphicFramePr>
        <p:xfrm>
          <a:off x="715829" y="2285992"/>
          <a:ext cx="7570947" cy="857256"/>
        </p:xfrm>
        <a:graphic>
          <a:graphicData uri="http://schemas.openxmlformats.org/presentationml/2006/ole">
            <p:oleObj spid="_x0000_s82959" name="Documento" r:id="rId4" imgW="5397500" imgH="613959" progId="Word.Document.12">
              <p:embed/>
            </p:oleObj>
          </a:graphicData>
        </a:graphic>
      </p:graphicFrame>
      <p:graphicFrame>
        <p:nvGraphicFramePr>
          <p:cNvPr id="82946" name="Object 2"/>
          <p:cNvGraphicFramePr>
            <a:graphicFrameLocks noChangeAspect="1"/>
          </p:cNvGraphicFramePr>
          <p:nvPr/>
        </p:nvGraphicFramePr>
        <p:xfrm>
          <a:off x="-1072808" y="4643446"/>
          <a:ext cx="7716510" cy="717551"/>
        </p:xfrm>
        <a:graphic>
          <a:graphicData uri="http://schemas.openxmlformats.org/presentationml/2006/ole">
            <p:oleObj spid="_x0000_s82960" name="Documento" r:id="rId5" imgW="5397500" imgH="504362" progId="Word.Document.12">
              <p:embed/>
            </p:oleObj>
          </a:graphicData>
        </a:graphic>
      </p:graphicFrame>
      <p:sp>
        <p:nvSpPr>
          <p:cNvPr id="17" name="1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8</a:t>
            </a:fld>
            <a:endParaRPr lang="es-ES" sz="1500" dirty="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411675"/>
          </a:xfrm>
          <a:ln w="28575">
            <a:solidFill>
              <a:schemeClr val="accent1">
                <a:lumMod val="75000"/>
              </a:schemeClr>
            </a:solidFill>
          </a:ln>
        </p:spPr>
        <p:txBody>
          <a:bodyPr>
            <a:normAutofit/>
          </a:bodyPr>
          <a:lstStyle/>
          <a:p>
            <a:pPr>
              <a:buNone/>
            </a:pPr>
            <a:r>
              <a:rPr lang="es-ES_tradnl" sz="2500" dirty="0" smtClean="0"/>
              <a:t>	El modelo estructural está dado por:</a:t>
            </a:r>
          </a:p>
          <a:p>
            <a:pPr>
              <a:buNone/>
            </a:pPr>
            <a:endParaRPr lang="es-ES_tradnl" sz="2500" dirty="0" smtClean="0"/>
          </a:p>
          <a:p>
            <a:pPr>
              <a:buNone/>
            </a:pPr>
            <a:endParaRPr lang="es-ES_tradnl" sz="2500" dirty="0" smtClean="0"/>
          </a:p>
          <a:p>
            <a:pPr>
              <a:buNone/>
            </a:pPr>
            <a:endParaRPr lang="es-ES_tradnl" sz="2500" dirty="0" smtClean="0"/>
          </a:p>
          <a:p>
            <a:pPr>
              <a:buNone/>
            </a:pPr>
            <a:endParaRPr lang="es-ES_tradnl" sz="2500" dirty="0" smtClean="0"/>
          </a:p>
          <a:p>
            <a:pPr>
              <a:buNone/>
            </a:pPr>
            <a:endParaRPr lang="es-ES_tradnl" sz="2500" dirty="0" smtClean="0"/>
          </a:p>
          <a:p>
            <a:pPr>
              <a:buNone/>
            </a:pPr>
            <a:r>
              <a:rPr lang="es-ES_tradnl" sz="2500" dirty="0" smtClean="0"/>
              <a:t>	La forma reducida del modelo:</a:t>
            </a:r>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Ejemplo 2</a:t>
            </a:r>
            <a:endParaRPr lang="es-AR" sz="4200" u="sng" dirty="0"/>
          </a:p>
        </p:txBody>
      </p:sp>
      <p:graphicFrame>
        <p:nvGraphicFramePr>
          <p:cNvPr id="81921" name="Object 1"/>
          <p:cNvGraphicFramePr>
            <a:graphicFrameLocks noChangeAspect="1"/>
          </p:cNvGraphicFramePr>
          <p:nvPr/>
        </p:nvGraphicFramePr>
        <p:xfrm>
          <a:off x="899592" y="2204864"/>
          <a:ext cx="7570787" cy="857250"/>
        </p:xfrm>
        <a:graphic>
          <a:graphicData uri="http://schemas.openxmlformats.org/presentationml/2006/ole">
            <p:oleObj spid="_x0000_s81949" name="Documento" r:id="rId4" imgW="5397500" imgH="613959" progId="Word.Document.12">
              <p:embed/>
            </p:oleObj>
          </a:graphicData>
        </a:graphic>
      </p:graphicFrame>
      <p:graphicFrame>
        <p:nvGraphicFramePr>
          <p:cNvPr id="81922" name="Object 2"/>
          <p:cNvGraphicFramePr>
            <a:graphicFrameLocks noChangeAspect="1"/>
          </p:cNvGraphicFramePr>
          <p:nvPr/>
        </p:nvGraphicFramePr>
        <p:xfrm>
          <a:off x="755576" y="5013176"/>
          <a:ext cx="7716838" cy="717550"/>
        </p:xfrm>
        <a:graphic>
          <a:graphicData uri="http://schemas.openxmlformats.org/presentationml/2006/ole">
            <p:oleObj spid="_x0000_s81950" name="Documento" r:id="rId5" imgW="5397500" imgH="504362" progId="Word.Document.12">
              <p:embed/>
            </p:oleObj>
          </a:graphicData>
        </a:graphic>
      </p:graphicFrame>
      <p:graphicFrame>
        <p:nvGraphicFramePr>
          <p:cNvPr id="81923" name="Object 3"/>
          <p:cNvGraphicFramePr>
            <a:graphicFrameLocks noChangeAspect="1"/>
          </p:cNvGraphicFramePr>
          <p:nvPr/>
        </p:nvGraphicFramePr>
        <p:xfrm>
          <a:off x="0" y="3140968"/>
          <a:ext cx="8001000" cy="744537"/>
        </p:xfrm>
        <a:graphic>
          <a:graphicData uri="http://schemas.openxmlformats.org/presentationml/2006/ole">
            <p:oleObj spid="_x0000_s81951" name="Documento" r:id="rId6" imgW="5397500" imgH="504362" progId="Word.Document.12">
              <p:embed/>
            </p:oleObj>
          </a:graphicData>
        </a:graphic>
      </p:graphicFrame>
      <p:graphicFrame>
        <p:nvGraphicFramePr>
          <p:cNvPr id="81924" name="Object 4"/>
          <p:cNvGraphicFramePr>
            <a:graphicFrameLocks noChangeAspect="1"/>
          </p:cNvGraphicFramePr>
          <p:nvPr/>
        </p:nvGraphicFramePr>
        <p:xfrm>
          <a:off x="0" y="3717032"/>
          <a:ext cx="7681913" cy="714375"/>
        </p:xfrm>
        <a:graphic>
          <a:graphicData uri="http://schemas.openxmlformats.org/presentationml/2006/ole">
            <p:oleObj spid="_x0000_s81952" name="Documento" r:id="rId7" imgW="5397500" imgH="504362" progId="Word.Document.12">
              <p:embed/>
            </p:oleObj>
          </a:graphicData>
        </a:graphic>
      </p:graphicFrame>
      <p:sp>
        <p:nvSpPr>
          <p:cNvPr id="11" name="10 CuadroTexto"/>
          <p:cNvSpPr txBox="1"/>
          <p:nvPr/>
        </p:nvSpPr>
        <p:spPr>
          <a:xfrm>
            <a:off x="2123728" y="2780928"/>
            <a:ext cx="1297086" cy="477054"/>
          </a:xfrm>
          <a:prstGeom prst="rect">
            <a:avLst/>
          </a:prstGeom>
          <a:noFill/>
        </p:spPr>
        <p:txBody>
          <a:bodyPr wrap="none" rtlCol="0">
            <a:spAutoFit/>
          </a:bodyPr>
          <a:lstStyle/>
          <a:p>
            <a:r>
              <a:rPr lang="es-CO" sz="2500" dirty="0" smtClean="0"/>
              <a:t>Sujeto a</a:t>
            </a:r>
            <a:r>
              <a:rPr lang="es-CO" dirty="0" smtClean="0"/>
              <a:t>:</a:t>
            </a:r>
            <a:endParaRPr lang="es-ES" dirty="0"/>
          </a:p>
        </p:txBody>
      </p:sp>
      <p:sp>
        <p:nvSpPr>
          <p:cNvPr id="12" name="11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9</a:t>
            </a:fld>
            <a:endParaRPr lang="es-ES" sz="1500" dirty="0">
              <a:solidFill>
                <a:schemeClr val="tx1">
                  <a:lumMod val="50000"/>
                  <a:lumOff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686320"/>
          </a:xfrm>
        </p:spPr>
        <p:txBody>
          <a:bodyPr>
            <a:normAutofit/>
          </a:bodyPr>
          <a:lstStyle/>
          <a:p>
            <a:pPr>
              <a:buNone/>
            </a:pPr>
            <a:r>
              <a:rPr lang="es-ES_tradnl" sz="2500" dirty="0" smtClean="0"/>
              <a:t>	Para el </a:t>
            </a:r>
            <a:r>
              <a:rPr lang="es-ES_tradnl" sz="2500" u="sng" dirty="0" smtClean="0"/>
              <a:t>segundo ejemplo</a:t>
            </a:r>
            <a:r>
              <a:rPr lang="es-ES_tradnl" sz="2500" dirty="0" smtClean="0"/>
              <a:t>:</a:t>
            </a:r>
          </a:p>
          <a:p>
            <a:pPr>
              <a:buNone/>
            </a:pPr>
            <a:r>
              <a:rPr lang="es-ES_tradnl" sz="2500" dirty="0" smtClean="0"/>
              <a:t>	Se debe estimar:</a:t>
            </a:r>
          </a:p>
          <a:p>
            <a:pPr>
              <a:buNone/>
            </a:pPr>
            <a:endParaRPr lang="es-ES_tradnl" sz="2500" dirty="0" smtClean="0"/>
          </a:p>
          <a:p>
            <a:pPr>
              <a:buNone/>
            </a:pPr>
            <a:endParaRPr lang="es-ES_tradnl" sz="2500" dirty="0" smtClean="0"/>
          </a:p>
          <a:p>
            <a:pPr>
              <a:buNone/>
            </a:pPr>
            <a:endParaRPr lang="es-ES_tradnl" sz="2500" dirty="0" smtClean="0"/>
          </a:p>
          <a:p>
            <a:pPr>
              <a:buNone/>
            </a:pPr>
            <a:endParaRPr lang="es-ES_tradnl" sz="2500" dirty="0" smtClean="0"/>
          </a:p>
          <a:p>
            <a:pPr>
              <a:buNone/>
            </a:pPr>
            <a:endParaRPr lang="es-ES_tradnl" sz="2500" dirty="0" smtClean="0"/>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Diferencias entre las dos aproximaciones</a:t>
            </a:r>
            <a:endParaRPr lang="es-AR" sz="4200" u="sng" dirty="0"/>
          </a:p>
        </p:txBody>
      </p:sp>
      <p:sp>
        <p:nvSpPr>
          <p:cNvPr id="7" name="6 Flecha abajo"/>
          <p:cNvSpPr/>
          <p:nvPr/>
        </p:nvSpPr>
        <p:spPr>
          <a:xfrm>
            <a:off x="4429124" y="3000372"/>
            <a:ext cx="571504"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1428728" y="3357562"/>
            <a:ext cx="6504546" cy="861774"/>
          </a:xfrm>
          <a:prstGeom prst="rect">
            <a:avLst/>
          </a:prstGeom>
          <a:noFill/>
          <a:ln>
            <a:solidFill>
              <a:schemeClr val="bg1"/>
            </a:solidFill>
          </a:ln>
        </p:spPr>
        <p:txBody>
          <a:bodyPr wrap="square" rtlCol="0">
            <a:spAutoFit/>
          </a:bodyPr>
          <a:lstStyle/>
          <a:p>
            <a:pPr algn="ctr"/>
            <a:r>
              <a:rPr lang="es-ES_tradnl" sz="2500" dirty="0" smtClean="0"/>
              <a:t>Con base en datos de horas trabajadas H y salarios de los individuos w.</a:t>
            </a:r>
            <a:endParaRPr lang="es-ES" sz="2500" dirty="0"/>
          </a:p>
        </p:txBody>
      </p:sp>
      <p:sp>
        <p:nvSpPr>
          <p:cNvPr id="10" name="9 CuadroTexto"/>
          <p:cNvSpPr txBox="1"/>
          <p:nvPr/>
        </p:nvSpPr>
        <p:spPr>
          <a:xfrm>
            <a:off x="928662" y="4572008"/>
            <a:ext cx="3143272" cy="1631216"/>
          </a:xfrm>
          <a:prstGeom prst="rect">
            <a:avLst/>
          </a:prstGeom>
          <a:noFill/>
          <a:ln>
            <a:solidFill>
              <a:schemeClr val="accent1">
                <a:lumMod val="60000"/>
                <a:lumOff val="40000"/>
              </a:schemeClr>
            </a:solidFill>
          </a:ln>
        </p:spPr>
        <p:txBody>
          <a:bodyPr wrap="square" rtlCol="0">
            <a:spAutoFit/>
          </a:bodyPr>
          <a:lstStyle/>
          <a:p>
            <a:r>
              <a:rPr lang="es-ES_tradnl" sz="2500" dirty="0" smtClean="0"/>
              <a:t>A partir de esto se puede recuperar la elasticidad  de </a:t>
            </a:r>
            <a:r>
              <a:rPr lang="es-ES_tradnl" sz="2500" i="1" dirty="0" smtClean="0"/>
              <a:t>H</a:t>
            </a:r>
            <a:r>
              <a:rPr lang="es-ES_tradnl" sz="2500" dirty="0" smtClean="0"/>
              <a:t> con respecto al salario </a:t>
            </a:r>
            <a:r>
              <a:rPr lang="es-ES_tradnl" sz="2500" i="1" dirty="0" smtClean="0"/>
              <a:t>w</a:t>
            </a:r>
            <a:r>
              <a:rPr lang="es-ES_tradnl" sz="2500" dirty="0" smtClean="0"/>
              <a:t>.</a:t>
            </a:r>
            <a:endParaRPr lang="es-ES" sz="2500" dirty="0"/>
          </a:p>
        </p:txBody>
      </p:sp>
      <p:cxnSp>
        <p:nvCxnSpPr>
          <p:cNvPr id="14" name="13 Conector recto de flecha"/>
          <p:cNvCxnSpPr/>
          <p:nvPr/>
        </p:nvCxnSpPr>
        <p:spPr>
          <a:xfrm>
            <a:off x="4500562" y="5357826"/>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5286380" y="4572008"/>
            <a:ext cx="3143272" cy="1631216"/>
          </a:xfrm>
          <a:prstGeom prst="rect">
            <a:avLst/>
          </a:prstGeom>
          <a:noFill/>
          <a:ln>
            <a:solidFill>
              <a:schemeClr val="accent1">
                <a:lumMod val="60000"/>
                <a:lumOff val="40000"/>
              </a:schemeClr>
            </a:solidFill>
          </a:ln>
        </p:spPr>
        <p:txBody>
          <a:bodyPr wrap="square" rtlCol="0">
            <a:spAutoFit/>
          </a:bodyPr>
          <a:lstStyle/>
          <a:p>
            <a:r>
              <a:rPr lang="es-ES_tradnl" sz="2500" dirty="0" smtClean="0"/>
              <a:t>Correspondería al efecto de un cambio en </a:t>
            </a:r>
            <a:r>
              <a:rPr lang="es-ES_tradnl" sz="2500" i="1" dirty="0" smtClean="0"/>
              <a:t>w</a:t>
            </a:r>
            <a:r>
              <a:rPr lang="es-ES_tradnl" sz="2500" dirty="0" smtClean="0"/>
              <a:t> asociado a un subsidio, sobre </a:t>
            </a:r>
            <a:r>
              <a:rPr lang="es-ES_tradnl" sz="2500" i="1" dirty="0" smtClean="0"/>
              <a:t>H.</a:t>
            </a:r>
            <a:endParaRPr lang="es-ES" sz="2500" i="1" dirty="0"/>
          </a:p>
        </p:txBody>
      </p:sp>
      <p:graphicFrame>
        <p:nvGraphicFramePr>
          <p:cNvPr id="80897" name="Object 1"/>
          <p:cNvGraphicFramePr>
            <a:graphicFrameLocks noChangeAspect="1"/>
          </p:cNvGraphicFramePr>
          <p:nvPr/>
        </p:nvGraphicFramePr>
        <p:xfrm>
          <a:off x="998566" y="2428868"/>
          <a:ext cx="7716838" cy="717550"/>
        </p:xfrm>
        <a:graphic>
          <a:graphicData uri="http://schemas.openxmlformats.org/presentationml/2006/ole">
            <p:oleObj spid="_x0000_s80904" name="Documento" r:id="rId4" imgW="5397500" imgH="504362" progId="Word.Document.12">
              <p:embed/>
            </p:oleObj>
          </a:graphicData>
        </a:graphic>
      </p:graphicFrame>
      <p:sp>
        <p:nvSpPr>
          <p:cNvPr id="13" name="12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10</a:t>
            </a:fld>
            <a:endParaRPr lang="es-ES" sz="1500" dirty="0">
              <a:solidFill>
                <a:schemeClr val="tx1">
                  <a:lumMod val="50000"/>
                  <a:lumOff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1340768"/>
            <a:ext cx="8604448" cy="5112568"/>
          </a:xfrm>
        </p:spPr>
        <p:txBody>
          <a:bodyPr>
            <a:normAutofit fontScale="92500" lnSpcReduction="20000"/>
          </a:bodyPr>
          <a:lstStyle/>
          <a:p>
            <a:pPr>
              <a:buNone/>
            </a:pPr>
            <a:r>
              <a:rPr lang="es-ES_tradnl" dirty="0" smtClean="0"/>
              <a:t>	</a:t>
            </a:r>
          </a:p>
          <a:p>
            <a:pPr>
              <a:buNone/>
            </a:pPr>
            <a:r>
              <a:rPr lang="es-ES_tradnl" sz="2500" dirty="0" smtClean="0"/>
              <a:t>	</a:t>
            </a:r>
            <a:r>
              <a:rPr lang="es-ES_tradnl" sz="2700" dirty="0" smtClean="0"/>
              <a:t>Limitaciones de la estrategia de estimación:</a:t>
            </a:r>
          </a:p>
          <a:p>
            <a:pPr>
              <a:buNone/>
            </a:pPr>
            <a:r>
              <a:rPr lang="es-ES_tradnl" sz="2700" dirty="0" smtClean="0"/>
              <a:t>	</a:t>
            </a:r>
          </a:p>
          <a:p>
            <a:pPr marL="896938" indent="-896938">
              <a:buNone/>
              <a:tabLst>
                <a:tab pos="449263" algn="l"/>
              </a:tabLst>
            </a:pPr>
            <a:r>
              <a:rPr lang="es-ES_tradnl" sz="2700" dirty="0" smtClean="0"/>
              <a:t>	1.  	Asume que la elasticidad es invariante ante cambios 	exógenos de política (</a:t>
            </a:r>
            <a:r>
              <a:rPr lang="es-ES_tradnl" sz="2700" dirty="0" smtClean="0">
                <a:solidFill>
                  <a:schemeClr val="accent1">
                    <a:lumMod val="75000"/>
                  </a:schemeClr>
                </a:solidFill>
              </a:rPr>
              <a:t>crítica de Lucas</a:t>
            </a:r>
            <a:r>
              <a:rPr lang="es-ES_tradnl" sz="2700" dirty="0" smtClean="0"/>
              <a:t>). </a:t>
            </a:r>
          </a:p>
          <a:p>
            <a:pPr marL="896938" indent="-896938">
              <a:buNone/>
              <a:tabLst>
                <a:tab pos="449263" algn="l"/>
              </a:tabLst>
            </a:pPr>
            <a:r>
              <a:rPr lang="es-ES_tradnl" sz="2700" dirty="0" smtClean="0"/>
              <a:t>             Por ej., la respuesta de la oferta a un cambio de salario que se debe a un subsidio puede ser muy diferente al cambio en la oferta cuando el cambio en salario se debe a un choque a la productividad.</a:t>
            </a:r>
          </a:p>
          <a:p>
            <a:pPr algn="just">
              <a:buNone/>
            </a:pPr>
            <a:r>
              <a:rPr lang="es-ES_tradnl" sz="2700" dirty="0" smtClean="0"/>
              <a:t>	</a:t>
            </a:r>
          </a:p>
          <a:p>
            <a:pPr>
              <a:buNone/>
            </a:pPr>
            <a:r>
              <a:rPr lang="es-ES_tradnl" sz="2700" dirty="0" smtClean="0"/>
              <a:t>	2.	Algunos experimentos en política no pueden ser 	representados como cambios en los datos disponibles.</a:t>
            </a:r>
          </a:p>
          <a:p>
            <a:pPr algn="just">
              <a:buNone/>
            </a:pPr>
            <a:r>
              <a:rPr lang="es-ES_tradnl" sz="2500" dirty="0" smtClean="0"/>
              <a:t>		 </a:t>
            </a:r>
          </a:p>
          <a:p>
            <a:pPr algn="just">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Limitaciones del ejemplo 2</a:t>
            </a:r>
            <a:endParaRPr lang="es-AR" sz="4200" u="sng" dirty="0"/>
          </a:p>
        </p:txBody>
      </p:sp>
      <p:sp>
        <p:nvSpPr>
          <p:cNvPr id="7" name="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11</a:t>
            </a:fld>
            <a:endParaRPr lang="es-ES" sz="1500" dirty="0">
              <a:solidFill>
                <a:schemeClr val="tx1">
                  <a:lumMod val="50000"/>
                  <a:lumOff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r>
              <a:rPr lang="es-ES_tradnl" dirty="0" smtClean="0"/>
              <a:t>	</a:t>
            </a:r>
            <a:r>
              <a:rPr lang="es-ES_tradnl" sz="2500" u="sng" dirty="0" smtClean="0"/>
              <a:t>Ejemplo del punto 2:</a:t>
            </a:r>
          </a:p>
          <a:p>
            <a:pPr>
              <a:buNone/>
            </a:pPr>
            <a:r>
              <a:rPr lang="es-ES_tradnl" sz="2500" dirty="0" smtClean="0"/>
              <a:t>	Suponga que se quiere evaluar no un subsidio al salario, sino un subsidio al trabajo.</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Limitaciones del ejemplo 2</a:t>
            </a:r>
            <a:endParaRPr lang="es-AR" sz="4200" u="sng" dirty="0"/>
          </a:p>
        </p:txBody>
      </p:sp>
      <p:sp>
        <p:nvSpPr>
          <p:cNvPr id="6" name="5 CuadroTexto"/>
          <p:cNvSpPr txBox="1"/>
          <p:nvPr/>
        </p:nvSpPr>
        <p:spPr>
          <a:xfrm>
            <a:off x="1000100" y="3495920"/>
            <a:ext cx="7358114"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P. ej., un subsidio para aquellos individuos  que trabajen al menos 20 horas semanales.</a:t>
            </a:r>
            <a:endParaRPr lang="es-ES" sz="2500" dirty="0"/>
          </a:p>
        </p:txBody>
      </p:sp>
      <p:sp>
        <p:nvSpPr>
          <p:cNvPr id="7" name="6 Flecha abajo"/>
          <p:cNvSpPr/>
          <p:nvPr/>
        </p:nvSpPr>
        <p:spPr>
          <a:xfrm>
            <a:off x="4429124" y="4643446"/>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1500166" y="5072074"/>
            <a:ext cx="6572296" cy="477054"/>
          </a:xfrm>
          <a:prstGeom prst="rect">
            <a:avLst/>
          </a:prstGeom>
          <a:noFill/>
          <a:ln>
            <a:solidFill>
              <a:schemeClr val="accent1">
                <a:lumMod val="60000"/>
                <a:lumOff val="40000"/>
              </a:schemeClr>
            </a:solidFill>
          </a:ln>
        </p:spPr>
        <p:txBody>
          <a:bodyPr wrap="square" rtlCol="0">
            <a:spAutoFit/>
          </a:bodyPr>
          <a:lstStyle/>
          <a:p>
            <a:r>
              <a:rPr lang="es-ES_tradnl" sz="2500" dirty="0" smtClean="0"/>
              <a:t>Este cambio no es estrictamente un cambio en </a:t>
            </a:r>
            <a:r>
              <a:rPr lang="es-ES_tradnl" sz="2500" i="1" dirty="0" smtClean="0"/>
              <a:t>w. </a:t>
            </a:r>
            <a:endParaRPr lang="es-ES" sz="2500" i="1" dirty="0"/>
          </a:p>
        </p:txBody>
      </p:sp>
      <p:sp>
        <p:nvSpPr>
          <p:cNvPr id="9" name="8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12</a:t>
            </a:fld>
            <a:endParaRPr lang="es-ES" sz="1500" dirty="0">
              <a:solidFill>
                <a:schemeClr val="tx1">
                  <a:lumMod val="50000"/>
                  <a:lumOff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Al estimar: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14290"/>
            <a:ext cx="6257940" cy="1214446"/>
          </a:xfrm>
        </p:spPr>
        <p:txBody>
          <a:bodyPr>
            <a:noAutofit/>
          </a:bodyPr>
          <a:lstStyle/>
          <a:p>
            <a:r>
              <a:rPr lang="es-AR" sz="4200" u="sng" dirty="0" smtClean="0"/>
              <a:t>Limitaciones del ejemplo 2</a:t>
            </a:r>
            <a:endParaRPr lang="es-AR" sz="4200" u="sng" dirty="0"/>
          </a:p>
        </p:txBody>
      </p:sp>
      <p:sp>
        <p:nvSpPr>
          <p:cNvPr id="7" name="6 CuadroTexto"/>
          <p:cNvSpPr txBox="1"/>
          <p:nvPr/>
        </p:nvSpPr>
        <p:spPr>
          <a:xfrm>
            <a:off x="785787" y="2857496"/>
            <a:ext cx="7429552" cy="861774"/>
          </a:xfrm>
          <a:prstGeom prst="rect">
            <a:avLst/>
          </a:prstGeom>
          <a:noFill/>
        </p:spPr>
        <p:txBody>
          <a:bodyPr wrap="square" rtlCol="0">
            <a:spAutoFit/>
          </a:bodyPr>
          <a:lstStyle/>
          <a:p>
            <a:pPr algn="ctr"/>
            <a:r>
              <a:rPr lang="es-ES_tradnl" sz="2500" dirty="0" smtClean="0"/>
              <a:t>No se incluyen los datos de las personas que no están trabajando</a:t>
            </a:r>
            <a:r>
              <a:rPr lang="es-ES_tradnl" dirty="0" smtClean="0"/>
              <a:t>.</a:t>
            </a:r>
            <a:endParaRPr lang="es-ES" dirty="0"/>
          </a:p>
        </p:txBody>
      </p:sp>
      <p:sp>
        <p:nvSpPr>
          <p:cNvPr id="9" name="8 Flecha abajo"/>
          <p:cNvSpPr/>
          <p:nvPr/>
        </p:nvSpPr>
        <p:spPr>
          <a:xfrm>
            <a:off x="4214810" y="3786190"/>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785786" y="4254207"/>
            <a:ext cx="7429552" cy="1631216"/>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La estimación no estaría capturando el hecho de que unos individuos que no trabajan bajo el escenario actual podrían hacerlo una vez se ha implementado el subsidio al trabajo.</a:t>
            </a:r>
            <a:endParaRPr lang="es-ES" sz="2500" dirty="0"/>
          </a:p>
        </p:txBody>
      </p:sp>
      <p:graphicFrame>
        <p:nvGraphicFramePr>
          <p:cNvPr id="76801" name="Object 1"/>
          <p:cNvGraphicFramePr>
            <a:graphicFrameLocks noChangeAspect="1"/>
          </p:cNvGraphicFramePr>
          <p:nvPr/>
        </p:nvGraphicFramePr>
        <p:xfrm>
          <a:off x="569938" y="2139946"/>
          <a:ext cx="7716838" cy="717550"/>
        </p:xfrm>
        <a:graphic>
          <a:graphicData uri="http://schemas.openxmlformats.org/presentationml/2006/ole">
            <p:oleObj spid="_x0000_s76808" name="Documento" r:id="rId4" imgW="5397500" imgH="504362" progId="Word.Document.12">
              <p:embed/>
            </p:oleObj>
          </a:graphicData>
        </a:graphic>
      </p:graphicFrame>
      <p:sp>
        <p:nvSpPr>
          <p:cNvPr id="12" name="11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13</a:t>
            </a:fld>
            <a:endParaRPr lang="es-ES" sz="1500" dirty="0">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928802"/>
            <a:ext cx="8229600" cy="4197361"/>
          </a:xfrm>
        </p:spPr>
        <p:txBody>
          <a:bodyPr>
            <a:normAutofit fontScale="92500" lnSpcReduction="20000"/>
          </a:bodyPr>
          <a:lstStyle/>
          <a:p>
            <a:pPr>
              <a:buNone/>
            </a:pPr>
            <a:r>
              <a:rPr lang="es-ES_tradnl" sz="2700" dirty="0" smtClean="0"/>
              <a:t>En el ejemplo, si conociéramos los parámetros de la función:</a:t>
            </a:r>
          </a:p>
          <a:p>
            <a:pPr>
              <a:buNone/>
            </a:pPr>
            <a:endParaRPr lang="es-ES_tradnl" sz="2500" dirty="0" smtClean="0"/>
          </a:p>
          <a:p>
            <a:pPr>
              <a:buNone/>
            </a:pPr>
            <a:endParaRPr lang="es-ES_tradnl" sz="2500" dirty="0" smtClean="0"/>
          </a:p>
          <a:p>
            <a:pPr>
              <a:buNone/>
            </a:pPr>
            <a:endParaRPr lang="es-ES_tradnl" sz="2500" dirty="0" smtClean="0"/>
          </a:p>
          <a:p>
            <a:pPr algn="ctr">
              <a:buNone/>
            </a:pPr>
            <a:r>
              <a:rPr lang="es-ES_tradnl" sz="2500" dirty="0" smtClean="0"/>
              <a:t>	</a:t>
            </a:r>
            <a:r>
              <a:rPr lang="es-ES_tradnl" sz="2700" dirty="0" smtClean="0"/>
              <a:t>Se podría predecir cómo reaccionarían los agentes ante cualquier cambio en la restricción presupuestal, porque conocemos sus preferencias.</a:t>
            </a:r>
          </a:p>
          <a:p>
            <a:pPr>
              <a:buNone/>
            </a:pPr>
            <a:endParaRPr lang="es-ES_tradnl" sz="2500" dirty="0" smtClean="0"/>
          </a:p>
          <a:p>
            <a:pPr>
              <a:buNone/>
            </a:pPr>
            <a:endParaRPr lang="es-ES_tradnl" sz="2500" dirty="0" smtClean="0"/>
          </a:p>
          <a:p>
            <a:pPr>
              <a:buNone/>
            </a:pPr>
            <a:endParaRPr lang="es-ES_tradnl" sz="2500" dirty="0" smtClean="0"/>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428760"/>
          </a:xfrm>
        </p:spPr>
        <p:txBody>
          <a:bodyPr>
            <a:noAutofit/>
          </a:bodyPr>
          <a:lstStyle/>
          <a:p>
            <a:r>
              <a:rPr lang="es-AR" sz="4200" u="sng" dirty="0" smtClean="0"/>
              <a:t>Si conociéramos los parámetros de las funciones</a:t>
            </a:r>
            <a:endParaRPr lang="es-AR" sz="4200" u="sng" dirty="0"/>
          </a:p>
        </p:txBody>
      </p:sp>
      <p:cxnSp>
        <p:nvCxnSpPr>
          <p:cNvPr id="11" name="10 Conector recto de flecha"/>
          <p:cNvCxnSpPr/>
          <p:nvPr/>
        </p:nvCxnSpPr>
        <p:spPr>
          <a:xfrm rot="5400000">
            <a:off x="4357686" y="4500570"/>
            <a:ext cx="42862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1428728" y="4786322"/>
            <a:ext cx="6357982"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Independientemente de si es un cambio en los datos históricos/disponibles o no.</a:t>
            </a:r>
            <a:endParaRPr lang="es-ES" sz="2500" dirty="0"/>
          </a:p>
        </p:txBody>
      </p:sp>
      <p:graphicFrame>
        <p:nvGraphicFramePr>
          <p:cNvPr id="75777" name="Object 1"/>
          <p:cNvGraphicFramePr>
            <a:graphicFrameLocks noChangeAspect="1"/>
          </p:cNvGraphicFramePr>
          <p:nvPr/>
        </p:nvGraphicFramePr>
        <p:xfrm>
          <a:off x="715990" y="2643182"/>
          <a:ext cx="7856538" cy="928687"/>
        </p:xfrm>
        <a:graphic>
          <a:graphicData uri="http://schemas.openxmlformats.org/presentationml/2006/ole">
            <p:oleObj spid="_x0000_s75784" name="Documento" r:id="rId4" imgW="5397500" imgH="641358" progId="Word.Document.12">
              <p:embed/>
            </p:oleObj>
          </a:graphicData>
        </a:graphic>
      </p:graphicFrame>
      <p:sp>
        <p:nvSpPr>
          <p:cNvPr id="14" name="13 Elipse"/>
          <p:cNvSpPr/>
          <p:nvPr/>
        </p:nvSpPr>
        <p:spPr>
          <a:xfrm>
            <a:off x="5364088" y="2636912"/>
            <a:ext cx="504056" cy="5760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14</a:t>
            </a:fld>
            <a:endParaRPr lang="es-ES" sz="1500" dirty="0">
              <a:solidFill>
                <a:schemeClr val="tx1">
                  <a:lumMod val="50000"/>
                  <a:lumOff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Se escribe un modelo de elección y se le estiman los parámetros estructurales, dados los datos disponibles para encontrar:</a:t>
            </a:r>
          </a:p>
          <a:p>
            <a:pPr>
              <a:buNone/>
            </a:pPr>
            <a:endParaRPr lang="es-ES_tradnl" sz="2500" dirty="0" smtClean="0"/>
          </a:p>
          <a:p>
            <a:pPr>
              <a:buNone/>
            </a:pPr>
            <a:r>
              <a:rPr lang="es-ES_tradnl" sz="2500" dirty="0" smtClean="0"/>
              <a:t>		</a:t>
            </a:r>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¿Para qué estimar un </a:t>
            </a:r>
            <a:br>
              <a:rPr lang="es-AR" sz="4200" u="sng" dirty="0" smtClean="0"/>
            </a:br>
            <a:r>
              <a:rPr lang="es-AR" sz="4200" u="sng" dirty="0" smtClean="0"/>
              <a:t>modelo estructural?</a:t>
            </a:r>
            <a:endParaRPr lang="es-AR" sz="4200" u="sng" dirty="0"/>
          </a:p>
        </p:txBody>
      </p:sp>
      <p:cxnSp>
        <p:nvCxnSpPr>
          <p:cNvPr id="9" name="8 Conector recto"/>
          <p:cNvCxnSpPr/>
          <p:nvPr/>
        </p:nvCxnSpPr>
        <p:spPr>
          <a:xfrm rot="5400000">
            <a:off x="114344" y="3710192"/>
            <a:ext cx="1714512"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971600" y="4221088"/>
            <a:ext cx="285752"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971600" y="3429000"/>
            <a:ext cx="285752"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1259632" y="3212976"/>
            <a:ext cx="3844450" cy="477054"/>
          </a:xfrm>
          <a:prstGeom prst="rect">
            <a:avLst/>
          </a:prstGeom>
          <a:noFill/>
          <a:ln>
            <a:solidFill>
              <a:schemeClr val="accent1">
                <a:lumMod val="60000"/>
                <a:lumOff val="40000"/>
              </a:schemeClr>
            </a:solidFill>
          </a:ln>
        </p:spPr>
        <p:txBody>
          <a:bodyPr wrap="none" rtlCol="0">
            <a:spAutoFit/>
          </a:bodyPr>
          <a:lstStyle/>
          <a:p>
            <a:r>
              <a:rPr lang="es-ES_tradnl" sz="2500" dirty="0" smtClean="0"/>
              <a:t>1.  El efecto del tratamiento</a:t>
            </a:r>
            <a:r>
              <a:rPr lang="es-ES_tradnl" dirty="0" smtClean="0"/>
              <a:t>.</a:t>
            </a:r>
            <a:endParaRPr lang="es-ES" dirty="0"/>
          </a:p>
        </p:txBody>
      </p:sp>
      <p:sp>
        <p:nvSpPr>
          <p:cNvPr id="15" name="14 CuadroTexto"/>
          <p:cNvSpPr txBox="1"/>
          <p:nvPr/>
        </p:nvSpPr>
        <p:spPr>
          <a:xfrm>
            <a:off x="1259632" y="4005064"/>
            <a:ext cx="7836056" cy="477054"/>
          </a:xfrm>
          <a:prstGeom prst="rect">
            <a:avLst/>
          </a:prstGeom>
          <a:noFill/>
          <a:ln>
            <a:solidFill>
              <a:schemeClr val="accent1">
                <a:lumMod val="60000"/>
                <a:lumOff val="40000"/>
              </a:schemeClr>
            </a:solidFill>
          </a:ln>
        </p:spPr>
        <p:txBody>
          <a:bodyPr wrap="none" rtlCol="0">
            <a:spAutoFit/>
          </a:bodyPr>
          <a:lstStyle/>
          <a:p>
            <a:r>
              <a:rPr lang="es-ES_tradnl" sz="2500" dirty="0" smtClean="0"/>
              <a:t>2. Las posibles variaciones contrafactuales del tratamiento.</a:t>
            </a:r>
            <a:endParaRPr lang="es-ES" sz="2500" dirty="0" smtClean="0"/>
          </a:p>
        </p:txBody>
      </p:sp>
      <p:sp>
        <p:nvSpPr>
          <p:cNvPr id="17" name="16 CuadroTexto"/>
          <p:cNvSpPr txBox="1"/>
          <p:nvPr/>
        </p:nvSpPr>
        <p:spPr>
          <a:xfrm>
            <a:off x="899592" y="4725144"/>
            <a:ext cx="7704856" cy="1785104"/>
          </a:xfrm>
          <a:prstGeom prst="rect">
            <a:avLst/>
          </a:prstGeom>
          <a:noFill/>
        </p:spPr>
        <p:txBody>
          <a:bodyPr wrap="square" rtlCol="0">
            <a:spAutoFit/>
          </a:bodyPr>
          <a:lstStyle/>
          <a:p>
            <a:r>
              <a:rPr lang="es-CO" sz="2200" dirty="0" smtClean="0"/>
              <a:t>Recuerde que los parámetros estructurales son aquellos que caracterizan la función de utilidad (preferencias), las funciones de producción (tecnológicos), etc. Estos son invariantes a cambios de política, porque representan las preferencias y restricciones tecnológicas dadas.</a:t>
            </a:r>
            <a:endParaRPr lang="es-ES" sz="2200" dirty="0"/>
          </a:p>
        </p:txBody>
      </p:sp>
      <p:sp>
        <p:nvSpPr>
          <p:cNvPr id="13" name="12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15</a:t>
            </a:fld>
            <a:endParaRPr lang="es-ES" sz="1500" dirty="0">
              <a:solidFill>
                <a:schemeClr val="tx1">
                  <a:lumMod val="50000"/>
                  <a:lumOff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58204" cy="4686320"/>
          </a:xfrm>
          <a:ln w="28575">
            <a:solidFill>
              <a:schemeClr val="accent1">
                <a:lumMod val="75000"/>
              </a:schemeClr>
            </a:solidFill>
          </a:ln>
        </p:spPr>
        <p:txBody>
          <a:bodyPr>
            <a:normAutofit/>
          </a:bodyPr>
          <a:lstStyle/>
          <a:p>
            <a:pPr>
              <a:buNone/>
            </a:pPr>
            <a:r>
              <a:rPr lang="es-ES_tradnl" sz="2500" dirty="0" smtClean="0"/>
              <a:t>	La madre decide si inscribir al niño en el programa con base en un modelo estático.</a:t>
            </a:r>
          </a:p>
          <a:p>
            <a:pPr>
              <a:buNone/>
            </a:pPr>
            <a:r>
              <a:rPr lang="es-ES_tradnl" sz="2500" dirty="0" smtClean="0"/>
              <a:t>	</a:t>
            </a:r>
          </a:p>
          <a:p>
            <a:pPr>
              <a:buNone/>
            </a:pPr>
            <a:r>
              <a:rPr lang="es-ES_tradnl" sz="2500" dirty="0" smtClean="0"/>
              <a:t>	</a:t>
            </a:r>
          </a:p>
          <a:p>
            <a:pPr>
              <a:buNone/>
            </a:pPr>
            <a:r>
              <a:rPr lang="es-ES_tradnl" sz="2500" dirty="0" smtClean="0"/>
              <a:t>	</a:t>
            </a:r>
          </a:p>
        </p:txBody>
      </p:sp>
      <p:pic>
        <p:nvPicPr>
          <p:cNvPr id="4" name="Picture 1"/>
          <p:cNvPicPr>
            <a:picLocks noChangeAspect="1" noChangeArrowheads="1"/>
          </p:cNvPicPr>
          <p:nvPr/>
        </p:nvPicPr>
        <p:blipFill>
          <a:blip r:embed="rId4"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Ejemplo: </a:t>
            </a:r>
            <a:r>
              <a:rPr lang="es-AR" sz="4200" i="1" u="sng" dirty="0" smtClean="0"/>
              <a:t>Canasta</a:t>
            </a:r>
            <a:endParaRPr lang="es-AR" sz="4200" i="1" u="sng" dirty="0"/>
          </a:p>
        </p:txBody>
      </p:sp>
      <p:sp>
        <p:nvSpPr>
          <p:cNvPr id="225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3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33" name="Rectangle 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8" name="17 CuadroTexto"/>
          <p:cNvSpPr txBox="1"/>
          <p:nvPr/>
        </p:nvSpPr>
        <p:spPr>
          <a:xfrm>
            <a:off x="857224" y="2571744"/>
            <a:ext cx="3000396" cy="477054"/>
          </a:xfrm>
          <a:prstGeom prst="rect">
            <a:avLst/>
          </a:prstGeom>
          <a:noFill/>
        </p:spPr>
        <p:txBody>
          <a:bodyPr wrap="square" rtlCol="0">
            <a:spAutoFit/>
          </a:bodyPr>
          <a:lstStyle/>
          <a:p>
            <a:r>
              <a:rPr lang="es-ES_tradnl" sz="2500" dirty="0" smtClean="0"/>
              <a:t>La madre maximiza:</a:t>
            </a:r>
            <a:endParaRPr lang="es-ES" sz="2500" dirty="0"/>
          </a:p>
        </p:txBody>
      </p:sp>
      <p:sp>
        <p:nvSpPr>
          <p:cNvPr id="22535"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36"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2538"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39" name="Rectangle 11"/>
          <p:cNvSpPr>
            <a:spLocks noChangeArrowheads="1"/>
          </p:cNvSpPr>
          <p:nvPr/>
        </p:nvSpPr>
        <p:spPr bwMode="auto">
          <a:xfrm>
            <a:off x="0" y="9906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254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43"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2544" name="Rectangle 1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39" name="38 CuadroTexto"/>
          <p:cNvSpPr txBox="1"/>
          <p:nvPr/>
        </p:nvSpPr>
        <p:spPr>
          <a:xfrm>
            <a:off x="3931377" y="3571876"/>
            <a:ext cx="1321131" cy="477054"/>
          </a:xfrm>
          <a:prstGeom prst="rect">
            <a:avLst/>
          </a:prstGeom>
          <a:noFill/>
        </p:spPr>
        <p:txBody>
          <a:bodyPr wrap="none" rtlCol="0">
            <a:spAutoFit/>
          </a:bodyPr>
          <a:lstStyle/>
          <a:p>
            <a:r>
              <a:rPr lang="es-ES_tradnl" sz="2500" dirty="0" smtClean="0"/>
              <a:t>Sujeto a:</a:t>
            </a:r>
            <a:endParaRPr lang="es-ES" sz="2500" dirty="0"/>
          </a:p>
        </p:txBody>
      </p:sp>
      <p:sp>
        <p:nvSpPr>
          <p:cNvPr id="22546"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48" name="Rectangle 2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2549" name="Rectangle 2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8" name="47 CuadroTexto"/>
          <p:cNvSpPr txBox="1"/>
          <p:nvPr/>
        </p:nvSpPr>
        <p:spPr>
          <a:xfrm>
            <a:off x="854723" y="4000504"/>
            <a:ext cx="3363293" cy="477054"/>
          </a:xfrm>
          <a:prstGeom prst="rect">
            <a:avLst/>
          </a:prstGeom>
          <a:noFill/>
        </p:spPr>
        <p:txBody>
          <a:bodyPr wrap="none" rtlCol="0">
            <a:spAutoFit/>
          </a:bodyPr>
          <a:lstStyle/>
          <a:p>
            <a:r>
              <a:rPr lang="es-ES_tradnl" sz="2500" u="sng" dirty="0" smtClean="0"/>
              <a:t>Restricción presupuestal</a:t>
            </a:r>
            <a:endParaRPr lang="es-ES" sz="2500" u="sng" dirty="0"/>
          </a:p>
        </p:txBody>
      </p:sp>
      <p:sp>
        <p:nvSpPr>
          <p:cNvPr id="49" name="48 CuadroTexto"/>
          <p:cNvSpPr txBox="1"/>
          <p:nvPr/>
        </p:nvSpPr>
        <p:spPr>
          <a:xfrm>
            <a:off x="857224" y="5143512"/>
            <a:ext cx="6551922" cy="477054"/>
          </a:xfrm>
          <a:prstGeom prst="rect">
            <a:avLst/>
          </a:prstGeom>
          <a:noFill/>
        </p:spPr>
        <p:txBody>
          <a:bodyPr wrap="none" rtlCol="0">
            <a:spAutoFit/>
          </a:bodyPr>
          <a:lstStyle/>
          <a:p>
            <a:r>
              <a:rPr lang="es-ES_tradnl" sz="2500" u="sng" dirty="0" smtClean="0"/>
              <a:t>Función de producción de la calidad de los niños:</a:t>
            </a:r>
            <a:endParaRPr lang="es-ES" sz="2500" u="sng" dirty="0"/>
          </a:p>
        </p:txBody>
      </p:sp>
      <p:sp>
        <p:nvSpPr>
          <p:cNvPr id="727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270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73729" name="Object 1"/>
          <p:cNvGraphicFramePr>
            <a:graphicFrameLocks noChangeAspect="1"/>
          </p:cNvGraphicFramePr>
          <p:nvPr/>
        </p:nvGraphicFramePr>
        <p:xfrm>
          <a:off x="1214414" y="2428868"/>
          <a:ext cx="6364661" cy="1357322"/>
        </p:xfrm>
        <a:graphic>
          <a:graphicData uri="http://schemas.openxmlformats.org/presentationml/2006/ole">
            <p:oleObj spid="_x0000_s73751" name="Documento" r:id="rId5" imgW="5397500" imgH="1342923" progId="Word.Document.12">
              <p:embed/>
            </p:oleObj>
          </a:graphicData>
        </a:graphic>
      </p:graphicFrame>
      <p:graphicFrame>
        <p:nvGraphicFramePr>
          <p:cNvPr id="73730" name="Object 2"/>
          <p:cNvGraphicFramePr>
            <a:graphicFrameLocks noChangeAspect="1"/>
          </p:cNvGraphicFramePr>
          <p:nvPr/>
        </p:nvGraphicFramePr>
        <p:xfrm>
          <a:off x="1285852" y="4572008"/>
          <a:ext cx="6948269" cy="646113"/>
        </p:xfrm>
        <a:graphic>
          <a:graphicData uri="http://schemas.openxmlformats.org/presentationml/2006/ole">
            <p:oleObj spid="_x0000_s73752" name="Documento" r:id="rId6" imgW="5397500" imgH="504362" progId="Word.Document.12">
              <p:embed/>
            </p:oleObj>
          </a:graphicData>
        </a:graphic>
      </p:graphicFrame>
      <p:graphicFrame>
        <p:nvGraphicFramePr>
          <p:cNvPr id="73732" name="Object 4"/>
          <p:cNvGraphicFramePr>
            <a:graphicFrameLocks noChangeAspect="1"/>
          </p:cNvGraphicFramePr>
          <p:nvPr/>
        </p:nvGraphicFramePr>
        <p:xfrm>
          <a:off x="1086856" y="5643578"/>
          <a:ext cx="6914168" cy="642942"/>
        </p:xfrm>
        <a:graphic>
          <a:graphicData uri="http://schemas.openxmlformats.org/presentationml/2006/ole">
            <p:oleObj spid="_x0000_s73753" name="Documento" r:id="rId7" imgW="5397500" imgH="504362" progId="Word.Document.12">
              <p:embed/>
            </p:oleObj>
          </a:graphicData>
        </a:graphic>
      </p:graphicFrame>
      <p:sp>
        <p:nvSpPr>
          <p:cNvPr id="28" name="27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16</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357298"/>
            <a:ext cx="8286808" cy="4929222"/>
          </a:xfrm>
          <a:ln w="28575">
            <a:solidFill>
              <a:schemeClr val="accent1">
                <a:lumMod val="75000"/>
              </a:schemeClr>
            </a:solidFill>
          </a:ln>
        </p:spPr>
        <p:txBody>
          <a:bodyPr>
            <a:normAutofit fontScale="85000" lnSpcReduction="20000"/>
          </a:bodyPr>
          <a:lstStyle/>
          <a:p>
            <a:pPr>
              <a:spcBef>
                <a:spcPts val="1200"/>
              </a:spcBef>
              <a:buNone/>
            </a:pPr>
            <a:r>
              <a:rPr lang="es-ES_tradnl" sz="2500" dirty="0" smtClean="0"/>
              <a:t>		</a:t>
            </a:r>
          </a:p>
          <a:p>
            <a:pPr>
              <a:spcBef>
                <a:spcPts val="1200"/>
              </a:spcBef>
              <a:buNone/>
            </a:pPr>
            <a:r>
              <a:rPr lang="es-ES_tradnl" sz="2500" dirty="0" smtClean="0"/>
              <a:t>		</a:t>
            </a:r>
            <a:r>
              <a:rPr lang="es-ES_tradnl" sz="2900" dirty="0" smtClean="0"/>
              <a:t>Consumo de la madre.</a:t>
            </a:r>
          </a:p>
          <a:p>
            <a:pPr>
              <a:spcBef>
                <a:spcPts val="1200"/>
              </a:spcBef>
              <a:buNone/>
            </a:pPr>
            <a:r>
              <a:rPr lang="es-ES_tradnl" sz="2900" dirty="0" smtClean="0"/>
              <a:t>		Consumo del niño.</a:t>
            </a:r>
          </a:p>
          <a:p>
            <a:pPr>
              <a:spcBef>
                <a:spcPts val="1200"/>
              </a:spcBef>
              <a:buNone/>
            </a:pPr>
            <a:r>
              <a:rPr lang="es-ES_tradnl" sz="2900" dirty="0" smtClean="0"/>
              <a:t>		Tiempo de ocio de la madre.</a:t>
            </a:r>
          </a:p>
          <a:p>
            <a:pPr>
              <a:spcBef>
                <a:spcPts val="1200"/>
              </a:spcBef>
              <a:buNone/>
            </a:pPr>
            <a:r>
              <a:rPr lang="es-ES_tradnl" sz="2900" dirty="0" smtClean="0"/>
              <a:t>		Calidad del niño (estado de salud o nutricional).</a:t>
            </a:r>
          </a:p>
          <a:p>
            <a:pPr>
              <a:spcBef>
                <a:spcPts val="1200"/>
              </a:spcBef>
              <a:buNone/>
            </a:pPr>
            <a:r>
              <a:rPr lang="es-ES_tradnl" sz="2900" dirty="0" smtClean="0"/>
              <a:t>	</a:t>
            </a:r>
            <a:r>
              <a:rPr lang="es-ES_tradnl" sz="2900" b="1" dirty="0"/>
              <a:t>𝜀</a:t>
            </a:r>
            <a:r>
              <a:rPr lang="es-ES_tradnl" sz="2900" dirty="0" smtClean="0"/>
              <a:t>	Heterogeneidad no observada entre los individuos.</a:t>
            </a:r>
          </a:p>
          <a:p>
            <a:pPr>
              <a:spcBef>
                <a:spcPts val="1200"/>
              </a:spcBef>
              <a:buNone/>
            </a:pPr>
            <a:r>
              <a:rPr lang="es-ES_tradnl" sz="2900" dirty="0" smtClean="0"/>
              <a:t>		Indicador de participación.</a:t>
            </a:r>
          </a:p>
          <a:p>
            <a:pPr>
              <a:spcBef>
                <a:spcPts val="1200"/>
              </a:spcBef>
              <a:buNone/>
            </a:pPr>
            <a:r>
              <a:rPr lang="es-ES_tradnl" sz="2900" dirty="0" smtClean="0"/>
              <a:t>		Tiempo dedicado por la madre al cuidado del niño.</a:t>
            </a:r>
          </a:p>
          <a:p>
            <a:pPr>
              <a:spcBef>
                <a:spcPts val="1200"/>
              </a:spcBef>
              <a:buNone/>
            </a:pPr>
            <a:r>
              <a:rPr lang="es-ES_tradnl" sz="2900" dirty="0" smtClean="0"/>
              <a:t>		Ingreso del padre.</a:t>
            </a:r>
          </a:p>
          <a:p>
            <a:pPr>
              <a:spcBef>
                <a:spcPts val="1200"/>
              </a:spcBef>
              <a:buNone/>
            </a:pPr>
            <a:r>
              <a:rPr lang="es-ES_tradnl" sz="2900" dirty="0" smtClean="0"/>
              <a:t>				</a:t>
            </a:r>
            <a:r>
              <a:rPr lang="es-ES_tradnl" dirty="0" smtClean="0"/>
              <a:t>	</a:t>
            </a:r>
          </a:p>
          <a:p>
            <a:pPr>
              <a:buNone/>
            </a:pPr>
            <a:r>
              <a:rPr lang="es-ES_tradnl" dirty="0" smtClean="0"/>
              <a:t>		</a:t>
            </a:r>
            <a:endParaRPr lang="es-ES"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Ejemplo: </a:t>
            </a:r>
            <a:r>
              <a:rPr lang="es-AR" sz="4200" i="1" u="sng" dirty="0" smtClean="0"/>
              <a:t>Canasta</a:t>
            </a:r>
            <a:endParaRPr lang="es-AR" sz="4200" i="1" u="sng" dirty="0"/>
          </a:p>
        </p:txBody>
      </p:sp>
      <p:pic>
        <p:nvPicPr>
          <p:cNvPr id="6"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42910" y="1714488"/>
            <a:ext cx="396481" cy="428628"/>
          </a:xfrm>
          <a:prstGeom prst="rect">
            <a:avLst/>
          </a:prstGeom>
          <a:noFill/>
        </p:spPr>
      </p:pic>
      <p:pic>
        <p:nvPicPr>
          <p:cNvPr id="7" name="Picture 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714348" y="2182292"/>
            <a:ext cx="357190" cy="460890"/>
          </a:xfrm>
          <a:prstGeom prst="rect">
            <a:avLst/>
          </a:prstGeom>
          <a:noFill/>
        </p:spPr>
      </p:pic>
      <p:sp>
        <p:nvSpPr>
          <p:cNvPr id="8" name="7 CuadroTexto"/>
          <p:cNvSpPr txBox="1"/>
          <p:nvPr/>
        </p:nvSpPr>
        <p:spPr>
          <a:xfrm>
            <a:off x="714348" y="2594756"/>
            <a:ext cx="319318" cy="477054"/>
          </a:xfrm>
          <a:prstGeom prst="rect">
            <a:avLst/>
          </a:prstGeom>
          <a:noFill/>
        </p:spPr>
        <p:txBody>
          <a:bodyPr wrap="none" rtlCol="0">
            <a:spAutoFit/>
          </a:bodyPr>
          <a:lstStyle/>
          <a:p>
            <a:r>
              <a:rPr lang="es-ES_tradnl" sz="2500" i="1" dirty="0" smtClean="0"/>
              <a:t>L</a:t>
            </a:r>
            <a:endParaRPr lang="es-ES" sz="2500" i="1" dirty="0"/>
          </a:p>
        </p:txBody>
      </p:sp>
      <p:sp>
        <p:nvSpPr>
          <p:cNvPr id="9" name="8 CuadroTexto"/>
          <p:cNvSpPr txBox="1"/>
          <p:nvPr/>
        </p:nvSpPr>
        <p:spPr>
          <a:xfrm>
            <a:off x="714348" y="3000372"/>
            <a:ext cx="349776" cy="477054"/>
          </a:xfrm>
          <a:prstGeom prst="rect">
            <a:avLst/>
          </a:prstGeom>
          <a:noFill/>
        </p:spPr>
        <p:txBody>
          <a:bodyPr wrap="none" rtlCol="0">
            <a:spAutoFit/>
          </a:bodyPr>
          <a:lstStyle/>
          <a:p>
            <a:r>
              <a:rPr lang="es-ES_tradnl" sz="2500" i="1" dirty="0" smtClean="0"/>
              <a:t>q</a:t>
            </a:r>
            <a:endParaRPr lang="es-ES" sz="2500" i="1" dirty="0"/>
          </a:p>
        </p:txBody>
      </p:sp>
      <p:sp>
        <p:nvSpPr>
          <p:cNvPr id="11" name="10 CuadroTexto"/>
          <p:cNvSpPr txBox="1"/>
          <p:nvPr/>
        </p:nvSpPr>
        <p:spPr>
          <a:xfrm>
            <a:off x="714348" y="4000504"/>
            <a:ext cx="381836" cy="477054"/>
          </a:xfrm>
          <a:prstGeom prst="rect">
            <a:avLst/>
          </a:prstGeom>
          <a:noFill/>
        </p:spPr>
        <p:txBody>
          <a:bodyPr wrap="none" rtlCol="0">
            <a:spAutoFit/>
          </a:bodyPr>
          <a:lstStyle/>
          <a:p>
            <a:r>
              <a:rPr lang="es-ES_tradnl" sz="2500" i="1" dirty="0" smtClean="0"/>
              <a:t>D</a:t>
            </a:r>
            <a:endParaRPr lang="es-ES" sz="2500" i="1" dirty="0"/>
          </a:p>
        </p:txBody>
      </p:sp>
      <p:sp>
        <p:nvSpPr>
          <p:cNvPr id="12" name="11 CuadroTexto"/>
          <p:cNvSpPr txBox="1"/>
          <p:nvPr/>
        </p:nvSpPr>
        <p:spPr>
          <a:xfrm>
            <a:off x="714348" y="4429132"/>
            <a:ext cx="340158" cy="477054"/>
          </a:xfrm>
          <a:prstGeom prst="rect">
            <a:avLst/>
          </a:prstGeom>
          <a:noFill/>
        </p:spPr>
        <p:txBody>
          <a:bodyPr wrap="none" rtlCol="0">
            <a:spAutoFit/>
          </a:bodyPr>
          <a:lstStyle/>
          <a:p>
            <a:r>
              <a:rPr lang="es-ES_tradnl" sz="2500" i="1" dirty="0" smtClean="0"/>
              <a:t>T</a:t>
            </a:r>
            <a:endParaRPr lang="es-ES" sz="2500" i="1" dirty="0"/>
          </a:p>
        </p:txBody>
      </p:sp>
      <p:sp>
        <p:nvSpPr>
          <p:cNvPr id="13" name="12 CuadroTexto"/>
          <p:cNvSpPr txBox="1"/>
          <p:nvPr/>
        </p:nvSpPr>
        <p:spPr>
          <a:xfrm>
            <a:off x="714348" y="4857760"/>
            <a:ext cx="340158" cy="477054"/>
          </a:xfrm>
          <a:prstGeom prst="rect">
            <a:avLst/>
          </a:prstGeom>
          <a:noFill/>
        </p:spPr>
        <p:txBody>
          <a:bodyPr wrap="none" rtlCol="0">
            <a:spAutoFit/>
          </a:bodyPr>
          <a:lstStyle/>
          <a:p>
            <a:r>
              <a:rPr lang="es-ES_tradnl" sz="2500" i="1" dirty="0" smtClean="0"/>
              <a:t>Y</a:t>
            </a:r>
            <a:endParaRPr lang="es-ES" sz="2500" i="1" dirty="0"/>
          </a:p>
        </p:txBody>
      </p:sp>
      <p:cxnSp>
        <p:nvCxnSpPr>
          <p:cNvPr id="15" name="14 Conector recto de flecha"/>
          <p:cNvCxnSpPr/>
          <p:nvPr/>
        </p:nvCxnSpPr>
        <p:spPr>
          <a:xfrm>
            <a:off x="1071538" y="192880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1071538" y="242728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p:nvPr/>
        </p:nvCxnSpPr>
        <p:spPr>
          <a:xfrm>
            <a:off x="1071538" y="2857496"/>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1071538" y="328612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a:off x="1071538" y="378619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p:nvPr/>
        </p:nvCxnSpPr>
        <p:spPr>
          <a:xfrm>
            <a:off x="1071538" y="428466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p:nvPr/>
        </p:nvCxnSpPr>
        <p:spPr>
          <a:xfrm>
            <a:off x="1071538" y="471488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21 Conector recto de flecha"/>
          <p:cNvCxnSpPr/>
          <p:nvPr/>
        </p:nvCxnSpPr>
        <p:spPr>
          <a:xfrm>
            <a:off x="1071538" y="514351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22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17</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2 Marcador de contenido"/>
              <p:cNvSpPr>
                <a:spLocks noGrp="1"/>
              </p:cNvSpPr>
              <p:nvPr>
                <p:ph idx="1"/>
              </p:nvPr>
            </p:nvSpPr>
            <p:spPr>
              <a:xfrm>
                <a:off x="457200" y="1639341"/>
                <a:ext cx="8229600" cy="4525963"/>
              </a:xfrm>
              <a:ln w="28575">
                <a:solidFill>
                  <a:schemeClr val="accent1">
                    <a:lumMod val="75000"/>
                  </a:schemeClr>
                </a:solidFill>
              </a:ln>
            </p:spPr>
            <p:txBody>
              <a:bodyPr>
                <a:normAutofit/>
              </a:bodyPr>
              <a:lstStyle/>
              <a:p>
                <a:pPr>
                  <a:spcBef>
                    <a:spcPts val="1200"/>
                  </a:spcBef>
                  <a:buNone/>
                </a:pPr>
                <a:r>
                  <a:rPr lang="es-ES_tradnl" sz="2500" dirty="0" smtClean="0"/>
                  <a:t>		Costo fijo por participar en el programa.	</a:t>
                </a:r>
              </a:p>
              <a:p>
                <a:pPr>
                  <a:spcBef>
                    <a:spcPts val="1200"/>
                  </a:spcBef>
                  <a:buNone/>
                </a:pPr>
                <a:r>
                  <a:rPr lang="es-ES_tradnl" sz="2500" dirty="0"/>
                  <a:t> </a:t>
                </a:r>
                <a:r>
                  <a:rPr lang="es-ES_tradnl" sz="2500" dirty="0" smtClean="0"/>
                  <a:t>   </a:t>
                </a:r>
                <a14:m>
                  <m:oMath xmlns:m="http://schemas.openxmlformats.org/officeDocument/2006/math">
                    <m:r>
                      <a:rPr lang="es-CO" sz="2800" i="1" smtClean="0">
                        <a:latin typeface="Cambria Math"/>
                      </a:rPr>
                      <m:t>𝜉</m:t>
                    </m:r>
                    <m:r>
                      <a:rPr lang="es-CO" sz="2800" b="0" i="1" smtClean="0">
                        <a:latin typeface="Cambria Math"/>
                      </a:rPr>
                      <m:t> </m:t>
                    </m:r>
                  </m:oMath>
                </a14:m>
                <a:r>
                  <a:rPr lang="es-CO" sz="2500" dirty="0" smtClean="0"/>
                  <a:t> </a:t>
                </a:r>
                <a:r>
                  <a:rPr lang="es-ES_tradnl" sz="2500" dirty="0" smtClean="0"/>
                  <a:t>	Choque aleatorio que se realiza después de que la 	madre toma la decisión de participar o no.</a:t>
                </a:r>
              </a:p>
              <a:p>
                <a:pPr>
                  <a:spcBef>
                    <a:spcPts val="1200"/>
                  </a:spcBef>
                  <a:buNone/>
                </a:pPr>
                <a:endParaRPr lang="es-ES_tradnl" sz="1000" dirty="0" smtClean="0"/>
              </a:p>
              <a:p>
                <a:pPr>
                  <a:spcBef>
                    <a:spcPts val="1200"/>
                  </a:spcBef>
                  <a:buNone/>
                </a:pPr>
                <a:r>
                  <a:rPr lang="es-ES_tradnl" sz="2500" dirty="0" smtClean="0"/>
                  <a:t>	Ahora: </a:t>
                </a:r>
              </a:p>
              <a:p>
                <a:pPr>
                  <a:buNone/>
                </a:pPr>
                <a:endParaRPr lang="es-ES" sz="2500" dirty="0"/>
              </a:p>
            </p:txBody>
          </p:sp>
        </mc:Choice>
        <mc:Fallback>
          <p:sp>
            <p:nvSpPr>
              <p:cNvPr id="3" name="2 Marcador de contenido"/>
              <p:cNvSpPr>
                <a:spLocks noGrp="1" noRot="1" noChangeAspect="1" noMove="1" noResize="1" noEditPoints="1" noAdjustHandles="1" noChangeArrowheads="1" noChangeShapeType="1" noTextEdit="1"/>
              </p:cNvSpPr>
              <p:nvPr>
                <p:ph idx="1"/>
              </p:nvPr>
            </p:nvSpPr>
            <p:spPr>
              <a:xfrm>
                <a:off x="457200" y="1639341"/>
                <a:ext cx="8229600" cy="4525963"/>
              </a:xfrm>
              <a:blipFill rotWithShape="1">
                <a:blip r:embed="rId3" cstate="print"/>
                <a:stretch>
                  <a:fillRect t="-669"/>
                </a:stretch>
              </a:blipFill>
              <a:ln w="28575">
                <a:solidFill>
                  <a:schemeClr val="accent1">
                    <a:lumMod val="75000"/>
                  </a:schemeClr>
                </a:solidFill>
              </a:ln>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Ejemplo: </a:t>
            </a:r>
            <a:r>
              <a:rPr lang="es-AR" sz="4200" i="1" u="sng" dirty="0" smtClean="0"/>
              <a:t>Canasta</a:t>
            </a:r>
            <a:endParaRPr lang="es-AR" sz="4200" i="1" u="sng" dirty="0"/>
          </a:p>
        </p:txBody>
      </p:sp>
      <p:sp>
        <p:nvSpPr>
          <p:cNvPr id="348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9" name="8 Conector recto de flecha"/>
          <p:cNvCxnSpPr/>
          <p:nvPr/>
        </p:nvCxnSpPr>
        <p:spPr>
          <a:xfrm>
            <a:off x="1071538" y="185736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a:off x="1071538" y="242728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8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4821" name="Rectangle 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6" name="15 Conector recto de flecha"/>
          <p:cNvCxnSpPr/>
          <p:nvPr/>
        </p:nvCxnSpPr>
        <p:spPr>
          <a:xfrm>
            <a:off x="2285984" y="4356106"/>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771800" y="3717032"/>
            <a:ext cx="5500726" cy="1154162"/>
          </a:xfrm>
          <a:prstGeom prst="rect">
            <a:avLst/>
          </a:prstGeom>
          <a:noFill/>
        </p:spPr>
        <p:txBody>
          <a:bodyPr wrap="square" rtlCol="0">
            <a:spAutoFit/>
          </a:bodyPr>
          <a:lstStyle/>
          <a:p>
            <a:r>
              <a:rPr lang="es-ES_tradnl" sz="2300" dirty="0" smtClean="0"/>
              <a:t>Solución en caso de que la madre decida participar en el programa sujeto a las restricciones.</a:t>
            </a:r>
            <a:endParaRPr lang="es-ES" sz="2300" dirty="0"/>
          </a:p>
        </p:txBody>
      </p:sp>
      <p:sp>
        <p:nvSpPr>
          <p:cNvPr id="3482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4824"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1" name="20 Conector recto de flecha"/>
          <p:cNvCxnSpPr/>
          <p:nvPr/>
        </p:nvCxnSpPr>
        <p:spPr>
          <a:xfrm>
            <a:off x="2285984" y="5214950"/>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2771800" y="4869160"/>
            <a:ext cx="5500726" cy="1154162"/>
          </a:xfrm>
          <a:prstGeom prst="rect">
            <a:avLst/>
          </a:prstGeom>
          <a:noFill/>
        </p:spPr>
        <p:txBody>
          <a:bodyPr wrap="square" rtlCol="0">
            <a:spAutoFit/>
          </a:bodyPr>
          <a:lstStyle/>
          <a:p>
            <a:r>
              <a:rPr lang="es-ES_tradnl" sz="2300" dirty="0" smtClean="0"/>
              <a:t>Solución en caso de que la madre decida </a:t>
            </a:r>
            <a:r>
              <a:rPr lang="es-ES_tradnl" sz="2300" u="sng" dirty="0" smtClean="0"/>
              <a:t>no</a:t>
            </a:r>
            <a:r>
              <a:rPr lang="es-ES_tradnl" sz="2300" dirty="0" smtClean="0"/>
              <a:t> participar en el programa sujeto a las restricciones.</a:t>
            </a:r>
            <a:endParaRPr lang="es-ES" sz="2300" dirty="0"/>
          </a:p>
        </p:txBody>
      </p:sp>
      <p:sp>
        <p:nvSpPr>
          <p:cNvPr id="34826"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4827" name="Rectangle 11"/>
          <p:cNvSpPr>
            <a:spLocks noChangeArrowheads="1"/>
          </p:cNvSpPr>
          <p:nvPr/>
        </p:nvSpPr>
        <p:spPr bwMode="auto">
          <a:xfrm>
            <a:off x="0" y="11334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3" name="22 CuadroTexto"/>
          <p:cNvSpPr txBox="1"/>
          <p:nvPr/>
        </p:nvSpPr>
        <p:spPr>
          <a:xfrm>
            <a:off x="720160" y="1643050"/>
            <a:ext cx="351378" cy="477054"/>
          </a:xfrm>
          <a:prstGeom prst="rect">
            <a:avLst/>
          </a:prstGeom>
          <a:noFill/>
        </p:spPr>
        <p:txBody>
          <a:bodyPr wrap="none" rtlCol="0">
            <a:spAutoFit/>
          </a:bodyPr>
          <a:lstStyle/>
          <a:p>
            <a:r>
              <a:rPr lang="es-ES_tradnl" sz="2500" i="1" dirty="0"/>
              <a:t>K</a:t>
            </a:r>
            <a:endParaRPr lang="es-ES" sz="2500" i="1" dirty="0"/>
          </a:p>
        </p:txBody>
      </p:sp>
      <p:graphicFrame>
        <p:nvGraphicFramePr>
          <p:cNvPr id="69633" name="Object 1"/>
          <p:cNvGraphicFramePr>
            <a:graphicFrameLocks noChangeAspect="1"/>
          </p:cNvGraphicFramePr>
          <p:nvPr/>
        </p:nvGraphicFramePr>
        <p:xfrm>
          <a:off x="-1548680" y="3429000"/>
          <a:ext cx="6286544" cy="1167316"/>
        </p:xfrm>
        <a:graphic>
          <a:graphicData uri="http://schemas.openxmlformats.org/presentationml/2006/ole">
            <p:oleObj spid="_x0000_s69647" name="Documento" r:id="rId5" imgW="5397500" imgH="1193669" progId="Word.Document.12">
              <p:embed/>
            </p:oleObj>
          </a:graphicData>
        </a:graphic>
      </p:graphicFrame>
      <p:graphicFrame>
        <p:nvGraphicFramePr>
          <p:cNvPr id="69634" name="Object 2"/>
          <p:cNvGraphicFramePr>
            <a:graphicFrameLocks noChangeAspect="1"/>
          </p:cNvGraphicFramePr>
          <p:nvPr/>
        </p:nvGraphicFramePr>
        <p:xfrm>
          <a:off x="-1476672" y="4221088"/>
          <a:ext cx="6218238" cy="1147762"/>
        </p:xfrm>
        <a:graphic>
          <a:graphicData uri="http://schemas.openxmlformats.org/presentationml/2006/ole">
            <p:oleObj spid="_x0000_s69648" name="Documento" r:id="rId6" imgW="5397500" imgH="1194390" progId="Word.Document.12">
              <p:embed/>
            </p:oleObj>
          </a:graphicData>
        </a:graphic>
      </p:graphicFrame>
      <p:sp>
        <p:nvSpPr>
          <p:cNvPr id="25" name="24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18</a:t>
            </a:fld>
            <a:endParaRPr lang="es-ES" sz="1500" dirty="0">
              <a:solidFill>
                <a:schemeClr val="tx1">
                  <a:lumMod val="50000"/>
                  <a:lumOff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Ejemplo: </a:t>
            </a:r>
            <a:r>
              <a:rPr lang="es-AR" sz="4200" i="1" u="sng" dirty="0" smtClean="0"/>
              <a:t>Canasta</a:t>
            </a:r>
            <a:endParaRPr lang="es-AR" sz="4200" i="1" u="sng" dirty="0"/>
          </a:p>
        </p:txBody>
      </p:sp>
      <p:sp>
        <p:nvSpPr>
          <p:cNvPr id="8" name="7 CuadroTexto"/>
          <p:cNvSpPr txBox="1"/>
          <p:nvPr/>
        </p:nvSpPr>
        <p:spPr>
          <a:xfrm>
            <a:off x="857225" y="3357562"/>
            <a:ext cx="7572428" cy="2400657"/>
          </a:xfrm>
          <a:prstGeom prst="rect">
            <a:avLst/>
          </a:prstGeom>
          <a:noFill/>
        </p:spPr>
        <p:txBody>
          <a:bodyPr wrap="square" rtlCol="0">
            <a:spAutoFit/>
          </a:bodyPr>
          <a:lstStyle/>
          <a:p>
            <a:pPr algn="just"/>
            <a:r>
              <a:rPr lang="es-ES_tradnl" sz="2500" dirty="0" smtClean="0"/>
              <a:t>Efecto total del programa, que incluye:</a:t>
            </a:r>
          </a:p>
          <a:p>
            <a:pPr marL="457200" indent="-457200">
              <a:buAutoNum type="arabicPeriod"/>
            </a:pPr>
            <a:r>
              <a:rPr lang="es-ES_tradnl" sz="2500" dirty="0" smtClean="0"/>
              <a:t>El efecto directo de la participación en el programa en la calidad del niño.</a:t>
            </a:r>
          </a:p>
          <a:p>
            <a:pPr marL="457200" indent="-457200">
              <a:buAutoNum type="arabicPeriod"/>
            </a:pPr>
            <a:r>
              <a:rPr lang="es-ES_tradnl" sz="2500" dirty="0" smtClean="0"/>
              <a:t>Los efectos indirectos asociados a los cambios en el tiempo y los recursos, que obtienen a raíz de la participación, y que afectan la calidad del niño.</a:t>
            </a:r>
            <a:endParaRPr lang="es-ES" sz="2500" dirty="0"/>
          </a:p>
        </p:txBody>
      </p:sp>
      <p:sp>
        <p:nvSpPr>
          <p:cNvPr id="12" name="11 Rectángulo"/>
          <p:cNvSpPr/>
          <p:nvPr/>
        </p:nvSpPr>
        <p:spPr>
          <a:xfrm>
            <a:off x="571472" y="1500174"/>
            <a:ext cx="8215370" cy="471490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68609" name="Object 1"/>
          <p:cNvGraphicFramePr>
            <a:graphicFrameLocks noChangeAspect="1"/>
          </p:cNvGraphicFramePr>
          <p:nvPr/>
        </p:nvGraphicFramePr>
        <p:xfrm>
          <a:off x="1529956" y="2071678"/>
          <a:ext cx="6256754" cy="928694"/>
        </p:xfrm>
        <a:graphic>
          <a:graphicData uri="http://schemas.openxmlformats.org/presentationml/2006/ole">
            <p:oleObj spid="_x0000_s68616" name="Documento" r:id="rId4" imgW="5397500" imgH="805033" progId="Word.Document.12">
              <p:embed/>
            </p:oleObj>
          </a:graphicData>
        </a:graphic>
      </p:graphicFrame>
      <p:sp>
        <p:nvSpPr>
          <p:cNvPr id="11" name="10 Flecha abajo"/>
          <p:cNvSpPr/>
          <p:nvPr/>
        </p:nvSpPr>
        <p:spPr>
          <a:xfrm>
            <a:off x="2411760" y="2924944"/>
            <a:ext cx="288032"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19</a:t>
            </a:fld>
            <a:endParaRPr lang="es-ES" sz="1500" dirty="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p>
          <a:p>
            <a:pPr>
              <a:buNone/>
            </a:pPr>
            <a:r>
              <a:rPr lang="es-ES_tradnl" sz="2500" dirty="0" smtClean="0"/>
              <a:t>	</a:t>
            </a:r>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000" u="sng" dirty="0" smtClean="0"/>
              <a:t>Diferencias entre la estimación estructural y la reducida</a:t>
            </a:r>
            <a:endParaRPr lang="es-AR" sz="4000" i="1" u="sng" dirty="0"/>
          </a:p>
        </p:txBody>
      </p:sp>
      <p:graphicFrame>
        <p:nvGraphicFramePr>
          <p:cNvPr id="6" name="5 Tabla"/>
          <p:cNvGraphicFramePr>
            <a:graphicFrameLocks noGrp="1"/>
          </p:cNvGraphicFramePr>
          <p:nvPr/>
        </p:nvGraphicFramePr>
        <p:xfrm>
          <a:off x="683568" y="2348880"/>
          <a:ext cx="7572428" cy="3230880"/>
        </p:xfrm>
        <a:graphic>
          <a:graphicData uri="http://schemas.openxmlformats.org/drawingml/2006/table">
            <a:tbl>
              <a:tblPr firstRow="1" bandRow="1">
                <a:tableStyleId>{5C22544A-7EE6-4342-B048-85BDC9FD1C3A}</a:tableStyleId>
              </a:tblPr>
              <a:tblGrid>
                <a:gridCol w="3786214"/>
                <a:gridCol w="3786214"/>
              </a:tblGrid>
              <a:tr h="370840">
                <a:tc>
                  <a:txBody>
                    <a:bodyPr/>
                    <a:lstStyle/>
                    <a:p>
                      <a:pPr algn="ctr"/>
                      <a:r>
                        <a:rPr lang="es-ES_tradnl" sz="2500" b="0" dirty="0" smtClean="0">
                          <a:solidFill>
                            <a:schemeClr val="tx1"/>
                          </a:solidFill>
                        </a:rPr>
                        <a:t>Estimación estructural</a:t>
                      </a:r>
                      <a:endParaRPr lang="es-ES" sz="2500" b="0" dirty="0">
                        <a:solidFill>
                          <a:schemeClr val="tx1"/>
                        </a:solidFill>
                      </a:endParaRPr>
                    </a:p>
                  </a:txBody>
                  <a:tcPr/>
                </a:tc>
                <a:tc>
                  <a:txBody>
                    <a:bodyPr/>
                    <a:lstStyle/>
                    <a:p>
                      <a:pPr algn="ctr"/>
                      <a:r>
                        <a:rPr lang="es-ES_tradnl" sz="2500" b="0" dirty="0" smtClean="0">
                          <a:solidFill>
                            <a:schemeClr val="tx1"/>
                          </a:solidFill>
                        </a:rPr>
                        <a:t>Estimación</a:t>
                      </a:r>
                      <a:r>
                        <a:rPr lang="es-ES_tradnl" sz="2500" b="0" baseline="0" dirty="0" smtClean="0">
                          <a:solidFill>
                            <a:schemeClr val="tx1"/>
                          </a:solidFill>
                        </a:rPr>
                        <a:t> reducida</a:t>
                      </a:r>
                      <a:endParaRPr lang="es-ES" sz="2500" b="0" dirty="0">
                        <a:solidFill>
                          <a:schemeClr val="tx1"/>
                        </a:solidFill>
                      </a:endParaRPr>
                    </a:p>
                  </a:txBody>
                  <a:tcPr/>
                </a:tc>
              </a:tr>
              <a:tr h="370840">
                <a:tc>
                  <a:txBody>
                    <a:bodyPr/>
                    <a:lstStyle/>
                    <a:p>
                      <a:r>
                        <a:rPr lang="es-ES_tradnl" sz="2500" dirty="0" smtClean="0"/>
                        <a:t>Permite la evaluación de experimentos de política</a:t>
                      </a:r>
                      <a:r>
                        <a:rPr lang="es-ES_tradnl" sz="2500" baseline="0" dirty="0" smtClean="0"/>
                        <a:t> contrafactual.</a:t>
                      </a:r>
                      <a:endParaRPr lang="es-ES" sz="2500" dirty="0"/>
                    </a:p>
                  </a:txBody>
                  <a:tcPr/>
                </a:tc>
                <a:tc>
                  <a:txBody>
                    <a:bodyPr/>
                    <a:lstStyle/>
                    <a:p>
                      <a:r>
                        <a:rPr lang="es-ES_tradnl" sz="2500" dirty="0" smtClean="0"/>
                        <a:t>Permite evaluar el efecto del programa como tal,</a:t>
                      </a:r>
                      <a:r>
                        <a:rPr lang="es-ES_tradnl" sz="2500" baseline="0" dirty="0" smtClean="0"/>
                        <a:t> es decir, con las características actuales de diseño. No se puede evaluar qué pasaría si se cambiara algún parámetro de la política.</a:t>
                      </a:r>
                      <a:endParaRPr lang="es-ES" sz="2500" dirty="0"/>
                    </a:p>
                  </a:txBody>
                  <a:tcPr/>
                </a:tc>
              </a:tr>
            </a:tbl>
          </a:graphicData>
        </a:graphic>
      </p:graphicFrame>
      <p:sp>
        <p:nvSpPr>
          <p:cNvPr id="7" name="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20</a:t>
            </a:fld>
            <a:endParaRPr lang="es-ES" sz="1500" dirty="0">
              <a:solidFill>
                <a:schemeClr val="tx1">
                  <a:lumMod val="50000"/>
                  <a:lumOff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258204" cy="4500594"/>
          </a:xfrm>
          <a:ln w="28575">
            <a:solidFill>
              <a:schemeClr val="accent1">
                <a:lumMod val="75000"/>
              </a:schemeClr>
            </a:solidFill>
          </a:ln>
        </p:spPr>
        <p:txBody>
          <a:bodyPr>
            <a:normAutofit/>
          </a:bodyPr>
          <a:lstStyle/>
          <a:p>
            <a:pPr>
              <a:buNone/>
            </a:pPr>
            <a:r>
              <a:rPr lang="es-ES_tradnl" sz="2500" dirty="0" smtClean="0"/>
              <a:t>	Podríamos estudiar:</a:t>
            </a:r>
          </a:p>
          <a:p>
            <a:pPr>
              <a:buNone/>
            </a:pPr>
            <a:r>
              <a:rPr lang="es-ES_tradnl" sz="2500" dirty="0" smtClean="0"/>
              <a:t>	El efecto del programa en caso de que se entregara una cantidad de </a:t>
            </a:r>
            <a:r>
              <a:rPr lang="es-ES_tradnl" sz="2500" u="sng" dirty="0" smtClean="0"/>
              <a:t>dinero equivalente al mercado</a:t>
            </a:r>
            <a:r>
              <a:rPr lang="es-ES_tradnl" sz="2500" dirty="0" smtClean="0"/>
              <a:t>.</a:t>
            </a:r>
          </a:p>
          <a:p>
            <a:pPr algn="just">
              <a:buNone/>
            </a:pPr>
            <a:endParaRPr lang="es-ES_tradnl" sz="2500" dirty="0" smtClean="0"/>
          </a:p>
          <a:p>
            <a:pPr algn="just">
              <a:buNone/>
            </a:pPr>
            <a:endParaRPr lang="es-ES_tradnl" sz="2500" dirty="0" smtClean="0"/>
          </a:p>
          <a:p>
            <a:pPr algn="just">
              <a:buNone/>
            </a:pPr>
            <a:endParaRPr lang="es-ES_tradnl" sz="2500" dirty="0" smtClean="0"/>
          </a:p>
          <a:p>
            <a:pPr algn="just">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Ejemplo: </a:t>
            </a:r>
            <a:r>
              <a:rPr lang="es-AR" sz="4200" i="1" u="sng" dirty="0" smtClean="0"/>
              <a:t>Canasta</a:t>
            </a:r>
            <a:endParaRPr lang="es-AR" sz="4200" i="1" u="sng" dirty="0"/>
          </a:p>
        </p:txBody>
      </p:sp>
      <p:sp>
        <p:nvSpPr>
          <p:cNvPr id="378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789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0" name="9 Conector recto de flecha"/>
          <p:cNvCxnSpPr/>
          <p:nvPr/>
        </p:nvCxnSpPr>
        <p:spPr>
          <a:xfrm rot="5400000" flipH="1" flipV="1">
            <a:off x="7179487" y="5536421"/>
            <a:ext cx="214314"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4067944" y="5733256"/>
            <a:ext cx="4683718" cy="477054"/>
          </a:xfrm>
          <a:prstGeom prst="rect">
            <a:avLst/>
          </a:prstGeom>
          <a:noFill/>
        </p:spPr>
        <p:txBody>
          <a:bodyPr wrap="none" rtlCol="0">
            <a:spAutoFit/>
          </a:bodyPr>
          <a:lstStyle/>
          <a:p>
            <a:r>
              <a:rPr lang="es-ES_tradnl" sz="2500" dirty="0" smtClean="0"/>
              <a:t>Valoración monetaria del mercado</a:t>
            </a:r>
            <a:endParaRPr lang="es-ES" sz="2500" dirty="0"/>
          </a:p>
        </p:txBody>
      </p:sp>
      <p:sp>
        <p:nvSpPr>
          <p:cNvPr id="3789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7894" name="Rectangle 6"/>
          <p:cNvSpPr>
            <a:spLocks noChangeArrowheads="1"/>
          </p:cNvSpPr>
          <p:nvPr/>
        </p:nvSpPr>
        <p:spPr bwMode="auto">
          <a:xfrm>
            <a:off x="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4" name="13 CuadroTexto"/>
          <p:cNvSpPr txBox="1"/>
          <p:nvPr/>
        </p:nvSpPr>
        <p:spPr>
          <a:xfrm>
            <a:off x="857224" y="4357694"/>
            <a:ext cx="4259371" cy="477054"/>
          </a:xfrm>
          <a:prstGeom prst="rect">
            <a:avLst/>
          </a:prstGeom>
          <a:noFill/>
        </p:spPr>
        <p:txBody>
          <a:bodyPr wrap="none" rtlCol="0">
            <a:spAutoFit/>
          </a:bodyPr>
          <a:lstStyle/>
          <a:p>
            <a:r>
              <a:rPr lang="es-ES_tradnl" sz="2500" dirty="0" smtClean="0"/>
              <a:t>Nueva restricción presupuestal</a:t>
            </a:r>
            <a:r>
              <a:rPr lang="es-ES_tradnl" dirty="0" smtClean="0"/>
              <a:t>.</a:t>
            </a:r>
            <a:endParaRPr lang="es-ES" dirty="0"/>
          </a:p>
        </p:txBody>
      </p:sp>
      <p:graphicFrame>
        <p:nvGraphicFramePr>
          <p:cNvPr id="66561" name="Object 1"/>
          <p:cNvGraphicFramePr>
            <a:graphicFrameLocks noChangeAspect="1"/>
          </p:cNvGraphicFramePr>
          <p:nvPr/>
        </p:nvGraphicFramePr>
        <p:xfrm>
          <a:off x="1214438" y="2857496"/>
          <a:ext cx="6364287" cy="1357313"/>
        </p:xfrm>
        <a:graphic>
          <a:graphicData uri="http://schemas.openxmlformats.org/presentationml/2006/ole">
            <p:oleObj spid="_x0000_s66575" name="Documento" r:id="rId4" imgW="5397500" imgH="1342923" progId="Word.Document.12">
              <p:embed/>
            </p:oleObj>
          </a:graphicData>
        </a:graphic>
      </p:graphicFrame>
      <p:graphicFrame>
        <p:nvGraphicFramePr>
          <p:cNvPr id="66562" name="Object 2"/>
          <p:cNvGraphicFramePr>
            <a:graphicFrameLocks noChangeAspect="1"/>
          </p:cNvGraphicFramePr>
          <p:nvPr/>
        </p:nvGraphicFramePr>
        <p:xfrm>
          <a:off x="981098" y="5062260"/>
          <a:ext cx="7019926" cy="652756"/>
        </p:xfrm>
        <a:graphic>
          <a:graphicData uri="http://schemas.openxmlformats.org/presentationml/2006/ole">
            <p:oleObj spid="_x0000_s66576" name="Documento" r:id="rId5" imgW="5397500" imgH="504362" progId="Word.Document.12">
              <p:embed/>
            </p:oleObj>
          </a:graphicData>
        </a:graphic>
      </p:graphicFrame>
      <p:sp>
        <p:nvSpPr>
          <p:cNvPr id="16" name="1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21</a:t>
            </a:fld>
            <a:endParaRPr lang="es-ES" sz="1500" dirty="0">
              <a:solidFill>
                <a:schemeClr val="tx1">
                  <a:lumMod val="50000"/>
                  <a:lumOff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67333"/>
            <a:ext cx="8229600" cy="4525963"/>
          </a:xfrm>
          <a:ln w="28575">
            <a:solidFill>
              <a:schemeClr val="accent1">
                <a:lumMod val="75000"/>
              </a:schemeClr>
            </a:solidFill>
          </a:ln>
        </p:spPr>
        <p:txBody>
          <a:bodyPr>
            <a:normAutofit lnSpcReduction="10000"/>
          </a:bodyPr>
          <a:lstStyle/>
          <a:p>
            <a:pPr>
              <a:buNone/>
            </a:pPr>
            <a:r>
              <a:rPr lang="es-ES_tradnl" sz="2500" dirty="0" smtClean="0"/>
              <a:t>	Con respecto a la función de producción </a:t>
            </a:r>
            <a:r>
              <a:rPr lang="es-ES_tradnl" sz="2500" i="1" dirty="0" smtClean="0"/>
              <a:t>q</a:t>
            </a:r>
            <a:endParaRPr lang="es-ES_tradnl" sz="2500" dirty="0" smtClean="0"/>
          </a:p>
          <a:p>
            <a:pPr>
              <a:lnSpc>
                <a:spcPts val="200"/>
              </a:lnSpc>
              <a:buNone/>
            </a:pPr>
            <a:r>
              <a:rPr lang="es-ES_tradnl" sz="2500" i="1" dirty="0" smtClean="0"/>
              <a:t>	</a:t>
            </a:r>
          </a:p>
          <a:p>
            <a:pPr marL="457200" indent="-457200" defTabSz="896938">
              <a:buNone/>
            </a:pPr>
            <a:r>
              <a:rPr lang="es-ES_tradnl" sz="2500" i="1" dirty="0" smtClean="0"/>
              <a:t>      </a:t>
            </a:r>
            <a:r>
              <a:rPr lang="es-ES_tradnl" sz="2500" dirty="0" smtClean="0"/>
              <a:t>Ya no depende de </a:t>
            </a:r>
            <a:r>
              <a:rPr lang="es-ES_tradnl" sz="2500" i="1" dirty="0" smtClean="0"/>
              <a:t>D </a:t>
            </a:r>
            <a:r>
              <a:rPr lang="es-ES_tradnl" sz="2500" dirty="0" smtClean="0"/>
              <a:t>porque el efecto ahora vendrá a través  del cambio en consumo del niño </a:t>
            </a:r>
            <a:r>
              <a:rPr lang="es-ES_tradnl" sz="2500" i="1" dirty="0" smtClean="0">
                <a:latin typeface="Times New Roman" pitchFamily="18" charset="0"/>
                <a:cs typeface="Times New Roman" pitchFamily="18" charset="0"/>
              </a:rPr>
              <a:t>C</a:t>
            </a:r>
            <a:r>
              <a:rPr lang="es-ES_tradnl" sz="2500" i="1" baseline="-25000" dirty="0" smtClean="0">
                <a:latin typeface="Times New Roman" pitchFamily="18" charset="0"/>
                <a:cs typeface="Times New Roman" pitchFamily="18" charset="0"/>
              </a:rPr>
              <a:t>n</a:t>
            </a:r>
            <a:r>
              <a:rPr lang="es-ES_tradnl" sz="2500" i="1" dirty="0" smtClean="0"/>
              <a:t> </a:t>
            </a:r>
            <a:r>
              <a:rPr lang="es-ES_tradnl" sz="2500" dirty="0" smtClean="0"/>
              <a:t>y del tiempo de la mamá </a:t>
            </a:r>
            <a:r>
              <a:rPr lang="es-ES_tradnl" sz="2500" i="1" dirty="0" smtClean="0">
                <a:latin typeface="Times New Roman" pitchFamily="18" charset="0"/>
                <a:cs typeface="Times New Roman" pitchFamily="18" charset="0"/>
              </a:rPr>
              <a:t>T</a:t>
            </a:r>
            <a:r>
              <a:rPr lang="es-ES_tradnl" sz="2500" dirty="0" smtClean="0"/>
              <a:t>, que resulten del dinero en efectivo que recibió la madre</a:t>
            </a:r>
            <a:r>
              <a:rPr lang="es-ES_tradnl" sz="2500" i="1" dirty="0" smtClean="0"/>
              <a:t>:</a:t>
            </a:r>
          </a:p>
          <a:p>
            <a:pPr>
              <a:buNone/>
            </a:pPr>
            <a:endParaRPr lang="es-ES_tradnl" sz="2500" i="1" dirty="0" smtClean="0"/>
          </a:p>
          <a:p>
            <a:pPr>
              <a:buNone/>
            </a:pPr>
            <a:r>
              <a:rPr lang="es-ES_tradnl" sz="2500" i="1" dirty="0" smtClean="0"/>
              <a:t>	</a:t>
            </a:r>
            <a:endParaRPr lang="es-ES_tradnl" sz="2500" dirty="0" smtClean="0"/>
          </a:p>
          <a:p>
            <a:pPr>
              <a:buNone/>
            </a:pPr>
            <a:r>
              <a:rPr lang="es-ES_tradnl" sz="2500" i="1" dirty="0" smtClean="0"/>
              <a:t>	</a:t>
            </a:r>
            <a:r>
              <a:rPr lang="es-ES_tradnl" sz="2500" dirty="0" smtClean="0"/>
              <a:t>El efecto del programa estaría dado por:</a:t>
            </a:r>
          </a:p>
          <a:p>
            <a:pPr>
              <a:lnSpc>
                <a:spcPts val="200"/>
              </a:lnSpc>
              <a:buNone/>
            </a:pPr>
            <a:r>
              <a:rPr lang="es-ES_tradnl" sz="2500" i="1" dirty="0" smtClean="0"/>
              <a:t>	</a:t>
            </a:r>
          </a:p>
          <a:p>
            <a:pPr>
              <a:buNone/>
            </a:pPr>
            <a:r>
              <a:rPr lang="es-ES_tradnl" sz="2500" i="1" dirty="0" smtClean="0"/>
              <a:t>	</a:t>
            </a:r>
            <a:r>
              <a:rPr lang="es-ES_tradnl" sz="2500" dirty="0" smtClean="0"/>
              <a:t>1. 	Un aumento en el consumo del niño.</a:t>
            </a:r>
          </a:p>
          <a:p>
            <a:pPr>
              <a:buNone/>
            </a:pPr>
            <a:r>
              <a:rPr lang="es-ES_tradnl" sz="2500" i="1" dirty="0" smtClean="0"/>
              <a:t>	</a:t>
            </a:r>
            <a:r>
              <a:rPr lang="es-ES_tradnl" sz="2500" dirty="0" smtClean="0"/>
              <a:t>2. 	Un aumento en el tiempo que la madre dedica al niño, 	dado que el ingreso del hogar se incrementa.</a:t>
            </a:r>
            <a:endParaRPr lang="es-ES" sz="2500" i="1"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Ejemplo: </a:t>
            </a:r>
            <a:r>
              <a:rPr lang="es-AR" sz="4200" i="1" u="sng" dirty="0" smtClean="0"/>
              <a:t>Canasta</a:t>
            </a:r>
            <a:endParaRPr lang="es-AR" sz="4200" i="1" u="sng" dirty="0"/>
          </a:p>
        </p:txBody>
      </p:sp>
      <p:graphicFrame>
        <p:nvGraphicFramePr>
          <p:cNvPr id="65537" name="Object 1"/>
          <p:cNvGraphicFramePr>
            <a:graphicFrameLocks noChangeAspect="1"/>
          </p:cNvGraphicFramePr>
          <p:nvPr/>
        </p:nvGraphicFramePr>
        <p:xfrm>
          <a:off x="971600" y="3501008"/>
          <a:ext cx="7681795" cy="714380"/>
        </p:xfrm>
        <a:graphic>
          <a:graphicData uri="http://schemas.openxmlformats.org/presentationml/2006/ole">
            <p:oleObj spid="_x0000_s65544" name="Documento" r:id="rId4" imgW="5397500" imgH="504362" progId="Word.Document.12">
              <p:embed/>
            </p:oleObj>
          </a:graphicData>
        </a:graphic>
      </p:graphicFrame>
      <p:sp>
        <p:nvSpPr>
          <p:cNvPr id="7" name="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22</a:t>
            </a:fld>
            <a:endParaRPr lang="es-ES" sz="1500" dirty="0">
              <a:solidFill>
                <a:schemeClr val="tx1">
                  <a:lumMod val="50000"/>
                  <a:lumOff val="5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r>
              <a:rPr lang="es-ES_tradnl" sz="2500" u="sng" dirty="0" smtClean="0"/>
              <a:t>Estimación por el método de máxima verosimilitud:</a:t>
            </a:r>
          </a:p>
          <a:p>
            <a:pPr>
              <a:buNone/>
            </a:pPr>
            <a:r>
              <a:rPr lang="es-ES_tradnl" sz="2500" dirty="0" smtClean="0"/>
              <a:t>	Se usa cuando se disponen de datos individuales, en cuyo caso esta es la manera más eficiente de utilizar la información.  Por ej.: caso sencillo:</a:t>
            </a:r>
          </a:p>
          <a:p>
            <a:pPr>
              <a:buNone/>
            </a:pPr>
            <a:r>
              <a:rPr lang="es-ES_tradnl" sz="2500" dirty="0" smtClean="0"/>
              <a:t>	</a:t>
            </a:r>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Métodos de estimación</a:t>
            </a:r>
            <a:endParaRPr lang="es-AR" sz="4200" i="1" u="sng" dirty="0"/>
          </a:p>
        </p:txBody>
      </p:sp>
      <p:sp>
        <p:nvSpPr>
          <p:cNvPr id="7" name="6 CuadroTexto"/>
          <p:cNvSpPr txBox="1"/>
          <p:nvPr/>
        </p:nvSpPr>
        <p:spPr>
          <a:xfrm>
            <a:off x="3645625" y="3929066"/>
            <a:ext cx="1321131" cy="477054"/>
          </a:xfrm>
          <a:prstGeom prst="rect">
            <a:avLst/>
          </a:prstGeom>
          <a:noFill/>
        </p:spPr>
        <p:txBody>
          <a:bodyPr wrap="none" rtlCol="0">
            <a:spAutoFit/>
          </a:bodyPr>
          <a:lstStyle/>
          <a:p>
            <a:r>
              <a:rPr lang="es-ES_tradnl" sz="2500" dirty="0" smtClean="0"/>
              <a:t>Sujeto a:</a:t>
            </a:r>
            <a:endParaRPr lang="es-ES" sz="2500" dirty="0"/>
          </a:p>
        </p:txBody>
      </p:sp>
      <p:sp>
        <p:nvSpPr>
          <p:cNvPr id="399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9939"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1" name="10 CuadroTexto"/>
          <p:cNvSpPr txBox="1"/>
          <p:nvPr/>
        </p:nvSpPr>
        <p:spPr>
          <a:xfrm>
            <a:off x="785786" y="5214950"/>
            <a:ext cx="7786742" cy="861774"/>
          </a:xfrm>
          <a:prstGeom prst="rect">
            <a:avLst/>
          </a:prstGeom>
          <a:noFill/>
        </p:spPr>
        <p:txBody>
          <a:bodyPr wrap="square" rtlCol="0">
            <a:spAutoFit/>
          </a:bodyPr>
          <a:lstStyle/>
          <a:p>
            <a:pPr algn="ctr"/>
            <a:r>
              <a:rPr lang="es-ES_tradnl" sz="2500" dirty="0" smtClean="0"/>
              <a:t>En este caso el individuo decide si participar o no en el programa, </a:t>
            </a:r>
            <a:r>
              <a:rPr lang="es-ES_tradnl" sz="2500" i="1" dirty="0" smtClean="0"/>
              <a:t>D</a:t>
            </a:r>
            <a:r>
              <a:rPr lang="es-ES_tradnl" sz="2500" dirty="0" smtClean="0"/>
              <a:t>,  para maximizar su</a:t>
            </a:r>
            <a:r>
              <a:rPr lang="es-ES" sz="2500" dirty="0" smtClean="0"/>
              <a:t> función de utilidad.</a:t>
            </a:r>
            <a:endParaRPr lang="es-ES_tradnl" sz="2500" dirty="0" smtClean="0"/>
          </a:p>
        </p:txBody>
      </p:sp>
      <p:sp>
        <p:nvSpPr>
          <p:cNvPr id="3994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9942" name="Rectangle 6"/>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64513" name="Object 1"/>
          <p:cNvGraphicFramePr>
            <a:graphicFrameLocks noChangeAspect="1"/>
          </p:cNvGraphicFramePr>
          <p:nvPr/>
        </p:nvGraphicFramePr>
        <p:xfrm>
          <a:off x="899592" y="2708920"/>
          <a:ext cx="6808407" cy="1423993"/>
        </p:xfrm>
        <a:graphic>
          <a:graphicData uri="http://schemas.openxmlformats.org/presentationml/2006/ole">
            <p:oleObj spid="_x0000_s64527" name="Documento" r:id="rId4" imgW="5397500" imgH="1133823" progId="Word.Document.12">
              <p:embed/>
            </p:oleObj>
          </a:graphicData>
        </a:graphic>
      </p:graphicFrame>
      <p:graphicFrame>
        <p:nvGraphicFramePr>
          <p:cNvPr id="64514" name="Object 2"/>
          <p:cNvGraphicFramePr>
            <a:graphicFrameLocks noChangeAspect="1"/>
          </p:cNvGraphicFramePr>
          <p:nvPr/>
        </p:nvGraphicFramePr>
        <p:xfrm>
          <a:off x="785786" y="4497399"/>
          <a:ext cx="6948269" cy="646113"/>
        </p:xfrm>
        <a:graphic>
          <a:graphicData uri="http://schemas.openxmlformats.org/presentationml/2006/ole">
            <p:oleObj spid="_x0000_s64528" name="Documento" r:id="rId5" imgW="5397500" imgH="504362" progId="Word.Document.12">
              <p:embed/>
            </p:oleObj>
          </a:graphicData>
        </a:graphic>
      </p:graphicFrame>
      <p:sp>
        <p:nvSpPr>
          <p:cNvPr id="15" name="14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23</a:t>
            </a:fld>
            <a:endParaRPr lang="es-ES" sz="1500" dirty="0">
              <a:solidFill>
                <a:schemeClr val="tx1">
                  <a:lumMod val="50000"/>
                  <a:lumOff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2 Marcador de contenido"/>
              <p:cNvSpPr>
                <a:spLocks noGrp="1"/>
              </p:cNvSpPr>
              <p:nvPr>
                <p:ph idx="1"/>
              </p:nvPr>
            </p:nvSpPr>
            <p:spPr>
              <a:xfrm>
                <a:off x="457200" y="1785926"/>
                <a:ext cx="8229600" cy="4340237"/>
              </a:xfrm>
            </p:spPr>
            <p:txBody>
              <a:bodyPr>
                <a:normAutofit/>
              </a:bodyPr>
              <a:lstStyle/>
              <a:p>
                <a:pPr>
                  <a:buNone/>
                </a:pPr>
                <a:r>
                  <a:rPr lang="es-ES_tradnl" sz="2500" dirty="0" smtClean="0"/>
                  <a:t>	Donde:</a:t>
                </a:r>
              </a:p>
              <a:p>
                <a:pPr>
                  <a:buNone/>
                </a:pPr>
                <a:r>
                  <a:rPr lang="es-ES_tradnl" sz="2500" dirty="0" smtClean="0"/>
                  <a:t>	</a:t>
                </a:r>
                <a:r>
                  <a:rPr lang="es-ES_tradnl" sz="2500" i="1" dirty="0" smtClean="0"/>
                  <a:t>D	</a:t>
                </a:r>
                <a:r>
                  <a:rPr lang="es-ES_tradnl" sz="2500" dirty="0" smtClean="0"/>
                  <a:t> Indicador de participación en el programa.</a:t>
                </a:r>
              </a:p>
              <a:p>
                <a:pPr>
                  <a:buNone/>
                </a:pPr>
                <a:r>
                  <a:rPr lang="es-ES_tradnl" sz="2500" dirty="0" smtClean="0"/>
                  <a:t>	</a:t>
                </a:r>
                <a:r>
                  <a:rPr lang="es-ES_tradnl" sz="2500" i="1" dirty="0" smtClean="0"/>
                  <a:t>X</a:t>
                </a:r>
                <a:r>
                  <a:rPr lang="es-ES_tradnl" sz="2500" dirty="0" smtClean="0"/>
                  <a:t>	 Vector de características observadas.</a:t>
                </a:r>
              </a:p>
              <a:p>
                <a:pPr>
                  <a:buNone/>
                </a:pPr>
                <a:r>
                  <a:rPr lang="es-ES_tradnl" sz="2500" i="1" dirty="0" smtClean="0"/>
                  <a:t>	Y	 </a:t>
                </a:r>
                <a:r>
                  <a:rPr lang="es-ES_tradnl" sz="2500" dirty="0" smtClean="0"/>
                  <a:t>Variable de resultado.</a:t>
                </a:r>
              </a:p>
              <a:p>
                <a:pPr>
                  <a:buNone/>
                </a:pPr>
                <a:r>
                  <a:rPr lang="es-ES_tradnl" sz="2500" dirty="0" smtClean="0"/>
                  <a:t>	</a:t>
                </a:r>
                <a14:m>
                  <m:oMath xmlns:m="http://schemas.openxmlformats.org/officeDocument/2006/math">
                    <m:r>
                      <a:rPr lang="es-CO" sz="2800" i="1">
                        <a:latin typeface="Cambria Math"/>
                      </a:rPr>
                      <m:t>𝜀</m:t>
                    </m:r>
                    <m:r>
                      <a:rPr lang="es-CO" sz="2800" i="1">
                        <a:latin typeface="Cambria Math"/>
                      </a:rPr>
                      <m:t> </m:t>
                    </m:r>
                  </m:oMath>
                </a14:m>
                <a:r>
                  <a:rPr lang="es-ES_tradnl" sz="2500" dirty="0" smtClean="0"/>
                  <a:t>	 Término aleatorio no observado.</a:t>
                </a:r>
              </a:p>
              <a:p>
                <a:pPr>
                  <a:buNone/>
                </a:pPr>
                <a:r>
                  <a:rPr lang="es-ES_tradnl" sz="2500" dirty="0" smtClean="0"/>
                  <a:t>	</a:t>
                </a:r>
                <a:r>
                  <a:rPr lang="el-GR" sz="2500" dirty="0" smtClean="0"/>
                  <a:t>β</a:t>
                </a:r>
                <a:r>
                  <a:rPr lang="es-ES_tradnl" sz="2500" dirty="0" smtClean="0"/>
                  <a:t>	 Vector de parámetros de preferencias.</a:t>
                </a:r>
              </a:p>
              <a:p>
                <a:pPr>
                  <a:buNone/>
                </a:pPr>
                <a:r>
                  <a:rPr lang="es-ES_tradnl" sz="2500" dirty="0" smtClean="0"/>
                  <a:t>	</a:t>
                </a:r>
                <a:r>
                  <a:rPr lang="el-GR" sz="2500" dirty="0"/>
                  <a:t>α</a:t>
                </a:r>
                <a:r>
                  <a:rPr lang="es-ES_tradnl" sz="2500" dirty="0" smtClean="0"/>
                  <a:t>	 Vector de parámetros de la función de producción.</a:t>
                </a:r>
              </a:p>
              <a:p>
                <a:pPr>
                  <a:buNone/>
                </a:pPr>
                <a:r>
                  <a:rPr lang="es-ES_tradnl" sz="2500" dirty="0" smtClean="0"/>
                  <a:t>	</a:t>
                </a:r>
              </a:p>
              <a:p>
                <a:pPr>
                  <a:buNone/>
                </a:pPr>
                <a:r>
                  <a:rPr lang="es-ES_tradnl" sz="2500" i="1" dirty="0" smtClean="0"/>
                  <a:t>	</a:t>
                </a:r>
                <a:endParaRPr lang="es-ES" sz="2500" i="1" dirty="0"/>
              </a:p>
            </p:txBody>
          </p:sp>
        </mc:Choice>
        <mc:Fallback>
          <p:sp>
            <p:nvSpPr>
              <p:cNvPr id="3" name="2 Marcador de contenido"/>
              <p:cNvSpPr>
                <a:spLocks noGrp="1" noRot="1" noChangeAspect="1" noMove="1" noResize="1" noEditPoints="1" noAdjustHandles="1" noChangeArrowheads="1" noChangeShapeType="1" noTextEdit="1"/>
              </p:cNvSpPr>
              <p:nvPr>
                <p:ph idx="1"/>
              </p:nvPr>
            </p:nvSpPr>
            <p:spPr>
              <a:xfrm>
                <a:off x="457200" y="1785926"/>
                <a:ext cx="8229600" cy="4340237"/>
              </a:xfrm>
              <a:blipFill rotWithShape="1">
                <a:blip r:embed="rId2" cstate="print"/>
                <a:stretch>
                  <a:fillRect t="-983"/>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Métodos de estimación</a:t>
            </a:r>
            <a:endParaRPr lang="es-AR" sz="4200" i="1" u="sng" dirty="0"/>
          </a:p>
        </p:txBody>
      </p:sp>
      <p:sp>
        <p:nvSpPr>
          <p:cNvPr id="419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198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0" name="9 Conector recto de flecha"/>
          <p:cNvCxnSpPr/>
          <p:nvPr/>
        </p:nvCxnSpPr>
        <p:spPr>
          <a:xfrm>
            <a:off x="1142976" y="249871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1142976" y="292893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1142976" y="342741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a:off x="1142976" y="385604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1142976" y="4284668"/>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99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7" name="16 Conector recto de flecha"/>
          <p:cNvCxnSpPr/>
          <p:nvPr/>
        </p:nvCxnSpPr>
        <p:spPr>
          <a:xfrm>
            <a:off x="1142976" y="478473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99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 name="19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24</a:t>
            </a:fld>
            <a:endParaRPr lang="es-ES" sz="1500" dirty="0">
              <a:solidFill>
                <a:schemeClr val="tx1">
                  <a:lumMod val="50000"/>
                  <a:lumOff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700808"/>
            <a:ext cx="8496944" cy="4464496"/>
          </a:xfrm>
        </p:spPr>
        <p:txBody>
          <a:bodyPr>
            <a:normAutofit fontScale="92500" lnSpcReduction="10000"/>
          </a:bodyPr>
          <a:lstStyle/>
          <a:p>
            <a:pPr>
              <a:buNone/>
            </a:pPr>
            <a:r>
              <a:rPr lang="es-ES_tradnl" sz="2500" dirty="0" smtClean="0"/>
              <a:t>	La información disponible es:</a:t>
            </a:r>
          </a:p>
          <a:p>
            <a:pPr>
              <a:buNone/>
            </a:pPr>
            <a:endParaRPr lang="es-ES_tradnl" sz="2500" dirty="0" smtClean="0"/>
          </a:p>
          <a:p>
            <a:pPr>
              <a:buNone/>
            </a:pPr>
            <a:endParaRPr lang="es-ES_tradnl" sz="2500" dirty="0" smtClean="0"/>
          </a:p>
          <a:p>
            <a:pPr>
              <a:buNone/>
            </a:pPr>
            <a:r>
              <a:rPr lang="es-ES_tradnl" sz="2500" dirty="0" smtClean="0"/>
              <a:t>	Es decir, para cada individuo </a:t>
            </a:r>
            <a:r>
              <a:rPr lang="es-ES_tradnl" sz="2500" i="1" dirty="0" smtClean="0">
                <a:latin typeface="Times New Roman" pitchFamily="18" charset="0"/>
                <a:cs typeface="Times New Roman" pitchFamily="18" charset="0"/>
              </a:rPr>
              <a:t>i</a:t>
            </a:r>
            <a:r>
              <a:rPr lang="es-ES_tradnl" sz="2500" dirty="0" smtClean="0"/>
              <a:t> se observan: (1) su decisión de participación, (2) su variable de resultado y (3) una serie de características observadas X.</a:t>
            </a:r>
          </a:p>
          <a:p>
            <a:pPr>
              <a:buNone/>
            </a:pPr>
            <a:endParaRPr lang="es-ES_tradnl" sz="2500" dirty="0" smtClean="0"/>
          </a:p>
          <a:p>
            <a:pPr>
              <a:buNone/>
            </a:pPr>
            <a:r>
              <a:rPr lang="es-ES_tradnl" sz="2500" dirty="0" smtClean="0"/>
              <a:t>	Vector de los parámetros que se van a estimar:</a:t>
            </a:r>
          </a:p>
          <a:p>
            <a:pPr>
              <a:buNone/>
            </a:pPr>
            <a:endParaRPr lang="es-ES_tradnl" sz="2500" dirty="0" smtClean="0"/>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Métodos de estimación</a:t>
            </a:r>
            <a:endParaRPr lang="es-AR" sz="4200" i="1" u="sng" dirty="0"/>
          </a:p>
        </p:txBody>
      </p:sp>
      <p:sp>
        <p:nvSpPr>
          <p:cNvPr id="4403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4035" name="Rectangle 3"/>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403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4039"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4040"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404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4044" name="Rectangle 1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4045" name="Rectangle 13"/>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62465" name="Object 1"/>
          <p:cNvGraphicFramePr>
            <a:graphicFrameLocks noChangeAspect="1"/>
          </p:cNvGraphicFramePr>
          <p:nvPr/>
        </p:nvGraphicFramePr>
        <p:xfrm>
          <a:off x="827584" y="2204864"/>
          <a:ext cx="7357459" cy="714380"/>
        </p:xfrm>
        <a:graphic>
          <a:graphicData uri="http://schemas.openxmlformats.org/presentationml/2006/ole">
            <p:oleObj spid="_x0000_s62479" name="Documento" r:id="rId4" imgW="5397500" imgH="526714" progId="Word.Document.12">
              <p:embed/>
            </p:oleObj>
          </a:graphicData>
        </a:graphic>
      </p:graphicFrame>
      <p:graphicFrame>
        <p:nvGraphicFramePr>
          <p:cNvPr id="62466" name="Object 2"/>
          <p:cNvGraphicFramePr>
            <a:graphicFrameLocks noChangeAspect="1"/>
          </p:cNvGraphicFramePr>
          <p:nvPr/>
        </p:nvGraphicFramePr>
        <p:xfrm>
          <a:off x="785786" y="4786322"/>
          <a:ext cx="6914173" cy="642942"/>
        </p:xfrm>
        <a:graphic>
          <a:graphicData uri="http://schemas.openxmlformats.org/presentationml/2006/ole">
            <p:oleObj spid="_x0000_s62480" name="Documento" r:id="rId5" imgW="5397500" imgH="504362" progId="Word.Document.12">
              <p:embed/>
            </p:oleObj>
          </a:graphicData>
        </a:graphic>
      </p:graphicFrame>
      <p:sp>
        <p:nvSpPr>
          <p:cNvPr id="17" name="1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25</a:t>
            </a:fld>
            <a:endParaRPr lang="es-ES" sz="1500" dirty="0">
              <a:solidFill>
                <a:schemeClr val="tx1">
                  <a:lumMod val="50000"/>
                  <a:lumOff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4"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Máxima verosimilitud</a:t>
            </a:r>
            <a:endParaRPr lang="es-AR" sz="4200" i="1" u="sng" dirty="0"/>
          </a:p>
        </p:txBody>
      </p:sp>
      <p:sp>
        <p:nvSpPr>
          <p:cNvPr id="450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59"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6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2" name="Rectangle 6"/>
          <p:cNvSpPr>
            <a:spLocks noChangeArrowheads="1"/>
          </p:cNvSpPr>
          <p:nvPr/>
        </p:nvSpPr>
        <p:spPr bwMode="auto">
          <a:xfrm>
            <a:off x="0" y="1000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6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5" name="Rectangle 9"/>
          <p:cNvSpPr>
            <a:spLocks noChangeArrowheads="1"/>
          </p:cNvSpPr>
          <p:nvPr/>
        </p:nvSpPr>
        <p:spPr bwMode="auto">
          <a:xfrm>
            <a:off x="0" y="1247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67"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8" name="Rectangle 12"/>
          <p:cNvSpPr>
            <a:spLocks noChangeArrowheads="1"/>
          </p:cNvSpPr>
          <p:nvPr/>
        </p:nvSpPr>
        <p:spPr bwMode="auto">
          <a:xfrm>
            <a:off x="0" y="1247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70"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71" name="Rectangle 1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5073"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45072" name="Picture 16"/>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4929190" y="2786058"/>
            <a:ext cx="142876" cy="714380"/>
          </a:xfrm>
          <a:prstGeom prst="rect">
            <a:avLst/>
          </a:prstGeom>
          <a:noFill/>
        </p:spPr>
      </p:pic>
      <p:cxnSp>
        <p:nvCxnSpPr>
          <p:cNvPr id="25" name="24 Conector recto de flecha"/>
          <p:cNvCxnSpPr/>
          <p:nvPr/>
        </p:nvCxnSpPr>
        <p:spPr>
          <a:xfrm rot="5400000">
            <a:off x="964381" y="3607595"/>
            <a:ext cx="1000132" cy="7858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500034" y="4500570"/>
            <a:ext cx="3500461" cy="1154162"/>
          </a:xfrm>
          <a:prstGeom prst="rect">
            <a:avLst/>
          </a:prstGeom>
          <a:noFill/>
          <a:ln>
            <a:solidFill>
              <a:schemeClr val="accent1">
                <a:lumMod val="60000"/>
                <a:lumOff val="40000"/>
              </a:schemeClr>
            </a:solidFill>
          </a:ln>
        </p:spPr>
        <p:txBody>
          <a:bodyPr wrap="square" rtlCol="0">
            <a:spAutoFit/>
          </a:bodyPr>
          <a:lstStyle/>
          <a:p>
            <a:r>
              <a:rPr lang="es-ES_tradnl" sz="2300" dirty="0" smtClean="0"/>
              <a:t>Probabilidad de participar si es beneficiario del programa.</a:t>
            </a:r>
            <a:endParaRPr lang="es-ES" sz="2300" dirty="0"/>
          </a:p>
        </p:txBody>
      </p:sp>
      <p:cxnSp>
        <p:nvCxnSpPr>
          <p:cNvPr id="29" name="28 Conector recto de flecha"/>
          <p:cNvCxnSpPr/>
          <p:nvPr/>
        </p:nvCxnSpPr>
        <p:spPr>
          <a:xfrm>
            <a:off x="4572000" y="4214818"/>
            <a:ext cx="500066"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4643438" y="4560854"/>
            <a:ext cx="3500461" cy="1154162"/>
          </a:xfrm>
          <a:prstGeom prst="rect">
            <a:avLst/>
          </a:prstGeom>
          <a:noFill/>
          <a:ln>
            <a:solidFill>
              <a:schemeClr val="accent1">
                <a:lumMod val="60000"/>
                <a:lumOff val="40000"/>
              </a:schemeClr>
            </a:solidFill>
          </a:ln>
        </p:spPr>
        <p:txBody>
          <a:bodyPr wrap="square" rtlCol="0">
            <a:spAutoFit/>
          </a:bodyPr>
          <a:lstStyle/>
          <a:p>
            <a:r>
              <a:rPr lang="es-ES_tradnl" sz="2300" dirty="0" smtClean="0"/>
              <a:t>Probabilidad de no participar si no es beneficiario del programa.</a:t>
            </a:r>
            <a:endParaRPr lang="es-ES" sz="2300" dirty="0"/>
          </a:p>
        </p:txBody>
      </p:sp>
      <p:cxnSp>
        <p:nvCxnSpPr>
          <p:cNvPr id="32" name="31 Conector recto de flecha"/>
          <p:cNvCxnSpPr/>
          <p:nvPr/>
        </p:nvCxnSpPr>
        <p:spPr>
          <a:xfrm rot="5400000" flipH="1" flipV="1">
            <a:off x="6000760" y="3357562"/>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32 CuadroTexto"/>
          <p:cNvSpPr txBox="1"/>
          <p:nvPr/>
        </p:nvSpPr>
        <p:spPr>
          <a:xfrm>
            <a:off x="5214943" y="2557343"/>
            <a:ext cx="3500461" cy="800219"/>
          </a:xfrm>
          <a:prstGeom prst="rect">
            <a:avLst/>
          </a:prstGeom>
          <a:noFill/>
          <a:ln>
            <a:solidFill>
              <a:schemeClr val="accent1">
                <a:lumMod val="60000"/>
                <a:lumOff val="40000"/>
              </a:schemeClr>
            </a:solidFill>
          </a:ln>
        </p:spPr>
        <p:txBody>
          <a:bodyPr wrap="square" rtlCol="0">
            <a:spAutoFit/>
          </a:bodyPr>
          <a:lstStyle/>
          <a:p>
            <a:pPr algn="just"/>
            <a:r>
              <a:rPr lang="es-ES_tradnl" sz="2300" dirty="0" smtClean="0"/>
              <a:t>Probabilidad de observar la variable de resultado     . </a:t>
            </a:r>
            <a:endParaRPr lang="es-ES" sz="2300" dirty="0"/>
          </a:p>
        </p:txBody>
      </p:sp>
      <p:sp>
        <p:nvSpPr>
          <p:cNvPr id="45075" name="Rectangle 1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12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123"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12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126" name="Rectangle 6"/>
          <p:cNvSpPr>
            <a:spLocks noChangeArrowheads="1"/>
          </p:cNvSpPr>
          <p:nvPr/>
        </p:nvSpPr>
        <p:spPr bwMode="auto">
          <a:xfrm>
            <a:off x="0" y="1247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61441" name="Object 1"/>
          <p:cNvGraphicFramePr>
            <a:graphicFrameLocks noChangeAspect="1"/>
          </p:cNvGraphicFramePr>
          <p:nvPr/>
        </p:nvGraphicFramePr>
        <p:xfrm>
          <a:off x="-1928858" y="2000240"/>
          <a:ext cx="7429552" cy="690867"/>
        </p:xfrm>
        <a:graphic>
          <a:graphicData uri="http://schemas.openxmlformats.org/presentationml/2006/ole">
            <p:oleObj spid="_x0000_s61469" name="Documento" r:id="rId6" imgW="5397500" imgH="504362" progId="Word.Document.12">
              <p:embed/>
            </p:oleObj>
          </a:graphicData>
        </a:graphic>
      </p:graphicFrame>
      <p:graphicFrame>
        <p:nvGraphicFramePr>
          <p:cNvPr id="61442" name="Object 2"/>
          <p:cNvGraphicFramePr>
            <a:graphicFrameLocks noChangeAspect="1"/>
          </p:cNvGraphicFramePr>
          <p:nvPr/>
        </p:nvGraphicFramePr>
        <p:xfrm>
          <a:off x="-500098" y="2714620"/>
          <a:ext cx="6858048" cy="1164803"/>
        </p:xfrm>
        <a:graphic>
          <a:graphicData uri="http://schemas.openxmlformats.org/presentationml/2006/ole">
            <p:oleObj spid="_x0000_s61470" name="Documento" r:id="rId7" imgW="5397500" imgH="921119" progId="Word.Document.12">
              <p:embed/>
            </p:oleObj>
          </a:graphicData>
        </a:graphic>
      </p:graphicFrame>
      <p:graphicFrame>
        <p:nvGraphicFramePr>
          <p:cNvPr id="61443" name="Object 3"/>
          <p:cNvGraphicFramePr>
            <a:graphicFrameLocks noChangeAspect="1"/>
          </p:cNvGraphicFramePr>
          <p:nvPr/>
        </p:nvGraphicFramePr>
        <p:xfrm>
          <a:off x="500400" y="3671597"/>
          <a:ext cx="7286310" cy="686097"/>
        </p:xfrm>
        <a:graphic>
          <a:graphicData uri="http://schemas.openxmlformats.org/presentationml/2006/ole">
            <p:oleObj spid="_x0000_s61471" name="Documento" r:id="rId8" imgW="5397500" imgH="510851" progId="Word.Document.12">
              <p:embed/>
            </p:oleObj>
          </a:graphicData>
        </a:graphic>
      </p:graphicFrame>
      <p:graphicFrame>
        <p:nvGraphicFramePr>
          <p:cNvPr id="61444" name="Object 4"/>
          <p:cNvGraphicFramePr>
            <a:graphicFrameLocks noChangeAspect="1"/>
          </p:cNvGraphicFramePr>
          <p:nvPr/>
        </p:nvGraphicFramePr>
        <p:xfrm>
          <a:off x="4714876" y="2889286"/>
          <a:ext cx="6572296" cy="611152"/>
        </p:xfrm>
        <a:graphic>
          <a:graphicData uri="http://schemas.openxmlformats.org/presentationml/2006/ole">
            <p:oleObj spid="_x0000_s61472" name="Documento" r:id="rId9" imgW="5411304" imgH="503516" progId="Word.Document.12">
              <p:embed/>
            </p:oleObj>
          </a:graphicData>
        </a:graphic>
      </p:graphicFrame>
      <p:sp>
        <p:nvSpPr>
          <p:cNvPr id="35" name="34 CuadroTexto"/>
          <p:cNvSpPr txBox="1"/>
          <p:nvPr/>
        </p:nvSpPr>
        <p:spPr>
          <a:xfrm>
            <a:off x="611560" y="1412776"/>
            <a:ext cx="5266698" cy="430887"/>
          </a:xfrm>
          <a:prstGeom prst="rect">
            <a:avLst/>
          </a:prstGeom>
          <a:noFill/>
        </p:spPr>
        <p:txBody>
          <a:bodyPr wrap="none" rtlCol="0">
            <a:spAutoFit/>
          </a:bodyPr>
          <a:lstStyle/>
          <a:p>
            <a:r>
              <a:rPr lang="es-CO" sz="2200" dirty="0" smtClean="0"/>
              <a:t>La función de verosimilitud estaría dada por:</a:t>
            </a:r>
            <a:endParaRPr lang="es-ES" sz="2200" dirty="0"/>
          </a:p>
        </p:txBody>
      </p:sp>
      <p:sp>
        <p:nvSpPr>
          <p:cNvPr id="36" name="3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26</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p>
          <a:p>
            <a:pPr>
              <a:buNone/>
            </a:pPr>
            <a:endParaRPr lang="es-ES_tradnl" sz="2500" dirty="0" smtClean="0"/>
          </a:p>
          <a:p>
            <a:pPr>
              <a:buNone/>
            </a:pPr>
            <a:r>
              <a:rPr lang="es-ES_tradnl" sz="2500" dirty="0" smtClean="0"/>
              <a:t>	</a:t>
            </a:r>
          </a:p>
          <a:p>
            <a:pPr>
              <a:buNone/>
            </a:pPr>
            <a:r>
              <a:rPr lang="es-ES_tradnl" sz="2500" dirty="0" smtClean="0"/>
              <a:t>	Donde la probabilidad de participación está dada por: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Máxima verosimilitud</a:t>
            </a:r>
            <a:endParaRPr lang="es-AR" sz="4200" i="1" u="sng" dirty="0"/>
          </a:p>
        </p:txBody>
      </p:sp>
      <p:sp>
        <p:nvSpPr>
          <p:cNvPr id="460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6083"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4608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6086"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3" name="12 Abrir llave"/>
          <p:cNvSpPr/>
          <p:nvPr/>
        </p:nvSpPr>
        <p:spPr>
          <a:xfrm rot="16200000">
            <a:off x="5036347" y="2393149"/>
            <a:ext cx="285751" cy="4929222"/>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4" name="13 CuadroTexto"/>
          <p:cNvSpPr txBox="1"/>
          <p:nvPr/>
        </p:nvSpPr>
        <p:spPr>
          <a:xfrm>
            <a:off x="1142976" y="5072074"/>
            <a:ext cx="7500990" cy="1246495"/>
          </a:xfrm>
          <a:prstGeom prst="rect">
            <a:avLst/>
          </a:prstGeom>
          <a:noFill/>
        </p:spPr>
        <p:txBody>
          <a:bodyPr wrap="square" rtlCol="0">
            <a:spAutoFit/>
          </a:bodyPr>
          <a:lstStyle/>
          <a:p>
            <a:pPr algn="ctr"/>
            <a:r>
              <a:rPr lang="es-ES_tradnl" sz="2500" dirty="0" smtClean="0"/>
              <a:t>Para que el individuo participe en el programa se requiere que la utilidad de participación en el programa sea mayor que la utilidad de no participar.</a:t>
            </a:r>
            <a:endParaRPr lang="es-ES" sz="2500" dirty="0"/>
          </a:p>
        </p:txBody>
      </p:sp>
      <p:sp>
        <p:nvSpPr>
          <p:cNvPr id="17" name="16 CuadroTexto"/>
          <p:cNvSpPr txBox="1"/>
          <p:nvPr/>
        </p:nvSpPr>
        <p:spPr>
          <a:xfrm>
            <a:off x="714348" y="1594624"/>
            <a:ext cx="4863383" cy="477054"/>
          </a:xfrm>
          <a:prstGeom prst="rect">
            <a:avLst/>
          </a:prstGeom>
          <a:noFill/>
        </p:spPr>
        <p:txBody>
          <a:bodyPr wrap="none" rtlCol="0">
            <a:spAutoFit/>
          </a:bodyPr>
          <a:lstStyle/>
          <a:p>
            <a:r>
              <a:rPr lang="es-ES_tradnl" sz="2500" u="sng" dirty="0" smtClean="0"/>
              <a:t>Estimador de máxima verosimilitud:</a:t>
            </a:r>
            <a:endParaRPr lang="es-ES" sz="2500" u="sng" dirty="0"/>
          </a:p>
        </p:txBody>
      </p:sp>
      <p:graphicFrame>
        <p:nvGraphicFramePr>
          <p:cNvPr id="59393" name="Object 1"/>
          <p:cNvGraphicFramePr>
            <a:graphicFrameLocks noChangeAspect="1"/>
          </p:cNvGraphicFramePr>
          <p:nvPr/>
        </p:nvGraphicFramePr>
        <p:xfrm>
          <a:off x="1071537" y="1550048"/>
          <a:ext cx="7143801" cy="1378886"/>
        </p:xfrm>
        <a:graphic>
          <a:graphicData uri="http://schemas.openxmlformats.org/presentationml/2006/ole">
            <p:oleObj spid="_x0000_s59414" name="Documento" r:id="rId4" imgW="5397500" imgH="1046218" progId="Word.Document.12">
              <p:embed/>
            </p:oleObj>
          </a:graphicData>
        </a:graphic>
      </p:graphicFrame>
      <p:graphicFrame>
        <p:nvGraphicFramePr>
          <p:cNvPr id="59394" name="Object 2"/>
          <p:cNvGraphicFramePr>
            <a:graphicFrameLocks noChangeAspect="1"/>
          </p:cNvGraphicFramePr>
          <p:nvPr/>
        </p:nvGraphicFramePr>
        <p:xfrm>
          <a:off x="-928726" y="3563809"/>
          <a:ext cx="7000924" cy="651009"/>
        </p:xfrm>
        <a:graphic>
          <a:graphicData uri="http://schemas.openxmlformats.org/presentationml/2006/ole">
            <p:oleObj spid="_x0000_s59415" name="Documento" r:id="rId5" imgW="5397500" imgH="504362" progId="Word.Document.12">
              <p:embed/>
            </p:oleObj>
          </a:graphicData>
        </a:graphic>
      </p:graphicFrame>
      <p:graphicFrame>
        <p:nvGraphicFramePr>
          <p:cNvPr id="59395" name="Object 3"/>
          <p:cNvGraphicFramePr>
            <a:graphicFrameLocks noChangeAspect="1"/>
          </p:cNvGraphicFramePr>
          <p:nvPr/>
        </p:nvGraphicFramePr>
        <p:xfrm>
          <a:off x="1357290" y="4286256"/>
          <a:ext cx="7215238" cy="670938"/>
        </p:xfrm>
        <a:graphic>
          <a:graphicData uri="http://schemas.openxmlformats.org/presentationml/2006/ole">
            <p:oleObj spid="_x0000_s59416" name="Documento" r:id="rId6" imgW="5397500" imgH="504723" progId="Word.Document.12">
              <p:embed/>
            </p:oleObj>
          </a:graphicData>
        </a:graphic>
      </p:graphicFrame>
      <p:sp>
        <p:nvSpPr>
          <p:cNvPr id="18" name="17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27</a:t>
            </a:fld>
            <a:endParaRPr lang="es-ES" sz="1500" dirty="0">
              <a:solidFill>
                <a:schemeClr val="tx1">
                  <a:lumMod val="50000"/>
                  <a:lumOff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r>
              <a:rPr lang="es-ES_tradnl" dirty="0" smtClean="0"/>
              <a:t>	</a:t>
            </a:r>
            <a:r>
              <a:rPr lang="es-ES_tradnl" sz="2500" dirty="0" smtClean="0"/>
              <a:t>¿De qué depende la forma de la función de utilidad? </a:t>
            </a:r>
            <a:endParaRPr lang="es-ES" sz="2500" dirty="0" smtClean="0"/>
          </a:p>
          <a:p>
            <a:pPr>
              <a:buNone/>
            </a:pPr>
            <a:r>
              <a:rPr lang="es-ES_tradnl" sz="2500" dirty="0" smtClean="0"/>
              <a:t>	De los supuestos paramétricos acerca de:</a:t>
            </a:r>
          </a:p>
          <a:p>
            <a:pPr>
              <a:buNone/>
            </a:pPr>
            <a:r>
              <a:rPr lang="es-ES_tradnl" sz="2500" dirty="0" smtClean="0"/>
              <a:t>	</a:t>
            </a:r>
          </a:p>
        </p:txBody>
      </p:sp>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Acerca de las </a:t>
            </a:r>
            <a:br>
              <a:rPr lang="es-AR" sz="4200" u="sng" dirty="0" smtClean="0"/>
            </a:br>
            <a:r>
              <a:rPr lang="es-AR" sz="4200" u="sng" dirty="0" smtClean="0"/>
              <a:t>funciones de utilidad</a:t>
            </a:r>
            <a:endParaRPr lang="es-AR" sz="4200" i="1" u="sng" dirty="0"/>
          </a:p>
        </p:txBody>
      </p:sp>
      <p:sp>
        <p:nvSpPr>
          <p:cNvPr id="8" name="7 CuadroTexto"/>
          <p:cNvSpPr txBox="1"/>
          <p:nvPr/>
        </p:nvSpPr>
        <p:spPr>
          <a:xfrm>
            <a:off x="4214810" y="2643182"/>
            <a:ext cx="330540" cy="477054"/>
          </a:xfrm>
          <a:prstGeom prst="rect">
            <a:avLst/>
          </a:prstGeom>
          <a:noFill/>
        </p:spPr>
        <p:txBody>
          <a:bodyPr wrap="none" rtlCol="0">
            <a:spAutoFit/>
          </a:bodyPr>
          <a:lstStyle/>
          <a:p>
            <a:r>
              <a:rPr lang="es-ES_tradnl" sz="2500" dirty="0" smtClean="0"/>
              <a:t>y</a:t>
            </a:r>
            <a:endParaRPr lang="es-ES" sz="2500" dirty="0"/>
          </a:p>
        </p:txBody>
      </p:sp>
      <p:sp>
        <p:nvSpPr>
          <p:cNvPr id="9" name="8 CuadroTexto"/>
          <p:cNvSpPr txBox="1"/>
          <p:nvPr/>
        </p:nvSpPr>
        <p:spPr>
          <a:xfrm>
            <a:off x="785787" y="3357562"/>
            <a:ext cx="3357586" cy="861774"/>
          </a:xfrm>
          <a:prstGeom prst="rect">
            <a:avLst/>
          </a:prstGeom>
          <a:noFill/>
        </p:spPr>
        <p:txBody>
          <a:bodyPr wrap="square" rtlCol="0">
            <a:spAutoFit/>
          </a:bodyPr>
          <a:lstStyle/>
          <a:p>
            <a:r>
              <a:rPr lang="es-ES_tradnl" sz="2500" dirty="0" smtClean="0"/>
              <a:t>Si se supone una distribución normal</a:t>
            </a:r>
            <a:endParaRPr lang="es-ES" sz="2500" dirty="0"/>
          </a:p>
        </p:txBody>
      </p:sp>
      <p:cxnSp>
        <p:nvCxnSpPr>
          <p:cNvPr id="13" name="12 Conector recto de flecha"/>
          <p:cNvCxnSpPr/>
          <p:nvPr/>
        </p:nvCxnSpPr>
        <p:spPr>
          <a:xfrm>
            <a:off x="4143372" y="3641726"/>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4740195" y="3357562"/>
            <a:ext cx="3689457" cy="1246495"/>
          </a:xfrm>
          <a:prstGeom prst="rect">
            <a:avLst/>
          </a:prstGeom>
          <a:noFill/>
        </p:spPr>
        <p:txBody>
          <a:bodyPr wrap="square" rtlCol="0">
            <a:spAutoFit/>
          </a:bodyPr>
          <a:lstStyle/>
          <a:p>
            <a:r>
              <a:rPr lang="es-ES_tradnl" sz="2500" dirty="0" smtClean="0"/>
              <a:t>Las expresiones de probabilidad estarían dadas por un </a:t>
            </a:r>
            <a:r>
              <a:rPr lang="es-ES_tradnl" sz="2500" dirty="0" err="1" smtClean="0"/>
              <a:t>probit</a:t>
            </a:r>
            <a:r>
              <a:rPr lang="es-ES_tradnl" sz="2500" dirty="0" smtClean="0"/>
              <a:t>.</a:t>
            </a:r>
            <a:endParaRPr lang="es-ES" sz="2500" dirty="0"/>
          </a:p>
        </p:txBody>
      </p:sp>
      <p:sp>
        <p:nvSpPr>
          <p:cNvPr id="15" name="14 CuadroTexto"/>
          <p:cNvSpPr txBox="1"/>
          <p:nvPr/>
        </p:nvSpPr>
        <p:spPr>
          <a:xfrm>
            <a:off x="785786" y="4737896"/>
            <a:ext cx="3143272" cy="1246495"/>
          </a:xfrm>
          <a:prstGeom prst="rect">
            <a:avLst/>
          </a:prstGeom>
          <a:noFill/>
        </p:spPr>
        <p:txBody>
          <a:bodyPr wrap="square" rtlCol="0">
            <a:spAutoFit/>
          </a:bodyPr>
          <a:lstStyle/>
          <a:p>
            <a:r>
              <a:rPr lang="es-ES_tradnl" sz="2500" dirty="0" smtClean="0"/>
              <a:t>Si se supone </a:t>
            </a:r>
            <a:r>
              <a:rPr lang="es-ES" sz="2500" dirty="0" smtClean="0"/>
              <a:t>una distribución valor extremo tipo I</a:t>
            </a:r>
            <a:endParaRPr lang="es-ES_tradnl" sz="2500" dirty="0" smtClean="0"/>
          </a:p>
        </p:txBody>
      </p:sp>
      <p:cxnSp>
        <p:nvCxnSpPr>
          <p:cNvPr id="16" name="15 Conector recto de flecha"/>
          <p:cNvCxnSpPr/>
          <p:nvPr/>
        </p:nvCxnSpPr>
        <p:spPr>
          <a:xfrm>
            <a:off x="4143372" y="4999048"/>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4786314" y="4714884"/>
            <a:ext cx="3689457" cy="1246495"/>
          </a:xfrm>
          <a:prstGeom prst="rect">
            <a:avLst/>
          </a:prstGeom>
          <a:noFill/>
        </p:spPr>
        <p:txBody>
          <a:bodyPr wrap="square" rtlCol="0">
            <a:spAutoFit/>
          </a:bodyPr>
          <a:lstStyle/>
          <a:p>
            <a:r>
              <a:rPr lang="es-ES_tradnl" sz="2500" dirty="0" smtClean="0"/>
              <a:t>Las expresiones de probabilidad estarían dadas por un </a:t>
            </a:r>
            <a:r>
              <a:rPr lang="es-ES_tradnl" sz="2500" dirty="0" err="1" smtClean="0"/>
              <a:t>logit</a:t>
            </a:r>
            <a:r>
              <a:rPr lang="es-ES_tradnl" sz="2500" dirty="0" smtClean="0"/>
              <a:t>.</a:t>
            </a:r>
            <a:endParaRPr lang="es-ES" sz="2500" dirty="0"/>
          </a:p>
        </p:txBody>
      </p:sp>
      <p:graphicFrame>
        <p:nvGraphicFramePr>
          <p:cNvPr id="58369" name="Object 1"/>
          <p:cNvGraphicFramePr>
            <a:graphicFrameLocks noChangeAspect="1"/>
          </p:cNvGraphicFramePr>
          <p:nvPr/>
        </p:nvGraphicFramePr>
        <p:xfrm>
          <a:off x="-285784" y="2613551"/>
          <a:ext cx="8001056" cy="744011"/>
        </p:xfrm>
        <a:graphic>
          <a:graphicData uri="http://schemas.openxmlformats.org/presentationml/2006/ole">
            <p:oleObj spid="_x0000_s58383" name="Documento" r:id="rId4" imgW="5411304" imgH="503516" progId="Word.Document.12">
              <p:embed/>
            </p:oleObj>
          </a:graphicData>
        </a:graphic>
      </p:graphicFrame>
      <p:graphicFrame>
        <p:nvGraphicFramePr>
          <p:cNvPr id="58370" name="Object 2"/>
          <p:cNvGraphicFramePr>
            <a:graphicFrameLocks noChangeAspect="1"/>
          </p:cNvGraphicFramePr>
          <p:nvPr/>
        </p:nvGraphicFramePr>
        <p:xfrm>
          <a:off x="997548" y="2643182"/>
          <a:ext cx="8075046" cy="750891"/>
        </p:xfrm>
        <a:graphic>
          <a:graphicData uri="http://schemas.openxmlformats.org/presentationml/2006/ole">
            <p:oleObj spid="_x0000_s58384" name="Documento" r:id="rId5" imgW="5397500" imgH="505444" progId="Word.Document.12">
              <p:embed/>
            </p:oleObj>
          </a:graphicData>
        </a:graphic>
      </p:graphicFrame>
      <p:sp>
        <p:nvSpPr>
          <p:cNvPr id="18" name="17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28</a:t>
            </a:fld>
            <a:endParaRPr lang="es-ES" sz="1500" dirty="0">
              <a:solidFill>
                <a:schemeClr val="tx1">
                  <a:lumMod val="50000"/>
                  <a:lumOff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40768"/>
            <a:ext cx="8229600" cy="4525963"/>
          </a:xfrm>
        </p:spPr>
        <p:txBody>
          <a:bodyPr>
            <a:normAutofit/>
          </a:bodyPr>
          <a:lstStyle/>
          <a:p>
            <a:pPr>
              <a:buNone/>
            </a:pPr>
            <a:r>
              <a:rPr lang="es-ES_tradnl" sz="2500" dirty="0" smtClean="0"/>
              <a:t>	</a:t>
            </a:r>
            <a:r>
              <a:rPr lang="es-ES_tradnl" sz="2500" u="sng" dirty="0" smtClean="0"/>
              <a:t>Método de momentos: </a:t>
            </a:r>
          </a:p>
          <a:p>
            <a:pPr>
              <a:buNone/>
            </a:pPr>
            <a:r>
              <a:rPr lang="es-ES_tradnl" sz="2500" dirty="0" smtClean="0"/>
              <a:t>     Generalmente más útil en que se dispone de datos agregados y no individuales.</a:t>
            </a:r>
          </a:p>
          <a:p>
            <a:pPr>
              <a:buNone/>
            </a:pPr>
            <a:r>
              <a:rPr lang="es-ES_tradnl" sz="2500" dirty="0" smtClean="0"/>
              <a:t>	Intuitivamente:</a:t>
            </a:r>
          </a:p>
          <a:p>
            <a:pPr>
              <a:buNone/>
            </a:pPr>
            <a:r>
              <a:rPr lang="es-ES_tradnl" sz="2500" dirty="0" smtClean="0"/>
              <a:t>	Consiste en encontrar un vector de parámetros  </a:t>
            </a:r>
            <a:r>
              <a:rPr lang="es-ES_tradnl" sz="2500" dirty="0" smtClean="0">
                <a:latin typeface="Symbol" pitchFamily="18" charset="2"/>
              </a:rPr>
              <a:t>q</a:t>
            </a:r>
            <a:r>
              <a:rPr lang="es-ES_tradnl" sz="2500" dirty="0" smtClean="0"/>
              <a:t>  que minimice la distancia entre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Métodos de estimación</a:t>
            </a:r>
            <a:endParaRPr lang="es-AR" sz="4200" i="1" u="sng" dirty="0"/>
          </a:p>
        </p:txBody>
      </p:sp>
      <p:sp>
        <p:nvSpPr>
          <p:cNvPr id="7" name="6 CuadroTexto"/>
          <p:cNvSpPr txBox="1"/>
          <p:nvPr/>
        </p:nvSpPr>
        <p:spPr>
          <a:xfrm>
            <a:off x="827584" y="4221088"/>
            <a:ext cx="7500990" cy="2015936"/>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Los momentos </a:t>
            </a:r>
            <a:r>
              <a:rPr lang="es-ES_tradnl" sz="2500" dirty="0" err="1" smtClean="0"/>
              <a:t>muestrales</a:t>
            </a:r>
            <a:r>
              <a:rPr lang="es-ES_tradnl" sz="2500" dirty="0" smtClean="0"/>
              <a:t> relacionados con las elecciones de los individuos y las variables de resultado y los mismos momentos calculados a partir de la simulación de agentes ficticios que eligen con base en el modelo de optimización supuesto por el investigador.</a:t>
            </a:r>
            <a:endParaRPr lang="es-ES" sz="2500" dirty="0"/>
          </a:p>
        </p:txBody>
      </p:sp>
      <p:sp>
        <p:nvSpPr>
          <p:cNvPr id="9" name="8 Flecha abajo"/>
          <p:cNvSpPr/>
          <p:nvPr/>
        </p:nvSpPr>
        <p:spPr>
          <a:xfrm>
            <a:off x="4067944" y="3933056"/>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1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1" name="10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29</a:t>
            </a:fld>
            <a:endParaRPr lang="es-ES" sz="1500" dirty="0">
              <a:solidFill>
                <a:schemeClr val="tx1">
                  <a:lumMod val="50000"/>
                  <a:lumOff val="50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Estimador por método de momentos</a:t>
            </a:r>
            <a:endParaRPr lang="es-AR" sz="4200" i="1" u="sng" dirty="0"/>
          </a:p>
        </p:txBody>
      </p:sp>
      <p:sp>
        <p:nvSpPr>
          <p:cNvPr id="501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79" name="Rectangle 3"/>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01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2" name="Rectangle 6"/>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018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6"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7"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0189"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91"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92" name="Rectangle 1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33" name="2 Marcador de contenido"/>
          <p:cNvSpPr>
            <a:spLocks noGrp="1"/>
          </p:cNvSpPr>
          <p:nvPr>
            <p:ph idx="1"/>
          </p:nvPr>
        </p:nvSpPr>
        <p:spPr>
          <a:xfrm>
            <a:off x="457200" y="1783357"/>
            <a:ext cx="8229600" cy="4525963"/>
          </a:xfrm>
        </p:spPr>
        <p:txBody>
          <a:bodyPr/>
          <a:lstStyle/>
          <a:p>
            <a:pPr>
              <a:buNone/>
            </a:pPr>
            <a:r>
              <a:rPr lang="es-ES_tradnl" dirty="0" smtClean="0"/>
              <a:t>    </a:t>
            </a:r>
            <a:r>
              <a:rPr lang="es-ES_tradnl" sz="2800" dirty="0" smtClean="0"/>
              <a:t>Los momentos son generalmente medias y/o desviaciones estándar de las variables de interés, p. ej.: </a:t>
            </a:r>
          </a:p>
          <a:p>
            <a:pPr>
              <a:buNone/>
            </a:pPr>
            <a:r>
              <a:rPr lang="es-ES_tradnl" sz="2800" dirty="0" smtClean="0"/>
              <a:t>    (1) El promedio de individuos participantes. </a:t>
            </a:r>
          </a:p>
          <a:p>
            <a:pPr>
              <a:buNone/>
            </a:pPr>
            <a:r>
              <a:rPr lang="es-ES_tradnl" sz="2800" dirty="0" smtClean="0"/>
              <a:t>    (2) El promedio de la variable de resultado por grupo.</a:t>
            </a:r>
          </a:p>
          <a:p>
            <a:pPr>
              <a:buNone/>
            </a:pPr>
            <a:r>
              <a:rPr lang="es-ES_tradnl" sz="2800" dirty="0" smtClean="0"/>
              <a:t>    (3) El promedio de la variable de resultado por características observadas </a:t>
            </a:r>
            <a:r>
              <a:rPr lang="es-ES_tradnl" sz="2800" i="1" dirty="0" smtClean="0"/>
              <a:t>X</a:t>
            </a:r>
            <a:r>
              <a:rPr lang="es-ES_tradnl" sz="2800" dirty="0" smtClean="0"/>
              <a:t>, etc.</a:t>
            </a:r>
            <a:endParaRPr lang="es-ES" sz="2800" dirty="0"/>
          </a:p>
        </p:txBody>
      </p:sp>
      <p:sp>
        <p:nvSpPr>
          <p:cNvPr id="16" name="1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30</a:t>
            </a:fld>
            <a:endParaRPr lang="es-ES" sz="1500" dirty="0">
              <a:solidFill>
                <a:schemeClr val="tx1">
                  <a:lumMod val="50000"/>
                  <a:lumOff val="50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900634"/>
          </a:xfrm>
        </p:spPr>
        <p:txBody>
          <a:bodyPr>
            <a:normAutofit/>
          </a:bodyPr>
          <a:lstStyle/>
          <a:p>
            <a:pPr>
              <a:buNone/>
            </a:pPr>
            <a:endParaRPr lang="es-ES_tradnl" sz="2500" dirty="0" smtClean="0"/>
          </a:p>
          <a:p>
            <a:pPr>
              <a:buNone/>
            </a:pPr>
            <a:endParaRPr lang="es-ES_tradnl" sz="2500" dirty="0" smtClean="0"/>
          </a:p>
          <a:p>
            <a:pPr>
              <a:buNone/>
            </a:pP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Estimador por método de momentos</a:t>
            </a:r>
            <a:endParaRPr lang="es-AR" sz="4200" i="1" u="sng" dirty="0"/>
          </a:p>
        </p:txBody>
      </p:sp>
      <p:sp>
        <p:nvSpPr>
          <p:cNvPr id="501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79" name="Rectangle 3"/>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01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2" name="Rectangle 6"/>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018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6"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7"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4" name="23 CuadroTexto"/>
          <p:cNvSpPr txBox="1"/>
          <p:nvPr/>
        </p:nvSpPr>
        <p:spPr>
          <a:xfrm>
            <a:off x="857224" y="3571876"/>
            <a:ext cx="1133644" cy="477054"/>
          </a:xfrm>
          <a:prstGeom prst="rect">
            <a:avLst/>
          </a:prstGeom>
          <a:noFill/>
        </p:spPr>
        <p:txBody>
          <a:bodyPr wrap="none" rtlCol="0">
            <a:spAutoFit/>
          </a:bodyPr>
          <a:lstStyle/>
          <a:p>
            <a:r>
              <a:rPr lang="es-ES_tradnl" sz="2500" dirty="0" smtClean="0"/>
              <a:t>Donde:</a:t>
            </a:r>
            <a:endParaRPr lang="es-ES" sz="2500" dirty="0"/>
          </a:p>
        </p:txBody>
      </p:sp>
      <p:sp>
        <p:nvSpPr>
          <p:cNvPr id="27" name="26 CuadroTexto"/>
          <p:cNvSpPr txBox="1"/>
          <p:nvPr/>
        </p:nvSpPr>
        <p:spPr>
          <a:xfrm>
            <a:off x="857224" y="2468257"/>
            <a:ext cx="7786742" cy="861774"/>
          </a:xfrm>
          <a:prstGeom prst="rect">
            <a:avLst/>
          </a:prstGeom>
          <a:noFill/>
          <a:ln>
            <a:solidFill>
              <a:schemeClr val="accent1">
                <a:lumMod val="60000"/>
                <a:lumOff val="40000"/>
              </a:schemeClr>
            </a:solidFill>
          </a:ln>
        </p:spPr>
        <p:txBody>
          <a:bodyPr wrap="square" rtlCol="0">
            <a:spAutoFit/>
          </a:bodyPr>
          <a:lstStyle/>
          <a:p>
            <a:pPr algn="just"/>
            <a:r>
              <a:rPr lang="es-ES_tradnl" sz="2500" dirty="0" smtClean="0"/>
              <a:t>El estimador     es aquel que minimiza la distancia entre los momentos </a:t>
            </a:r>
            <a:r>
              <a:rPr lang="es-ES_tradnl" sz="2500" dirty="0" err="1" smtClean="0"/>
              <a:t>muestrales</a:t>
            </a:r>
            <a:r>
              <a:rPr lang="es-ES_tradnl" sz="2500" dirty="0" smtClean="0"/>
              <a:t> y los momentos simulados. </a:t>
            </a:r>
            <a:endParaRPr lang="es-ES" sz="2500" dirty="0"/>
          </a:p>
        </p:txBody>
      </p:sp>
      <p:sp>
        <p:nvSpPr>
          <p:cNvPr id="29" name="28 Abrir llave"/>
          <p:cNvSpPr/>
          <p:nvPr/>
        </p:nvSpPr>
        <p:spPr>
          <a:xfrm rot="16200000">
            <a:off x="4339829" y="3232544"/>
            <a:ext cx="142874" cy="28218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0" name="29 CuadroTexto"/>
          <p:cNvSpPr txBox="1"/>
          <p:nvPr/>
        </p:nvSpPr>
        <p:spPr>
          <a:xfrm>
            <a:off x="1643041" y="4710366"/>
            <a:ext cx="6929487" cy="861774"/>
          </a:xfrm>
          <a:prstGeom prst="rect">
            <a:avLst/>
          </a:prstGeom>
          <a:noFill/>
        </p:spPr>
        <p:txBody>
          <a:bodyPr wrap="square" rtlCol="0">
            <a:spAutoFit/>
          </a:bodyPr>
          <a:lstStyle/>
          <a:p>
            <a:r>
              <a:rPr lang="es-ES_tradnl" sz="2500" dirty="0" smtClean="0"/>
              <a:t>Diferencia entre el vector de momentos </a:t>
            </a:r>
            <a:r>
              <a:rPr lang="es-ES_tradnl" sz="2500" dirty="0" err="1" smtClean="0"/>
              <a:t>muestrales</a:t>
            </a:r>
            <a:r>
              <a:rPr lang="es-ES_tradnl" sz="2500" dirty="0" smtClean="0"/>
              <a:t> </a:t>
            </a:r>
            <a:r>
              <a:rPr lang="es-ES_tradnl" sz="2500" i="1" dirty="0" smtClean="0">
                <a:latin typeface="Times New Roman" pitchFamily="18" charset="0"/>
                <a:cs typeface="Times New Roman" pitchFamily="18" charset="0"/>
              </a:rPr>
              <a:t>H</a:t>
            </a:r>
            <a:r>
              <a:rPr lang="es-ES_tradnl" sz="2500" dirty="0" smtClean="0">
                <a:latin typeface="Times New Roman" pitchFamily="18" charset="0"/>
                <a:cs typeface="Times New Roman" pitchFamily="18" charset="0"/>
              </a:rPr>
              <a:t>(</a:t>
            </a:r>
            <a:r>
              <a:rPr lang="es-ES_tradnl" sz="2500" i="1" dirty="0" smtClean="0">
                <a:latin typeface="Times New Roman" pitchFamily="18" charset="0"/>
                <a:cs typeface="Times New Roman" pitchFamily="18" charset="0"/>
              </a:rPr>
              <a:t>X,Y,D</a:t>
            </a:r>
            <a:r>
              <a:rPr lang="es-ES_tradnl" sz="2500" dirty="0" smtClean="0">
                <a:latin typeface="Times New Roman" pitchFamily="18" charset="0"/>
                <a:cs typeface="Times New Roman" pitchFamily="18" charset="0"/>
              </a:rPr>
              <a:t>)</a:t>
            </a:r>
            <a:r>
              <a:rPr lang="es-ES_tradnl" sz="2500" dirty="0" smtClean="0"/>
              <a:t> y el vector de momentos simulados </a:t>
            </a:r>
            <a:r>
              <a:rPr lang="es-ES_tradnl" sz="2500" i="1" dirty="0" smtClean="0">
                <a:latin typeface="Times New Roman" pitchFamily="18" charset="0"/>
                <a:cs typeface="Times New Roman" pitchFamily="18" charset="0"/>
              </a:rPr>
              <a:t>h</a:t>
            </a:r>
            <a:r>
              <a:rPr lang="es-ES_tradnl" sz="2500" dirty="0" smtClean="0"/>
              <a:t>(</a:t>
            </a:r>
            <a:r>
              <a:rPr lang="es-ES_tradnl" sz="2500" dirty="0" smtClean="0">
                <a:latin typeface="Symbol" pitchFamily="18" charset="2"/>
              </a:rPr>
              <a:t>q</a:t>
            </a:r>
            <a:r>
              <a:rPr lang="es-ES_tradnl" sz="2500" dirty="0" smtClean="0"/>
              <a:t>).</a:t>
            </a:r>
            <a:endParaRPr lang="es-ES" sz="2500" dirty="0"/>
          </a:p>
        </p:txBody>
      </p:sp>
      <p:sp>
        <p:nvSpPr>
          <p:cNvPr id="50189"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91"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92" name="Rectangle 1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6" name="25 Conector recto de flecha"/>
          <p:cNvCxnSpPr/>
          <p:nvPr/>
        </p:nvCxnSpPr>
        <p:spPr>
          <a:xfrm>
            <a:off x="2285984" y="5784866"/>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30 CuadroTexto"/>
          <p:cNvSpPr txBox="1"/>
          <p:nvPr/>
        </p:nvSpPr>
        <p:spPr>
          <a:xfrm>
            <a:off x="2643174" y="5595152"/>
            <a:ext cx="4748608" cy="477054"/>
          </a:xfrm>
          <a:prstGeom prst="rect">
            <a:avLst/>
          </a:prstGeom>
          <a:noFill/>
        </p:spPr>
        <p:txBody>
          <a:bodyPr wrap="none" rtlCol="0">
            <a:spAutoFit/>
          </a:bodyPr>
          <a:lstStyle/>
          <a:p>
            <a:r>
              <a:rPr lang="es-ES_tradnl" sz="2500" dirty="0" smtClean="0"/>
              <a:t>Matriz ponderadora de momentos.</a:t>
            </a:r>
            <a:endParaRPr lang="es-ES" sz="2500" dirty="0"/>
          </a:p>
        </p:txBody>
      </p:sp>
      <p:graphicFrame>
        <p:nvGraphicFramePr>
          <p:cNvPr id="56321" name="Object 1"/>
          <p:cNvGraphicFramePr>
            <a:graphicFrameLocks noChangeAspect="1"/>
          </p:cNvGraphicFramePr>
          <p:nvPr/>
        </p:nvGraphicFramePr>
        <p:xfrm>
          <a:off x="1000100" y="1850364"/>
          <a:ext cx="7429552" cy="721380"/>
        </p:xfrm>
        <a:graphic>
          <a:graphicData uri="http://schemas.openxmlformats.org/presentationml/2006/ole">
            <p:oleObj spid="_x0000_s56349" name="Documento" r:id="rId5" imgW="5397500" imgH="526354" progId="Word.Document.12">
              <p:embed/>
            </p:oleObj>
          </a:graphicData>
        </a:graphic>
      </p:graphicFrame>
      <p:graphicFrame>
        <p:nvGraphicFramePr>
          <p:cNvPr id="56322" name="Object 2"/>
          <p:cNvGraphicFramePr>
            <a:graphicFrameLocks noChangeAspect="1"/>
          </p:cNvGraphicFramePr>
          <p:nvPr/>
        </p:nvGraphicFramePr>
        <p:xfrm>
          <a:off x="214282" y="4143380"/>
          <a:ext cx="7286676" cy="677581"/>
        </p:xfrm>
        <a:graphic>
          <a:graphicData uri="http://schemas.openxmlformats.org/presentationml/2006/ole">
            <p:oleObj spid="_x0000_s56350" name="Documento" r:id="rId6" imgW="5397500" imgH="504362" progId="Word.Document.12">
              <p:embed/>
            </p:oleObj>
          </a:graphicData>
        </a:graphic>
      </p:graphicFrame>
      <p:graphicFrame>
        <p:nvGraphicFramePr>
          <p:cNvPr id="56323" name="Object 3"/>
          <p:cNvGraphicFramePr>
            <a:graphicFrameLocks noChangeAspect="1"/>
          </p:cNvGraphicFramePr>
          <p:nvPr/>
        </p:nvGraphicFramePr>
        <p:xfrm>
          <a:off x="-1002423" y="5643578"/>
          <a:ext cx="6145927" cy="571504"/>
        </p:xfrm>
        <a:graphic>
          <a:graphicData uri="http://schemas.openxmlformats.org/presentationml/2006/ole">
            <p:oleObj spid="_x0000_s56351" name="Documento" r:id="rId7" imgW="5411304" imgH="503516" progId="Word.Document.12">
              <p:embed/>
            </p:oleObj>
          </a:graphicData>
        </a:graphic>
      </p:graphicFrame>
      <p:graphicFrame>
        <p:nvGraphicFramePr>
          <p:cNvPr id="56324" name="Object 4"/>
          <p:cNvGraphicFramePr>
            <a:graphicFrameLocks noChangeAspect="1"/>
          </p:cNvGraphicFramePr>
          <p:nvPr/>
        </p:nvGraphicFramePr>
        <p:xfrm>
          <a:off x="-714412" y="2500306"/>
          <a:ext cx="6913563" cy="642938"/>
        </p:xfrm>
        <a:graphic>
          <a:graphicData uri="http://schemas.openxmlformats.org/presentationml/2006/ole">
            <p:oleObj spid="_x0000_s56352" name="Documento" r:id="rId8" imgW="5411304" imgH="503516" progId="Word.Document.12">
              <p:embed/>
            </p:oleObj>
          </a:graphicData>
        </a:graphic>
      </p:graphicFrame>
      <p:sp>
        <p:nvSpPr>
          <p:cNvPr id="32" name="31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31</a:t>
            </a:fld>
            <a:endParaRPr lang="es-ES" sz="1500" dirty="0">
              <a:solidFill>
                <a:schemeClr val="tx1">
                  <a:lumMod val="50000"/>
                  <a:lumOff val="50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686800" cy="4525963"/>
          </a:xfrm>
        </p:spPr>
        <p:txBody>
          <a:bodyPr>
            <a:normAutofit/>
          </a:bodyPr>
          <a:lstStyle/>
          <a:p>
            <a:pPr marL="447675" indent="-358775" defTabSz="717550">
              <a:buFont typeface="+mj-lt"/>
              <a:buAutoNum type="arabicPeriod"/>
            </a:pPr>
            <a:r>
              <a:rPr lang="es-ES_tradnl" sz="2500" dirty="0" smtClean="0"/>
              <a:t>Para un vector de parámetros </a:t>
            </a:r>
            <a:r>
              <a:rPr lang="el-GR" sz="2500" b="1" dirty="0" smtClean="0">
                <a:latin typeface="Garamond"/>
              </a:rPr>
              <a:t>θ</a:t>
            </a:r>
            <a:r>
              <a:rPr lang="es-ES_tradnl" sz="2500" dirty="0" smtClean="0"/>
              <a:t>, se obtienen N realizaciones de los errores aleatorios </a:t>
            </a:r>
            <a:r>
              <a:rPr lang="el-GR" sz="2600" b="1" dirty="0" smtClean="0">
                <a:latin typeface="Garamond"/>
              </a:rPr>
              <a:t>ε</a:t>
            </a:r>
            <a:r>
              <a:rPr lang="es-ES_tradnl" sz="2500" dirty="0" smtClean="0"/>
              <a:t> y </a:t>
            </a:r>
            <a:r>
              <a:rPr lang="el-GR" sz="2600" b="1" dirty="0" smtClean="0">
                <a:latin typeface="Garamond"/>
              </a:rPr>
              <a:t>ξ</a:t>
            </a:r>
            <a:r>
              <a:rPr lang="es-CO" sz="2500" b="1" dirty="0" smtClean="0">
                <a:latin typeface="Garamond"/>
              </a:rPr>
              <a:t> </a:t>
            </a:r>
            <a:r>
              <a:rPr lang="es-ES_tradnl" sz="2500" dirty="0" smtClean="0"/>
              <a:t>de sus distribuciones respectivas (asumidas por el investigador).  Se obtienen parejas de realizaciones:</a:t>
            </a:r>
          </a:p>
          <a:p>
            <a:pPr>
              <a:buNone/>
            </a:pPr>
            <a:endParaRPr lang="es-ES_tradnl" sz="2500" dirty="0" smtClean="0"/>
          </a:p>
          <a:p>
            <a:pPr>
              <a:buNone/>
            </a:pPr>
            <a:endParaRPr lang="es-ES_tradnl" sz="2500" dirty="0" smtClean="0"/>
          </a:p>
          <a:p>
            <a:pPr>
              <a:buNone/>
            </a:pPr>
            <a:r>
              <a:rPr lang="es-ES_tradnl" sz="2500" dirty="0" smtClean="0"/>
              <a:t>2. 	Con base en </a:t>
            </a:r>
            <a:r>
              <a:rPr lang="el-GR" sz="2500" b="1" dirty="0" smtClean="0">
                <a:latin typeface="Garamond"/>
              </a:rPr>
              <a:t>θ</a:t>
            </a:r>
            <a:r>
              <a:rPr lang="es-ES_tradnl" sz="2500" dirty="0" smtClean="0"/>
              <a:t> y                                      se calculan:</a:t>
            </a:r>
          </a:p>
          <a:p>
            <a:pPr>
              <a:buNone/>
            </a:pPr>
            <a:r>
              <a:rPr lang="es-ES_tradnl" sz="2500" dirty="0" smtClean="0"/>
              <a:t>		</a:t>
            </a:r>
          </a:p>
          <a:p>
            <a:pPr>
              <a:buNone/>
            </a:pPr>
            <a:r>
              <a:rPr lang="es-ES_tradnl" sz="2500" dirty="0" smtClean="0"/>
              <a:t>		</a:t>
            </a:r>
            <a:r>
              <a:rPr lang="es-CO" sz="2800" dirty="0" smtClean="0"/>
              <a:t>  </a:t>
            </a:r>
            <a:endParaRPr lang="es-ES" sz="2800" dirty="0" smtClean="0"/>
          </a:p>
          <a:p>
            <a:pPr>
              <a:buNone/>
            </a:pP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6" name="1 Título"/>
          <p:cNvSpPr>
            <a:spLocks noGrp="1"/>
          </p:cNvSpPr>
          <p:nvPr>
            <p:ph type="title"/>
          </p:nvPr>
        </p:nvSpPr>
        <p:spPr>
          <a:xfrm>
            <a:off x="2285984" y="214290"/>
            <a:ext cx="6715140" cy="1214446"/>
          </a:xfrm>
        </p:spPr>
        <p:txBody>
          <a:bodyPr>
            <a:noAutofit/>
          </a:bodyPr>
          <a:lstStyle/>
          <a:p>
            <a:r>
              <a:rPr lang="es-AR" sz="4200" u="sng" dirty="0" smtClean="0"/>
              <a:t>Algoritmo de estimación</a:t>
            </a:r>
            <a:endParaRPr lang="es-AR" sz="4200" i="1" u="sng" dirty="0"/>
          </a:p>
        </p:txBody>
      </p:sp>
      <p:sp>
        <p:nvSpPr>
          <p:cNvPr id="143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4339"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434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4342"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8" name="17 CuadroTexto"/>
          <p:cNvSpPr txBox="1"/>
          <p:nvPr/>
        </p:nvSpPr>
        <p:spPr>
          <a:xfrm>
            <a:off x="1857356" y="5452276"/>
            <a:ext cx="5637312" cy="477054"/>
          </a:xfrm>
          <a:prstGeom prst="rect">
            <a:avLst/>
          </a:prstGeom>
          <a:noFill/>
        </p:spPr>
        <p:txBody>
          <a:bodyPr wrap="none" rtlCol="0">
            <a:spAutoFit/>
          </a:bodyPr>
          <a:lstStyle/>
          <a:p>
            <a:r>
              <a:rPr lang="es-ES_tradnl" sz="2500" dirty="0" smtClean="0"/>
              <a:t>Para cada una de las       personas ficticias.</a:t>
            </a:r>
            <a:endParaRPr lang="es-ES" sz="2500" dirty="0"/>
          </a:p>
        </p:txBody>
      </p:sp>
      <p:sp>
        <p:nvSpPr>
          <p:cNvPr id="1434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54276" name="Object 4"/>
          <p:cNvGraphicFramePr>
            <a:graphicFrameLocks noChangeAspect="1"/>
          </p:cNvGraphicFramePr>
          <p:nvPr/>
        </p:nvGraphicFramePr>
        <p:xfrm>
          <a:off x="683568" y="3284984"/>
          <a:ext cx="7855882" cy="785818"/>
        </p:xfrm>
        <a:graphic>
          <a:graphicData uri="http://schemas.openxmlformats.org/presentationml/2006/ole">
            <p:oleObj spid="_x0000_s54305" name="Documento" r:id="rId4" imgW="5411304" imgH="541667" progId="Word.Document.12">
              <p:embed/>
            </p:oleObj>
          </a:graphicData>
        </a:graphic>
      </p:graphicFrame>
      <p:graphicFrame>
        <p:nvGraphicFramePr>
          <p:cNvPr id="54277" name="Object 5"/>
          <p:cNvGraphicFramePr>
            <a:graphicFrameLocks noChangeAspect="1"/>
          </p:cNvGraphicFramePr>
          <p:nvPr/>
        </p:nvGraphicFramePr>
        <p:xfrm>
          <a:off x="251520" y="4005064"/>
          <a:ext cx="7856538" cy="785812"/>
        </p:xfrm>
        <a:graphic>
          <a:graphicData uri="http://schemas.openxmlformats.org/presentationml/2006/ole">
            <p:oleObj spid="_x0000_s54306" name="Documento" r:id="rId5" imgW="5396753" imgH="541667" progId="Word.Document.12">
              <p:embed/>
            </p:oleObj>
          </a:graphicData>
        </a:graphic>
      </p:graphicFrame>
      <p:graphicFrame>
        <p:nvGraphicFramePr>
          <p:cNvPr id="54279" name="Object 7"/>
          <p:cNvGraphicFramePr>
            <a:graphicFrameLocks noChangeAspect="1"/>
          </p:cNvGraphicFramePr>
          <p:nvPr/>
        </p:nvGraphicFramePr>
        <p:xfrm>
          <a:off x="683568" y="4941168"/>
          <a:ext cx="7716516" cy="717552"/>
        </p:xfrm>
        <a:graphic>
          <a:graphicData uri="http://schemas.openxmlformats.org/presentationml/2006/ole">
            <p:oleObj spid="_x0000_s54307" name="Documento" r:id="rId6" imgW="5411304" imgH="503516" progId="Word.Document.12">
              <p:embed/>
            </p:oleObj>
          </a:graphicData>
        </a:graphic>
      </p:graphicFrame>
      <p:graphicFrame>
        <p:nvGraphicFramePr>
          <p:cNvPr id="54280" name="Object 8"/>
          <p:cNvGraphicFramePr>
            <a:graphicFrameLocks noChangeAspect="1"/>
          </p:cNvGraphicFramePr>
          <p:nvPr/>
        </p:nvGraphicFramePr>
        <p:xfrm>
          <a:off x="1749554" y="5497531"/>
          <a:ext cx="6180032" cy="574675"/>
        </p:xfrm>
        <a:graphic>
          <a:graphicData uri="http://schemas.openxmlformats.org/presentationml/2006/ole">
            <p:oleObj spid="_x0000_s54308" name="Documento" r:id="rId7" imgW="5411304" imgH="503516" progId="Word.Document.12">
              <p:embed/>
            </p:oleObj>
          </a:graphicData>
        </a:graphic>
      </p:graphicFrame>
      <p:sp>
        <p:nvSpPr>
          <p:cNvPr id="16" name="1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32</a:t>
            </a:fld>
            <a:endParaRPr lang="es-ES" sz="1500" dirty="0">
              <a:solidFill>
                <a:schemeClr val="tx1">
                  <a:lumMod val="50000"/>
                  <a:lumOff val="50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p>
          <a:p>
            <a:pPr>
              <a:buNone/>
            </a:pPr>
            <a:r>
              <a:rPr lang="es-ES_tradnl" sz="2500" dirty="0" smtClean="0"/>
              <a:t>	</a:t>
            </a:r>
          </a:p>
          <a:p>
            <a:pPr>
              <a:buNone/>
            </a:pPr>
            <a:r>
              <a:rPr lang="es-ES_tradnl" sz="2500" dirty="0" smtClean="0"/>
              <a:t>	3. 	Se repite el proceso para los        individuos simulados.</a:t>
            </a:r>
          </a:p>
          <a:p>
            <a:pPr>
              <a:buNone/>
            </a:pPr>
            <a:endParaRPr lang="es-ES_tradnl" sz="2500" dirty="0" smtClean="0"/>
          </a:p>
          <a:p>
            <a:pPr>
              <a:buNone/>
            </a:pPr>
            <a:r>
              <a:rPr lang="es-ES_tradnl" sz="2500" dirty="0" smtClean="0"/>
              <a:t>	4. 	Con base en las elecciones de los individuos simulados  	se calculan los mismos momentos que se han 	obtenido a partir de los datos </a:t>
            </a:r>
            <a:r>
              <a:rPr lang="es-ES_tradnl" sz="2500" dirty="0" err="1" smtClean="0"/>
              <a:t>muestrales</a:t>
            </a:r>
            <a:r>
              <a:rPr lang="es-ES_tradnl" sz="2500" dirty="0" smtClean="0"/>
              <a:t>.</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Algoritmo de estimación</a:t>
            </a:r>
            <a:endParaRPr lang="es-AR" sz="4200" i="1" u="sng" dirty="0"/>
          </a:p>
        </p:txBody>
      </p:sp>
      <p:graphicFrame>
        <p:nvGraphicFramePr>
          <p:cNvPr id="53249" name="Object 1"/>
          <p:cNvGraphicFramePr>
            <a:graphicFrameLocks noChangeAspect="1"/>
          </p:cNvGraphicFramePr>
          <p:nvPr/>
        </p:nvGraphicFramePr>
        <p:xfrm>
          <a:off x="2285984" y="2571744"/>
          <a:ext cx="6180138" cy="574675"/>
        </p:xfrm>
        <a:graphic>
          <a:graphicData uri="http://schemas.openxmlformats.org/presentationml/2006/ole">
            <p:oleObj spid="_x0000_s53256" name="Documento" r:id="rId4" imgW="5397500" imgH="504362" progId="Word.Document.12">
              <p:embed/>
            </p:oleObj>
          </a:graphicData>
        </a:graphic>
      </p:graphicFrame>
      <p:sp>
        <p:nvSpPr>
          <p:cNvPr id="7" name="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33</a:t>
            </a:fld>
            <a:endParaRPr lang="es-ES" sz="1500" dirty="0">
              <a:solidFill>
                <a:schemeClr val="tx1">
                  <a:lumMod val="50000"/>
                  <a:lumOff val="5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71612"/>
            <a:ext cx="8258204" cy="4714908"/>
          </a:xfrm>
        </p:spPr>
        <p:txBody>
          <a:bodyPr>
            <a:normAutofit/>
          </a:bodyPr>
          <a:lstStyle/>
          <a:p>
            <a:pPr algn="ctr">
              <a:buNone/>
            </a:pPr>
            <a:r>
              <a:rPr lang="es-ES_tradnl" sz="2500" dirty="0" smtClean="0"/>
              <a:t>	Las decisiones de los individuos hoy tienen un impacto en sus posibilidades y decisiones en el futuro.</a:t>
            </a:r>
          </a:p>
          <a:p>
            <a:pPr>
              <a:buNone/>
            </a:pPr>
            <a:r>
              <a:rPr lang="es-ES_tradnl" sz="2500" dirty="0" smtClean="0"/>
              <a:t>	</a:t>
            </a:r>
          </a:p>
          <a:p>
            <a:pPr>
              <a:buNone/>
            </a:pPr>
            <a:r>
              <a:rPr lang="es-ES_tradnl" sz="2500" dirty="0" smtClean="0"/>
              <a:t>	</a:t>
            </a:r>
            <a:endParaRPr lang="es-ES_tradnl" sz="2500" u="sng" dirty="0" smtClean="0"/>
          </a:p>
          <a:p>
            <a:pPr algn="just">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Modelos estructurales dinámicos</a:t>
            </a:r>
            <a:endParaRPr lang="es-AR" sz="4200" i="1" u="sng" dirty="0"/>
          </a:p>
        </p:txBody>
      </p:sp>
      <p:sp>
        <p:nvSpPr>
          <p:cNvPr id="5120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1203" name="Rectangle 3"/>
          <p:cNvSpPr>
            <a:spLocks noChangeArrowheads="1"/>
          </p:cNvSpPr>
          <p:nvPr/>
        </p:nvSpPr>
        <p:spPr bwMode="auto">
          <a:xfrm>
            <a:off x="1371600" y="1447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 name="9 CuadroTexto"/>
          <p:cNvSpPr txBox="1"/>
          <p:nvPr/>
        </p:nvSpPr>
        <p:spPr>
          <a:xfrm>
            <a:off x="714348" y="4429132"/>
            <a:ext cx="7786742"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Maximización del flujo de utilidades descontado desde el período actual </a:t>
            </a:r>
            <a:r>
              <a:rPr lang="es-ES_tradnl" sz="2500" i="1" dirty="0" smtClean="0">
                <a:latin typeface="Times New Roman" pitchFamily="18" charset="0"/>
                <a:cs typeface="Times New Roman" pitchFamily="18" charset="0"/>
              </a:rPr>
              <a:t>t </a:t>
            </a:r>
            <a:r>
              <a:rPr lang="es-ES_tradnl" sz="2500" dirty="0" smtClean="0"/>
              <a:t>hasta el período final </a:t>
            </a:r>
            <a:r>
              <a:rPr lang="es-ES_tradnl" sz="2500" i="1" dirty="0" smtClean="0">
                <a:latin typeface="Times New Roman" pitchFamily="18" charset="0"/>
                <a:cs typeface="Times New Roman" pitchFamily="18" charset="0"/>
              </a:rPr>
              <a:t>T</a:t>
            </a:r>
            <a:r>
              <a:rPr lang="es-ES_tradnl" sz="2500" dirty="0" smtClean="0"/>
              <a:t>.</a:t>
            </a:r>
            <a:endParaRPr lang="es-ES" sz="2500" dirty="0"/>
          </a:p>
        </p:txBody>
      </p:sp>
      <p:sp>
        <p:nvSpPr>
          <p:cNvPr id="12" name="11 CuadroTexto"/>
          <p:cNvSpPr txBox="1"/>
          <p:nvPr/>
        </p:nvSpPr>
        <p:spPr>
          <a:xfrm>
            <a:off x="642910" y="2451880"/>
            <a:ext cx="4049442" cy="477054"/>
          </a:xfrm>
          <a:prstGeom prst="rect">
            <a:avLst/>
          </a:prstGeom>
          <a:noFill/>
        </p:spPr>
        <p:txBody>
          <a:bodyPr wrap="none" rtlCol="0">
            <a:spAutoFit/>
          </a:bodyPr>
          <a:lstStyle/>
          <a:p>
            <a:r>
              <a:rPr lang="es-ES_tradnl" sz="2500" u="sng" dirty="0" smtClean="0"/>
              <a:t>Versión del modelo dinámico:</a:t>
            </a:r>
            <a:endParaRPr lang="es-ES" sz="2500" dirty="0"/>
          </a:p>
        </p:txBody>
      </p:sp>
      <p:sp>
        <p:nvSpPr>
          <p:cNvPr id="5120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1206" name="Rectangle 6"/>
          <p:cNvSpPr>
            <a:spLocks noChangeArrowheads="1"/>
          </p:cNvSpPr>
          <p:nvPr/>
        </p:nvSpPr>
        <p:spPr bwMode="auto">
          <a:xfrm>
            <a:off x="207010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3" name="12 CuadroTexto"/>
          <p:cNvSpPr txBox="1"/>
          <p:nvPr/>
        </p:nvSpPr>
        <p:spPr>
          <a:xfrm>
            <a:off x="1115616" y="5445224"/>
            <a:ext cx="1212127" cy="477054"/>
          </a:xfrm>
          <a:prstGeom prst="rect">
            <a:avLst/>
          </a:prstGeom>
          <a:noFill/>
        </p:spPr>
        <p:txBody>
          <a:bodyPr wrap="none" rtlCol="0">
            <a:spAutoFit/>
          </a:bodyPr>
          <a:lstStyle/>
          <a:p>
            <a:r>
              <a:rPr lang="es-ES_tradnl" sz="2500" dirty="0" smtClean="0"/>
              <a:t>sujeto a</a:t>
            </a:r>
            <a:endParaRPr lang="es-ES" sz="2500" dirty="0"/>
          </a:p>
        </p:txBody>
      </p:sp>
      <p:graphicFrame>
        <p:nvGraphicFramePr>
          <p:cNvPr id="52226" name="Object 2"/>
          <p:cNvGraphicFramePr>
            <a:graphicFrameLocks noChangeAspect="1"/>
          </p:cNvGraphicFramePr>
          <p:nvPr/>
        </p:nvGraphicFramePr>
        <p:xfrm>
          <a:off x="-285784" y="2928934"/>
          <a:ext cx="9146092" cy="1500198"/>
        </p:xfrm>
        <a:graphic>
          <a:graphicData uri="http://schemas.openxmlformats.org/presentationml/2006/ole">
            <p:oleObj spid="_x0000_s52240" name="Documento" r:id="rId4" imgW="6796892" imgH="1120124" progId="Word.Document.12">
              <p:embed/>
            </p:oleObj>
          </a:graphicData>
        </a:graphic>
      </p:graphicFrame>
      <p:graphicFrame>
        <p:nvGraphicFramePr>
          <p:cNvPr id="52227" name="Object 3"/>
          <p:cNvGraphicFramePr>
            <a:graphicFrameLocks noChangeAspect="1"/>
          </p:cNvGraphicFramePr>
          <p:nvPr/>
        </p:nvGraphicFramePr>
        <p:xfrm>
          <a:off x="0" y="5445224"/>
          <a:ext cx="7171540" cy="720080"/>
        </p:xfrm>
        <a:graphic>
          <a:graphicData uri="http://schemas.openxmlformats.org/presentationml/2006/ole">
            <p:oleObj spid="_x0000_s52241" name="Documento" r:id="rId5" imgW="5397500" imgH="555555" progId="Word.Document.12">
              <p:embed/>
            </p:oleObj>
          </a:graphicData>
        </a:graphic>
      </p:graphicFrame>
      <p:sp>
        <p:nvSpPr>
          <p:cNvPr id="17" name="16 CuadroTexto"/>
          <p:cNvSpPr txBox="1"/>
          <p:nvPr/>
        </p:nvSpPr>
        <p:spPr>
          <a:xfrm>
            <a:off x="1547664" y="6021288"/>
            <a:ext cx="6215356" cy="430887"/>
          </a:xfrm>
          <a:prstGeom prst="rect">
            <a:avLst/>
          </a:prstGeom>
          <a:noFill/>
        </p:spPr>
        <p:txBody>
          <a:bodyPr wrap="none" rtlCol="0">
            <a:spAutoFit/>
          </a:bodyPr>
          <a:lstStyle/>
          <a:p>
            <a:r>
              <a:rPr lang="es-CO" sz="2200" dirty="0" smtClean="0"/>
              <a:t>La función de producción de la variable de resultado.</a:t>
            </a:r>
            <a:endParaRPr lang="es-ES" sz="2200" dirty="0"/>
          </a:p>
        </p:txBody>
      </p:sp>
      <p:sp>
        <p:nvSpPr>
          <p:cNvPr id="16" name="1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34</a:t>
            </a:fld>
            <a:endParaRPr lang="es-ES" sz="1500" dirty="0">
              <a:solidFill>
                <a:schemeClr val="tx1">
                  <a:lumMod val="50000"/>
                  <a:lumOff val="50000"/>
                </a:scheme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Modelos estructurales dinámicos</a:t>
            </a:r>
            <a:endParaRPr lang="es-AR" sz="4200" i="1" u="sng" dirty="0"/>
          </a:p>
        </p:txBody>
      </p:sp>
      <p:sp>
        <p:nvSpPr>
          <p:cNvPr id="8" name="7 CuadroTexto"/>
          <p:cNvSpPr txBox="1"/>
          <p:nvPr/>
        </p:nvSpPr>
        <p:spPr>
          <a:xfrm>
            <a:off x="785786" y="1523186"/>
            <a:ext cx="1133644" cy="477054"/>
          </a:xfrm>
          <a:prstGeom prst="rect">
            <a:avLst/>
          </a:prstGeom>
          <a:noFill/>
        </p:spPr>
        <p:txBody>
          <a:bodyPr wrap="none" rtlCol="0">
            <a:spAutoFit/>
          </a:bodyPr>
          <a:lstStyle/>
          <a:p>
            <a:r>
              <a:rPr lang="es-ES_tradnl" sz="2500" dirty="0" smtClean="0"/>
              <a:t>Donde:</a:t>
            </a:r>
            <a:endParaRPr lang="es-ES" sz="2500" dirty="0"/>
          </a:p>
        </p:txBody>
      </p:sp>
      <p:sp>
        <p:nvSpPr>
          <p:cNvPr id="532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3251" name="Rectangle 3"/>
          <p:cNvSpPr>
            <a:spLocks noChangeArrowheads="1"/>
          </p:cNvSpPr>
          <p:nvPr/>
        </p:nvSpPr>
        <p:spPr bwMode="auto">
          <a:xfrm>
            <a:off x="2286000" y="1419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3" name="12 Conector recto de flecha"/>
          <p:cNvCxnSpPr/>
          <p:nvPr/>
        </p:nvCxnSpPr>
        <p:spPr>
          <a:xfrm>
            <a:off x="2500298" y="242886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3000364" y="2067160"/>
            <a:ext cx="5715040" cy="861774"/>
          </a:xfrm>
          <a:prstGeom prst="rect">
            <a:avLst/>
          </a:prstGeom>
          <a:noFill/>
        </p:spPr>
        <p:txBody>
          <a:bodyPr wrap="square" rtlCol="0">
            <a:spAutoFit/>
          </a:bodyPr>
          <a:lstStyle/>
          <a:p>
            <a:r>
              <a:rPr lang="es-ES_tradnl" sz="2500" dirty="0" smtClean="0"/>
              <a:t>Número total de períodos que el individuo elegible ha participado en el programa.</a:t>
            </a:r>
            <a:endParaRPr lang="es-ES" sz="2500" dirty="0"/>
          </a:p>
        </p:txBody>
      </p:sp>
      <p:sp>
        <p:nvSpPr>
          <p:cNvPr id="5325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7" name="16 Conector recto de flecha"/>
          <p:cNvCxnSpPr/>
          <p:nvPr/>
        </p:nvCxnSpPr>
        <p:spPr>
          <a:xfrm>
            <a:off x="2500298" y="314324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3000364" y="2857496"/>
            <a:ext cx="5786477" cy="1246495"/>
          </a:xfrm>
          <a:prstGeom prst="rect">
            <a:avLst/>
          </a:prstGeom>
          <a:noFill/>
        </p:spPr>
        <p:txBody>
          <a:bodyPr wrap="square" rtlCol="0">
            <a:spAutoFit/>
          </a:bodyPr>
          <a:lstStyle/>
          <a:p>
            <a:r>
              <a:rPr lang="es-ES_tradnl" sz="2500" dirty="0" smtClean="0"/>
              <a:t>Vector de estado, compuesto por      porque es la única variable que se acumula de manera endógena en el modelo.</a:t>
            </a:r>
            <a:endParaRPr lang="es-ES" sz="2500" dirty="0"/>
          </a:p>
        </p:txBody>
      </p:sp>
      <p:sp>
        <p:nvSpPr>
          <p:cNvPr id="5325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79"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8" name="27 Conector recto de flecha"/>
          <p:cNvCxnSpPr/>
          <p:nvPr/>
        </p:nvCxnSpPr>
        <p:spPr>
          <a:xfrm>
            <a:off x="2500298" y="4213230"/>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28 CuadroTexto"/>
          <p:cNvSpPr txBox="1"/>
          <p:nvPr/>
        </p:nvSpPr>
        <p:spPr>
          <a:xfrm>
            <a:off x="3000364" y="4000504"/>
            <a:ext cx="5715040" cy="477054"/>
          </a:xfrm>
          <a:prstGeom prst="rect">
            <a:avLst/>
          </a:prstGeom>
          <a:noFill/>
        </p:spPr>
        <p:txBody>
          <a:bodyPr wrap="square" rtlCol="0">
            <a:spAutoFit/>
          </a:bodyPr>
          <a:lstStyle/>
          <a:p>
            <a:r>
              <a:rPr lang="es-ES_tradnl" sz="2500" dirty="0" smtClean="0"/>
              <a:t>Características del individuo.</a:t>
            </a:r>
            <a:endParaRPr lang="es-ES" sz="2500" dirty="0"/>
          </a:p>
        </p:txBody>
      </p:sp>
      <p:sp>
        <p:nvSpPr>
          <p:cNvPr id="501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2"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33" name="32 Conector recto de flecha"/>
          <p:cNvCxnSpPr/>
          <p:nvPr/>
        </p:nvCxnSpPr>
        <p:spPr>
          <a:xfrm>
            <a:off x="2500298" y="471488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33 CuadroTexto"/>
          <p:cNvSpPr txBox="1"/>
          <p:nvPr/>
        </p:nvSpPr>
        <p:spPr>
          <a:xfrm>
            <a:off x="3000364" y="4429132"/>
            <a:ext cx="5786478" cy="861774"/>
          </a:xfrm>
          <a:prstGeom prst="rect">
            <a:avLst/>
          </a:prstGeom>
          <a:noFill/>
        </p:spPr>
        <p:txBody>
          <a:bodyPr wrap="square" rtlCol="0">
            <a:spAutoFit/>
          </a:bodyPr>
          <a:lstStyle/>
          <a:p>
            <a:r>
              <a:rPr lang="es-ES_tradnl" sz="2500" dirty="0" smtClean="0"/>
              <a:t>Realizaciones presentes y futuras de los choques a la producción.</a:t>
            </a:r>
            <a:endParaRPr lang="es-ES" sz="2500" dirty="0"/>
          </a:p>
        </p:txBody>
      </p:sp>
      <p:sp>
        <p:nvSpPr>
          <p:cNvPr id="5018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0185" name="Rectangle 9"/>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38" name="37 CuadroTexto"/>
          <p:cNvSpPr txBox="1"/>
          <p:nvPr/>
        </p:nvSpPr>
        <p:spPr>
          <a:xfrm>
            <a:off x="3000364" y="5214950"/>
            <a:ext cx="5786478" cy="861774"/>
          </a:xfrm>
          <a:prstGeom prst="rect">
            <a:avLst/>
          </a:prstGeom>
          <a:noFill/>
        </p:spPr>
        <p:txBody>
          <a:bodyPr wrap="square" rtlCol="0">
            <a:spAutoFit/>
          </a:bodyPr>
          <a:lstStyle/>
          <a:p>
            <a:r>
              <a:rPr lang="es-ES_tradnl" sz="2500" dirty="0" smtClean="0"/>
              <a:t>Realizaciones presentes y futuras de los choques a la preferencias.</a:t>
            </a:r>
            <a:endParaRPr lang="es-ES" sz="2500" dirty="0"/>
          </a:p>
        </p:txBody>
      </p:sp>
      <p:cxnSp>
        <p:nvCxnSpPr>
          <p:cNvPr id="39" name="38 Conector recto de flecha"/>
          <p:cNvCxnSpPr/>
          <p:nvPr/>
        </p:nvCxnSpPr>
        <p:spPr>
          <a:xfrm>
            <a:off x="2500298" y="542926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51202" name="Object 2"/>
          <p:cNvGraphicFramePr>
            <a:graphicFrameLocks noChangeAspect="1"/>
          </p:cNvGraphicFramePr>
          <p:nvPr/>
        </p:nvGraphicFramePr>
        <p:xfrm>
          <a:off x="-1268415" y="1909759"/>
          <a:ext cx="5411787" cy="1090613"/>
        </p:xfrm>
        <a:graphic>
          <a:graphicData uri="http://schemas.openxmlformats.org/presentationml/2006/ole">
            <p:oleObj spid="_x0000_s51244" name="Documento" r:id="rId4" imgW="5397500" imgH="1092364" progId="Word.Document.12">
              <p:embed/>
            </p:oleObj>
          </a:graphicData>
        </a:graphic>
      </p:graphicFrame>
      <p:graphicFrame>
        <p:nvGraphicFramePr>
          <p:cNvPr id="51203" name="Object 3"/>
          <p:cNvGraphicFramePr>
            <a:graphicFrameLocks noChangeAspect="1"/>
          </p:cNvGraphicFramePr>
          <p:nvPr/>
        </p:nvGraphicFramePr>
        <p:xfrm>
          <a:off x="4857752" y="2928933"/>
          <a:ext cx="5572164" cy="534497"/>
        </p:xfrm>
        <a:graphic>
          <a:graphicData uri="http://schemas.openxmlformats.org/presentationml/2006/ole">
            <p:oleObj spid="_x0000_s51245" name="Documento" r:id="rId5" imgW="5411304" imgH="519712" progId="Word.Document.12">
              <p:embed/>
            </p:oleObj>
          </a:graphicData>
        </a:graphic>
      </p:graphicFrame>
      <p:graphicFrame>
        <p:nvGraphicFramePr>
          <p:cNvPr id="51204" name="Object 4"/>
          <p:cNvGraphicFramePr>
            <a:graphicFrameLocks noChangeAspect="1"/>
          </p:cNvGraphicFramePr>
          <p:nvPr/>
        </p:nvGraphicFramePr>
        <p:xfrm>
          <a:off x="-1179400" y="2928934"/>
          <a:ext cx="6180028" cy="574675"/>
        </p:xfrm>
        <a:graphic>
          <a:graphicData uri="http://schemas.openxmlformats.org/presentationml/2006/ole">
            <p:oleObj spid="_x0000_s51246" name="Documento" r:id="rId6" imgW="5397500" imgH="504362" progId="Word.Document.12">
              <p:embed/>
            </p:oleObj>
          </a:graphicData>
        </a:graphic>
      </p:graphicFrame>
      <p:graphicFrame>
        <p:nvGraphicFramePr>
          <p:cNvPr id="51205" name="Object 5"/>
          <p:cNvGraphicFramePr>
            <a:graphicFrameLocks noChangeAspect="1"/>
          </p:cNvGraphicFramePr>
          <p:nvPr/>
        </p:nvGraphicFramePr>
        <p:xfrm>
          <a:off x="-1143040" y="3925895"/>
          <a:ext cx="6180028" cy="574675"/>
        </p:xfrm>
        <a:graphic>
          <a:graphicData uri="http://schemas.openxmlformats.org/presentationml/2006/ole">
            <p:oleObj spid="_x0000_s51247" name="Documento" r:id="rId7" imgW="5397500" imgH="504362" progId="Word.Document.12">
              <p:embed/>
            </p:oleObj>
          </a:graphicData>
        </a:graphic>
      </p:graphicFrame>
      <p:graphicFrame>
        <p:nvGraphicFramePr>
          <p:cNvPr id="51206" name="Object 6"/>
          <p:cNvGraphicFramePr>
            <a:graphicFrameLocks noChangeAspect="1"/>
          </p:cNvGraphicFramePr>
          <p:nvPr/>
        </p:nvGraphicFramePr>
        <p:xfrm>
          <a:off x="-1519013" y="4429132"/>
          <a:ext cx="6948269" cy="646113"/>
        </p:xfrm>
        <a:graphic>
          <a:graphicData uri="http://schemas.openxmlformats.org/presentationml/2006/ole">
            <p:oleObj spid="_x0000_s51248" name="Documento" r:id="rId8" imgW="5397500" imgH="504362" progId="Word.Document.12">
              <p:embed/>
            </p:oleObj>
          </a:graphicData>
        </a:graphic>
      </p:graphicFrame>
      <p:graphicFrame>
        <p:nvGraphicFramePr>
          <p:cNvPr id="51207" name="Object 7"/>
          <p:cNvGraphicFramePr>
            <a:graphicFrameLocks noChangeAspect="1"/>
          </p:cNvGraphicFramePr>
          <p:nvPr/>
        </p:nvGraphicFramePr>
        <p:xfrm>
          <a:off x="-1857420" y="5083191"/>
          <a:ext cx="7642243" cy="703263"/>
        </p:xfrm>
        <a:graphic>
          <a:graphicData uri="http://schemas.openxmlformats.org/presentationml/2006/ole">
            <p:oleObj spid="_x0000_s51249" name="Documento" r:id="rId9" imgW="5397500" imgH="504362" progId="Word.Document.12">
              <p:embed/>
            </p:oleObj>
          </a:graphicData>
        </a:graphic>
      </p:graphicFrame>
      <p:sp>
        <p:nvSpPr>
          <p:cNvPr id="36" name="3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35</a:t>
            </a:fld>
            <a:endParaRPr lang="es-ES" sz="1500" dirty="0">
              <a:solidFill>
                <a:schemeClr val="tx1">
                  <a:lumMod val="50000"/>
                  <a:lumOff val="50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endParaRPr lang="es-ES" sz="2500" dirty="0"/>
          </a:p>
        </p:txBody>
      </p:sp>
      <p:pic>
        <p:nvPicPr>
          <p:cNvPr id="4" name="Picture 1"/>
          <p:cNvPicPr>
            <a:picLocks noChangeAspect="1" noChangeArrowheads="1"/>
          </p:cNvPicPr>
          <p:nvPr/>
        </p:nvPicPr>
        <p:blipFill>
          <a:blip r:embed="rId4"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214290"/>
            <a:ext cx="6715140" cy="1214446"/>
          </a:xfrm>
        </p:spPr>
        <p:txBody>
          <a:bodyPr>
            <a:noAutofit/>
          </a:bodyPr>
          <a:lstStyle/>
          <a:p>
            <a:r>
              <a:rPr lang="es-AR" sz="4200" u="sng" dirty="0" smtClean="0"/>
              <a:t>Función de máxima verosimilitud</a:t>
            </a:r>
            <a:endParaRPr lang="es-AR" sz="4200" i="1" u="sng" dirty="0"/>
          </a:p>
        </p:txBody>
      </p:sp>
      <p:sp>
        <p:nvSpPr>
          <p:cNvPr id="542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75"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42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78"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428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81" name="Rectangle 9"/>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7" name="16 Rectángulo"/>
          <p:cNvSpPr/>
          <p:nvPr/>
        </p:nvSpPr>
        <p:spPr>
          <a:xfrm flipH="1">
            <a:off x="6144388" y="3143248"/>
            <a:ext cx="285000" cy="523220"/>
          </a:xfrm>
          <a:prstGeom prst="rect">
            <a:avLst/>
          </a:prstGeom>
        </p:spPr>
        <p:txBody>
          <a:bodyPr wrap="square">
            <a:spAutoFit/>
          </a:bodyPr>
          <a:lstStyle/>
          <a:p>
            <a:r>
              <a:rPr lang="es-CO" sz="2800" dirty="0" smtClean="0"/>
              <a:t>·</a:t>
            </a:r>
            <a:endParaRPr lang="es-ES" sz="2800" dirty="0"/>
          </a:p>
        </p:txBody>
      </p:sp>
      <p:sp>
        <p:nvSpPr>
          <p:cNvPr id="5428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84" name="Rectangle 12"/>
          <p:cNvSpPr>
            <a:spLocks noChangeArrowheads="1"/>
          </p:cNvSpPr>
          <p:nvPr/>
        </p:nvSpPr>
        <p:spPr bwMode="auto">
          <a:xfrm>
            <a:off x="0" y="9906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9" name="18 CuadroTexto"/>
          <p:cNvSpPr txBox="1"/>
          <p:nvPr/>
        </p:nvSpPr>
        <p:spPr>
          <a:xfrm>
            <a:off x="428596" y="5060920"/>
            <a:ext cx="3500461" cy="1154162"/>
          </a:xfrm>
          <a:prstGeom prst="rect">
            <a:avLst/>
          </a:prstGeom>
          <a:noFill/>
          <a:ln>
            <a:solidFill>
              <a:schemeClr val="accent1">
                <a:lumMod val="60000"/>
                <a:lumOff val="40000"/>
              </a:schemeClr>
            </a:solidFill>
          </a:ln>
        </p:spPr>
        <p:txBody>
          <a:bodyPr wrap="square" rtlCol="0">
            <a:spAutoFit/>
          </a:bodyPr>
          <a:lstStyle/>
          <a:p>
            <a:r>
              <a:rPr lang="es-ES_tradnl" sz="2300" dirty="0" smtClean="0"/>
              <a:t>Probabilidad de participar en el período </a:t>
            </a:r>
            <a:r>
              <a:rPr lang="es-ES_tradnl" sz="2300" i="1" dirty="0" smtClean="0">
                <a:latin typeface="Times New Roman" pitchFamily="18" charset="0"/>
                <a:cs typeface="Times New Roman" pitchFamily="18" charset="0"/>
              </a:rPr>
              <a:t>t</a:t>
            </a:r>
            <a:r>
              <a:rPr lang="es-ES_tradnl" sz="2300" dirty="0" smtClean="0"/>
              <a:t> si es beneficiario del programa.</a:t>
            </a:r>
            <a:endParaRPr lang="es-ES" sz="2300" dirty="0"/>
          </a:p>
        </p:txBody>
      </p:sp>
      <p:cxnSp>
        <p:nvCxnSpPr>
          <p:cNvPr id="20" name="19 Conector recto de flecha"/>
          <p:cNvCxnSpPr/>
          <p:nvPr/>
        </p:nvCxnSpPr>
        <p:spPr>
          <a:xfrm rot="10800000" flipV="1">
            <a:off x="1285852" y="3857628"/>
            <a:ext cx="1857388" cy="10715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22 CuadroTexto"/>
          <p:cNvSpPr txBox="1"/>
          <p:nvPr/>
        </p:nvSpPr>
        <p:spPr>
          <a:xfrm>
            <a:off x="5436096" y="2204864"/>
            <a:ext cx="3500461" cy="1154162"/>
          </a:xfrm>
          <a:prstGeom prst="rect">
            <a:avLst/>
          </a:prstGeom>
          <a:noFill/>
          <a:ln>
            <a:solidFill>
              <a:schemeClr val="accent1">
                <a:lumMod val="60000"/>
                <a:lumOff val="40000"/>
              </a:schemeClr>
            </a:solidFill>
          </a:ln>
        </p:spPr>
        <p:txBody>
          <a:bodyPr wrap="square" rtlCol="0">
            <a:spAutoFit/>
          </a:bodyPr>
          <a:lstStyle/>
          <a:p>
            <a:r>
              <a:rPr lang="es-ES_tradnl" sz="2300" dirty="0" smtClean="0"/>
              <a:t>Probabilidad de observar la variable de resultado      en el período </a:t>
            </a:r>
            <a:r>
              <a:rPr lang="es-ES_tradnl" sz="2300" i="1" dirty="0" smtClean="0">
                <a:latin typeface="Times New Roman" pitchFamily="18" charset="0"/>
                <a:cs typeface="Times New Roman" pitchFamily="18" charset="0"/>
              </a:rPr>
              <a:t>t</a:t>
            </a:r>
            <a:r>
              <a:rPr lang="es-ES_tradnl" sz="2300" dirty="0" smtClean="0"/>
              <a:t>. </a:t>
            </a:r>
            <a:endParaRPr lang="es-ES" sz="2300" dirty="0"/>
          </a:p>
        </p:txBody>
      </p:sp>
      <p:cxnSp>
        <p:nvCxnSpPr>
          <p:cNvPr id="24" name="23 Conector recto de flecha"/>
          <p:cNvCxnSpPr/>
          <p:nvPr/>
        </p:nvCxnSpPr>
        <p:spPr>
          <a:xfrm rot="5400000" flipH="1" flipV="1">
            <a:off x="6833982" y="3595910"/>
            <a:ext cx="857256" cy="5234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8" name="Picture 18"/>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8172400" y="2636912"/>
            <a:ext cx="209550" cy="381000"/>
          </a:xfrm>
          <a:prstGeom prst="rect">
            <a:avLst/>
          </a:prstGeom>
          <a:noFill/>
        </p:spPr>
      </p:pic>
      <p:sp>
        <p:nvSpPr>
          <p:cNvPr id="29" name="28 CuadroTexto"/>
          <p:cNvSpPr txBox="1"/>
          <p:nvPr/>
        </p:nvSpPr>
        <p:spPr>
          <a:xfrm>
            <a:off x="4932040" y="5013176"/>
            <a:ext cx="3500461" cy="1508105"/>
          </a:xfrm>
          <a:prstGeom prst="rect">
            <a:avLst/>
          </a:prstGeom>
          <a:noFill/>
          <a:ln>
            <a:solidFill>
              <a:schemeClr val="accent1">
                <a:lumMod val="60000"/>
                <a:lumOff val="40000"/>
              </a:schemeClr>
            </a:solidFill>
          </a:ln>
        </p:spPr>
        <p:txBody>
          <a:bodyPr wrap="square" rtlCol="0">
            <a:spAutoFit/>
          </a:bodyPr>
          <a:lstStyle/>
          <a:p>
            <a:r>
              <a:rPr lang="es-ES_tradnl" sz="2300" dirty="0" smtClean="0"/>
              <a:t>Probabilidad de no participar en el período </a:t>
            </a:r>
            <a:r>
              <a:rPr lang="es-ES_tradnl" sz="2300" i="1" dirty="0" smtClean="0">
                <a:latin typeface="Times New Roman" pitchFamily="18" charset="0"/>
                <a:cs typeface="Times New Roman" pitchFamily="18" charset="0"/>
              </a:rPr>
              <a:t>t</a:t>
            </a:r>
            <a:r>
              <a:rPr lang="es-ES_tradnl" sz="2300" dirty="0" smtClean="0"/>
              <a:t> si no es beneficiario del programa.</a:t>
            </a:r>
            <a:endParaRPr lang="es-ES" sz="2300" dirty="0"/>
          </a:p>
        </p:txBody>
      </p:sp>
      <p:cxnSp>
        <p:nvCxnSpPr>
          <p:cNvPr id="30" name="29 Conector recto de flecha"/>
          <p:cNvCxnSpPr/>
          <p:nvPr/>
        </p:nvCxnSpPr>
        <p:spPr>
          <a:xfrm>
            <a:off x="5715008" y="4786322"/>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50177" name="Object 1"/>
          <p:cNvGraphicFramePr>
            <a:graphicFrameLocks noChangeAspect="1"/>
          </p:cNvGraphicFramePr>
          <p:nvPr/>
        </p:nvGraphicFramePr>
        <p:xfrm>
          <a:off x="-3429056" y="2214554"/>
          <a:ext cx="7682413" cy="714380"/>
        </p:xfrm>
        <a:graphic>
          <a:graphicData uri="http://schemas.openxmlformats.org/presentationml/2006/ole">
            <p:oleObj spid="_x0000_s50198" name="Documento" r:id="rId6" imgW="5397500" imgH="504362" progId="Word.Document.12">
              <p:embed/>
            </p:oleObj>
          </a:graphicData>
        </a:graphic>
      </p:graphicFrame>
      <p:graphicFrame>
        <p:nvGraphicFramePr>
          <p:cNvPr id="50178" name="Object 2"/>
          <p:cNvGraphicFramePr>
            <a:graphicFrameLocks noChangeAspect="1"/>
          </p:cNvGraphicFramePr>
          <p:nvPr/>
        </p:nvGraphicFramePr>
        <p:xfrm>
          <a:off x="214282" y="3190880"/>
          <a:ext cx="6858048" cy="1166814"/>
        </p:xfrm>
        <a:graphic>
          <a:graphicData uri="http://schemas.openxmlformats.org/presentationml/2006/ole">
            <p:oleObj spid="_x0000_s50199" name="Documento" r:id="rId7" imgW="5397500" imgH="922921" progId="Word.Document.12">
              <p:embed/>
            </p:oleObj>
          </a:graphicData>
        </a:graphic>
      </p:graphicFrame>
      <p:graphicFrame>
        <p:nvGraphicFramePr>
          <p:cNvPr id="50179" name="Object 3"/>
          <p:cNvGraphicFramePr>
            <a:graphicFrameLocks noChangeAspect="1"/>
          </p:cNvGraphicFramePr>
          <p:nvPr/>
        </p:nvGraphicFramePr>
        <p:xfrm>
          <a:off x="1628792" y="4234998"/>
          <a:ext cx="7372364" cy="694200"/>
        </p:xfrm>
        <a:graphic>
          <a:graphicData uri="http://schemas.openxmlformats.org/presentationml/2006/ole">
            <p:oleObj spid="_x0000_s50200" name="Documento" r:id="rId8" imgW="5397500" imgH="510851" progId="Word.Document.12">
              <p:embed/>
            </p:oleObj>
          </a:graphicData>
        </a:graphic>
      </p:graphicFrame>
      <p:sp>
        <p:nvSpPr>
          <p:cNvPr id="26" name="2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36</a:t>
            </a:fld>
            <a:endParaRPr lang="es-ES" sz="1500" dirty="0">
              <a:solidFill>
                <a:schemeClr val="tx1">
                  <a:lumMod val="50000"/>
                  <a:lumOff val="50000"/>
                </a:schemeClr>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6" name="1 Título"/>
          <p:cNvSpPr>
            <a:spLocks noGrp="1"/>
          </p:cNvSpPr>
          <p:nvPr>
            <p:ph type="title"/>
          </p:nvPr>
        </p:nvSpPr>
        <p:spPr>
          <a:xfrm>
            <a:off x="2285984" y="214290"/>
            <a:ext cx="6715140" cy="1214446"/>
          </a:xfrm>
        </p:spPr>
        <p:txBody>
          <a:bodyPr>
            <a:noAutofit/>
          </a:bodyPr>
          <a:lstStyle/>
          <a:p>
            <a:r>
              <a:rPr lang="es-AR" sz="4200" u="sng" dirty="0" smtClean="0"/>
              <a:t>Reescribiendo el problema </a:t>
            </a:r>
            <a:br>
              <a:rPr lang="es-AR" sz="4200" u="sng" dirty="0" smtClean="0"/>
            </a:br>
            <a:r>
              <a:rPr lang="es-AR" sz="4200" u="sng" dirty="0" smtClean="0"/>
              <a:t>de maximización</a:t>
            </a:r>
            <a:endParaRPr lang="es-AR" sz="4200" i="1" u="sng" dirty="0"/>
          </a:p>
        </p:txBody>
      </p:sp>
      <p:sp>
        <p:nvSpPr>
          <p:cNvPr id="8" name="7 CuadroTexto"/>
          <p:cNvSpPr txBox="1"/>
          <p:nvPr/>
        </p:nvSpPr>
        <p:spPr>
          <a:xfrm>
            <a:off x="821539" y="3067292"/>
            <a:ext cx="5893601" cy="861774"/>
          </a:xfrm>
          <a:prstGeom prst="rect">
            <a:avLst/>
          </a:prstGeom>
          <a:noFill/>
        </p:spPr>
        <p:txBody>
          <a:bodyPr wrap="square" rtlCol="0">
            <a:spAutoFit/>
          </a:bodyPr>
          <a:lstStyle/>
          <a:p>
            <a:r>
              <a:rPr lang="es-CO" sz="2500" dirty="0" smtClean="0"/>
              <a:t>Dado que el vector de estado       es      ,</a:t>
            </a:r>
          </a:p>
          <a:p>
            <a:r>
              <a:rPr lang="es-CO" sz="2500" dirty="0" smtClean="0"/>
              <a:t>la función de valor se puede escribir como: </a:t>
            </a:r>
            <a:endParaRPr lang="es-ES" sz="2500" dirty="0"/>
          </a:p>
        </p:txBody>
      </p:sp>
      <p:sp>
        <p:nvSpPr>
          <p:cNvPr id="563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63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63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6328"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6329" name="Rectangle 9"/>
          <p:cNvSpPr>
            <a:spLocks noChangeArrowheads="1"/>
          </p:cNvSpPr>
          <p:nvPr/>
        </p:nvSpPr>
        <p:spPr bwMode="auto">
          <a:xfrm>
            <a:off x="0" y="10096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1" name="20 Conector recto de flecha"/>
          <p:cNvCxnSpPr/>
          <p:nvPr/>
        </p:nvCxnSpPr>
        <p:spPr>
          <a:xfrm rot="5400000" flipH="1" flipV="1">
            <a:off x="3357554" y="4643446"/>
            <a:ext cx="357190"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611560" y="5138994"/>
            <a:ext cx="3174622" cy="810478"/>
          </a:xfrm>
          <a:prstGeom prst="rect">
            <a:avLst/>
          </a:prstGeom>
          <a:noFill/>
          <a:ln>
            <a:solidFill>
              <a:schemeClr val="accent1">
                <a:lumMod val="60000"/>
                <a:lumOff val="40000"/>
              </a:schemeClr>
            </a:solidFill>
          </a:ln>
        </p:spPr>
        <p:txBody>
          <a:bodyPr wrap="square" rtlCol="0">
            <a:spAutoFit/>
          </a:bodyPr>
          <a:lstStyle/>
          <a:p>
            <a:pPr>
              <a:lnSpc>
                <a:spcPts val="2800"/>
              </a:lnSpc>
            </a:pPr>
            <a:r>
              <a:rPr lang="es-ES_tradnl" sz="2500" dirty="0" smtClean="0"/>
              <a:t>Utilidad presente máxima, en el actual </a:t>
            </a:r>
            <a:r>
              <a:rPr lang="es-ES_tradnl" sz="2500" i="1" dirty="0" smtClean="0">
                <a:latin typeface="Times New Roman" pitchFamily="18" charset="0"/>
                <a:cs typeface="Times New Roman" pitchFamily="18" charset="0"/>
              </a:rPr>
              <a:t>t</a:t>
            </a:r>
            <a:r>
              <a:rPr lang="es-ES_tradnl" sz="2500" dirty="0" smtClean="0"/>
              <a:t>.</a:t>
            </a:r>
            <a:endParaRPr lang="es-ES" sz="2500" dirty="0"/>
          </a:p>
        </p:txBody>
      </p:sp>
      <p:cxnSp>
        <p:nvCxnSpPr>
          <p:cNvPr id="24" name="23 Conector recto de flecha"/>
          <p:cNvCxnSpPr/>
          <p:nvPr/>
        </p:nvCxnSpPr>
        <p:spPr>
          <a:xfrm rot="16200000" flipV="1">
            <a:off x="6286512" y="4643446"/>
            <a:ext cx="357190"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4067944" y="5013176"/>
            <a:ext cx="4608512" cy="1477328"/>
          </a:xfrm>
          <a:prstGeom prst="rect">
            <a:avLst/>
          </a:prstGeom>
          <a:noFill/>
          <a:ln>
            <a:solidFill>
              <a:schemeClr val="accent1">
                <a:lumMod val="60000"/>
                <a:lumOff val="40000"/>
              </a:schemeClr>
            </a:solidFill>
          </a:ln>
        </p:spPr>
        <p:txBody>
          <a:bodyPr wrap="square" rtlCol="0">
            <a:spAutoFit/>
          </a:bodyPr>
          <a:lstStyle/>
          <a:p>
            <a:pPr>
              <a:lnSpc>
                <a:spcPts val="2700"/>
              </a:lnSpc>
            </a:pPr>
            <a:r>
              <a:rPr lang="es-ES_tradnl" sz="2500" dirty="0" smtClean="0"/>
              <a:t>Más el valor de continuación que corresponde al valor esperado de la función de máximo valor en el período </a:t>
            </a:r>
            <a:r>
              <a:rPr lang="es-ES_tradnl" sz="2500" i="1" dirty="0" smtClean="0"/>
              <a:t>t + 1</a:t>
            </a:r>
            <a:r>
              <a:rPr lang="es-ES_tradnl" sz="2500" dirty="0" smtClean="0"/>
              <a:t>.</a:t>
            </a:r>
            <a:endParaRPr lang="es-ES" sz="2500" dirty="0"/>
          </a:p>
        </p:txBody>
      </p:sp>
      <p:sp>
        <p:nvSpPr>
          <p:cNvPr id="56331"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6332" name="Rectangle 12"/>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3" name="22 CuadroTexto"/>
          <p:cNvSpPr txBox="1"/>
          <p:nvPr/>
        </p:nvSpPr>
        <p:spPr>
          <a:xfrm>
            <a:off x="857224" y="1714488"/>
            <a:ext cx="6420732" cy="477054"/>
          </a:xfrm>
          <a:prstGeom prst="rect">
            <a:avLst/>
          </a:prstGeom>
          <a:noFill/>
        </p:spPr>
        <p:txBody>
          <a:bodyPr wrap="none" rtlCol="0">
            <a:spAutoFit/>
          </a:bodyPr>
          <a:lstStyle/>
          <a:p>
            <a:r>
              <a:rPr lang="es-ES_tradnl" sz="2500" u="sng" dirty="0" smtClean="0"/>
              <a:t>Función de máximo valor (ecuación de </a:t>
            </a:r>
            <a:r>
              <a:rPr lang="es-ES_tradnl" sz="2500" u="sng" dirty="0" err="1" smtClean="0"/>
              <a:t>Bellman</a:t>
            </a:r>
            <a:r>
              <a:rPr lang="es-ES_tradnl" sz="2500" u="sng" dirty="0" smtClean="0"/>
              <a:t>)</a:t>
            </a:r>
            <a:endParaRPr lang="es-ES" sz="2500" u="sng" dirty="0"/>
          </a:p>
        </p:txBody>
      </p:sp>
      <p:graphicFrame>
        <p:nvGraphicFramePr>
          <p:cNvPr id="48129" name="Object 1"/>
          <p:cNvGraphicFramePr>
            <a:graphicFrameLocks noChangeAspect="1"/>
          </p:cNvGraphicFramePr>
          <p:nvPr/>
        </p:nvGraphicFramePr>
        <p:xfrm>
          <a:off x="817266" y="2428868"/>
          <a:ext cx="7755262" cy="939549"/>
        </p:xfrm>
        <a:graphic>
          <a:graphicData uri="http://schemas.openxmlformats.org/presentationml/2006/ole">
            <p:oleObj spid="_x0000_s48158" name="Documento" r:id="rId4" imgW="5397500" imgH="657221" progId="Word.Document.12">
              <p:embed/>
            </p:oleObj>
          </a:graphicData>
        </a:graphic>
      </p:graphicFrame>
      <p:graphicFrame>
        <p:nvGraphicFramePr>
          <p:cNvPr id="48130" name="Object 2"/>
          <p:cNvGraphicFramePr>
            <a:graphicFrameLocks noChangeAspect="1"/>
          </p:cNvGraphicFramePr>
          <p:nvPr/>
        </p:nvGraphicFramePr>
        <p:xfrm>
          <a:off x="1428728" y="3068639"/>
          <a:ext cx="6948269" cy="646113"/>
        </p:xfrm>
        <a:graphic>
          <a:graphicData uri="http://schemas.openxmlformats.org/presentationml/2006/ole">
            <p:oleObj spid="_x0000_s48159" name="Documento" r:id="rId5" imgW="5411304" imgH="503516" progId="Word.Document.12">
              <p:embed/>
            </p:oleObj>
          </a:graphicData>
        </a:graphic>
      </p:graphicFrame>
      <p:graphicFrame>
        <p:nvGraphicFramePr>
          <p:cNvPr id="48131" name="Object 3"/>
          <p:cNvGraphicFramePr>
            <a:graphicFrameLocks noChangeAspect="1"/>
          </p:cNvGraphicFramePr>
          <p:nvPr/>
        </p:nvGraphicFramePr>
        <p:xfrm>
          <a:off x="2369881" y="3071810"/>
          <a:ext cx="6702713" cy="642942"/>
        </p:xfrm>
        <a:graphic>
          <a:graphicData uri="http://schemas.openxmlformats.org/presentationml/2006/ole">
            <p:oleObj spid="_x0000_s48160" name="Documento" r:id="rId6" imgW="5411304" imgH="519712" progId="Word.Document.12">
              <p:embed/>
            </p:oleObj>
          </a:graphicData>
        </a:graphic>
      </p:graphicFrame>
      <p:graphicFrame>
        <p:nvGraphicFramePr>
          <p:cNvPr id="48133" name="Object 5"/>
          <p:cNvGraphicFramePr>
            <a:graphicFrameLocks noChangeAspect="1"/>
          </p:cNvGraphicFramePr>
          <p:nvPr/>
        </p:nvGraphicFramePr>
        <p:xfrm>
          <a:off x="928662" y="4071942"/>
          <a:ext cx="7500990" cy="941749"/>
        </p:xfrm>
        <a:graphic>
          <a:graphicData uri="http://schemas.openxmlformats.org/presentationml/2006/ole">
            <p:oleObj spid="_x0000_s48161" name="Documento" r:id="rId7" imgW="5397500" imgH="681015" progId="Word.Document.12">
              <p:embed/>
            </p:oleObj>
          </a:graphicData>
        </a:graphic>
      </p:graphicFrame>
      <p:sp>
        <p:nvSpPr>
          <p:cNvPr id="27" name="26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37</a:t>
            </a:fld>
            <a:endParaRPr lang="es-ES" sz="1500" dirty="0">
              <a:solidFill>
                <a:schemeClr val="tx1">
                  <a:lumMod val="50000"/>
                  <a:lumOff val="50000"/>
                </a:scheme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268760"/>
            <a:ext cx="8352928" cy="5112568"/>
          </a:xfrm>
        </p:spPr>
        <p:txBody>
          <a:bodyPr>
            <a:normAutofit/>
          </a:bodyPr>
          <a:lstStyle/>
          <a:p>
            <a:pPr>
              <a:buNone/>
            </a:pPr>
            <a:r>
              <a:rPr lang="es-ES_tradnl" sz="2500" dirty="0" smtClean="0"/>
              <a:t>	</a:t>
            </a:r>
            <a:r>
              <a:rPr lang="es-ES_tradnl" sz="2400" dirty="0" smtClean="0"/>
              <a:t>Las expresiones de las probabilidades de elección por período que van en la función de verosimilitud son más complejas porque no se comparan utilidades corrientes, sino las utilidades corrientes más el valor de continuación dada la elección del período presente, así:</a:t>
            </a:r>
          </a:p>
          <a:p>
            <a:pPr>
              <a:buNone/>
            </a:pPr>
            <a:endParaRPr lang="es-ES_tradnl" sz="2500" dirty="0" smtClean="0"/>
          </a:p>
          <a:p>
            <a:pPr>
              <a:buNone/>
            </a:pPr>
            <a:r>
              <a:rPr lang="es-ES_tradnl" sz="2500" dirty="0" smtClean="0"/>
              <a:t>	</a:t>
            </a:r>
          </a:p>
        </p:txBody>
      </p:sp>
      <p:pic>
        <p:nvPicPr>
          <p:cNvPr id="4" name="Picture 1"/>
          <p:cNvPicPr>
            <a:picLocks noChangeAspect="1" noChangeArrowheads="1"/>
          </p:cNvPicPr>
          <p:nvPr/>
        </p:nvPicPr>
        <p:blipFill>
          <a:blip r:embed="rId3" cstate="print"/>
          <a:srcRect/>
          <a:stretch>
            <a:fillRect/>
          </a:stretch>
        </p:blipFill>
        <p:spPr bwMode="auto">
          <a:xfrm>
            <a:off x="-32" y="0"/>
            <a:ext cx="2500298" cy="1189301"/>
          </a:xfrm>
          <a:prstGeom prst="rect">
            <a:avLst/>
          </a:prstGeom>
          <a:noFill/>
          <a:ln w="9525">
            <a:noFill/>
            <a:miter lim="800000"/>
            <a:headEnd/>
            <a:tailEnd/>
          </a:ln>
          <a:effectLst/>
        </p:spPr>
      </p:pic>
      <p:sp>
        <p:nvSpPr>
          <p:cNvPr id="7" name="1 Título"/>
          <p:cNvSpPr>
            <a:spLocks noGrp="1"/>
          </p:cNvSpPr>
          <p:nvPr>
            <p:ph type="title"/>
          </p:nvPr>
        </p:nvSpPr>
        <p:spPr>
          <a:xfrm>
            <a:off x="2285984" y="71414"/>
            <a:ext cx="6715140" cy="1214446"/>
          </a:xfrm>
        </p:spPr>
        <p:txBody>
          <a:bodyPr>
            <a:noAutofit/>
          </a:bodyPr>
          <a:lstStyle/>
          <a:p>
            <a:r>
              <a:rPr lang="es-AR" sz="4200" u="sng" dirty="0" smtClean="0"/>
              <a:t>Probabilidad de participación</a:t>
            </a:r>
            <a:endParaRPr lang="es-AR" sz="4200" i="1" u="sng" dirty="0"/>
          </a:p>
        </p:txBody>
      </p:sp>
      <p:sp>
        <p:nvSpPr>
          <p:cNvPr id="5939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9395"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939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9398" name="Rectangle 6"/>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940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9401" name="Rectangle 9"/>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940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9404" name="Rectangle 12"/>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9406"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9407" name="Rectangle 15"/>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9409" name="Rectangle 1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9410" name="Rectangle 18"/>
          <p:cNvSpPr>
            <a:spLocks noChangeArrowheads="1"/>
          </p:cNvSpPr>
          <p:nvPr/>
        </p:nvSpPr>
        <p:spPr bwMode="auto">
          <a:xfrm>
            <a:off x="0" y="885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9412"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5057" name="Object 1"/>
          <p:cNvGraphicFramePr>
            <a:graphicFrameLocks noChangeAspect="1"/>
          </p:cNvGraphicFramePr>
          <p:nvPr/>
        </p:nvGraphicFramePr>
        <p:xfrm>
          <a:off x="539552" y="3284984"/>
          <a:ext cx="6914180" cy="642943"/>
        </p:xfrm>
        <a:graphic>
          <a:graphicData uri="http://schemas.openxmlformats.org/presentationml/2006/ole">
            <p:oleObj spid="_x0000_s45071" name="Documento" r:id="rId4" imgW="5397500" imgH="504362" progId="Word.Document.12">
              <p:embed/>
            </p:oleObj>
          </a:graphicData>
        </a:graphic>
      </p:graphicFrame>
      <p:graphicFrame>
        <p:nvGraphicFramePr>
          <p:cNvPr id="45058" name="Object 2"/>
          <p:cNvGraphicFramePr>
            <a:graphicFrameLocks noChangeAspect="1"/>
          </p:cNvGraphicFramePr>
          <p:nvPr/>
        </p:nvGraphicFramePr>
        <p:xfrm>
          <a:off x="683568" y="3861048"/>
          <a:ext cx="7952521" cy="1215389"/>
        </p:xfrm>
        <a:graphic>
          <a:graphicData uri="http://schemas.openxmlformats.org/presentationml/2006/ole">
            <p:oleObj spid="_x0000_s45072" name="Documento" r:id="rId5" imgW="5397500" imgH="828106" progId="Word.Document.12">
              <p:embed/>
            </p:oleObj>
          </a:graphicData>
        </a:graphic>
      </p:graphicFrame>
      <p:sp>
        <p:nvSpPr>
          <p:cNvPr id="450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6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mc:AlternateContent xmlns:mc="http://schemas.openxmlformats.org/markup-compatibility/2006">
        <mc:Choice xmlns:a14="http://schemas.microsoft.com/office/drawing/2010/main" xmlns="" Requires="a14">
          <p:sp>
            <p:nvSpPr>
              <p:cNvPr id="27" name="26 CuadroTexto"/>
              <p:cNvSpPr txBox="1"/>
              <p:nvPr/>
            </p:nvSpPr>
            <p:spPr>
              <a:xfrm>
                <a:off x="467544" y="5085184"/>
                <a:ext cx="8316416" cy="1200329"/>
              </a:xfrm>
              <a:prstGeom prst="rect">
                <a:avLst/>
              </a:prstGeom>
              <a:noFill/>
            </p:spPr>
            <p:txBody>
              <a:bodyPr wrap="square" rtlCol="0">
                <a:spAutoFit/>
              </a:bodyPr>
              <a:lstStyle/>
              <a:p>
                <a:r>
                  <a:rPr lang="es-CO" sz="2400" dirty="0" smtClean="0"/>
                  <a:t>Donde </a:t>
                </a:r>
                <a14:m>
                  <m:oMath xmlns:m="http://schemas.openxmlformats.org/officeDocument/2006/math">
                    <m:sSub>
                      <m:sSubPr>
                        <m:ctrlPr>
                          <a:rPr lang="es-CO" sz="2400" b="0" i="1" smtClean="0">
                            <a:latin typeface="Cambria Math"/>
                          </a:rPr>
                        </m:ctrlPr>
                      </m:sSubPr>
                      <m:e>
                        <m:r>
                          <a:rPr lang="es-CO" sz="2400" b="0" i="1" smtClean="0">
                            <a:latin typeface="Cambria Math"/>
                          </a:rPr>
                          <m:t>𝐸</m:t>
                        </m:r>
                      </m:e>
                      <m:sub>
                        <m:r>
                          <a:rPr lang="es-CO" sz="2400" b="0" i="1" smtClean="0">
                            <a:latin typeface="Cambria Math"/>
                          </a:rPr>
                          <m:t>𝑚𝑎𝑥</m:t>
                        </m:r>
                      </m:sub>
                    </m:sSub>
                    <m:r>
                      <a:rPr lang="es-CO" sz="2400" b="0" i="1" smtClean="0">
                        <a:latin typeface="Cambria Math"/>
                      </a:rPr>
                      <m:t> </m:t>
                    </m:r>
                    <m:sSub>
                      <m:sSubPr>
                        <m:ctrlPr>
                          <a:rPr lang="es-CO" sz="2400" b="0" i="1" smtClean="0">
                            <a:latin typeface="Cambria Math"/>
                          </a:rPr>
                        </m:ctrlPr>
                      </m:sSubPr>
                      <m:e>
                        <m:r>
                          <a:rPr lang="es-CO" sz="2400" b="0" i="1" smtClean="0">
                            <a:latin typeface="Cambria Math"/>
                          </a:rPr>
                          <m:t>𝑣</m:t>
                        </m:r>
                      </m:e>
                      <m:sub>
                        <m:r>
                          <a:rPr lang="es-CO" sz="2400" b="0" i="1" smtClean="0">
                            <a:latin typeface="Cambria Math"/>
                          </a:rPr>
                          <m:t>𝑡</m:t>
                        </m:r>
                        <m:r>
                          <a:rPr lang="es-CO" sz="2400" b="0" i="1" smtClean="0">
                            <a:latin typeface="Cambria Math"/>
                          </a:rPr>
                          <m:t>+1</m:t>
                        </m:r>
                      </m:sub>
                    </m:sSub>
                  </m:oMath>
                </a14:m>
                <a:r>
                  <a:rPr lang="es-CO" sz="2400" dirty="0" smtClean="0"/>
                  <a:t> es el máximo valor de continuación de </a:t>
                </a:r>
                <a:r>
                  <a:rPr lang="es-CO" sz="2400" i="1" dirty="0" smtClean="0"/>
                  <a:t>t + 1 </a:t>
                </a:r>
                <a:r>
                  <a:rPr lang="es-CO" sz="2400" dirty="0" smtClean="0"/>
                  <a:t>en adelante que se logra dada la elección del período presente (que puede ser participar o no participar en el programa).</a:t>
                </a:r>
                <a:endParaRPr lang="es-ES" sz="2400" dirty="0"/>
              </a:p>
            </p:txBody>
          </p:sp>
        </mc:Choice>
        <mc:Fallback>
          <p:sp>
            <p:nvSpPr>
              <p:cNvPr id="27" name="26 CuadroTexto"/>
              <p:cNvSpPr txBox="1">
                <a:spLocks noRot="1" noChangeAspect="1" noMove="1" noResize="1" noEditPoints="1" noAdjustHandles="1" noChangeArrowheads="1" noChangeShapeType="1" noTextEdit="1"/>
              </p:cNvSpPr>
              <p:nvPr/>
            </p:nvSpPr>
            <p:spPr>
              <a:xfrm>
                <a:off x="467544" y="5085184"/>
                <a:ext cx="8316416" cy="1200329"/>
              </a:xfrm>
              <a:prstGeom prst="rect">
                <a:avLst/>
              </a:prstGeom>
              <a:blipFill rotWithShape="1">
                <a:blip r:embed="rId6" cstate="print"/>
                <a:stretch>
                  <a:fillRect l="-1173" t="-4061" r="-293" b="-10660"/>
                </a:stretch>
              </a:blipFill>
            </p:spPr>
            <p:txBody>
              <a:bodyPr/>
              <a:lstStyle/>
              <a:p>
                <a:r>
                  <a:rPr lang="es-CO">
                    <a:noFill/>
                  </a:rPr>
                  <a:t> </a:t>
                </a:r>
              </a:p>
            </p:txBody>
          </p:sp>
        </mc:Fallback>
      </mc:AlternateContent>
      <p:sp>
        <p:nvSpPr>
          <p:cNvPr id="25" name="24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38</a:t>
            </a:fld>
            <a:endParaRPr lang="es-ES" sz="1500" dirty="0">
              <a:solidFill>
                <a:schemeClr val="tx1">
                  <a:lumMod val="50000"/>
                  <a:lumOff val="50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lnSpcReduction="10000"/>
          </a:bodyPr>
          <a:lstStyle/>
          <a:p>
            <a:pPr marL="457200" indent="-457200">
              <a:buFont typeface="+mj-lt"/>
              <a:buAutoNum type="arabicPeriod"/>
            </a:pPr>
            <a:r>
              <a:rPr lang="es-ES_tradnl" sz="2500" dirty="0" smtClean="0"/>
              <a:t>El hecho de que sean dinámicos permite obtener una visión más realista. </a:t>
            </a:r>
          </a:p>
          <a:p>
            <a:pPr>
              <a:buNone/>
            </a:pPr>
            <a:endParaRPr lang="es-ES_tradnl" sz="2500" dirty="0" smtClean="0"/>
          </a:p>
          <a:p>
            <a:pPr>
              <a:buNone/>
            </a:pPr>
            <a:endParaRPr lang="es-ES_tradnl" sz="2500" dirty="0" smtClean="0"/>
          </a:p>
          <a:p>
            <a:pPr>
              <a:buNone/>
            </a:pPr>
            <a:endParaRPr lang="es-ES_tradnl" sz="2500" dirty="0" smtClean="0"/>
          </a:p>
          <a:p>
            <a:pPr>
              <a:buNone/>
            </a:pPr>
            <a:endParaRPr lang="es-ES_tradnl" sz="2500" dirty="0" smtClean="0"/>
          </a:p>
          <a:p>
            <a:pPr>
              <a:buNone/>
            </a:pPr>
            <a:r>
              <a:rPr lang="es-ES_tradnl" sz="2500" dirty="0" smtClean="0"/>
              <a:t>	</a:t>
            </a:r>
          </a:p>
          <a:p>
            <a:pPr marL="457200" indent="-457200">
              <a:buFont typeface="+mj-lt"/>
              <a:buAutoNum type="arabicPeriod" startAt="2"/>
            </a:pPr>
            <a:r>
              <a:rPr lang="es-ES_tradnl" sz="2500" dirty="0" smtClean="0"/>
              <a:t>Permiten evaluar tanto efectos de corto plazo como los efectos de largo plazo del programa, lo cual no es posible en las metodologías de forma reducida que estudiaron en los capítulos anteriores.</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Ventaja de los modelos dinámicos</a:t>
            </a:r>
            <a:endParaRPr lang="es-AR" sz="4200" u="sng" dirty="0"/>
          </a:p>
        </p:txBody>
      </p:sp>
      <p:sp>
        <p:nvSpPr>
          <p:cNvPr id="7" name="6 Flecha abajo"/>
          <p:cNvSpPr/>
          <p:nvPr/>
        </p:nvSpPr>
        <p:spPr>
          <a:xfrm>
            <a:off x="4357686" y="2357430"/>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785786" y="2825447"/>
            <a:ext cx="7643866" cy="1246495"/>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Incorpora el hecho de que las decisiones de los individuos pueden tener efectos no sólo en el presente, sino en el futuro.</a:t>
            </a:r>
            <a:endParaRPr lang="es-ES" sz="2500" dirty="0"/>
          </a:p>
        </p:txBody>
      </p:sp>
      <p:sp>
        <p:nvSpPr>
          <p:cNvPr id="10" name="9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39</a:t>
            </a:fld>
            <a:endParaRPr lang="es-ES" sz="1500" dirty="0">
              <a:solidFill>
                <a:schemeClr val="tx1">
                  <a:lumMod val="50000"/>
                  <a:lumOff val="50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457200" indent="-457200">
              <a:buFont typeface="+mj-lt"/>
              <a:buAutoNum type="arabicPeriod"/>
            </a:pPr>
            <a:r>
              <a:rPr lang="es-ES_tradnl" sz="2500" dirty="0" smtClean="0"/>
              <a:t>Los modelos estructurales permiten la simulación de experimentos de política contrafactual.</a:t>
            </a:r>
          </a:p>
          <a:p>
            <a:pPr>
              <a:buNone/>
            </a:pPr>
            <a:r>
              <a:rPr lang="es-ES_tradnl" sz="2500" dirty="0" smtClean="0"/>
              <a:t>	</a:t>
            </a:r>
          </a:p>
          <a:p>
            <a:pPr>
              <a:buNone/>
            </a:pPr>
            <a:r>
              <a:rPr lang="es-ES_tradnl" sz="2500" dirty="0" smtClean="0"/>
              <a:t>	</a:t>
            </a:r>
            <a:r>
              <a:rPr lang="es-ES_tradnl" sz="2500" u="sng" dirty="0" smtClean="0"/>
              <a:t>Ejemplo:</a:t>
            </a:r>
          </a:p>
          <a:p>
            <a:pPr>
              <a:buNone/>
            </a:pPr>
            <a:r>
              <a:rPr lang="es-ES_tradnl" sz="2500" dirty="0" smtClean="0"/>
              <a:t>	</a:t>
            </a:r>
            <a:r>
              <a:rPr lang="es-ES_tradnl" sz="2500" u="sng" dirty="0" smtClean="0"/>
              <a:t>En un experimento aleatorio controlado</a:t>
            </a:r>
            <a:r>
              <a:rPr lang="es-ES_tradnl" sz="2500" dirty="0" smtClean="0"/>
              <a:t>:</a:t>
            </a:r>
          </a:p>
          <a:p>
            <a:pPr algn="just">
              <a:buNone/>
            </a:pPr>
            <a:r>
              <a:rPr lang="es-ES_tradnl" sz="2500" dirty="0" smtClean="0"/>
              <a:t>	Un programa de transferencias condicionado en la asistencia escolar como el de Familias en Acción.</a:t>
            </a:r>
          </a:p>
          <a:p>
            <a:pPr>
              <a:buNone/>
            </a:pP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Conclusiones</a:t>
            </a:r>
            <a:endParaRPr lang="es-AR" sz="4200" u="sng" dirty="0"/>
          </a:p>
        </p:txBody>
      </p:sp>
      <p:sp>
        <p:nvSpPr>
          <p:cNvPr id="7" name="6 Flecha abajo"/>
          <p:cNvSpPr/>
          <p:nvPr/>
        </p:nvSpPr>
        <p:spPr>
          <a:xfrm>
            <a:off x="4357686" y="4786322"/>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785786" y="5214950"/>
            <a:ext cx="7715304"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Sólo se puede evaluar la transferencia condicionada tal cual está diseñada.</a:t>
            </a:r>
            <a:endParaRPr lang="es-ES" sz="2500" dirty="0"/>
          </a:p>
        </p:txBody>
      </p:sp>
      <p:sp>
        <p:nvSpPr>
          <p:cNvPr id="10" name="9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40</a:t>
            </a:fld>
            <a:endParaRPr lang="es-ES" sz="1500" dirty="0">
              <a:solidFill>
                <a:schemeClr val="tx1">
                  <a:lumMod val="50000"/>
                  <a:lumOff val="5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p>
          <a:p>
            <a:pPr>
              <a:buNone/>
            </a:pPr>
            <a:r>
              <a:rPr lang="es-ES_tradnl" sz="2500" dirty="0" smtClean="0"/>
              <a:t>	</a:t>
            </a:r>
            <a:r>
              <a:rPr lang="es-ES_tradnl" sz="2500" u="sng" dirty="0" smtClean="0"/>
              <a:t>En un modelo de comportamiento:</a:t>
            </a:r>
          </a:p>
          <a:p>
            <a:pPr algn="just">
              <a:buNone/>
            </a:pPr>
            <a:r>
              <a:rPr lang="es-ES_tradnl" sz="2500" dirty="0" smtClean="0"/>
              <a:t>	Se puede estimar el efecto si el subsidio fuera: </a:t>
            </a:r>
          </a:p>
          <a:p>
            <a:pPr algn="just">
              <a:buNone/>
            </a:pPr>
            <a:r>
              <a:rPr lang="es-ES_tradnl" sz="2500" dirty="0" smtClean="0"/>
              <a:t>	1. Incondicional.</a:t>
            </a:r>
          </a:p>
          <a:p>
            <a:pPr algn="just">
              <a:buNone/>
            </a:pPr>
            <a:r>
              <a:rPr lang="es-ES_tradnl" sz="2500" dirty="0" smtClean="0"/>
              <a:t>	2. Condicional en graduación escolar y no en asistencia.</a:t>
            </a:r>
          </a:p>
          <a:p>
            <a:pPr algn="just">
              <a:buNone/>
            </a:pPr>
            <a:r>
              <a:rPr lang="es-ES_tradnl" sz="2500" dirty="0" smtClean="0"/>
              <a:t>     3. Si el monto variara por género del niño beneficiario, etc.</a:t>
            </a:r>
          </a:p>
          <a:p>
            <a:pPr>
              <a:buNone/>
            </a:pPr>
            <a:r>
              <a:rPr lang="es-ES_tradnl" sz="2500" dirty="0" smtClean="0"/>
              <a:t>	</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Conclusiones</a:t>
            </a:r>
            <a:endParaRPr lang="es-AR" sz="4200" u="sng" dirty="0"/>
          </a:p>
        </p:txBody>
      </p:sp>
      <p:sp>
        <p:nvSpPr>
          <p:cNvPr id="6" name="5 Flecha abajo"/>
          <p:cNvSpPr/>
          <p:nvPr/>
        </p:nvSpPr>
        <p:spPr>
          <a:xfrm>
            <a:off x="4139952" y="4511400"/>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857224" y="5159514"/>
            <a:ext cx="7500990"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Se pueden estudiar los impactos de variaciones hipotéticas en la política</a:t>
            </a:r>
            <a:r>
              <a:rPr lang="es-ES_tradnl" dirty="0" smtClean="0"/>
              <a:t>.</a:t>
            </a:r>
            <a:endParaRPr lang="es-ES" dirty="0"/>
          </a:p>
        </p:txBody>
      </p:sp>
      <p:sp>
        <p:nvSpPr>
          <p:cNvPr id="8" name="7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41</a:t>
            </a:fld>
            <a:endParaRPr lang="es-ES" sz="1500" dirty="0">
              <a:solidFill>
                <a:schemeClr val="tx1">
                  <a:lumMod val="50000"/>
                  <a:lumOff val="50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buNone/>
            </a:pPr>
            <a:r>
              <a:rPr lang="es-ES_tradnl" dirty="0" smtClean="0"/>
              <a:t> </a:t>
            </a:r>
            <a:r>
              <a:rPr lang="es-ES_tradnl" sz="2500" dirty="0" smtClean="0"/>
              <a:t>2.	 Permiten la evaluación de efectos de largo y corto plazo.</a:t>
            </a:r>
            <a:r>
              <a:rPr lang="es-ES_tradnl" dirty="0" smtClean="0"/>
              <a:t> </a:t>
            </a:r>
          </a:p>
          <a:p>
            <a:pPr algn="just">
              <a:buNone/>
            </a:pPr>
            <a:endParaRPr lang="es-ES_tradnl" sz="2500" dirty="0" smtClean="0"/>
          </a:p>
          <a:p>
            <a:pPr algn="just">
              <a:buNone/>
            </a:pPr>
            <a:r>
              <a:rPr lang="es-ES_tradnl" sz="2500" dirty="0" smtClean="0"/>
              <a:t>	</a:t>
            </a:r>
            <a:r>
              <a:rPr lang="es-ES_tradnl" sz="2500" u="sng" dirty="0" smtClean="0"/>
              <a:t>Ejemplo:</a:t>
            </a:r>
            <a:endParaRPr lang="es-ES_tradnl" sz="2500" dirty="0" smtClean="0"/>
          </a:p>
          <a:p>
            <a:pPr algn="just">
              <a:buNone/>
            </a:pPr>
            <a:r>
              <a:rPr lang="es-ES_tradnl" sz="2500" dirty="0" smtClean="0"/>
              <a:t>	Las transferencias condicionadas pueden no tener muchos efectos en las decisiones de retorno a la escuela una vez el niño deserta.</a:t>
            </a:r>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Conclusiones</a:t>
            </a:r>
            <a:endParaRPr lang="es-AR" sz="4200" u="sng" dirty="0"/>
          </a:p>
        </p:txBody>
      </p:sp>
      <p:sp>
        <p:nvSpPr>
          <p:cNvPr id="6" name="5 Flecha abajo"/>
          <p:cNvSpPr/>
          <p:nvPr/>
        </p:nvSpPr>
        <p:spPr>
          <a:xfrm>
            <a:off x="4500562" y="4857760"/>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3265429" y="5357826"/>
            <a:ext cx="2906180" cy="477054"/>
          </a:xfrm>
          <a:prstGeom prst="rect">
            <a:avLst/>
          </a:prstGeom>
          <a:noFill/>
          <a:ln>
            <a:solidFill>
              <a:schemeClr val="accent1">
                <a:lumMod val="60000"/>
                <a:lumOff val="40000"/>
              </a:schemeClr>
            </a:solidFill>
          </a:ln>
        </p:spPr>
        <p:txBody>
          <a:bodyPr wrap="none" rtlCol="0">
            <a:spAutoFit/>
          </a:bodyPr>
          <a:lstStyle/>
          <a:p>
            <a:r>
              <a:rPr lang="es-ES_tradnl" sz="2500" dirty="0" smtClean="0"/>
              <a:t>Efecto de corto plazo</a:t>
            </a:r>
            <a:endParaRPr lang="es-ES" sz="2500" dirty="0"/>
          </a:p>
        </p:txBody>
      </p:sp>
      <p:sp>
        <p:nvSpPr>
          <p:cNvPr id="8" name="7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42</a:t>
            </a:fld>
            <a:endParaRPr lang="es-ES" sz="1500" dirty="0">
              <a:solidFill>
                <a:schemeClr val="tx1">
                  <a:lumMod val="50000"/>
                  <a:lumOff val="50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285992"/>
            <a:ext cx="8229600" cy="3840171"/>
          </a:xfrm>
        </p:spPr>
        <p:txBody>
          <a:bodyPr>
            <a:normAutofit/>
          </a:bodyPr>
          <a:lstStyle/>
          <a:p>
            <a:pPr>
              <a:buNone/>
            </a:pPr>
            <a:r>
              <a:rPr lang="es-ES_tradnl" sz="2500" dirty="0" smtClean="0"/>
              <a:t>	Ahora, si el programa ha estado vigente durante un período largo, es posible que prevenga la deserción escolar. </a:t>
            </a:r>
          </a:p>
          <a:p>
            <a:pPr>
              <a:buNone/>
            </a:pPr>
            <a:endParaRPr lang="es-ES_tradnl" sz="2500" dirty="0" smtClean="0"/>
          </a:p>
          <a:p>
            <a:pPr>
              <a:buNone/>
            </a:pPr>
            <a:endParaRPr lang="es-ES_tradnl" sz="2500" dirty="0" smtClean="0"/>
          </a:p>
          <a:p>
            <a:pPr>
              <a:buNone/>
            </a:pPr>
            <a:endParaRPr lang="es-ES_tradnl" sz="2500" dirty="0" smtClean="0"/>
          </a:p>
          <a:p>
            <a:pPr>
              <a:buNone/>
            </a:pPr>
            <a:endParaRPr lang="es-ES_tradnl" sz="2500" dirty="0" smtClean="0"/>
          </a:p>
          <a:p>
            <a:pPr>
              <a:buNone/>
            </a:pPr>
            <a:r>
              <a:rPr lang="es-ES_tradnl" sz="2500" dirty="0" smtClean="0"/>
              <a:t>	</a:t>
            </a:r>
          </a:p>
          <a:p>
            <a:pPr algn="just">
              <a:buNone/>
            </a:pPr>
            <a:r>
              <a:rPr lang="es-ES_tradnl"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Conclusiones</a:t>
            </a:r>
            <a:endParaRPr lang="es-AR" sz="4200" u="sng" dirty="0"/>
          </a:p>
        </p:txBody>
      </p:sp>
      <p:sp>
        <p:nvSpPr>
          <p:cNvPr id="6" name="5 Flecha abajo"/>
          <p:cNvSpPr/>
          <p:nvPr/>
        </p:nvSpPr>
        <p:spPr>
          <a:xfrm>
            <a:off x="4357686" y="3429000"/>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857224" y="4071942"/>
            <a:ext cx="7643866"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En este caso los efectos esperados de largo plazo son mayores que los de corto plazo.</a:t>
            </a:r>
            <a:endParaRPr lang="es-ES" sz="2500" dirty="0"/>
          </a:p>
        </p:txBody>
      </p:sp>
      <p:sp>
        <p:nvSpPr>
          <p:cNvPr id="8" name="7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43</a:t>
            </a:fld>
            <a:endParaRPr lang="es-ES" sz="1500" dirty="0">
              <a:solidFill>
                <a:schemeClr val="tx1">
                  <a:lumMod val="50000"/>
                  <a:lumOff val="50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115328" cy="4614882"/>
          </a:xfrm>
        </p:spPr>
        <p:txBody>
          <a:bodyPr>
            <a:normAutofit lnSpcReduction="10000"/>
          </a:bodyPr>
          <a:lstStyle/>
          <a:p>
            <a:pPr marL="457200" indent="-457200" algn="just">
              <a:buNone/>
            </a:pPr>
            <a:r>
              <a:rPr lang="es-ES_tradnl" sz="2500" dirty="0" smtClean="0"/>
              <a:t>3. 	Los modelos de comportamiento permiten estudiar mecanismos a través de los cuales la política tiene sus efectos sobre la variable de resultado.</a:t>
            </a:r>
          </a:p>
          <a:p>
            <a:pPr marL="457200" indent="-457200" algn="just">
              <a:buNone/>
            </a:pPr>
            <a:endParaRPr lang="es-ES_tradnl" sz="2500" dirty="0" smtClean="0"/>
          </a:p>
          <a:p>
            <a:pPr marL="457200" indent="-457200" algn="just">
              <a:buNone/>
            </a:pPr>
            <a:r>
              <a:rPr lang="es-ES_tradnl" sz="2500" dirty="0" smtClean="0"/>
              <a:t>	</a:t>
            </a:r>
            <a:r>
              <a:rPr lang="es-ES_tradnl" sz="2500" u="sng" dirty="0" smtClean="0"/>
              <a:t>Ejemplo:</a:t>
            </a:r>
          </a:p>
          <a:p>
            <a:pPr marL="457200" indent="-457200">
              <a:buNone/>
            </a:pPr>
            <a:r>
              <a:rPr lang="es-ES_tradnl" sz="2500" dirty="0" smtClean="0"/>
              <a:t>	La evaluación del programa </a:t>
            </a:r>
            <a:r>
              <a:rPr lang="es-ES_tradnl" sz="2500" i="1" dirty="0" smtClean="0"/>
              <a:t>Canasta</a:t>
            </a:r>
            <a:r>
              <a:rPr lang="es-ES_tradnl" sz="2500" dirty="0" smtClean="0"/>
              <a:t> podría indicar que el efecto en el estado nutricional de los niños no es significativo.</a:t>
            </a:r>
          </a:p>
          <a:p>
            <a:pPr marL="457200" indent="-457200" algn="just">
              <a:buNone/>
            </a:pPr>
            <a:r>
              <a:rPr lang="es-ES_tradnl" sz="2500" i="1" dirty="0" smtClean="0"/>
              <a:t>	</a:t>
            </a:r>
            <a:r>
              <a:rPr lang="es-ES_tradnl" sz="2500" u="sng" dirty="0" smtClean="0"/>
              <a:t>Razones</a:t>
            </a:r>
            <a:r>
              <a:rPr lang="es-ES_tradnl" sz="2500" dirty="0" smtClean="0"/>
              <a:t>:</a:t>
            </a:r>
          </a:p>
          <a:p>
            <a:pPr marL="457200" indent="-457200">
              <a:buNone/>
            </a:pPr>
            <a:r>
              <a:rPr lang="es-ES_tradnl" sz="2500" i="1" dirty="0" smtClean="0"/>
              <a:t>	</a:t>
            </a:r>
            <a:r>
              <a:rPr lang="es-ES_tradnl" sz="2500" dirty="0" smtClean="0"/>
              <a:t>Existen otros insumos necesarios para la producción de buen estado nutricional (visitas al médico, vacunas, etc.).</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Conclusiones</a:t>
            </a:r>
            <a:endParaRPr lang="es-AR" sz="4200" u="sng" dirty="0"/>
          </a:p>
        </p:txBody>
      </p:sp>
      <p:sp>
        <p:nvSpPr>
          <p:cNvPr id="6" name="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44</a:t>
            </a:fld>
            <a:endParaRPr lang="es-ES" sz="1500" dirty="0">
              <a:solidFill>
                <a:schemeClr val="tx1">
                  <a:lumMod val="50000"/>
                  <a:lumOff val="50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401080" cy="4686320"/>
          </a:xfrm>
        </p:spPr>
        <p:txBody>
          <a:bodyPr>
            <a:normAutofit lnSpcReduction="10000"/>
          </a:bodyPr>
          <a:lstStyle/>
          <a:p>
            <a:pPr>
              <a:buNone/>
            </a:pPr>
            <a:r>
              <a:rPr lang="es-ES_tradnl" sz="2500" dirty="0" smtClean="0"/>
              <a:t>4. 	Entre las desventajas, la más importante es que no resulta fácil validar el modelo escogido, en términos de plausibilidad y validez de los supuestos funcionales y paramétricos que elige el investigador.</a:t>
            </a:r>
          </a:p>
          <a:p>
            <a:pPr>
              <a:buNone/>
            </a:pPr>
            <a:endParaRPr lang="es-ES_tradnl" sz="2500" dirty="0" smtClean="0"/>
          </a:p>
          <a:p>
            <a:pPr>
              <a:buNone/>
            </a:pPr>
            <a:r>
              <a:rPr lang="es-ES_tradnl" sz="2500" dirty="0" smtClean="0"/>
              <a:t>	Para mostrar que el modelo es plausible es necesario:</a:t>
            </a:r>
          </a:p>
          <a:p>
            <a:pPr>
              <a:buNone/>
            </a:pPr>
            <a:r>
              <a:rPr lang="es-ES_tradnl" sz="2500" dirty="0" smtClean="0"/>
              <a:t>	1. 	Validar dentro de muestra.</a:t>
            </a:r>
          </a:p>
          <a:p>
            <a:pPr>
              <a:buNone/>
            </a:pPr>
            <a:r>
              <a:rPr lang="es-ES_tradnl" sz="2500" dirty="0" smtClean="0"/>
              <a:t>	2. 	Validar fuera de la muestra.</a:t>
            </a:r>
          </a:p>
          <a:p>
            <a:pPr>
              <a:buNone/>
            </a:pPr>
            <a:r>
              <a:rPr lang="es-ES_tradnl" sz="2500" dirty="0" smtClean="0"/>
              <a:t>	3. 	Utilizar cambios de régimen.</a:t>
            </a:r>
          </a:p>
          <a:p>
            <a:pPr>
              <a:buNone/>
            </a:pPr>
            <a:r>
              <a:rPr lang="es-ES_tradnl" sz="2500" dirty="0" smtClean="0"/>
              <a:t>	4. 	Comparar con resultados de experimentos sociales 	controlados.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32"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85984" y="71414"/>
            <a:ext cx="6715140" cy="1214446"/>
          </a:xfrm>
        </p:spPr>
        <p:txBody>
          <a:bodyPr>
            <a:noAutofit/>
          </a:bodyPr>
          <a:lstStyle/>
          <a:p>
            <a:r>
              <a:rPr lang="es-AR" sz="4200" u="sng" dirty="0" smtClean="0"/>
              <a:t>Conclusiones</a:t>
            </a:r>
            <a:endParaRPr lang="es-AR" sz="4200" u="sng" dirty="0"/>
          </a:p>
        </p:txBody>
      </p:sp>
      <p:sp>
        <p:nvSpPr>
          <p:cNvPr id="6" name="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45</a:t>
            </a:fld>
            <a:endParaRPr lang="es-ES" sz="1500" dirty="0">
              <a:solidFill>
                <a:schemeClr val="tx1">
                  <a:lumMod val="50000"/>
                  <a:lumOff val="50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lnSpcReduction="10000"/>
          </a:bodyPr>
          <a:lstStyle/>
          <a:p>
            <a:pPr>
              <a:buNone/>
            </a:pPr>
            <a:r>
              <a:rPr lang="es-ES_tradnl" sz="2500" dirty="0" smtClean="0"/>
              <a:t>	</a:t>
            </a:r>
            <a:r>
              <a:rPr lang="es-ES_tradnl" sz="2400" u="sng" dirty="0" smtClean="0"/>
              <a:t>Objetivo:</a:t>
            </a:r>
            <a:r>
              <a:rPr lang="es-ES_tradnl" sz="2400" dirty="0" smtClean="0"/>
              <a:t> </a:t>
            </a:r>
          </a:p>
          <a:p>
            <a:pPr>
              <a:buNone/>
            </a:pPr>
            <a:r>
              <a:rPr lang="es-ES_tradnl" sz="2400" dirty="0" smtClean="0"/>
              <a:t>	</a:t>
            </a:r>
            <a:r>
              <a:rPr lang="es-ES" sz="2300" dirty="0" smtClean="0"/>
              <a:t>Identificar el efecto que los programas de estabilización han tenido en los salarios devengados y la participación en el mercado laboral de la población desplazada en el municipio receptor en Colombia.</a:t>
            </a:r>
          </a:p>
          <a:p>
            <a:pPr algn="just">
              <a:buNone/>
            </a:pPr>
            <a:endParaRPr lang="es-ES" sz="1000" dirty="0" smtClean="0"/>
          </a:p>
          <a:p>
            <a:pPr>
              <a:buNone/>
            </a:pPr>
            <a:r>
              <a:rPr lang="es-ES" sz="2400" dirty="0" smtClean="0"/>
              <a:t>    </a:t>
            </a:r>
            <a:r>
              <a:rPr lang="es-ES" sz="2300" u="sng" dirty="0" smtClean="0"/>
              <a:t>Objetivo de los programas</a:t>
            </a:r>
            <a:r>
              <a:rPr lang="es-ES" sz="2300" dirty="0" smtClean="0"/>
              <a:t>: reincorporar a los desplazados en los procesos productivos y disminuir la dependencia de la ayuda del Gobierno, por medio de programas de generación de ingresos, asistencia escolar y adquisición de vivienda.</a:t>
            </a:r>
          </a:p>
          <a:p>
            <a:pPr algn="just">
              <a:buNone/>
            </a:pPr>
            <a:endParaRPr lang="es-ES_tradnl" sz="2500" dirty="0" smtClean="0"/>
          </a:p>
          <a:p>
            <a:pPr algn="just">
              <a:buNone/>
            </a:pPr>
            <a:r>
              <a:rPr lang="es-ES_tradnl"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8" name="7 Rectángulo"/>
          <p:cNvSpPr/>
          <p:nvPr/>
        </p:nvSpPr>
        <p:spPr>
          <a:xfrm>
            <a:off x="827584" y="4869160"/>
            <a:ext cx="7992888" cy="1107996"/>
          </a:xfrm>
          <a:prstGeom prst="rect">
            <a:avLst/>
          </a:prstGeom>
        </p:spPr>
        <p:txBody>
          <a:bodyPr wrap="square">
            <a:spAutoFit/>
          </a:bodyPr>
          <a:lstStyle/>
          <a:p>
            <a:r>
              <a:rPr lang="es-ES" sz="2200" u="sng" dirty="0" smtClean="0"/>
              <a:t>Dos componentes relevantes</a:t>
            </a:r>
            <a:r>
              <a:rPr lang="es-ES" sz="2200" dirty="0" smtClean="0"/>
              <a:t>: </a:t>
            </a:r>
          </a:p>
          <a:p>
            <a:r>
              <a:rPr lang="es-ES" sz="2200" dirty="0" smtClean="0">
                <a:solidFill>
                  <a:schemeClr val="accent1">
                    <a:lumMod val="75000"/>
                  </a:schemeClr>
                </a:solidFill>
              </a:rPr>
              <a:t>Microcréditos</a:t>
            </a:r>
            <a:r>
              <a:rPr lang="es-ES" sz="2200" dirty="0" smtClean="0"/>
              <a:t>: 25+ salarios mínimos</a:t>
            </a:r>
          </a:p>
          <a:p>
            <a:r>
              <a:rPr lang="es-ES" sz="2200" dirty="0" smtClean="0">
                <a:solidFill>
                  <a:schemeClr val="accent1">
                    <a:lumMod val="75000"/>
                  </a:schemeClr>
                </a:solidFill>
              </a:rPr>
              <a:t>Capacitación laboral</a:t>
            </a:r>
            <a:r>
              <a:rPr lang="es-ES" sz="2200" dirty="0" smtClean="0"/>
              <a:t>: desarrollar competencias en una especialidad</a:t>
            </a:r>
            <a:endParaRPr lang="es-ES" sz="2200" dirty="0"/>
          </a:p>
        </p:txBody>
      </p:sp>
      <p:sp>
        <p:nvSpPr>
          <p:cNvPr id="9" name="8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46</a:t>
            </a:fld>
            <a:endParaRPr lang="es-ES" sz="1500" dirty="0">
              <a:solidFill>
                <a:schemeClr val="tx1">
                  <a:lumMod val="50000"/>
                  <a:lumOff val="50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a:bodyPr>
          <a:lstStyle/>
          <a:p>
            <a:pPr>
              <a:buNone/>
            </a:pPr>
            <a:r>
              <a:rPr lang="es-ES_tradnl" sz="2500" dirty="0" smtClean="0"/>
              <a:t>	</a:t>
            </a:r>
            <a:r>
              <a:rPr lang="es-ES_tradnl" sz="2500" u="sng" dirty="0" smtClean="0"/>
              <a:t>Modelo:</a:t>
            </a:r>
          </a:p>
          <a:p>
            <a:pPr>
              <a:buNone/>
            </a:pPr>
            <a:r>
              <a:rPr lang="es-ES_tradnl" sz="2500" dirty="0" smtClean="0"/>
              <a:t>	Cada individuo desplazado decide si participar o no en el programa.</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cxnSp>
        <p:nvCxnSpPr>
          <p:cNvPr id="9" name="8 Conector recto de flecha"/>
          <p:cNvCxnSpPr/>
          <p:nvPr/>
        </p:nvCxnSpPr>
        <p:spPr>
          <a:xfrm>
            <a:off x="827584" y="3214686"/>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1187624" y="2951946"/>
            <a:ext cx="7622600" cy="477054"/>
          </a:xfrm>
          <a:prstGeom prst="rect">
            <a:avLst/>
          </a:prstGeom>
          <a:noFill/>
        </p:spPr>
        <p:txBody>
          <a:bodyPr wrap="none" rtlCol="0">
            <a:spAutoFit/>
          </a:bodyPr>
          <a:lstStyle/>
          <a:p>
            <a:r>
              <a:rPr lang="es-ES_tradnl" sz="2500" dirty="0" smtClean="0"/>
              <a:t>Si decide participar, elige el sector en el que va a trabajar.</a:t>
            </a:r>
            <a:endParaRPr lang="es-ES" sz="2500" dirty="0"/>
          </a:p>
        </p:txBody>
      </p:sp>
      <p:sp>
        <p:nvSpPr>
          <p:cNvPr id="12" name="11 Flecha abajo"/>
          <p:cNvSpPr/>
          <p:nvPr/>
        </p:nvSpPr>
        <p:spPr>
          <a:xfrm>
            <a:off x="4357686" y="3643314"/>
            <a:ext cx="571504" cy="285752"/>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CuadroTexto"/>
          <p:cNvSpPr txBox="1"/>
          <p:nvPr/>
        </p:nvSpPr>
        <p:spPr>
          <a:xfrm>
            <a:off x="785786" y="4000504"/>
            <a:ext cx="7786742" cy="2015936"/>
          </a:xfrm>
          <a:prstGeom prst="rect">
            <a:avLst/>
          </a:prstGeom>
          <a:noFill/>
        </p:spPr>
        <p:txBody>
          <a:bodyPr wrap="square" rtlCol="0">
            <a:spAutoFit/>
          </a:bodyPr>
          <a:lstStyle/>
          <a:p>
            <a:r>
              <a:rPr lang="es-ES_tradnl" sz="2500" dirty="0" smtClean="0"/>
              <a:t>Con el fin de maximizar una función de utilidad que depende de:</a:t>
            </a:r>
          </a:p>
          <a:p>
            <a:r>
              <a:rPr lang="es-ES_tradnl" sz="2500" dirty="0" smtClean="0"/>
              <a:t>			Consumo del hogar.</a:t>
            </a:r>
          </a:p>
          <a:p>
            <a:r>
              <a:rPr lang="es-ES_tradnl" sz="2500" dirty="0" smtClean="0"/>
              <a:t>			Participación laboral.</a:t>
            </a:r>
          </a:p>
          <a:p>
            <a:r>
              <a:rPr lang="es-ES_tradnl" sz="2500" dirty="0" smtClean="0"/>
              <a:t>			Participación en el programa.</a:t>
            </a:r>
          </a:p>
        </p:txBody>
      </p:sp>
      <p:cxnSp>
        <p:nvCxnSpPr>
          <p:cNvPr id="17" name="16 Conector recto"/>
          <p:cNvCxnSpPr/>
          <p:nvPr/>
        </p:nvCxnSpPr>
        <p:spPr>
          <a:xfrm rot="5400000">
            <a:off x="2821769" y="5393545"/>
            <a:ext cx="7858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a:off x="3214678" y="5786454"/>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19 Conector recto de flecha"/>
          <p:cNvCxnSpPr/>
          <p:nvPr/>
        </p:nvCxnSpPr>
        <p:spPr>
          <a:xfrm>
            <a:off x="3214678" y="5427676"/>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p:nvPr/>
        </p:nvCxnSpPr>
        <p:spPr>
          <a:xfrm>
            <a:off x="3214678" y="5000636"/>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14" name="13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47</a:t>
            </a:fld>
            <a:endParaRPr lang="es-ES" sz="1500" dirty="0">
              <a:solidFill>
                <a:schemeClr val="tx1">
                  <a:lumMod val="50000"/>
                  <a:lumOff val="50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Autofit/>
          </a:bodyPr>
          <a:lstStyle/>
          <a:p>
            <a:pPr>
              <a:buNone/>
            </a:pPr>
            <a:endParaRPr lang="es-ES_tradnl" sz="2500" dirty="0" smtClean="0"/>
          </a:p>
          <a:p>
            <a:pPr>
              <a:buNone/>
            </a:pPr>
            <a:endParaRPr lang="es-ES_tradnl" sz="2500" dirty="0" smtClean="0"/>
          </a:p>
          <a:p>
            <a:pPr>
              <a:buNone/>
            </a:pPr>
            <a:r>
              <a:rPr lang="es-ES_tradnl" sz="2500" dirty="0" smtClean="0"/>
              <a:t>	</a:t>
            </a:r>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798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9876"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9877" name="Rectangle 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4" name="13 CuadroTexto"/>
          <p:cNvSpPr txBox="1"/>
          <p:nvPr/>
        </p:nvSpPr>
        <p:spPr>
          <a:xfrm>
            <a:off x="3857620" y="2451880"/>
            <a:ext cx="1234569" cy="477054"/>
          </a:xfrm>
          <a:prstGeom prst="rect">
            <a:avLst/>
          </a:prstGeom>
          <a:noFill/>
        </p:spPr>
        <p:txBody>
          <a:bodyPr wrap="none" rtlCol="0">
            <a:spAutoFit/>
          </a:bodyPr>
          <a:lstStyle/>
          <a:p>
            <a:r>
              <a:rPr lang="es-ES_tradnl" sz="2500" dirty="0" smtClean="0"/>
              <a:t>Sujeto a</a:t>
            </a:r>
            <a:endParaRPr lang="es-ES" sz="2500" dirty="0"/>
          </a:p>
        </p:txBody>
      </p:sp>
      <p:sp>
        <p:nvSpPr>
          <p:cNvPr id="79879"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9880" name="Rectangle 8"/>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98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1" name="20 Conector recto de flecha"/>
          <p:cNvCxnSpPr/>
          <p:nvPr/>
        </p:nvCxnSpPr>
        <p:spPr>
          <a:xfrm>
            <a:off x="1214414" y="385604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1571604" y="3594888"/>
            <a:ext cx="1410964" cy="477054"/>
          </a:xfrm>
          <a:prstGeom prst="rect">
            <a:avLst/>
          </a:prstGeom>
          <a:noFill/>
        </p:spPr>
        <p:txBody>
          <a:bodyPr wrap="none" rtlCol="0">
            <a:spAutoFit/>
          </a:bodyPr>
          <a:lstStyle/>
          <a:p>
            <a:r>
              <a:rPr lang="es-ES_tradnl" sz="2500" dirty="0" smtClean="0"/>
              <a:t>Consumo</a:t>
            </a:r>
            <a:endParaRPr lang="es-ES" sz="2500" dirty="0"/>
          </a:p>
        </p:txBody>
      </p:sp>
      <p:sp>
        <p:nvSpPr>
          <p:cNvPr id="79884"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5" name="24 Conector recto de flecha"/>
          <p:cNvCxnSpPr/>
          <p:nvPr/>
        </p:nvCxnSpPr>
        <p:spPr>
          <a:xfrm>
            <a:off x="1214414" y="4357694"/>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9886"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9" name="28 CuadroTexto"/>
          <p:cNvSpPr txBox="1"/>
          <p:nvPr/>
        </p:nvSpPr>
        <p:spPr>
          <a:xfrm>
            <a:off x="1643043" y="4071942"/>
            <a:ext cx="6500858" cy="861774"/>
          </a:xfrm>
          <a:prstGeom prst="rect">
            <a:avLst/>
          </a:prstGeom>
          <a:noFill/>
        </p:spPr>
        <p:txBody>
          <a:bodyPr wrap="square" rtlCol="0">
            <a:spAutoFit/>
          </a:bodyPr>
          <a:lstStyle/>
          <a:p>
            <a:r>
              <a:rPr lang="es-ES_tradnl" sz="2500" dirty="0" smtClean="0"/>
              <a:t>Variable dicótoma igual a 1 si el individuo trabaja; 0 de lo contrario.</a:t>
            </a:r>
            <a:endParaRPr lang="es-ES" sz="2500" dirty="0"/>
          </a:p>
        </p:txBody>
      </p:sp>
      <p:sp>
        <p:nvSpPr>
          <p:cNvPr id="79888"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34" name="33 Conector recto de flecha"/>
          <p:cNvCxnSpPr/>
          <p:nvPr/>
        </p:nvCxnSpPr>
        <p:spPr>
          <a:xfrm>
            <a:off x="1285852" y="521336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34 CuadroTexto"/>
          <p:cNvSpPr txBox="1"/>
          <p:nvPr/>
        </p:nvSpPr>
        <p:spPr>
          <a:xfrm>
            <a:off x="1619672" y="4924680"/>
            <a:ext cx="6715172" cy="861774"/>
          </a:xfrm>
          <a:prstGeom prst="rect">
            <a:avLst/>
          </a:prstGeom>
          <a:noFill/>
        </p:spPr>
        <p:txBody>
          <a:bodyPr wrap="square" rtlCol="0">
            <a:spAutoFit/>
          </a:bodyPr>
          <a:lstStyle/>
          <a:p>
            <a:r>
              <a:rPr lang="es-ES_tradnl" sz="2500" dirty="0" smtClean="0"/>
              <a:t>Variable dicótoma igual a 1 si el individuo participa en el programa; 0 de lo contrario.</a:t>
            </a:r>
            <a:endParaRPr lang="es-ES" sz="2500" dirty="0"/>
          </a:p>
        </p:txBody>
      </p:sp>
      <p:sp>
        <p:nvSpPr>
          <p:cNvPr id="79890"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9891" name="Rectangle 19"/>
          <p:cNvSpPr>
            <a:spLocks noChangeArrowheads="1"/>
          </p:cNvSpPr>
          <p:nvPr/>
        </p:nvSpPr>
        <p:spPr bwMode="auto">
          <a:xfrm>
            <a:off x="0" y="1219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11265" name="Object 1"/>
          <p:cNvGraphicFramePr>
            <a:graphicFrameLocks noChangeAspect="1"/>
          </p:cNvGraphicFramePr>
          <p:nvPr/>
        </p:nvGraphicFramePr>
        <p:xfrm>
          <a:off x="1071538" y="1925631"/>
          <a:ext cx="6948269" cy="646113"/>
        </p:xfrm>
        <a:graphic>
          <a:graphicData uri="http://schemas.openxmlformats.org/presentationml/2006/ole">
            <p:oleObj spid="_x0000_s11279" name="Documento" r:id="rId4" imgW="5397500" imgH="504362" progId="Word.Document.12">
              <p:embed/>
            </p:oleObj>
          </a:graphicData>
        </a:graphic>
      </p:graphicFrame>
      <p:graphicFrame>
        <p:nvGraphicFramePr>
          <p:cNvPr id="11266" name="Object 2"/>
          <p:cNvGraphicFramePr>
            <a:graphicFrameLocks noChangeAspect="1"/>
          </p:cNvGraphicFramePr>
          <p:nvPr/>
        </p:nvGraphicFramePr>
        <p:xfrm>
          <a:off x="891471" y="2962274"/>
          <a:ext cx="7323867" cy="681040"/>
        </p:xfrm>
        <a:graphic>
          <a:graphicData uri="http://schemas.openxmlformats.org/presentationml/2006/ole">
            <p:oleObj spid="_x0000_s11280" name="Documento" r:id="rId5" imgW="5397500" imgH="504362" progId="Word.Document.12">
              <p:embed/>
            </p:oleObj>
          </a:graphicData>
        </a:graphic>
      </p:graphicFrame>
      <p:sp>
        <p:nvSpPr>
          <p:cNvPr id="32"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31" name="30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48</a:t>
            </a:fld>
            <a:endParaRPr lang="es-ES" sz="1500" dirty="0">
              <a:solidFill>
                <a:schemeClr val="tx1">
                  <a:lumMod val="50000"/>
                  <a:lumOff val="50000"/>
                </a:schemeClr>
              </a:solidFill>
            </a:endParaRPr>
          </a:p>
        </p:txBody>
      </p:sp>
      <p:sp>
        <p:nvSpPr>
          <p:cNvPr id="30" name="29 CuadroTexto"/>
          <p:cNvSpPr txBox="1"/>
          <p:nvPr/>
        </p:nvSpPr>
        <p:spPr>
          <a:xfrm>
            <a:off x="903444" y="3600018"/>
            <a:ext cx="356188" cy="477054"/>
          </a:xfrm>
          <a:prstGeom prst="rect">
            <a:avLst/>
          </a:prstGeom>
          <a:noFill/>
        </p:spPr>
        <p:txBody>
          <a:bodyPr wrap="none" rtlCol="0">
            <a:spAutoFit/>
          </a:bodyPr>
          <a:lstStyle/>
          <a:p>
            <a:r>
              <a:rPr lang="es-ES_tradnl" sz="2500" dirty="0" smtClean="0"/>
              <a:t>C</a:t>
            </a:r>
            <a:endParaRPr lang="es-ES" sz="2500" dirty="0"/>
          </a:p>
        </p:txBody>
      </p:sp>
      <p:sp>
        <p:nvSpPr>
          <p:cNvPr id="33" name="32 CuadroTexto"/>
          <p:cNvSpPr txBox="1"/>
          <p:nvPr/>
        </p:nvSpPr>
        <p:spPr>
          <a:xfrm>
            <a:off x="899592" y="4104074"/>
            <a:ext cx="340158" cy="477054"/>
          </a:xfrm>
          <a:prstGeom prst="rect">
            <a:avLst/>
          </a:prstGeom>
          <a:noFill/>
        </p:spPr>
        <p:txBody>
          <a:bodyPr wrap="none" rtlCol="0">
            <a:spAutoFit/>
          </a:bodyPr>
          <a:lstStyle/>
          <a:p>
            <a:r>
              <a:rPr lang="es-ES_tradnl" sz="2500" dirty="0"/>
              <a:t>T</a:t>
            </a:r>
            <a:endParaRPr lang="es-ES" sz="2500" dirty="0"/>
          </a:p>
        </p:txBody>
      </p:sp>
      <p:sp>
        <p:nvSpPr>
          <p:cNvPr id="36" name="35 CuadroTexto"/>
          <p:cNvSpPr txBox="1"/>
          <p:nvPr/>
        </p:nvSpPr>
        <p:spPr>
          <a:xfrm>
            <a:off x="899592" y="4968170"/>
            <a:ext cx="349776" cy="477054"/>
          </a:xfrm>
          <a:prstGeom prst="rect">
            <a:avLst/>
          </a:prstGeom>
          <a:noFill/>
        </p:spPr>
        <p:txBody>
          <a:bodyPr wrap="none" rtlCol="0">
            <a:spAutoFit/>
          </a:bodyPr>
          <a:lstStyle/>
          <a:p>
            <a:r>
              <a:rPr lang="es-ES_tradnl" sz="2500" dirty="0" smtClean="0"/>
              <a:t>P</a:t>
            </a:r>
            <a:endParaRPr lang="es-ES" sz="2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643050"/>
            <a:ext cx="8229600" cy="4686320"/>
          </a:xfrm>
          <a:ln w="28575">
            <a:solidFill>
              <a:schemeClr val="accent1">
                <a:lumMod val="75000"/>
              </a:schemeClr>
            </a:solidFill>
          </a:ln>
        </p:spPr>
        <p:txBody>
          <a:bodyPr>
            <a:normAutofit/>
          </a:bodyPr>
          <a:lstStyle/>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952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0" name="9 Conector recto de flecha"/>
          <p:cNvCxnSpPr/>
          <p:nvPr/>
        </p:nvCxnSpPr>
        <p:spPr>
          <a:xfrm>
            <a:off x="1643042" y="1857364"/>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2071670" y="1594624"/>
            <a:ext cx="2267352" cy="477054"/>
          </a:xfrm>
          <a:prstGeom prst="rect">
            <a:avLst/>
          </a:prstGeom>
          <a:noFill/>
        </p:spPr>
        <p:txBody>
          <a:bodyPr wrap="none" rtlCol="0">
            <a:spAutoFit/>
          </a:bodyPr>
          <a:lstStyle/>
          <a:p>
            <a:r>
              <a:rPr lang="es-ES_tradnl" sz="2500" dirty="0" smtClean="0"/>
              <a:t>Ingreso laboral.</a:t>
            </a:r>
            <a:endParaRPr lang="es-ES" sz="2500" dirty="0"/>
          </a:p>
        </p:txBody>
      </p:sp>
      <p:sp>
        <p:nvSpPr>
          <p:cNvPr id="952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6" name="15 Conector recto de flecha"/>
          <p:cNvCxnSpPr/>
          <p:nvPr/>
        </p:nvCxnSpPr>
        <p:spPr>
          <a:xfrm>
            <a:off x="1643042" y="228599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071670" y="2023252"/>
            <a:ext cx="2676117" cy="477054"/>
          </a:xfrm>
          <a:prstGeom prst="rect">
            <a:avLst/>
          </a:prstGeom>
          <a:noFill/>
        </p:spPr>
        <p:txBody>
          <a:bodyPr wrap="none" rtlCol="0">
            <a:spAutoFit/>
          </a:bodyPr>
          <a:lstStyle/>
          <a:p>
            <a:r>
              <a:rPr lang="es-ES_tradnl" sz="2500" dirty="0" smtClean="0"/>
              <a:t>Ingreso no laboral.</a:t>
            </a:r>
          </a:p>
        </p:txBody>
      </p:sp>
      <p:sp>
        <p:nvSpPr>
          <p:cNvPr id="9523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0" name="19 Conector recto de flecha"/>
          <p:cNvCxnSpPr/>
          <p:nvPr/>
        </p:nvCxnSpPr>
        <p:spPr>
          <a:xfrm>
            <a:off x="1643042" y="2708920"/>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2071670" y="2428868"/>
            <a:ext cx="5628464" cy="477054"/>
          </a:xfrm>
          <a:prstGeom prst="rect">
            <a:avLst/>
          </a:prstGeom>
          <a:noFill/>
        </p:spPr>
        <p:txBody>
          <a:bodyPr wrap="none" rtlCol="0">
            <a:spAutoFit/>
          </a:bodyPr>
          <a:lstStyle/>
          <a:p>
            <a:r>
              <a:rPr lang="es-ES_tradnl" sz="2500" dirty="0" smtClean="0"/>
              <a:t>Ingreso por participación en el programa.</a:t>
            </a:r>
          </a:p>
        </p:txBody>
      </p:sp>
      <p:sp>
        <p:nvSpPr>
          <p:cNvPr id="22" name="21 CuadroTexto"/>
          <p:cNvSpPr txBox="1"/>
          <p:nvPr/>
        </p:nvSpPr>
        <p:spPr>
          <a:xfrm>
            <a:off x="642910" y="3000372"/>
            <a:ext cx="7786742" cy="861774"/>
          </a:xfrm>
          <a:prstGeom prst="rect">
            <a:avLst/>
          </a:prstGeom>
          <a:noFill/>
        </p:spPr>
        <p:txBody>
          <a:bodyPr wrap="square" rtlCol="0">
            <a:spAutoFit/>
          </a:bodyPr>
          <a:lstStyle/>
          <a:p>
            <a:pPr algn="ctr"/>
            <a:r>
              <a:rPr lang="es-ES_tradnl" sz="2500" dirty="0" smtClean="0"/>
              <a:t>El salario laboral varía con el sector donde el individuo se emplee</a:t>
            </a:r>
            <a:r>
              <a:rPr lang="es-ES_tradnl" dirty="0" smtClean="0"/>
              <a:t>.</a:t>
            </a:r>
            <a:endParaRPr lang="es-ES" sz="2500" dirty="0" smtClean="0"/>
          </a:p>
        </p:txBody>
      </p:sp>
      <p:sp>
        <p:nvSpPr>
          <p:cNvPr id="24" name="23 CuadroTexto"/>
          <p:cNvSpPr txBox="1"/>
          <p:nvPr/>
        </p:nvSpPr>
        <p:spPr>
          <a:xfrm>
            <a:off x="642910" y="3857628"/>
            <a:ext cx="7858180" cy="861774"/>
          </a:xfrm>
          <a:prstGeom prst="rect">
            <a:avLst/>
          </a:prstGeom>
          <a:noFill/>
        </p:spPr>
        <p:txBody>
          <a:bodyPr wrap="square" rtlCol="0">
            <a:spAutoFit/>
          </a:bodyPr>
          <a:lstStyle/>
          <a:p>
            <a:r>
              <a:rPr lang="es-ES_tradnl" sz="2500" dirty="0" smtClean="0"/>
              <a:t>El </a:t>
            </a:r>
            <a:r>
              <a:rPr lang="es-ES_tradnl" sz="2500" b="1" u="sng" dirty="0" smtClean="0"/>
              <a:t>salario en el sector </a:t>
            </a:r>
            <a:r>
              <a:rPr lang="es-ES_tradnl" sz="2500" dirty="0" smtClean="0"/>
              <a:t>varía con la experiencia laboral; el nivel de educación, de acuerdo con la siguiente ecuación:</a:t>
            </a:r>
            <a:endParaRPr lang="es-ES" sz="2500" dirty="0"/>
          </a:p>
        </p:txBody>
      </p:sp>
      <p:graphicFrame>
        <p:nvGraphicFramePr>
          <p:cNvPr id="10242" name="Object 2"/>
          <p:cNvGraphicFramePr>
            <a:graphicFrameLocks noChangeAspect="1"/>
          </p:cNvGraphicFramePr>
          <p:nvPr/>
        </p:nvGraphicFramePr>
        <p:xfrm>
          <a:off x="971600" y="4869160"/>
          <a:ext cx="6912768" cy="1131512"/>
        </p:xfrm>
        <a:graphic>
          <a:graphicData uri="http://schemas.openxmlformats.org/presentationml/2006/ole">
            <p:oleObj spid="_x0000_s10249" name="Documento" r:id="rId4" imgW="5397500" imgH="887951" progId="Word.Document.12">
              <p:embed/>
            </p:oleObj>
          </a:graphicData>
        </a:graphic>
      </p:graphicFrame>
      <p:sp>
        <p:nvSpPr>
          <p:cNvPr id="27"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28" name="27 CuadroTexto"/>
          <p:cNvSpPr txBox="1"/>
          <p:nvPr/>
        </p:nvSpPr>
        <p:spPr>
          <a:xfrm>
            <a:off x="755576" y="5877272"/>
            <a:ext cx="3841629" cy="430887"/>
          </a:xfrm>
          <a:prstGeom prst="rect">
            <a:avLst/>
          </a:prstGeom>
          <a:noFill/>
        </p:spPr>
        <p:txBody>
          <a:bodyPr wrap="none" rtlCol="0">
            <a:spAutoFit/>
          </a:bodyPr>
          <a:lstStyle/>
          <a:p>
            <a:r>
              <a:rPr lang="es-CO" sz="2200" dirty="0" smtClean="0"/>
              <a:t>m: sector (agrícola, no agrícola).</a:t>
            </a:r>
            <a:endParaRPr lang="es-ES" sz="2200" dirty="0"/>
          </a:p>
        </p:txBody>
      </p:sp>
      <p:sp>
        <p:nvSpPr>
          <p:cNvPr id="25" name="24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49</a:t>
            </a:fld>
            <a:endParaRPr lang="es-ES" sz="1500" dirty="0">
              <a:solidFill>
                <a:schemeClr val="tx1">
                  <a:lumMod val="50000"/>
                  <a:lumOff val="50000"/>
                </a:schemeClr>
              </a:solidFill>
            </a:endParaRPr>
          </a:p>
        </p:txBody>
      </p:sp>
      <p:sp>
        <p:nvSpPr>
          <p:cNvPr id="23" name="22 CuadroTexto"/>
          <p:cNvSpPr txBox="1"/>
          <p:nvPr/>
        </p:nvSpPr>
        <p:spPr>
          <a:xfrm>
            <a:off x="1043608" y="1655802"/>
            <a:ext cx="470000" cy="477054"/>
          </a:xfrm>
          <a:prstGeom prst="rect">
            <a:avLst/>
          </a:prstGeom>
          <a:noFill/>
        </p:spPr>
        <p:txBody>
          <a:bodyPr wrap="none" rtlCol="0">
            <a:spAutoFit/>
          </a:bodyPr>
          <a:lstStyle/>
          <a:p>
            <a:r>
              <a:rPr lang="es-ES_tradnl" sz="2500" dirty="0"/>
              <a:t>W</a:t>
            </a:r>
            <a:endParaRPr lang="es-ES" sz="2500" dirty="0"/>
          </a:p>
        </p:txBody>
      </p:sp>
      <p:sp>
        <p:nvSpPr>
          <p:cNvPr id="29" name="28 CuadroTexto"/>
          <p:cNvSpPr txBox="1"/>
          <p:nvPr/>
        </p:nvSpPr>
        <p:spPr>
          <a:xfrm>
            <a:off x="1090599" y="2094690"/>
            <a:ext cx="391454" cy="477054"/>
          </a:xfrm>
          <a:prstGeom prst="rect">
            <a:avLst/>
          </a:prstGeom>
          <a:noFill/>
        </p:spPr>
        <p:txBody>
          <a:bodyPr wrap="none" rtlCol="0">
            <a:spAutoFit/>
          </a:bodyPr>
          <a:lstStyle/>
          <a:p>
            <a:r>
              <a:rPr lang="es-ES_tradnl" sz="2500" dirty="0"/>
              <a:t>N</a:t>
            </a:r>
            <a:endParaRPr lang="es-ES" sz="2500" dirty="0"/>
          </a:p>
        </p:txBody>
      </p:sp>
      <p:sp>
        <p:nvSpPr>
          <p:cNvPr id="31" name="30 CuadroTexto"/>
          <p:cNvSpPr txBox="1"/>
          <p:nvPr/>
        </p:nvSpPr>
        <p:spPr>
          <a:xfrm>
            <a:off x="1116262" y="2519898"/>
            <a:ext cx="359394" cy="477054"/>
          </a:xfrm>
          <a:prstGeom prst="rect">
            <a:avLst/>
          </a:prstGeom>
          <a:noFill/>
        </p:spPr>
        <p:txBody>
          <a:bodyPr wrap="none" rtlCol="0">
            <a:spAutoFit/>
          </a:bodyPr>
          <a:lstStyle/>
          <a:p>
            <a:r>
              <a:rPr lang="es-ES_tradnl" sz="2500" dirty="0" smtClean="0"/>
              <a:t>B</a:t>
            </a:r>
            <a:endParaRPr lang="es-ES" sz="2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tx2">
                <a:lumMod val="75000"/>
              </a:schemeClr>
            </a:solidFill>
          </a:ln>
        </p:spPr>
        <p:txBody>
          <a:bodyPr/>
          <a:lstStyle/>
          <a:p>
            <a:pPr>
              <a:buNone/>
            </a:pPr>
            <a:r>
              <a:rPr lang="es-ES_tradnl" dirty="0" smtClean="0"/>
              <a:t> </a:t>
            </a:r>
            <a:endParaRPr lang="es-ES"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graphicFrame>
        <p:nvGraphicFramePr>
          <p:cNvPr id="9" name="8 Tabla"/>
          <p:cNvGraphicFramePr>
            <a:graphicFrameLocks noGrp="1"/>
          </p:cNvGraphicFramePr>
          <p:nvPr/>
        </p:nvGraphicFramePr>
        <p:xfrm>
          <a:off x="642910" y="2714621"/>
          <a:ext cx="7858180" cy="2722962"/>
        </p:xfrm>
        <a:graphic>
          <a:graphicData uri="http://schemas.openxmlformats.org/drawingml/2006/table">
            <a:tbl>
              <a:tblPr/>
              <a:tblGrid>
                <a:gridCol w="1531642"/>
                <a:gridCol w="1245320"/>
                <a:gridCol w="2065794"/>
                <a:gridCol w="1659280"/>
                <a:gridCol w="1356144"/>
              </a:tblGrid>
              <a:tr h="633334">
                <a:tc>
                  <a:txBody>
                    <a:bodyPr/>
                    <a:lstStyle/>
                    <a:p>
                      <a:pPr algn="ctr">
                        <a:spcAft>
                          <a:spcPts val="0"/>
                        </a:spcAft>
                      </a:pPr>
                      <a:r>
                        <a:rPr lang="es-ES" sz="1800" b="1" dirty="0">
                          <a:latin typeface="Times New Roman"/>
                          <a:ea typeface="Times New Roman"/>
                          <a:cs typeface="Times New Roman"/>
                        </a:rPr>
                        <a:t>Combinación </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b="1" dirty="0" smtClean="0">
                          <a:latin typeface="Times New Roman"/>
                          <a:ea typeface="Times New Roman"/>
                          <a:cs typeface="Times New Roman"/>
                        </a:rPr>
                        <a:t>Participa en el programa</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Actividad </a:t>
                      </a:r>
                      <a:r>
                        <a:rPr lang="es-ES" sz="1800" b="1" dirty="0" smtClean="0">
                          <a:latin typeface="Times New Roman"/>
                          <a:ea typeface="Times New Roman"/>
                          <a:cs typeface="Times New Roman"/>
                        </a:rPr>
                        <a:t>agrícola</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Otra </a:t>
                      </a:r>
                      <a:r>
                        <a:rPr lang="es-ES" sz="1800" b="1" dirty="0" smtClean="0">
                          <a:latin typeface="Times New Roman"/>
                          <a:ea typeface="Times New Roman"/>
                          <a:cs typeface="Times New Roman"/>
                        </a:rPr>
                        <a:t>actividad</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No </a:t>
                      </a:r>
                      <a:r>
                        <a:rPr lang="es-ES" sz="1800" b="1" dirty="0" smtClean="0">
                          <a:latin typeface="Times New Roman"/>
                          <a:ea typeface="Times New Roman"/>
                          <a:cs typeface="Times New Roman"/>
                        </a:rPr>
                        <a:t>trabaja</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667">
                <a:tc>
                  <a:txBody>
                    <a:bodyPr/>
                    <a:lstStyle/>
                    <a:p>
                      <a:pPr algn="ctr">
                        <a:spcAft>
                          <a:spcPts val="0"/>
                        </a:spcAft>
                      </a:pPr>
                      <a:r>
                        <a:rPr lang="es-ES" sz="1800">
                          <a:latin typeface="Times New Roman"/>
                          <a:ea typeface="Times New Roman"/>
                          <a:cs typeface="Times New Roman"/>
                        </a:rPr>
                        <a:t>1</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667">
                <a:tc>
                  <a:txBody>
                    <a:bodyPr/>
                    <a:lstStyle/>
                    <a:p>
                      <a:pPr algn="ctr">
                        <a:spcAft>
                          <a:spcPts val="0"/>
                        </a:spcAft>
                      </a:pPr>
                      <a:r>
                        <a:rPr lang="es-ES" sz="1800">
                          <a:latin typeface="Times New Roman"/>
                          <a:ea typeface="Times New Roman"/>
                          <a:cs typeface="Times New Roman"/>
                        </a:rPr>
                        <a:t>2</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667">
                <a:tc>
                  <a:txBody>
                    <a:bodyPr/>
                    <a:lstStyle/>
                    <a:p>
                      <a:pPr algn="ctr">
                        <a:spcAft>
                          <a:spcPts val="0"/>
                        </a:spcAft>
                      </a:pPr>
                      <a:r>
                        <a:rPr lang="es-ES" sz="1800">
                          <a:latin typeface="Times New Roman"/>
                          <a:ea typeface="Times New Roman"/>
                          <a:cs typeface="Times New Roman"/>
                        </a:rPr>
                        <a:t>3</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667">
                <a:tc>
                  <a:txBody>
                    <a:bodyPr/>
                    <a:lstStyle/>
                    <a:p>
                      <a:pPr algn="ctr">
                        <a:spcAft>
                          <a:spcPts val="0"/>
                        </a:spcAft>
                      </a:pPr>
                      <a:r>
                        <a:rPr lang="es-ES" sz="1800">
                          <a:latin typeface="Times New Roman"/>
                          <a:ea typeface="Times New Roman"/>
                          <a:cs typeface="Times New Roman"/>
                        </a:rPr>
                        <a:t>4</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No</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667">
                <a:tc>
                  <a:txBody>
                    <a:bodyPr/>
                    <a:lstStyle/>
                    <a:p>
                      <a:pPr algn="ctr">
                        <a:spcAft>
                          <a:spcPts val="0"/>
                        </a:spcAft>
                      </a:pPr>
                      <a:r>
                        <a:rPr lang="es-ES" sz="1800" dirty="0" smtClean="0">
                          <a:latin typeface="Times New Roman"/>
                          <a:ea typeface="Times New Roman"/>
                          <a:cs typeface="Times New Roman"/>
                        </a:rPr>
                        <a:t>5</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No</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6667">
                <a:tc>
                  <a:txBody>
                    <a:bodyPr/>
                    <a:lstStyle/>
                    <a:p>
                      <a:pPr algn="ctr">
                        <a:spcAft>
                          <a:spcPts val="0"/>
                        </a:spcAft>
                      </a:pPr>
                      <a:r>
                        <a:rPr lang="es-ES" sz="1800">
                          <a:latin typeface="Times New Roman"/>
                          <a:ea typeface="Times New Roman"/>
                          <a:cs typeface="Times New Roman"/>
                        </a:rPr>
                        <a:t>6</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a:latin typeface="Times New Roman"/>
                          <a:ea typeface="Times New Roman"/>
                          <a:cs typeface="Times New Roman"/>
                        </a:rPr>
                        <a:t>No</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a:latin typeface="Times New Roman"/>
                          <a:ea typeface="Times New Roman"/>
                          <a:cs typeface="Times New Roman"/>
                        </a:rPr>
                        <a:t>0</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 name="10 CuadroTexto"/>
          <p:cNvSpPr txBox="1"/>
          <p:nvPr/>
        </p:nvSpPr>
        <p:spPr>
          <a:xfrm>
            <a:off x="642910" y="1928802"/>
            <a:ext cx="3426066" cy="477054"/>
          </a:xfrm>
          <a:prstGeom prst="rect">
            <a:avLst/>
          </a:prstGeom>
          <a:noFill/>
        </p:spPr>
        <p:txBody>
          <a:bodyPr wrap="none" rtlCol="0">
            <a:spAutoFit/>
          </a:bodyPr>
          <a:lstStyle/>
          <a:p>
            <a:r>
              <a:rPr lang="es-ES_tradnl" sz="2500" u="sng" dirty="0" smtClean="0"/>
              <a:t>Combinaciones factibles</a:t>
            </a:r>
            <a:r>
              <a:rPr lang="es-ES_tradnl" sz="2500" dirty="0" smtClean="0"/>
              <a:t>:</a:t>
            </a:r>
            <a:endParaRPr lang="es-ES" sz="2500" dirty="0"/>
          </a:p>
        </p:txBody>
      </p:sp>
      <p:sp>
        <p:nvSpPr>
          <p:cNvPr id="12"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10" name="9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50</a:t>
            </a:fld>
            <a:endParaRPr lang="es-ES" sz="1500" dirty="0">
              <a:solidFill>
                <a:schemeClr val="tx1">
                  <a:lumMod val="50000"/>
                  <a:lumOff val="50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571612"/>
            <a:ext cx="8229600" cy="4525963"/>
          </a:xfrm>
          <a:ln w="38100">
            <a:solidFill>
              <a:schemeClr val="accent1">
                <a:lumMod val="75000"/>
              </a:schemeClr>
            </a:solidFill>
          </a:ln>
        </p:spPr>
        <p:txBody>
          <a:bodyPr>
            <a:normAutofit/>
          </a:bodyPr>
          <a:lstStyle/>
          <a:p>
            <a:pPr>
              <a:buNone/>
            </a:pPr>
            <a:r>
              <a:rPr lang="es-ES" sz="2500" dirty="0" smtClean="0"/>
              <a:t>	</a:t>
            </a:r>
          </a:p>
          <a:p>
            <a:pPr>
              <a:buNone/>
            </a:pPr>
            <a:r>
              <a:rPr lang="es-ES" sz="2500" dirty="0" smtClean="0"/>
              <a:t>	Una persona </a:t>
            </a:r>
            <a:r>
              <a:rPr lang="es-ES" sz="2500" i="1" dirty="0" smtClean="0"/>
              <a:t>i </a:t>
            </a:r>
            <a:r>
              <a:rPr lang="es-ES" sz="2500" dirty="0" smtClean="0"/>
              <a:t>escoge la combinación </a:t>
            </a:r>
            <a:r>
              <a:rPr lang="es-ES" sz="2500" i="1" dirty="0" smtClean="0"/>
              <a:t>j </a:t>
            </a:r>
            <a:r>
              <a:rPr lang="es-ES" sz="2500" dirty="0" smtClean="0"/>
              <a:t>si:</a:t>
            </a:r>
          </a:p>
          <a:p>
            <a:pPr>
              <a:buNone/>
            </a:pPr>
            <a:endParaRPr lang="es-ES_tradnl" sz="2500" dirty="0" smtClean="0"/>
          </a:p>
          <a:p>
            <a:pPr>
              <a:buNone/>
            </a:pPr>
            <a:endParaRPr lang="es-ES_tradnl" sz="2500" dirty="0" smtClean="0"/>
          </a:p>
          <a:p>
            <a:pPr>
              <a:buNone/>
            </a:pPr>
            <a:r>
              <a:rPr lang="es-ES_tradnl" sz="2500" dirty="0" smtClean="0"/>
              <a:t>	</a:t>
            </a:r>
            <a:r>
              <a:rPr lang="es-ES" sz="2500" dirty="0" smtClean="0"/>
              <a:t>La probabilidad de que el individuo </a:t>
            </a:r>
            <a:r>
              <a:rPr lang="es-ES" sz="2500" i="1" dirty="0" smtClean="0"/>
              <a:t>i </a:t>
            </a:r>
            <a:r>
              <a:rPr lang="es-ES" sz="2500" dirty="0" smtClean="0"/>
              <a:t>escoja la alternativa </a:t>
            </a:r>
            <a:r>
              <a:rPr lang="es-ES" sz="2500" i="1" dirty="0" smtClean="0"/>
              <a:t>j </a:t>
            </a:r>
            <a:r>
              <a:rPr lang="es-ES" sz="2500" dirty="0" smtClean="0"/>
              <a:t>está dada por:</a:t>
            </a:r>
            <a:endParaRPr lang="es-ES_tradnl" sz="2500" dirty="0" smtClean="0"/>
          </a:p>
          <a:p>
            <a:pPr>
              <a:buNone/>
            </a:pPr>
            <a:r>
              <a:rPr lang="es-ES_tradnl" sz="2500" dirty="0" smtClean="0"/>
              <a:t>	</a:t>
            </a:r>
            <a:endParaRPr lang="es-ES" sz="2500" dirty="0" smtClean="0"/>
          </a:p>
          <a:p>
            <a:pPr>
              <a:buNone/>
            </a:pPr>
            <a:r>
              <a:rPr lang="es-ES_tradnl" sz="2500" dirty="0" smtClean="0"/>
              <a:t>	</a:t>
            </a:r>
            <a:endParaRPr lang="es-ES" sz="2500" dirty="0" smtClean="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972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7283"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9728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7286" name="Rectangle 6"/>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8193" name="Object 1"/>
          <p:cNvGraphicFramePr>
            <a:graphicFrameLocks noChangeAspect="1"/>
          </p:cNvGraphicFramePr>
          <p:nvPr/>
        </p:nvGraphicFramePr>
        <p:xfrm>
          <a:off x="714348" y="2841151"/>
          <a:ext cx="7858180" cy="730725"/>
        </p:xfrm>
        <a:graphic>
          <a:graphicData uri="http://schemas.openxmlformats.org/presentationml/2006/ole">
            <p:oleObj spid="_x0000_s8207" name="Documento" r:id="rId4" imgW="5397500" imgH="504362" progId="Word.Document.12">
              <p:embed/>
            </p:oleObj>
          </a:graphicData>
        </a:graphic>
      </p:graphicFrame>
      <p:graphicFrame>
        <p:nvGraphicFramePr>
          <p:cNvPr id="8194" name="Object 2"/>
          <p:cNvGraphicFramePr>
            <a:graphicFrameLocks noChangeAspect="1"/>
          </p:cNvGraphicFramePr>
          <p:nvPr/>
        </p:nvGraphicFramePr>
        <p:xfrm>
          <a:off x="1231915" y="4500570"/>
          <a:ext cx="6911985" cy="717760"/>
        </p:xfrm>
        <a:graphic>
          <a:graphicData uri="http://schemas.openxmlformats.org/presentationml/2006/ole">
            <p:oleObj spid="_x0000_s8208" name="Documento" r:id="rId5" imgW="5397500" imgH="563126" progId="Word.Document.12">
              <p:embed/>
            </p:oleObj>
          </a:graphicData>
        </a:graphic>
      </p:graphicFrame>
      <p:sp>
        <p:nvSpPr>
          <p:cNvPr id="14"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13" name="12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51</a:t>
            </a:fld>
            <a:endParaRPr lang="es-ES" sz="1500" dirty="0">
              <a:solidFill>
                <a:schemeClr val="tx1">
                  <a:lumMod val="50000"/>
                  <a:lumOff val="50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ES_tradnl" sz="2500" dirty="0" smtClean="0"/>
              <a:t>	Dadas la probabilidades se construye la función logarítmica de verosimilitud:</a:t>
            </a:r>
            <a:endParaRPr lang="es-ES" sz="2500" dirty="0" smtClean="0"/>
          </a:p>
          <a:p>
            <a:pPr>
              <a:buNone/>
            </a:pPr>
            <a:r>
              <a:rPr lang="es-ES_tradnl" dirty="0" smtClean="0"/>
              <a:t>	</a:t>
            </a:r>
            <a:endParaRPr lang="es-ES" dirty="0"/>
          </a:p>
        </p:txBody>
      </p:sp>
      <p:pic>
        <p:nvPicPr>
          <p:cNvPr id="4" name="Picture 1"/>
          <p:cNvPicPr>
            <a:picLocks noChangeAspect="1" noChangeArrowheads="1"/>
          </p:cNvPicPr>
          <p:nvPr/>
        </p:nvPicPr>
        <p:blipFill>
          <a:blip r:embed="rId4" cstate="print"/>
          <a:srcRect/>
          <a:stretch>
            <a:fillRect/>
          </a:stretch>
        </p:blipFill>
        <p:spPr bwMode="auto">
          <a:xfrm>
            <a:off x="0" y="0"/>
            <a:ext cx="2500298" cy="1189301"/>
          </a:xfrm>
          <a:prstGeom prst="rect">
            <a:avLst/>
          </a:prstGeom>
          <a:noFill/>
          <a:ln w="9525">
            <a:noFill/>
            <a:miter lim="800000"/>
            <a:headEnd/>
            <a:tailEnd/>
          </a:ln>
          <a:effectLst/>
        </p:spPr>
      </p:pic>
      <p:sp>
        <p:nvSpPr>
          <p:cNvPr id="983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830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831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831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8313" name="Rectangle 9"/>
          <p:cNvSpPr>
            <a:spLocks noChangeArrowheads="1"/>
          </p:cNvSpPr>
          <p:nvPr/>
        </p:nvSpPr>
        <p:spPr bwMode="auto">
          <a:xfrm>
            <a:off x="0" y="1485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8" name="17 CuadroTexto"/>
          <p:cNvSpPr txBox="1"/>
          <p:nvPr/>
        </p:nvSpPr>
        <p:spPr>
          <a:xfrm>
            <a:off x="6156714" y="2773916"/>
            <a:ext cx="2219518" cy="369332"/>
          </a:xfrm>
          <a:prstGeom prst="rect">
            <a:avLst/>
          </a:prstGeom>
          <a:noFill/>
          <a:ln>
            <a:solidFill>
              <a:schemeClr val="accent1">
                <a:lumMod val="60000"/>
                <a:lumOff val="40000"/>
              </a:schemeClr>
            </a:solidFill>
          </a:ln>
        </p:spPr>
        <p:txBody>
          <a:bodyPr wrap="none" rtlCol="0">
            <a:spAutoFit/>
          </a:bodyPr>
          <a:lstStyle/>
          <a:p>
            <a:r>
              <a:rPr lang="es-ES" dirty="0" smtClean="0"/>
              <a:t>Vector de parámetros</a:t>
            </a:r>
            <a:endParaRPr lang="es-ES" dirty="0"/>
          </a:p>
        </p:txBody>
      </p:sp>
      <p:cxnSp>
        <p:nvCxnSpPr>
          <p:cNvPr id="21" name="20 Conector recto de flecha"/>
          <p:cNvCxnSpPr/>
          <p:nvPr/>
        </p:nvCxnSpPr>
        <p:spPr>
          <a:xfrm rot="16200000" flipH="1">
            <a:off x="7179487" y="3321843"/>
            <a:ext cx="285752"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3147398" y="2786058"/>
            <a:ext cx="2710486" cy="369332"/>
          </a:xfrm>
          <a:prstGeom prst="rect">
            <a:avLst/>
          </a:prstGeom>
          <a:noFill/>
          <a:ln>
            <a:solidFill>
              <a:schemeClr val="accent1">
                <a:lumMod val="60000"/>
                <a:lumOff val="40000"/>
              </a:schemeClr>
            </a:solidFill>
          </a:ln>
        </p:spPr>
        <p:txBody>
          <a:bodyPr wrap="none" rtlCol="0">
            <a:spAutoFit/>
          </a:bodyPr>
          <a:lstStyle/>
          <a:p>
            <a:r>
              <a:rPr lang="es-ES" dirty="0" smtClean="0"/>
              <a:t>Características individuales</a:t>
            </a:r>
            <a:endParaRPr lang="es-ES" dirty="0"/>
          </a:p>
        </p:txBody>
      </p:sp>
      <p:cxnSp>
        <p:nvCxnSpPr>
          <p:cNvPr id="24" name="23 Conector recto de flecha"/>
          <p:cNvCxnSpPr/>
          <p:nvPr/>
        </p:nvCxnSpPr>
        <p:spPr>
          <a:xfrm rot="16200000" flipH="1">
            <a:off x="5036347" y="3321844"/>
            <a:ext cx="285752"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25 CuadroTexto"/>
          <p:cNvSpPr txBox="1"/>
          <p:nvPr/>
        </p:nvSpPr>
        <p:spPr>
          <a:xfrm>
            <a:off x="6143637" y="4488428"/>
            <a:ext cx="2143140" cy="646331"/>
          </a:xfrm>
          <a:prstGeom prst="rect">
            <a:avLst/>
          </a:prstGeom>
          <a:noFill/>
          <a:ln>
            <a:solidFill>
              <a:schemeClr val="accent1">
                <a:lumMod val="60000"/>
                <a:lumOff val="40000"/>
              </a:schemeClr>
            </a:solidFill>
          </a:ln>
        </p:spPr>
        <p:txBody>
          <a:bodyPr wrap="square" rtlCol="0">
            <a:spAutoFit/>
          </a:bodyPr>
          <a:lstStyle/>
          <a:p>
            <a:r>
              <a:rPr lang="es-ES_tradnl" dirty="0" smtClean="0"/>
              <a:t>Función de densidad normal</a:t>
            </a:r>
            <a:endParaRPr lang="es-ES" dirty="0"/>
          </a:p>
        </p:txBody>
      </p:sp>
      <p:cxnSp>
        <p:nvCxnSpPr>
          <p:cNvPr id="28" name="27 Conector recto de flecha"/>
          <p:cNvCxnSpPr/>
          <p:nvPr/>
        </p:nvCxnSpPr>
        <p:spPr>
          <a:xfrm rot="16200000" flipV="1">
            <a:off x="6393669" y="4250537"/>
            <a:ext cx="142876"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28 CuadroTexto"/>
          <p:cNvSpPr txBox="1"/>
          <p:nvPr/>
        </p:nvSpPr>
        <p:spPr>
          <a:xfrm>
            <a:off x="3361712" y="5572140"/>
            <a:ext cx="4415440" cy="369332"/>
          </a:xfrm>
          <a:prstGeom prst="rect">
            <a:avLst/>
          </a:prstGeom>
          <a:noFill/>
          <a:ln>
            <a:solidFill>
              <a:schemeClr val="accent1">
                <a:lumMod val="60000"/>
                <a:lumOff val="40000"/>
              </a:schemeClr>
            </a:solidFill>
          </a:ln>
        </p:spPr>
        <p:txBody>
          <a:bodyPr wrap="none" rtlCol="0">
            <a:spAutoFit/>
          </a:bodyPr>
          <a:lstStyle/>
          <a:p>
            <a:r>
              <a:rPr lang="es-ES" dirty="0" smtClean="0"/>
              <a:t>Probabilidad de escogencia de la alternativa </a:t>
            </a:r>
            <a:r>
              <a:rPr lang="es-ES" i="1" dirty="0" smtClean="0"/>
              <a:t>j</a:t>
            </a:r>
            <a:endParaRPr lang="es-ES" dirty="0"/>
          </a:p>
        </p:txBody>
      </p:sp>
      <p:cxnSp>
        <p:nvCxnSpPr>
          <p:cNvPr id="31" name="30 Conector recto de flecha"/>
          <p:cNvCxnSpPr/>
          <p:nvPr/>
        </p:nvCxnSpPr>
        <p:spPr>
          <a:xfrm rot="16200000" flipV="1">
            <a:off x="4321967" y="5393545"/>
            <a:ext cx="142876"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7170" name="Object 2"/>
          <p:cNvGraphicFramePr>
            <a:graphicFrameLocks noChangeAspect="1"/>
          </p:cNvGraphicFramePr>
          <p:nvPr/>
        </p:nvGraphicFramePr>
        <p:xfrm>
          <a:off x="1017601" y="2786058"/>
          <a:ext cx="6835997" cy="571504"/>
        </p:xfrm>
        <a:graphic>
          <a:graphicData uri="http://schemas.openxmlformats.org/presentationml/2006/ole">
            <p:oleObj spid="_x0000_s7191" name="Documento" r:id="rId5" imgW="5397500" imgH="453529" progId="Word.Document.12">
              <p:embed/>
            </p:oleObj>
          </a:graphicData>
        </a:graphic>
      </p:graphicFrame>
      <p:graphicFrame>
        <p:nvGraphicFramePr>
          <p:cNvPr id="7171" name="Object 3"/>
          <p:cNvGraphicFramePr>
            <a:graphicFrameLocks noChangeAspect="1"/>
          </p:cNvGraphicFramePr>
          <p:nvPr/>
        </p:nvGraphicFramePr>
        <p:xfrm>
          <a:off x="1936751" y="3214686"/>
          <a:ext cx="6850091" cy="1354796"/>
        </p:xfrm>
        <a:graphic>
          <a:graphicData uri="http://schemas.openxmlformats.org/presentationml/2006/ole">
            <p:oleObj spid="_x0000_s7192" name="Documento" r:id="rId6" imgW="5397500" imgH="1106785" progId="Word.Document.12">
              <p:embed/>
            </p:oleObj>
          </a:graphicData>
        </a:graphic>
      </p:graphicFrame>
      <p:graphicFrame>
        <p:nvGraphicFramePr>
          <p:cNvPr id="7172" name="Object 4"/>
          <p:cNvGraphicFramePr>
            <a:graphicFrameLocks noChangeAspect="1"/>
          </p:cNvGraphicFramePr>
          <p:nvPr/>
        </p:nvGraphicFramePr>
        <p:xfrm>
          <a:off x="1714480" y="4429132"/>
          <a:ext cx="6715172" cy="1298080"/>
        </p:xfrm>
        <a:graphic>
          <a:graphicData uri="http://schemas.openxmlformats.org/presentationml/2006/ole">
            <p:oleObj spid="_x0000_s7193" name="Documento" r:id="rId7" imgW="5397500" imgH="1106785" progId="Word.Document.12">
              <p:embed/>
            </p:oleObj>
          </a:graphicData>
        </a:graphic>
      </p:graphicFrame>
      <p:sp>
        <p:nvSpPr>
          <p:cNvPr id="30"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32" name="31 Elipse"/>
          <p:cNvSpPr/>
          <p:nvPr/>
        </p:nvSpPr>
        <p:spPr>
          <a:xfrm>
            <a:off x="1691680" y="3356992"/>
            <a:ext cx="864096" cy="10801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32 Elipse"/>
          <p:cNvSpPr/>
          <p:nvPr/>
        </p:nvSpPr>
        <p:spPr>
          <a:xfrm>
            <a:off x="1763688" y="4581128"/>
            <a:ext cx="864096" cy="10801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5" name="34 Conector recto de flecha"/>
          <p:cNvCxnSpPr/>
          <p:nvPr/>
        </p:nvCxnSpPr>
        <p:spPr>
          <a:xfrm>
            <a:off x="1187624" y="3645024"/>
            <a:ext cx="504056" cy="14560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35 Conector recto de flecha"/>
          <p:cNvCxnSpPr/>
          <p:nvPr/>
        </p:nvCxnSpPr>
        <p:spPr>
          <a:xfrm>
            <a:off x="1043608" y="5013176"/>
            <a:ext cx="720080" cy="14560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36 CuadroTexto"/>
          <p:cNvSpPr txBox="1"/>
          <p:nvPr/>
        </p:nvSpPr>
        <p:spPr>
          <a:xfrm>
            <a:off x="467544" y="3356992"/>
            <a:ext cx="1056764" cy="369332"/>
          </a:xfrm>
          <a:prstGeom prst="rect">
            <a:avLst/>
          </a:prstGeom>
          <a:noFill/>
        </p:spPr>
        <p:txBody>
          <a:bodyPr wrap="none" rtlCol="0">
            <a:spAutoFit/>
          </a:bodyPr>
          <a:lstStyle/>
          <a:p>
            <a:r>
              <a:rPr lang="es-CO" dirty="0" smtClean="0"/>
              <a:t>Si trabaja</a:t>
            </a:r>
            <a:endParaRPr lang="es-ES" dirty="0"/>
          </a:p>
        </p:txBody>
      </p:sp>
      <p:sp>
        <p:nvSpPr>
          <p:cNvPr id="38" name="37 CuadroTexto"/>
          <p:cNvSpPr txBox="1"/>
          <p:nvPr/>
        </p:nvSpPr>
        <p:spPr>
          <a:xfrm>
            <a:off x="467544" y="4653136"/>
            <a:ext cx="1406219" cy="369332"/>
          </a:xfrm>
          <a:prstGeom prst="rect">
            <a:avLst/>
          </a:prstGeom>
          <a:noFill/>
        </p:spPr>
        <p:txBody>
          <a:bodyPr wrap="none" rtlCol="0">
            <a:spAutoFit/>
          </a:bodyPr>
          <a:lstStyle/>
          <a:p>
            <a:r>
              <a:rPr lang="es-CO" dirty="0" smtClean="0"/>
              <a:t>Si no trabaja</a:t>
            </a:r>
            <a:endParaRPr lang="es-ES" dirty="0"/>
          </a:p>
        </p:txBody>
      </p:sp>
      <p:sp>
        <p:nvSpPr>
          <p:cNvPr id="34" name="33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52</a:t>
            </a:fld>
            <a:endParaRPr lang="es-ES" sz="1500" dirty="0">
              <a:solidFill>
                <a:schemeClr val="tx1">
                  <a:lumMod val="50000"/>
                  <a:lumOff val="50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8" name="7 CuadroTexto"/>
          <p:cNvSpPr txBox="1"/>
          <p:nvPr/>
        </p:nvSpPr>
        <p:spPr>
          <a:xfrm>
            <a:off x="829276" y="1880376"/>
            <a:ext cx="3456972" cy="477054"/>
          </a:xfrm>
          <a:prstGeom prst="rect">
            <a:avLst/>
          </a:prstGeom>
          <a:noFill/>
        </p:spPr>
        <p:txBody>
          <a:bodyPr wrap="none" rtlCol="0">
            <a:spAutoFit/>
          </a:bodyPr>
          <a:lstStyle/>
          <a:p>
            <a:r>
              <a:rPr lang="es-ES_tradnl" sz="2500" dirty="0" smtClean="0"/>
              <a:t>Predicciones del modelo:</a:t>
            </a:r>
            <a:endParaRPr lang="es-ES" sz="2500" dirty="0"/>
          </a:p>
        </p:txBody>
      </p:sp>
      <p:graphicFrame>
        <p:nvGraphicFramePr>
          <p:cNvPr id="9" name="8 Tabla"/>
          <p:cNvGraphicFramePr>
            <a:graphicFrameLocks noGrp="1"/>
          </p:cNvGraphicFramePr>
          <p:nvPr/>
        </p:nvGraphicFramePr>
        <p:xfrm>
          <a:off x="323529" y="2274167"/>
          <a:ext cx="8034686" cy="2450977"/>
        </p:xfrm>
        <a:graphic>
          <a:graphicData uri="http://schemas.openxmlformats.org/drawingml/2006/table">
            <a:tbl>
              <a:tblPr/>
              <a:tblGrid>
                <a:gridCol w="1368151"/>
                <a:gridCol w="818065"/>
                <a:gridCol w="1169694"/>
                <a:gridCol w="1169694"/>
                <a:gridCol w="1169694"/>
                <a:gridCol w="1169694"/>
                <a:gridCol w="1169694"/>
              </a:tblGrid>
              <a:tr h="310951">
                <a:tc gridSpan="7">
                  <a:txBody>
                    <a:bodyPr/>
                    <a:lstStyle/>
                    <a:p>
                      <a:pPr algn="ctr">
                        <a:spcAft>
                          <a:spcPts val="0"/>
                        </a:spcAft>
                      </a:pPr>
                      <a:r>
                        <a:rPr lang="es-ES" sz="1800" b="1" dirty="0">
                          <a:latin typeface="Times New Roman"/>
                          <a:ea typeface="Times New Roman"/>
                          <a:cs typeface="Times New Roman"/>
                        </a:rPr>
                        <a:t>Combinación</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spcAft>
                          <a:spcPts val="0"/>
                        </a:spcAft>
                      </a:pP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r>
              <a:tr h="932853">
                <a:tc>
                  <a:txBody>
                    <a:bodyPr/>
                    <a:lstStyle/>
                    <a:p>
                      <a:pPr algn="ctr">
                        <a:spcAft>
                          <a:spcPts val="0"/>
                        </a:spcAft>
                      </a:pPr>
                      <a:r>
                        <a:rPr lang="es-ES" sz="1800" b="1" dirty="0">
                          <a:latin typeface="Times New Roman"/>
                          <a:ea typeface="Times New Roman"/>
                          <a:cs typeface="Times New Roman"/>
                        </a:rPr>
                        <a:t> </a:t>
                      </a:r>
                      <a:r>
                        <a:rPr lang="es-ES" sz="1800" b="1" dirty="0" smtClean="0">
                          <a:latin typeface="Times New Roman"/>
                          <a:ea typeface="Times New Roman"/>
                          <a:cs typeface="Times New Roman"/>
                        </a:rPr>
                        <a:t>Alternativa</a:t>
                      </a:r>
                      <a:r>
                        <a:rPr lang="es-ES" sz="1800" b="1" baseline="0" dirty="0" smtClean="0">
                          <a:latin typeface="Times New Roman"/>
                          <a:ea typeface="Times New Roman"/>
                          <a:cs typeface="Times New Roman"/>
                        </a:rPr>
                        <a:t> escogida</a:t>
                      </a:r>
                      <a:endParaRPr lang="es-ES" sz="1800" b="1"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1</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2</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3</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4</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5</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800" b="1" dirty="0">
                          <a:latin typeface="Times New Roman"/>
                          <a:ea typeface="Times New Roman"/>
                          <a:cs typeface="Times New Roman"/>
                        </a:rPr>
                        <a:t>6</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0951">
                <a:tc>
                  <a:txBody>
                    <a:bodyPr/>
                    <a:lstStyle/>
                    <a:p>
                      <a:pPr>
                        <a:spcAft>
                          <a:spcPts val="0"/>
                        </a:spcAft>
                      </a:pPr>
                      <a:r>
                        <a:rPr lang="es-ES" sz="1800" dirty="0">
                          <a:latin typeface="Times New Roman"/>
                          <a:ea typeface="Times New Roman"/>
                          <a:cs typeface="Times New Roman"/>
                        </a:rPr>
                        <a:t> </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400" dirty="0">
                          <a:latin typeface="Times New Roman"/>
                          <a:ea typeface="Times New Roman"/>
                          <a:cs typeface="Times New Roman"/>
                        </a:rPr>
                        <a:t>P </a:t>
                      </a:r>
                      <a:r>
                        <a:rPr lang="es-ES" sz="1400" dirty="0" smtClean="0">
                          <a:latin typeface="Times New Roman"/>
                          <a:ea typeface="Times New Roman"/>
                          <a:cs typeface="Times New Roman"/>
                        </a:rPr>
                        <a:t>=1</a:t>
                      </a:r>
                      <a:r>
                        <a:rPr lang="es-ES" sz="1400" dirty="0">
                          <a:latin typeface="Times New Roman"/>
                          <a:ea typeface="Times New Roman"/>
                          <a:cs typeface="Times New Roman"/>
                        </a:rPr>
                        <a:t>, </a:t>
                      </a:r>
                      <a:r>
                        <a:rPr lang="es-ES" sz="1400" dirty="0" smtClean="0">
                          <a:latin typeface="Times New Roman"/>
                          <a:ea typeface="Times New Roman"/>
                          <a:cs typeface="Times New Roman"/>
                        </a:rPr>
                        <a:t>A=1 </a:t>
                      </a:r>
                      <a:endParaRPr lang="es-ES" sz="14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400" kern="1200" dirty="0" smtClean="0">
                          <a:solidFill>
                            <a:schemeClr val="tx1"/>
                          </a:solidFill>
                          <a:latin typeface="Times New Roman" pitchFamily="18" charset="0"/>
                          <a:ea typeface="+mn-ea"/>
                          <a:cs typeface="Times New Roman" pitchFamily="18" charset="0"/>
                        </a:rPr>
                        <a:t>P</a:t>
                      </a:r>
                      <a:r>
                        <a:rPr lang="es-ES" sz="1400" kern="1200" dirty="0" smtClean="0">
                          <a:solidFill>
                            <a:schemeClr val="tx1"/>
                          </a:solidFill>
                          <a:latin typeface="Times New Roman" pitchFamily="18" charset="0"/>
                          <a:ea typeface="Times New Roman"/>
                          <a:cs typeface="Times New Roman" pitchFamily="18" charset="0"/>
                        </a:rPr>
                        <a:t>=1</a:t>
                      </a:r>
                      <a:r>
                        <a:rPr lang="es-ES" sz="1400" kern="1200" dirty="0" smtClean="0">
                          <a:solidFill>
                            <a:schemeClr val="tx1"/>
                          </a:solidFill>
                          <a:latin typeface="Times New Roman"/>
                          <a:ea typeface="Times New Roman"/>
                          <a:cs typeface="Times New Roman"/>
                        </a:rPr>
                        <a:t>, O=1 </a:t>
                      </a:r>
                      <a:endParaRPr lang="es-ES" sz="1400" kern="1200" dirty="0">
                        <a:solidFill>
                          <a:schemeClr val="tx1"/>
                        </a:solidFill>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400" dirty="0" smtClean="0">
                          <a:latin typeface="Times New Roman"/>
                          <a:ea typeface="Times New Roman"/>
                          <a:cs typeface="Times New Roman"/>
                        </a:rPr>
                        <a:t>P=1</a:t>
                      </a:r>
                      <a:r>
                        <a:rPr lang="es-ES" sz="1400" dirty="0">
                          <a:latin typeface="Times New Roman"/>
                          <a:ea typeface="Times New Roman"/>
                          <a:cs typeface="Times New Roman"/>
                        </a:rPr>
                        <a:t>, </a:t>
                      </a:r>
                      <a:r>
                        <a:rPr lang="es-ES" sz="1400" dirty="0" smtClean="0">
                          <a:latin typeface="Times New Roman"/>
                          <a:ea typeface="Times New Roman"/>
                          <a:cs typeface="Times New Roman"/>
                        </a:rPr>
                        <a:t>NT=1 </a:t>
                      </a:r>
                      <a:endParaRPr lang="es-ES" sz="14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400" dirty="0" smtClean="0">
                          <a:latin typeface="Times New Roman"/>
                          <a:ea typeface="Times New Roman"/>
                          <a:cs typeface="Times New Roman"/>
                        </a:rPr>
                        <a:t>P=0</a:t>
                      </a:r>
                      <a:r>
                        <a:rPr lang="es-ES" sz="1400" dirty="0">
                          <a:latin typeface="Times New Roman"/>
                          <a:ea typeface="Times New Roman"/>
                          <a:cs typeface="Times New Roman"/>
                        </a:rPr>
                        <a:t>, </a:t>
                      </a:r>
                      <a:r>
                        <a:rPr lang="es-ES" sz="1400" dirty="0" smtClean="0">
                          <a:latin typeface="Times New Roman"/>
                          <a:ea typeface="Times New Roman"/>
                          <a:cs typeface="Times New Roman"/>
                        </a:rPr>
                        <a:t>A=1 </a:t>
                      </a:r>
                      <a:endParaRPr lang="es-ES" sz="14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400" dirty="0" smtClean="0">
                          <a:latin typeface="Times New Roman"/>
                          <a:ea typeface="Times New Roman"/>
                          <a:cs typeface="Times New Roman"/>
                        </a:rPr>
                        <a:t>P=0</a:t>
                      </a:r>
                      <a:r>
                        <a:rPr lang="es-ES" sz="1400" dirty="0">
                          <a:latin typeface="Times New Roman"/>
                          <a:ea typeface="Times New Roman"/>
                          <a:cs typeface="Times New Roman"/>
                        </a:rPr>
                        <a:t>, </a:t>
                      </a:r>
                      <a:r>
                        <a:rPr lang="es-ES" sz="1400" dirty="0" smtClean="0">
                          <a:latin typeface="Times New Roman"/>
                          <a:ea typeface="Times New Roman"/>
                          <a:cs typeface="Times New Roman"/>
                        </a:rPr>
                        <a:t>O=1 </a:t>
                      </a:r>
                      <a:endParaRPr lang="es-ES" sz="14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s-ES" sz="1400" dirty="0" smtClean="0">
                          <a:latin typeface="Times New Roman"/>
                          <a:ea typeface="Times New Roman"/>
                          <a:cs typeface="Times New Roman"/>
                        </a:rPr>
                        <a:t>P=0</a:t>
                      </a:r>
                      <a:r>
                        <a:rPr lang="es-ES" sz="1400" dirty="0">
                          <a:latin typeface="Times New Roman"/>
                          <a:ea typeface="Times New Roman"/>
                          <a:cs typeface="Times New Roman"/>
                        </a:rPr>
                        <a:t>, </a:t>
                      </a:r>
                      <a:r>
                        <a:rPr lang="es-ES" sz="1400" dirty="0" smtClean="0">
                          <a:latin typeface="Times New Roman"/>
                          <a:ea typeface="Times New Roman"/>
                          <a:cs typeface="Times New Roman"/>
                        </a:rPr>
                        <a:t>NT=1 </a:t>
                      </a:r>
                      <a:endParaRPr lang="es-ES" sz="14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0951">
                <a:tc>
                  <a:txBody>
                    <a:bodyPr/>
                    <a:lstStyle/>
                    <a:p>
                      <a:pPr algn="l">
                        <a:spcAft>
                          <a:spcPts val="0"/>
                        </a:spcAft>
                      </a:pPr>
                      <a:r>
                        <a:rPr lang="es-ES" sz="1800" b="0" dirty="0">
                          <a:latin typeface="Times New Roman"/>
                          <a:ea typeface="Times New Roman"/>
                          <a:cs typeface="Times New Roman"/>
                        </a:rPr>
                        <a:t>Reales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4.53</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24.68</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7.07</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7.77</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29.74</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26.21</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0951">
                <a:tc>
                  <a:txBody>
                    <a:bodyPr/>
                    <a:lstStyle/>
                    <a:p>
                      <a:pPr algn="l">
                        <a:spcAft>
                          <a:spcPts val="0"/>
                        </a:spcAft>
                      </a:pPr>
                      <a:r>
                        <a:rPr lang="es-ES" sz="1800" b="0" dirty="0">
                          <a:latin typeface="Times New Roman"/>
                          <a:ea typeface="Times New Roman"/>
                          <a:cs typeface="Times New Roman"/>
                        </a:rPr>
                        <a:t>Predichos</a:t>
                      </a: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1.01</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25.75</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1.50</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3.61</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36.32</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31.81</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1615">
                <a:tc>
                  <a:txBody>
                    <a:bodyPr/>
                    <a:lstStyle/>
                    <a:p>
                      <a:pPr algn="l">
                        <a:spcAft>
                          <a:spcPts val="0"/>
                        </a:spcAft>
                      </a:pPr>
                      <a:r>
                        <a:rPr lang="es-ES" sz="1800" b="0" dirty="0" err="1" smtClean="0">
                          <a:latin typeface="Times New Roman"/>
                          <a:ea typeface="Times New Roman"/>
                          <a:cs typeface="Times New Roman"/>
                        </a:rPr>
                        <a:t>Pearson</a:t>
                      </a:r>
                      <a:r>
                        <a:rPr lang="es-ES" sz="1800" b="0" dirty="0" smtClean="0">
                          <a:latin typeface="Times New Roman"/>
                          <a:ea typeface="Times New Roman"/>
                          <a:cs typeface="Times New Roman"/>
                        </a:rPr>
                        <a:t> </a:t>
                      </a:r>
                      <a:r>
                        <a:rPr lang="es-ES" sz="1800" b="0" dirty="0">
                          <a:latin typeface="Times New Roman"/>
                          <a:ea typeface="Times New Roman"/>
                          <a:cs typeface="Times New Roman"/>
                        </a:rPr>
                        <a:t>χ</a:t>
                      </a:r>
                      <a:r>
                        <a:rPr lang="es-ES" sz="1800" b="0" baseline="30000" dirty="0">
                          <a:latin typeface="Times New Roman"/>
                          <a:ea typeface="Times New Roman"/>
                          <a:cs typeface="Times New Roman"/>
                        </a:rPr>
                        <a:t>2</a:t>
                      </a:r>
                      <a:endParaRPr lang="es-ES" sz="1800" b="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s-ES" sz="1800" dirty="0" smtClean="0">
                          <a:latin typeface="Times New Roman"/>
                          <a:ea typeface="Times New Roman"/>
                          <a:cs typeface="Times New Roman"/>
                        </a:rPr>
                        <a:t>12.05</a:t>
                      </a: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endParaRPr lang="es-ES" sz="1800" dirty="0">
                        <a:latin typeface="Times New Roman"/>
                        <a:ea typeface="Times New Roman"/>
                        <a:cs typeface="Times New Roman"/>
                      </a:endParaRPr>
                    </a:p>
                  </a:txBody>
                  <a:tcPr marL="44450" marR="4445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2"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sp>
        <p:nvSpPr>
          <p:cNvPr id="11" name="10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53</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9" name="1 Título"/>
          <p:cNvSpPr>
            <a:spLocks noGrp="1"/>
          </p:cNvSpPr>
          <p:nvPr>
            <p:ph type="title"/>
          </p:nvPr>
        </p:nvSpPr>
        <p:spPr>
          <a:xfrm>
            <a:off x="2249348" y="71414"/>
            <a:ext cx="6715140" cy="1214446"/>
          </a:xfrm>
        </p:spPr>
        <p:txBody>
          <a:bodyPr>
            <a:noAutofit/>
          </a:bodyPr>
          <a:lstStyle/>
          <a:p>
            <a:r>
              <a:rPr lang="es-AR" sz="3200" u="sng" dirty="0" smtClean="0"/>
              <a:t>Ejemplo: Políticas para población desplazada en Colombia (Helo, 2008)</a:t>
            </a:r>
            <a:endParaRPr lang="es-AR" sz="3200" u="sng" dirty="0"/>
          </a:p>
        </p:txBody>
      </p:sp>
      <p:pic>
        <p:nvPicPr>
          <p:cNvPr id="10"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13" name="12 CuadroTexto"/>
          <p:cNvSpPr txBox="1"/>
          <p:nvPr/>
        </p:nvSpPr>
        <p:spPr>
          <a:xfrm>
            <a:off x="611560" y="4077072"/>
            <a:ext cx="7992888" cy="2462213"/>
          </a:xfrm>
          <a:prstGeom prst="rect">
            <a:avLst/>
          </a:prstGeom>
          <a:noFill/>
        </p:spPr>
        <p:txBody>
          <a:bodyPr wrap="square" rtlCol="0">
            <a:spAutoFit/>
          </a:bodyPr>
          <a:lstStyle/>
          <a:p>
            <a:r>
              <a:rPr lang="es-ES" sz="2200" dirty="0" smtClean="0"/>
              <a:t>Se observa una disminución de los salarios promedio de los beneficiarios y no beneficiarios al doblar la transferencia, y un aumento de los salarios al doblar la capacitación, con respecto al escenario de base. En contraste, una política que proporcione mayor importancia al aprendizaje de oficios y capacidades empresariales significaría un aumento del 8.6% en los salarios frente al programa actual.</a:t>
            </a:r>
            <a:endParaRPr lang="es-ES" sz="2200" dirty="0"/>
          </a:p>
        </p:txBody>
      </p:sp>
      <p:grpSp>
        <p:nvGrpSpPr>
          <p:cNvPr id="117764" name="Group 4"/>
          <p:cNvGrpSpPr>
            <a:grpSpLocks noChangeAspect="1"/>
          </p:cNvGrpSpPr>
          <p:nvPr/>
        </p:nvGrpSpPr>
        <p:grpSpPr bwMode="auto">
          <a:xfrm>
            <a:off x="34925" y="1892301"/>
            <a:ext cx="9428163" cy="2041525"/>
            <a:chOff x="22" y="1192"/>
            <a:chExt cx="5939" cy="1286"/>
          </a:xfrm>
        </p:grpSpPr>
        <p:sp>
          <p:nvSpPr>
            <p:cNvPr id="117763" name="AutoShape 3"/>
            <p:cNvSpPr>
              <a:spLocks noChangeAspect="1" noChangeArrowheads="1" noTextEdit="1"/>
            </p:cNvSpPr>
            <p:nvPr/>
          </p:nvSpPr>
          <p:spPr bwMode="auto">
            <a:xfrm>
              <a:off x="22" y="1207"/>
              <a:ext cx="5818" cy="11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s-CO"/>
            </a:p>
          </p:txBody>
        </p:sp>
        <p:sp>
          <p:nvSpPr>
            <p:cNvPr id="117767" name="Rectangle 7"/>
            <p:cNvSpPr>
              <a:spLocks noChangeArrowheads="1"/>
            </p:cNvSpPr>
            <p:nvPr/>
          </p:nvSpPr>
          <p:spPr bwMode="auto">
            <a:xfrm>
              <a:off x="1020" y="1192"/>
              <a:ext cx="3843" cy="204"/>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1" i="0" u="none" strike="noStrike" cap="none" normalizeH="0" baseline="0" dirty="0" smtClean="0">
                  <a:ln>
                    <a:noFill/>
                  </a:ln>
                  <a:solidFill>
                    <a:srgbClr val="000000"/>
                  </a:solidFill>
                  <a:effectLst/>
                  <a:latin typeface="Times New Roman" pitchFamily="18" charset="0"/>
                  <a:cs typeface="Arial" pitchFamily="34" charset="0"/>
                </a:rPr>
                <a:t>Efectos de los experimentos de política </a:t>
              </a:r>
              <a:r>
                <a:rPr kumimoji="0" lang="es-CO" sz="2100" b="1" i="0" u="none" strike="noStrike" cap="none" normalizeH="0" baseline="0" dirty="0" err="1" smtClean="0">
                  <a:ln>
                    <a:noFill/>
                  </a:ln>
                  <a:solidFill>
                    <a:srgbClr val="000000"/>
                  </a:solidFill>
                  <a:effectLst/>
                  <a:latin typeface="Times New Roman" pitchFamily="18" charset="0"/>
                  <a:cs typeface="Arial" pitchFamily="34" charset="0"/>
                </a:rPr>
                <a:t>contrafactual</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68" name="Rectangle 8"/>
            <p:cNvSpPr>
              <a:spLocks noChangeArrowheads="1"/>
            </p:cNvSpPr>
            <p:nvPr/>
          </p:nvSpPr>
          <p:spPr bwMode="auto">
            <a:xfrm>
              <a:off x="5189" y="1192"/>
              <a:ext cx="121" cy="22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1"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69" name="Rectangle 9"/>
            <p:cNvSpPr>
              <a:spLocks noChangeArrowheads="1"/>
            </p:cNvSpPr>
            <p:nvPr/>
          </p:nvSpPr>
          <p:spPr bwMode="auto">
            <a:xfrm>
              <a:off x="5855" y="2221"/>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0" name="Rectangle 10"/>
            <p:cNvSpPr>
              <a:spLocks noChangeArrowheads="1"/>
            </p:cNvSpPr>
            <p:nvPr/>
          </p:nvSpPr>
          <p:spPr bwMode="auto">
            <a:xfrm>
              <a:off x="264" y="1419"/>
              <a:ext cx="1061"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dirty="0" smtClean="0">
                  <a:ln>
                    <a:noFill/>
                  </a:ln>
                  <a:solidFill>
                    <a:srgbClr val="000000"/>
                  </a:solidFill>
                  <a:effectLst/>
                  <a:latin typeface="Times New Roman" pitchFamily="18" charset="0"/>
                  <a:cs typeface="Arial" pitchFamily="34" charset="0"/>
                </a:rPr>
                <a:t>Modificación al </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71" name="Rectangle 11"/>
            <p:cNvSpPr>
              <a:spLocks noChangeArrowheads="1"/>
            </p:cNvSpPr>
            <p:nvPr/>
          </p:nvSpPr>
          <p:spPr bwMode="auto">
            <a:xfrm>
              <a:off x="1204" y="140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2" name="Rectangle 12"/>
            <p:cNvSpPr>
              <a:spLocks noChangeArrowheads="1"/>
            </p:cNvSpPr>
            <p:nvPr/>
          </p:nvSpPr>
          <p:spPr bwMode="auto">
            <a:xfrm>
              <a:off x="416" y="1585"/>
              <a:ext cx="682"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smtClean="0">
                  <a:ln>
                    <a:noFill/>
                  </a:ln>
                  <a:solidFill>
                    <a:srgbClr val="000000"/>
                  </a:solidFill>
                  <a:effectLst/>
                  <a:latin typeface="Times New Roman" pitchFamily="18" charset="0"/>
                  <a:cs typeface="Arial" pitchFamily="34" charset="0"/>
                </a:rPr>
                <a:t>programa</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3" name="Rectangle 13"/>
            <p:cNvSpPr>
              <a:spLocks noChangeArrowheads="1"/>
            </p:cNvSpPr>
            <p:nvPr/>
          </p:nvSpPr>
          <p:spPr bwMode="auto">
            <a:xfrm>
              <a:off x="992" y="157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4" name="Rectangle 14"/>
            <p:cNvSpPr>
              <a:spLocks noChangeArrowheads="1"/>
            </p:cNvSpPr>
            <p:nvPr/>
          </p:nvSpPr>
          <p:spPr bwMode="auto">
            <a:xfrm>
              <a:off x="1401" y="1419"/>
              <a:ext cx="1212"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smtClean="0">
                  <a:ln>
                    <a:noFill/>
                  </a:ln>
                  <a:solidFill>
                    <a:srgbClr val="000000"/>
                  </a:solidFill>
                  <a:effectLst/>
                  <a:latin typeface="Times New Roman" pitchFamily="18" charset="0"/>
                  <a:cs typeface="Arial" pitchFamily="34" charset="0"/>
                </a:rPr>
                <a:t>Participación en el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5" name="Rectangle 15"/>
            <p:cNvSpPr>
              <a:spLocks noChangeArrowheads="1"/>
            </p:cNvSpPr>
            <p:nvPr/>
          </p:nvSpPr>
          <p:spPr bwMode="auto">
            <a:xfrm>
              <a:off x="2522" y="140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6" name="Rectangle 16"/>
            <p:cNvSpPr>
              <a:spLocks noChangeArrowheads="1"/>
            </p:cNvSpPr>
            <p:nvPr/>
          </p:nvSpPr>
          <p:spPr bwMode="auto">
            <a:xfrm>
              <a:off x="1658" y="1585"/>
              <a:ext cx="682"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smtClean="0">
                  <a:ln>
                    <a:noFill/>
                  </a:ln>
                  <a:solidFill>
                    <a:srgbClr val="000000"/>
                  </a:solidFill>
                  <a:effectLst/>
                  <a:latin typeface="Times New Roman" pitchFamily="18" charset="0"/>
                  <a:cs typeface="Arial" pitchFamily="34" charset="0"/>
                </a:rPr>
                <a:t>programa</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7" name="Rectangle 17"/>
            <p:cNvSpPr>
              <a:spLocks noChangeArrowheads="1"/>
            </p:cNvSpPr>
            <p:nvPr/>
          </p:nvSpPr>
          <p:spPr bwMode="auto">
            <a:xfrm>
              <a:off x="2249" y="157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78" name="Rectangle 18"/>
            <p:cNvSpPr>
              <a:spLocks noChangeArrowheads="1"/>
            </p:cNvSpPr>
            <p:nvPr/>
          </p:nvSpPr>
          <p:spPr bwMode="auto">
            <a:xfrm>
              <a:off x="2537" y="1419"/>
              <a:ext cx="1227"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dirty="0" smtClean="0">
                  <a:ln>
                    <a:noFill/>
                  </a:ln>
                  <a:solidFill>
                    <a:srgbClr val="000000"/>
                  </a:solidFill>
                  <a:effectLst/>
                  <a:latin typeface="Times New Roman" pitchFamily="18" charset="0"/>
                  <a:cs typeface="Arial" pitchFamily="34" charset="0"/>
                </a:rPr>
                <a:t>Salarios promedio </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79" name="Rectangle 19"/>
            <p:cNvSpPr>
              <a:spLocks noChangeArrowheads="1"/>
            </p:cNvSpPr>
            <p:nvPr/>
          </p:nvSpPr>
          <p:spPr bwMode="auto">
            <a:xfrm>
              <a:off x="3643" y="140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80" name="Rectangle 20"/>
            <p:cNvSpPr>
              <a:spLocks noChangeArrowheads="1"/>
            </p:cNvSpPr>
            <p:nvPr/>
          </p:nvSpPr>
          <p:spPr bwMode="auto">
            <a:xfrm>
              <a:off x="2689" y="1585"/>
              <a:ext cx="956"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dirty="0" smtClean="0">
                  <a:ln>
                    <a:noFill/>
                  </a:ln>
                  <a:solidFill>
                    <a:srgbClr val="000000"/>
                  </a:solidFill>
                  <a:effectLst/>
                  <a:latin typeface="Times New Roman" pitchFamily="18" charset="0"/>
                  <a:cs typeface="Arial" pitchFamily="34" charset="0"/>
                </a:rPr>
                <a:t>Beneficiarios ($)</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81" name="Rectangle 21"/>
            <p:cNvSpPr>
              <a:spLocks noChangeArrowheads="1"/>
            </p:cNvSpPr>
            <p:nvPr/>
          </p:nvSpPr>
          <p:spPr bwMode="auto">
            <a:xfrm>
              <a:off x="3431" y="157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82" name="Rectangle 22"/>
            <p:cNvSpPr>
              <a:spLocks noChangeArrowheads="1"/>
            </p:cNvSpPr>
            <p:nvPr/>
          </p:nvSpPr>
          <p:spPr bwMode="auto">
            <a:xfrm>
              <a:off x="3613" y="1419"/>
              <a:ext cx="1227"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dirty="0" smtClean="0">
                  <a:ln>
                    <a:noFill/>
                  </a:ln>
                  <a:solidFill>
                    <a:srgbClr val="000000"/>
                  </a:solidFill>
                  <a:effectLst/>
                  <a:latin typeface="Times New Roman" pitchFamily="18" charset="0"/>
                  <a:cs typeface="Arial" pitchFamily="34" charset="0"/>
                </a:rPr>
                <a:t>Salarios promedio </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83" name="Rectangle 23"/>
            <p:cNvSpPr>
              <a:spLocks noChangeArrowheads="1"/>
            </p:cNvSpPr>
            <p:nvPr/>
          </p:nvSpPr>
          <p:spPr bwMode="auto">
            <a:xfrm>
              <a:off x="4704" y="140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84" name="Rectangle 24"/>
            <p:cNvSpPr>
              <a:spLocks noChangeArrowheads="1"/>
            </p:cNvSpPr>
            <p:nvPr/>
          </p:nvSpPr>
          <p:spPr bwMode="auto">
            <a:xfrm>
              <a:off x="3673" y="1585"/>
              <a:ext cx="1121"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dirty="0" smtClean="0">
                  <a:ln>
                    <a:noFill/>
                  </a:ln>
                  <a:solidFill>
                    <a:srgbClr val="000000"/>
                  </a:solidFill>
                  <a:effectLst/>
                  <a:latin typeface="Times New Roman" pitchFamily="18" charset="0"/>
                  <a:cs typeface="Arial" pitchFamily="34" charset="0"/>
                </a:rPr>
                <a:t>no beneficiarios ($)</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85" name="Rectangle 25"/>
            <p:cNvSpPr>
              <a:spLocks noChangeArrowheads="1"/>
            </p:cNvSpPr>
            <p:nvPr/>
          </p:nvSpPr>
          <p:spPr bwMode="auto">
            <a:xfrm>
              <a:off x="4598" y="157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86" name="Rectangle 26"/>
            <p:cNvSpPr>
              <a:spLocks noChangeArrowheads="1"/>
            </p:cNvSpPr>
            <p:nvPr/>
          </p:nvSpPr>
          <p:spPr bwMode="auto">
            <a:xfrm>
              <a:off x="4704" y="1480"/>
              <a:ext cx="1227"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1" i="0" u="none" strike="noStrike" cap="none" normalizeH="0" baseline="0" smtClean="0">
                  <a:ln>
                    <a:noFill/>
                  </a:ln>
                  <a:solidFill>
                    <a:srgbClr val="000000"/>
                  </a:solidFill>
                  <a:effectLst/>
                  <a:latin typeface="Times New Roman" pitchFamily="18" charset="0"/>
                  <a:cs typeface="Arial" pitchFamily="34" charset="0"/>
                </a:rPr>
                <a:t>Utilidad promedio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87" name="Rectangle 27"/>
            <p:cNvSpPr>
              <a:spLocks noChangeArrowheads="1"/>
            </p:cNvSpPr>
            <p:nvPr/>
          </p:nvSpPr>
          <p:spPr bwMode="auto">
            <a:xfrm>
              <a:off x="5810" y="1465"/>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88" name="Rectangle 28"/>
            <p:cNvSpPr>
              <a:spLocks noChangeArrowheads="1"/>
            </p:cNvSpPr>
            <p:nvPr/>
          </p:nvSpPr>
          <p:spPr bwMode="auto">
            <a:xfrm>
              <a:off x="201" y="1782"/>
              <a:ext cx="366"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i="0" u="none" strike="noStrike" cap="none" normalizeH="0" baseline="0" dirty="0" smtClean="0">
                  <a:ln>
                    <a:noFill/>
                  </a:ln>
                  <a:solidFill>
                    <a:srgbClr val="000000"/>
                  </a:solidFill>
                  <a:effectLst/>
                  <a:latin typeface="Times New Roman" pitchFamily="18" charset="0"/>
                  <a:cs typeface="Arial" pitchFamily="34" charset="0"/>
                </a:rPr>
                <a:t>Actual</a:t>
              </a:r>
              <a:endParaRPr kumimoji="0" lang="es-CO" sz="1800" i="0" u="none" strike="noStrike" cap="none" normalizeH="0" baseline="0" dirty="0" smtClean="0">
                <a:ln>
                  <a:noFill/>
                </a:ln>
                <a:solidFill>
                  <a:schemeClr val="tx1"/>
                </a:solidFill>
                <a:effectLst/>
                <a:latin typeface="Arial" pitchFamily="34" charset="0"/>
                <a:cs typeface="Arial" pitchFamily="34" charset="0"/>
              </a:endParaRPr>
            </a:p>
          </p:txBody>
        </p:sp>
        <p:sp>
          <p:nvSpPr>
            <p:cNvPr id="117789" name="Rectangle 29"/>
            <p:cNvSpPr>
              <a:spLocks noChangeArrowheads="1"/>
            </p:cNvSpPr>
            <p:nvPr/>
          </p:nvSpPr>
          <p:spPr bwMode="auto">
            <a:xfrm>
              <a:off x="886" y="1767"/>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0" name="Rectangle 30"/>
            <p:cNvSpPr>
              <a:spLocks noChangeArrowheads="1"/>
            </p:cNvSpPr>
            <p:nvPr/>
          </p:nvSpPr>
          <p:spPr bwMode="auto">
            <a:xfrm>
              <a:off x="1795" y="1782"/>
              <a:ext cx="394"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rgbClr val="000000"/>
                  </a:solidFill>
                  <a:effectLst/>
                  <a:latin typeface="Times New Roman" pitchFamily="18" charset="0"/>
                  <a:cs typeface="Arial" pitchFamily="34" charset="0"/>
                </a:rPr>
                <a:t>36.28</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1" name="Rectangle 31"/>
            <p:cNvSpPr>
              <a:spLocks noChangeArrowheads="1"/>
            </p:cNvSpPr>
            <p:nvPr/>
          </p:nvSpPr>
          <p:spPr bwMode="auto">
            <a:xfrm>
              <a:off x="2098" y="1767"/>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2" name="Rectangle 32"/>
            <p:cNvSpPr>
              <a:spLocks noChangeArrowheads="1"/>
            </p:cNvSpPr>
            <p:nvPr/>
          </p:nvSpPr>
          <p:spPr bwMode="auto">
            <a:xfrm>
              <a:off x="2810" y="1782"/>
              <a:ext cx="481"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dirty="0" smtClean="0">
                  <a:ln>
                    <a:noFill/>
                  </a:ln>
                  <a:solidFill>
                    <a:srgbClr val="000000"/>
                  </a:solidFill>
                  <a:effectLst/>
                  <a:latin typeface="Times New Roman" pitchFamily="18" charset="0"/>
                  <a:cs typeface="Arial" pitchFamily="34" charset="0"/>
                </a:rPr>
                <a:t>12,228.4</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93" name="Rectangle 33"/>
            <p:cNvSpPr>
              <a:spLocks noChangeArrowheads="1"/>
            </p:cNvSpPr>
            <p:nvPr/>
          </p:nvSpPr>
          <p:spPr bwMode="auto">
            <a:xfrm>
              <a:off x="3355" y="1767"/>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4" name="Rectangle 34"/>
            <p:cNvSpPr>
              <a:spLocks noChangeArrowheads="1"/>
            </p:cNvSpPr>
            <p:nvPr/>
          </p:nvSpPr>
          <p:spPr bwMode="auto">
            <a:xfrm>
              <a:off x="3870" y="1782"/>
              <a:ext cx="481"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dirty="0" smtClean="0">
                  <a:ln>
                    <a:noFill/>
                  </a:ln>
                  <a:solidFill>
                    <a:srgbClr val="000000"/>
                  </a:solidFill>
                  <a:effectLst/>
                  <a:latin typeface="Times New Roman" pitchFamily="18" charset="0"/>
                  <a:cs typeface="Arial" pitchFamily="34" charset="0"/>
                </a:rPr>
                <a:t>10,414.1</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795" name="Rectangle 35"/>
            <p:cNvSpPr>
              <a:spLocks noChangeArrowheads="1"/>
            </p:cNvSpPr>
            <p:nvPr/>
          </p:nvSpPr>
          <p:spPr bwMode="auto">
            <a:xfrm>
              <a:off x="4416" y="1767"/>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6" name="Rectangle 36"/>
            <p:cNvSpPr>
              <a:spLocks noChangeArrowheads="1"/>
            </p:cNvSpPr>
            <p:nvPr/>
          </p:nvSpPr>
          <p:spPr bwMode="auto">
            <a:xfrm>
              <a:off x="5082" y="1782"/>
              <a:ext cx="318"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rgbClr val="000000"/>
                  </a:solidFill>
                  <a:effectLst/>
                  <a:latin typeface="Times New Roman" pitchFamily="18" charset="0"/>
                  <a:cs typeface="Arial" pitchFamily="34" charset="0"/>
                </a:rPr>
                <a:t>0.05</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7" name="Rectangle 37"/>
            <p:cNvSpPr>
              <a:spLocks noChangeArrowheads="1"/>
            </p:cNvSpPr>
            <p:nvPr/>
          </p:nvSpPr>
          <p:spPr bwMode="auto">
            <a:xfrm>
              <a:off x="5310" y="1767"/>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798" name="Rectangle 38"/>
            <p:cNvSpPr>
              <a:spLocks noChangeArrowheads="1"/>
            </p:cNvSpPr>
            <p:nvPr/>
          </p:nvSpPr>
          <p:spPr bwMode="auto">
            <a:xfrm>
              <a:off x="204" y="1979"/>
              <a:ext cx="1076"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i="0" u="none" strike="noStrike" cap="none" normalizeH="0" baseline="0" dirty="0" smtClean="0">
                  <a:ln>
                    <a:noFill/>
                  </a:ln>
                  <a:solidFill>
                    <a:srgbClr val="000000"/>
                  </a:solidFill>
                  <a:effectLst/>
                  <a:latin typeface="Times New Roman" pitchFamily="18" charset="0"/>
                  <a:cs typeface="Arial" pitchFamily="34" charset="0"/>
                </a:rPr>
                <a:t>Doble transferencia</a:t>
              </a:r>
              <a:endParaRPr kumimoji="0" lang="es-CO" sz="1800" i="0" u="none" strike="noStrike" cap="none" normalizeH="0" baseline="0" dirty="0" smtClean="0">
                <a:ln>
                  <a:noFill/>
                </a:ln>
                <a:solidFill>
                  <a:schemeClr val="tx1"/>
                </a:solidFill>
                <a:effectLst/>
                <a:latin typeface="Arial" pitchFamily="34" charset="0"/>
                <a:cs typeface="Arial" pitchFamily="34" charset="0"/>
              </a:endParaRPr>
            </a:p>
          </p:txBody>
        </p:sp>
        <p:sp>
          <p:nvSpPr>
            <p:cNvPr id="117800" name="Rectangle 40"/>
            <p:cNvSpPr>
              <a:spLocks noChangeArrowheads="1"/>
            </p:cNvSpPr>
            <p:nvPr/>
          </p:nvSpPr>
          <p:spPr bwMode="auto">
            <a:xfrm>
              <a:off x="1280" y="196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1" name="Rectangle 41"/>
            <p:cNvSpPr>
              <a:spLocks noChangeArrowheads="1"/>
            </p:cNvSpPr>
            <p:nvPr/>
          </p:nvSpPr>
          <p:spPr bwMode="auto">
            <a:xfrm>
              <a:off x="1795" y="1979"/>
              <a:ext cx="394"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rgbClr val="000000"/>
                  </a:solidFill>
                  <a:effectLst/>
                  <a:latin typeface="Times New Roman" pitchFamily="18" charset="0"/>
                  <a:cs typeface="Arial" pitchFamily="34" charset="0"/>
                </a:rPr>
                <a:t>83.15</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2" name="Rectangle 42"/>
            <p:cNvSpPr>
              <a:spLocks noChangeArrowheads="1"/>
            </p:cNvSpPr>
            <p:nvPr/>
          </p:nvSpPr>
          <p:spPr bwMode="auto">
            <a:xfrm>
              <a:off x="2098" y="196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3" name="Rectangle 43"/>
            <p:cNvSpPr>
              <a:spLocks noChangeArrowheads="1"/>
            </p:cNvSpPr>
            <p:nvPr/>
          </p:nvSpPr>
          <p:spPr bwMode="auto">
            <a:xfrm>
              <a:off x="2810" y="1979"/>
              <a:ext cx="481"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dirty="0" smtClean="0">
                  <a:ln>
                    <a:noFill/>
                  </a:ln>
                  <a:solidFill>
                    <a:srgbClr val="000000"/>
                  </a:solidFill>
                  <a:effectLst/>
                  <a:latin typeface="Times New Roman" pitchFamily="18" charset="0"/>
                  <a:cs typeface="Arial" pitchFamily="34" charset="0"/>
                </a:rPr>
                <a:t>10,727.7</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804" name="Rectangle 44"/>
            <p:cNvSpPr>
              <a:spLocks noChangeArrowheads="1"/>
            </p:cNvSpPr>
            <p:nvPr/>
          </p:nvSpPr>
          <p:spPr bwMode="auto">
            <a:xfrm>
              <a:off x="3355" y="196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5" name="Rectangle 45"/>
            <p:cNvSpPr>
              <a:spLocks noChangeArrowheads="1"/>
            </p:cNvSpPr>
            <p:nvPr/>
          </p:nvSpPr>
          <p:spPr bwMode="auto">
            <a:xfrm>
              <a:off x="3870" y="1979"/>
              <a:ext cx="481"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dirty="0" smtClean="0">
                  <a:ln>
                    <a:noFill/>
                  </a:ln>
                  <a:solidFill>
                    <a:srgbClr val="000000"/>
                  </a:solidFill>
                  <a:effectLst/>
                  <a:latin typeface="Times New Roman" pitchFamily="18" charset="0"/>
                  <a:cs typeface="Arial" pitchFamily="34" charset="0"/>
                </a:rPr>
                <a:t>8,807.04</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806" name="Rectangle 46"/>
            <p:cNvSpPr>
              <a:spLocks noChangeArrowheads="1"/>
            </p:cNvSpPr>
            <p:nvPr/>
          </p:nvSpPr>
          <p:spPr bwMode="auto">
            <a:xfrm>
              <a:off x="4416" y="196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7" name="Rectangle 47"/>
            <p:cNvSpPr>
              <a:spLocks noChangeArrowheads="1"/>
            </p:cNvSpPr>
            <p:nvPr/>
          </p:nvSpPr>
          <p:spPr bwMode="auto">
            <a:xfrm>
              <a:off x="5082" y="1979"/>
              <a:ext cx="318"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rgbClr val="000000"/>
                  </a:solidFill>
                  <a:effectLst/>
                  <a:latin typeface="Times New Roman" pitchFamily="18" charset="0"/>
                  <a:cs typeface="Arial" pitchFamily="34" charset="0"/>
                </a:rPr>
                <a:t>1.16</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8" name="Rectangle 48"/>
            <p:cNvSpPr>
              <a:spLocks noChangeArrowheads="1"/>
            </p:cNvSpPr>
            <p:nvPr/>
          </p:nvSpPr>
          <p:spPr bwMode="auto">
            <a:xfrm>
              <a:off x="5310" y="1964"/>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09" name="Rectangle 49"/>
            <p:cNvSpPr>
              <a:spLocks noChangeArrowheads="1"/>
            </p:cNvSpPr>
            <p:nvPr/>
          </p:nvSpPr>
          <p:spPr bwMode="auto">
            <a:xfrm>
              <a:off x="174" y="2175"/>
              <a:ext cx="10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i="0" u="none" strike="noStrike" cap="none" normalizeH="0" baseline="0" dirty="0" smtClean="0">
                  <a:ln>
                    <a:noFill/>
                  </a:ln>
                  <a:solidFill>
                    <a:srgbClr val="000000"/>
                  </a:solidFill>
                  <a:effectLst/>
                  <a:latin typeface="Times New Roman" pitchFamily="18" charset="0"/>
                  <a:cs typeface="Arial" pitchFamily="34" charset="0"/>
                </a:rPr>
                <a:t>Doble capacitación</a:t>
              </a:r>
              <a:endParaRPr kumimoji="0" lang="es-CO" sz="1800" i="0" u="none" strike="noStrike" cap="none" normalizeH="0" baseline="0" dirty="0" smtClean="0">
                <a:ln>
                  <a:noFill/>
                </a:ln>
                <a:solidFill>
                  <a:schemeClr val="tx1"/>
                </a:solidFill>
                <a:effectLst/>
                <a:latin typeface="Arial" pitchFamily="34" charset="0"/>
                <a:cs typeface="Arial" pitchFamily="34" charset="0"/>
              </a:endParaRPr>
            </a:p>
          </p:txBody>
        </p:sp>
        <p:sp>
          <p:nvSpPr>
            <p:cNvPr id="117810" name="Rectangle 50"/>
            <p:cNvSpPr>
              <a:spLocks noChangeArrowheads="1"/>
            </p:cNvSpPr>
            <p:nvPr/>
          </p:nvSpPr>
          <p:spPr bwMode="auto">
            <a:xfrm>
              <a:off x="1280" y="216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1" name="Rectangle 51"/>
            <p:cNvSpPr>
              <a:spLocks noChangeArrowheads="1"/>
            </p:cNvSpPr>
            <p:nvPr/>
          </p:nvSpPr>
          <p:spPr bwMode="auto">
            <a:xfrm>
              <a:off x="1795" y="2175"/>
              <a:ext cx="394"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rgbClr val="000000"/>
                  </a:solidFill>
                  <a:effectLst/>
                  <a:latin typeface="Times New Roman" pitchFamily="18" charset="0"/>
                  <a:cs typeface="Arial" pitchFamily="34" charset="0"/>
                </a:rPr>
                <a:t>66.17</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2" name="Rectangle 52"/>
            <p:cNvSpPr>
              <a:spLocks noChangeArrowheads="1"/>
            </p:cNvSpPr>
            <p:nvPr/>
          </p:nvSpPr>
          <p:spPr bwMode="auto">
            <a:xfrm>
              <a:off x="2098" y="216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3" name="Rectangle 53"/>
            <p:cNvSpPr>
              <a:spLocks noChangeArrowheads="1"/>
            </p:cNvSpPr>
            <p:nvPr/>
          </p:nvSpPr>
          <p:spPr bwMode="auto">
            <a:xfrm>
              <a:off x="2810" y="2175"/>
              <a:ext cx="481"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dirty="0" smtClean="0">
                  <a:ln>
                    <a:noFill/>
                  </a:ln>
                  <a:solidFill>
                    <a:srgbClr val="000000"/>
                  </a:solidFill>
                  <a:effectLst/>
                  <a:latin typeface="Times New Roman" pitchFamily="18" charset="0"/>
                  <a:cs typeface="Arial" pitchFamily="34" charset="0"/>
                </a:rPr>
                <a:t>12,879.9</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814" name="Rectangle 54"/>
            <p:cNvSpPr>
              <a:spLocks noChangeArrowheads="1"/>
            </p:cNvSpPr>
            <p:nvPr/>
          </p:nvSpPr>
          <p:spPr bwMode="auto">
            <a:xfrm>
              <a:off x="3355" y="216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5" name="Rectangle 55"/>
            <p:cNvSpPr>
              <a:spLocks noChangeArrowheads="1"/>
            </p:cNvSpPr>
            <p:nvPr/>
          </p:nvSpPr>
          <p:spPr bwMode="auto">
            <a:xfrm>
              <a:off x="3901" y="2175"/>
              <a:ext cx="412"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dirty="0" smtClean="0">
                  <a:ln>
                    <a:noFill/>
                  </a:ln>
                  <a:solidFill>
                    <a:srgbClr val="000000"/>
                  </a:solidFill>
                  <a:effectLst/>
                  <a:latin typeface="Times New Roman" pitchFamily="18" charset="0"/>
                  <a:cs typeface="Arial" pitchFamily="34" charset="0"/>
                </a:rPr>
                <a:t>7,156.2</a:t>
              </a:r>
              <a:endParaRPr kumimoji="0" lang="es-CO"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7816" name="Rectangle 56"/>
            <p:cNvSpPr>
              <a:spLocks noChangeArrowheads="1"/>
            </p:cNvSpPr>
            <p:nvPr/>
          </p:nvSpPr>
          <p:spPr bwMode="auto">
            <a:xfrm>
              <a:off x="4386" y="216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7" name="Rectangle 57"/>
            <p:cNvSpPr>
              <a:spLocks noChangeArrowheads="1"/>
            </p:cNvSpPr>
            <p:nvPr/>
          </p:nvSpPr>
          <p:spPr bwMode="auto">
            <a:xfrm>
              <a:off x="5082" y="2175"/>
              <a:ext cx="318" cy="212"/>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rgbClr val="000000"/>
                  </a:solidFill>
                  <a:effectLst/>
                  <a:latin typeface="Times New Roman" pitchFamily="18" charset="0"/>
                  <a:cs typeface="Arial" pitchFamily="34" charset="0"/>
                </a:rPr>
                <a:t>0.97</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8" name="Rectangle 58"/>
            <p:cNvSpPr>
              <a:spLocks noChangeArrowheads="1"/>
            </p:cNvSpPr>
            <p:nvPr/>
          </p:nvSpPr>
          <p:spPr bwMode="auto">
            <a:xfrm>
              <a:off x="5310" y="2160"/>
              <a:ext cx="106" cy="25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2100" b="0" i="0" u="none" strike="noStrike" cap="none" normalizeH="0" baseline="0" smtClean="0">
                  <a:ln>
                    <a:noFill/>
                  </a:ln>
                  <a:solidFill>
                    <a:srgbClr val="000000"/>
                  </a:solidFill>
                  <a:effectLst/>
                  <a:latin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7819" name="Line 59"/>
            <p:cNvSpPr>
              <a:spLocks noChangeShapeType="1"/>
            </p:cNvSpPr>
            <p:nvPr/>
          </p:nvSpPr>
          <p:spPr bwMode="auto">
            <a:xfrm>
              <a:off x="22" y="1404"/>
              <a:ext cx="5697" cy="1"/>
            </a:xfrm>
            <a:prstGeom prst="line">
              <a:avLst/>
            </a:prstGeom>
            <a:no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sp>
          <p:nvSpPr>
            <p:cNvPr id="117820" name="Rectangle 60"/>
            <p:cNvSpPr>
              <a:spLocks noChangeArrowheads="1"/>
            </p:cNvSpPr>
            <p:nvPr/>
          </p:nvSpPr>
          <p:spPr bwMode="auto">
            <a:xfrm>
              <a:off x="22" y="1404"/>
              <a:ext cx="5697" cy="1"/>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es-CO"/>
            </a:p>
          </p:txBody>
        </p:sp>
        <p:sp>
          <p:nvSpPr>
            <p:cNvPr id="117821" name="Line 61"/>
            <p:cNvSpPr>
              <a:spLocks noChangeShapeType="1"/>
            </p:cNvSpPr>
            <p:nvPr/>
          </p:nvSpPr>
          <p:spPr bwMode="auto">
            <a:xfrm>
              <a:off x="22" y="1767"/>
              <a:ext cx="5697" cy="1"/>
            </a:xfrm>
            <a:prstGeom prst="line">
              <a:avLst/>
            </a:prstGeom>
            <a:no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sp>
          <p:nvSpPr>
            <p:cNvPr id="117822" name="Rectangle 62"/>
            <p:cNvSpPr>
              <a:spLocks noChangeArrowheads="1"/>
            </p:cNvSpPr>
            <p:nvPr/>
          </p:nvSpPr>
          <p:spPr bwMode="auto">
            <a:xfrm>
              <a:off x="22" y="1767"/>
              <a:ext cx="5697" cy="15"/>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es-CO"/>
            </a:p>
          </p:txBody>
        </p:sp>
        <p:sp>
          <p:nvSpPr>
            <p:cNvPr id="117823" name="Line 63"/>
            <p:cNvSpPr>
              <a:spLocks noChangeShapeType="1"/>
            </p:cNvSpPr>
            <p:nvPr/>
          </p:nvSpPr>
          <p:spPr bwMode="auto">
            <a:xfrm>
              <a:off x="22" y="2357"/>
              <a:ext cx="5697" cy="1"/>
            </a:xfrm>
            <a:prstGeom prst="line">
              <a:avLst/>
            </a:prstGeom>
            <a:no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s-CO"/>
            </a:p>
          </p:txBody>
        </p:sp>
        <p:sp>
          <p:nvSpPr>
            <p:cNvPr id="117824" name="Rectangle 64"/>
            <p:cNvSpPr>
              <a:spLocks noChangeArrowheads="1"/>
            </p:cNvSpPr>
            <p:nvPr/>
          </p:nvSpPr>
          <p:spPr bwMode="auto">
            <a:xfrm>
              <a:off x="22" y="2357"/>
              <a:ext cx="5697" cy="1"/>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lang="es-CO"/>
            </a:p>
          </p:txBody>
        </p:sp>
      </p:grpSp>
      <p:sp>
        <p:nvSpPr>
          <p:cNvPr id="66" name="65 Rectángulo"/>
          <p:cNvSpPr/>
          <p:nvPr/>
        </p:nvSpPr>
        <p:spPr>
          <a:xfrm>
            <a:off x="1043608" y="6534859"/>
            <a:ext cx="8100424" cy="323165"/>
          </a:xfrm>
          <a:prstGeom prst="rect">
            <a:avLst/>
          </a:prstGeom>
        </p:spPr>
        <p:txBody>
          <a:bodyPr wrap="square">
            <a:spAutoFit/>
          </a:bodyPr>
          <a:lstStyle/>
          <a:p>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10: Modelos Estructurales/  </a:t>
            </a:r>
            <a:fld id="{4B16227B-6CE5-4F6D-8ECD-1AAB045EAD98}" type="slidenum">
              <a:rPr lang="es-CO" sz="1500" smtClean="0">
                <a:solidFill>
                  <a:schemeClr val="tx1">
                    <a:lumMod val="50000"/>
                    <a:lumOff val="50000"/>
                  </a:schemeClr>
                </a:solidFill>
              </a:rPr>
              <a:pPr/>
              <a:t>54</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4289</TotalTime>
  <Words>3152</Words>
  <Application>Microsoft Office PowerPoint</Application>
  <PresentationFormat>Presentación en pantalla (4:3)</PresentationFormat>
  <Paragraphs>614</Paragraphs>
  <Slides>54</Slides>
  <Notes>11</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54</vt:i4>
      </vt:variant>
    </vt:vector>
  </HeadingPairs>
  <TitlesOfParts>
    <vt:vector size="56" baseType="lpstr">
      <vt:lpstr>Tema de Office</vt:lpstr>
      <vt:lpstr>Documento</vt:lpstr>
      <vt:lpstr>Capítulo 10</vt:lpstr>
      <vt:lpstr>Diferencia con otros métodos de estimación</vt:lpstr>
      <vt:lpstr>¿Para qué estimar los parámetros?</vt:lpstr>
      <vt:lpstr>Estrategias de estimación</vt:lpstr>
      <vt:lpstr>Distinción entre modelo estructural y su forma reducida</vt:lpstr>
      <vt:lpstr>Distinción entre modelo estructural y su forma reducida</vt:lpstr>
      <vt:lpstr>Distinción entre modelo estructural y su forma reducida</vt:lpstr>
      <vt:lpstr>Ejemplo 2</vt:lpstr>
      <vt:lpstr>Ejemplo 2</vt:lpstr>
      <vt:lpstr>Diferencias entre las dos aproximaciones</vt:lpstr>
      <vt:lpstr>Limitaciones del ejemplo 2</vt:lpstr>
      <vt:lpstr>Limitaciones del ejemplo 2</vt:lpstr>
      <vt:lpstr>Limitaciones del ejemplo 2</vt:lpstr>
      <vt:lpstr>Si conociéramos los parámetros de las funciones</vt:lpstr>
      <vt:lpstr>¿Para qué estimar un  modelo estructural?</vt:lpstr>
      <vt:lpstr>Ejemplo: Canasta</vt:lpstr>
      <vt:lpstr>Ejemplo: Canasta</vt:lpstr>
      <vt:lpstr>Ejemplo: Canasta</vt:lpstr>
      <vt:lpstr>Ejemplo: Canasta</vt:lpstr>
      <vt:lpstr>Diferencias entre la estimación estructural y la reducida</vt:lpstr>
      <vt:lpstr>Ejemplo: Canasta</vt:lpstr>
      <vt:lpstr>Ejemplo: Canasta</vt:lpstr>
      <vt:lpstr>Métodos de estimación</vt:lpstr>
      <vt:lpstr>Métodos de estimación</vt:lpstr>
      <vt:lpstr>Métodos de estimación</vt:lpstr>
      <vt:lpstr>Máxima verosimilitud</vt:lpstr>
      <vt:lpstr>Máxima verosimilitud</vt:lpstr>
      <vt:lpstr>Acerca de las  funciones de utilidad</vt:lpstr>
      <vt:lpstr>Métodos de estimación</vt:lpstr>
      <vt:lpstr>Estimador por método de momentos</vt:lpstr>
      <vt:lpstr>Estimador por método de momentos</vt:lpstr>
      <vt:lpstr>Algoritmo de estimación</vt:lpstr>
      <vt:lpstr>Algoritmo de estimación</vt:lpstr>
      <vt:lpstr>Modelos estructurales dinámicos</vt:lpstr>
      <vt:lpstr>Modelos estructurales dinámicos</vt:lpstr>
      <vt:lpstr>Función de máxima verosimilitud</vt:lpstr>
      <vt:lpstr>Reescribiendo el problema  de maximización</vt:lpstr>
      <vt:lpstr>Probabilidad de participación</vt:lpstr>
      <vt:lpstr>Ventaja de los modelos dinámicos</vt:lpstr>
      <vt:lpstr>Conclusiones</vt:lpstr>
      <vt:lpstr>Conclusiones</vt:lpstr>
      <vt:lpstr>Conclusiones</vt:lpstr>
      <vt:lpstr>Conclusiones</vt:lpstr>
      <vt:lpstr>Conclusiones</vt:lpstr>
      <vt:lpstr>Conclusiones</vt:lpstr>
      <vt:lpstr>Ejemplo: Políticas para población desplazada en Colombia (Helo, 2008)</vt:lpstr>
      <vt:lpstr>Ejemplo: Políticas para población desplazada en Colombia (Helo, 2008)</vt:lpstr>
      <vt:lpstr>Ejemplo: Políticas para población desplazada en Colombia (Helo, 2008)</vt:lpstr>
      <vt:lpstr>Ejemplo: Políticas para población desplazada en Colombia (Helo, 2008)</vt:lpstr>
      <vt:lpstr>Ejemplo: Políticas para población desplazada en Colombia (Helo, 2008)</vt:lpstr>
      <vt:lpstr>Ejemplo: Políticas para población desplazada en Colombia (Helo, 2008)</vt:lpstr>
      <vt:lpstr>Ejemplo: Políticas para población desplazada en Colombia (Helo, 2008)</vt:lpstr>
      <vt:lpstr>Ejemplo: Políticas para población desplazada en Colombia (Helo, 2008)</vt:lpstr>
      <vt:lpstr>Ejemplo: Políticas para población desplazada en Colombia (Helo, 2008)</vt:lpstr>
    </vt:vector>
  </TitlesOfParts>
  <Company>Universidad de los Andes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6.6</dc:title>
  <dc:creator>lo-caro</dc:creator>
  <cp:lastModifiedBy>profeivan</cp:lastModifiedBy>
  <cp:revision>507</cp:revision>
  <dcterms:created xsi:type="dcterms:W3CDTF">2009-10-29T21:34:30Z</dcterms:created>
  <dcterms:modified xsi:type="dcterms:W3CDTF">2011-04-10T13:21:52Z</dcterms:modified>
</cp:coreProperties>
</file>