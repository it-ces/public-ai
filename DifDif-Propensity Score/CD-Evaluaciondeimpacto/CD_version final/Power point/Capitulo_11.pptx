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4" r:id="rId3"/>
    <p:sldId id="265" r:id="rId4"/>
    <p:sldId id="267" r:id="rId5"/>
    <p:sldId id="268" r:id="rId6"/>
    <p:sldId id="269" r:id="rId7"/>
    <p:sldId id="270" r:id="rId8"/>
    <p:sldId id="271" r:id="rId9"/>
    <p:sldId id="257" r:id="rId10"/>
    <p:sldId id="263" r:id="rId11"/>
    <p:sldId id="258" r:id="rId12"/>
    <p:sldId id="259" r:id="rId13"/>
    <p:sldId id="260" r:id="rId14"/>
    <p:sldId id="261" r:id="rId15"/>
    <p:sldId id="262" r:id="rId1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os Vera Hernandez" initials="MV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52" autoAdjust="0"/>
    <p:restoredTop sz="80168" autoAdjust="0"/>
  </p:normalViewPr>
  <p:slideViewPr>
    <p:cSldViewPr>
      <p:cViewPr varScale="1">
        <p:scale>
          <a:sx n="62" d="100"/>
          <a:sy n="62" d="100"/>
        </p:scale>
        <p:origin x="-123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57491A-9020-46D2-AABA-3B24FBCBD202}" type="datetimeFigureOut">
              <a:rPr lang="es-ES" smtClean="0"/>
              <a:pPr/>
              <a:t>10/04/2011</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8AAEA4-9877-470E-A32C-BE05B477E579}" type="slidenum">
              <a:rPr lang="es-ES" smtClean="0"/>
              <a:pPr/>
              <a:t>‹Nº›</a:t>
            </a:fld>
            <a:endParaRPr lang="es-ES"/>
          </a:p>
        </p:txBody>
      </p:sp>
    </p:spTree>
    <p:extLst>
      <p:ext uri="{BB962C8B-B14F-4D97-AF65-F5344CB8AC3E}">
        <p14:creationId xmlns="" xmlns:p14="http://schemas.microsoft.com/office/powerpoint/2010/main" val="44282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2</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3</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4</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5</a:t>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6</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7</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8</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El</a:t>
            </a:r>
            <a:r>
              <a:rPr lang="es-ES" baseline="0" dirty="0" smtClean="0"/>
              <a:t> estimador PSM implementado para el análisis de intensidad asume que la duración en selección en corta duración  y </a:t>
            </a:r>
            <a:r>
              <a:rPr lang="es-ES" baseline="0" smtClean="0"/>
              <a:t>larga duración </a:t>
            </a:r>
            <a:r>
              <a:rPr lang="es-ES" baseline="0" dirty="0" smtClean="0"/>
              <a:t>es aleatoria, una vez esta condicionada a el conjunto de variables observadas de los individuos.</a:t>
            </a:r>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9</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13</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Las primeras</a:t>
            </a:r>
            <a:r>
              <a:rPr lang="es-CO" baseline="0" dirty="0" smtClean="0"/>
              <a:t> tres barras corresponden al grupo de niños entre 25 y 36 meses de edad. El segundo grupo de barras corresponde a niños entre 37 y 48 meses.</a:t>
            </a:r>
          </a:p>
          <a:p>
            <a:r>
              <a:rPr lang="es-CO" baseline="0" dirty="0" smtClean="0"/>
              <a:t>Resultados: 	La incidencia de desnutrición global disminuye a medida que aumenta la exposición al programa.</a:t>
            </a:r>
          </a:p>
          <a:p>
            <a:r>
              <a:rPr lang="es-CO" baseline="0" dirty="0" smtClean="0"/>
              <a:t>	</a:t>
            </a:r>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14</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Resultados: </a:t>
            </a:r>
            <a:r>
              <a:rPr lang="es-CO" baseline="0" dirty="0" smtClean="0"/>
              <a:t>Los comportamientos que reflejan aislamiento social disminuyen a medida que aumenta la exposición 	al programa.</a:t>
            </a:r>
          </a:p>
          <a:p>
            <a:r>
              <a:rPr lang="es-CO" baseline="0" dirty="0" smtClean="0"/>
              <a:t>	Prevalencia mayor de comportamientos agresivos a medida que aumenta el tiempo de exposición al 	programa.</a:t>
            </a:r>
            <a:endParaRPr lang="es-ES" dirty="0" smtClean="0"/>
          </a:p>
          <a:p>
            <a:endParaRPr lang="es-ES" dirty="0"/>
          </a:p>
        </p:txBody>
      </p:sp>
      <p:sp>
        <p:nvSpPr>
          <p:cNvPr id="4" name="3 Marcador de número de diapositiva"/>
          <p:cNvSpPr>
            <a:spLocks noGrp="1"/>
          </p:cNvSpPr>
          <p:nvPr>
            <p:ph type="sldNum" sz="quarter" idx="10"/>
          </p:nvPr>
        </p:nvSpPr>
        <p:spPr/>
        <p:txBody>
          <a:bodyPr/>
          <a:lstStyle/>
          <a:p>
            <a:fld id="{8E8AAEA4-9877-470E-A32C-BE05B477E579}" type="slidenum">
              <a:rPr lang="es-ES" smtClean="0"/>
              <a:pPr/>
              <a:t>15</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DF79301D-C84D-44E9-8426-551A68FB2F36}"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D5FABB9D-BBC0-446D-9FFD-4A0B75394C8F}"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79301D-C84D-44E9-8426-551A68FB2F36}" type="datetimeFigureOut">
              <a:rPr lang="es-ES" smtClean="0"/>
              <a:pPr/>
              <a:t>10/04/2011</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FABB9D-BBC0-446D-9FFD-4A0B75394C8F}"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dirty="0" smtClean="0"/>
              <a:t>Capítulo 11</a:t>
            </a:r>
            <a:endParaRPr lang="es-ES" dirty="0"/>
          </a:p>
        </p:txBody>
      </p:sp>
      <p:sp>
        <p:nvSpPr>
          <p:cNvPr id="3" name="2 Subtítulo"/>
          <p:cNvSpPr>
            <a:spLocks noGrp="1"/>
          </p:cNvSpPr>
          <p:nvPr>
            <p:ph type="subTitle" idx="1"/>
          </p:nvPr>
        </p:nvSpPr>
        <p:spPr/>
        <p:txBody>
          <a:bodyPr/>
          <a:lstStyle/>
          <a:p>
            <a:r>
              <a:rPr lang="es-ES" dirty="0" smtClean="0"/>
              <a:t>Duración de la exposición al tratamiento</a:t>
            </a:r>
            <a:endParaRPr lang="es-E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sp>
        <p:nvSpPr>
          <p:cNvPr id="3" name="2 Marcador de contenido"/>
          <p:cNvSpPr>
            <a:spLocks noGrp="1"/>
          </p:cNvSpPr>
          <p:nvPr>
            <p:ph idx="1"/>
          </p:nvPr>
        </p:nvSpPr>
        <p:spPr>
          <a:xfrm>
            <a:off x="457200" y="1124744"/>
            <a:ext cx="8219256" cy="5184576"/>
          </a:xfrm>
        </p:spPr>
        <p:txBody>
          <a:bodyPr>
            <a:normAutofit fontScale="92500" lnSpcReduction="10000"/>
          </a:bodyPr>
          <a:lstStyle/>
          <a:p>
            <a:pPr algn="just">
              <a:buNone/>
            </a:pPr>
            <a:r>
              <a:rPr lang="es-ES" sz="2500" dirty="0"/>
              <a:t>	</a:t>
            </a:r>
            <a:endParaRPr lang="es-ES" sz="2500" dirty="0" smtClean="0"/>
          </a:p>
          <a:p>
            <a:r>
              <a:rPr lang="es-ES" sz="2500" dirty="0" smtClean="0"/>
              <a:t>De momento, la estimación del impacto del programa se basa en la comparación de individuos tratados e individuos no tratados.</a:t>
            </a:r>
          </a:p>
          <a:p>
            <a:pPr algn="just"/>
            <a:endParaRPr lang="es-CO" sz="1000" dirty="0" smtClean="0"/>
          </a:p>
          <a:p>
            <a:r>
              <a:rPr lang="es-CO" sz="2500" dirty="0" smtClean="0"/>
              <a:t>Otra posibilidad para estimar los efectos del programa consiste en usar las diferencias en la </a:t>
            </a:r>
            <a:r>
              <a:rPr lang="es-CO" sz="2500" i="1" dirty="0" smtClean="0"/>
              <a:t>duración de la exposición</a:t>
            </a:r>
            <a:r>
              <a:rPr lang="es-CO" sz="2500" dirty="0" smtClean="0"/>
              <a:t> al tratamiento en el grupo de tratados.</a:t>
            </a:r>
          </a:p>
          <a:p>
            <a:pPr algn="just"/>
            <a:endParaRPr lang="es-CO" sz="1100" dirty="0" smtClean="0"/>
          </a:p>
          <a:p>
            <a:pPr algn="just"/>
            <a:r>
              <a:rPr lang="es-CO" sz="2500" dirty="0" smtClean="0">
                <a:solidFill>
                  <a:srgbClr val="0070C0"/>
                </a:solidFill>
              </a:rPr>
              <a:t>Particularmente útil si</a:t>
            </a:r>
            <a:r>
              <a:rPr lang="es-CO" sz="2500" dirty="0" smtClean="0"/>
              <a:t>:</a:t>
            </a:r>
          </a:p>
          <a:p>
            <a:pPr marL="800100" indent="-457200">
              <a:buFont typeface="+mj-lt"/>
              <a:buAutoNum type="arabicPeriod"/>
            </a:pPr>
            <a:r>
              <a:rPr lang="es-CO" sz="2500" dirty="0" smtClean="0"/>
              <a:t>Los efectos del programa no son lineales: el impacto del programa depende de la cantidad de tiempo que el participante ha estado expuesto.</a:t>
            </a:r>
          </a:p>
          <a:p>
            <a:pPr marL="800100" indent="-457200">
              <a:buFont typeface="+mj-lt"/>
              <a:buAutoNum type="arabicPeriod"/>
            </a:pPr>
            <a:r>
              <a:rPr lang="es-CO" sz="2500" dirty="0" smtClean="0"/>
              <a:t>Existen restricciones de los datos: si un grupo de comparación no está disponible o es muy costoso recoger información acerca de un grupo de comparación.</a:t>
            </a:r>
            <a:endParaRPr lang="es-ES" sz="2500" dirty="0"/>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6" name="15 Rectángulo"/>
          <p:cNvSpPr/>
          <p:nvPr/>
        </p:nvSpPr>
        <p:spPr>
          <a:xfrm>
            <a:off x="0" y="6453336"/>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11: Duración de la Exposición al Tratamiento / </a:t>
            </a:r>
            <a:fld id="{FA9F79A4-3CD6-4C76-8708-BB8772D03B6B}" type="slidenum">
              <a:rPr lang="es-CO" sz="1500" smtClean="0">
                <a:solidFill>
                  <a:schemeClr val="tx1">
                    <a:lumMod val="50000"/>
                    <a:lumOff val="50000"/>
                  </a:schemeClr>
                </a:solidFill>
              </a:rPr>
              <a:pPr algn="ctr"/>
              <a:t>2</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sp>
        <p:nvSpPr>
          <p:cNvPr id="3" name="2 Marcador de contenido"/>
          <p:cNvSpPr>
            <a:spLocks noGrp="1"/>
          </p:cNvSpPr>
          <p:nvPr>
            <p:ph idx="1"/>
          </p:nvPr>
        </p:nvSpPr>
        <p:spPr>
          <a:xfrm>
            <a:off x="457200" y="1412776"/>
            <a:ext cx="8147248" cy="4896544"/>
          </a:xfrm>
        </p:spPr>
        <p:txBody>
          <a:bodyPr>
            <a:normAutofit/>
          </a:bodyPr>
          <a:lstStyle/>
          <a:p>
            <a:pPr algn="just">
              <a:buNone/>
            </a:pPr>
            <a:r>
              <a:rPr lang="es-ES" sz="2500" dirty="0"/>
              <a:t>	</a:t>
            </a:r>
            <a:r>
              <a:rPr lang="es-ES" sz="2500" dirty="0" smtClean="0"/>
              <a:t>Dos alternativas para evaluar el efecto de la duración de exposición al tratamiento sobre los tratados: </a:t>
            </a:r>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5" name="4 CuadroTexto"/>
          <p:cNvSpPr txBox="1"/>
          <p:nvPr/>
        </p:nvSpPr>
        <p:spPr>
          <a:xfrm>
            <a:off x="899592" y="2443242"/>
            <a:ext cx="3600400" cy="2569934"/>
          </a:xfrm>
          <a:prstGeom prst="rect">
            <a:avLst/>
          </a:prstGeom>
          <a:noFill/>
        </p:spPr>
        <p:txBody>
          <a:bodyPr wrap="square" rtlCol="0">
            <a:spAutoFit/>
          </a:bodyPr>
          <a:lstStyle/>
          <a:p>
            <a:r>
              <a:rPr lang="es-CO" sz="2300" dirty="0" smtClean="0"/>
              <a:t>Comparar grupo de tratamiento con grupo de control, pero diferenciando los individuos del grupo de tratamiento por la duración de la exposición al programa.</a:t>
            </a:r>
            <a:endParaRPr lang="es-ES" sz="2300" dirty="0"/>
          </a:p>
        </p:txBody>
      </p:sp>
      <p:sp>
        <p:nvSpPr>
          <p:cNvPr id="6" name="5 CuadroTexto"/>
          <p:cNvSpPr txBox="1"/>
          <p:nvPr/>
        </p:nvSpPr>
        <p:spPr>
          <a:xfrm>
            <a:off x="4932040" y="2443242"/>
            <a:ext cx="3672408" cy="2569934"/>
          </a:xfrm>
          <a:prstGeom prst="rect">
            <a:avLst/>
          </a:prstGeom>
          <a:noFill/>
        </p:spPr>
        <p:txBody>
          <a:bodyPr wrap="square" rtlCol="0">
            <a:spAutoFit/>
          </a:bodyPr>
          <a:lstStyle/>
          <a:p>
            <a:r>
              <a:rPr lang="es-CO" sz="2300" dirty="0" smtClean="0"/>
              <a:t>Utilizando solamente el grupo de tratamiento, comparar individuos tratados con larga exposición al programa con individuos con corta exposición al programa.</a:t>
            </a:r>
            <a:endParaRPr lang="es-ES" sz="2300" dirty="0"/>
          </a:p>
        </p:txBody>
      </p:sp>
      <p:sp>
        <p:nvSpPr>
          <p:cNvPr id="7" name="6 Rectángulo"/>
          <p:cNvSpPr/>
          <p:nvPr/>
        </p:nvSpPr>
        <p:spPr>
          <a:xfrm>
            <a:off x="827584" y="2492896"/>
            <a:ext cx="3600400" cy="2520280"/>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4932040" y="2492896"/>
            <a:ext cx="3600400" cy="2520280"/>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Flecha abajo"/>
          <p:cNvSpPr/>
          <p:nvPr/>
        </p:nvSpPr>
        <p:spPr>
          <a:xfrm>
            <a:off x="2339752" y="5013176"/>
            <a:ext cx="288032"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971600" y="5301208"/>
            <a:ext cx="3312368" cy="1384995"/>
          </a:xfrm>
          <a:prstGeom prst="rect">
            <a:avLst/>
          </a:prstGeom>
          <a:noFill/>
        </p:spPr>
        <p:txBody>
          <a:bodyPr wrap="square" rtlCol="0">
            <a:spAutoFit/>
          </a:bodyPr>
          <a:lstStyle/>
          <a:p>
            <a:r>
              <a:rPr lang="es-CO" sz="2200" dirty="0" smtClean="0"/>
              <a:t>Efecto de la duración del programa con respecto a los no participantes.</a:t>
            </a:r>
          </a:p>
          <a:p>
            <a:endParaRPr lang="es-ES" dirty="0"/>
          </a:p>
        </p:txBody>
      </p:sp>
      <p:sp>
        <p:nvSpPr>
          <p:cNvPr id="14" name="13 CuadroTexto"/>
          <p:cNvSpPr txBox="1"/>
          <p:nvPr/>
        </p:nvSpPr>
        <p:spPr>
          <a:xfrm>
            <a:off x="5076056" y="5229200"/>
            <a:ext cx="3672408" cy="1384995"/>
          </a:xfrm>
          <a:prstGeom prst="rect">
            <a:avLst/>
          </a:prstGeom>
          <a:noFill/>
        </p:spPr>
        <p:txBody>
          <a:bodyPr wrap="square" rtlCol="0">
            <a:spAutoFit/>
          </a:bodyPr>
          <a:lstStyle/>
          <a:p>
            <a:r>
              <a:rPr lang="es-CO" sz="2200" dirty="0" smtClean="0"/>
              <a:t>Efecto de mayor duración del programa con respecto a menor duración del programa.</a:t>
            </a:r>
          </a:p>
          <a:p>
            <a:endParaRPr lang="es-ES" dirty="0"/>
          </a:p>
        </p:txBody>
      </p:sp>
      <p:sp>
        <p:nvSpPr>
          <p:cNvPr id="15" name="14 Flecha abajo"/>
          <p:cNvSpPr/>
          <p:nvPr/>
        </p:nvSpPr>
        <p:spPr>
          <a:xfrm>
            <a:off x="6444208" y="5013176"/>
            <a:ext cx="288032"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3</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mc:AlternateContent xmlns:mc="http://schemas.openxmlformats.org/markup-compatibility/2006">
        <mc:Choice xmlns="" xmlns:a14="http://schemas.microsoft.com/office/drawing/2010/main" Requires="a14">
          <p:sp>
            <p:nvSpPr>
              <p:cNvPr id="17" name="2 Marcador de contenido"/>
              <p:cNvSpPr>
                <a:spLocks noGrp="1"/>
              </p:cNvSpPr>
              <p:nvPr>
                <p:ph idx="1"/>
              </p:nvPr>
            </p:nvSpPr>
            <p:spPr>
              <a:xfrm>
                <a:off x="179512" y="1556792"/>
                <a:ext cx="8712968" cy="4968552"/>
              </a:xfrm>
            </p:spPr>
            <p:txBody>
              <a:bodyPr>
                <a:normAutofit/>
              </a:bodyPr>
              <a:lstStyle/>
              <a:p>
                <a:pPr>
                  <a:buNone/>
                </a:pPr>
                <a:endParaRPr lang="es-ES" sz="2500" dirty="0" smtClean="0"/>
              </a:p>
              <a:p>
                <a:pPr marL="358775" indent="-15875">
                  <a:buNone/>
                </a:pPr>
                <a:r>
                  <a:rPr lang="es-CO" sz="2500" dirty="0" smtClean="0"/>
                  <a:t>En particular, se define:</a:t>
                </a:r>
              </a:p>
              <a:p>
                <a:pPr marL="358775" indent="-15875">
                  <a:buNone/>
                </a:pPr>
                <a:endParaRPr lang="es-CO" sz="1000" dirty="0" smtClean="0"/>
              </a:p>
              <a:p>
                <a:pPr marL="358775" indent="-15875">
                  <a:buNone/>
                </a:pPr>
                <a14:m>
                  <m:oMathPara xmlns:m="http://schemas.openxmlformats.org/officeDocument/2006/math">
                    <m:oMathParaPr>
                      <m:jc m:val="centerGroup"/>
                    </m:oMathParaPr>
                    <m:oMath xmlns:m="http://schemas.openxmlformats.org/officeDocument/2006/math">
                      <m:sSub>
                        <m:sSubPr>
                          <m:ctrlPr>
                            <a:rPr lang="es-CO" sz="2500" b="0" i="1" smtClean="0">
                              <a:latin typeface="Cambria Math"/>
                            </a:rPr>
                          </m:ctrlPr>
                        </m:sSubPr>
                        <m:e>
                          <m:r>
                            <a:rPr lang="es-CO" sz="2500" b="0" i="1" smtClean="0">
                              <a:latin typeface="Cambria Math"/>
                            </a:rPr>
                            <m:t>𝑌</m:t>
                          </m:r>
                        </m:e>
                        <m:sub>
                          <m:r>
                            <a:rPr lang="es-CO" sz="2500" b="0" i="1" smtClean="0">
                              <a:latin typeface="Cambria Math"/>
                            </a:rPr>
                            <m:t>𝑖</m:t>
                          </m:r>
                        </m:sub>
                      </m:sSub>
                      <m:r>
                        <a:rPr lang="es-CO" sz="2500" b="0" i="1" smtClean="0">
                          <a:latin typeface="Cambria Math"/>
                        </a:rPr>
                        <m:t>= </m:t>
                      </m:r>
                      <m:sSub>
                        <m:sSubPr>
                          <m:ctrlPr>
                            <a:rPr lang="es-CO" sz="2500" b="0" i="1" smtClean="0">
                              <a:latin typeface="Cambria Math"/>
                              <a:ea typeface="Cambria Math"/>
                            </a:rPr>
                          </m:ctrlPr>
                        </m:sSubPr>
                        <m:e>
                          <m:r>
                            <a:rPr lang="es-CO" sz="2500" b="0" i="1" smtClean="0">
                              <a:latin typeface="Cambria Math"/>
                              <a:ea typeface="Cambria Math"/>
                            </a:rPr>
                            <m:t>𝛽</m:t>
                          </m:r>
                        </m:e>
                        <m:sub>
                          <m:r>
                            <a:rPr lang="es-CO" sz="2500" b="0" i="1" smtClean="0">
                              <a:latin typeface="Cambria Math"/>
                              <a:ea typeface="Cambria Math"/>
                            </a:rPr>
                            <m:t>0</m:t>
                          </m:r>
                        </m:sub>
                      </m:sSub>
                      <m:r>
                        <a:rPr lang="es-CO" sz="2500" b="0" i="1" smtClean="0">
                          <a:latin typeface="Cambria Math"/>
                          <a:ea typeface="Cambria Math"/>
                        </a:rPr>
                        <m:t>+ </m:t>
                      </m:r>
                      <m:sSub>
                        <m:sSubPr>
                          <m:ctrlPr>
                            <a:rPr lang="es-CO" sz="2500" b="0" i="1" smtClean="0">
                              <a:latin typeface="Cambria Math"/>
                              <a:ea typeface="Cambria Math"/>
                            </a:rPr>
                          </m:ctrlPr>
                        </m:sSubPr>
                        <m:e>
                          <m:r>
                            <a:rPr lang="es-CO" sz="2500" b="0" i="1" smtClean="0">
                              <a:latin typeface="Cambria Math"/>
                              <a:ea typeface="Cambria Math"/>
                            </a:rPr>
                            <m:t>𝛽</m:t>
                          </m:r>
                        </m:e>
                        <m:sub>
                          <m:r>
                            <a:rPr lang="es-CO" sz="2500" b="0" i="1" smtClean="0">
                              <a:latin typeface="Cambria Math"/>
                              <a:ea typeface="Cambria Math"/>
                            </a:rPr>
                            <m:t>1</m:t>
                          </m:r>
                        </m:sub>
                      </m:sSub>
                      <m:r>
                        <a:rPr lang="es-CO" sz="2500" b="0" i="1" smtClean="0">
                          <a:latin typeface="Cambria Math"/>
                          <a:ea typeface="Cambria Math"/>
                        </a:rPr>
                        <m:t>𝐷𝑢𝑟𝑎𝑐𝑖</m:t>
                      </m:r>
                      <m:r>
                        <a:rPr lang="es-CO" sz="2500" b="0" i="1" smtClean="0">
                          <a:latin typeface="Cambria Math"/>
                          <a:ea typeface="Cambria Math"/>
                        </a:rPr>
                        <m:t>ó</m:t>
                      </m:r>
                      <m:sSub>
                        <m:sSubPr>
                          <m:ctrlPr>
                            <a:rPr lang="es-CO" sz="2500" b="0" i="1" smtClean="0">
                              <a:latin typeface="Cambria Math"/>
                              <a:ea typeface="Cambria Math"/>
                            </a:rPr>
                          </m:ctrlPr>
                        </m:sSubPr>
                        <m:e>
                          <m:r>
                            <a:rPr lang="es-CO" sz="2500" b="0" i="1" smtClean="0">
                              <a:latin typeface="Cambria Math"/>
                              <a:ea typeface="Cambria Math"/>
                            </a:rPr>
                            <m:t>𝑛</m:t>
                          </m:r>
                        </m:e>
                        <m:sub>
                          <m:r>
                            <a:rPr lang="es-CO" sz="2500" b="0" i="1" smtClean="0">
                              <a:latin typeface="Cambria Math"/>
                              <a:ea typeface="Cambria Math"/>
                            </a:rPr>
                            <m:t>𝑖</m:t>
                          </m:r>
                        </m:sub>
                      </m:sSub>
                      <m:r>
                        <a:rPr lang="es-CO" sz="2500" b="0" i="1" smtClean="0">
                          <a:latin typeface="Cambria Math"/>
                          <a:ea typeface="Cambria Math"/>
                        </a:rPr>
                        <m:t>+</m:t>
                      </m:r>
                      <m:sSub>
                        <m:sSubPr>
                          <m:ctrlPr>
                            <a:rPr lang="es-CO" sz="2500" b="0" i="1" smtClean="0">
                              <a:latin typeface="Cambria Math"/>
                              <a:ea typeface="Cambria Math"/>
                            </a:rPr>
                          </m:ctrlPr>
                        </m:sSubPr>
                        <m:e>
                          <m:r>
                            <a:rPr lang="es-CO" sz="2500" b="0" i="1" smtClean="0">
                              <a:latin typeface="Cambria Math"/>
                              <a:ea typeface="Cambria Math"/>
                            </a:rPr>
                            <m:t>𝑢</m:t>
                          </m:r>
                        </m:e>
                        <m:sub>
                          <m:r>
                            <a:rPr lang="es-CO" sz="2500" b="0" i="1" smtClean="0">
                              <a:latin typeface="Cambria Math"/>
                              <a:ea typeface="Cambria Math"/>
                            </a:rPr>
                            <m:t>𝑖</m:t>
                          </m:r>
                        </m:sub>
                      </m:sSub>
                    </m:oMath>
                  </m:oMathPara>
                </a14:m>
                <a:endParaRPr lang="es-CO" sz="2500" dirty="0" smtClean="0"/>
              </a:p>
              <a:p>
                <a:pPr marL="358775" indent="-15875">
                  <a:buNone/>
                </a:pPr>
                <a:endParaRPr lang="es-CO" sz="1100" dirty="0" smtClean="0"/>
              </a:p>
              <a:p>
                <a:pPr marL="358775" indent="-15875">
                  <a:buNone/>
                </a:pPr>
                <a:r>
                  <a:rPr lang="es-CO" sz="2400" dirty="0" smtClean="0"/>
                  <a:t>Donde </a:t>
                </a:r>
                <a:r>
                  <a:rPr lang="es-CO" sz="2400" i="1" dirty="0" smtClean="0">
                    <a:latin typeface="Times New Roman" pitchFamily="18" charset="0"/>
                    <a:cs typeface="Times New Roman" pitchFamily="18" charset="0"/>
                  </a:rPr>
                  <a:t>Duración</a:t>
                </a:r>
                <a:r>
                  <a:rPr lang="es-CO" sz="2400" i="1" baseline="-25000" dirty="0" smtClean="0">
                    <a:latin typeface="Times New Roman" pitchFamily="18" charset="0"/>
                    <a:cs typeface="Times New Roman" pitchFamily="18" charset="0"/>
                  </a:rPr>
                  <a:t>i</a:t>
                </a:r>
                <a:r>
                  <a:rPr lang="es-CO" sz="2400" i="1" dirty="0" smtClean="0">
                    <a:latin typeface="Times New Roman" pitchFamily="18" charset="0"/>
                    <a:cs typeface="Times New Roman" pitchFamily="18" charset="0"/>
                  </a:rPr>
                  <a:t> </a:t>
                </a:r>
                <a:r>
                  <a:rPr lang="es-CO" sz="2400" dirty="0" smtClean="0"/>
                  <a:t>es una medida de la cantidad de tiempo que el individuo ha estado expuesto al tratamiento. La duración de los individuos elegibles pero no participantes es cero.</a:t>
                </a:r>
              </a:p>
              <a:p>
                <a:pPr marL="358775" indent="-15875">
                  <a:buNone/>
                </a:pPr>
                <a:endParaRPr lang="es-CO" sz="1100" dirty="0" smtClean="0"/>
              </a:p>
              <a:p>
                <a:pPr marL="358775" indent="-15875">
                  <a:buNone/>
                </a:pPr>
                <a:r>
                  <a:rPr lang="es-CO" sz="2400" dirty="0" smtClean="0">
                    <a:solidFill>
                      <a:srgbClr val="0070C0"/>
                    </a:solidFill>
                  </a:rPr>
                  <a:t>Dificultad:</a:t>
                </a:r>
                <a:r>
                  <a:rPr lang="es-CO" sz="2400" dirty="0" smtClean="0"/>
                  <a:t> </a:t>
                </a:r>
                <a:r>
                  <a:rPr lang="es-CO" sz="2400" i="1" dirty="0" smtClean="0">
                    <a:latin typeface="Times New Roman" pitchFamily="18" charset="0"/>
                    <a:cs typeface="Times New Roman" pitchFamily="18" charset="0"/>
                  </a:rPr>
                  <a:t>Duración</a:t>
                </a:r>
                <a:r>
                  <a:rPr lang="es-CO" sz="2400" i="1" baseline="-25000" dirty="0" smtClean="0">
                    <a:latin typeface="Times New Roman" pitchFamily="18" charset="0"/>
                    <a:cs typeface="Times New Roman" pitchFamily="18" charset="0"/>
                  </a:rPr>
                  <a:t>i </a:t>
                </a:r>
                <a:r>
                  <a:rPr lang="es-CO" sz="2400" dirty="0" smtClean="0"/>
                  <a:t>también es una variable endógena. Es decir, los individuos se autoseleccionan en la duración como se autoseleccionan en el tratamiento. En particular, los individuos con larga duración y corta duración pueden ser sistemáticamente distintos de los individuos de control.</a:t>
                </a:r>
              </a:p>
              <a:p>
                <a:pPr marL="358775" indent="-15875">
                  <a:buNone/>
                </a:pPr>
                <a:endParaRPr lang="es-CO" sz="2500" dirty="0" smtClean="0"/>
              </a:p>
              <a:p>
                <a:pPr marL="457200" indent="-15875">
                  <a:buNone/>
                </a:pPr>
                <a:endParaRPr lang="es-CO" sz="2500" dirty="0" smtClean="0"/>
              </a:p>
              <a:p>
                <a:pPr marL="457200" indent="-457200">
                  <a:buNone/>
                </a:pPr>
                <a:endParaRPr lang="es-ES" sz="2500" dirty="0">
                  <a:solidFill>
                    <a:srgbClr val="0070C0"/>
                  </a:solidFill>
                </a:endParaRPr>
              </a:p>
            </p:txBody>
          </p:sp>
        </mc:Choice>
        <mc:Fallback>
          <p:sp>
            <p:nvSpPr>
              <p:cNvPr id="17" name="2 Marcador de contenido"/>
              <p:cNvSpPr>
                <a:spLocks noGrp="1" noRot="1" noChangeAspect="1" noMove="1" noResize="1" noEditPoints="1" noAdjustHandles="1" noChangeArrowheads="1" noChangeShapeType="1" noTextEdit="1"/>
              </p:cNvSpPr>
              <p:nvPr>
                <p:ph idx="1"/>
              </p:nvPr>
            </p:nvSpPr>
            <p:spPr>
              <a:xfrm>
                <a:off x="179512" y="1556792"/>
                <a:ext cx="8712968" cy="4968552"/>
              </a:xfrm>
              <a:blipFill rotWithShape="1">
                <a:blip r:embed="rId4" cstate="print"/>
                <a:stretch>
                  <a:fillRect r="-490" b="-2822"/>
                </a:stretch>
              </a:blipFill>
            </p:spPr>
            <p:txBody>
              <a:bodyPr/>
              <a:lstStyle/>
              <a:p>
                <a:r>
                  <a:rPr lang="es-CO">
                    <a:noFill/>
                  </a:rPr>
                  <a:t> </a:t>
                </a:r>
              </a:p>
            </p:txBody>
          </p:sp>
        </mc:Fallback>
      </mc:AlternateContent>
      <p:sp>
        <p:nvSpPr>
          <p:cNvPr id="18" name="17 CuadroTexto"/>
          <p:cNvSpPr txBox="1"/>
          <p:nvPr/>
        </p:nvSpPr>
        <p:spPr>
          <a:xfrm>
            <a:off x="2336048" y="1268760"/>
            <a:ext cx="5188280" cy="754053"/>
          </a:xfrm>
          <a:prstGeom prst="rect">
            <a:avLst/>
          </a:prstGeom>
          <a:noFill/>
        </p:spPr>
        <p:txBody>
          <a:bodyPr wrap="none" rtlCol="0">
            <a:spAutoFit/>
          </a:bodyPr>
          <a:lstStyle/>
          <a:p>
            <a:r>
              <a:rPr lang="es-ES" dirty="0" smtClean="0"/>
              <a:t>	</a:t>
            </a:r>
            <a:r>
              <a:rPr lang="es-ES" sz="2500" dirty="0" smtClean="0"/>
              <a:t>¿Cuándo usar cada alternativa?</a:t>
            </a:r>
          </a:p>
          <a:p>
            <a:endParaRPr lang="es-ES"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1"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s-ES" sz="1800" b="0" i="0" u="none" strike="noStrike" cap="none" normalizeH="0" baseline="0" smtClean="0">
              <a:ln>
                <a:noFill/>
              </a:ln>
              <a:solidFill>
                <a:schemeClr val="tx1"/>
              </a:solidFill>
              <a:effectLst/>
              <a:latin typeface="Arial" pitchFamily="34" charset="0"/>
            </a:endParaRPr>
          </a:p>
        </p:txBody>
      </p:sp>
      <p:sp>
        <p:nvSpPr>
          <p:cNvPr id="10" name="9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4</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7" name="2 Marcador de contenido"/>
          <p:cNvSpPr>
            <a:spLocks noGrp="1"/>
          </p:cNvSpPr>
          <p:nvPr>
            <p:ph idx="1"/>
          </p:nvPr>
        </p:nvSpPr>
        <p:spPr>
          <a:xfrm>
            <a:off x="179512" y="1556792"/>
            <a:ext cx="8712968" cy="4968552"/>
          </a:xfrm>
        </p:spPr>
        <p:txBody>
          <a:bodyPr>
            <a:normAutofit/>
          </a:bodyPr>
          <a:lstStyle/>
          <a:p>
            <a:pPr>
              <a:buNone/>
            </a:pPr>
            <a:endParaRPr lang="es-ES" sz="2500" dirty="0" smtClean="0"/>
          </a:p>
          <a:p>
            <a:pPr marL="358775" indent="-15875">
              <a:buNone/>
            </a:pPr>
            <a:r>
              <a:rPr lang="es-CO" sz="2400" dirty="0" smtClean="0">
                <a:latin typeface="+mj-lt"/>
                <a:cs typeface="Times New Roman" pitchFamily="18" charset="0"/>
              </a:rPr>
              <a:t>Para solucionar los problemas de </a:t>
            </a:r>
            <a:r>
              <a:rPr lang="es-CO" sz="2400" dirty="0" err="1" smtClean="0">
                <a:latin typeface="+mj-lt"/>
                <a:cs typeface="Times New Roman" pitchFamily="18" charset="0"/>
              </a:rPr>
              <a:t>endogeneidad</a:t>
            </a:r>
            <a:r>
              <a:rPr lang="es-CO" sz="2400" dirty="0" smtClean="0">
                <a:latin typeface="+mj-lt"/>
                <a:cs typeface="Times New Roman" pitchFamily="18" charset="0"/>
              </a:rPr>
              <a:t> de </a:t>
            </a:r>
            <a:r>
              <a:rPr lang="es-CO" sz="2400" i="1" dirty="0" smtClean="0">
                <a:latin typeface="Times New Roman" pitchFamily="18" charset="0"/>
                <a:cs typeface="Times New Roman" pitchFamily="18" charset="0"/>
              </a:rPr>
              <a:t>Duración</a:t>
            </a:r>
            <a:r>
              <a:rPr lang="es-CO" sz="2400" i="1" baseline="-25000" dirty="0" smtClean="0">
                <a:latin typeface="Times New Roman" pitchFamily="18" charset="0"/>
                <a:cs typeface="Times New Roman" pitchFamily="18" charset="0"/>
              </a:rPr>
              <a:t>i </a:t>
            </a:r>
            <a:r>
              <a:rPr lang="es-CO" sz="2400" dirty="0" smtClean="0"/>
              <a:t>se puede recurrir a cualquiera de los métodos estudiados en los capítulos anteriores.</a:t>
            </a:r>
          </a:p>
          <a:p>
            <a:pPr marL="358775" indent="-15875">
              <a:buNone/>
            </a:pPr>
            <a:endParaRPr lang="es-CO" sz="1500" dirty="0" smtClean="0"/>
          </a:p>
          <a:p>
            <a:pPr marL="800100" indent="-457200">
              <a:buAutoNum type="arabicPeriod"/>
            </a:pPr>
            <a:r>
              <a:rPr lang="es-CO" sz="2400" dirty="0" smtClean="0"/>
              <a:t>Por ejemplo, se puede encontrar una variable instrumental para la </a:t>
            </a:r>
            <a:r>
              <a:rPr lang="es-CO" sz="2400" i="1" dirty="0" smtClean="0"/>
              <a:t>duración</a:t>
            </a:r>
            <a:r>
              <a:rPr lang="es-CO" sz="2400" dirty="0" smtClean="0"/>
              <a:t> de la exposición al tratamiento.</a:t>
            </a:r>
          </a:p>
          <a:p>
            <a:pPr marL="800100" indent="-457200">
              <a:buAutoNum type="arabicPeriod"/>
            </a:pPr>
            <a:r>
              <a:rPr lang="es-CO" sz="2400" dirty="0" smtClean="0"/>
              <a:t>Podría estimarse por métodos de emparejamiento si hay razones para pensar que la selección se da únicamente en variables observadas.</a:t>
            </a:r>
          </a:p>
          <a:p>
            <a:pPr marL="800100" indent="-457200">
              <a:buAutoNum type="arabicPeriod"/>
            </a:pPr>
            <a:r>
              <a:rPr lang="es-CO" sz="2400" dirty="0" smtClean="0"/>
              <a:t>Se puede encontrar un umbral de una variable observada que determina la elegibilidad para diferentes duraciones.</a:t>
            </a:r>
          </a:p>
          <a:p>
            <a:pPr marL="358775" indent="-15875">
              <a:buNone/>
            </a:pPr>
            <a:endParaRPr lang="es-CO" sz="2500" dirty="0" smtClean="0"/>
          </a:p>
          <a:p>
            <a:pPr marL="457200" indent="-15875">
              <a:buNone/>
            </a:pPr>
            <a:endParaRPr lang="es-CO" sz="2500" dirty="0" smtClean="0"/>
          </a:p>
          <a:p>
            <a:pPr marL="457200" indent="-457200">
              <a:buNone/>
            </a:pPr>
            <a:endParaRPr lang="es-ES" sz="2500" dirty="0">
              <a:solidFill>
                <a:srgbClr val="0070C0"/>
              </a:solidFill>
            </a:endParaRPr>
          </a:p>
        </p:txBody>
      </p:sp>
      <p:sp>
        <p:nvSpPr>
          <p:cNvPr id="18" name="17 CuadroTexto"/>
          <p:cNvSpPr txBox="1"/>
          <p:nvPr/>
        </p:nvSpPr>
        <p:spPr>
          <a:xfrm>
            <a:off x="2336048" y="1268760"/>
            <a:ext cx="5188280" cy="754053"/>
          </a:xfrm>
          <a:prstGeom prst="rect">
            <a:avLst/>
          </a:prstGeom>
          <a:noFill/>
        </p:spPr>
        <p:txBody>
          <a:bodyPr wrap="none" rtlCol="0">
            <a:spAutoFit/>
          </a:bodyPr>
          <a:lstStyle/>
          <a:p>
            <a:r>
              <a:rPr lang="es-ES" dirty="0" smtClean="0"/>
              <a:t>	</a:t>
            </a:r>
            <a:r>
              <a:rPr lang="es-ES" sz="2500" dirty="0" smtClean="0"/>
              <a:t>¿Cuándo usar cada alternativa?</a:t>
            </a:r>
          </a:p>
          <a:p>
            <a:endParaRPr lang="es-ES"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1"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s-ES" sz="1800" b="0" i="0" u="none" strike="noStrike" cap="none" normalizeH="0" baseline="0" smtClean="0">
              <a:ln>
                <a:noFill/>
              </a:ln>
              <a:solidFill>
                <a:schemeClr val="tx1"/>
              </a:solidFill>
              <a:effectLst/>
              <a:latin typeface="Arial" pitchFamily="34" charset="0"/>
            </a:endParaRPr>
          </a:p>
        </p:txBody>
      </p:sp>
      <p:sp>
        <p:nvSpPr>
          <p:cNvPr id="9" name="8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5</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7" name="2 Marcador de contenido"/>
          <p:cNvSpPr>
            <a:spLocks noGrp="1"/>
          </p:cNvSpPr>
          <p:nvPr>
            <p:ph idx="1"/>
          </p:nvPr>
        </p:nvSpPr>
        <p:spPr>
          <a:xfrm>
            <a:off x="179512" y="1196752"/>
            <a:ext cx="8640960" cy="5328592"/>
          </a:xfrm>
        </p:spPr>
        <p:txBody>
          <a:bodyPr>
            <a:normAutofit lnSpcReduction="10000"/>
          </a:bodyPr>
          <a:lstStyle/>
          <a:p>
            <a:pPr>
              <a:buNone/>
            </a:pPr>
            <a:endParaRPr lang="es-ES" sz="2500" dirty="0" smtClean="0"/>
          </a:p>
          <a:p>
            <a:pPr marL="358775" indent="-15875">
              <a:buNone/>
            </a:pPr>
            <a:endParaRPr lang="es-CO" sz="2400" dirty="0" smtClean="0">
              <a:latin typeface="+mj-lt"/>
              <a:cs typeface="Times New Roman" pitchFamily="18" charset="0"/>
            </a:endParaRPr>
          </a:p>
          <a:p>
            <a:pPr marL="358775" indent="-15875">
              <a:buNone/>
            </a:pPr>
            <a:r>
              <a:rPr lang="es-CO" sz="2400" dirty="0" smtClean="0">
                <a:latin typeface="+mj-lt"/>
                <a:cs typeface="Times New Roman" pitchFamily="18" charset="0"/>
              </a:rPr>
              <a:t>En el caso del ejemplo </a:t>
            </a:r>
            <a:r>
              <a:rPr lang="es-CO" sz="2400" i="1" dirty="0" smtClean="0">
                <a:latin typeface="+mj-lt"/>
                <a:cs typeface="Times New Roman" pitchFamily="18" charset="0"/>
              </a:rPr>
              <a:t>Canasta</a:t>
            </a:r>
            <a:r>
              <a:rPr lang="es-CO" sz="2400" dirty="0" smtClean="0">
                <a:latin typeface="+mj-lt"/>
                <a:cs typeface="Times New Roman" pitchFamily="18" charset="0"/>
              </a:rPr>
              <a:t>, estamos interesados en evaluar el efecto diferencial del tratamiento por duración de la exposición. Pero como se discutió la participación (y participación por diferentes duraciones) puede ser endógena. Se plantearon como variables instrumentales:</a:t>
            </a:r>
          </a:p>
          <a:p>
            <a:pPr marL="358775" indent="-15875">
              <a:buNone/>
            </a:pPr>
            <a:endParaRPr lang="es-CO" sz="1000" dirty="0" smtClean="0">
              <a:latin typeface="+mj-lt"/>
              <a:cs typeface="Times New Roman" pitchFamily="18" charset="0"/>
            </a:endParaRPr>
          </a:p>
          <a:p>
            <a:pPr marL="800100" indent="-457200">
              <a:buFont typeface="+mj-lt"/>
              <a:buAutoNum type="arabicPeriod"/>
            </a:pPr>
            <a:r>
              <a:rPr lang="es-CO" sz="2400" dirty="0" smtClean="0">
                <a:latin typeface="+mj-lt"/>
                <a:cs typeface="Times New Roman" pitchFamily="18" charset="0"/>
              </a:rPr>
              <a:t>Distancia del hogar familiar a la oficina operadora del programa.</a:t>
            </a:r>
          </a:p>
          <a:p>
            <a:pPr marL="800100" indent="-457200">
              <a:buFont typeface="+mj-lt"/>
              <a:buAutoNum type="arabicPeriod"/>
            </a:pPr>
            <a:r>
              <a:rPr lang="es-CO" sz="2400" dirty="0" smtClean="0">
                <a:latin typeface="+mj-lt"/>
                <a:cs typeface="Times New Roman" pitchFamily="18" charset="0"/>
              </a:rPr>
              <a:t>Número de oficinas operadores en el municipio de residencia.</a:t>
            </a:r>
          </a:p>
          <a:p>
            <a:pPr marL="800100" indent="-457200">
              <a:buNone/>
            </a:pPr>
            <a:endParaRPr lang="es-CO" sz="1000" dirty="0" smtClean="0">
              <a:latin typeface="+mj-lt"/>
              <a:cs typeface="Times New Roman" pitchFamily="18" charset="0"/>
            </a:endParaRPr>
          </a:p>
          <a:p>
            <a:pPr marL="358775" indent="0">
              <a:buNone/>
            </a:pPr>
            <a:r>
              <a:rPr lang="es-CO" sz="2400" dirty="0" smtClean="0">
                <a:latin typeface="+mj-lt"/>
                <a:cs typeface="Times New Roman" pitchFamily="18" charset="0"/>
              </a:rPr>
              <a:t>Intuitivamente, ambas pueden afectar tanto la participación como la duración de la exposición porque cambian la disponibilidad y precios del programa.</a:t>
            </a:r>
            <a:endParaRPr lang="es-CO" sz="2400" dirty="0" smtClean="0"/>
          </a:p>
          <a:p>
            <a:pPr marL="358775" indent="-15875">
              <a:buNone/>
            </a:pPr>
            <a:endParaRPr lang="es-CO" sz="2500" dirty="0" smtClean="0"/>
          </a:p>
          <a:p>
            <a:pPr marL="457200" indent="-15875">
              <a:buNone/>
            </a:pPr>
            <a:endParaRPr lang="es-CO" sz="2500" dirty="0" smtClean="0"/>
          </a:p>
          <a:p>
            <a:pPr marL="457200" indent="-457200">
              <a:buNone/>
            </a:pPr>
            <a:endParaRPr lang="es-ES" sz="2500" dirty="0">
              <a:solidFill>
                <a:srgbClr val="0070C0"/>
              </a:solidFill>
            </a:endParaRPr>
          </a:p>
        </p:txBody>
      </p:sp>
      <p:sp>
        <p:nvSpPr>
          <p:cNvPr id="18" name="17 CuadroTexto"/>
          <p:cNvSpPr txBox="1"/>
          <p:nvPr/>
        </p:nvSpPr>
        <p:spPr>
          <a:xfrm>
            <a:off x="3063027" y="1268760"/>
            <a:ext cx="3292953" cy="754053"/>
          </a:xfrm>
          <a:prstGeom prst="rect">
            <a:avLst/>
          </a:prstGeom>
          <a:noFill/>
        </p:spPr>
        <p:txBody>
          <a:bodyPr wrap="none" rtlCol="0">
            <a:spAutoFit/>
          </a:bodyPr>
          <a:lstStyle/>
          <a:p>
            <a:r>
              <a:rPr lang="es-ES" dirty="0" smtClean="0"/>
              <a:t>	</a:t>
            </a:r>
            <a:r>
              <a:rPr lang="es-ES" sz="2500" dirty="0" smtClean="0"/>
              <a:t>Ejemplo </a:t>
            </a:r>
            <a:r>
              <a:rPr lang="es-ES" sz="2500" i="1" dirty="0" smtClean="0"/>
              <a:t>Canasta</a:t>
            </a:r>
          </a:p>
          <a:p>
            <a:endParaRPr lang="es-ES"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1"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s-ES" sz="1800" b="0" i="0" u="none" strike="noStrike" cap="none" normalizeH="0" baseline="0" smtClean="0">
              <a:ln>
                <a:noFill/>
              </a:ln>
              <a:solidFill>
                <a:schemeClr val="tx1"/>
              </a:solidFill>
              <a:effectLst/>
              <a:latin typeface="Arial" pitchFamily="34" charset="0"/>
            </a:endParaRPr>
          </a:p>
        </p:txBody>
      </p:sp>
      <p:sp>
        <p:nvSpPr>
          <p:cNvPr id="9" name="8 Rectángulo"/>
          <p:cNvSpPr/>
          <p:nvPr/>
        </p:nvSpPr>
        <p:spPr>
          <a:xfrm>
            <a:off x="539552" y="1844824"/>
            <a:ext cx="8280920" cy="44644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6</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7" name="2 Marcador de contenido"/>
          <p:cNvSpPr>
            <a:spLocks noGrp="1"/>
          </p:cNvSpPr>
          <p:nvPr>
            <p:ph idx="1"/>
          </p:nvPr>
        </p:nvSpPr>
        <p:spPr>
          <a:xfrm>
            <a:off x="179512" y="1556792"/>
            <a:ext cx="8640960" cy="4896544"/>
          </a:xfrm>
        </p:spPr>
        <p:txBody>
          <a:bodyPr>
            <a:normAutofit fontScale="92500"/>
          </a:bodyPr>
          <a:lstStyle/>
          <a:p>
            <a:pPr>
              <a:buNone/>
            </a:pPr>
            <a:endParaRPr lang="es-ES" sz="2500" dirty="0" smtClean="0"/>
          </a:p>
          <a:p>
            <a:pPr marL="457200" indent="-457200">
              <a:buAutoNum type="arabicPeriod"/>
            </a:pPr>
            <a:r>
              <a:rPr lang="es-MX" sz="2600" b="1" dirty="0" smtClean="0">
                <a:solidFill>
                  <a:srgbClr val="0070C0"/>
                </a:solidFill>
              </a:rPr>
              <a:t>Efectos de la duración de exposición al tratamiento con respecto al grupo de no participantes: Caso B</a:t>
            </a:r>
          </a:p>
          <a:p>
            <a:pPr marL="457200" indent="-457200">
              <a:buNone/>
            </a:pPr>
            <a:endParaRPr lang="es-MX" sz="1600" b="1" dirty="0" smtClean="0">
              <a:solidFill>
                <a:srgbClr val="0070C0"/>
              </a:solidFill>
            </a:endParaRPr>
          </a:p>
          <a:p>
            <a:pPr marL="719138" indent="-277813"/>
            <a:r>
              <a:rPr lang="es-MX" sz="2600" dirty="0" smtClean="0"/>
              <a:t>Aprovecha el diseño </a:t>
            </a:r>
            <a:r>
              <a:rPr lang="es-MX" sz="2600" i="1" dirty="0" smtClean="0"/>
              <a:t>gradual de introducción </a:t>
            </a:r>
            <a:r>
              <a:rPr lang="es-MX" sz="2600" dirty="0" smtClean="0"/>
              <a:t>del programa para estimar los efectos.</a:t>
            </a:r>
          </a:p>
          <a:p>
            <a:pPr marL="719138" indent="-277813"/>
            <a:endParaRPr lang="es-MX" sz="1100" dirty="0" smtClean="0"/>
          </a:p>
          <a:p>
            <a:pPr marL="719138" indent="-277813"/>
            <a:r>
              <a:rPr lang="es-MX" sz="2600" dirty="0" smtClean="0"/>
              <a:t>Por ejemplo: introducción del programa por zonas. Zona 1 se introduce en año 1, zona 2 en año 2, y así sucesivamente.</a:t>
            </a:r>
          </a:p>
          <a:p>
            <a:pPr marL="719138" indent="-277813"/>
            <a:endParaRPr lang="es-MX" sz="1100" dirty="0" smtClean="0"/>
          </a:p>
          <a:p>
            <a:pPr marL="719138" indent="-277813"/>
            <a:r>
              <a:rPr lang="es-MX" sz="2600" dirty="0" smtClean="0"/>
              <a:t>La zona 2 sirve de grupo de comparación para la zona 1 por un año. La zona 3 sirve de grupo de comparación para la zona 1 por dos años y para la zona 2 por un año, etc.</a:t>
            </a:r>
          </a:p>
          <a:p>
            <a:pPr marL="457200" indent="-457200">
              <a:buNone/>
            </a:pPr>
            <a:endParaRPr lang="es-CO" sz="2500" dirty="0" smtClean="0">
              <a:solidFill>
                <a:srgbClr val="0070C0"/>
              </a:solidFill>
            </a:endParaRPr>
          </a:p>
          <a:p>
            <a:pPr marL="457200" indent="-15875">
              <a:buNone/>
            </a:pPr>
            <a:endParaRPr lang="es-CO" sz="2500" dirty="0" smtClean="0"/>
          </a:p>
          <a:p>
            <a:pPr marL="457200" indent="-457200">
              <a:buNone/>
            </a:pPr>
            <a:endParaRPr lang="es-ES" sz="2500" dirty="0">
              <a:solidFill>
                <a:srgbClr val="0070C0"/>
              </a:solidFill>
            </a:endParaRPr>
          </a:p>
        </p:txBody>
      </p:sp>
      <p:sp>
        <p:nvSpPr>
          <p:cNvPr id="18" name="17 CuadroTexto"/>
          <p:cNvSpPr txBox="1"/>
          <p:nvPr/>
        </p:nvSpPr>
        <p:spPr>
          <a:xfrm>
            <a:off x="2336048" y="1268760"/>
            <a:ext cx="5188280" cy="754053"/>
          </a:xfrm>
          <a:prstGeom prst="rect">
            <a:avLst/>
          </a:prstGeom>
          <a:noFill/>
        </p:spPr>
        <p:txBody>
          <a:bodyPr wrap="none" rtlCol="0">
            <a:spAutoFit/>
          </a:bodyPr>
          <a:lstStyle/>
          <a:p>
            <a:r>
              <a:rPr lang="es-ES" dirty="0" smtClean="0"/>
              <a:t>	</a:t>
            </a:r>
            <a:r>
              <a:rPr lang="es-ES" sz="2500" dirty="0" smtClean="0"/>
              <a:t>¿Cuándo usar cada alternativa?</a:t>
            </a:r>
          </a:p>
          <a:p>
            <a:endParaRPr lang="es-ES" dirty="0"/>
          </a:p>
        </p:txBody>
      </p:sp>
      <p:sp>
        <p:nvSpPr>
          <p:cNvPr id="7" name="6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7</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7" name="2 Marcador de contenido"/>
          <p:cNvSpPr>
            <a:spLocks noGrp="1"/>
          </p:cNvSpPr>
          <p:nvPr>
            <p:ph idx="1"/>
          </p:nvPr>
        </p:nvSpPr>
        <p:spPr>
          <a:xfrm>
            <a:off x="179512" y="1556792"/>
            <a:ext cx="8640960" cy="4896544"/>
          </a:xfrm>
        </p:spPr>
        <p:txBody>
          <a:bodyPr>
            <a:normAutofit fontScale="92500" lnSpcReduction="20000"/>
          </a:bodyPr>
          <a:lstStyle/>
          <a:p>
            <a:pPr>
              <a:buNone/>
            </a:pPr>
            <a:endParaRPr lang="es-ES" sz="2500" dirty="0" smtClean="0"/>
          </a:p>
          <a:p>
            <a:pPr marL="514350" indent="-514350">
              <a:buFont typeface="+mj-lt"/>
              <a:buAutoNum type="arabicPeriod" startAt="2"/>
            </a:pPr>
            <a:r>
              <a:rPr lang="es-MX" sz="2600" b="1" dirty="0" smtClean="0">
                <a:solidFill>
                  <a:srgbClr val="0070C0"/>
                </a:solidFill>
              </a:rPr>
              <a:t>Efectos de la duración de exposición al tratamiento con respecto al grupo de no participantes: Caso B</a:t>
            </a:r>
          </a:p>
          <a:p>
            <a:pPr marL="457200" indent="-457200">
              <a:buNone/>
            </a:pPr>
            <a:endParaRPr lang="es-MX" sz="1600" b="1" dirty="0" smtClean="0">
              <a:solidFill>
                <a:srgbClr val="0070C0"/>
              </a:solidFill>
            </a:endParaRPr>
          </a:p>
          <a:p>
            <a:pPr marL="719138" indent="-277813"/>
            <a:r>
              <a:rPr lang="es-MX" sz="2600" dirty="0" smtClean="0"/>
              <a:t>Si la introducción por zonas fue aleatoria o razonablemente aleatoria, entonces la estrategia de identificación es más clara y robusta.</a:t>
            </a:r>
          </a:p>
          <a:p>
            <a:pPr marL="719138" indent="-277813"/>
            <a:endParaRPr lang="es-MX" sz="1100" dirty="0" smtClean="0"/>
          </a:p>
          <a:p>
            <a:pPr marL="719138" indent="-277813"/>
            <a:r>
              <a:rPr lang="es-MX" sz="2600" dirty="0" smtClean="0"/>
              <a:t>Si la introducción por zonas no fue aleatoria, entonces es necesario utilizar alguna de las metodologías de corrección del sesgo de selección que se han presentado en capítulos anteriores.</a:t>
            </a:r>
          </a:p>
          <a:p>
            <a:pPr marL="719138" indent="-277813"/>
            <a:endParaRPr lang="es-MX" sz="1000" dirty="0" smtClean="0"/>
          </a:p>
          <a:p>
            <a:pPr marL="719138" indent="-277813"/>
            <a:r>
              <a:rPr lang="es-MX" sz="2600" dirty="0" smtClean="0"/>
              <a:t>En cualquier caso, estima el efecto de diferentes duraciones de exposición al programa con respecto al grupo de comparación.</a:t>
            </a:r>
          </a:p>
          <a:p>
            <a:pPr marL="457200" indent="-457200">
              <a:buNone/>
            </a:pPr>
            <a:endParaRPr lang="es-CO" sz="2500" dirty="0" smtClean="0">
              <a:solidFill>
                <a:srgbClr val="0070C0"/>
              </a:solidFill>
            </a:endParaRPr>
          </a:p>
          <a:p>
            <a:pPr marL="457200" indent="-15875">
              <a:buNone/>
            </a:pPr>
            <a:endParaRPr lang="es-CO" sz="2500" dirty="0" smtClean="0"/>
          </a:p>
          <a:p>
            <a:pPr marL="457200" indent="-457200">
              <a:buNone/>
            </a:pPr>
            <a:endParaRPr lang="es-ES" sz="2500" dirty="0">
              <a:solidFill>
                <a:srgbClr val="0070C0"/>
              </a:solidFill>
            </a:endParaRPr>
          </a:p>
        </p:txBody>
      </p:sp>
      <p:sp>
        <p:nvSpPr>
          <p:cNvPr id="18" name="17 CuadroTexto"/>
          <p:cNvSpPr txBox="1"/>
          <p:nvPr/>
        </p:nvSpPr>
        <p:spPr>
          <a:xfrm>
            <a:off x="2336048" y="1268760"/>
            <a:ext cx="5188280" cy="754053"/>
          </a:xfrm>
          <a:prstGeom prst="rect">
            <a:avLst/>
          </a:prstGeom>
          <a:noFill/>
        </p:spPr>
        <p:txBody>
          <a:bodyPr wrap="none" rtlCol="0">
            <a:spAutoFit/>
          </a:bodyPr>
          <a:lstStyle/>
          <a:p>
            <a:r>
              <a:rPr lang="es-ES" dirty="0" smtClean="0"/>
              <a:t>	</a:t>
            </a:r>
            <a:r>
              <a:rPr lang="es-ES" sz="2500" dirty="0" smtClean="0"/>
              <a:t>¿Cuándo usar cada alternativa?</a:t>
            </a:r>
          </a:p>
          <a:p>
            <a:endParaRPr lang="es-ES" dirty="0"/>
          </a:p>
        </p:txBody>
      </p:sp>
      <p:sp>
        <p:nvSpPr>
          <p:cNvPr id="7" name="6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8</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 sz="4200" u="sng" dirty="0" smtClean="0"/>
              <a:t>Exposición al programa</a:t>
            </a:r>
            <a:endParaRPr lang="es-ES" sz="4200" u="sng" dirty="0"/>
          </a:p>
        </p:txBody>
      </p:sp>
      <p:sp>
        <p:nvSpPr>
          <p:cNvPr id="3" name="2 Marcador de contenido"/>
          <p:cNvSpPr>
            <a:spLocks noGrp="1"/>
          </p:cNvSpPr>
          <p:nvPr>
            <p:ph idx="1"/>
          </p:nvPr>
        </p:nvSpPr>
        <p:spPr/>
        <p:txBody>
          <a:bodyPr>
            <a:normAutofit/>
          </a:bodyPr>
          <a:lstStyle/>
          <a:p>
            <a:pPr marL="457200" indent="-457200">
              <a:buFont typeface="+mj-lt"/>
              <a:buAutoNum type="arabicPeriod" startAt="3"/>
            </a:pPr>
            <a:r>
              <a:rPr lang="es-MX" sz="2400" b="1" dirty="0" smtClean="0">
                <a:solidFill>
                  <a:srgbClr val="0070C0"/>
                </a:solidFill>
              </a:rPr>
              <a:t>Análisis de intensidad: comparando individuos tratados según la duración de exposición al programa</a:t>
            </a:r>
          </a:p>
          <a:p>
            <a:pPr algn="just">
              <a:buNone/>
            </a:pPr>
            <a:endParaRPr lang="es-ES" sz="2500" dirty="0" smtClean="0"/>
          </a:p>
          <a:p>
            <a:pPr algn="just">
              <a:buNone/>
            </a:pPr>
            <a:r>
              <a:rPr lang="es-ES" sz="2500" dirty="0" smtClean="0"/>
              <a:t>	</a:t>
            </a:r>
            <a:endParaRPr lang="es-ES" sz="2500" dirty="0"/>
          </a:p>
        </p:txBody>
      </p:sp>
      <p:sp>
        <p:nvSpPr>
          <p:cNvPr id="4" name="3 CuadroTexto"/>
          <p:cNvSpPr txBox="1"/>
          <p:nvPr/>
        </p:nvSpPr>
        <p:spPr>
          <a:xfrm>
            <a:off x="993766" y="2571744"/>
            <a:ext cx="7394658" cy="861774"/>
          </a:xfrm>
          <a:prstGeom prst="rect">
            <a:avLst/>
          </a:prstGeom>
          <a:noFill/>
        </p:spPr>
        <p:txBody>
          <a:bodyPr wrap="square" rtlCol="0">
            <a:spAutoFit/>
          </a:bodyPr>
          <a:lstStyle/>
          <a:p>
            <a:r>
              <a:rPr lang="es-ES" sz="2500" u="sng" dirty="0" smtClean="0"/>
              <a:t>Compara individuos de larga </a:t>
            </a:r>
            <a:r>
              <a:rPr lang="es-ES" sz="2500" dirty="0" smtClean="0"/>
              <a:t>exposición al programa (grupo de tratamiento)</a:t>
            </a:r>
            <a:endParaRPr lang="es-ES" sz="2500" dirty="0"/>
          </a:p>
        </p:txBody>
      </p:sp>
      <p:sp>
        <p:nvSpPr>
          <p:cNvPr id="5" name="4 CuadroTexto"/>
          <p:cNvSpPr txBox="1"/>
          <p:nvPr/>
        </p:nvSpPr>
        <p:spPr>
          <a:xfrm>
            <a:off x="971600" y="3501008"/>
            <a:ext cx="7481664" cy="861774"/>
          </a:xfrm>
          <a:prstGeom prst="rect">
            <a:avLst/>
          </a:prstGeom>
          <a:noFill/>
        </p:spPr>
        <p:txBody>
          <a:bodyPr wrap="none" rtlCol="0">
            <a:spAutoFit/>
          </a:bodyPr>
          <a:lstStyle/>
          <a:p>
            <a:r>
              <a:rPr lang="es-ES" sz="2500" dirty="0" smtClean="0"/>
              <a:t>Con </a:t>
            </a:r>
            <a:r>
              <a:rPr lang="es-ES" sz="2500" u="sng" dirty="0" smtClean="0"/>
              <a:t>individuos tratados de corta exposición</a:t>
            </a:r>
            <a:r>
              <a:rPr lang="es-ES" sz="2500" dirty="0" smtClean="0"/>
              <a:t> al programa</a:t>
            </a:r>
          </a:p>
          <a:p>
            <a:r>
              <a:rPr lang="es-ES" sz="2500" dirty="0" smtClean="0"/>
              <a:t>(grupo de control).</a:t>
            </a:r>
            <a:endParaRPr lang="es-ES" sz="2500" dirty="0"/>
          </a:p>
        </p:txBody>
      </p:sp>
      <p:sp>
        <p:nvSpPr>
          <p:cNvPr id="20" name="19 CuadroTexto"/>
          <p:cNvSpPr txBox="1"/>
          <p:nvPr/>
        </p:nvSpPr>
        <p:spPr>
          <a:xfrm>
            <a:off x="714348" y="5422865"/>
            <a:ext cx="8072494" cy="1246495"/>
          </a:xfrm>
          <a:prstGeom prst="rect">
            <a:avLst/>
          </a:prstGeom>
          <a:noFill/>
        </p:spPr>
        <p:txBody>
          <a:bodyPr wrap="square" rtlCol="0">
            <a:spAutoFit/>
          </a:bodyPr>
          <a:lstStyle/>
          <a:p>
            <a:r>
              <a:rPr lang="es-ES" sz="2500" u="sng" dirty="0" smtClean="0"/>
              <a:t>Ventaja</a:t>
            </a:r>
            <a:r>
              <a:rPr lang="es-ES" sz="2500" dirty="0" smtClean="0"/>
              <a:t>	No requieren supuestos sobre el proceso de 		selección en el programa.</a:t>
            </a:r>
          </a:p>
          <a:p>
            <a:endParaRPr lang="es-ES" sz="2500" u="sng" dirty="0" smtClean="0"/>
          </a:p>
        </p:txBody>
      </p:sp>
      <p:cxnSp>
        <p:nvCxnSpPr>
          <p:cNvPr id="22" name="21 Conector recto de flecha"/>
          <p:cNvCxnSpPr/>
          <p:nvPr/>
        </p:nvCxnSpPr>
        <p:spPr>
          <a:xfrm>
            <a:off x="1907704" y="5733256"/>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3"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6" name="15 CuadroTexto"/>
          <p:cNvSpPr txBox="1"/>
          <p:nvPr/>
        </p:nvSpPr>
        <p:spPr>
          <a:xfrm>
            <a:off x="899592" y="4509120"/>
            <a:ext cx="7200800" cy="861774"/>
          </a:xfrm>
          <a:prstGeom prst="rect">
            <a:avLst/>
          </a:prstGeom>
          <a:noFill/>
        </p:spPr>
        <p:txBody>
          <a:bodyPr wrap="square" rtlCol="0">
            <a:spAutoFit/>
          </a:bodyPr>
          <a:lstStyle/>
          <a:p>
            <a:r>
              <a:rPr lang="es-CO" sz="2500" dirty="0" smtClean="0"/>
              <a:t>Se define un indicador de tratamiento que distinga entre los dos grupos y se estima igual.</a:t>
            </a:r>
            <a:endParaRPr lang="es-ES" sz="2500" dirty="0"/>
          </a:p>
        </p:txBody>
      </p:sp>
      <p:sp>
        <p:nvSpPr>
          <p:cNvPr id="11" name="10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9</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endParaRPr lang="es-ES" sz="2500" u="sng" dirty="0" smtClean="0"/>
          </a:p>
          <a:p>
            <a:pPr>
              <a:buNone/>
            </a:pPr>
            <a:r>
              <a:rPr lang="es-ES" sz="2500" dirty="0" smtClean="0"/>
              <a:t>	</a:t>
            </a:r>
            <a:r>
              <a:rPr lang="es-ES" sz="2500" u="sng" dirty="0" smtClean="0"/>
              <a:t>Fuente de selección no aleatoria:</a:t>
            </a:r>
            <a:r>
              <a:rPr lang="es-ES" dirty="0" smtClean="0"/>
              <a:t>	</a:t>
            </a:r>
          </a:p>
          <a:p>
            <a:pPr lvl="1">
              <a:buNone/>
            </a:pPr>
            <a:r>
              <a:rPr lang="es-ES" sz="2500" dirty="0" smtClean="0"/>
              <a:t>	Pueden existir diferencias sistemáticas entre quienes  han participado durante largos períodos y quienes acaban de comenzar a participar.</a:t>
            </a:r>
          </a:p>
          <a:p>
            <a:endParaRPr lang="es-ES" dirty="0"/>
          </a:p>
        </p:txBody>
      </p:sp>
      <p:pic>
        <p:nvPicPr>
          <p:cNvPr id="7"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10" name="1 Título"/>
          <p:cNvSpPr txBox="1">
            <a:spLocks/>
          </p:cNvSpPr>
          <p:nvPr/>
        </p:nvSpPr>
        <p:spPr>
          <a:xfrm>
            <a:off x="2428860" y="274638"/>
            <a:ext cx="625794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 sz="4200" b="0" i="0" u="sng" strike="noStrike" kern="1200" cap="none" spc="0" normalizeH="0" baseline="0" noProof="0" dirty="0" smtClean="0">
                <a:ln>
                  <a:noFill/>
                </a:ln>
                <a:solidFill>
                  <a:schemeClr val="tx1"/>
                </a:solidFill>
                <a:effectLst/>
                <a:uLnTx/>
                <a:uFillTx/>
                <a:latin typeface="+mj-lt"/>
                <a:ea typeface="+mj-ea"/>
                <a:cs typeface="+mj-cs"/>
              </a:rPr>
              <a:t>Efecto intensidad</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8" name="7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a:t>
            </a:r>
            <a:fld id="{4B16227B-6CE5-4F6D-8ECD-1AAB045EAD98}" type="slidenum">
              <a:rPr lang="es-CO" sz="1300" smtClean="0">
                <a:solidFill>
                  <a:schemeClr val="bg1">
                    <a:lumMod val="50000"/>
                  </a:schemeClr>
                </a:solidFill>
              </a:rPr>
              <a:pPr algn="ctr"/>
              <a:t>10</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14612" y="214290"/>
            <a:ext cx="5972188" cy="1143000"/>
          </a:xfrm>
        </p:spPr>
        <p:txBody>
          <a:bodyPr>
            <a:noAutofit/>
          </a:bodyPr>
          <a:lstStyle/>
          <a:p>
            <a:r>
              <a:rPr lang="es-CO" sz="3400" u="sng" dirty="0" smtClean="0"/>
              <a:t>Ejemplo: Hogares Comunitarios de Bienestar (Bernal et ál., 2009)</a:t>
            </a:r>
            <a:endParaRPr lang="es-ES" sz="3400" u="sng" dirty="0"/>
          </a:p>
        </p:txBody>
      </p:sp>
      <p:sp>
        <p:nvSpPr>
          <p:cNvPr id="3" name="2 Marcador de contenido"/>
          <p:cNvSpPr>
            <a:spLocks noGrp="1"/>
          </p:cNvSpPr>
          <p:nvPr>
            <p:ph idx="1"/>
          </p:nvPr>
        </p:nvSpPr>
        <p:spPr>
          <a:xfrm>
            <a:off x="485804" y="1446217"/>
            <a:ext cx="8229600" cy="4768865"/>
          </a:xfrm>
          <a:ln w="28575">
            <a:solidFill>
              <a:schemeClr val="accent1">
                <a:lumMod val="75000"/>
              </a:schemeClr>
            </a:solidFill>
          </a:ln>
        </p:spPr>
        <p:txBody>
          <a:bodyPr>
            <a:normAutofit lnSpcReduction="10000"/>
          </a:bodyPr>
          <a:lstStyle/>
          <a:p>
            <a:r>
              <a:rPr lang="es-CO" sz="2500" b="1" u="sng" dirty="0" smtClean="0"/>
              <a:t>Objetivo:</a:t>
            </a:r>
            <a:r>
              <a:rPr lang="es-CO" sz="2500" b="1" dirty="0" smtClean="0"/>
              <a:t> </a:t>
            </a:r>
            <a:r>
              <a:rPr lang="es-CO" sz="2500" dirty="0" smtClean="0"/>
              <a:t>Atender a niños menores de 6 años pertenecientes a familias en condiciones de vulnerabilidad.</a:t>
            </a:r>
          </a:p>
          <a:p>
            <a:pPr algn="just"/>
            <a:endParaRPr lang="es-CO" sz="2500" dirty="0" smtClean="0"/>
          </a:p>
          <a:p>
            <a:pPr algn="just"/>
            <a:r>
              <a:rPr lang="es-CO" sz="2500" b="1" u="sng" dirty="0" smtClean="0"/>
              <a:t>Hogares:</a:t>
            </a:r>
            <a:r>
              <a:rPr lang="es-CO" sz="2500" dirty="0" smtClean="0"/>
              <a:t> Una madre comunitaria a cargo 12 o 14 niños.</a:t>
            </a:r>
          </a:p>
          <a:p>
            <a:pPr algn="just"/>
            <a:endParaRPr lang="es-CO" sz="2500" dirty="0" smtClean="0"/>
          </a:p>
          <a:p>
            <a:pPr algn="just"/>
            <a:r>
              <a:rPr lang="es-CO" sz="2500" b="1" u="sng" dirty="0" smtClean="0"/>
              <a:t>El menor debe recibir:</a:t>
            </a:r>
            <a:r>
              <a:rPr lang="es-CO" sz="2500" b="1" dirty="0" smtClean="0"/>
              <a:t> </a:t>
            </a:r>
            <a:r>
              <a:rPr lang="es-CO" sz="2500" dirty="0" smtClean="0"/>
              <a:t> </a:t>
            </a:r>
          </a:p>
          <a:p>
            <a:pPr lvl="1" algn="just"/>
            <a:r>
              <a:rPr lang="es-CO" sz="2500" dirty="0" smtClean="0"/>
              <a:t>Alimentos.</a:t>
            </a:r>
            <a:endParaRPr lang="es-CO" sz="2500" b="1" dirty="0" smtClean="0"/>
          </a:p>
          <a:p>
            <a:pPr lvl="1" algn="just"/>
            <a:r>
              <a:rPr lang="es-CO" sz="2500" dirty="0" smtClean="0"/>
              <a:t>Cuidado infantil.</a:t>
            </a:r>
          </a:p>
          <a:p>
            <a:pPr lvl="1" algn="just"/>
            <a:r>
              <a:rPr lang="es-CO" sz="2500" dirty="0" smtClean="0"/>
              <a:t>Vigilancia del estado nutricional.</a:t>
            </a:r>
          </a:p>
          <a:p>
            <a:pPr lvl="1" algn="just"/>
            <a:r>
              <a:rPr lang="es-CO" sz="2500" dirty="0" smtClean="0"/>
              <a:t>Actividades de desarrollo psicosocial. </a:t>
            </a:r>
          </a:p>
          <a:p>
            <a:pPr lvl="1" algn="just"/>
            <a:r>
              <a:rPr lang="es-CO" sz="2500" dirty="0" smtClean="0"/>
              <a:t>Actividades relacionadas con la salud.</a:t>
            </a:r>
            <a:endParaRPr lang="es-ES" sz="2500" dirty="0"/>
          </a:p>
        </p:txBody>
      </p:sp>
      <p:pic>
        <p:nvPicPr>
          <p:cNvPr id="5"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7" name="6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11</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28762"/>
            <a:ext cx="8229600" cy="4757758"/>
          </a:xfrm>
          <a:ln w="28575">
            <a:solidFill>
              <a:schemeClr val="accent1">
                <a:lumMod val="75000"/>
              </a:schemeClr>
            </a:solidFill>
          </a:ln>
        </p:spPr>
        <p:txBody>
          <a:bodyPr>
            <a:noAutofit/>
          </a:bodyPr>
          <a:lstStyle/>
          <a:p>
            <a:pPr>
              <a:spcBef>
                <a:spcPts val="0"/>
              </a:spcBef>
            </a:pPr>
            <a:r>
              <a:rPr lang="es-CO" sz="2500" b="1" u="sng" dirty="0" smtClean="0"/>
              <a:t>Evaluación:</a:t>
            </a:r>
            <a:r>
              <a:rPr lang="es-CO" sz="2500" dirty="0" smtClean="0"/>
              <a:t> Tipo no experimental. Compara las variables de resultado del:</a:t>
            </a:r>
          </a:p>
          <a:p>
            <a:pPr lvl="1">
              <a:spcBef>
                <a:spcPts val="0"/>
              </a:spcBef>
              <a:buNone/>
            </a:pPr>
            <a:r>
              <a:rPr lang="es-CO" sz="2500" dirty="0" smtClean="0"/>
              <a:t>	</a:t>
            </a:r>
          </a:p>
          <a:p>
            <a:pPr lvl="1">
              <a:spcBef>
                <a:spcPts val="0"/>
              </a:spcBef>
              <a:buNone/>
            </a:pPr>
            <a:endParaRPr lang="es-MX" sz="2500" dirty="0" smtClean="0"/>
          </a:p>
          <a:p>
            <a:pPr lvl="1">
              <a:spcBef>
                <a:spcPts val="0"/>
              </a:spcBef>
              <a:buNone/>
            </a:pPr>
            <a:endParaRPr lang="es-MX" sz="2500" b="1" dirty="0" smtClean="0"/>
          </a:p>
          <a:p>
            <a:pPr lvl="1">
              <a:spcBef>
                <a:spcPts val="0"/>
              </a:spcBef>
              <a:buNone/>
            </a:pPr>
            <a:endParaRPr lang="es-MX" sz="2500" b="1" dirty="0" smtClean="0"/>
          </a:p>
          <a:p>
            <a:pPr lvl="1">
              <a:spcBef>
                <a:spcPts val="0"/>
              </a:spcBef>
              <a:buNone/>
            </a:pPr>
            <a:endParaRPr lang="es-MX" sz="2500" b="1" dirty="0" smtClean="0"/>
          </a:p>
          <a:p>
            <a:pPr lvl="1">
              <a:spcBef>
                <a:spcPts val="0"/>
              </a:spcBef>
              <a:buNone/>
            </a:pPr>
            <a:endParaRPr lang="es-MX" sz="2500" b="1" dirty="0" smtClean="0"/>
          </a:p>
          <a:p>
            <a:pPr lvl="1">
              <a:spcBef>
                <a:spcPts val="0"/>
              </a:spcBef>
              <a:buNone/>
            </a:pPr>
            <a:r>
              <a:rPr lang="es-MX" sz="2500" b="1" u="sng" dirty="0" smtClean="0"/>
              <a:t>Análisis de intensidad</a:t>
            </a:r>
            <a:r>
              <a:rPr lang="es-MX" sz="2500" b="1" dirty="0" smtClean="0"/>
              <a:t>:</a:t>
            </a:r>
          </a:p>
          <a:p>
            <a:pPr lvl="1">
              <a:spcBef>
                <a:spcPts val="0"/>
              </a:spcBef>
              <a:buNone/>
            </a:pPr>
            <a:r>
              <a:rPr lang="es-MX" sz="2500" dirty="0" smtClean="0"/>
              <a:t>	Comparan a niños participantes en el programa según el tiempo de exposición a éste.</a:t>
            </a:r>
          </a:p>
        </p:txBody>
      </p:sp>
      <p:sp>
        <p:nvSpPr>
          <p:cNvPr id="6" name="5 CuadroTexto"/>
          <p:cNvSpPr txBox="1"/>
          <p:nvPr/>
        </p:nvSpPr>
        <p:spPr>
          <a:xfrm>
            <a:off x="857224" y="2714620"/>
            <a:ext cx="3643338" cy="1246495"/>
          </a:xfrm>
          <a:prstGeom prst="rect">
            <a:avLst/>
          </a:prstGeom>
          <a:noFill/>
          <a:ln>
            <a:solidFill>
              <a:schemeClr val="accent1">
                <a:lumMod val="75000"/>
              </a:schemeClr>
            </a:solidFill>
          </a:ln>
        </p:spPr>
        <p:txBody>
          <a:bodyPr wrap="square" rtlCol="0">
            <a:spAutoFit/>
          </a:bodyPr>
          <a:lstStyle/>
          <a:p>
            <a:r>
              <a:rPr lang="es-CO" sz="2500" u="sng" dirty="0" smtClean="0"/>
              <a:t>Grupo de tratamiento</a:t>
            </a:r>
            <a:r>
              <a:rPr lang="es-CO" sz="2500" dirty="0" smtClean="0"/>
              <a:t>: El grupo de niños participantes en HCB.</a:t>
            </a:r>
            <a:endParaRPr lang="es-ES" sz="2500" dirty="0"/>
          </a:p>
        </p:txBody>
      </p:sp>
      <p:sp>
        <p:nvSpPr>
          <p:cNvPr id="7" name="6 CuadroTexto"/>
          <p:cNvSpPr txBox="1"/>
          <p:nvPr/>
        </p:nvSpPr>
        <p:spPr>
          <a:xfrm>
            <a:off x="4643438" y="2714620"/>
            <a:ext cx="3357586" cy="1246495"/>
          </a:xfrm>
          <a:prstGeom prst="rect">
            <a:avLst/>
          </a:prstGeom>
          <a:noFill/>
          <a:ln>
            <a:solidFill>
              <a:schemeClr val="accent1">
                <a:lumMod val="75000"/>
              </a:schemeClr>
            </a:solidFill>
          </a:ln>
        </p:spPr>
        <p:txBody>
          <a:bodyPr wrap="square" rtlCol="0">
            <a:spAutoFit/>
          </a:bodyPr>
          <a:lstStyle/>
          <a:p>
            <a:pPr marL="0" lvl="1"/>
            <a:r>
              <a:rPr lang="es-CO" sz="2500" u="sng" dirty="0" smtClean="0"/>
              <a:t>Grupo de control:</a:t>
            </a:r>
            <a:r>
              <a:rPr lang="es-CO" sz="2500" dirty="0" smtClean="0"/>
              <a:t> </a:t>
            </a:r>
            <a:r>
              <a:rPr lang="es-MX" sz="2500" dirty="0" smtClean="0"/>
              <a:t>Niños no participantes en el programa</a:t>
            </a:r>
            <a:r>
              <a:rPr lang="es-MX" sz="2200" dirty="0" smtClean="0"/>
              <a:t>. </a:t>
            </a:r>
            <a:r>
              <a:rPr lang="es-CO" sz="2200" dirty="0" smtClean="0"/>
              <a:t>	</a:t>
            </a:r>
            <a:endParaRPr lang="es-ES" sz="2200" dirty="0"/>
          </a:p>
        </p:txBody>
      </p:sp>
      <p:pic>
        <p:nvPicPr>
          <p:cNvPr id="9"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8" name="1 Título"/>
          <p:cNvSpPr>
            <a:spLocks noGrp="1"/>
          </p:cNvSpPr>
          <p:nvPr>
            <p:ph type="title"/>
          </p:nvPr>
        </p:nvSpPr>
        <p:spPr>
          <a:xfrm>
            <a:off x="2714612" y="214290"/>
            <a:ext cx="5972188" cy="1143000"/>
          </a:xfrm>
        </p:spPr>
        <p:txBody>
          <a:bodyPr>
            <a:noAutofit/>
          </a:bodyPr>
          <a:lstStyle/>
          <a:p>
            <a:r>
              <a:rPr lang="es-CO" sz="3400" u="sng" dirty="0" smtClean="0"/>
              <a:t>Ejemplo: Hogares Comunitarios de Bienestar (Bernal et ál., 2009)</a:t>
            </a:r>
            <a:endParaRPr lang="es-ES" sz="3400" u="sng" dirty="0"/>
          </a:p>
        </p:txBody>
      </p:sp>
      <p:sp>
        <p:nvSpPr>
          <p:cNvPr id="11" name="10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12</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857364"/>
            <a:ext cx="8229600" cy="3929090"/>
          </a:xfrm>
          <a:ln w="28575">
            <a:solidFill>
              <a:schemeClr val="accent1">
                <a:lumMod val="75000"/>
              </a:schemeClr>
            </a:solidFill>
          </a:ln>
        </p:spPr>
        <p:txBody>
          <a:bodyPr/>
          <a:lstStyle/>
          <a:p>
            <a:pPr>
              <a:spcBef>
                <a:spcPts val="0"/>
              </a:spcBef>
            </a:pPr>
            <a:r>
              <a:rPr lang="es-CO" sz="2500" b="1" u="sng" dirty="0" smtClean="0"/>
              <a:t>Problemas: </a:t>
            </a:r>
          </a:p>
          <a:p>
            <a:pPr>
              <a:spcBef>
                <a:spcPts val="0"/>
              </a:spcBef>
              <a:buNone/>
            </a:pPr>
            <a:r>
              <a:rPr lang="es-CO" sz="2500" dirty="0" smtClean="0"/>
              <a:t>	El programa presenta mucha heterogeneidad en cuanto a:</a:t>
            </a:r>
          </a:p>
          <a:p>
            <a:pPr lvl="1">
              <a:spcBef>
                <a:spcPts val="0"/>
              </a:spcBef>
            </a:pPr>
            <a:endParaRPr lang="es-CO" sz="2500" dirty="0" smtClean="0"/>
          </a:p>
          <a:p>
            <a:pPr lvl="1">
              <a:spcBef>
                <a:spcPts val="0"/>
              </a:spcBef>
              <a:buNone/>
            </a:pPr>
            <a:r>
              <a:rPr lang="es-CO" sz="2500" dirty="0" smtClean="0"/>
              <a:t>	Tipo de hogar, modalidad del hogar o características de la madre comunitaria.</a:t>
            </a:r>
          </a:p>
          <a:p>
            <a:endParaRPr lang="es-CO" sz="2500" dirty="0" smtClean="0"/>
          </a:p>
          <a:p>
            <a:pPr marL="457200" indent="-457200">
              <a:buAutoNum type="arabicPeriod"/>
            </a:pPr>
            <a:r>
              <a:rPr lang="es-CO" sz="2500" u="sng" dirty="0" smtClean="0"/>
              <a:t>Método de emparejamiento:</a:t>
            </a:r>
            <a:r>
              <a:rPr lang="es-CO" sz="2500" dirty="0" smtClean="0"/>
              <a:t> </a:t>
            </a:r>
            <a:r>
              <a:rPr lang="es-CO" sz="2500" dirty="0" err="1" smtClean="0"/>
              <a:t>Kernel</a:t>
            </a:r>
            <a:r>
              <a:rPr lang="es-CO" sz="2500" dirty="0" smtClean="0"/>
              <a:t>.</a:t>
            </a:r>
          </a:p>
          <a:p>
            <a:pPr marL="457200" indent="-457200">
              <a:buAutoNum type="arabicPeriod"/>
            </a:pPr>
            <a:r>
              <a:rPr lang="es-CO" sz="2500" u="sng" dirty="0" smtClean="0"/>
              <a:t>Análisis de intensidad </a:t>
            </a:r>
            <a:r>
              <a:rPr lang="es-CO" sz="2500" dirty="0" smtClean="0"/>
              <a:t>para disminuir el sesgo de participación, que es bastante grande. </a:t>
            </a:r>
            <a:endParaRPr lang="es-ES" sz="2500" dirty="0"/>
          </a:p>
        </p:txBody>
      </p:sp>
      <p:pic>
        <p:nvPicPr>
          <p:cNvPr id="6"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10" name="1 Título"/>
          <p:cNvSpPr>
            <a:spLocks noGrp="1"/>
          </p:cNvSpPr>
          <p:nvPr>
            <p:ph type="title"/>
          </p:nvPr>
        </p:nvSpPr>
        <p:spPr>
          <a:xfrm>
            <a:off x="2714612" y="214290"/>
            <a:ext cx="5972188" cy="1143000"/>
          </a:xfrm>
        </p:spPr>
        <p:txBody>
          <a:bodyPr>
            <a:noAutofit/>
          </a:bodyPr>
          <a:lstStyle/>
          <a:p>
            <a:r>
              <a:rPr lang="es-CO" sz="3400" u="sng" dirty="0" smtClean="0"/>
              <a:t>Ejemplo: Hogares Comunitarios de Bienestar (Bernal et ál., 2009)</a:t>
            </a:r>
            <a:endParaRPr lang="es-ES" sz="3400" u="sng" dirty="0"/>
          </a:p>
        </p:txBody>
      </p:sp>
      <p:sp>
        <p:nvSpPr>
          <p:cNvPr id="8" name="7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13</a:t>
            </a:fld>
            <a:endParaRPr lang="es-ES" sz="13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p:nvPr/>
        </p:nvPicPr>
        <p:blipFill>
          <a:blip r:embed="rId3" cstate="print"/>
          <a:srcRect/>
          <a:stretch>
            <a:fillRect/>
          </a:stretch>
        </p:blipFill>
        <p:spPr bwMode="auto">
          <a:xfrm>
            <a:off x="1000100" y="1928802"/>
            <a:ext cx="7286676" cy="3857652"/>
          </a:xfrm>
          <a:prstGeom prst="rect">
            <a:avLst/>
          </a:prstGeom>
          <a:noFill/>
          <a:ln w="9525">
            <a:noFill/>
            <a:miter lim="800000"/>
            <a:headEnd/>
            <a:tailEnd/>
          </a:ln>
        </p:spPr>
      </p:pic>
      <p:pic>
        <p:nvPicPr>
          <p:cNvPr id="7" name="Picture 1"/>
          <p:cNvPicPr>
            <a:picLocks noChangeAspect="1" noChangeArrowheads="1"/>
          </p:cNvPicPr>
          <p:nvPr/>
        </p:nvPicPr>
        <p:blipFill>
          <a:blip r:embed="rId4" cstate="print"/>
          <a:srcRect/>
          <a:stretch>
            <a:fillRect/>
          </a:stretch>
        </p:blipFill>
        <p:spPr bwMode="auto">
          <a:xfrm>
            <a:off x="-32" y="-24"/>
            <a:ext cx="2214546" cy="1053379"/>
          </a:xfrm>
          <a:prstGeom prst="rect">
            <a:avLst/>
          </a:prstGeom>
          <a:noFill/>
          <a:ln w="9525">
            <a:noFill/>
            <a:miter lim="800000"/>
            <a:headEnd/>
            <a:tailEnd/>
          </a:ln>
          <a:effectLst/>
        </p:spPr>
      </p:pic>
      <p:sp>
        <p:nvSpPr>
          <p:cNvPr id="10" name="1 Título"/>
          <p:cNvSpPr>
            <a:spLocks noGrp="1"/>
          </p:cNvSpPr>
          <p:nvPr>
            <p:ph type="title"/>
          </p:nvPr>
        </p:nvSpPr>
        <p:spPr>
          <a:xfrm>
            <a:off x="2714612" y="214290"/>
            <a:ext cx="5972188" cy="1143000"/>
          </a:xfrm>
        </p:spPr>
        <p:txBody>
          <a:bodyPr>
            <a:noAutofit/>
          </a:bodyPr>
          <a:lstStyle/>
          <a:p>
            <a:r>
              <a:rPr lang="es-CO" sz="3400" u="sng" dirty="0" smtClean="0"/>
              <a:t>Ejemplo: Hogares Comunitarios de Bienestar (Bernal et ál. ,2009)</a:t>
            </a:r>
            <a:endParaRPr lang="es-ES" sz="3400" u="sng" dirty="0"/>
          </a:p>
        </p:txBody>
      </p:sp>
      <p:sp>
        <p:nvSpPr>
          <p:cNvPr id="6" name="5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14</a:t>
            </a:fld>
            <a:endParaRPr lang="es-ES" sz="1300" dirty="0">
              <a:solidFill>
                <a:schemeClr val="bg1">
                  <a:lumMod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p:cNvPicPr>
            <a:picLocks noGrp="1"/>
          </p:cNvPicPr>
          <p:nvPr>
            <p:ph idx="1"/>
          </p:nvPr>
        </p:nvPicPr>
        <p:blipFill>
          <a:blip r:embed="rId3" cstate="print"/>
          <a:srcRect b="6881"/>
          <a:stretch>
            <a:fillRect/>
          </a:stretch>
        </p:blipFill>
        <p:spPr bwMode="auto">
          <a:xfrm>
            <a:off x="785787" y="1714488"/>
            <a:ext cx="7572428" cy="3658728"/>
          </a:xfrm>
          <a:prstGeom prst="rect">
            <a:avLst/>
          </a:prstGeom>
          <a:noFill/>
          <a:ln w="9525">
            <a:noFill/>
            <a:miter lim="800000"/>
            <a:headEnd/>
            <a:tailEnd/>
          </a:ln>
        </p:spPr>
      </p:pic>
      <p:pic>
        <p:nvPicPr>
          <p:cNvPr id="7" name="Picture 1"/>
          <p:cNvPicPr>
            <a:picLocks noChangeAspect="1" noChangeArrowheads="1"/>
          </p:cNvPicPr>
          <p:nvPr/>
        </p:nvPicPr>
        <p:blipFill>
          <a:blip r:embed="rId4" cstate="print"/>
          <a:srcRect/>
          <a:stretch>
            <a:fillRect/>
          </a:stretch>
        </p:blipFill>
        <p:spPr bwMode="auto">
          <a:xfrm>
            <a:off x="-32" y="-24"/>
            <a:ext cx="2214546" cy="1053379"/>
          </a:xfrm>
          <a:prstGeom prst="rect">
            <a:avLst/>
          </a:prstGeom>
          <a:noFill/>
          <a:ln w="9525">
            <a:noFill/>
            <a:miter lim="800000"/>
            <a:headEnd/>
            <a:tailEnd/>
          </a:ln>
          <a:effectLst/>
        </p:spPr>
      </p:pic>
      <p:sp>
        <p:nvSpPr>
          <p:cNvPr id="6" name="1 Título"/>
          <p:cNvSpPr>
            <a:spLocks noGrp="1"/>
          </p:cNvSpPr>
          <p:nvPr>
            <p:ph type="title"/>
          </p:nvPr>
        </p:nvSpPr>
        <p:spPr>
          <a:xfrm>
            <a:off x="2714612" y="214290"/>
            <a:ext cx="5972188" cy="1143000"/>
          </a:xfrm>
        </p:spPr>
        <p:txBody>
          <a:bodyPr>
            <a:noAutofit/>
          </a:bodyPr>
          <a:lstStyle/>
          <a:p>
            <a:r>
              <a:rPr lang="es-CO" sz="3400" u="sng" dirty="0" smtClean="0"/>
              <a:t>Ejemplo: Hogares Comunitarios de Bienestar (Bernal et ál., 2009)</a:t>
            </a:r>
            <a:endParaRPr lang="es-ES" sz="3400" u="sng" dirty="0"/>
          </a:p>
        </p:txBody>
      </p:sp>
      <p:sp>
        <p:nvSpPr>
          <p:cNvPr id="10" name="9 Rectángulo"/>
          <p:cNvSpPr/>
          <p:nvPr/>
        </p:nvSpPr>
        <p:spPr>
          <a:xfrm>
            <a:off x="1619672" y="1774557"/>
            <a:ext cx="5904656" cy="646331"/>
          </a:xfrm>
          <a:prstGeom prst="rect">
            <a:avLst/>
          </a:prstGeom>
          <a:solidFill>
            <a:schemeClr val="bg1"/>
          </a:solidFill>
        </p:spPr>
        <p:txBody>
          <a:bodyPr wrap="square">
            <a:spAutoFit/>
          </a:bodyPr>
          <a:lstStyle/>
          <a:p>
            <a:pPr algn="ctr"/>
            <a:r>
              <a:rPr lang="es-CO" b="1" dirty="0" smtClean="0"/>
              <a:t>Sobre desarrollo psicosocial. Efecto por tiempo de exposición al programa (niños de 36 a 48 meses</a:t>
            </a:r>
            <a:endParaRPr lang="es-ES" b="1" dirty="0"/>
          </a:p>
        </p:txBody>
      </p:sp>
      <p:sp>
        <p:nvSpPr>
          <p:cNvPr id="11" name="10 Rectángulo"/>
          <p:cNvSpPr/>
          <p:nvPr/>
        </p:nvSpPr>
        <p:spPr>
          <a:xfrm rot="16200000">
            <a:off x="-499917" y="3316342"/>
            <a:ext cx="2880320" cy="369332"/>
          </a:xfrm>
          <a:prstGeom prst="rect">
            <a:avLst/>
          </a:prstGeom>
        </p:spPr>
        <p:txBody>
          <a:bodyPr wrap="square">
            <a:spAutoFit/>
          </a:bodyPr>
          <a:lstStyle/>
          <a:p>
            <a:pPr algn="ctr"/>
            <a:r>
              <a:rPr lang="es-CO" b="1" dirty="0" smtClean="0"/>
              <a:t>Efecto del programa</a:t>
            </a:r>
            <a:endParaRPr lang="es-ES" b="1" dirty="0"/>
          </a:p>
        </p:txBody>
      </p:sp>
      <p:sp>
        <p:nvSpPr>
          <p:cNvPr id="12" name="11 Rectángulo"/>
          <p:cNvSpPr/>
          <p:nvPr/>
        </p:nvSpPr>
        <p:spPr>
          <a:xfrm>
            <a:off x="899592" y="5445224"/>
            <a:ext cx="3672408" cy="523220"/>
          </a:xfrm>
          <a:prstGeom prst="rect">
            <a:avLst/>
          </a:prstGeom>
        </p:spPr>
        <p:txBody>
          <a:bodyPr wrap="square">
            <a:spAutoFit/>
          </a:bodyPr>
          <a:lstStyle/>
          <a:p>
            <a:r>
              <a:rPr lang="es-ES" sz="1400" dirty="0" smtClean="0"/>
              <a:t>** Significancia al 5%; *** Significancia al 1%.</a:t>
            </a:r>
          </a:p>
          <a:p>
            <a:r>
              <a:rPr lang="es-ES" sz="1400" dirty="0" smtClean="0"/>
              <a:t>PIPPS: índices </a:t>
            </a:r>
            <a:r>
              <a:rPr lang="es-ES" sz="1400" dirty="0" err="1" smtClean="0"/>
              <a:t>Penn</a:t>
            </a:r>
            <a:r>
              <a:rPr lang="es-ES" sz="1400" dirty="0" smtClean="0"/>
              <a:t> de interacción en el juego.</a:t>
            </a:r>
            <a:endParaRPr lang="es-ES" sz="1400" dirty="0"/>
          </a:p>
        </p:txBody>
      </p:sp>
      <p:sp>
        <p:nvSpPr>
          <p:cNvPr id="9" name="8 Rectángulo"/>
          <p:cNvSpPr/>
          <p:nvPr/>
        </p:nvSpPr>
        <p:spPr>
          <a:xfrm>
            <a:off x="0" y="6534859"/>
            <a:ext cx="9144032" cy="292388"/>
          </a:xfrm>
          <a:prstGeom prst="rect">
            <a:avLst/>
          </a:prstGeom>
        </p:spPr>
        <p:txBody>
          <a:bodyPr wrap="square">
            <a:spAutoFit/>
          </a:bodyPr>
          <a:lstStyle/>
          <a:p>
            <a:pPr algn="ctr"/>
            <a:r>
              <a:rPr lang="es-MX" sz="1300" smtClean="0">
                <a:solidFill>
                  <a:schemeClr val="bg1">
                    <a:lumMod val="50000"/>
                  </a:schemeClr>
                </a:solidFill>
              </a:rPr>
              <a:t>Guía práctica para la evaluación de impacto /</a:t>
            </a:r>
            <a:r>
              <a:rPr lang="es-CO" sz="1300" smtClean="0">
                <a:solidFill>
                  <a:schemeClr val="bg1">
                    <a:lumMod val="50000"/>
                  </a:schemeClr>
                </a:solidFill>
              </a:rPr>
              <a:t>Capítulo </a:t>
            </a:r>
            <a:r>
              <a:rPr lang="es-CO" sz="1300" dirty="0" smtClean="0">
                <a:solidFill>
                  <a:schemeClr val="bg1">
                    <a:lumMod val="50000"/>
                  </a:schemeClr>
                </a:solidFill>
              </a:rPr>
              <a:t>10: </a:t>
            </a:r>
            <a:r>
              <a:rPr lang="es-ES" sz="1300" dirty="0" smtClean="0">
                <a:solidFill>
                  <a:schemeClr val="bg1">
                    <a:lumMod val="50000"/>
                  </a:schemeClr>
                </a:solidFill>
              </a:rPr>
              <a:t>Duración de la exposición al tratamiento</a:t>
            </a:r>
            <a:r>
              <a:rPr lang="es-CO" sz="1300" dirty="0" smtClean="0">
                <a:solidFill>
                  <a:schemeClr val="bg1">
                    <a:lumMod val="50000"/>
                  </a:schemeClr>
                </a:solidFill>
              </a:rPr>
              <a:t>/  </a:t>
            </a:r>
            <a:fld id="{4B16227B-6CE5-4F6D-8ECD-1AAB045EAD98}" type="slidenum">
              <a:rPr lang="es-CO" sz="1300" smtClean="0">
                <a:solidFill>
                  <a:schemeClr val="bg1">
                    <a:lumMod val="50000"/>
                  </a:schemeClr>
                </a:solidFill>
              </a:rPr>
              <a:pPr algn="ctr"/>
              <a:t>15</a:t>
            </a:fld>
            <a:endParaRPr lang="es-ES" sz="1300" dirty="0">
              <a:solidFill>
                <a:schemeClr val="bg1">
                  <a:lumMod val="50000"/>
                </a:schemeClr>
              </a:solidFil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TotalTime>
  <Words>1090</Words>
  <Application>Microsoft Office PowerPoint</Application>
  <PresentationFormat>Presentación en pantalla (4:3)</PresentationFormat>
  <Paragraphs>146</Paragraphs>
  <Slides>15</Slides>
  <Notes>11</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Tema de Office</vt:lpstr>
      <vt:lpstr>Capítulo 11</vt:lpstr>
      <vt:lpstr>Exposición al programa</vt:lpstr>
      <vt:lpstr>Exposición al programa</vt:lpstr>
      <vt:lpstr>Exposición al programa</vt:lpstr>
      <vt:lpstr>Exposición al programa</vt:lpstr>
      <vt:lpstr>Exposición al programa</vt:lpstr>
      <vt:lpstr>Exposición al programa</vt:lpstr>
      <vt:lpstr>Exposición al programa</vt:lpstr>
      <vt:lpstr>Exposición al programa</vt:lpstr>
      <vt:lpstr>Diapositiva 10</vt:lpstr>
      <vt:lpstr>Ejemplo: Hogares Comunitarios de Bienestar (Bernal et ál., 2009)</vt:lpstr>
      <vt:lpstr>Ejemplo: Hogares Comunitarios de Bienestar (Bernal et ál., 2009)</vt:lpstr>
      <vt:lpstr>Ejemplo: Hogares Comunitarios de Bienestar (Bernal et ál., 2009)</vt:lpstr>
      <vt:lpstr>Ejemplo: Hogares Comunitarios de Bienestar (Bernal et ál. ,2009)</vt:lpstr>
      <vt:lpstr>Ejemplo: Hogares Comunitarios de Bienestar (Bernal et ál., 2009)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PILAR ZAMBRANO</dc:creator>
  <cp:lastModifiedBy>profeivan</cp:lastModifiedBy>
  <cp:revision>54</cp:revision>
  <dcterms:created xsi:type="dcterms:W3CDTF">2009-09-21T02:20:25Z</dcterms:created>
  <dcterms:modified xsi:type="dcterms:W3CDTF">2011-04-10T13:22:35Z</dcterms:modified>
</cp:coreProperties>
</file>